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2" r:id="rId7"/>
    <p:sldId id="263" r:id="rId8"/>
    <p:sldId id="261" r:id="rId9"/>
    <p:sldId id="264" r:id="rId10"/>
    <p:sldId id="265" r:id="rId11"/>
    <p:sldId id="266" r:id="rId12"/>
    <p:sldId id="267" r:id="rId13"/>
    <p:sldId id="268" r:id="rId14"/>
    <p:sldId id="269" r:id="rId15"/>
    <p:sldId id="270" r:id="rId16"/>
    <p:sldId id="271" r:id="rId17"/>
    <p:sldId id="273" r:id="rId18"/>
    <p:sldId id="272" r:id="rId19"/>
    <p:sldId id="274" r:id="rId20"/>
    <p:sldId id="278" r:id="rId21"/>
    <p:sldId id="275" r:id="rId22"/>
    <p:sldId id="276" r:id="rId23"/>
    <p:sldId id="277" r:id="rId24"/>
    <p:sldId id="279" r:id="rId25"/>
    <p:sldId id="280" r:id="rId26"/>
    <p:sldId id="285" r:id="rId27"/>
    <p:sldId id="281" r:id="rId28"/>
    <p:sldId id="282" r:id="rId29"/>
    <p:sldId id="283" r:id="rId30"/>
    <p:sldId id="286" r:id="rId31"/>
    <p:sldId id="287" r:id="rId32"/>
    <p:sldId id="288" r:id="rId33"/>
    <p:sldId id="289" r:id="rId34"/>
    <p:sldId id="290" r:id="rId35"/>
    <p:sldId id="291" r:id="rId36"/>
    <p:sldId id="29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32F596-CD4C-469C-83C6-11B830FF01D9}" type="datetimeFigureOut">
              <a:rPr lang="en-US" smtClean="0"/>
              <a:pPr/>
              <a:t>11/26/2013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536CAD-5CF1-44E1-A2B3-43DF4067DE33}" type="slidenum">
              <a:rPr lang="en-US" smtClean="0"/>
              <a:pPr/>
              <a:t>‹#›</a:t>
            </a:fld>
            <a:endParaRPr lang="en-US"/>
          </a:p>
        </p:txBody>
      </p:sp>
    </p:spTree>
    <p:extLst>
      <p:ext uri="{BB962C8B-B14F-4D97-AF65-F5344CB8AC3E}">
        <p14:creationId xmlns:p14="http://schemas.microsoft.com/office/powerpoint/2010/main" val="1985039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EE693B-1F10-4257-8CC6-C91DCF082B99}"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09C891-76AC-49E1-B5F3-DB039119F550}"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F0A4DB0-CE7B-4655-AFD2-DCDC68EF62D5}"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
        <p:nvSpPr>
          <p:cNvPr id="7" name="Slide Number Placeholder 6"/>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656364-4760-4F2E-B57F-73E95754A067}" type="datetime1">
              <a:rPr lang="en-US" smtClean="0"/>
              <a:pPr/>
              <a:t>11/26/2013</a:t>
            </a:fld>
            <a:endParaRPr lang="en-US"/>
          </a:p>
        </p:txBody>
      </p:sp>
      <p:sp>
        <p:nvSpPr>
          <p:cNvPr id="8" name="Footer Placeholder 7"/>
          <p:cNvSpPr>
            <a:spLocks noGrp="1"/>
          </p:cNvSpPr>
          <p:nvPr>
            <p:ph type="ftr" sz="quarter" idx="11"/>
          </p:nvPr>
        </p:nvSpPr>
        <p:spPr/>
        <p:txBody>
          <a:bodyPr/>
          <a:lstStyle/>
          <a:p>
            <a:r>
              <a:rPr lang="en-US" smtClean="0"/>
              <a:t>Conflict of Laws PPT Chapter Two   HUCOL  Sultan Kassim</a:t>
            </a:r>
            <a:endParaRPr lang="en-US"/>
          </a:p>
        </p:txBody>
      </p:sp>
      <p:sp>
        <p:nvSpPr>
          <p:cNvPr id="9" name="Slide Number Placeholder 8"/>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FFAF6DF-C64D-4555-B8FE-CFC7F8D31241}" type="datetime1">
              <a:rPr lang="en-US" smtClean="0"/>
              <a:pPr/>
              <a:t>11/26/2013</a:t>
            </a:fld>
            <a:endParaRPr lang="en-US"/>
          </a:p>
        </p:txBody>
      </p:sp>
      <p:sp>
        <p:nvSpPr>
          <p:cNvPr id="4" name="Footer Placeholder 3"/>
          <p:cNvSpPr>
            <a:spLocks noGrp="1"/>
          </p:cNvSpPr>
          <p:nvPr>
            <p:ph type="ftr" sz="quarter" idx="11"/>
          </p:nvPr>
        </p:nvSpPr>
        <p:spPr/>
        <p:txBody>
          <a:bodyPr/>
          <a:lstStyle/>
          <a:p>
            <a:r>
              <a:rPr lang="en-US" smtClean="0"/>
              <a:t>Conflict of Laws PPT Chapter Two   HUCOL  Sultan Kassim</a:t>
            </a:r>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3CBDE-F15F-4EF6-B46D-178EFF33B556}" type="datetime1">
              <a:rPr lang="en-US" smtClean="0"/>
              <a:pPr/>
              <a:t>11/26/2013</a:t>
            </a:fld>
            <a:endParaRPr lang="en-US"/>
          </a:p>
        </p:txBody>
      </p:sp>
      <p:sp>
        <p:nvSpPr>
          <p:cNvPr id="3" name="Footer Placeholder 2"/>
          <p:cNvSpPr>
            <a:spLocks noGrp="1"/>
          </p:cNvSpPr>
          <p:nvPr>
            <p:ph type="ftr" sz="quarter" idx="11"/>
          </p:nvPr>
        </p:nvSpPr>
        <p:spPr/>
        <p:txBody>
          <a:bodyPr/>
          <a:lstStyle/>
          <a:p>
            <a:r>
              <a:rPr lang="en-US" smtClean="0"/>
              <a:t>Conflict of Laws PPT Chapter Two   HUCOL  Sultan Kassim</a:t>
            </a:r>
            <a:endParaRPr lang="en-US"/>
          </a:p>
        </p:txBody>
      </p:sp>
      <p:sp>
        <p:nvSpPr>
          <p:cNvPr id="4" name="Slide Number Placeholder 3"/>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B32FFD-4615-42BC-ACC5-D2B3FEEB899E}"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
        <p:nvSpPr>
          <p:cNvPr id="7" name="Slide Number Placeholder 6"/>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C2313F-D3C9-4D7D-8CC2-22317827979B}" type="datetime1">
              <a:rPr lang="en-US" smtClean="0"/>
              <a:pPr/>
              <a:t>11/26/2013</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
        <p:nvSpPr>
          <p:cNvPr id="7" name="Slide Number Placeholder 6"/>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3C74DD-CA9D-4635-9A58-EC0033BDFD4A}"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471A92-C128-4D82-BCE6-DBA3C043F620}"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E987AB-3322-4B89-A7DC-BA48F8BB205E}" type="datetime1">
              <a:rPr lang="en-US" smtClean="0"/>
              <a:pPr/>
              <a:t>11/26/2013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Chapter Two   HUCOL  Sultan Kassim</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135DFD-F878-40B4-BBB3-E9577E146CF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Two</a:t>
            </a:r>
            <a:br>
              <a:rPr lang="en-US" dirty="0" smtClean="0"/>
            </a:br>
            <a:r>
              <a:rPr lang="en-US" dirty="0" smtClean="0"/>
              <a:t>Judicial Jurisdiction</a:t>
            </a:r>
            <a:endParaRPr lang="en-US" dirty="0"/>
          </a:p>
        </p:txBody>
      </p:sp>
      <p:sp>
        <p:nvSpPr>
          <p:cNvPr id="3" name="Subtitle 2"/>
          <p:cNvSpPr>
            <a:spLocks noGrp="1"/>
          </p:cNvSpPr>
          <p:nvPr>
            <p:ph type="subTitle" idx="1"/>
          </p:nvPr>
        </p:nvSpPr>
        <p:spPr/>
        <p:txBody>
          <a:bodyPr/>
          <a:lstStyle/>
          <a:p>
            <a:endParaRPr lang="en-US" dirty="0"/>
          </a:p>
        </p:txBody>
      </p:sp>
      <p:sp>
        <p:nvSpPr>
          <p:cNvPr id="4" name="Date Placeholder 3"/>
          <p:cNvSpPr>
            <a:spLocks noGrp="1"/>
          </p:cNvSpPr>
          <p:nvPr>
            <p:ph type="dt" sz="half" idx="10"/>
          </p:nvPr>
        </p:nvSpPr>
        <p:spPr/>
        <p:txBody>
          <a:bodyPr/>
          <a:lstStyle/>
          <a:p>
            <a:fld id="{FBFE7BB9-41C8-4C82-ACF9-9D9CFAA62D97}"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1</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smtClean="0"/>
              <a:t>2.1. Meaning</a:t>
            </a:r>
            <a:br>
              <a:rPr lang="en-US" b="1" dirty="0" smtClean="0"/>
            </a:br>
            <a:endParaRPr lang="en-US" dirty="0"/>
          </a:p>
        </p:txBody>
      </p:sp>
      <p:sp>
        <p:nvSpPr>
          <p:cNvPr id="3" name="Content Placeholder 2"/>
          <p:cNvSpPr>
            <a:spLocks noGrp="1"/>
          </p:cNvSpPr>
          <p:nvPr>
            <p:ph idx="1"/>
          </p:nvPr>
        </p:nvSpPr>
        <p:spPr>
          <a:solidFill>
            <a:srgbClr val="00B050"/>
          </a:solidFill>
        </p:spPr>
        <p:txBody>
          <a:bodyPr>
            <a:normAutofit/>
          </a:bodyPr>
          <a:lstStyle/>
          <a:p>
            <a:pPr lvl="0"/>
            <a:r>
              <a:rPr lang="en-US" dirty="0" smtClean="0"/>
              <a:t>What is Jurisdiction?</a:t>
            </a:r>
          </a:p>
          <a:p>
            <a:pPr lvl="0"/>
            <a:r>
              <a:rPr lang="en-US" dirty="0" smtClean="0"/>
              <a:t>Jurisdiction refers to the power of a court to entertain a case. It has got other meanings depending on the context it is used.</a:t>
            </a:r>
          </a:p>
          <a:p>
            <a:pPr lvl="0"/>
            <a:r>
              <a:rPr lang="en-US" dirty="0" smtClean="0"/>
              <a:t>3 Elements of Jurisdiction</a:t>
            </a:r>
          </a:p>
          <a:p>
            <a:pPr lvl="1"/>
            <a:r>
              <a:rPr lang="en-US" dirty="0" smtClean="0"/>
              <a:t>Judicial jurisdiction</a:t>
            </a:r>
          </a:p>
          <a:p>
            <a:pPr lvl="1"/>
            <a:r>
              <a:rPr lang="en-US" dirty="0" smtClean="0"/>
              <a:t>Material Jurisdiction</a:t>
            </a:r>
          </a:p>
          <a:p>
            <a:pPr lvl="1"/>
            <a:r>
              <a:rPr lang="en-US" dirty="0" smtClean="0"/>
              <a:t>Local Jurisdiction </a:t>
            </a:r>
          </a:p>
          <a:p>
            <a:endParaRPr lang="en-US" dirty="0"/>
          </a:p>
        </p:txBody>
      </p:sp>
      <p:sp>
        <p:nvSpPr>
          <p:cNvPr id="4" name="Date Placeholder 3"/>
          <p:cNvSpPr>
            <a:spLocks noGrp="1"/>
          </p:cNvSpPr>
          <p:nvPr>
            <p:ph type="dt" sz="half" idx="10"/>
          </p:nvPr>
        </p:nvSpPr>
        <p:spPr/>
        <p:txBody>
          <a:bodyPr/>
          <a:lstStyle/>
          <a:p>
            <a:fld id="{25812A50-B5CB-4611-B60F-DDBC9DB802BC}"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Judicial Jurisdiction?</a:t>
            </a:r>
            <a:br>
              <a:rPr lang="en-US" dirty="0" smtClean="0"/>
            </a:b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It refers to the power of the court of a particular state to render a judgment binding an individual or his property</a:t>
            </a:r>
            <a:r>
              <a:rPr lang="en-US" baseline="30000" dirty="0" smtClean="0"/>
              <a:t>.</a:t>
            </a:r>
          </a:p>
          <a:p>
            <a:r>
              <a:rPr lang="en-US" dirty="0" smtClean="0"/>
              <a:t>Arises when the case contains a foreign Element</a:t>
            </a:r>
            <a:r>
              <a:rPr lang="en-US" dirty="0" smtClean="0">
                <a:solidFill>
                  <a:srgbClr val="FFC000"/>
                </a:solidFill>
              </a:rPr>
              <a:t> </a:t>
            </a:r>
          </a:p>
          <a:p>
            <a:r>
              <a:rPr lang="en-US" dirty="0" smtClean="0">
                <a:solidFill>
                  <a:srgbClr val="FFC000"/>
                </a:solidFill>
              </a:rPr>
              <a:t> Why should a forum worry about the involvement of foreign element in assuming judicial jurisdiction?</a:t>
            </a:r>
          </a:p>
          <a:p>
            <a:pPr lvl="1"/>
            <a:r>
              <a:rPr lang="en-US" dirty="0" smtClean="0"/>
              <a:t>The question of </a:t>
            </a:r>
            <a:r>
              <a:rPr lang="en-US" dirty="0" err="1" smtClean="0"/>
              <a:t>recognizability</a:t>
            </a:r>
            <a:r>
              <a:rPr lang="en-US" dirty="0" smtClean="0"/>
              <a:t> of judgment by the recognition forum; </a:t>
            </a:r>
          </a:p>
          <a:p>
            <a:pPr lvl="1"/>
            <a:r>
              <a:rPr lang="en-US" dirty="0" smtClean="0"/>
              <a:t>the fear of retaliation (i.e. citizen or domiciliary of such forum state); </a:t>
            </a:r>
          </a:p>
          <a:p>
            <a:pPr lvl="1"/>
            <a:r>
              <a:rPr lang="en-US" dirty="0" smtClean="0"/>
              <a:t>and the need to promote free flow of commerce may compel a state to consider various interests implicated in a case</a:t>
            </a:r>
          </a:p>
          <a:p>
            <a:endParaRPr lang="en-US" dirty="0"/>
          </a:p>
        </p:txBody>
      </p:sp>
      <p:sp>
        <p:nvSpPr>
          <p:cNvPr id="4" name="Date Placeholder 3"/>
          <p:cNvSpPr>
            <a:spLocks noGrp="1"/>
          </p:cNvSpPr>
          <p:nvPr>
            <p:ph type="dt" sz="half" idx="10"/>
          </p:nvPr>
        </p:nvSpPr>
        <p:spPr/>
        <p:txBody>
          <a:bodyPr/>
          <a:lstStyle/>
          <a:p>
            <a:fld id="{16614697-A1DE-46CF-B170-BDDFBA444570}"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2.2. Theories of Judicial Jurisdiction</a:t>
            </a:r>
            <a:endParaRPr lang="en-US" dirty="0"/>
          </a:p>
        </p:txBody>
      </p:sp>
      <p:sp>
        <p:nvSpPr>
          <p:cNvPr id="3" name="Content Placeholder 2"/>
          <p:cNvSpPr>
            <a:spLocks noGrp="1"/>
          </p:cNvSpPr>
          <p:nvPr>
            <p:ph idx="1"/>
          </p:nvPr>
        </p:nvSpPr>
        <p:spPr>
          <a:solidFill>
            <a:srgbClr val="00B050"/>
          </a:solidFill>
        </p:spPr>
        <p:txBody>
          <a:bodyPr>
            <a:normAutofit lnSpcReduction="10000"/>
          </a:bodyPr>
          <a:lstStyle/>
          <a:p>
            <a:r>
              <a:rPr lang="en-US" dirty="0" smtClean="0"/>
              <a:t>Bases for the assertion of judicial jurisdiction are different in both Civil law and Common Law Legal System. </a:t>
            </a:r>
          </a:p>
          <a:p>
            <a:r>
              <a:rPr lang="en-US" dirty="0" smtClean="0"/>
              <a:t>Civil Law emphasizes the defendant's domicile as a primary basis of jurisdiction, </a:t>
            </a:r>
          </a:p>
          <a:p>
            <a:r>
              <a:rPr lang="en-US" dirty="0" smtClean="0"/>
              <a:t> In the Common Law the physical presence of the defendant within the territorial jurisdiction of a forum suffices in order to assert jurisdiction against him</a:t>
            </a:r>
          </a:p>
          <a:p>
            <a:endParaRPr lang="en-US" dirty="0"/>
          </a:p>
        </p:txBody>
      </p:sp>
      <p:sp>
        <p:nvSpPr>
          <p:cNvPr id="4" name="Date Placeholder 3"/>
          <p:cNvSpPr>
            <a:spLocks noGrp="1"/>
          </p:cNvSpPr>
          <p:nvPr>
            <p:ph type="dt" sz="half" idx="10"/>
          </p:nvPr>
        </p:nvSpPr>
        <p:spPr/>
        <p:txBody>
          <a:bodyPr/>
          <a:lstStyle/>
          <a:p>
            <a:fld id="{766876B5-4E9D-4C0A-8AAC-F9548F5435D4}"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Various </a:t>
            </a:r>
            <a:r>
              <a:rPr lang="en-US" dirty="0" err="1" smtClean="0"/>
              <a:t>Teories</a:t>
            </a:r>
            <a:r>
              <a:rPr lang="en-US" dirty="0" smtClean="0"/>
              <a:t> of Jurisdiction</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b="1" dirty="0" smtClean="0"/>
              <a:t>The Power Theory ( or  Territorial Theory )</a:t>
            </a:r>
          </a:p>
          <a:p>
            <a:r>
              <a:rPr lang="en-US" dirty="0" smtClean="0"/>
              <a:t>Physical Presence of the Defendant  at time of summons in the territory of the court.</a:t>
            </a:r>
          </a:p>
          <a:p>
            <a:r>
              <a:rPr lang="en-US" dirty="0" smtClean="0"/>
              <a:t> Famous case (Grace V. McArthur) in which the court pronounced "… a defendant served on an air plane flying over the state was reached jurisdictionally even though the plane trip started and was to end elsewhere, and did not even include local landing." </a:t>
            </a:r>
          </a:p>
          <a:p>
            <a:r>
              <a:rPr lang="en-US" dirty="0" smtClean="0"/>
              <a:t>The power theory is defended mainly from the viewpoint of enforcement of judgments. </a:t>
            </a:r>
          </a:p>
          <a:p>
            <a:r>
              <a:rPr lang="en-US" dirty="0" smtClean="0"/>
              <a:t>Applicable in common law countries</a:t>
            </a:r>
          </a:p>
          <a:p>
            <a:endParaRPr lang="en-US" dirty="0"/>
          </a:p>
        </p:txBody>
      </p:sp>
      <p:sp>
        <p:nvSpPr>
          <p:cNvPr id="4" name="Date Placeholder 3"/>
          <p:cNvSpPr>
            <a:spLocks noGrp="1"/>
          </p:cNvSpPr>
          <p:nvPr>
            <p:ph type="dt" sz="half" idx="10"/>
          </p:nvPr>
        </p:nvSpPr>
        <p:spPr/>
        <p:txBody>
          <a:bodyPr/>
          <a:lstStyle/>
          <a:p>
            <a:fld id="{64F9B221-3C12-428C-80C9-5C3C3A012A3E}"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Theories of jurisdiction </a:t>
            </a:r>
            <a:r>
              <a:rPr lang="en-US" dirty="0" err="1" smtClean="0"/>
              <a:t>ctd</a:t>
            </a:r>
            <a:r>
              <a:rPr lang="en-US" dirty="0" smtClean="0"/>
              <a:t>…</a:t>
            </a:r>
            <a:endParaRPr lang="en-US" dirty="0"/>
          </a:p>
        </p:txBody>
      </p:sp>
      <p:sp>
        <p:nvSpPr>
          <p:cNvPr id="3" name="Content Placeholder 2"/>
          <p:cNvSpPr>
            <a:spLocks noGrp="1"/>
          </p:cNvSpPr>
          <p:nvPr>
            <p:ph idx="1"/>
          </p:nvPr>
        </p:nvSpPr>
        <p:spPr>
          <a:solidFill>
            <a:srgbClr val="00B050"/>
          </a:solidFill>
        </p:spPr>
        <p:txBody>
          <a:bodyPr/>
          <a:lstStyle/>
          <a:p>
            <a:r>
              <a:rPr lang="en-US" dirty="0" smtClean="0"/>
              <a:t>Critics : </a:t>
            </a:r>
          </a:p>
          <a:p>
            <a:pPr lvl="1"/>
            <a:r>
              <a:rPr lang="en-US" dirty="0" smtClean="0"/>
              <a:t>Exorbitant Jurisdiction</a:t>
            </a:r>
          </a:p>
          <a:p>
            <a:pPr lvl="1"/>
            <a:r>
              <a:rPr lang="en-US" dirty="0" smtClean="0"/>
              <a:t>Cannot reach defendant leaving jurisdiction of the state</a:t>
            </a:r>
          </a:p>
          <a:p>
            <a:pPr lvl="1"/>
            <a:r>
              <a:rPr lang="en-US" dirty="0" smtClean="0"/>
              <a:t>Difficulty of Jurisdiction over intangible properties</a:t>
            </a:r>
          </a:p>
          <a:p>
            <a:r>
              <a:rPr lang="en-US" dirty="0" smtClean="0"/>
              <a:t>Limitation: Constitutional guarantee  of “full faith and credit clause”&amp; “Due process Clause” in the US</a:t>
            </a:r>
          </a:p>
          <a:p>
            <a:endParaRPr lang="en-US" dirty="0"/>
          </a:p>
        </p:txBody>
      </p:sp>
      <p:sp>
        <p:nvSpPr>
          <p:cNvPr id="4" name="Date Placeholder 3"/>
          <p:cNvSpPr>
            <a:spLocks noGrp="1"/>
          </p:cNvSpPr>
          <p:nvPr>
            <p:ph type="dt" sz="half" idx="10"/>
          </p:nvPr>
        </p:nvSpPr>
        <p:spPr/>
        <p:txBody>
          <a:bodyPr/>
          <a:lstStyle/>
          <a:p>
            <a:fld id="{E2734811-999D-48CB-8B9C-9C5F6EBD1C68}"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Minimum Contact Theory</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dirty="0" smtClean="0"/>
              <a:t>Complement to Power theory</a:t>
            </a:r>
          </a:p>
          <a:p>
            <a:r>
              <a:rPr lang="en-US" dirty="0" smtClean="0"/>
              <a:t> Famous case :</a:t>
            </a:r>
            <a:r>
              <a:rPr lang="en-US" i="1" dirty="0" smtClean="0"/>
              <a:t>International Shoe Co.</a:t>
            </a:r>
            <a:r>
              <a:rPr lang="en-US" dirty="0" smtClean="0"/>
              <a:t> V. </a:t>
            </a:r>
            <a:r>
              <a:rPr lang="en-US" i="1" dirty="0" smtClean="0"/>
              <a:t>Washington</a:t>
            </a:r>
            <a:r>
              <a:rPr lang="en-US" dirty="0" smtClean="0"/>
              <a:t>.</a:t>
            </a:r>
          </a:p>
          <a:p>
            <a:r>
              <a:rPr lang="en-US" dirty="0" smtClean="0"/>
              <a:t> In this case, the court holds that "… </a:t>
            </a:r>
            <a:r>
              <a:rPr lang="en-US" i="1" dirty="0" smtClean="0"/>
              <a:t>due process</a:t>
            </a:r>
            <a:r>
              <a:rPr lang="en-US" dirty="0" smtClean="0"/>
              <a:t> requires only that in order to subject a defendant to a judgment </a:t>
            </a:r>
            <a:r>
              <a:rPr lang="en-US" i="1" dirty="0" smtClean="0"/>
              <a:t>in </a:t>
            </a:r>
            <a:r>
              <a:rPr lang="en-US" i="1" dirty="0" err="1" smtClean="0"/>
              <a:t>personam</a:t>
            </a:r>
            <a:r>
              <a:rPr lang="en-US" i="1" dirty="0" smtClean="0"/>
              <a:t>,</a:t>
            </a:r>
            <a:r>
              <a:rPr lang="en-US" dirty="0" smtClean="0"/>
              <a:t> if he be not present within the territory of the forum, we have certain minimum contacts with it such that the maintenance of the suit does not offend traditional notions of fair play and substantial justice“</a:t>
            </a:r>
          </a:p>
          <a:p>
            <a:pPr lvl="1"/>
            <a:r>
              <a:rPr lang="en-US" dirty="0" smtClean="0"/>
              <a:t>Doing of business, establishing domicile, place of cause of action etc could be the basis for the existence of contact</a:t>
            </a:r>
          </a:p>
          <a:p>
            <a:endParaRPr lang="en-US" dirty="0"/>
          </a:p>
        </p:txBody>
      </p:sp>
      <p:sp>
        <p:nvSpPr>
          <p:cNvPr id="4" name="Date Placeholder 3"/>
          <p:cNvSpPr>
            <a:spLocks noGrp="1"/>
          </p:cNvSpPr>
          <p:nvPr>
            <p:ph type="dt" sz="half" idx="10"/>
          </p:nvPr>
        </p:nvSpPr>
        <p:spPr/>
        <p:txBody>
          <a:bodyPr/>
          <a:lstStyle/>
          <a:p>
            <a:fld id="{CDC5EE5D-89AC-437B-A329-E084B215AF7B}"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Fairness Theory</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pPr>
              <a:buFont typeface="Wingdings" pitchFamily="2" charset="2"/>
              <a:buChar char="§"/>
            </a:pPr>
            <a:r>
              <a:rPr lang="en-US" dirty="0" smtClean="0"/>
              <a:t>Fairness requires the forum state to try a case when it is convenient, fair and just to the parties.</a:t>
            </a:r>
            <a:r>
              <a:rPr lang="en-US" baseline="30000" dirty="0" smtClean="0"/>
              <a:t> </a:t>
            </a:r>
          </a:p>
          <a:p>
            <a:pPr>
              <a:buFont typeface="Wingdings" pitchFamily="2" charset="2"/>
              <a:buChar char="§"/>
            </a:pPr>
            <a:r>
              <a:rPr lang="en-US" dirty="0" smtClean="0"/>
              <a:t> Justification: Resolution of a dispute based on fairness guarantees recognition elsewhere </a:t>
            </a:r>
          </a:p>
          <a:p>
            <a:pPr>
              <a:buFont typeface="Wingdings" pitchFamily="2" charset="2"/>
              <a:buChar char="§"/>
            </a:pPr>
            <a:r>
              <a:rPr lang="en-US" dirty="0" smtClean="0"/>
              <a:t>Fairness can be established by consideration of three relational circumstances :</a:t>
            </a:r>
          </a:p>
          <a:p>
            <a:pPr lvl="1">
              <a:buFont typeface="Wingdings" pitchFamily="2" charset="2"/>
              <a:buChar char="§"/>
            </a:pPr>
            <a:r>
              <a:rPr lang="en-US" dirty="0" smtClean="0"/>
              <a:t> 1) The relationship between the litigants and the forum;</a:t>
            </a:r>
          </a:p>
          <a:p>
            <a:pPr lvl="2">
              <a:buFont typeface="Wingdings" pitchFamily="2" charset="2"/>
              <a:buChar char="§"/>
            </a:pPr>
            <a:r>
              <a:rPr lang="en-US" dirty="0" smtClean="0"/>
              <a:t>Domicile and habitual residence as opposed to temporary and casual presence</a:t>
            </a:r>
          </a:p>
          <a:p>
            <a:pPr lvl="2">
              <a:buFont typeface="Wingdings" pitchFamily="2" charset="2"/>
              <a:buChar char="§"/>
            </a:pPr>
            <a:r>
              <a:rPr lang="en-US" dirty="0" err="1" smtClean="0"/>
              <a:t>litigational</a:t>
            </a:r>
            <a:r>
              <a:rPr lang="en-US" dirty="0" smtClean="0"/>
              <a:t> capacity of the litigants</a:t>
            </a:r>
          </a:p>
          <a:p>
            <a:pPr lvl="1">
              <a:buFont typeface="Wingdings" pitchFamily="2" charset="2"/>
              <a:buChar char="§"/>
            </a:pPr>
            <a:r>
              <a:rPr lang="en-US" dirty="0" smtClean="0"/>
              <a:t>2) The relationship between the underlying controversy and the forum;  </a:t>
            </a:r>
          </a:p>
          <a:p>
            <a:pPr lvl="2">
              <a:buFont typeface="Wingdings" pitchFamily="2" charset="2"/>
              <a:buChar char="§"/>
            </a:pPr>
            <a:r>
              <a:rPr lang="en-US" dirty="0" smtClean="0"/>
              <a:t>Accessibility of material evidence besides the close and strong ties of the litigants with the forum.</a:t>
            </a:r>
          </a:p>
          <a:p>
            <a:pPr lvl="1">
              <a:buFont typeface="Wingdings" pitchFamily="2" charset="2"/>
              <a:buChar char="§"/>
            </a:pPr>
            <a:r>
              <a:rPr lang="en-US" dirty="0" smtClean="0"/>
              <a:t>3) The controversies’ substantive relation to the forum</a:t>
            </a:r>
          </a:p>
          <a:p>
            <a:pPr lvl="2">
              <a:buFont typeface="Wingdings" pitchFamily="2" charset="2"/>
              <a:buChar char="§"/>
            </a:pPr>
            <a:r>
              <a:rPr lang="en-US" dirty="0" smtClean="0"/>
              <a:t>To avoid Risk of misinterpretation of foreign laws</a:t>
            </a:r>
          </a:p>
          <a:p>
            <a:endParaRPr lang="en-US" dirty="0"/>
          </a:p>
        </p:txBody>
      </p:sp>
      <p:sp>
        <p:nvSpPr>
          <p:cNvPr id="4" name="Date Placeholder 3"/>
          <p:cNvSpPr>
            <a:spLocks noGrp="1"/>
          </p:cNvSpPr>
          <p:nvPr>
            <p:ph type="dt" sz="half" idx="10"/>
          </p:nvPr>
        </p:nvSpPr>
        <p:spPr/>
        <p:txBody>
          <a:bodyPr/>
          <a:lstStyle/>
          <a:p>
            <a:fld id="{97B3A742-6FB4-408A-B9C0-C2D5C6B0C00E}"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2.3. </a:t>
            </a:r>
            <a:r>
              <a:rPr lang="en-US" sz="3200" b="1" dirty="0" smtClean="0"/>
              <a:t>Domicile, Habitual Residence, Nationality as  basis of Judicial Jurisdiction </a:t>
            </a:r>
            <a:endParaRPr lang="en-US" sz="3200" dirty="0"/>
          </a:p>
        </p:txBody>
      </p:sp>
      <p:sp>
        <p:nvSpPr>
          <p:cNvPr id="3" name="Content Placeholder 2"/>
          <p:cNvSpPr>
            <a:spLocks noGrp="1"/>
          </p:cNvSpPr>
          <p:nvPr>
            <p:ph idx="1"/>
          </p:nvPr>
        </p:nvSpPr>
        <p:spPr>
          <a:solidFill>
            <a:srgbClr val="00B050"/>
          </a:solidFill>
        </p:spPr>
        <p:txBody>
          <a:bodyPr>
            <a:normAutofit fontScale="62500" lnSpcReduction="20000"/>
          </a:bodyPr>
          <a:lstStyle/>
          <a:p>
            <a:pPr>
              <a:buNone/>
            </a:pPr>
            <a:r>
              <a:rPr lang="en-US" b="1" dirty="0" smtClean="0"/>
              <a:t>1. Domicile as Ground of Judicial Jurisdiction</a:t>
            </a:r>
          </a:p>
          <a:p>
            <a:pPr>
              <a:buFont typeface="Wingdings" pitchFamily="2" charset="2"/>
              <a:buChar char="§"/>
            </a:pPr>
            <a:r>
              <a:rPr lang="en-US" dirty="0" smtClean="0"/>
              <a:t>Definition: Domicile is generally understood as the cumulative value of two elements:</a:t>
            </a:r>
          </a:p>
          <a:p>
            <a:pPr lvl="1">
              <a:buFont typeface="Wingdings" pitchFamily="2" charset="2"/>
              <a:buChar char="§"/>
            </a:pPr>
            <a:r>
              <a:rPr lang="en-US" dirty="0" smtClean="0"/>
              <a:t> The fact of residence (the fact of physical presence with some continuity), and</a:t>
            </a:r>
          </a:p>
          <a:p>
            <a:pPr lvl="1">
              <a:buFont typeface="Wingdings" pitchFamily="2" charset="2"/>
              <a:buChar char="§"/>
            </a:pPr>
            <a:r>
              <a:rPr lang="en-US" dirty="0" smtClean="0"/>
              <a:t>The intention of remaining  at a certain place (or the non existence of any intention to make a domicile elsewhere).</a:t>
            </a:r>
          </a:p>
          <a:p>
            <a:pPr>
              <a:buFont typeface="Wingdings" pitchFamily="2" charset="2"/>
              <a:buChar char="§"/>
            </a:pPr>
            <a:r>
              <a:rPr lang="en-US" dirty="0" smtClean="0"/>
              <a:t>Principles of Domicile</a:t>
            </a:r>
          </a:p>
          <a:p>
            <a:pPr lvl="1">
              <a:buFont typeface="Wingdings" pitchFamily="2" charset="2"/>
              <a:buChar char="§"/>
            </a:pPr>
            <a:r>
              <a:rPr lang="en-US" dirty="0" smtClean="0"/>
              <a:t>'a person cannot at the same time acquire more than one domicile‘</a:t>
            </a:r>
          </a:p>
          <a:p>
            <a:pPr lvl="1">
              <a:buFont typeface="Wingdings" pitchFamily="2" charset="2"/>
              <a:buChar char="§"/>
            </a:pPr>
            <a:r>
              <a:rPr lang="en-US" dirty="0" smtClean="0"/>
              <a:t> 'every person has a domicile‘</a:t>
            </a:r>
          </a:p>
          <a:p>
            <a:pPr>
              <a:buFont typeface="Wingdings" pitchFamily="2" charset="2"/>
              <a:buChar char="§"/>
            </a:pPr>
            <a:r>
              <a:rPr lang="en-US" dirty="0" smtClean="0"/>
              <a:t>Domicile of a corporate or business organization Dilemma:</a:t>
            </a:r>
          </a:p>
          <a:p>
            <a:pPr lvl="1">
              <a:buFont typeface="Wingdings" pitchFamily="2" charset="2"/>
              <a:buChar char="§"/>
            </a:pPr>
            <a:r>
              <a:rPr lang="en-US" dirty="0" smtClean="0"/>
              <a:t> Place of Registration or Place of Business as domicile of corporation?</a:t>
            </a:r>
          </a:p>
          <a:p>
            <a:pPr lvl="1">
              <a:buFont typeface="Wingdings" pitchFamily="2" charset="2"/>
              <a:buChar char="§"/>
            </a:pPr>
            <a:r>
              <a:rPr lang="en-US" dirty="0" smtClean="0"/>
              <a:t>Is it necessary that a business organization should acquire only one place of domicile?</a:t>
            </a:r>
          </a:p>
          <a:p>
            <a:pPr marL="342900" lvl="1" indent="-342900">
              <a:buFont typeface="Wingdings" pitchFamily="2" charset="2"/>
              <a:buChar char="§"/>
            </a:pPr>
            <a:r>
              <a:rPr lang="en-US" dirty="0" smtClean="0"/>
              <a:t>Expanded the concept of domicile:</a:t>
            </a:r>
          </a:p>
          <a:p>
            <a:pPr lvl="2">
              <a:buFont typeface="Wingdings" pitchFamily="2" charset="2"/>
              <a:buChar char="§"/>
            </a:pPr>
            <a:r>
              <a:rPr lang="en-US" dirty="0" smtClean="0"/>
              <a:t>corporation acquires an extra domicile for branches  if it satisfies certain criteria imposed by the host state in addition to domicile at place of registration.</a:t>
            </a:r>
          </a:p>
          <a:p>
            <a:pPr>
              <a:buFont typeface="Wingdings" pitchFamily="2" charset="2"/>
              <a:buChar char="§"/>
            </a:pPr>
            <a:endParaRPr lang="en-US" dirty="0" smtClean="0"/>
          </a:p>
          <a:p>
            <a:pPr>
              <a:buFont typeface="Wingdings" pitchFamily="2" charset="2"/>
              <a:buChar char="§"/>
            </a:pPr>
            <a:endParaRPr lang="en-US" dirty="0" smtClean="0"/>
          </a:p>
          <a:p>
            <a:pPr lvl="1">
              <a:buFont typeface="Wingdings" pitchFamily="2" charset="2"/>
              <a:buChar char="§"/>
            </a:pPr>
            <a:endParaRPr lang="en-US" dirty="0" smtClean="0"/>
          </a:p>
          <a:p>
            <a:pPr>
              <a:buBlip>
                <a:blip r:embed="rId2"/>
              </a:buBlip>
            </a:pPr>
            <a:endParaRPr lang="en-US" dirty="0" smtClean="0"/>
          </a:p>
          <a:p>
            <a:pPr>
              <a:buFont typeface="Wingdings" pitchFamily="2" charset="2"/>
              <a:buChar char="q"/>
            </a:pPr>
            <a:endParaRPr lang="en-US" dirty="0"/>
          </a:p>
        </p:txBody>
      </p:sp>
      <p:sp>
        <p:nvSpPr>
          <p:cNvPr id="4" name="Date Placeholder 3"/>
          <p:cNvSpPr>
            <a:spLocks noGrp="1"/>
          </p:cNvSpPr>
          <p:nvPr>
            <p:ph type="dt" sz="half" idx="10"/>
          </p:nvPr>
        </p:nvSpPr>
        <p:spPr/>
        <p:txBody>
          <a:bodyPr/>
          <a:lstStyle/>
          <a:p>
            <a:fld id="{DBFF1207-D8CB-41B9-BE5A-026F6A80DEFF}"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Domicile as Ground of Jurisdiction </a:t>
            </a:r>
            <a:r>
              <a:rPr lang="en-US" sz="3600" b="1" dirty="0" err="1" smtClean="0"/>
              <a:t>contd</a:t>
            </a:r>
            <a:r>
              <a:rPr lang="en-US" sz="3600" b="1" dirty="0" smtClean="0"/>
              <a:t>…</a:t>
            </a:r>
            <a:endParaRPr lang="en-US" sz="3600" dirty="0"/>
          </a:p>
        </p:txBody>
      </p:sp>
      <p:sp>
        <p:nvSpPr>
          <p:cNvPr id="3" name="Content Placeholder 2"/>
          <p:cNvSpPr>
            <a:spLocks noGrp="1"/>
          </p:cNvSpPr>
          <p:nvPr>
            <p:ph idx="1"/>
          </p:nvPr>
        </p:nvSpPr>
        <p:spPr>
          <a:solidFill>
            <a:srgbClr val="00B050"/>
          </a:solidFill>
        </p:spPr>
        <p:txBody>
          <a:bodyPr>
            <a:normAutofit fontScale="77500" lnSpcReduction="20000"/>
          </a:bodyPr>
          <a:lstStyle/>
          <a:p>
            <a:pPr>
              <a:buFont typeface="Wingdings" pitchFamily="2" charset="2"/>
              <a:buChar char="§"/>
            </a:pPr>
            <a:r>
              <a:rPr lang="en-US" dirty="0" smtClean="0"/>
              <a:t> Justification for Domicile as a basis of jurisdiction:</a:t>
            </a:r>
          </a:p>
          <a:p>
            <a:pPr lvl="1">
              <a:buFont typeface="Wingdings" pitchFamily="2" charset="2"/>
              <a:buChar char="§"/>
            </a:pPr>
            <a:r>
              <a:rPr lang="en-US" dirty="0" smtClean="0"/>
              <a:t>Convenience and familiarity. A person is unlikely to be inconvenienced when sued in his domicile forum in which he is most connected. </a:t>
            </a:r>
          </a:p>
          <a:p>
            <a:pPr lvl="1">
              <a:buFont typeface="Wingdings" pitchFamily="2" charset="2"/>
              <a:buChar char="§"/>
            </a:pPr>
            <a:r>
              <a:rPr lang="en-US" dirty="0" smtClean="0"/>
              <a:t>Benefit burden rationale. </a:t>
            </a:r>
            <a:r>
              <a:rPr lang="en-US" cap="all" dirty="0" smtClean="0"/>
              <a:t>a</a:t>
            </a:r>
            <a:r>
              <a:rPr lang="en-US" dirty="0" smtClean="0"/>
              <a:t> famous dictum goes "…the state which accords him privileges and affords protection to him and his property by virtue of his domicile may also exact reciprocal duties[ by claiming jurisdiction on him]“</a:t>
            </a:r>
          </a:p>
          <a:p>
            <a:pPr>
              <a:buFont typeface="Wingdings" pitchFamily="2" charset="2"/>
              <a:buChar char="§"/>
            </a:pPr>
            <a:r>
              <a:rPr lang="en-US" dirty="0" smtClean="0"/>
              <a:t>Critics of domicile as ground of jurisdiction</a:t>
            </a:r>
          </a:p>
          <a:p>
            <a:pPr lvl="1">
              <a:buFont typeface="Wingdings" pitchFamily="2" charset="2"/>
              <a:buChar char="§"/>
            </a:pPr>
            <a:r>
              <a:rPr lang="en-US" dirty="0" smtClean="0"/>
              <a:t> It disregards the significance of a convenient forum in the administration of justice. </a:t>
            </a:r>
          </a:p>
          <a:p>
            <a:pPr lvl="1">
              <a:buFont typeface="Wingdings" pitchFamily="2" charset="2"/>
              <a:buChar char="§"/>
            </a:pPr>
            <a:r>
              <a:rPr lang="en-US" dirty="0" smtClean="0"/>
              <a:t> Convenience to party depends on accessibility of witnesses, and the connection of the underlying controversy to the forum </a:t>
            </a:r>
            <a:endParaRPr lang="en-US" dirty="0"/>
          </a:p>
        </p:txBody>
      </p:sp>
      <p:sp>
        <p:nvSpPr>
          <p:cNvPr id="4" name="Date Placeholder 3"/>
          <p:cNvSpPr>
            <a:spLocks noGrp="1"/>
          </p:cNvSpPr>
          <p:nvPr>
            <p:ph type="dt" sz="half" idx="10"/>
          </p:nvPr>
        </p:nvSpPr>
        <p:spPr/>
        <p:txBody>
          <a:bodyPr/>
          <a:lstStyle/>
          <a:p>
            <a:fld id="{0365E3B6-54EE-46B4-B177-350DCF22F1D7}"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Domicile as Ground of Jurisdiction </a:t>
            </a:r>
            <a:r>
              <a:rPr lang="en-US" sz="3600" b="1" dirty="0" err="1" smtClean="0"/>
              <a:t>contd</a:t>
            </a:r>
            <a:r>
              <a:rPr lang="en-US" sz="3600" b="1" dirty="0" smtClean="0"/>
              <a:t>…</a:t>
            </a:r>
            <a:endParaRPr lang="en-US" sz="3600" dirty="0"/>
          </a:p>
        </p:txBody>
      </p:sp>
      <p:sp>
        <p:nvSpPr>
          <p:cNvPr id="3" name="Content Placeholder 2"/>
          <p:cNvSpPr>
            <a:spLocks noGrp="1"/>
          </p:cNvSpPr>
          <p:nvPr>
            <p:ph idx="1"/>
          </p:nvPr>
        </p:nvSpPr>
        <p:spPr>
          <a:solidFill>
            <a:srgbClr val="00B050"/>
          </a:solidFill>
        </p:spPr>
        <p:txBody>
          <a:bodyPr/>
          <a:lstStyle/>
          <a:p>
            <a:pPr>
              <a:buFont typeface="Wingdings" pitchFamily="2" charset="2"/>
              <a:buChar char="§"/>
            </a:pPr>
            <a:r>
              <a:rPr lang="en-US" dirty="0" smtClean="0"/>
              <a:t>New Developments</a:t>
            </a:r>
          </a:p>
          <a:p>
            <a:pPr lvl="1">
              <a:buFont typeface="Wingdings" pitchFamily="2" charset="2"/>
              <a:buChar char="§"/>
            </a:pPr>
            <a:r>
              <a:rPr lang="en-US" dirty="0" smtClean="0"/>
              <a:t>Habitual Residence replacing domicile as ground of judicial jurisdiction in EU parties to  Hague Convention on Jurisdiction and Foreign Judgments in Civil and Commercial Matters</a:t>
            </a:r>
          </a:p>
          <a:p>
            <a:pPr>
              <a:buFont typeface="Wingdings" pitchFamily="2" charset="2"/>
              <a:buChar char="§"/>
            </a:pPr>
            <a:r>
              <a:rPr lang="en-US" dirty="0" smtClean="0"/>
              <a:t> Habitual residence </a:t>
            </a:r>
            <a:r>
              <a:rPr lang="en-GB" dirty="0" smtClean="0"/>
              <a:t>it can be understood as “permanent and usual centre of interests of a person chosen by the person with the intention to live there permanently.“</a:t>
            </a:r>
            <a:endParaRPr lang="en-US" dirty="0" smtClean="0"/>
          </a:p>
          <a:p>
            <a:pPr lvl="1">
              <a:buNone/>
            </a:pPr>
            <a:endParaRPr lang="en-US" dirty="0" smtClean="0"/>
          </a:p>
          <a:p>
            <a:pPr lvl="1">
              <a:buNone/>
            </a:pPr>
            <a:endParaRPr lang="en-US" dirty="0"/>
          </a:p>
        </p:txBody>
      </p:sp>
      <p:sp>
        <p:nvSpPr>
          <p:cNvPr id="4" name="Date Placeholder 3"/>
          <p:cNvSpPr>
            <a:spLocks noGrp="1"/>
          </p:cNvSpPr>
          <p:nvPr>
            <p:ph type="dt" sz="half" idx="10"/>
          </p:nvPr>
        </p:nvSpPr>
        <p:spPr/>
        <p:txBody>
          <a:bodyPr/>
          <a:lstStyle/>
          <a:p>
            <a:fld id="{D8751D11-9653-415A-87E1-BD6278A93B0D}" type="datetime1">
              <a:rPr lang="en-US" smtClean="0"/>
              <a:pPr/>
              <a:t>11/26/2013</a:t>
            </a:fld>
            <a:endParaRPr lang="en-US"/>
          </a:p>
        </p:txBody>
      </p:sp>
      <p:sp>
        <p:nvSpPr>
          <p:cNvPr id="5" name="Slide Number Placeholder 4"/>
          <p:cNvSpPr>
            <a:spLocks noGrp="1"/>
          </p:cNvSpPr>
          <p:nvPr>
            <p:ph type="sldNum" sz="quarter" idx="12"/>
          </p:nvPr>
        </p:nvSpPr>
        <p:spPr/>
        <p:txBody>
          <a:bodyPr/>
          <a:lstStyle/>
          <a:p>
            <a:fld id="{11135DFD-F878-40B4-BBB3-E9577E146CF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Conflict of Laws PPT Chapter Two   HUCOL  Sultan Kassim</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fontScale="92500"/>
          </a:bodyPr>
          <a:lstStyle/>
          <a:p>
            <a:pPr>
              <a:buNone/>
            </a:pPr>
            <a:r>
              <a:rPr lang="en-US" b="1" dirty="0" smtClean="0"/>
              <a:t>2. Nationality as ground of Judicial Jurisdiction</a:t>
            </a:r>
          </a:p>
          <a:p>
            <a:r>
              <a:rPr lang="en-US" dirty="0" smtClean="0"/>
              <a:t>Justification: as the state has extended protection and benefits to the person he reciprocally has duty of loyalty allegiance to submit himself to jurisdiction of his national courts </a:t>
            </a:r>
          </a:p>
          <a:p>
            <a:r>
              <a:rPr lang="en-US" dirty="0" smtClean="0"/>
              <a:t>Critics: Nationality and place of  Domicile or Habitual residence could be different it making jurisdiction at place of nationality inconvenient for defendant</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consent/submission </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pPr>
              <a:buNone/>
            </a:pPr>
            <a:r>
              <a:rPr lang="en-US" b="1" dirty="0" smtClean="0"/>
              <a:t>3.Jurisdiction based on consent/submission</a:t>
            </a:r>
          </a:p>
          <a:p>
            <a:pPr>
              <a:buFont typeface="Wingdings" pitchFamily="2" charset="2"/>
              <a:buChar char="§"/>
            </a:pPr>
            <a:r>
              <a:rPr lang="en-US" b="1" dirty="0" smtClean="0"/>
              <a:t>Earlier Times:</a:t>
            </a:r>
            <a:r>
              <a:rPr lang="en-US" dirty="0" smtClean="0"/>
              <a:t> The parties did not have had any control over place of trial they had to go but only to the statutory place of trial.</a:t>
            </a:r>
            <a:endParaRPr lang="en-US" b="1" dirty="0" smtClean="0"/>
          </a:p>
          <a:p>
            <a:pPr>
              <a:buFont typeface="Wingdings" pitchFamily="2" charset="2"/>
              <a:buChar char="§"/>
            </a:pPr>
            <a:r>
              <a:rPr lang="en-US" b="1" dirty="0" smtClean="0"/>
              <a:t>Current understanding</a:t>
            </a:r>
            <a:r>
              <a:rPr lang="en-US" dirty="0" smtClean="0"/>
              <a:t>: The parties’ consent or choice as to the place of trial is regarded as a major basis for the assertion of judicial jurisdiction. </a:t>
            </a:r>
          </a:p>
          <a:p>
            <a:pPr>
              <a:buFont typeface="Wingdings" pitchFamily="2" charset="2"/>
              <a:buChar char="§"/>
            </a:pPr>
            <a:r>
              <a:rPr lang="en-US" b="1" dirty="0" smtClean="0"/>
              <a:t> Advantage </a:t>
            </a:r>
            <a:r>
              <a:rPr lang="en-US" dirty="0" smtClean="0"/>
              <a:t>:</a:t>
            </a:r>
          </a:p>
          <a:p>
            <a:pPr lvl="1">
              <a:buFont typeface="Wingdings" pitchFamily="2" charset="2"/>
              <a:buChar char="§"/>
            </a:pPr>
            <a:r>
              <a:rPr lang="en-US" dirty="0" smtClean="0"/>
              <a:t> It enables parties to escape the harshness or the inconvenience of statutory place of trial.</a:t>
            </a:r>
          </a:p>
          <a:p>
            <a:pPr lvl="1">
              <a:buFont typeface="Wingdings" pitchFamily="2" charset="2"/>
              <a:buChar char="§"/>
            </a:pPr>
            <a:r>
              <a:rPr lang="en-US" dirty="0" smtClean="0"/>
              <a:t>minimizes, at least potentially, the cost of litigation, and other related factors.</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consent/submission </a:t>
            </a:r>
            <a:r>
              <a:rPr lang="en-US" b="1" dirty="0" err="1" smtClean="0"/>
              <a:t>ctd</a:t>
            </a:r>
            <a:r>
              <a:rPr lang="en-US" b="1" dirty="0" smtClean="0"/>
              <a:t>…</a:t>
            </a:r>
            <a:endParaRPr lang="en-US" dirty="0"/>
          </a:p>
        </p:txBody>
      </p:sp>
      <p:sp>
        <p:nvSpPr>
          <p:cNvPr id="3" name="Content Placeholder 2"/>
          <p:cNvSpPr>
            <a:spLocks noGrp="1"/>
          </p:cNvSpPr>
          <p:nvPr>
            <p:ph idx="1"/>
          </p:nvPr>
        </p:nvSpPr>
        <p:spPr>
          <a:solidFill>
            <a:srgbClr val="00B050"/>
          </a:solidFill>
        </p:spPr>
        <p:txBody>
          <a:bodyPr>
            <a:normAutofit fontScale="92500"/>
          </a:bodyPr>
          <a:lstStyle/>
          <a:p>
            <a:pPr>
              <a:buFont typeface="Wingdings" pitchFamily="2" charset="2"/>
              <a:buChar char="§"/>
            </a:pPr>
            <a:r>
              <a:rPr lang="en-US" dirty="0" smtClean="0"/>
              <a:t>Consent by Plaintiff established by bringing of action in a forum court</a:t>
            </a:r>
          </a:p>
          <a:p>
            <a:pPr>
              <a:buFont typeface="Wingdings" pitchFamily="2" charset="2"/>
              <a:buChar char="§"/>
            </a:pPr>
            <a:r>
              <a:rPr lang="en-US" dirty="0" smtClean="0"/>
              <a:t>Consent by defendant established:</a:t>
            </a:r>
          </a:p>
          <a:p>
            <a:pPr lvl="1">
              <a:buFont typeface="Wingdings" pitchFamily="2" charset="2"/>
              <a:buChar char="§"/>
            </a:pPr>
            <a:r>
              <a:rPr lang="en-US" dirty="0" smtClean="0"/>
              <a:t>By prior consent (forum selection clause in contract)</a:t>
            </a:r>
          </a:p>
          <a:p>
            <a:pPr lvl="1">
              <a:buFont typeface="Wingdings" pitchFamily="2" charset="2"/>
              <a:buChar char="§"/>
            </a:pPr>
            <a:r>
              <a:rPr lang="en-US" dirty="0" smtClean="0"/>
              <a:t>Agreement after cause of action arises		</a:t>
            </a:r>
          </a:p>
          <a:p>
            <a:pPr lvl="1">
              <a:buFont typeface="Wingdings" pitchFamily="2" charset="2"/>
              <a:buChar char="§"/>
            </a:pPr>
            <a:r>
              <a:rPr lang="en-US" dirty="0" smtClean="0"/>
              <a:t>Consent by appearance and defense of subject matter of the case</a:t>
            </a:r>
          </a:p>
          <a:p>
            <a:pPr>
              <a:buFont typeface="Wingdings" pitchFamily="2" charset="2"/>
              <a:buChar char="§"/>
            </a:pPr>
            <a:r>
              <a:rPr lang="en-US" dirty="0" smtClean="0"/>
              <a:t>Exception: Special appearance to contest jurisdiction is not consent</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consent/submission </a:t>
            </a:r>
            <a:r>
              <a:rPr lang="en-US" b="1" dirty="0" err="1" smtClean="0"/>
              <a:t>ctd</a:t>
            </a:r>
            <a:r>
              <a:rPr lang="en-US" b="1"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pPr>
              <a:buFont typeface="Wingdings" pitchFamily="2" charset="2"/>
              <a:buChar char="§"/>
            </a:pPr>
            <a:r>
              <a:rPr lang="en-US" dirty="0" smtClean="0"/>
              <a:t>Forum selection clause:</a:t>
            </a:r>
          </a:p>
          <a:p>
            <a:pPr lvl="1">
              <a:buFont typeface="Wingdings" pitchFamily="2" charset="2"/>
              <a:buChar char="§"/>
            </a:pPr>
            <a:r>
              <a:rPr lang="en-US" dirty="0" smtClean="0"/>
              <a:t>Must have some connection with selected forum either:</a:t>
            </a:r>
          </a:p>
          <a:p>
            <a:pPr lvl="2">
              <a:buFont typeface="Wingdings" pitchFamily="2" charset="2"/>
              <a:buChar char="§"/>
            </a:pPr>
            <a:r>
              <a:rPr lang="en-US" dirty="0" smtClean="0"/>
              <a:t>Place of contract</a:t>
            </a:r>
          </a:p>
          <a:p>
            <a:pPr lvl="2">
              <a:buFont typeface="Wingdings" pitchFamily="2" charset="2"/>
              <a:buChar char="§"/>
            </a:pPr>
            <a:r>
              <a:rPr lang="en-US" dirty="0" smtClean="0"/>
              <a:t>Place of performance</a:t>
            </a:r>
          </a:p>
          <a:p>
            <a:pPr lvl="2">
              <a:buFont typeface="Wingdings" pitchFamily="2" charset="2"/>
              <a:buChar char="§"/>
            </a:pPr>
            <a:r>
              <a:rPr lang="en-US" dirty="0" smtClean="0"/>
              <a:t>Domicile</a:t>
            </a:r>
          </a:p>
          <a:p>
            <a:pPr>
              <a:buFont typeface="Wingdings" pitchFamily="2" charset="2"/>
              <a:buChar char="§"/>
            </a:pPr>
            <a:r>
              <a:rPr lang="en-US" dirty="0" smtClean="0"/>
              <a:t>The need to protect with weaker bargaining position from economic coercion</a:t>
            </a:r>
          </a:p>
          <a:p>
            <a:pPr lvl="1">
              <a:buFont typeface="Wingdings" pitchFamily="2" charset="2"/>
              <a:buChar char="§"/>
            </a:pPr>
            <a:r>
              <a:rPr lang="en-US" dirty="0" smtClean="0"/>
              <a:t>Employees, consumers </a:t>
            </a:r>
          </a:p>
          <a:p>
            <a:pPr>
              <a:buFont typeface="Wingdings" pitchFamily="2" charset="2"/>
              <a:buChar char="§"/>
            </a:pPr>
            <a:r>
              <a:rPr lang="en-US" dirty="0" smtClean="0"/>
              <a:t>Jurisdiction to particular court or any court selected by plaintiff?</a:t>
            </a:r>
          </a:p>
          <a:p>
            <a:pPr>
              <a:buFont typeface="Wingdings" pitchFamily="2" charset="2"/>
              <a:buChar char="§"/>
            </a:pPr>
            <a:r>
              <a:rPr lang="en-US" dirty="0" smtClean="0"/>
              <a:t>Jurisdiction to any court contrary to procedural due process of the law</a:t>
            </a:r>
          </a:p>
          <a:p>
            <a:pPr>
              <a:buFont typeface="Wingdings" pitchFamily="2" charset="2"/>
              <a:buChar char="§"/>
            </a:pPr>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2.4.Categories of Judicial Jurisdiction</a:t>
            </a:r>
            <a:endParaRPr lang="en-US" dirty="0"/>
          </a:p>
        </p:txBody>
      </p:sp>
      <p:sp>
        <p:nvSpPr>
          <p:cNvPr id="3" name="Content Placeholder 2"/>
          <p:cNvSpPr>
            <a:spLocks noGrp="1"/>
          </p:cNvSpPr>
          <p:nvPr>
            <p:ph idx="1"/>
          </p:nvPr>
        </p:nvSpPr>
        <p:spPr>
          <a:solidFill>
            <a:srgbClr val="00B050"/>
          </a:solidFill>
        </p:spPr>
        <p:txBody>
          <a:bodyPr>
            <a:normAutofit fontScale="62500" lnSpcReduction="20000"/>
          </a:bodyPr>
          <a:lstStyle/>
          <a:p>
            <a:pPr>
              <a:buFont typeface="Wingdings" pitchFamily="2" charset="2"/>
              <a:buChar char="§"/>
            </a:pPr>
            <a:r>
              <a:rPr lang="en-US" b="1" dirty="0" smtClean="0"/>
              <a:t>Three basic categories</a:t>
            </a:r>
            <a:r>
              <a:rPr lang="en-US" dirty="0" smtClean="0"/>
              <a:t>:</a:t>
            </a:r>
          </a:p>
          <a:p>
            <a:pPr lvl="1">
              <a:buFont typeface="Wingdings" pitchFamily="2" charset="2"/>
              <a:buChar char="§"/>
            </a:pPr>
            <a:r>
              <a:rPr lang="en-US" dirty="0" smtClean="0"/>
              <a:t>Jurisdiction </a:t>
            </a:r>
            <a:r>
              <a:rPr lang="en-US" i="1" dirty="0" smtClean="0"/>
              <a:t>in </a:t>
            </a:r>
            <a:r>
              <a:rPr lang="en-US" i="1" dirty="0" err="1" smtClean="0"/>
              <a:t>personam</a:t>
            </a:r>
            <a:endParaRPr lang="en-US" i="1" dirty="0" smtClean="0"/>
          </a:p>
          <a:p>
            <a:pPr lvl="1">
              <a:buFont typeface="Wingdings" pitchFamily="2" charset="2"/>
              <a:buChar char="§"/>
            </a:pPr>
            <a:r>
              <a:rPr lang="en-US" dirty="0" smtClean="0"/>
              <a:t>Jurisdiction </a:t>
            </a:r>
            <a:r>
              <a:rPr lang="en-US" i="1" dirty="0" smtClean="0"/>
              <a:t>in </a:t>
            </a:r>
            <a:r>
              <a:rPr lang="en-US" i="1" dirty="0" err="1" smtClean="0"/>
              <a:t>rem</a:t>
            </a:r>
            <a:endParaRPr lang="en-US" i="1" dirty="0" smtClean="0"/>
          </a:p>
          <a:p>
            <a:pPr lvl="1">
              <a:buFont typeface="Wingdings" pitchFamily="2" charset="2"/>
              <a:buChar char="§"/>
            </a:pPr>
            <a:r>
              <a:rPr lang="en-US" dirty="0" smtClean="0"/>
              <a:t>Jurisdiction over status</a:t>
            </a:r>
          </a:p>
          <a:p>
            <a:pPr>
              <a:buNone/>
            </a:pPr>
            <a:r>
              <a:rPr lang="en-US" dirty="0" smtClean="0"/>
              <a:t>1. </a:t>
            </a:r>
            <a:r>
              <a:rPr lang="en-US" b="1" dirty="0" smtClean="0"/>
              <a:t>Judicial jurisdiction </a:t>
            </a:r>
            <a:r>
              <a:rPr lang="en-US" b="1" i="1" dirty="0" smtClean="0"/>
              <a:t>in </a:t>
            </a:r>
            <a:r>
              <a:rPr lang="en-US" b="1" i="1" dirty="0" err="1" smtClean="0"/>
              <a:t>personam</a:t>
            </a:r>
            <a:r>
              <a:rPr lang="en-US" b="1" i="1" dirty="0" smtClean="0"/>
              <a:t> </a:t>
            </a:r>
            <a:r>
              <a:rPr lang="en-US" dirty="0" smtClean="0"/>
              <a:t>( claim against the person) </a:t>
            </a:r>
          </a:p>
          <a:p>
            <a:pPr lvl="1">
              <a:buFont typeface="Wingdings" pitchFamily="2" charset="2"/>
              <a:buChar char="§"/>
            </a:pPr>
            <a:r>
              <a:rPr lang="en-US" dirty="0" smtClean="0"/>
              <a:t>At the place of :</a:t>
            </a:r>
          </a:p>
          <a:p>
            <a:pPr lvl="2">
              <a:buFont typeface="Wingdings" pitchFamily="2" charset="2"/>
              <a:buChar char="§"/>
            </a:pPr>
            <a:r>
              <a:rPr lang="en-US" dirty="0" smtClean="0"/>
              <a:t>Defendants domicile</a:t>
            </a:r>
          </a:p>
          <a:p>
            <a:pPr lvl="2">
              <a:buFont typeface="Wingdings" pitchFamily="2" charset="2"/>
              <a:buChar char="§"/>
            </a:pPr>
            <a:r>
              <a:rPr lang="en-US" dirty="0" smtClean="0"/>
              <a:t>Contract making or performance</a:t>
            </a:r>
          </a:p>
          <a:p>
            <a:pPr lvl="2">
              <a:buFont typeface="Wingdings" pitchFamily="2" charset="2"/>
              <a:buChar char="§"/>
            </a:pPr>
            <a:r>
              <a:rPr lang="en-US" dirty="0" smtClean="0"/>
              <a:t>Cause of action arise </a:t>
            </a:r>
          </a:p>
          <a:p>
            <a:pPr>
              <a:buNone/>
            </a:pPr>
            <a:r>
              <a:rPr lang="en-US" dirty="0" smtClean="0"/>
              <a:t>2. </a:t>
            </a:r>
            <a:r>
              <a:rPr lang="en-US" b="1" dirty="0" smtClean="0"/>
              <a:t>Judicial jurisdiction </a:t>
            </a:r>
            <a:r>
              <a:rPr lang="en-US" b="1" i="1" dirty="0" smtClean="0"/>
              <a:t>in</a:t>
            </a:r>
            <a:r>
              <a:rPr lang="en-US" b="1" dirty="0" smtClean="0"/>
              <a:t> </a:t>
            </a:r>
            <a:r>
              <a:rPr lang="en-US" b="1" i="1" dirty="0" err="1" smtClean="0"/>
              <a:t>rem</a:t>
            </a:r>
            <a:r>
              <a:rPr lang="en-US" b="1" i="1" dirty="0" smtClean="0"/>
              <a:t> </a:t>
            </a:r>
            <a:r>
              <a:rPr lang="en-US" dirty="0" smtClean="0"/>
              <a:t>( claim  of right over a property)</a:t>
            </a:r>
          </a:p>
          <a:p>
            <a:pPr lvl="1">
              <a:buFont typeface="Wingdings" pitchFamily="2" charset="2"/>
              <a:buChar char="§"/>
            </a:pPr>
            <a:r>
              <a:rPr lang="en-US" dirty="0" smtClean="0"/>
              <a:t>Place of </a:t>
            </a:r>
            <a:r>
              <a:rPr lang="en-US" dirty="0" err="1" smtClean="0"/>
              <a:t>citus</a:t>
            </a:r>
            <a:r>
              <a:rPr lang="en-US" dirty="0" smtClean="0"/>
              <a:t> of property</a:t>
            </a:r>
          </a:p>
          <a:p>
            <a:pPr lvl="1">
              <a:buFont typeface="Wingdings" pitchFamily="2" charset="2"/>
              <a:buChar char="§"/>
            </a:pPr>
            <a:r>
              <a:rPr lang="en-US" dirty="0" smtClean="0"/>
              <a:t>Exception: Movable property in transit at place of destination</a:t>
            </a:r>
          </a:p>
          <a:p>
            <a:pPr>
              <a:buNone/>
            </a:pPr>
            <a:r>
              <a:rPr lang="en-US" dirty="0" smtClean="0"/>
              <a:t>3. </a:t>
            </a:r>
            <a:r>
              <a:rPr lang="en-US" b="1" dirty="0" smtClean="0"/>
              <a:t>Judicial jurisdiction on status </a:t>
            </a:r>
            <a:r>
              <a:rPr lang="en-US" dirty="0" smtClean="0"/>
              <a:t>( Filiations, Guardianship, marriage, divorce)</a:t>
            </a:r>
          </a:p>
          <a:p>
            <a:pPr>
              <a:buFont typeface="Wingdings" pitchFamily="2" charset="2"/>
              <a:buChar char="§"/>
            </a:pPr>
            <a:r>
              <a:rPr lang="en-US" dirty="0" smtClean="0"/>
              <a:t>At the place of : Domicile or Nationality</a:t>
            </a:r>
          </a:p>
          <a:p>
            <a:pPr>
              <a:buFont typeface="Wingdings" pitchFamily="2" charset="2"/>
              <a:buChar char="§"/>
            </a:pPr>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t/>
            </a:r>
            <a:br>
              <a:rPr lang="en-US" sz="4000" b="1" dirty="0" smtClean="0"/>
            </a:br>
            <a:r>
              <a:rPr lang="en-US" sz="4000" b="1" dirty="0" smtClean="0"/>
              <a:t/>
            </a:r>
            <a:br>
              <a:rPr lang="en-US" sz="4000" b="1" dirty="0" smtClean="0"/>
            </a:br>
            <a:r>
              <a:rPr lang="en-US" sz="4000" b="1" dirty="0" smtClean="0"/>
              <a:t>2.5. Limitations on the Exercise of Judicial Jurisdiction </a:t>
            </a:r>
            <a:r>
              <a:rPr lang="en-US" dirty="0" smtClean="0"/>
              <a:t/>
            </a:r>
            <a:br>
              <a:rPr lang="en-US" dirty="0" smtClean="0"/>
            </a:br>
            <a:r>
              <a:rPr lang="en-US" dirty="0" smtClean="0"/>
              <a:t> </a:t>
            </a:r>
            <a:br>
              <a:rPr lang="en-US" dirty="0" smtClean="0"/>
            </a:br>
            <a:endParaRPr lang="en-US" dirty="0"/>
          </a:p>
        </p:txBody>
      </p:sp>
      <p:sp>
        <p:nvSpPr>
          <p:cNvPr id="3" name="Content Placeholder 2"/>
          <p:cNvSpPr>
            <a:spLocks noGrp="1"/>
          </p:cNvSpPr>
          <p:nvPr>
            <p:ph idx="1"/>
          </p:nvPr>
        </p:nvSpPr>
        <p:spPr>
          <a:solidFill>
            <a:srgbClr val="00B050"/>
          </a:solidFill>
        </p:spPr>
        <p:txBody>
          <a:bodyPr>
            <a:normAutofit fontScale="92500" lnSpcReduction="10000"/>
          </a:bodyPr>
          <a:lstStyle/>
          <a:p>
            <a:pPr>
              <a:buFont typeface="Wingdings" pitchFamily="2" charset="2"/>
              <a:buChar char="§"/>
            </a:pPr>
            <a:r>
              <a:rPr lang="en-AU" dirty="0" smtClean="0"/>
              <a:t>Defendant may challenge the Plaintiff’s choice of forum because of  </a:t>
            </a:r>
            <a:r>
              <a:rPr lang="en-US" dirty="0" smtClean="0"/>
              <a:t>three major grounds for a declining of jurisdiction:</a:t>
            </a:r>
          </a:p>
          <a:p>
            <a:pPr lvl="1">
              <a:buFont typeface="Wingdings" pitchFamily="2" charset="2"/>
              <a:buChar char="§"/>
            </a:pPr>
            <a:r>
              <a:rPr lang="en-US" dirty="0" smtClean="0"/>
              <a:t>1) Forum non convenience(</a:t>
            </a:r>
            <a:r>
              <a:rPr lang="en-AU" dirty="0" smtClean="0"/>
              <a:t>Inappropriate forum)</a:t>
            </a:r>
          </a:p>
          <a:p>
            <a:pPr lvl="1">
              <a:buFont typeface="Wingdings" pitchFamily="2" charset="2"/>
              <a:buChar char="§"/>
            </a:pPr>
            <a:r>
              <a:rPr lang="en-US" dirty="0" smtClean="0"/>
              <a:t>2) Pendency </a:t>
            </a:r>
            <a:r>
              <a:rPr lang="en-AU" dirty="0" smtClean="0"/>
              <a:t>Similar proceedings on foot elsewhere)</a:t>
            </a:r>
            <a:r>
              <a:rPr lang="en-US" dirty="0" smtClean="0"/>
              <a:t>and </a:t>
            </a:r>
          </a:p>
          <a:p>
            <a:pPr lvl="1">
              <a:buFont typeface="Wingdings" pitchFamily="2" charset="2"/>
              <a:buChar char="§"/>
            </a:pPr>
            <a:r>
              <a:rPr lang="en-US" dirty="0" smtClean="0"/>
              <a:t>3) Austere clauses (</a:t>
            </a:r>
            <a:r>
              <a:rPr lang="en-AU" dirty="0" smtClean="0"/>
              <a:t>Parties agreed on another forum as suitable prior to the dispute in issue)</a:t>
            </a:r>
          </a:p>
          <a:p>
            <a:pPr>
              <a:buFont typeface="Wingdings" pitchFamily="2" charset="2"/>
              <a:buChar char="§"/>
            </a:pPr>
            <a:r>
              <a:rPr lang="en-AU" dirty="0" smtClean="0"/>
              <a:t>Remedy: Seek to stay, dismiss( decline), or transfer proceedings</a:t>
            </a:r>
          </a:p>
          <a:p>
            <a:pPr>
              <a:buFont typeface="Wingdings" pitchFamily="2" charset="2"/>
              <a:buChar char="§"/>
            </a:pPr>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ea typeface="新細明體" pitchFamily="18" charset="-120"/>
              </a:rPr>
              <a:t>Forum Non </a:t>
            </a:r>
            <a:r>
              <a:rPr lang="en-US" altLang="zh-TW" dirty="0" err="1" smtClean="0">
                <a:ea typeface="新細明體" pitchFamily="18" charset="-120"/>
              </a:rPr>
              <a:t>Conveniens</a:t>
            </a:r>
            <a:endParaRPr lang="en-US" dirty="0"/>
          </a:p>
        </p:txBody>
      </p:sp>
      <p:sp>
        <p:nvSpPr>
          <p:cNvPr id="3" name="Content Placeholder 2"/>
          <p:cNvSpPr>
            <a:spLocks noGrp="1"/>
          </p:cNvSpPr>
          <p:nvPr>
            <p:ph idx="1"/>
          </p:nvPr>
        </p:nvSpPr>
        <p:spPr>
          <a:solidFill>
            <a:srgbClr val="00B050"/>
          </a:solidFill>
        </p:spPr>
        <p:txBody>
          <a:bodyPr>
            <a:normAutofit/>
          </a:bodyPr>
          <a:lstStyle/>
          <a:p>
            <a:pPr marL="609600" indent="-609600">
              <a:buNone/>
            </a:pPr>
            <a:r>
              <a:rPr lang="en-US" altLang="zh-TW" dirty="0" smtClean="0">
                <a:ea typeface="新細明體" pitchFamily="18" charset="-120"/>
              </a:rPr>
              <a:t>1. Inappropriate forum doctrine</a:t>
            </a:r>
            <a:endParaRPr lang="en-US" altLang="zh-TW" i="1" dirty="0" smtClean="0">
              <a:ea typeface="新細明體" pitchFamily="18" charset="-120"/>
            </a:endParaRPr>
          </a:p>
          <a:p>
            <a:pPr marL="1009650" lvl="1" indent="-609600">
              <a:buFont typeface="Wingdings" pitchFamily="2" charset="2"/>
              <a:buChar char="§"/>
            </a:pPr>
            <a:r>
              <a:rPr lang="en-US" altLang="zh-TW" dirty="0" smtClean="0">
                <a:ea typeface="新細明體" pitchFamily="18" charset="-120"/>
              </a:rPr>
              <a:t>Forum court is not convenient or appropriate to hear and determine the matter brought before it</a:t>
            </a:r>
          </a:p>
          <a:p>
            <a:pPr marL="1009650" lvl="1" indent="-609600">
              <a:buFont typeface="Wingdings" pitchFamily="2" charset="2"/>
              <a:buChar char="§"/>
            </a:pPr>
            <a:r>
              <a:rPr lang="en-US" altLang="zh-TW" sz="2400" dirty="0" smtClean="0">
                <a:ea typeface="新細明體" pitchFamily="18" charset="-120"/>
              </a:rPr>
              <a:t>The exact formulation of the test differs from one country to another, reflecting different degrees of judicial comity.</a:t>
            </a:r>
          </a:p>
          <a:p>
            <a:pPr marL="1009650" lvl="1" indent="-609600">
              <a:buFont typeface="Wingdings" pitchFamily="2" charset="2"/>
              <a:buChar char="§"/>
            </a:pPr>
            <a:r>
              <a:rPr lang="en-US" altLang="zh-TW" sz="2400" dirty="0" smtClean="0">
                <a:ea typeface="新細明體" pitchFamily="18" charset="-120"/>
              </a:rPr>
              <a:t>However, the underlying purpose of the doctrine is similar in each case – to ensure that a matter doesn’t proceed in a forum with which it lacks genuine connection.</a:t>
            </a:r>
            <a:endParaRPr lang="en-AU" sz="2400" dirty="0" smtClean="0"/>
          </a:p>
          <a:p>
            <a:pPr marL="990600" lvl="1" indent="-533400"/>
            <a:endParaRPr lang="en-US" altLang="zh-TW" dirty="0" smtClean="0">
              <a:ea typeface="新細明體" pitchFamily="18" charset="-120"/>
            </a:endParaRP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ea typeface="新細明體" pitchFamily="18" charset="-120"/>
              </a:rPr>
              <a:t>Forum Non </a:t>
            </a:r>
            <a:r>
              <a:rPr lang="en-US" altLang="zh-TW" dirty="0" err="1" smtClean="0">
                <a:ea typeface="新細明體" pitchFamily="18" charset="-120"/>
              </a:rPr>
              <a:t>Conveniens</a:t>
            </a:r>
            <a:r>
              <a:rPr lang="en-US" altLang="zh-TW" dirty="0" smtClean="0">
                <a:ea typeface="新細明體" pitchFamily="18" charset="-120"/>
              </a:rPr>
              <a:t> </a:t>
            </a:r>
            <a:r>
              <a:rPr lang="en-US" altLang="zh-TW" dirty="0" err="1" smtClean="0">
                <a:ea typeface="新細明體" pitchFamily="18" charset="-120"/>
              </a:rPr>
              <a:t>cntd</a:t>
            </a:r>
            <a:r>
              <a:rPr lang="en-US" altLang="zh-TW" dirty="0" smtClean="0">
                <a:ea typeface="新細明體" pitchFamily="18" charset="-120"/>
              </a:rPr>
              <a:t>…</a:t>
            </a:r>
            <a:endParaRPr lang="en-US" dirty="0"/>
          </a:p>
        </p:txBody>
      </p:sp>
      <p:sp>
        <p:nvSpPr>
          <p:cNvPr id="3" name="Content Placeholder 2"/>
          <p:cNvSpPr>
            <a:spLocks noGrp="1"/>
          </p:cNvSpPr>
          <p:nvPr>
            <p:ph idx="1"/>
          </p:nvPr>
        </p:nvSpPr>
        <p:spPr>
          <a:solidFill>
            <a:srgbClr val="00B050"/>
          </a:solidFill>
        </p:spPr>
        <p:txBody>
          <a:bodyPr>
            <a:normAutofit fontScale="92500" lnSpcReduction="10000"/>
          </a:bodyPr>
          <a:lstStyle/>
          <a:p>
            <a:pPr>
              <a:lnSpc>
                <a:spcPct val="110000"/>
              </a:lnSpc>
              <a:buFont typeface="Wingdings" pitchFamily="2" charset="2"/>
              <a:buChar char="§"/>
            </a:pPr>
            <a:r>
              <a:rPr lang="en-AU" sz="2400" dirty="0" smtClean="0"/>
              <a:t>Defendant need  to show</a:t>
            </a:r>
          </a:p>
          <a:p>
            <a:pPr lvl="1">
              <a:lnSpc>
                <a:spcPct val="110000"/>
              </a:lnSpc>
              <a:buFont typeface="Wingdings" pitchFamily="2" charset="2"/>
              <a:buChar char="§"/>
            </a:pPr>
            <a:r>
              <a:rPr lang="en-AU" sz="2200" dirty="0" smtClean="0"/>
              <a:t>Vexatious &amp; Oppressive</a:t>
            </a:r>
          </a:p>
          <a:p>
            <a:pPr lvl="1">
              <a:lnSpc>
                <a:spcPct val="110000"/>
              </a:lnSpc>
              <a:buFont typeface="Wingdings" pitchFamily="2" charset="2"/>
              <a:buChar char="§"/>
            </a:pPr>
            <a:r>
              <a:rPr lang="en-AU" sz="2200" dirty="0" smtClean="0"/>
              <a:t>Abuse of Process</a:t>
            </a:r>
          </a:p>
          <a:p>
            <a:pPr lvl="1">
              <a:lnSpc>
                <a:spcPct val="110000"/>
              </a:lnSpc>
              <a:buFont typeface="Wingdings" pitchFamily="2" charset="2"/>
              <a:buChar char="§"/>
            </a:pPr>
            <a:r>
              <a:rPr lang="en-AU" sz="2000" dirty="0" smtClean="0"/>
              <a:t>No injustice to Plaintiff</a:t>
            </a:r>
          </a:p>
          <a:p>
            <a:pPr>
              <a:buFont typeface="Wingdings" pitchFamily="2" charset="2"/>
              <a:buChar char="§"/>
            </a:pPr>
            <a:r>
              <a:rPr lang="en-US" altLang="zh-TW" sz="2400" u="sng" dirty="0" smtClean="0">
                <a:ea typeface="新細明體" pitchFamily="18" charset="-120"/>
              </a:rPr>
              <a:t>Oppressive: </a:t>
            </a:r>
            <a:r>
              <a:rPr lang="en-US" altLang="zh-TW" sz="2400" dirty="0" smtClean="0">
                <a:ea typeface="新細明體" pitchFamily="18" charset="-120"/>
              </a:rPr>
              <a:t>seriously &amp; unfairly burdensome, prejudicial or damaging</a:t>
            </a:r>
          </a:p>
          <a:p>
            <a:pPr>
              <a:buFont typeface="Wingdings" pitchFamily="2" charset="2"/>
              <a:buChar char="§"/>
            </a:pPr>
            <a:r>
              <a:rPr lang="en-US" altLang="zh-TW" sz="2400" u="sng" dirty="0" smtClean="0">
                <a:ea typeface="新細明體" pitchFamily="18" charset="-120"/>
              </a:rPr>
              <a:t>Vexatious: </a:t>
            </a:r>
            <a:r>
              <a:rPr lang="en-US" altLang="zh-TW" sz="2400" dirty="0" smtClean="0">
                <a:ea typeface="新細明體" pitchFamily="18" charset="-120"/>
              </a:rPr>
              <a:t>productive of serious &amp; unjustified trouble &amp; harassment</a:t>
            </a:r>
          </a:p>
          <a:p>
            <a:pPr>
              <a:buFont typeface="Wingdings" pitchFamily="2" charset="2"/>
              <a:buChar char="§"/>
            </a:pPr>
            <a:r>
              <a:rPr lang="en-AU" sz="2400" dirty="0" smtClean="0"/>
              <a:t>Onus of proof  always on the Defendant</a:t>
            </a:r>
          </a:p>
          <a:p>
            <a:pPr>
              <a:buFont typeface="Wingdings" pitchFamily="2" charset="2"/>
              <a:buChar char="§"/>
            </a:pPr>
            <a:r>
              <a:rPr lang="en-AU" sz="2400" dirty="0" smtClean="0"/>
              <a:t>Focus: moral proprietary of proceeding rather than territory law area,</a:t>
            </a:r>
          </a:p>
          <a:p>
            <a:pPr>
              <a:buFont typeface="Wingdings" pitchFamily="2" charset="2"/>
              <a:buChar char="§"/>
            </a:pPr>
            <a:r>
              <a:rPr lang="en-AU" sz="2400" dirty="0" smtClean="0"/>
              <a:t>Stay/dismissal rarely granted </a:t>
            </a:r>
          </a:p>
          <a:p>
            <a:pPr>
              <a:buFont typeface="Wingdings" pitchFamily="2" charset="2"/>
              <a:buChar char="§"/>
            </a:pPr>
            <a:r>
              <a:rPr lang="en-US" sz="2000" dirty="0" smtClean="0"/>
              <a:t>Dismissal does not entail a </a:t>
            </a:r>
            <a:r>
              <a:rPr lang="en-US" sz="2000" i="1" dirty="0" smtClean="0"/>
              <a:t>res </a:t>
            </a:r>
            <a:r>
              <a:rPr lang="en-US" sz="2000" i="1" dirty="0" err="1" smtClean="0"/>
              <a:t>judicata</a:t>
            </a:r>
            <a:r>
              <a:rPr lang="en-US" sz="2000" dirty="0" smtClean="0"/>
              <a:t> effect nor does exclude it</a:t>
            </a:r>
            <a:endParaRPr lang="en-AU" sz="2000"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ea typeface="新細明體" pitchFamily="18" charset="-120"/>
              </a:rPr>
              <a:t>Forum Non Convenience </a:t>
            </a:r>
            <a:r>
              <a:rPr lang="en-US" altLang="zh-TW" dirty="0" err="1" smtClean="0">
                <a:ea typeface="新細明體" pitchFamily="18" charset="-120"/>
              </a:rPr>
              <a:t>cntd</a:t>
            </a:r>
            <a:r>
              <a:rPr lang="en-US" altLang="zh-TW" dirty="0" smtClean="0">
                <a:ea typeface="新細明體" pitchFamily="18" charset="-120"/>
              </a:rPr>
              <a:t>…</a:t>
            </a:r>
            <a:endParaRPr lang="en-US" dirty="0"/>
          </a:p>
        </p:txBody>
      </p:sp>
      <p:sp>
        <p:nvSpPr>
          <p:cNvPr id="3" name="Content Placeholder 2"/>
          <p:cNvSpPr>
            <a:spLocks noGrp="1"/>
          </p:cNvSpPr>
          <p:nvPr>
            <p:ph idx="1"/>
          </p:nvPr>
        </p:nvSpPr>
        <p:spPr>
          <a:solidFill>
            <a:srgbClr val="00B050"/>
          </a:solidFill>
        </p:spPr>
        <p:txBody>
          <a:bodyPr>
            <a:normAutofit/>
          </a:bodyPr>
          <a:lstStyle/>
          <a:p>
            <a:pPr>
              <a:buFont typeface="Wingdings" pitchFamily="2" charset="2"/>
              <a:buChar char="§"/>
            </a:pPr>
            <a:r>
              <a:rPr lang="en-US" b="1" dirty="0" smtClean="0"/>
              <a:t>Objectives</a:t>
            </a:r>
            <a:r>
              <a:rPr lang="en-US" dirty="0" smtClean="0"/>
              <a:t> of Forum Non convenience doctrine:</a:t>
            </a:r>
          </a:p>
          <a:p>
            <a:pPr lvl="1">
              <a:buFont typeface="Wingdings" pitchFamily="2" charset="2"/>
              <a:buChar char="§"/>
            </a:pPr>
            <a:r>
              <a:rPr lang="en-US" cap="all" dirty="0" smtClean="0"/>
              <a:t>a</a:t>
            </a:r>
            <a:r>
              <a:rPr lang="en-US" dirty="0" smtClean="0"/>
              <a:t>ntidote to </a:t>
            </a:r>
            <a:r>
              <a:rPr lang="en-US" cap="all" dirty="0" smtClean="0"/>
              <a:t>e</a:t>
            </a:r>
            <a:r>
              <a:rPr lang="en-US" dirty="0" smtClean="0"/>
              <a:t>xcessively </a:t>
            </a:r>
            <a:r>
              <a:rPr lang="en-US" cap="all" dirty="0" smtClean="0"/>
              <a:t>w</a:t>
            </a:r>
            <a:r>
              <a:rPr lang="en-US" dirty="0" smtClean="0"/>
              <a:t>ide </a:t>
            </a:r>
            <a:r>
              <a:rPr lang="en-US" cap="all" dirty="0" smtClean="0"/>
              <a:t>b</a:t>
            </a:r>
            <a:r>
              <a:rPr lang="en-US" dirty="0" smtClean="0"/>
              <a:t>ases of </a:t>
            </a:r>
            <a:r>
              <a:rPr lang="en-US" cap="all" dirty="0" smtClean="0"/>
              <a:t>j</a:t>
            </a:r>
            <a:r>
              <a:rPr lang="en-US" dirty="0" smtClean="0"/>
              <a:t>urisdiction </a:t>
            </a:r>
          </a:p>
          <a:p>
            <a:pPr lvl="1">
              <a:buFont typeface="Wingdings" pitchFamily="2" charset="2"/>
              <a:buChar char="§"/>
            </a:pPr>
            <a:r>
              <a:rPr lang="en-US" dirty="0" smtClean="0"/>
              <a:t>Providing Flexibility</a:t>
            </a:r>
          </a:p>
          <a:p>
            <a:pPr lvl="1">
              <a:buFont typeface="Wingdings" pitchFamily="2" charset="2"/>
              <a:buChar char="§"/>
            </a:pPr>
            <a:r>
              <a:rPr lang="en-US" dirty="0" smtClean="0"/>
              <a:t>Preventing </a:t>
            </a:r>
            <a:r>
              <a:rPr lang="en-US" cap="all" dirty="0" smtClean="0"/>
              <a:t>f</a:t>
            </a:r>
            <a:r>
              <a:rPr lang="en-US" dirty="0" smtClean="0"/>
              <a:t>orum Shopping and vexatious </a:t>
            </a:r>
          </a:p>
          <a:p>
            <a:pPr>
              <a:buFont typeface="Wingdings" pitchFamily="2" charset="2"/>
              <a:buChar char="§"/>
            </a:pPr>
            <a:r>
              <a:rPr lang="en-US" b="1" dirty="0" smtClean="0"/>
              <a:t>Critiques against FNC:</a:t>
            </a:r>
          </a:p>
          <a:p>
            <a:pPr lvl="1">
              <a:buFont typeface="Wingdings" pitchFamily="2" charset="2"/>
              <a:buChar char="§"/>
            </a:pPr>
            <a:r>
              <a:rPr lang="en-US" dirty="0" smtClean="0"/>
              <a:t>Greater potentiality for abuse by courts exercising their discretion.</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 Pendency (</a:t>
            </a:r>
            <a:r>
              <a:rPr lang="en-AU" dirty="0" err="1" smtClean="0"/>
              <a:t>Lis</a:t>
            </a:r>
            <a:r>
              <a:rPr lang="en-AU" dirty="0" smtClean="0"/>
              <a:t> alibi </a:t>
            </a:r>
            <a:r>
              <a:rPr lang="en-AU" dirty="0" err="1" smtClean="0"/>
              <a:t>pendens</a:t>
            </a:r>
            <a:r>
              <a:rPr lang="en-AU" dirty="0" smtClean="0"/>
              <a:t>)</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pPr>
              <a:buFont typeface="Wingdings" pitchFamily="2" charset="2"/>
              <a:buChar char="§"/>
            </a:pPr>
            <a:r>
              <a:rPr lang="en-AU" b="1" dirty="0" smtClean="0"/>
              <a:t>Meaning</a:t>
            </a:r>
            <a:r>
              <a:rPr lang="en-AU" dirty="0" smtClean="0"/>
              <a:t>: Parallel proceedings exist in another forum that  raise same issue between same parties or be substantially related proceedings</a:t>
            </a:r>
          </a:p>
          <a:p>
            <a:pPr>
              <a:buFont typeface="Wingdings" pitchFamily="2" charset="2"/>
              <a:buChar char="§"/>
            </a:pPr>
            <a:r>
              <a:rPr lang="en-AU" b="1" dirty="0" smtClean="0"/>
              <a:t>Objective:</a:t>
            </a:r>
            <a:r>
              <a:rPr lang="en-AU" dirty="0" smtClean="0"/>
              <a:t> to prevent inconsistent judgements</a:t>
            </a:r>
          </a:p>
          <a:p>
            <a:pPr>
              <a:buFont typeface="Wingdings" pitchFamily="2" charset="2"/>
              <a:buChar char="§"/>
            </a:pPr>
            <a:r>
              <a:rPr lang="en-US" dirty="0" smtClean="0"/>
              <a:t>No uniformity as to the basis for pendency rule:</a:t>
            </a:r>
          </a:p>
          <a:p>
            <a:pPr lvl="1">
              <a:buNone/>
            </a:pPr>
            <a:r>
              <a:rPr lang="en-US" b="1" dirty="0" smtClean="0"/>
              <a:t>A. As part of Forum Non Convenience doctrine</a:t>
            </a:r>
          </a:p>
          <a:p>
            <a:pPr lvl="1">
              <a:buNone/>
            </a:pPr>
            <a:r>
              <a:rPr lang="en-US" b="1" dirty="0" smtClean="0"/>
              <a:t>B. The First Seized Approach </a:t>
            </a:r>
          </a:p>
          <a:p>
            <a:pPr lvl="2">
              <a:buFont typeface="Wingdings" pitchFamily="2" charset="2"/>
              <a:buChar char="§"/>
            </a:pPr>
            <a:r>
              <a:rPr lang="en-US" dirty="0" smtClean="0"/>
              <a:t>when is a court deemed to be seized of proceedings?</a:t>
            </a:r>
          </a:p>
          <a:p>
            <a:pPr lvl="3">
              <a:buFont typeface="Wingdings" pitchFamily="2" charset="2"/>
              <a:buChar char="§"/>
            </a:pPr>
            <a:r>
              <a:rPr lang="en-US" dirty="0" smtClean="0"/>
              <a:t>the moment when the document instituting the proceeding is filed with a local court or,</a:t>
            </a:r>
          </a:p>
          <a:p>
            <a:pPr lvl="3">
              <a:buFont typeface="Wingdings" pitchFamily="2" charset="2"/>
              <a:buChar char="§"/>
            </a:pPr>
            <a:r>
              <a:rPr lang="en-US" dirty="0" smtClean="0"/>
              <a:t> the moment when this document is served on the defendant.</a:t>
            </a:r>
          </a:p>
          <a:p>
            <a:pPr lvl="1">
              <a:buNone/>
            </a:pPr>
            <a:r>
              <a:rPr lang="en-US" b="1" dirty="0" smtClean="0"/>
              <a:t>C. Recognition Prognosis: </a:t>
            </a:r>
            <a:r>
              <a:rPr lang="en-US" dirty="0" smtClean="0"/>
              <a:t>a court declines jurisdiction if the action abroad is likely to lead to a judgment which is recognizable under its law</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Ousting Jurisdiction by Agreement</a:t>
            </a:r>
            <a:endParaRPr lang="en-US" dirty="0"/>
          </a:p>
        </p:txBody>
      </p:sp>
      <p:sp>
        <p:nvSpPr>
          <p:cNvPr id="3" name="Content Placeholder 2"/>
          <p:cNvSpPr>
            <a:spLocks noGrp="1"/>
          </p:cNvSpPr>
          <p:nvPr>
            <p:ph idx="1"/>
          </p:nvPr>
        </p:nvSpPr>
        <p:spPr/>
        <p:txBody>
          <a:bodyPr/>
          <a:lstStyle/>
          <a:p>
            <a:pPr>
              <a:buFont typeface="Wingdings" pitchFamily="2" charset="2"/>
              <a:buChar char="§"/>
            </a:pPr>
            <a:r>
              <a:rPr lang="en-US" b="1" dirty="0" smtClean="0"/>
              <a:t>See  discussion on forum selection clauses </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2.6. Judicial Jurisdiction of Ethiopian Courts</a:t>
            </a:r>
            <a:endParaRPr lang="en-US" dirty="0"/>
          </a:p>
        </p:txBody>
      </p:sp>
      <p:sp>
        <p:nvSpPr>
          <p:cNvPr id="3" name="Content Placeholder 2"/>
          <p:cNvSpPr>
            <a:spLocks noGrp="1"/>
          </p:cNvSpPr>
          <p:nvPr>
            <p:ph idx="1"/>
          </p:nvPr>
        </p:nvSpPr>
        <p:spPr>
          <a:solidFill>
            <a:srgbClr val="00B050"/>
          </a:solidFill>
        </p:spPr>
        <p:txBody>
          <a:bodyPr>
            <a:normAutofit fontScale="62500" lnSpcReduction="20000"/>
          </a:bodyPr>
          <a:lstStyle/>
          <a:p>
            <a:pPr>
              <a:buNone/>
            </a:pPr>
            <a:r>
              <a:rPr lang="en-US" b="1" dirty="0" smtClean="0"/>
              <a:t> Jurisdiction in International Interstate Conflict</a:t>
            </a:r>
          </a:p>
          <a:p>
            <a:pPr>
              <a:buNone/>
            </a:pPr>
            <a:endParaRPr lang="en-US" b="1" dirty="0" smtClean="0"/>
          </a:p>
          <a:p>
            <a:pPr>
              <a:buFont typeface="Wingdings" pitchFamily="2" charset="2"/>
              <a:buChar char="§"/>
            </a:pPr>
            <a:r>
              <a:rPr lang="en-US" dirty="0" smtClean="0"/>
              <a:t>Federal Courts have Jurisdiction on intra state and inter state conflicts</a:t>
            </a:r>
          </a:p>
          <a:p>
            <a:pPr>
              <a:buFont typeface="Wingdings" pitchFamily="2" charset="2"/>
              <a:buChar char="§"/>
            </a:pPr>
            <a:r>
              <a:rPr lang="en-US" b="1" dirty="0" smtClean="0"/>
              <a:t>Procl.25/96</a:t>
            </a:r>
            <a:r>
              <a:rPr lang="en-US" dirty="0" smtClean="0"/>
              <a:t> </a:t>
            </a:r>
          </a:p>
          <a:p>
            <a:pPr lvl="1">
              <a:buFont typeface="Wingdings" pitchFamily="2" charset="2"/>
              <a:buChar char="§"/>
            </a:pPr>
            <a:r>
              <a:rPr lang="en-US" dirty="0" smtClean="0"/>
              <a:t>FHC Jurisdiction on  civil cases between persons permanently residing in different states </a:t>
            </a:r>
          </a:p>
          <a:p>
            <a:pPr>
              <a:buFont typeface="Wingdings" pitchFamily="2" charset="2"/>
              <a:buChar char="§"/>
            </a:pPr>
            <a:r>
              <a:rPr lang="en-US" b="1" dirty="0" smtClean="0"/>
              <a:t>Justification</a:t>
            </a:r>
            <a:r>
              <a:rPr lang="en-US" dirty="0" smtClean="0"/>
              <a:t> :</a:t>
            </a:r>
          </a:p>
          <a:p>
            <a:pPr lvl="1">
              <a:buFont typeface="Wingdings" pitchFamily="2" charset="2"/>
              <a:buChar char="§"/>
            </a:pPr>
            <a:r>
              <a:rPr lang="en-US" dirty="0" smtClean="0"/>
              <a:t>Avoid local prejudice</a:t>
            </a:r>
          </a:p>
          <a:p>
            <a:pPr lvl="1">
              <a:buFont typeface="Wingdings" pitchFamily="2" charset="2"/>
              <a:buChar char="§"/>
            </a:pPr>
            <a:r>
              <a:rPr lang="en-US" dirty="0" smtClean="0"/>
              <a:t>To help formulate national rule of conflict of laws</a:t>
            </a:r>
          </a:p>
          <a:p>
            <a:pPr lvl="1">
              <a:buFont typeface="Wingdings" pitchFamily="2" charset="2"/>
              <a:buChar char="§"/>
            </a:pPr>
            <a:r>
              <a:rPr lang="en-US" dirty="0" smtClean="0"/>
              <a:t>Quality of justice </a:t>
            </a:r>
          </a:p>
          <a:p>
            <a:pPr>
              <a:buFont typeface="Wingdings" pitchFamily="2" charset="2"/>
              <a:buChar char="§"/>
            </a:pPr>
            <a:r>
              <a:rPr lang="en-US" b="1" dirty="0" smtClean="0"/>
              <a:t>Critique of justification</a:t>
            </a:r>
          </a:p>
          <a:p>
            <a:pPr>
              <a:buFont typeface="Wingdings" pitchFamily="2" charset="2"/>
              <a:buChar char="§"/>
            </a:pPr>
            <a:r>
              <a:rPr lang="en-US" b="1" dirty="0" smtClean="0"/>
              <a:t>Jurisdiction </a:t>
            </a:r>
            <a:r>
              <a:rPr lang="en-US" b="1" cap="all" dirty="0" smtClean="0"/>
              <a:t>r</a:t>
            </a:r>
            <a:r>
              <a:rPr lang="en-US" b="1" dirty="0" smtClean="0"/>
              <a:t>elated </a:t>
            </a:r>
            <a:r>
              <a:rPr lang="en-US" b="1" cap="all" dirty="0" smtClean="0"/>
              <a:t>b</a:t>
            </a:r>
            <a:r>
              <a:rPr lang="en-US" b="1" dirty="0" smtClean="0"/>
              <a:t>asic </a:t>
            </a:r>
            <a:r>
              <a:rPr lang="en-US" b="1" cap="all" dirty="0" smtClean="0"/>
              <a:t>c</a:t>
            </a:r>
            <a:r>
              <a:rPr lang="en-US" b="1" dirty="0" smtClean="0"/>
              <a:t>onstitutional </a:t>
            </a:r>
            <a:r>
              <a:rPr lang="en-US" b="1" cap="all" dirty="0" smtClean="0"/>
              <a:t>g</a:t>
            </a:r>
            <a:r>
              <a:rPr lang="en-US" b="1" dirty="0" smtClean="0"/>
              <a:t>uarantees</a:t>
            </a:r>
          </a:p>
          <a:p>
            <a:pPr lvl="1">
              <a:buFont typeface="Wingdings" pitchFamily="2" charset="2"/>
              <a:buChar char="§"/>
            </a:pPr>
            <a:r>
              <a:rPr lang="en-US" b="1" dirty="0" smtClean="0"/>
              <a:t>Full faith and credit clause </a:t>
            </a:r>
          </a:p>
          <a:p>
            <a:pPr lvl="1">
              <a:buFont typeface="Wingdings" pitchFamily="2" charset="2"/>
              <a:buChar char="§"/>
            </a:pPr>
            <a:r>
              <a:rPr lang="en-US" b="1" dirty="0" smtClean="0"/>
              <a:t>Immunities and privileges clause</a:t>
            </a:r>
          </a:p>
          <a:p>
            <a:pPr lvl="1">
              <a:buFont typeface="Wingdings" pitchFamily="2" charset="2"/>
              <a:buChar char="§"/>
            </a:pPr>
            <a:endParaRPr lang="en-US" b="1" dirty="0" smtClean="0"/>
          </a:p>
          <a:p>
            <a:pPr>
              <a:buFont typeface="Wingdings" pitchFamily="2" charset="2"/>
              <a:buChar char="§"/>
            </a:pPr>
            <a:endParaRPr lang="en-US" dirty="0" smtClean="0"/>
          </a:p>
          <a:p>
            <a:pPr lvl="1">
              <a:buFont typeface="Wingdings" pitchFamily="2" charset="2"/>
              <a:buChar char="§"/>
            </a:pP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Jurisdiction Under Federal draft Conflict of Law</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pPr>
              <a:buFont typeface="Wingdings" pitchFamily="2" charset="2"/>
              <a:buChar char="§"/>
            </a:pPr>
            <a:r>
              <a:rPr lang="en-US" dirty="0" smtClean="0"/>
              <a:t>General and special Jurisdiction</a:t>
            </a:r>
          </a:p>
          <a:p>
            <a:pPr>
              <a:buFont typeface="Wingdings" pitchFamily="2" charset="2"/>
              <a:buChar char="§"/>
            </a:pPr>
            <a:r>
              <a:rPr lang="en-US" dirty="0" smtClean="0"/>
              <a:t>Two Understandings :</a:t>
            </a:r>
          </a:p>
          <a:p>
            <a:pPr>
              <a:buFont typeface="Wingdings" pitchFamily="2" charset="2"/>
              <a:buChar char="§"/>
            </a:pPr>
            <a:r>
              <a:rPr lang="en-US" dirty="0" smtClean="0"/>
              <a:t>1. In reference to the scope of jurisdiction of a court</a:t>
            </a:r>
          </a:p>
          <a:p>
            <a:pPr lvl="1">
              <a:buFont typeface="Wingdings" pitchFamily="2" charset="2"/>
              <a:buChar char="§"/>
            </a:pPr>
            <a:r>
              <a:rPr lang="en-US" dirty="0" smtClean="0"/>
              <a:t>A court of limited jurisdiction is one which is restricted only to those classes of cases specifically listed under legislations, constitution or other legal sources of the sovereign establishing the court</a:t>
            </a:r>
          </a:p>
          <a:p>
            <a:pPr lvl="1">
              <a:buFont typeface="Wingdings" pitchFamily="2" charset="2"/>
              <a:buChar char="§"/>
            </a:pPr>
            <a:r>
              <a:rPr lang="en-US" dirty="0" smtClean="0"/>
              <a:t>A court of general jurisdiction is one that is conferred with jurisdiction over any cases except those which supply exclusive jurisdiction of another court or that given to the court of limited jurisdiction. </a:t>
            </a:r>
          </a:p>
          <a:p>
            <a:pPr>
              <a:buNone/>
            </a:pPr>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dirty="0" smtClean="0"/>
              <a:t>In USA, for example, state courts are courts of general jurisdiction whereas federal courts are regarded as courts of limited jurisdiction</a:t>
            </a:r>
          </a:p>
          <a:p>
            <a:r>
              <a:rPr lang="en-US" dirty="0" smtClean="0"/>
              <a:t>In some other states, neither federal nor state courts are identified by general or limited jurisdiction. A typical example of such tradition is found in Switzerland, and the Federal Democratic Republic of Germany. </a:t>
            </a:r>
            <a:r>
              <a:rPr lang="en-US" cap="all" dirty="0" smtClean="0"/>
              <a:t>i</a:t>
            </a:r>
            <a:r>
              <a:rPr lang="en-US" dirty="0" smtClean="0"/>
              <a:t>n Switzerland, general jurisdiction, both internationally and in the interstate matter, lies in the court in which the defendant is domiciled, be it a federal or state court. </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fontScale="92500" lnSpcReduction="20000"/>
          </a:bodyPr>
          <a:lstStyle/>
          <a:p>
            <a:pPr>
              <a:buNone/>
            </a:pPr>
            <a:r>
              <a:rPr lang="en-US" dirty="0" smtClean="0"/>
              <a:t>2. In reference to the grounds of  jurisdiction</a:t>
            </a:r>
          </a:p>
          <a:p>
            <a:pPr lvl="1">
              <a:buFont typeface="Wingdings" pitchFamily="2" charset="2"/>
              <a:buChar char="§"/>
            </a:pPr>
            <a:r>
              <a:rPr lang="en-US" dirty="0" smtClean="0"/>
              <a:t>Basic Place of Jurisdiction</a:t>
            </a:r>
          </a:p>
          <a:p>
            <a:pPr lvl="2">
              <a:buFont typeface="Wingdings" pitchFamily="2" charset="2"/>
              <a:buChar char="§"/>
            </a:pPr>
            <a:r>
              <a:rPr lang="en-US" dirty="0" smtClean="0"/>
              <a:t> Default place of Jurisdiction in Normal circumstances unless another place is indicate by law</a:t>
            </a:r>
          </a:p>
          <a:p>
            <a:pPr lvl="1">
              <a:buFont typeface="Wingdings" pitchFamily="2" charset="2"/>
              <a:buChar char="§"/>
            </a:pPr>
            <a:r>
              <a:rPr lang="en-US" dirty="0" smtClean="0"/>
              <a:t>Special Jurisdiction </a:t>
            </a:r>
          </a:p>
          <a:p>
            <a:pPr lvl="2">
              <a:buFont typeface="Wingdings" pitchFamily="2" charset="2"/>
              <a:buChar char="§"/>
            </a:pPr>
            <a:r>
              <a:rPr lang="en-US" dirty="0" smtClean="0"/>
              <a:t>Based on  special nature of the dispute</a:t>
            </a:r>
          </a:p>
          <a:p>
            <a:pPr lvl="3">
              <a:buFont typeface="Wingdings" pitchFamily="2" charset="2"/>
              <a:buChar char="§"/>
            </a:pPr>
            <a:r>
              <a:rPr lang="en-US" dirty="0" smtClean="0"/>
              <a:t>To protect  weaker party</a:t>
            </a:r>
          </a:p>
          <a:p>
            <a:pPr lvl="3">
              <a:buFont typeface="Wingdings" pitchFamily="2" charset="2"/>
              <a:buChar char="§"/>
            </a:pPr>
            <a:r>
              <a:rPr lang="en-US" dirty="0" smtClean="0"/>
              <a:t>For procedural expediency</a:t>
            </a:r>
          </a:p>
          <a:p>
            <a:pPr lvl="1">
              <a:buFont typeface="Wingdings" pitchFamily="2" charset="2"/>
              <a:buChar char="§"/>
            </a:pPr>
            <a:r>
              <a:rPr lang="en-US" dirty="0" smtClean="0"/>
              <a:t>Exclusive Jurisdiction </a:t>
            </a:r>
          </a:p>
          <a:p>
            <a:pPr lvl="2">
              <a:buFont typeface="Wingdings" pitchFamily="2" charset="2"/>
              <a:buChar char="§"/>
            </a:pPr>
            <a:r>
              <a:rPr lang="en-US" dirty="0" smtClean="0"/>
              <a:t>No other place can claim jurisdiction  other  than  the place indicated as exclusive</a:t>
            </a:r>
          </a:p>
          <a:p>
            <a:pPr lvl="2">
              <a:buFont typeface="Wingdings" pitchFamily="2" charset="2"/>
              <a:buChar char="§"/>
            </a:pPr>
            <a:r>
              <a:rPr lang="en-US" dirty="0" smtClean="0"/>
              <a:t>Cannot be ousted by agreement of parties</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Case of Ethiopia under draft</a:t>
            </a:r>
            <a:br>
              <a:rPr lang="en-US" dirty="0" smtClean="0"/>
            </a:br>
            <a:endParaRPr lang="en-US" dirty="0"/>
          </a:p>
        </p:txBody>
      </p:sp>
      <p:sp>
        <p:nvSpPr>
          <p:cNvPr id="3" name="Content Placeholder 2"/>
          <p:cNvSpPr>
            <a:spLocks noGrp="1"/>
          </p:cNvSpPr>
          <p:nvPr>
            <p:ph idx="1"/>
          </p:nvPr>
        </p:nvSpPr>
        <p:spPr>
          <a:solidFill>
            <a:srgbClr val="00B050"/>
          </a:solidFill>
        </p:spPr>
        <p:txBody>
          <a:bodyPr/>
          <a:lstStyle/>
          <a:p>
            <a:pPr>
              <a:buFont typeface="Wingdings" pitchFamily="2" charset="2"/>
              <a:buChar char="§"/>
            </a:pPr>
            <a:r>
              <a:rPr lang="en-US" dirty="0" smtClean="0"/>
              <a:t>Classification</a:t>
            </a:r>
          </a:p>
          <a:p>
            <a:pPr lvl="1">
              <a:buFont typeface="Wingdings" pitchFamily="2" charset="2"/>
              <a:buChar char="§"/>
            </a:pPr>
            <a:r>
              <a:rPr lang="en-US" dirty="0" smtClean="0"/>
              <a:t>General Jurisdiction ( Basic place of jurisdiction)</a:t>
            </a:r>
          </a:p>
          <a:p>
            <a:pPr lvl="1">
              <a:buFont typeface="Wingdings" pitchFamily="2" charset="2"/>
              <a:buChar char="§"/>
            </a:pPr>
            <a:r>
              <a:rPr lang="en-US" dirty="0" smtClean="0"/>
              <a:t>Special jurisdiction</a:t>
            </a:r>
          </a:p>
          <a:p>
            <a:pPr lvl="1">
              <a:buFont typeface="Wingdings" pitchFamily="2" charset="2"/>
              <a:buChar char="§"/>
            </a:pPr>
            <a:r>
              <a:rPr lang="en-US" dirty="0" smtClean="0"/>
              <a:t>Exclusive Jurisdiction</a:t>
            </a:r>
          </a:p>
          <a:p>
            <a:pPr>
              <a:buFont typeface="Wingdings" pitchFamily="2" charset="2"/>
              <a:buChar char="§"/>
            </a:pPr>
            <a:r>
              <a:rPr lang="en-US" dirty="0" smtClean="0"/>
              <a:t>General Jurisdiction ( Art.17)</a:t>
            </a:r>
          </a:p>
          <a:p>
            <a:pPr lvl="1">
              <a:buFont typeface="Wingdings" pitchFamily="2" charset="2"/>
              <a:buChar char="§"/>
            </a:pPr>
            <a:r>
              <a:rPr lang="en-US" dirty="0" smtClean="0"/>
              <a:t>Place of defendants domicile ( Art.17(1))</a:t>
            </a:r>
          </a:p>
          <a:p>
            <a:pPr lvl="1">
              <a:buFont typeface="Wingdings" pitchFamily="2" charset="2"/>
              <a:buChar char="§"/>
            </a:pPr>
            <a:r>
              <a:rPr lang="en-US" dirty="0" smtClean="0"/>
              <a:t>Interstate dispute jurisdiction of Federal High Court ( art.17(3))</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Jurisdiction( Art.18 -32)</a:t>
            </a:r>
            <a:br>
              <a:rPr lang="en-US" dirty="0" smtClean="0"/>
            </a:b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Based on Nature of the  Subject Matter ( Art18)</a:t>
            </a:r>
          </a:p>
          <a:p>
            <a:r>
              <a:rPr lang="en-US" dirty="0" smtClean="0"/>
              <a:t>Based on Nature of Action ( Art.19)</a:t>
            </a:r>
          </a:p>
          <a:p>
            <a:r>
              <a:rPr lang="en-US" dirty="0" smtClean="0"/>
              <a:t>Concerning marital rights and duties (art.20)</a:t>
            </a:r>
          </a:p>
          <a:p>
            <a:r>
              <a:rPr lang="en-US" dirty="0" smtClean="0"/>
              <a:t>Concerning foliation ( Art.21)</a:t>
            </a:r>
          </a:p>
          <a:p>
            <a:r>
              <a:rPr lang="en-US" dirty="0" smtClean="0"/>
              <a:t>Concerning guardianship ( Art.22)</a:t>
            </a:r>
          </a:p>
          <a:p>
            <a:r>
              <a:rPr lang="en-US" dirty="0" smtClean="0"/>
              <a:t>Concerning succession ( Art.23)</a:t>
            </a:r>
          </a:p>
          <a:p>
            <a:pPr lvl="1"/>
            <a:r>
              <a:rPr lang="en-US" dirty="0" smtClean="0"/>
              <a:t>Movable </a:t>
            </a:r>
          </a:p>
          <a:p>
            <a:pPr lvl="1"/>
            <a:r>
              <a:rPr lang="en-US" dirty="0" smtClean="0"/>
              <a:t>Immovable</a:t>
            </a:r>
          </a:p>
          <a:p>
            <a:r>
              <a:rPr lang="en-US" dirty="0" smtClean="0"/>
              <a:t>Limitation of liability ( Art.24)</a:t>
            </a:r>
          </a:p>
          <a:p>
            <a:r>
              <a:rPr lang="en-US" dirty="0" smtClean="0"/>
              <a:t>Insurance  ( Art.25)</a:t>
            </a:r>
          </a:p>
          <a:p>
            <a:r>
              <a:rPr lang="en-US" dirty="0" smtClean="0"/>
              <a:t>Consumer Contracts ( Art.31.)</a:t>
            </a:r>
          </a:p>
          <a:p>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Exclusive Jurisdiction ( Art.34)</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Claims </a:t>
            </a:r>
            <a:r>
              <a:rPr lang="en-US" i="1" dirty="0" smtClean="0"/>
              <a:t>in </a:t>
            </a:r>
            <a:r>
              <a:rPr lang="en-US" i="1" dirty="0" err="1" smtClean="0"/>
              <a:t>rem</a:t>
            </a:r>
            <a:r>
              <a:rPr lang="en-US" i="1" dirty="0" smtClean="0"/>
              <a:t> </a:t>
            </a:r>
            <a:r>
              <a:rPr lang="en-US" dirty="0" smtClean="0"/>
              <a:t>on Immovable</a:t>
            </a:r>
          </a:p>
          <a:p>
            <a:pPr lvl="1"/>
            <a:r>
              <a:rPr lang="en-US" dirty="0" err="1" smtClean="0"/>
              <a:t>Citus</a:t>
            </a:r>
            <a:r>
              <a:rPr lang="en-US" dirty="0" smtClean="0"/>
              <a:t> of immovable</a:t>
            </a:r>
          </a:p>
          <a:p>
            <a:r>
              <a:rPr lang="en-US" dirty="0" smtClean="0"/>
              <a:t>Business organization</a:t>
            </a:r>
          </a:p>
          <a:p>
            <a:pPr lvl="1"/>
            <a:r>
              <a:rPr lang="en-US" dirty="0" smtClean="0"/>
              <a:t>Seat of organization</a:t>
            </a:r>
          </a:p>
          <a:p>
            <a:r>
              <a:rPr lang="en-US" dirty="0" smtClean="0"/>
              <a:t>Entry in public registry</a:t>
            </a:r>
          </a:p>
          <a:p>
            <a:pPr lvl="1"/>
            <a:r>
              <a:rPr lang="en-US" dirty="0" smtClean="0"/>
              <a:t>Place of registry </a:t>
            </a:r>
          </a:p>
          <a:p>
            <a:r>
              <a:rPr lang="en-US" dirty="0" smtClean="0"/>
              <a:t>Patent </a:t>
            </a:r>
            <a:r>
              <a:rPr lang="en-US" dirty="0" err="1" smtClean="0"/>
              <a:t>tarde</a:t>
            </a:r>
            <a:r>
              <a:rPr lang="en-US" dirty="0" smtClean="0"/>
              <a:t> mark etc </a:t>
            </a:r>
          </a:p>
          <a:p>
            <a:pPr lvl="1"/>
            <a:r>
              <a:rPr lang="en-US" dirty="0" smtClean="0"/>
              <a:t>Place of registration of patent or </a:t>
            </a:r>
            <a:r>
              <a:rPr lang="en-US" dirty="0" err="1" smtClean="0"/>
              <a:t>tarde</a:t>
            </a:r>
            <a:r>
              <a:rPr lang="en-US" dirty="0" smtClean="0"/>
              <a:t> mark</a:t>
            </a:r>
          </a:p>
          <a:p>
            <a:r>
              <a:rPr lang="en-US" dirty="0" smtClean="0"/>
              <a:t>Enforcement of </a:t>
            </a:r>
            <a:r>
              <a:rPr lang="en-US" dirty="0" err="1" smtClean="0"/>
              <a:t>Judgement</a:t>
            </a:r>
            <a:endParaRPr lang="en-US" dirty="0" smtClean="0"/>
          </a:p>
          <a:p>
            <a:pPr lvl="1"/>
            <a:r>
              <a:rPr lang="en-US" dirty="0" smtClean="0"/>
              <a:t>Place </a:t>
            </a:r>
            <a:r>
              <a:rPr lang="en-US" dirty="0" err="1" smtClean="0"/>
              <a:t>judgement</a:t>
            </a:r>
            <a:r>
              <a:rPr lang="en-US" dirty="0" smtClean="0"/>
              <a:t> given</a:t>
            </a:r>
          </a:p>
          <a:p>
            <a:pPr lvl="1"/>
            <a:r>
              <a:rPr lang="en-US" dirty="0" smtClean="0"/>
              <a:t>Place </a:t>
            </a:r>
            <a:r>
              <a:rPr lang="en-US" dirty="0" err="1" smtClean="0"/>
              <a:t>judgenment</a:t>
            </a:r>
            <a:r>
              <a:rPr lang="en-US" dirty="0" smtClean="0"/>
              <a:t> to be enforced</a:t>
            </a:r>
          </a:p>
          <a:p>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2.7.Practice of Ethiopian Courts in on Judicial Jurisdiction</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i="1" dirty="0" smtClean="0"/>
              <a:t>Three different approaches , these are:</a:t>
            </a:r>
          </a:p>
          <a:p>
            <a:pPr lvl="1">
              <a:buFont typeface="Wingdings" pitchFamily="2" charset="2"/>
              <a:buChar char="§"/>
            </a:pPr>
            <a:r>
              <a:rPr lang="en-US" sz="3400" dirty="0" smtClean="0"/>
              <a:t>Approach 1. Silence regarding judicial jurisdiction</a:t>
            </a:r>
          </a:p>
          <a:p>
            <a:pPr lvl="1">
              <a:buFont typeface="Wingdings" pitchFamily="2" charset="2"/>
              <a:buChar char="§"/>
            </a:pPr>
            <a:r>
              <a:rPr lang="en-US" sz="3400" dirty="0" smtClean="0"/>
              <a:t>Approach 2: Recourse to Civil Procedure Code</a:t>
            </a:r>
          </a:p>
          <a:p>
            <a:pPr lvl="1">
              <a:buFont typeface="Wingdings" pitchFamily="2" charset="2"/>
              <a:buChar char="§"/>
            </a:pPr>
            <a:r>
              <a:rPr lang="en-US" sz="3400" dirty="0" smtClean="0"/>
              <a:t>Approach 3: Recourse to general jurisprudence</a:t>
            </a:r>
          </a:p>
          <a:p>
            <a:pPr lvl="1">
              <a:buNone/>
            </a:pPr>
            <a:endParaRPr lang="en-US" sz="2000" dirty="0" smtClean="0"/>
          </a:p>
          <a:p>
            <a:pPr lvl="1">
              <a:buNone/>
            </a:pPr>
            <a:r>
              <a:rPr lang="en-US" sz="3800" b="1" dirty="0" smtClean="0"/>
              <a:t>Approach 1. Silence regarding Judicial Jurisdiction</a:t>
            </a:r>
          </a:p>
          <a:p>
            <a:pPr lvl="1">
              <a:buFont typeface="Wingdings" pitchFamily="2" charset="2"/>
              <a:buChar char="§"/>
            </a:pPr>
            <a:r>
              <a:rPr lang="en-US" b="1" dirty="0" smtClean="0"/>
              <a:t> </a:t>
            </a:r>
            <a:r>
              <a:rPr lang="en-US" b="1" i="1" dirty="0" smtClean="0"/>
              <a:t>Case of Verginella V. </a:t>
            </a:r>
            <a:r>
              <a:rPr lang="en-US" b="1" i="1" dirty="0" err="1" smtClean="0"/>
              <a:t>Antoniani</a:t>
            </a:r>
            <a:r>
              <a:rPr lang="en-US" b="1" i="1" dirty="0" smtClean="0"/>
              <a:t>,</a:t>
            </a:r>
          </a:p>
          <a:p>
            <a:pPr lvl="1">
              <a:buFont typeface="Wingdings" pitchFamily="2" charset="2"/>
              <a:buChar char="§"/>
            </a:pPr>
            <a:r>
              <a:rPr lang="en-US" b="1" i="1" dirty="0" err="1" smtClean="0"/>
              <a:t>Abebech</a:t>
            </a:r>
            <a:r>
              <a:rPr lang="en-US" b="1" i="1" dirty="0" smtClean="0"/>
              <a:t> </a:t>
            </a:r>
            <a:r>
              <a:rPr lang="en-US" b="1" i="1" dirty="0" err="1" smtClean="0"/>
              <a:t>Wolde</a:t>
            </a:r>
            <a:r>
              <a:rPr lang="en-US" b="1" i="1" dirty="0" smtClean="0"/>
              <a:t> V. Estate of Signor </a:t>
            </a:r>
            <a:r>
              <a:rPr lang="en-US" b="1" i="1" dirty="0" err="1" smtClean="0"/>
              <a:t>Konstantinov</a:t>
            </a:r>
            <a:r>
              <a:rPr lang="en-US" b="1" i="1" dirty="0" smtClean="0"/>
              <a:t> </a:t>
            </a:r>
            <a:r>
              <a:rPr lang="en-US" b="1" i="1" dirty="0" err="1" smtClean="0"/>
              <a:t>Escrapino</a:t>
            </a:r>
            <a:r>
              <a:rPr lang="en-US" b="1" i="1" dirty="0" smtClean="0"/>
              <a:t> </a:t>
            </a:r>
          </a:p>
          <a:p>
            <a:pPr lvl="1">
              <a:buFont typeface="Wingdings" pitchFamily="2" charset="2"/>
              <a:buChar char="§"/>
            </a:pPr>
            <a:r>
              <a:rPr lang="en-US" b="1" i="1" dirty="0" smtClean="0"/>
              <a:t> </a:t>
            </a:r>
            <a:r>
              <a:rPr lang="en-US" b="1" i="1" dirty="0" err="1" smtClean="0"/>
              <a:t>Nediya</a:t>
            </a:r>
            <a:r>
              <a:rPr lang="en-US" b="1" i="1" dirty="0" smtClean="0"/>
              <a:t> </a:t>
            </a:r>
            <a:r>
              <a:rPr lang="en-US" b="1" i="1" dirty="0" err="1" smtClean="0"/>
              <a:t>Chartes</a:t>
            </a:r>
            <a:r>
              <a:rPr lang="en-US" b="1" i="1" dirty="0" smtClean="0"/>
              <a:t> V. Estate of Antonio </a:t>
            </a:r>
            <a:r>
              <a:rPr lang="en-US" b="1" i="1" dirty="0" err="1" smtClean="0"/>
              <a:t>Chartes</a:t>
            </a:r>
            <a:endParaRPr lang="en-US" b="1" i="1" dirty="0" smtClean="0"/>
          </a:p>
          <a:p>
            <a:r>
              <a:rPr lang="en-US" dirty="0" smtClean="0"/>
              <a:t>The court ignored totally issue of judicial jurisdiction and went to choice of law.</a:t>
            </a:r>
          </a:p>
          <a:p>
            <a:r>
              <a:rPr lang="en-US" dirty="0" smtClean="0"/>
              <a:t>We are not saying court lacked judicial jurisdiction in all these cases but it must be raised clearly and established.</a:t>
            </a:r>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b="1" i="1" dirty="0" smtClean="0"/>
              <a:t>Approach 2: Recourse to the Civil Procedure Code </a:t>
            </a:r>
          </a:p>
          <a:p>
            <a:r>
              <a:rPr lang="en-US" dirty="0" smtClean="0"/>
              <a:t>Courts or parties have made recourse to the Civil Procedure Code by:</a:t>
            </a:r>
          </a:p>
          <a:p>
            <a:pPr lvl="1">
              <a:buFont typeface="Wingdings" pitchFamily="2" charset="2"/>
              <a:buChar char="§"/>
            </a:pPr>
            <a:r>
              <a:rPr lang="en-US" i="1" dirty="0" smtClean="0"/>
              <a:t> </a:t>
            </a:r>
            <a:r>
              <a:rPr lang="en-US" dirty="0" smtClean="0"/>
              <a:t>Applying the provisions referring to cases containing foreign elements directly to establish judicial jurisdiction</a:t>
            </a:r>
          </a:p>
          <a:p>
            <a:pPr lvl="1">
              <a:buFont typeface="Wingdings" pitchFamily="2" charset="2"/>
              <a:buChar char="§"/>
            </a:pPr>
            <a:r>
              <a:rPr lang="en-US" dirty="0" smtClean="0"/>
              <a:t>Applying the rule for local jurisdiction to determine judicial jurisdiction. ( Art.19 ff)</a:t>
            </a:r>
          </a:p>
          <a:p>
            <a:pPr lvl="1">
              <a:buFont typeface="Wingdings" pitchFamily="2" charset="2"/>
              <a:buChar char="§"/>
            </a:pPr>
            <a:r>
              <a:rPr lang="en-US" i="1" dirty="0" smtClean="0"/>
              <a:t>Dr. Henry Colombo V. </a:t>
            </a:r>
            <a:r>
              <a:rPr lang="en-US" i="1" dirty="0" err="1" smtClean="0"/>
              <a:t>Andrel</a:t>
            </a:r>
            <a:r>
              <a:rPr lang="en-US" i="1" dirty="0" smtClean="0"/>
              <a:t> Lewis Herald</a:t>
            </a:r>
          </a:p>
          <a:p>
            <a:pPr lvl="1">
              <a:buFont typeface="Wingdings" pitchFamily="2" charset="2"/>
              <a:buChar char="§"/>
            </a:pPr>
            <a:r>
              <a:rPr lang="en-US" i="1" dirty="0" smtClean="0"/>
              <a:t>W/</a:t>
            </a:r>
            <a:r>
              <a:rPr lang="en-US" i="1" dirty="0" err="1" smtClean="0"/>
              <a:t>ro</a:t>
            </a:r>
            <a:r>
              <a:rPr lang="en-US" i="1" dirty="0" smtClean="0"/>
              <a:t> </a:t>
            </a:r>
            <a:r>
              <a:rPr lang="en-US" i="1" dirty="0" err="1" smtClean="0"/>
              <a:t>Astraid</a:t>
            </a:r>
            <a:r>
              <a:rPr lang="en-US" i="1" dirty="0" smtClean="0"/>
              <a:t> </a:t>
            </a:r>
            <a:r>
              <a:rPr lang="en-US" i="1" dirty="0" err="1" smtClean="0"/>
              <a:t>Debahian</a:t>
            </a:r>
            <a:r>
              <a:rPr lang="en-US" i="1" dirty="0" smtClean="0"/>
              <a:t> </a:t>
            </a:r>
            <a:r>
              <a:rPr lang="en-US" i="1" dirty="0" err="1" smtClean="0"/>
              <a:t>Jerahian</a:t>
            </a:r>
            <a:r>
              <a:rPr lang="en-US" i="1" dirty="0" smtClean="0"/>
              <a:t> V. Estate of Mr. George </a:t>
            </a:r>
            <a:r>
              <a:rPr lang="en-US" i="1" dirty="0" err="1" smtClean="0"/>
              <a:t>Jerahian</a:t>
            </a:r>
            <a:endParaRPr lang="en-US" i="1" dirty="0" smtClean="0"/>
          </a:p>
          <a:p>
            <a:pPr lvl="1">
              <a:buFont typeface="Wingdings" pitchFamily="2" charset="2"/>
              <a:buChar char="§"/>
            </a:pPr>
            <a:r>
              <a:rPr lang="en-US" i="1" dirty="0" smtClean="0"/>
              <a:t>Brigadier General </a:t>
            </a:r>
            <a:r>
              <a:rPr lang="en-US" i="1" dirty="0" err="1" smtClean="0"/>
              <a:t>Tafesse</a:t>
            </a:r>
            <a:r>
              <a:rPr lang="en-US" i="1" dirty="0" smtClean="0"/>
              <a:t> </a:t>
            </a:r>
            <a:r>
              <a:rPr lang="en-US" i="1" dirty="0" err="1" smtClean="0"/>
              <a:t>Ayalew</a:t>
            </a:r>
            <a:r>
              <a:rPr lang="en-US" i="1" dirty="0" smtClean="0"/>
              <a:t> </a:t>
            </a:r>
            <a:r>
              <a:rPr lang="en-US" i="1" dirty="0" err="1" smtClean="0"/>
              <a:t>V.Clarville</a:t>
            </a:r>
            <a:r>
              <a:rPr lang="en-US" i="1" dirty="0" smtClean="0"/>
              <a:t> A.J Co. and Mr. Robert William</a:t>
            </a:r>
          </a:p>
          <a:p>
            <a:pPr lvl="1">
              <a:buFont typeface="Wingdings" pitchFamily="2" charset="2"/>
              <a:buChar char="§"/>
            </a:pPr>
            <a:endParaRPr lang="en-US" dirty="0" smtClean="0"/>
          </a:p>
          <a:p>
            <a:pPr lvl="1">
              <a:buFont typeface="Wingdings" pitchFamily="2" charset="2"/>
              <a:buChar char="§"/>
            </a:pPr>
            <a:endParaRPr lang="en-US" b="1" i="1" dirty="0" smtClean="0"/>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dirty="0"/>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b="1" i="1" dirty="0" smtClean="0"/>
              <a:t>Approach 3: Recourse to General Jurisprudence</a:t>
            </a:r>
          </a:p>
          <a:p>
            <a:r>
              <a:rPr lang="en-US" i="1" dirty="0" err="1" smtClean="0"/>
              <a:t>Hallock</a:t>
            </a:r>
            <a:r>
              <a:rPr lang="en-US" i="1" dirty="0" smtClean="0"/>
              <a:t> V. </a:t>
            </a:r>
            <a:r>
              <a:rPr lang="en-US" i="1" dirty="0" err="1" smtClean="0"/>
              <a:t>Hallock</a:t>
            </a:r>
            <a:r>
              <a:rPr lang="en-US" i="1" dirty="0" smtClean="0"/>
              <a:t> </a:t>
            </a:r>
          </a:p>
          <a:p>
            <a:r>
              <a:rPr lang="en-US" sz="2600" dirty="0" smtClean="0"/>
              <a:t>The court commented: as there is no codified law on Private International Law in Ethiopia, the question of jurisdiction  has to be decided by having recourse to the system “most common in the European continent”.  </a:t>
            </a:r>
          </a:p>
          <a:p>
            <a:r>
              <a:rPr lang="en-US" sz="2600" dirty="0" smtClean="0"/>
              <a:t>“general principles of jurisprudence accepted in other countries”</a:t>
            </a:r>
          </a:p>
          <a:p>
            <a:r>
              <a:rPr lang="en-US" i="1" dirty="0" smtClean="0"/>
              <a:t>Brigadier General </a:t>
            </a:r>
            <a:r>
              <a:rPr lang="en-US" i="1" dirty="0" err="1" smtClean="0"/>
              <a:t>Tafesse</a:t>
            </a:r>
            <a:r>
              <a:rPr lang="en-US" i="1" dirty="0" smtClean="0"/>
              <a:t> </a:t>
            </a:r>
            <a:r>
              <a:rPr lang="en-US" i="1" dirty="0" err="1" smtClean="0"/>
              <a:t>Ayalew</a:t>
            </a:r>
            <a:r>
              <a:rPr lang="en-US" i="1" dirty="0" smtClean="0"/>
              <a:t> </a:t>
            </a:r>
            <a:r>
              <a:rPr lang="en-US" i="1" dirty="0" err="1" smtClean="0"/>
              <a:t>V.Clarville</a:t>
            </a:r>
            <a:r>
              <a:rPr lang="en-US" i="1" dirty="0" smtClean="0"/>
              <a:t> A.J Co. and Mr. Robert William </a:t>
            </a:r>
          </a:p>
          <a:p>
            <a:r>
              <a:rPr lang="en-US" i="1" dirty="0" smtClean="0"/>
              <a:t>W/</a:t>
            </a:r>
            <a:r>
              <a:rPr lang="en-US" i="1" dirty="0" err="1" smtClean="0"/>
              <a:t>ro</a:t>
            </a:r>
            <a:r>
              <a:rPr lang="en-US" i="1" dirty="0" smtClean="0"/>
              <a:t> </a:t>
            </a:r>
            <a:r>
              <a:rPr lang="en-US" i="1" dirty="0" err="1" smtClean="0"/>
              <a:t>Aynalem</a:t>
            </a:r>
            <a:r>
              <a:rPr lang="en-US" i="1" dirty="0" smtClean="0"/>
              <a:t> </a:t>
            </a:r>
            <a:r>
              <a:rPr lang="en-US" i="1" dirty="0" err="1" smtClean="0"/>
              <a:t>Demoz</a:t>
            </a:r>
            <a:r>
              <a:rPr lang="en-US" i="1" dirty="0" smtClean="0"/>
              <a:t> V. Peter </a:t>
            </a:r>
            <a:r>
              <a:rPr lang="en-US" i="1" dirty="0" err="1" smtClean="0"/>
              <a:t>Beckensil</a:t>
            </a:r>
            <a:endParaRPr lang="en-US" i="1" dirty="0" smtClean="0"/>
          </a:p>
          <a:p>
            <a:r>
              <a:rPr lang="en-US" b="1" dirty="0" smtClean="0"/>
              <a:t>I both  court made reference to </a:t>
            </a:r>
            <a:r>
              <a:rPr lang="en-US" b="1" dirty="0" err="1" smtClean="0"/>
              <a:t>Sedler’s</a:t>
            </a:r>
            <a:r>
              <a:rPr lang="en-US" b="1" dirty="0" smtClean="0"/>
              <a:t> Material</a:t>
            </a:r>
            <a:endParaRPr lang="en-US" b="1"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b="1" dirty="0" smtClean="0"/>
              <a:t>EVALUATION AND RECOMMENDATIONS</a:t>
            </a:r>
          </a:p>
          <a:p>
            <a:pPr>
              <a:buNone/>
            </a:pPr>
            <a:endParaRPr lang="en-US" b="1" dirty="0" smtClean="0"/>
          </a:p>
          <a:p>
            <a:pPr>
              <a:buNone/>
            </a:pPr>
            <a:r>
              <a:rPr lang="en-US" b="1" dirty="0" smtClean="0"/>
              <a:t>First observation</a:t>
            </a:r>
          </a:p>
          <a:p>
            <a:pPr algn="just">
              <a:buNone/>
            </a:pPr>
            <a:r>
              <a:rPr lang="en-US" dirty="0" smtClean="0"/>
              <a:t>Domicile as the ground for judicial jurisdiction because the Civil Code provisions are there to serve Private International Law purposes</a:t>
            </a:r>
          </a:p>
          <a:p>
            <a:pPr lvl="1">
              <a:buFont typeface="Wingdings" pitchFamily="2" charset="2"/>
              <a:buChar char="§"/>
            </a:pPr>
            <a:r>
              <a:rPr lang="en-US" i="1" dirty="0" smtClean="0"/>
              <a:t> (e.g. Marry </a:t>
            </a:r>
            <a:r>
              <a:rPr lang="en-US" i="1" dirty="0" err="1" smtClean="0"/>
              <a:t>Shatto</a:t>
            </a:r>
            <a:r>
              <a:rPr lang="en-US" i="1" dirty="0" smtClean="0"/>
              <a:t> </a:t>
            </a:r>
            <a:r>
              <a:rPr lang="en-US" i="1" dirty="0" err="1" smtClean="0"/>
              <a:t>V.Theodore</a:t>
            </a:r>
            <a:r>
              <a:rPr lang="en-US" i="1" dirty="0" smtClean="0"/>
              <a:t> </a:t>
            </a:r>
            <a:r>
              <a:rPr lang="en-US" i="1" dirty="0" err="1" smtClean="0"/>
              <a:t>Shatto</a:t>
            </a:r>
            <a:r>
              <a:rPr lang="en-US" i="1" dirty="0" smtClean="0"/>
              <a:t>). </a:t>
            </a:r>
          </a:p>
          <a:p>
            <a:pPr lvl="1">
              <a:buFont typeface="Wingdings" pitchFamily="2" charset="2"/>
              <a:buChar char="§"/>
            </a:pPr>
            <a:r>
              <a:rPr lang="en-US" i="1" dirty="0" smtClean="0"/>
              <a:t>Nowadays, however, Private International Law instruments are shifting towards habitual residence as a substitute for domicile. </a:t>
            </a:r>
          </a:p>
          <a:p>
            <a:pPr lvl="1">
              <a:buFont typeface="Wingdings" pitchFamily="2" charset="2"/>
              <a:buChar char="§"/>
            </a:pPr>
            <a:r>
              <a:rPr lang="en-US" b="1" i="1" dirty="0" smtClean="0"/>
              <a:t>Recommendation </a:t>
            </a:r>
            <a:r>
              <a:rPr lang="en-US" i="1" dirty="0" smtClean="0"/>
              <a:t>: Better to use Habitual Residence as ground</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pPr>
              <a:buNone/>
            </a:pPr>
            <a:r>
              <a:rPr lang="en-US" dirty="0" smtClean="0"/>
              <a:t>   </a:t>
            </a:r>
            <a:r>
              <a:rPr lang="en-US" b="1" dirty="0" smtClean="0"/>
              <a:t>Second Observation</a:t>
            </a:r>
          </a:p>
          <a:p>
            <a:r>
              <a:rPr lang="en-US" dirty="0" smtClean="0"/>
              <a:t> Many Judgments made with total disregards of the issue of judicial jurisdiction. </a:t>
            </a:r>
          </a:p>
          <a:p>
            <a:r>
              <a:rPr lang="en-US" i="1" dirty="0" smtClean="0"/>
              <a:t>Problem:</a:t>
            </a:r>
          </a:p>
          <a:p>
            <a:pPr lvl="1"/>
            <a:r>
              <a:rPr lang="en-US" i="1" dirty="0" smtClean="0"/>
              <a:t>a</a:t>
            </a:r>
            <a:r>
              <a:rPr lang="en-US" dirty="0" smtClean="0"/>
              <a:t>) denial of recognition and enforcement of the judgment in other states, and</a:t>
            </a:r>
          </a:p>
          <a:p>
            <a:pPr lvl="1"/>
            <a:r>
              <a:rPr lang="en-US" dirty="0" smtClean="0"/>
              <a:t> b) failure to safeguard the forum’s public policy. </a:t>
            </a:r>
          </a:p>
          <a:p>
            <a:r>
              <a:rPr lang="en-US" i="1" dirty="0" smtClean="0"/>
              <a:t>Recommendation</a:t>
            </a:r>
          </a:p>
          <a:p>
            <a:pPr lvl="1"/>
            <a:r>
              <a:rPr lang="en-US" i="1" dirty="0" smtClean="0"/>
              <a:t> Clearly raise the issue of Judicial jurisdiction and establish its existence before proceeding to choice of law</a:t>
            </a:r>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92500"/>
          </a:bodyPr>
          <a:lstStyle/>
          <a:p>
            <a:r>
              <a:rPr lang="en-US" b="1" dirty="0" smtClean="0"/>
              <a:t>Third Observation</a:t>
            </a:r>
          </a:p>
          <a:p>
            <a:r>
              <a:rPr lang="en-US" dirty="0" smtClean="0"/>
              <a:t>Reference to provisions of Civil Procedure code on Local Jurisdiction to Cases of conflict of laws</a:t>
            </a:r>
          </a:p>
          <a:p>
            <a:r>
              <a:rPr lang="en-US" b="1" dirty="0" smtClean="0"/>
              <a:t>Problem:</a:t>
            </a:r>
          </a:p>
          <a:p>
            <a:pPr lvl="1"/>
            <a:r>
              <a:rPr lang="en-US" dirty="0" smtClean="0"/>
              <a:t>The civil procedure was not intended for conflict of laws cases Meant to apply only to domestic disputes</a:t>
            </a:r>
          </a:p>
          <a:p>
            <a:pPr lvl="1"/>
            <a:r>
              <a:rPr lang="en-US" dirty="0" smtClean="0"/>
              <a:t> The policy behind provisions different</a:t>
            </a:r>
          </a:p>
          <a:p>
            <a:r>
              <a:rPr lang="en-US" b="1" dirty="0" smtClean="0"/>
              <a:t>Recommendation</a:t>
            </a:r>
          </a:p>
          <a:p>
            <a:pPr lvl="1"/>
            <a:r>
              <a:rPr lang="en-US" dirty="0" smtClean="0"/>
              <a:t>Better to devise separate rule for conflict of laws</a:t>
            </a:r>
          </a:p>
          <a:p>
            <a:pPr lvl="1"/>
            <a:endParaRPr lang="en-US" dirty="0" smtClean="0"/>
          </a:p>
          <a:p>
            <a:pPr lvl="1"/>
            <a:endParaRPr lang="en-US" dirty="0" smtClean="0"/>
          </a:p>
          <a:p>
            <a:pPr lvl="1"/>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Practice of Ethiopian Courts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b="1" dirty="0" smtClean="0"/>
              <a:t>Fourth Observation</a:t>
            </a:r>
          </a:p>
          <a:p>
            <a:r>
              <a:rPr lang="en-US" dirty="0" smtClean="0"/>
              <a:t>In the absence of legislation  Many courts proposed a resort to general jurisprudence to establish Judicial Jurisdiction. </a:t>
            </a:r>
          </a:p>
          <a:p>
            <a:r>
              <a:rPr lang="en-US" dirty="0" smtClean="0"/>
              <a:t>Earlier general reference to practice of other countries but  recently relying on </a:t>
            </a:r>
            <a:r>
              <a:rPr lang="en-US" dirty="0" err="1" smtClean="0"/>
              <a:t>Sedler’s</a:t>
            </a:r>
            <a:r>
              <a:rPr lang="en-US" dirty="0" smtClean="0"/>
              <a:t> Book </a:t>
            </a:r>
          </a:p>
          <a:p>
            <a:r>
              <a:rPr lang="en-US" dirty="0" smtClean="0"/>
              <a:t>Problem</a:t>
            </a:r>
          </a:p>
          <a:p>
            <a:pPr lvl="1"/>
            <a:r>
              <a:rPr lang="en-US" dirty="0" smtClean="0"/>
              <a:t>If no guideline prepared for the courts to which country's practice should we refer? Possible inconsistency among court practice.</a:t>
            </a:r>
          </a:p>
          <a:p>
            <a:pPr lvl="1"/>
            <a:r>
              <a:rPr lang="en-US" dirty="0" smtClean="0"/>
              <a:t>Wastage of Judicial Resource</a:t>
            </a:r>
          </a:p>
          <a:p>
            <a:endParaRPr lang="en-US" dirty="0"/>
          </a:p>
        </p:txBody>
      </p:sp>
      <p:sp>
        <p:nvSpPr>
          <p:cNvPr id="4" name="Date Placeholder 3"/>
          <p:cNvSpPr>
            <a:spLocks noGrp="1"/>
          </p:cNvSpPr>
          <p:nvPr>
            <p:ph type="dt" sz="half" idx="10"/>
          </p:nvPr>
        </p:nvSpPr>
        <p:spPr/>
        <p:txBody>
          <a:bodyPr/>
          <a:lstStyle/>
          <a:p>
            <a:fld id="{2F736EE8-CDB7-4452-8469-763E15CE22FD}" type="datetime1">
              <a:rPr lang="en-US" smtClean="0"/>
              <a:pPr/>
              <a:t>11/26/2013</a:t>
            </a:fld>
            <a:endParaRPr lang="en-US"/>
          </a:p>
        </p:txBody>
      </p:sp>
      <p:sp>
        <p:nvSpPr>
          <p:cNvPr id="5" name="Footer Placeholder 4"/>
          <p:cNvSpPr>
            <a:spLocks noGrp="1"/>
          </p:cNvSpPr>
          <p:nvPr>
            <p:ph type="ftr" sz="quarter" idx="11"/>
          </p:nvPr>
        </p:nvSpPr>
        <p:spPr/>
        <p:txBody>
          <a:bodyPr/>
          <a:lstStyle/>
          <a:p>
            <a:r>
              <a:rPr lang="en-US" smtClean="0"/>
              <a:t>Conflict of Laws PPT Chapter Two   HUCOL  Sultan Kassim</a:t>
            </a:r>
            <a:endParaRPr lang="en-US"/>
          </a:p>
        </p:txBody>
      </p:sp>
      <p:sp>
        <p:nvSpPr>
          <p:cNvPr id="6" name="Slide Number Placeholder 5"/>
          <p:cNvSpPr>
            <a:spLocks noGrp="1"/>
          </p:cNvSpPr>
          <p:nvPr>
            <p:ph type="sldNum" sz="quarter" idx="12"/>
          </p:nvPr>
        </p:nvSpPr>
        <p:spPr/>
        <p:txBody>
          <a:bodyPr/>
          <a:lstStyle/>
          <a:p>
            <a:fld id="{11135DFD-F878-40B4-BBB3-E9577E146CFB}" type="slidenum">
              <a:rPr lang="en-US" smtClean="0"/>
              <a:pPr/>
              <a:t>36</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740</TotalTime>
  <Words>3095</Words>
  <Application>Microsoft Office PowerPoint</Application>
  <PresentationFormat>On-screen Show (4:3)</PresentationFormat>
  <Paragraphs>397</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Chapter Two Judicial Jurisdiction</vt:lpstr>
      <vt:lpstr>2.1. Meaning </vt:lpstr>
      <vt:lpstr>What is Judicial Jurisdiction? </vt:lpstr>
      <vt:lpstr>2.2. Theories of Judicial Jurisdiction</vt:lpstr>
      <vt:lpstr>Various Teories of Jurisdiction</vt:lpstr>
      <vt:lpstr>Theories of jurisdiction ctd…</vt:lpstr>
      <vt:lpstr>The Minimum Contact Theory</vt:lpstr>
      <vt:lpstr>The Fairness Theory</vt:lpstr>
      <vt:lpstr>2.3. Domicile, Habitual Residence, Nationality as  basis of Judicial Jurisdiction </vt:lpstr>
      <vt:lpstr>Domicile as Ground of Jurisdiction contd…</vt:lpstr>
      <vt:lpstr>Domicile as Ground of Jurisdiction contd…</vt:lpstr>
      <vt:lpstr>PowerPoint Presentation</vt:lpstr>
      <vt:lpstr>consent/submission </vt:lpstr>
      <vt:lpstr>consent/submission ctd…</vt:lpstr>
      <vt:lpstr>consent/submission ctd…</vt:lpstr>
      <vt:lpstr>2.4.Categories of Judicial Jurisdiction</vt:lpstr>
      <vt:lpstr>  2.5. Limitations on the Exercise of Judicial Jurisdiction    </vt:lpstr>
      <vt:lpstr>Forum Non Conveniens</vt:lpstr>
      <vt:lpstr>Forum Non Conveniens cntd…</vt:lpstr>
      <vt:lpstr>Forum Non Convenience cntd…</vt:lpstr>
      <vt:lpstr> Pendency (Lis alibi pendens)</vt:lpstr>
      <vt:lpstr>Ousting Jurisdiction by Agreement</vt:lpstr>
      <vt:lpstr>2.6. Judicial Jurisdiction of Ethiopian Courts</vt:lpstr>
      <vt:lpstr>Jurisdiction Under Federal draft Conflict of Law</vt:lpstr>
      <vt:lpstr>PowerPoint Presentation</vt:lpstr>
      <vt:lpstr>PowerPoint Presentation</vt:lpstr>
      <vt:lpstr>Case of Ethiopia under draft </vt:lpstr>
      <vt:lpstr>Special Jurisdiction( Art.18 -32) </vt:lpstr>
      <vt:lpstr>Exclusive Jurisdiction ( Art.34)</vt:lpstr>
      <vt:lpstr>2.7.Practice of Ethiopian Courts in on Judicial Jurisdiction</vt:lpstr>
      <vt:lpstr>Practice of Ethiopian Courts Contd…</vt:lpstr>
      <vt:lpstr>Practice of Ethiopian Courts Contd…</vt:lpstr>
      <vt:lpstr>Practice of Ethiopian Courts Contd…</vt:lpstr>
      <vt:lpstr>Practice of Ethiopian Courts Contd…</vt:lpstr>
      <vt:lpstr>Practice of Ethiopian Courts Contd…</vt:lpstr>
      <vt:lpstr>Practice of Ethiopian Courts Contd…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 Judicial Jurisdiction</dc:title>
  <dc:creator>user</dc:creator>
  <cp:lastModifiedBy>ismail - [2010]</cp:lastModifiedBy>
  <cp:revision>64</cp:revision>
  <dcterms:created xsi:type="dcterms:W3CDTF">2011-03-04T00:30:03Z</dcterms:created>
  <dcterms:modified xsi:type="dcterms:W3CDTF">2013-11-27T07:37:56Z</dcterms:modified>
</cp:coreProperties>
</file>