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8" r:id="rId14"/>
    <p:sldId id="279" r:id="rId15"/>
    <p:sldId id="268" r:id="rId16"/>
    <p:sldId id="269" r:id="rId17"/>
    <p:sldId id="270" r:id="rId18"/>
    <p:sldId id="271" r:id="rId19"/>
    <p:sldId id="272" r:id="rId20"/>
    <p:sldId id="273" r:id="rId21"/>
    <p:sldId id="274" r:id="rId22"/>
    <p:sldId id="275" r:id="rId23"/>
    <p:sldId id="276" r:id="rId24"/>
    <p:sldId id="277" r:id="rId25"/>
    <p:sldId id="280" r:id="rId26"/>
    <p:sldId id="287" r:id="rId27"/>
    <p:sldId id="281" r:id="rId28"/>
    <p:sldId id="282" r:id="rId29"/>
    <p:sldId id="283" r:id="rId30"/>
    <p:sldId id="284" r:id="rId31"/>
    <p:sldId id="288"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380"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A64311-F058-4913-AB40-D6636EF35F94}" type="datetimeFigureOut">
              <a:rPr lang="en-US" smtClean="0"/>
              <a:pPr/>
              <a:t>12/7/2017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7E0477F-B216-4B33-AD8D-7FD2CB404344}" type="slidenum">
              <a:rPr lang="en-US" smtClean="0"/>
              <a:pPr/>
              <a:t>‹#›</a:t>
            </a:fld>
            <a:endParaRPr lang="en-US"/>
          </a:p>
        </p:txBody>
      </p:sp>
    </p:spTree>
    <p:extLst>
      <p:ext uri="{BB962C8B-B14F-4D97-AF65-F5344CB8AC3E}">
        <p14:creationId xmlns:p14="http://schemas.microsoft.com/office/powerpoint/2010/main" val="2040594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C631F83-D1CD-44A6-857A-28CE2A7F6A03}" type="datetime1">
              <a:rPr lang="en-US" smtClean="0"/>
              <a:pPr/>
              <a:t>12/7/2017</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
        <p:nvSpPr>
          <p:cNvPr id="6" name="Slide Number Placeholder 5"/>
          <p:cNvSpPr>
            <a:spLocks noGrp="1"/>
          </p:cNvSpPr>
          <p:nvPr>
            <p:ph type="sldNum" sz="quarter" idx="12"/>
          </p:nvPr>
        </p:nvSpPr>
        <p:spPr/>
        <p:txBody>
          <a:bodyPr/>
          <a:lstStyle/>
          <a:p>
            <a:fld id="{BEA013AE-2DA6-41D9-9176-EC7FBE50BA8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72CF9B7-F3D0-4D0F-9F14-11BFB5AA2501}" type="datetime1">
              <a:rPr lang="en-US" smtClean="0"/>
              <a:pPr/>
              <a:t>12/7/2017</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
        <p:nvSpPr>
          <p:cNvPr id="6" name="Slide Number Placeholder 5"/>
          <p:cNvSpPr>
            <a:spLocks noGrp="1"/>
          </p:cNvSpPr>
          <p:nvPr>
            <p:ph type="sldNum" sz="quarter" idx="12"/>
          </p:nvPr>
        </p:nvSpPr>
        <p:spPr/>
        <p:txBody>
          <a:bodyPr/>
          <a:lstStyle/>
          <a:p>
            <a:fld id="{BEA013AE-2DA6-41D9-9176-EC7FBE50BA8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BB1D438-2BE1-487A-9D92-7D0BF4CE5FFD}" type="datetime1">
              <a:rPr lang="en-US" smtClean="0"/>
              <a:pPr/>
              <a:t>12/7/2017</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
        <p:nvSpPr>
          <p:cNvPr id="6" name="Slide Number Placeholder 5"/>
          <p:cNvSpPr>
            <a:spLocks noGrp="1"/>
          </p:cNvSpPr>
          <p:nvPr>
            <p:ph type="sldNum" sz="quarter" idx="12"/>
          </p:nvPr>
        </p:nvSpPr>
        <p:spPr/>
        <p:txBody>
          <a:bodyPr/>
          <a:lstStyle/>
          <a:p>
            <a:fld id="{BEA013AE-2DA6-41D9-9176-EC7FBE50BA8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029B778-D160-4742-A592-DADE07312E3F}" type="datetime1">
              <a:rPr lang="en-US" smtClean="0"/>
              <a:pPr/>
              <a:t>12/7/2017</a:t>
            </a:fld>
            <a:endParaRPr lang="en-US"/>
          </a:p>
        </p:txBody>
      </p:sp>
      <p:sp>
        <p:nvSpPr>
          <p:cNvPr id="6" name="Footer Placeholder 5"/>
          <p:cNvSpPr>
            <a:spLocks noGrp="1"/>
          </p:cNvSpPr>
          <p:nvPr>
            <p:ph type="ftr" sz="quarter" idx="11"/>
          </p:nvPr>
        </p:nvSpPr>
        <p:spPr/>
        <p:txBody>
          <a:bodyPr/>
          <a:lstStyle/>
          <a:p>
            <a:r>
              <a:rPr lang="en-US" smtClean="0"/>
              <a:t>Conflict of Laws PPT Chapter Eight  Sultan Kassim  HU COL</a:t>
            </a:r>
            <a:endParaRPr lang="en-US"/>
          </a:p>
        </p:txBody>
      </p:sp>
      <p:sp>
        <p:nvSpPr>
          <p:cNvPr id="7" name="Slide Number Placeholder 6"/>
          <p:cNvSpPr>
            <a:spLocks noGrp="1"/>
          </p:cNvSpPr>
          <p:nvPr>
            <p:ph type="sldNum" sz="quarter" idx="12"/>
          </p:nvPr>
        </p:nvSpPr>
        <p:spPr/>
        <p:txBody>
          <a:bodyPr/>
          <a:lstStyle/>
          <a:p>
            <a:fld id="{BEA013AE-2DA6-41D9-9176-EC7FBE50BA8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59CC706-6B47-42A8-89CF-C4A4C7D107AF}" type="datetime1">
              <a:rPr lang="en-US" smtClean="0"/>
              <a:pPr/>
              <a:t>12/7/2017</a:t>
            </a:fld>
            <a:endParaRPr lang="en-US"/>
          </a:p>
        </p:txBody>
      </p:sp>
      <p:sp>
        <p:nvSpPr>
          <p:cNvPr id="8" name="Footer Placeholder 7"/>
          <p:cNvSpPr>
            <a:spLocks noGrp="1"/>
          </p:cNvSpPr>
          <p:nvPr>
            <p:ph type="ftr" sz="quarter" idx="11"/>
          </p:nvPr>
        </p:nvSpPr>
        <p:spPr/>
        <p:txBody>
          <a:bodyPr/>
          <a:lstStyle/>
          <a:p>
            <a:r>
              <a:rPr lang="en-US" smtClean="0"/>
              <a:t>Conflict of Laws PPT Chapter Eight  Sultan Kassim  HU COL</a:t>
            </a:r>
            <a:endParaRPr lang="en-US"/>
          </a:p>
        </p:txBody>
      </p:sp>
      <p:sp>
        <p:nvSpPr>
          <p:cNvPr id="9" name="Slide Number Placeholder 8"/>
          <p:cNvSpPr>
            <a:spLocks noGrp="1"/>
          </p:cNvSpPr>
          <p:nvPr>
            <p:ph type="sldNum" sz="quarter" idx="12"/>
          </p:nvPr>
        </p:nvSpPr>
        <p:spPr/>
        <p:txBody>
          <a:bodyPr/>
          <a:lstStyle/>
          <a:p>
            <a:fld id="{BEA013AE-2DA6-41D9-9176-EC7FBE50BA8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EE5D430-18CF-472C-80DC-B0FCE50AC949}" type="datetime1">
              <a:rPr lang="en-US" smtClean="0"/>
              <a:pPr/>
              <a:t>12/7/2017</a:t>
            </a:fld>
            <a:endParaRPr lang="en-US"/>
          </a:p>
        </p:txBody>
      </p:sp>
      <p:sp>
        <p:nvSpPr>
          <p:cNvPr id="4" name="Footer Placeholder 3"/>
          <p:cNvSpPr>
            <a:spLocks noGrp="1"/>
          </p:cNvSpPr>
          <p:nvPr>
            <p:ph type="ftr" sz="quarter" idx="11"/>
          </p:nvPr>
        </p:nvSpPr>
        <p:spPr/>
        <p:txBody>
          <a:bodyPr/>
          <a:lstStyle/>
          <a:p>
            <a:r>
              <a:rPr lang="en-US" smtClean="0"/>
              <a:t>Conflict of Laws PPT Chapter Eight  Sultan Kassim  HU COL</a:t>
            </a:r>
            <a:endParaRPr lang="en-US"/>
          </a:p>
        </p:txBody>
      </p:sp>
      <p:sp>
        <p:nvSpPr>
          <p:cNvPr id="5" name="Slide Number Placeholder 4"/>
          <p:cNvSpPr>
            <a:spLocks noGrp="1"/>
          </p:cNvSpPr>
          <p:nvPr>
            <p:ph type="sldNum" sz="quarter" idx="12"/>
          </p:nvPr>
        </p:nvSpPr>
        <p:spPr/>
        <p:txBody>
          <a:bodyPr/>
          <a:lstStyle/>
          <a:p>
            <a:fld id="{BEA013AE-2DA6-41D9-9176-EC7FBE50BA8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6C3B09-3EA7-48E9-A891-7C6FA3DCC986}" type="datetime1">
              <a:rPr lang="en-US" smtClean="0"/>
              <a:pPr/>
              <a:t>12/7/2017</a:t>
            </a:fld>
            <a:endParaRPr lang="en-US"/>
          </a:p>
        </p:txBody>
      </p:sp>
      <p:sp>
        <p:nvSpPr>
          <p:cNvPr id="3" name="Footer Placeholder 2"/>
          <p:cNvSpPr>
            <a:spLocks noGrp="1"/>
          </p:cNvSpPr>
          <p:nvPr>
            <p:ph type="ftr" sz="quarter" idx="11"/>
          </p:nvPr>
        </p:nvSpPr>
        <p:spPr/>
        <p:txBody>
          <a:bodyPr/>
          <a:lstStyle/>
          <a:p>
            <a:r>
              <a:rPr lang="en-US" smtClean="0"/>
              <a:t>Conflict of Laws PPT Chapter Eight  Sultan Kassim  HU COL</a:t>
            </a:r>
            <a:endParaRPr lang="en-US"/>
          </a:p>
        </p:txBody>
      </p:sp>
      <p:sp>
        <p:nvSpPr>
          <p:cNvPr id="4" name="Slide Number Placeholder 3"/>
          <p:cNvSpPr>
            <a:spLocks noGrp="1"/>
          </p:cNvSpPr>
          <p:nvPr>
            <p:ph type="sldNum" sz="quarter" idx="12"/>
          </p:nvPr>
        </p:nvSpPr>
        <p:spPr/>
        <p:txBody>
          <a:bodyPr/>
          <a:lstStyle/>
          <a:p>
            <a:fld id="{BEA013AE-2DA6-41D9-9176-EC7FBE50BA8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6D74F5A-2371-4755-876B-181BCFBEB47E}" type="datetime1">
              <a:rPr lang="en-US" smtClean="0"/>
              <a:pPr/>
              <a:t>12/7/2017</a:t>
            </a:fld>
            <a:endParaRPr lang="en-US"/>
          </a:p>
        </p:txBody>
      </p:sp>
      <p:sp>
        <p:nvSpPr>
          <p:cNvPr id="6" name="Footer Placeholder 5"/>
          <p:cNvSpPr>
            <a:spLocks noGrp="1"/>
          </p:cNvSpPr>
          <p:nvPr>
            <p:ph type="ftr" sz="quarter" idx="11"/>
          </p:nvPr>
        </p:nvSpPr>
        <p:spPr/>
        <p:txBody>
          <a:bodyPr/>
          <a:lstStyle/>
          <a:p>
            <a:r>
              <a:rPr lang="en-US" smtClean="0"/>
              <a:t>Conflict of Laws PPT Chapter Eight  Sultan Kassim  HU COL</a:t>
            </a:r>
            <a:endParaRPr lang="en-US"/>
          </a:p>
        </p:txBody>
      </p:sp>
      <p:sp>
        <p:nvSpPr>
          <p:cNvPr id="7" name="Slide Number Placeholder 6"/>
          <p:cNvSpPr>
            <a:spLocks noGrp="1"/>
          </p:cNvSpPr>
          <p:nvPr>
            <p:ph type="sldNum" sz="quarter" idx="12"/>
          </p:nvPr>
        </p:nvSpPr>
        <p:spPr/>
        <p:txBody>
          <a:bodyPr/>
          <a:lstStyle/>
          <a:p>
            <a:fld id="{BEA013AE-2DA6-41D9-9176-EC7FBE50BA8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F75170D-901E-4FC2-B747-15791A8E5E9A}" type="datetime1">
              <a:rPr lang="en-US" smtClean="0"/>
              <a:pPr/>
              <a:t>12/7/2017</a:t>
            </a:fld>
            <a:endParaRPr lang="en-US"/>
          </a:p>
        </p:txBody>
      </p:sp>
      <p:sp>
        <p:nvSpPr>
          <p:cNvPr id="6" name="Footer Placeholder 5"/>
          <p:cNvSpPr>
            <a:spLocks noGrp="1"/>
          </p:cNvSpPr>
          <p:nvPr>
            <p:ph type="ftr" sz="quarter" idx="11"/>
          </p:nvPr>
        </p:nvSpPr>
        <p:spPr/>
        <p:txBody>
          <a:bodyPr/>
          <a:lstStyle/>
          <a:p>
            <a:r>
              <a:rPr lang="en-US" smtClean="0"/>
              <a:t>Conflict of Laws PPT Chapter Eight  Sultan Kassim  HU COL</a:t>
            </a:r>
            <a:endParaRPr lang="en-US"/>
          </a:p>
        </p:txBody>
      </p:sp>
      <p:sp>
        <p:nvSpPr>
          <p:cNvPr id="7" name="Slide Number Placeholder 6"/>
          <p:cNvSpPr>
            <a:spLocks noGrp="1"/>
          </p:cNvSpPr>
          <p:nvPr>
            <p:ph type="sldNum" sz="quarter" idx="12"/>
          </p:nvPr>
        </p:nvSpPr>
        <p:spPr/>
        <p:txBody>
          <a:bodyPr/>
          <a:lstStyle/>
          <a:p>
            <a:fld id="{BEA013AE-2DA6-41D9-9176-EC7FBE50BA8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363B217-AAF0-499B-9F61-9D5261228A5F}" type="datetime1">
              <a:rPr lang="en-US" smtClean="0"/>
              <a:pPr/>
              <a:t>12/7/2017</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
        <p:nvSpPr>
          <p:cNvPr id="6" name="Slide Number Placeholder 5"/>
          <p:cNvSpPr>
            <a:spLocks noGrp="1"/>
          </p:cNvSpPr>
          <p:nvPr>
            <p:ph type="sldNum" sz="quarter" idx="12"/>
          </p:nvPr>
        </p:nvSpPr>
        <p:spPr/>
        <p:txBody>
          <a:bodyPr/>
          <a:lstStyle/>
          <a:p>
            <a:fld id="{BEA013AE-2DA6-41D9-9176-EC7FBE50BA8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DECE5CD-DE07-433F-80F4-9C40A7BA7F6A}" type="datetime1">
              <a:rPr lang="en-US" smtClean="0"/>
              <a:pPr/>
              <a:t>12/7/2017</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
        <p:nvSpPr>
          <p:cNvPr id="6" name="Slide Number Placeholder 5"/>
          <p:cNvSpPr>
            <a:spLocks noGrp="1"/>
          </p:cNvSpPr>
          <p:nvPr>
            <p:ph type="sldNum" sz="quarter" idx="12"/>
          </p:nvPr>
        </p:nvSpPr>
        <p:spPr/>
        <p:txBody>
          <a:bodyPr/>
          <a:lstStyle/>
          <a:p>
            <a:fld id="{BEA013AE-2DA6-41D9-9176-EC7FBE50BA8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45A89C-1CF3-4C89-AB80-133D30F20620}" type="datetime1">
              <a:rPr lang="en-US" smtClean="0"/>
              <a:pPr/>
              <a:t>12/7/2017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Conflict of Laws PPT Chapter Eight  Sultan Kassim  HU COL</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A013AE-2DA6-41D9-9176-EC7FBE50BA8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Chapter Eight </a:t>
            </a:r>
            <a:br>
              <a:rPr lang="en-US" dirty="0" smtClean="0"/>
            </a:br>
            <a:r>
              <a:rPr lang="en-US" dirty="0" smtClean="0"/>
              <a:t>Choice of Law Rules Governing Marriage and Divorce</a:t>
            </a:r>
            <a:br>
              <a:rPr lang="en-US" dirty="0" smtClean="0"/>
            </a:br>
            <a:endParaRPr lang="en-US" dirty="0"/>
          </a:p>
        </p:txBody>
      </p:sp>
      <p:sp>
        <p:nvSpPr>
          <p:cNvPr id="3" name="Subtitle 2"/>
          <p:cNvSpPr>
            <a:spLocks noGrp="1"/>
          </p:cNvSpPr>
          <p:nvPr>
            <p:ph type="subTitle" idx="1"/>
          </p:nvPr>
        </p:nvSpPr>
        <p:spPr>
          <a:xfrm>
            <a:off x="1371600" y="5029200"/>
            <a:ext cx="6400800" cy="609600"/>
          </a:xfrm>
        </p:spPr>
        <p:txBody>
          <a:bodyPr/>
          <a:lstStyle/>
          <a:p>
            <a:endParaRPr lang="en-US" dirty="0"/>
          </a:p>
        </p:txBody>
      </p:sp>
      <p:sp>
        <p:nvSpPr>
          <p:cNvPr id="4" name="Slide Number Placeholder 3"/>
          <p:cNvSpPr>
            <a:spLocks noGrp="1"/>
          </p:cNvSpPr>
          <p:nvPr>
            <p:ph type="sldNum" sz="quarter" idx="12"/>
          </p:nvPr>
        </p:nvSpPr>
        <p:spPr/>
        <p:txBody>
          <a:bodyPr/>
          <a:lstStyle/>
          <a:p>
            <a:fld id="{BEA013AE-2DA6-41D9-9176-EC7FBE50BA8B}" type="slidenum">
              <a:rPr lang="en-US" smtClean="0"/>
              <a:pPr/>
              <a:t>1</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Most of the issues in family relations belong to the personal sphere and therefore concern (personal) status matters governed by personal law.</a:t>
            </a:r>
          </a:p>
          <a:p>
            <a:r>
              <a:rPr lang="en-US" dirty="0" smtClean="0"/>
              <a:t>laws governing personal status are designed in a way they reflect relevant factors such as cultural ties or habits, ethnic origin or other background like economic circumstances, temperament and morality of the person, etc.</a:t>
            </a:r>
          </a:p>
          <a:p>
            <a:r>
              <a:rPr lang="en-US" dirty="0" smtClean="0"/>
              <a:t>Generally the applicable  law on status  is the law of the place where the transaction or the person has more contact when compared to the laws of other places. </a:t>
            </a:r>
          </a:p>
        </p:txBody>
      </p:sp>
      <p:sp>
        <p:nvSpPr>
          <p:cNvPr id="4" name="Slide Number Placeholder 3"/>
          <p:cNvSpPr>
            <a:spLocks noGrp="1"/>
          </p:cNvSpPr>
          <p:nvPr>
            <p:ph type="sldNum" sz="quarter" idx="12"/>
          </p:nvPr>
        </p:nvSpPr>
        <p:spPr/>
        <p:txBody>
          <a:bodyPr/>
          <a:lstStyle/>
          <a:p>
            <a:fld id="{BEA013AE-2DA6-41D9-9176-EC7FBE50BA8B}" type="slidenum">
              <a:rPr lang="en-US" smtClean="0"/>
              <a:pPr/>
              <a:t>2</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smtClean="0"/>
              <a:t>What can be the connecting factor employed for personal status matters in general and family matters in particular? </a:t>
            </a:r>
          </a:p>
          <a:p>
            <a:r>
              <a:rPr lang="en-US" dirty="0" smtClean="0"/>
              <a:t>The major leading principles are </a:t>
            </a:r>
            <a:r>
              <a:rPr lang="en-US" b="1" dirty="0" smtClean="0"/>
              <a:t>nationality</a:t>
            </a:r>
            <a:r>
              <a:rPr lang="en-US" dirty="0" smtClean="0"/>
              <a:t>( Continental)  </a:t>
            </a:r>
            <a:r>
              <a:rPr lang="en-US" b="1" dirty="0" smtClean="0"/>
              <a:t>and domicile </a:t>
            </a:r>
            <a:r>
              <a:rPr lang="en-US" dirty="0" smtClean="0"/>
              <a:t>( common law). </a:t>
            </a:r>
          </a:p>
          <a:p>
            <a:r>
              <a:rPr lang="en-US" dirty="0" smtClean="0"/>
              <a:t>Some states employ "residence "or" habitual (principal) residence” in place of domicile</a:t>
            </a:r>
          </a:p>
          <a:p>
            <a:r>
              <a:rPr lang="en-US" dirty="0" smtClean="0"/>
              <a:t>Other may use  "most intimate and most tense connection" of a person with a given legal system for the purpose of regulating one's personal status.</a:t>
            </a:r>
          </a:p>
          <a:p>
            <a:endParaRPr lang="en-US" dirty="0"/>
          </a:p>
        </p:txBody>
      </p:sp>
      <p:sp>
        <p:nvSpPr>
          <p:cNvPr id="4" name="Slide Number Placeholder 3"/>
          <p:cNvSpPr>
            <a:spLocks noGrp="1"/>
          </p:cNvSpPr>
          <p:nvPr>
            <p:ph type="sldNum" sz="quarter" idx="12"/>
          </p:nvPr>
        </p:nvSpPr>
        <p:spPr/>
        <p:txBody>
          <a:bodyPr/>
          <a:lstStyle/>
          <a:p>
            <a:fld id="{BEA013AE-2DA6-41D9-9176-EC7FBE50BA8B}" type="slidenum">
              <a:rPr lang="en-US" smtClean="0"/>
              <a:pPr/>
              <a:t>3</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sz="4000" b="1" dirty="0" smtClean="0"/>
              <a:t>Which connecting factor should be used in Ethiopia? Nationality, Domicile or Residence?</a:t>
            </a:r>
          </a:p>
          <a:p>
            <a:r>
              <a:rPr lang="en-US" sz="3400" dirty="0" smtClean="0"/>
              <a:t>Regarding the interstate problems of family nature, simply, </a:t>
            </a:r>
            <a:r>
              <a:rPr lang="en-US" sz="3400" b="1" dirty="0" smtClean="0"/>
              <a:t>nationality cannot be applicable</a:t>
            </a:r>
            <a:r>
              <a:rPr lang="en-US" sz="3400" dirty="0" smtClean="0"/>
              <a:t>. Both parties are either virtually always Ethiopians or they are looking for a state law. </a:t>
            </a:r>
          </a:p>
          <a:p>
            <a:r>
              <a:rPr lang="en-US" sz="3400" dirty="0" smtClean="0"/>
              <a:t>Even for the choice of family laws of an international nature, for we do not have a national family law, aside other substantive and practical reasons, adopting nationality as a connecting factor is not proper. </a:t>
            </a:r>
          </a:p>
          <a:p>
            <a:r>
              <a:rPr lang="en-US" sz="3400" dirty="0" smtClean="0"/>
              <a:t>Many scholars like Araya </a:t>
            </a:r>
            <a:r>
              <a:rPr lang="en-US" sz="3400" dirty="0" err="1" smtClean="0"/>
              <a:t>Kebede</a:t>
            </a:r>
            <a:r>
              <a:rPr lang="en-US" sz="3400" dirty="0" smtClean="0"/>
              <a:t>, </a:t>
            </a:r>
            <a:r>
              <a:rPr lang="en-US" sz="3400" b="1" dirty="0" smtClean="0"/>
              <a:t>Prefer domicile </a:t>
            </a:r>
            <a:r>
              <a:rPr lang="en-US" sz="3400" dirty="0" smtClean="0"/>
              <a:t>as connecting factor in Ethiopia  to deal with issues of status. While others like Samuel </a:t>
            </a:r>
            <a:r>
              <a:rPr lang="en-US" sz="3400" dirty="0" err="1" smtClean="0"/>
              <a:t>Teshale</a:t>
            </a:r>
            <a:r>
              <a:rPr lang="en-US" sz="3400" dirty="0" smtClean="0"/>
              <a:t>, Habitual Residence as connecting factor.</a:t>
            </a:r>
          </a:p>
          <a:p>
            <a:endParaRPr lang="en-US" dirty="0" smtClean="0"/>
          </a:p>
          <a:p>
            <a:pPr>
              <a:buNone/>
            </a:pPr>
            <a:endParaRPr lang="en-US" dirty="0"/>
          </a:p>
        </p:txBody>
      </p:sp>
      <p:sp>
        <p:nvSpPr>
          <p:cNvPr id="4" name="Slide Number Placeholder 3"/>
          <p:cNvSpPr>
            <a:spLocks noGrp="1"/>
          </p:cNvSpPr>
          <p:nvPr>
            <p:ph type="sldNum" sz="quarter" idx="12"/>
          </p:nvPr>
        </p:nvSpPr>
        <p:spPr/>
        <p:txBody>
          <a:bodyPr/>
          <a:lstStyle/>
          <a:p>
            <a:fld id="{BEA013AE-2DA6-41D9-9176-EC7FBE50BA8B}" type="slidenum">
              <a:rPr lang="en-US" smtClean="0"/>
              <a:pPr/>
              <a:t>4</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smtClean="0"/>
              <a:t>why we prefer domicile rather than habitual or principal residence or simply (ordinary) residence?</a:t>
            </a:r>
          </a:p>
          <a:p>
            <a:r>
              <a:rPr lang="en-US" dirty="0" smtClean="0"/>
              <a:t>Three main justifications:</a:t>
            </a:r>
          </a:p>
          <a:p>
            <a:pPr lvl="1"/>
            <a:r>
              <a:rPr lang="en-US" dirty="0" smtClean="0"/>
              <a:t>Until replaced by new law the rules of domicile in civil code are still applicable.</a:t>
            </a:r>
          </a:p>
          <a:p>
            <a:pPr lvl="1"/>
            <a:r>
              <a:rPr lang="en-US" dirty="0" smtClean="0"/>
              <a:t>Habitual residence and to greater extent simple residence are prone to forum shopping.</a:t>
            </a:r>
          </a:p>
          <a:p>
            <a:pPr lvl="1"/>
            <a:r>
              <a:rPr lang="en-US" dirty="0" smtClean="0"/>
              <a:t>the application of the law of domicile ensures a certain amount of stability to a greater extent or degree than that of residence.</a:t>
            </a:r>
          </a:p>
          <a:p>
            <a:endParaRPr lang="en-US" dirty="0"/>
          </a:p>
        </p:txBody>
      </p:sp>
      <p:sp>
        <p:nvSpPr>
          <p:cNvPr id="4" name="Slide Number Placeholder 3"/>
          <p:cNvSpPr>
            <a:spLocks noGrp="1"/>
          </p:cNvSpPr>
          <p:nvPr>
            <p:ph type="sldNum" sz="quarter" idx="12"/>
          </p:nvPr>
        </p:nvSpPr>
        <p:spPr/>
        <p:txBody>
          <a:bodyPr/>
          <a:lstStyle/>
          <a:p>
            <a:fld id="{BEA013AE-2DA6-41D9-9176-EC7FBE50BA8B}" type="slidenum">
              <a:rPr lang="en-US" smtClean="0"/>
              <a:pPr/>
              <a:t>5</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smtClean="0"/>
              <a:t>Those who oppose domicile as connecting factor argue:</a:t>
            </a:r>
          </a:p>
          <a:p>
            <a:pPr lvl="1"/>
            <a:r>
              <a:rPr lang="en-US" dirty="0" smtClean="0"/>
              <a:t>The domicile provisions of the civil code were meant to apply to only international conflicts not inter state conflict.</a:t>
            </a:r>
          </a:p>
          <a:p>
            <a:pPr lvl="1"/>
            <a:r>
              <a:rPr lang="en-US" dirty="0" smtClean="0"/>
              <a:t>The current procl.25/96 uses permanent residence as connecting factor for interstate disputes</a:t>
            </a:r>
          </a:p>
          <a:p>
            <a:pPr lvl="1"/>
            <a:r>
              <a:rPr lang="en-US" dirty="0" smtClean="0"/>
              <a:t>Issue of proving intention to live in certain place permanently is painstaking.</a:t>
            </a:r>
          </a:p>
          <a:p>
            <a:pPr lvl="1"/>
            <a:r>
              <a:rPr lang="en-US" dirty="0" smtClean="0"/>
              <a:t>Habitual residence avoids the problem of intention without loosing the fact of permanence.</a:t>
            </a:r>
          </a:p>
          <a:p>
            <a:endParaRPr lang="en-US" dirty="0"/>
          </a:p>
        </p:txBody>
      </p:sp>
      <p:sp>
        <p:nvSpPr>
          <p:cNvPr id="4" name="Slide Number Placeholder 3"/>
          <p:cNvSpPr>
            <a:spLocks noGrp="1"/>
          </p:cNvSpPr>
          <p:nvPr>
            <p:ph type="sldNum" sz="quarter" idx="12"/>
          </p:nvPr>
        </p:nvSpPr>
        <p:spPr/>
        <p:txBody>
          <a:bodyPr/>
          <a:lstStyle/>
          <a:p>
            <a:fld id="{BEA013AE-2DA6-41D9-9176-EC7FBE50BA8B}" type="slidenum">
              <a:rPr lang="en-US" smtClean="0"/>
              <a:pPr/>
              <a:t>6</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t>Issue of Interstate conflict of Family cases in Ethiopia</a:t>
            </a:r>
            <a:endParaRPr lang="en-US" sz="2800" dirty="0"/>
          </a:p>
        </p:txBody>
      </p:sp>
      <p:sp>
        <p:nvSpPr>
          <p:cNvPr id="3" name="Content Placeholder 2"/>
          <p:cNvSpPr>
            <a:spLocks noGrp="1"/>
          </p:cNvSpPr>
          <p:nvPr>
            <p:ph idx="1"/>
          </p:nvPr>
        </p:nvSpPr>
        <p:spPr/>
        <p:txBody>
          <a:bodyPr>
            <a:normAutofit fontScale="77500" lnSpcReduction="20000"/>
          </a:bodyPr>
          <a:lstStyle/>
          <a:p>
            <a:r>
              <a:rPr lang="en-US" sz="4100" b="1" dirty="0" smtClean="0"/>
              <a:t>Relevance of the Issue</a:t>
            </a:r>
          </a:p>
          <a:p>
            <a:r>
              <a:rPr lang="en-US" dirty="0" smtClean="0"/>
              <a:t>Under the FDRE constitution the powers of the federal government are enumerated while residual power vested in states.</a:t>
            </a:r>
          </a:p>
          <a:p>
            <a:r>
              <a:rPr lang="en-US" dirty="0" smtClean="0"/>
              <a:t>Federal government does not have a clear mandate on family law.</a:t>
            </a:r>
          </a:p>
          <a:p>
            <a:r>
              <a:rPr lang="en-US" dirty="0" smtClean="0"/>
              <a:t>Regional governments with residual power to enact on many private laws including family.</a:t>
            </a:r>
          </a:p>
          <a:p>
            <a:r>
              <a:rPr lang="en-US" dirty="0" smtClean="0"/>
              <a:t> Family law fall under private law category with many public policy implications. i.e. equality of women and protection to children.</a:t>
            </a:r>
          </a:p>
          <a:p>
            <a:r>
              <a:rPr lang="en-US" dirty="0" smtClean="0"/>
              <a:t>So federal or state family law ? Diverse or Uniform family law?</a:t>
            </a:r>
            <a:endParaRPr lang="en-US" dirty="0"/>
          </a:p>
        </p:txBody>
      </p:sp>
      <p:sp>
        <p:nvSpPr>
          <p:cNvPr id="4" name="Slide Number Placeholder 3"/>
          <p:cNvSpPr>
            <a:spLocks noGrp="1"/>
          </p:cNvSpPr>
          <p:nvPr>
            <p:ph type="sldNum" sz="quarter" idx="12"/>
          </p:nvPr>
        </p:nvSpPr>
        <p:spPr/>
        <p:txBody>
          <a:bodyPr/>
          <a:lstStyle/>
          <a:p>
            <a:fld id="{BEA013AE-2DA6-41D9-9176-EC7FBE50BA8B}" type="slidenum">
              <a:rPr lang="en-US" smtClean="0"/>
              <a:pPr/>
              <a:t>7</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smtClean="0"/>
              <a:t>In Favor of a unified federal family law:</a:t>
            </a:r>
          </a:p>
          <a:p>
            <a:pPr lvl="1"/>
            <a:r>
              <a:rPr lang="en-US" dirty="0" smtClean="0"/>
              <a:t>To enforce uniformly the constitutional right of equality of women and protection to children</a:t>
            </a:r>
          </a:p>
          <a:p>
            <a:pPr lvl="1"/>
            <a:r>
              <a:rPr lang="en-US" dirty="0" smtClean="0"/>
              <a:t>States may be influenced by cultural matters and perpetuate in equality.</a:t>
            </a:r>
          </a:p>
          <a:p>
            <a:r>
              <a:rPr lang="en-US" dirty="0" smtClean="0"/>
              <a:t>In favor of Diverse state family law:</a:t>
            </a:r>
          </a:p>
          <a:p>
            <a:pPr lvl="1"/>
            <a:r>
              <a:rPr lang="en-US" dirty="0" smtClean="0"/>
              <a:t>The need for the federation is to protect diversity in relevant sensitive issues ,family is one. Unified family law defeat purpose of federation.</a:t>
            </a:r>
          </a:p>
          <a:p>
            <a:pPr lvl="1"/>
            <a:r>
              <a:rPr lang="en-US" dirty="0" smtClean="0"/>
              <a:t>Federal family law is unconstitutional since no list in enumerated power.</a:t>
            </a:r>
          </a:p>
          <a:p>
            <a:r>
              <a:rPr lang="en-US" dirty="0" smtClean="0"/>
              <a:t>Tigray Regional state took the initiative by enacting Tigray Family Law  in 1990 E.C and the debate in favor of unified family law lost ground.</a:t>
            </a:r>
          </a:p>
          <a:p>
            <a:pPr lvl="1"/>
            <a:endParaRPr lang="en-US" dirty="0" smtClean="0"/>
          </a:p>
          <a:p>
            <a:endParaRPr lang="en-US" dirty="0" smtClean="0"/>
          </a:p>
          <a:p>
            <a:endParaRPr lang="en-US" dirty="0"/>
          </a:p>
        </p:txBody>
      </p:sp>
      <p:sp>
        <p:nvSpPr>
          <p:cNvPr id="4" name="Slide Number Placeholder 3"/>
          <p:cNvSpPr>
            <a:spLocks noGrp="1"/>
          </p:cNvSpPr>
          <p:nvPr>
            <p:ph type="sldNum" sz="quarter" idx="12"/>
          </p:nvPr>
        </p:nvSpPr>
        <p:spPr/>
        <p:txBody>
          <a:bodyPr/>
          <a:lstStyle/>
          <a:p>
            <a:fld id="{BEA013AE-2DA6-41D9-9176-EC7FBE50BA8B}" type="slidenum">
              <a:rPr lang="en-US" smtClean="0"/>
              <a:pPr/>
              <a:t>8</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smtClean="0"/>
              <a:t>Currently all the nine regional states and the two chartered cities have separate family laws.</a:t>
            </a:r>
          </a:p>
          <a:p>
            <a:r>
              <a:rPr lang="en-US" dirty="0" smtClean="0"/>
              <a:t>These laws generally similar , E.g. Three Recognized forms of marriage, effects of marriage  etc…</a:t>
            </a:r>
          </a:p>
          <a:p>
            <a:r>
              <a:rPr lang="en-US" dirty="0" smtClean="0"/>
              <a:t> But different on some important matters. E.g. Age of marriage,  consanguinity and affinity, irregular union, bigamy, etc</a:t>
            </a:r>
          </a:p>
          <a:p>
            <a:r>
              <a:rPr lang="en-US" dirty="0" smtClean="0"/>
              <a:t>So, the urgent need to have rules governing interstate conflict of family laws.</a:t>
            </a:r>
          </a:p>
          <a:p>
            <a:endParaRPr lang="en-US" dirty="0"/>
          </a:p>
        </p:txBody>
      </p:sp>
      <p:sp>
        <p:nvSpPr>
          <p:cNvPr id="4" name="Slide Number Placeholder 3"/>
          <p:cNvSpPr>
            <a:spLocks noGrp="1"/>
          </p:cNvSpPr>
          <p:nvPr>
            <p:ph type="sldNum" sz="quarter" idx="12"/>
          </p:nvPr>
        </p:nvSpPr>
        <p:spPr/>
        <p:txBody>
          <a:bodyPr/>
          <a:lstStyle/>
          <a:p>
            <a:fld id="{BEA013AE-2DA6-41D9-9176-EC7FBE50BA8B}" type="slidenum">
              <a:rPr lang="en-US" smtClean="0"/>
              <a:pPr/>
              <a:t>9</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Marriage</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sz="3600" b="1" dirty="0" smtClean="0"/>
              <a:t> I. Formal validity of Marriage</a:t>
            </a:r>
          </a:p>
          <a:p>
            <a:r>
              <a:rPr lang="en-US" dirty="0" smtClean="0"/>
              <a:t>Formal validity of marriage is generally governed by the law of the place of celebration. </a:t>
            </a:r>
          </a:p>
          <a:p>
            <a:r>
              <a:rPr lang="en-US" dirty="0" smtClean="0"/>
              <a:t>“A marriage valid where celebrated is valid every where.”</a:t>
            </a:r>
          </a:p>
          <a:p>
            <a:r>
              <a:rPr lang="en-US" dirty="0" smtClean="0"/>
              <a:t>This is true even in a state of common domicile of the parties where stricter or different rules concerning formalities, in so far as they do not contravene public policies, are in force. </a:t>
            </a:r>
          </a:p>
          <a:p>
            <a:r>
              <a:rPr lang="en-US" dirty="0" smtClean="0"/>
              <a:t>However, if the law of the matrimonial domicile prescribes compliance with certain formalities to be very essential, amounting to policy requirements, failure to meet those requirements may preclude the recognition of the marriage celebrated out of the state.</a:t>
            </a:r>
          </a:p>
          <a:p>
            <a:endParaRPr lang="en-US" dirty="0" smtClean="0"/>
          </a:p>
          <a:p>
            <a:endParaRPr lang="en-US" dirty="0"/>
          </a:p>
        </p:txBody>
      </p:sp>
      <p:sp>
        <p:nvSpPr>
          <p:cNvPr id="4" name="Slide Number Placeholder 3"/>
          <p:cNvSpPr>
            <a:spLocks noGrp="1"/>
          </p:cNvSpPr>
          <p:nvPr>
            <p:ph type="sldNum" sz="quarter" idx="12"/>
          </p:nvPr>
        </p:nvSpPr>
        <p:spPr/>
        <p:txBody>
          <a:bodyPr/>
          <a:lstStyle/>
          <a:p>
            <a:fld id="{BEA013AE-2DA6-41D9-9176-EC7FBE50BA8B}" type="slidenum">
              <a:rPr lang="en-US" smtClean="0"/>
              <a:pPr/>
              <a:t>10</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smtClean="0"/>
              <a:t>In Ethiopia interstate conflict of marriage , problem of formal validity does not seem to arise because of similarity in the family laws of states. Three recognized forms of marriage (i.e., religious, civil, and customary).</a:t>
            </a:r>
          </a:p>
          <a:p>
            <a:r>
              <a:rPr lang="en-US" dirty="0" smtClean="0"/>
              <a:t>Formal validity of marriage celebrated in another state with a bit different formal requirement does not usually affect substantive requirements of the forum/domiciliary state. Unless found to be contrary to public policy. See Art.5 Revised family code and Harari Family code, Art 15 of SNNPR family code.</a:t>
            </a:r>
          </a:p>
        </p:txBody>
      </p:sp>
      <p:sp>
        <p:nvSpPr>
          <p:cNvPr id="4" name="Slide Number Placeholder 3"/>
          <p:cNvSpPr>
            <a:spLocks noGrp="1"/>
          </p:cNvSpPr>
          <p:nvPr>
            <p:ph type="sldNum" sz="quarter" idx="12"/>
          </p:nvPr>
        </p:nvSpPr>
        <p:spPr/>
        <p:txBody>
          <a:bodyPr/>
          <a:lstStyle/>
          <a:p>
            <a:fld id="{BEA013AE-2DA6-41D9-9176-EC7FBE50BA8B}" type="slidenum">
              <a:rPr lang="en-US" smtClean="0"/>
              <a:pPr/>
              <a:t>11</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smtClean="0"/>
              <a:t>But in intra state conflict formal validity still relevant.</a:t>
            </a:r>
          </a:p>
          <a:p>
            <a:r>
              <a:rPr lang="en-US" dirty="0" smtClean="0"/>
              <a:t>If a marriage was not celebrated in compliance with the </a:t>
            </a:r>
            <a:r>
              <a:rPr lang="en-US" i="1" dirty="0" err="1" smtClean="0"/>
              <a:t>lex</a:t>
            </a:r>
            <a:r>
              <a:rPr lang="en-US" i="1" dirty="0" smtClean="0"/>
              <a:t> loci</a:t>
            </a:r>
            <a:r>
              <a:rPr lang="en-US" dirty="0" smtClean="0"/>
              <a:t> </a:t>
            </a:r>
            <a:r>
              <a:rPr lang="en-US" i="1" dirty="0" err="1" smtClean="0"/>
              <a:t>celebrationis</a:t>
            </a:r>
            <a:r>
              <a:rPr lang="en-US" dirty="0" smtClean="0"/>
              <a:t> and therefore was invalid as to form under that law, but complies with the  </a:t>
            </a:r>
            <a:r>
              <a:rPr lang="en-US" dirty="0" err="1" smtClean="0"/>
              <a:t>spauses</a:t>
            </a:r>
            <a:r>
              <a:rPr lang="en-US" dirty="0" smtClean="0"/>
              <a:t> personal law’s formal requirement the marriage still valid.  Because state of personal law ( domicile or nationality) has paramount interest than place of celebration.</a:t>
            </a:r>
          </a:p>
          <a:p>
            <a:r>
              <a:rPr lang="en-US" dirty="0" smtClean="0"/>
              <a:t>The general trend, as to choice of law rules of formal validity of marriage is that the rule is not that much strict.  It seems that any state does not have very important interest in the formal requirements of a marriage. More importantly what is to be taken care of is, under the guise of formality, any basic value of the matrimonial domicile should not be infringed.</a:t>
            </a:r>
          </a:p>
          <a:p>
            <a:endParaRPr lang="en-US" dirty="0" smtClean="0"/>
          </a:p>
          <a:p>
            <a:endParaRPr lang="en-US" dirty="0" smtClean="0"/>
          </a:p>
          <a:p>
            <a:endParaRPr lang="en-US" dirty="0"/>
          </a:p>
        </p:txBody>
      </p:sp>
      <p:sp>
        <p:nvSpPr>
          <p:cNvPr id="4" name="Slide Number Placeholder 3"/>
          <p:cNvSpPr>
            <a:spLocks noGrp="1"/>
          </p:cNvSpPr>
          <p:nvPr>
            <p:ph type="sldNum" sz="quarter" idx="12"/>
          </p:nvPr>
        </p:nvSpPr>
        <p:spPr/>
        <p:txBody>
          <a:bodyPr/>
          <a:lstStyle/>
          <a:p>
            <a:fld id="{BEA013AE-2DA6-41D9-9176-EC7FBE50BA8B}" type="slidenum">
              <a:rPr lang="en-US" smtClean="0"/>
              <a:pPr/>
              <a:t>12</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smtClean="0"/>
              <a:t>Even though many state laws are similar on formal validity what if one state enacts special formality that reflects important policy of that state?</a:t>
            </a:r>
          </a:p>
          <a:p>
            <a:r>
              <a:rPr lang="en-US" dirty="0" smtClean="0"/>
              <a:t> Theoretical scenario of </a:t>
            </a:r>
            <a:r>
              <a:rPr lang="en-US" dirty="0" err="1" smtClean="0"/>
              <a:t>Abebe</a:t>
            </a:r>
            <a:r>
              <a:rPr lang="en-US" dirty="0" smtClean="0"/>
              <a:t> Mulatu. The HIV Test case.</a:t>
            </a:r>
          </a:p>
          <a:p>
            <a:r>
              <a:rPr lang="en-US" dirty="0" smtClean="0"/>
              <a:t>Suppose State X enacts a marriage law that requires future spouses to have blood test for HIV/AIDS before celebrating their marriage. W and H concluded their marriage in State Y where blood testing is not a prerequisite. They are now </a:t>
            </a:r>
            <a:r>
              <a:rPr lang="en-US" dirty="0" err="1" smtClean="0"/>
              <a:t>domiciliaries</a:t>
            </a:r>
            <a:r>
              <a:rPr lang="en-US" dirty="0" smtClean="0"/>
              <a:t> of State X. Will State X invalidate the marriage on grounds of the non-fulfillment of its formal requirements? </a:t>
            </a:r>
            <a:endParaRPr lang="en-US" dirty="0"/>
          </a:p>
        </p:txBody>
      </p:sp>
      <p:sp>
        <p:nvSpPr>
          <p:cNvPr id="4" name="Slide Number Placeholder 3"/>
          <p:cNvSpPr>
            <a:spLocks noGrp="1"/>
          </p:cNvSpPr>
          <p:nvPr>
            <p:ph type="sldNum" sz="quarter" idx="12"/>
          </p:nvPr>
        </p:nvSpPr>
        <p:spPr/>
        <p:txBody>
          <a:bodyPr/>
          <a:lstStyle/>
          <a:p>
            <a:fld id="{BEA013AE-2DA6-41D9-9176-EC7FBE50BA8B}" type="slidenum">
              <a:rPr lang="en-US" smtClean="0"/>
              <a:pPr/>
              <a:t>13</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smtClean="0"/>
              <a:t>Here, the doctrine “marriage valid where celebrated is valid everywhere” does not seem to work. It is important to consider whether such type of formal requirements(?) like blood test for HIV/AIDS have some policy implications. </a:t>
            </a:r>
          </a:p>
          <a:p>
            <a:r>
              <a:rPr lang="en-US" dirty="0" smtClean="0"/>
              <a:t>One may argue in the affirmative in that, for example, State X, the domicile, may want to make sure that her next generation (at least who are born in wedlock) is AIDS free. Although this does not seem to meet the whole problem, it gives its contribution to tackle the endemic, incidentally. </a:t>
            </a:r>
          </a:p>
          <a:p>
            <a:r>
              <a:rPr lang="en-US" dirty="0" smtClean="0"/>
              <a:t>Finally, the validity of the marriage will not be recognized until the formal requirement in question (of state X) is fulfilled. Meeting the formal requirements of state Y is not enough.</a:t>
            </a:r>
          </a:p>
          <a:p>
            <a:endParaRPr lang="en-US" dirty="0"/>
          </a:p>
        </p:txBody>
      </p:sp>
      <p:sp>
        <p:nvSpPr>
          <p:cNvPr id="4" name="Slide Number Placeholder 3"/>
          <p:cNvSpPr>
            <a:spLocks noGrp="1"/>
          </p:cNvSpPr>
          <p:nvPr>
            <p:ph type="sldNum" sz="quarter" idx="12"/>
          </p:nvPr>
        </p:nvSpPr>
        <p:spPr/>
        <p:txBody>
          <a:bodyPr/>
          <a:lstStyle/>
          <a:p>
            <a:fld id="{BEA013AE-2DA6-41D9-9176-EC7FBE50BA8B}" type="slidenum">
              <a:rPr lang="en-US" smtClean="0"/>
              <a:pPr/>
              <a:t>14</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b="1" dirty="0" smtClean="0"/>
              <a:t>II. Essential ( Substantive) Validity</a:t>
            </a:r>
          </a:p>
          <a:p>
            <a:r>
              <a:rPr lang="en-US" dirty="0" smtClean="0"/>
              <a:t>Normally, marriage is a natural right that cannot arbitrarily be denied. However, it is not an absolute right.</a:t>
            </a:r>
          </a:p>
          <a:p>
            <a:r>
              <a:rPr lang="en-US" dirty="0" smtClean="0"/>
              <a:t>State has interest in regulating the family the basic unity of society. Certain requirements imposed on the creation maintenance and dissolution of marriage.</a:t>
            </a:r>
          </a:p>
          <a:p>
            <a:r>
              <a:rPr lang="en-US" dirty="0" smtClean="0"/>
              <a:t>States differ in the essential conditions of marriage and peoples of diverse origin intermarry. Capacity, consanguinity, prohibited relations to marry, effects of marriage, grounds of divorce, etc could be different.</a:t>
            </a:r>
          </a:p>
          <a:p>
            <a:r>
              <a:rPr lang="en-US" dirty="0" smtClean="0"/>
              <a:t>Conflict of laws obviously arises.</a:t>
            </a:r>
          </a:p>
          <a:p>
            <a:endParaRPr lang="en-US" dirty="0"/>
          </a:p>
        </p:txBody>
      </p:sp>
      <p:sp>
        <p:nvSpPr>
          <p:cNvPr id="4" name="Slide Number Placeholder 3"/>
          <p:cNvSpPr>
            <a:spLocks noGrp="1"/>
          </p:cNvSpPr>
          <p:nvPr>
            <p:ph type="sldNum" sz="quarter" idx="12"/>
          </p:nvPr>
        </p:nvSpPr>
        <p:spPr/>
        <p:txBody>
          <a:bodyPr/>
          <a:lstStyle/>
          <a:p>
            <a:fld id="{BEA013AE-2DA6-41D9-9176-EC7FBE50BA8B}" type="slidenum">
              <a:rPr lang="en-US" smtClean="0"/>
              <a:pPr/>
              <a:t>15</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sz="3400" b="1" dirty="0" smtClean="0"/>
              <a:t>1. Matrimonial Domicile Test</a:t>
            </a:r>
          </a:p>
          <a:p>
            <a:r>
              <a:rPr lang="en-US" b="1" dirty="0" smtClean="0"/>
              <a:t>The capacity to marry is the personal status laws of the prospective spouses’ common domicile or intended matrimonial domicile</a:t>
            </a:r>
            <a:r>
              <a:rPr lang="en-US" dirty="0" smtClean="0"/>
              <a:t> at the time of the conclusion of the marriage which is in accord with due process.</a:t>
            </a:r>
          </a:p>
          <a:p>
            <a:r>
              <a:rPr lang="en-US" sz="3400" b="1" dirty="0" smtClean="0"/>
              <a:t>2. Dual or ante nuptial domicile test</a:t>
            </a:r>
          </a:p>
          <a:p>
            <a:r>
              <a:rPr lang="en-US" dirty="0" smtClean="0"/>
              <a:t>If spouses have a capacity to marry each other by the laws of </a:t>
            </a:r>
            <a:r>
              <a:rPr lang="en-US" b="1" dirty="0" smtClean="0"/>
              <a:t>their respective domiciles during the ceremony, the marriage is to be held valid.</a:t>
            </a:r>
          </a:p>
          <a:p>
            <a:r>
              <a:rPr lang="en-US" b="1" dirty="0" smtClean="0"/>
              <a:t>3.  Doctrine of </a:t>
            </a:r>
            <a:r>
              <a:rPr lang="en-US" b="1" dirty="0" err="1" smtClean="0"/>
              <a:t>lex</a:t>
            </a:r>
            <a:r>
              <a:rPr lang="en-US" b="1" dirty="0" smtClean="0"/>
              <a:t> loci </a:t>
            </a:r>
            <a:r>
              <a:rPr lang="en-US" b="1" dirty="0" err="1" smtClean="0"/>
              <a:t>lelebration</a:t>
            </a:r>
            <a:r>
              <a:rPr lang="en-US" b="1" dirty="0" smtClean="0"/>
              <a:t> ( For both formal and essential validity)</a:t>
            </a:r>
          </a:p>
          <a:p>
            <a:r>
              <a:rPr lang="en-US" dirty="0" smtClean="0"/>
              <a:t>“a marriage good where contracted is good everywhere, and </a:t>
            </a:r>
            <a:r>
              <a:rPr lang="en-US" i="1" dirty="0" smtClean="0"/>
              <a:t>vice versa</a:t>
            </a:r>
            <a:r>
              <a:rPr lang="en-US" dirty="0" smtClean="0"/>
              <a:t>.”</a:t>
            </a:r>
            <a:endParaRPr lang="en-US" b="1" dirty="0" smtClean="0"/>
          </a:p>
          <a:p>
            <a:endParaRPr lang="en-US" dirty="0"/>
          </a:p>
        </p:txBody>
      </p:sp>
      <p:sp>
        <p:nvSpPr>
          <p:cNvPr id="4" name="Slide Number Placeholder 3"/>
          <p:cNvSpPr>
            <a:spLocks noGrp="1"/>
          </p:cNvSpPr>
          <p:nvPr>
            <p:ph type="sldNum" sz="quarter" idx="12"/>
          </p:nvPr>
        </p:nvSpPr>
        <p:spPr/>
        <p:txBody>
          <a:bodyPr/>
          <a:lstStyle/>
          <a:p>
            <a:fld id="{BEA013AE-2DA6-41D9-9176-EC7FBE50BA8B}" type="slidenum">
              <a:rPr lang="en-US" smtClean="0"/>
              <a:pPr/>
              <a:t>16</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b="1" dirty="0" smtClean="0"/>
              <a:t>Which test should be used in Ethiopia?</a:t>
            </a:r>
          </a:p>
          <a:p>
            <a:r>
              <a:rPr lang="en-US" dirty="0" smtClean="0"/>
              <a:t>Many states  adhere to the law of common domicile of the spouses. Because if either the law of respective domiciles or the place of celebration is employed in which the parties might not live either in either’s domicile or the place of celebration, there might be a possibility for the contravention of the intrinsic conditions, and thereby possibly public policies, of the place the parties made their matrimonial home/domicile.</a:t>
            </a:r>
          </a:p>
          <a:p>
            <a:r>
              <a:rPr lang="en-US" dirty="0" smtClean="0"/>
              <a:t>Generally, any marriage between any parties, whether </a:t>
            </a:r>
            <a:r>
              <a:rPr lang="en-US" dirty="0" err="1" smtClean="0"/>
              <a:t>domiciliaries</a:t>
            </a:r>
            <a:r>
              <a:rPr lang="en-US" dirty="0" smtClean="0"/>
              <a:t> or not, will not be concluded there if the essential validity of the laws of the forum are violated.</a:t>
            </a:r>
          </a:p>
          <a:p>
            <a:r>
              <a:rPr lang="en-US" dirty="0" smtClean="0"/>
              <a:t>This is the case even when  they could do so (get married) by their own present personal laws. </a:t>
            </a:r>
          </a:p>
          <a:p>
            <a:r>
              <a:rPr lang="en-US" dirty="0" smtClean="0"/>
              <a:t>Equally a marriage celebrated in another state but violating the essential legal requirements of the forum state should not be upheld.</a:t>
            </a:r>
          </a:p>
          <a:p>
            <a:endParaRPr lang="en-US" dirty="0"/>
          </a:p>
        </p:txBody>
      </p:sp>
      <p:sp>
        <p:nvSpPr>
          <p:cNvPr id="4" name="Slide Number Placeholder 3"/>
          <p:cNvSpPr>
            <a:spLocks noGrp="1"/>
          </p:cNvSpPr>
          <p:nvPr>
            <p:ph type="sldNum" sz="quarter" idx="12"/>
          </p:nvPr>
        </p:nvSpPr>
        <p:spPr/>
        <p:txBody>
          <a:bodyPr/>
          <a:lstStyle/>
          <a:p>
            <a:fld id="{BEA013AE-2DA6-41D9-9176-EC7FBE50BA8B}" type="slidenum">
              <a:rPr lang="en-US" smtClean="0"/>
              <a:pPr/>
              <a:t>17</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b="1" dirty="0" smtClean="0"/>
              <a:t>Effect of contravention of Essential validity Void or voidable?</a:t>
            </a:r>
          </a:p>
          <a:p>
            <a:r>
              <a:rPr lang="en-US" dirty="0" smtClean="0"/>
              <a:t>If the essential validity contravened cannot pass( change) through time the marriage is </a:t>
            </a:r>
            <a:r>
              <a:rPr lang="en-US" b="1" i="1" dirty="0" smtClean="0"/>
              <a:t>void </a:t>
            </a:r>
            <a:r>
              <a:rPr lang="en-US" b="1" i="1" dirty="0" err="1" smtClean="0"/>
              <a:t>ab</a:t>
            </a:r>
            <a:r>
              <a:rPr lang="en-US" b="1" i="1" dirty="0" smtClean="0"/>
              <a:t> </a:t>
            </a:r>
            <a:r>
              <a:rPr lang="en-US" b="1" i="1" dirty="0" err="1" smtClean="0"/>
              <a:t>innitio</a:t>
            </a:r>
            <a:r>
              <a:rPr lang="en-US" b="1" i="1" dirty="0" smtClean="0"/>
              <a:t> </a:t>
            </a:r>
            <a:r>
              <a:rPr lang="en-US" b="1" dirty="0" smtClean="0"/>
              <a:t>and subject to attack at any time</a:t>
            </a:r>
            <a:r>
              <a:rPr lang="en-US" dirty="0" smtClean="0"/>
              <a:t>.</a:t>
            </a:r>
          </a:p>
          <a:p>
            <a:r>
              <a:rPr lang="en-US" dirty="0" err="1" smtClean="0"/>
              <a:t>Eg</a:t>
            </a:r>
            <a:r>
              <a:rPr lang="en-US" dirty="0" smtClean="0"/>
              <a:t>. Consanguinity or Affinity. Art.32 RFC.</a:t>
            </a:r>
          </a:p>
          <a:p>
            <a:r>
              <a:rPr lang="en-US" dirty="0" smtClean="0"/>
              <a:t>If essential validity contravened is transient </a:t>
            </a:r>
            <a:r>
              <a:rPr lang="en-US" dirty="0" err="1" smtClean="0"/>
              <a:t>i.e</a:t>
            </a:r>
            <a:r>
              <a:rPr lang="en-US" dirty="0" smtClean="0"/>
              <a:t> can change through passage of time, the marriage is </a:t>
            </a:r>
            <a:r>
              <a:rPr lang="en-US" b="1" dirty="0" smtClean="0"/>
              <a:t>voidable and can be attacked only at the time the contravention persists</a:t>
            </a:r>
            <a:r>
              <a:rPr lang="en-US" dirty="0" smtClean="0"/>
              <a:t>.</a:t>
            </a:r>
          </a:p>
          <a:p>
            <a:r>
              <a:rPr lang="en-US" dirty="0" err="1" smtClean="0"/>
              <a:t>eg</a:t>
            </a:r>
            <a:r>
              <a:rPr lang="en-US" dirty="0" smtClean="0"/>
              <a:t>,. Age, Bigamy etc see Art.31 and 33 of RFC.</a:t>
            </a:r>
            <a:endParaRPr lang="en-US" dirty="0"/>
          </a:p>
        </p:txBody>
      </p:sp>
      <p:sp>
        <p:nvSpPr>
          <p:cNvPr id="4" name="Slide Number Placeholder 3"/>
          <p:cNvSpPr>
            <a:spLocks noGrp="1"/>
          </p:cNvSpPr>
          <p:nvPr>
            <p:ph type="sldNum" sz="quarter" idx="12"/>
          </p:nvPr>
        </p:nvSpPr>
        <p:spPr/>
        <p:txBody>
          <a:bodyPr/>
          <a:lstStyle/>
          <a:p>
            <a:fld id="{BEA013AE-2DA6-41D9-9176-EC7FBE50BA8B}" type="slidenum">
              <a:rPr lang="en-US" smtClean="0"/>
              <a:pPr/>
              <a:t>18</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b="1" dirty="0" smtClean="0"/>
              <a:t>Characterization as to Formal and Essential Validity</a:t>
            </a:r>
          </a:p>
          <a:p>
            <a:r>
              <a:rPr lang="en-US" dirty="0" smtClean="0"/>
              <a:t>There could be conflict as to the categorization or classification of elements into formal or essential category. </a:t>
            </a:r>
          </a:p>
          <a:p>
            <a:r>
              <a:rPr lang="en-US" dirty="0" smtClean="0"/>
              <a:t>The inclusion or exclusion of an element into either category might have an impact as to the final result of the validity or otherwise of the marriage. </a:t>
            </a:r>
          </a:p>
          <a:p>
            <a:r>
              <a:rPr lang="en-US" dirty="0" smtClean="0"/>
              <a:t>So what are the criteria to be employed to the effect of the classification? What is the standard utilized to distinguish between matters of form and substance? Whose standard should be used?</a:t>
            </a:r>
            <a:endParaRPr lang="en-US" dirty="0"/>
          </a:p>
        </p:txBody>
      </p:sp>
      <p:sp>
        <p:nvSpPr>
          <p:cNvPr id="4" name="Slide Number Placeholder 3"/>
          <p:cNvSpPr>
            <a:spLocks noGrp="1"/>
          </p:cNvSpPr>
          <p:nvPr>
            <p:ph type="sldNum" sz="quarter" idx="12"/>
          </p:nvPr>
        </p:nvSpPr>
        <p:spPr/>
        <p:txBody>
          <a:bodyPr/>
          <a:lstStyle/>
          <a:p>
            <a:fld id="{BEA013AE-2DA6-41D9-9176-EC7FBE50BA8B}" type="slidenum">
              <a:rPr lang="en-US" smtClean="0"/>
              <a:pPr/>
              <a:t>19</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smtClean="0"/>
              <a:t>Generally, matters that are </a:t>
            </a:r>
            <a:r>
              <a:rPr lang="en-US" b="1" dirty="0" smtClean="0"/>
              <a:t>irrelevant to the enjoyment of the marriage are formal</a:t>
            </a:r>
            <a:r>
              <a:rPr lang="en-US" dirty="0" smtClean="0"/>
              <a:t> and do not have that much force to affect substantially the effect of the marriage.</a:t>
            </a:r>
          </a:p>
          <a:p>
            <a:r>
              <a:rPr lang="en-US" dirty="0" smtClean="0"/>
              <a:t>For one thing, the personal law of the parties leaves the determination of formalities to the law of the place of celebration and disregards its prescriptions as to form but reserves to itself the determination of the intrinsic conditions of marriage.</a:t>
            </a:r>
          </a:p>
          <a:p>
            <a:r>
              <a:rPr lang="en-US" dirty="0" smtClean="0"/>
              <a:t> Besides, it is important for the essential requirements of the place of celebration is to be disregarded (in case the parties manage to get their license though they violate its intrinsic conditions) and only the essential conditions of the matrimonial domicile, if different controls.</a:t>
            </a:r>
          </a:p>
          <a:p>
            <a:endParaRPr lang="en-US" dirty="0"/>
          </a:p>
        </p:txBody>
      </p:sp>
      <p:sp>
        <p:nvSpPr>
          <p:cNvPr id="4" name="Slide Number Placeholder 3"/>
          <p:cNvSpPr>
            <a:spLocks noGrp="1"/>
          </p:cNvSpPr>
          <p:nvPr>
            <p:ph type="sldNum" sz="quarter" idx="12"/>
          </p:nvPr>
        </p:nvSpPr>
        <p:spPr/>
        <p:txBody>
          <a:bodyPr/>
          <a:lstStyle/>
          <a:p>
            <a:fld id="{BEA013AE-2DA6-41D9-9176-EC7FBE50BA8B}" type="slidenum">
              <a:rPr lang="en-US" smtClean="0"/>
              <a:pPr/>
              <a:t>20</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b="1" dirty="0" smtClean="0"/>
              <a:t>Public Policy and  Marriage</a:t>
            </a:r>
          </a:p>
          <a:p>
            <a:r>
              <a:rPr lang="en-US" dirty="0" smtClean="0"/>
              <a:t>Policies that are of permanent nature are expressed through the laws of the concerned state. Constitution, Proclamations etc…</a:t>
            </a:r>
          </a:p>
          <a:p>
            <a:r>
              <a:rPr lang="en-US" dirty="0" smtClean="0"/>
              <a:t>The family is entitled to protection by society and the state for it is the natural and fundamental unit of the society. FDRE Constitution(Art. 34(3)).</a:t>
            </a:r>
          </a:p>
          <a:p>
            <a:r>
              <a:rPr lang="en-US" dirty="0" smtClean="0"/>
              <a:t>Marriage, as the foundation of the family and society around which many of the social institutions are built; which is also the most important of the domestic relations or family matters, is a consensual transaction with a distinctive character of permanence.</a:t>
            </a:r>
          </a:p>
          <a:p>
            <a:r>
              <a:rPr lang="en-US" dirty="0" smtClean="0"/>
              <a:t>In view of its importance as a social institution with all its virtues, and the advantages resulting there from, it is favored by different policies.</a:t>
            </a:r>
          </a:p>
          <a:p>
            <a:r>
              <a:rPr lang="en-US" dirty="0" smtClean="0"/>
              <a:t> Moreover, it is said that marriage is basic to morality and civilization and therefore is of vital interest to society and the state.</a:t>
            </a:r>
          </a:p>
          <a:p>
            <a:r>
              <a:rPr lang="en-US" dirty="0" smtClean="0"/>
              <a:t> Besides, the immediate parties (the spouses) and the children </a:t>
            </a:r>
            <a:r>
              <a:rPr lang="en-US" baseline="30000" dirty="0" smtClean="0"/>
              <a:t>__</a:t>
            </a:r>
            <a:r>
              <a:rPr lang="en-US" dirty="0" smtClean="0"/>
              <a:t> the fruits of the relationship </a:t>
            </a:r>
            <a:r>
              <a:rPr lang="en-US" baseline="30000" dirty="0" smtClean="0"/>
              <a:t>__ </a:t>
            </a:r>
            <a:r>
              <a:rPr lang="en-US" dirty="0" smtClean="0"/>
              <a:t>have an interest in it.</a:t>
            </a:r>
          </a:p>
          <a:p>
            <a:endParaRPr lang="en-US" dirty="0"/>
          </a:p>
        </p:txBody>
      </p:sp>
      <p:sp>
        <p:nvSpPr>
          <p:cNvPr id="4" name="Slide Number Placeholder 3"/>
          <p:cNvSpPr>
            <a:spLocks noGrp="1"/>
          </p:cNvSpPr>
          <p:nvPr>
            <p:ph type="sldNum" sz="quarter" idx="12"/>
          </p:nvPr>
        </p:nvSpPr>
        <p:spPr/>
        <p:txBody>
          <a:bodyPr/>
          <a:lstStyle/>
          <a:p>
            <a:fld id="{BEA013AE-2DA6-41D9-9176-EC7FBE50BA8B}" type="slidenum">
              <a:rPr lang="en-US" smtClean="0"/>
              <a:pPr/>
              <a:t>21</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sz="4000" b="1" dirty="0" smtClean="0"/>
              <a:t>Why do we recognize foreign marriages?</a:t>
            </a:r>
          </a:p>
          <a:p>
            <a:r>
              <a:rPr lang="en-US" dirty="0" smtClean="0"/>
              <a:t>Marriage once the relationship is assumed to have been freely entered so long as the present status of the marriage is in accord with certain values and public morals reflected in our family codes it can be recognized. </a:t>
            </a:r>
          </a:p>
          <a:p>
            <a:r>
              <a:rPr lang="en-US" dirty="0" smtClean="0"/>
              <a:t>But why?</a:t>
            </a:r>
          </a:p>
          <a:p>
            <a:r>
              <a:rPr lang="en-US" dirty="0" smtClean="0"/>
              <a:t>The main aim lies on the preservation of the </a:t>
            </a:r>
            <a:r>
              <a:rPr lang="en-US" b="1" dirty="0" smtClean="0"/>
              <a:t>“justified expectations” of the parties </a:t>
            </a:r>
            <a:r>
              <a:rPr lang="en-US" dirty="0" smtClean="0"/>
              <a:t>at the expense of some local but not that much significant values, that are however, not strong enough to destruct the moral standards or/and very essential conditions of the local law.</a:t>
            </a:r>
          </a:p>
          <a:p>
            <a:r>
              <a:rPr lang="en-US" dirty="0" smtClean="0"/>
              <a:t>More over, human mobility ought not to jeopardize the reasonable expectations of those relying on an assumed family pattern.</a:t>
            </a:r>
          </a:p>
          <a:p>
            <a:endParaRPr lang="en-US" dirty="0"/>
          </a:p>
        </p:txBody>
      </p:sp>
      <p:sp>
        <p:nvSpPr>
          <p:cNvPr id="4" name="Slide Number Placeholder 3"/>
          <p:cNvSpPr>
            <a:spLocks noGrp="1"/>
          </p:cNvSpPr>
          <p:nvPr>
            <p:ph type="sldNum" sz="quarter" idx="12"/>
          </p:nvPr>
        </p:nvSpPr>
        <p:spPr/>
        <p:txBody>
          <a:bodyPr/>
          <a:lstStyle/>
          <a:p>
            <a:fld id="{BEA013AE-2DA6-41D9-9176-EC7FBE50BA8B}" type="slidenum">
              <a:rPr lang="en-US" smtClean="0"/>
              <a:pPr/>
              <a:t>22</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b="1" dirty="0" smtClean="0"/>
              <a:t>Effects of Marriage ( Personal and </a:t>
            </a:r>
            <a:r>
              <a:rPr lang="en-US" b="1" dirty="0" err="1" smtClean="0"/>
              <a:t>pequinary</a:t>
            </a:r>
            <a:r>
              <a:rPr lang="en-US" b="1" dirty="0" smtClean="0"/>
              <a:t>)</a:t>
            </a:r>
          </a:p>
          <a:p>
            <a:r>
              <a:rPr lang="en-US" dirty="0" smtClean="0"/>
              <a:t>The effects or incidents of marriage in those the rights and duties of the spouses are, as a rule, governed by the </a:t>
            </a:r>
            <a:r>
              <a:rPr lang="en-US" b="1" dirty="0" smtClean="0"/>
              <a:t>common personal status of the spouses during the lifetime of the marriage.</a:t>
            </a:r>
          </a:p>
          <a:p>
            <a:r>
              <a:rPr lang="en-US" b="1" dirty="0" smtClean="0"/>
              <a:t> </a:t>
            </a:r>
            <a:r>
              <a:rPr lang="en-US" dirty="0" smtClean="0"/>
              <a:t>In most instances, this law is the </a:t>
            </a:r>
            <a:r>
              <a:rPr lang="en-US" b="1" dirty="0" smtClean="0"/>
              <a:t>common matrimonial domicile of the spouses</a:t>
            </a:r>
            <a:r>
              <a:rPr lang="en-US" dirty="0" smtClean="0"/>
              <a:t>.</a:t>
            </a:r>
          </a:p>
          <a:p>
            <a:r>
              <a:rPr lang="en-US" dirty="0" smtClean="0"/>
              <a:t>Exception: Pecuniary effect of marriage may be agreed up on by the parties. They may select the applicable law without contravening fundamental provisions of law.</a:t>
            </a:r>
            <a:endParaRPr lang="en-US" dirty="0"/>
          </a:p>
        </p:txBody>
      </p:sp>
      <p:sp>
        <p:nvSpPr>
          <p:cNvPr id="4" name="Slide Number Placeholder 3"/>
          <p:cNvSpPr>
            <a:spLocks noGrp="1"/>
          </p:cNvSpPr>
          <p:nvPr>
            <p:ph type="sldNum" sz="quarter" idx="12"/>
          </p:nvPr>
        </p:nvSpPr>
        <p:spPr/>
        <p:txBody>
          <a:bodyPr/>
          <a:lstStyle/>
          <a:p>
            <a:fld id="{BEA013AE-2DA6-41D9-9176-EC7FBE50BA8B}" type="slidenum">
              <a:rPr lang="en-US" smtClean="0"/>
              <a:pPr/>
              <a:t>23</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dirty="0" smtClean="0"/>
              <a:t>According to the U.S experience, the effects of marriage on pecuniary matters are governed by the parties’ </a:t>
            </a:r>
            <a:r>
              <a:rPr lang="en-US" b="1" i="1" dirty="0" smtClean="0"/>
              <a:t>current</a:t>
            </a:r>
            <a:r>
              <a:rPr lang="en-US" b="1" dirty="0" smtClean="0"/>
              <a:t> matrimonial domicile</a:t>
            </a:r>
            <a:r>
              <a:rPr lang="en-US" dirty="0" smtClean="0"/>
              <a:t> as ordinarily having the most significant contacts.</a:t>
            </a:r>
          </a:p>
          <a:p>
            <a:r>
              <a:rPr lang="en-US" dirty="0" smtClean="0"/>
              <a:t>However, if the parties acquired property in different states overtime, the </a:t>
            </a:r>
            <a:r>
              <a:rPr lang="en-US" b="1" dirty="0" smtClean="0"/>
              <a:t>law of the state where the property was acquired </a:t>
            </a:r>
            <a:r>
              <a:rPr lang="en-US" dirty="0" smtClean="0"/>
              <a:t>controls. But this is true only to the portion of the property acquired in a given state.</a:t>
            </a:r>
            <a:endParaRPr lang="en-US" dirty="0"/>
          </a:p>
        </p:txBody>
      </p:sp>
      <p:sp>
        <p:nvSpPr>
          <p:cNvPr id="4" name="Slide Number Placeholder 3"/>
          <p:cNvSpPr>
            <a:spLocks noGrp="1"/>
          </p:cNvSpPr>
          <p:nvPr>
            <p:ph type="sldNum" sz="quarter" idx="12"/>
          </p:nvPr>
        </p:nvSpPr>
        <p:spPr/>
        <p:txBody>
          <a:bodyPr/>
          <a:lstStyle/>
          <a:p>
            <a:fld id="{BEA013AE-2DA6-41D9-9176-EC7FBE50BA8B}" type="slidenum">
              <a:rPr lang="en-US" smtClean="0"/>
              <a:pPr/>
              <a:t>24</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b="1" dirty="0" smtClean="0"/>
              <a:t>What is the effect on the incidents of marriage, such as pecuniary matters, where such marriage was valid in the parties' former domicile but invalid for the forum or present matrimonial domicile found it contrary to its “strong public policy”?</a:t>
            </a:r>
          </a:p>
          <a:p>
            <a:r>
              <a:rPr lang="en-US" dirty="0" smtClean="0"/>
              <a:t>As Cavers has put the U.S experience on this score, it is conventionally treated that some of the incidents of the status ("marriage") such as the rights, powers, privileges, and immunities that are attached to the parties by the "marriage" relationship are denied.</a:t>
            </a:r>
          </a:p>
          <a:p>
            <a:r>
              <a:rPr lang="en-US" dirty="0" smtClean="0"/>
              <a:t>However, the present matrimonial domicile should gives effect to some of the incidents of the marriage. </a:t>
            </a:r>
          </a:p>
          <a:p>
            <a:r>
              <a:rPr lang="en-US" dirty="0" smtClean="0"/>
              <a:t>E.g.  California which forbids its </a:t>
            </a:r>
            <a:r>
              <a:rPr lang="en-US" dirty="0" err="1" smtClean="0"/>
              <a:t>domiciliaries</a:t>
            </a:r>
            <a:r>
              <a:rPr lang="en-US" dirty="0" smtClean="0"/>
              <a:t> to have more than one wife accords the widows of such a bigamous marriage to receive from their deceased husband’s California estate a widow’s share as tenants in common.</a:t>
            </a:r>
            <a:endParaRPr lang="en-US" dirty="0"/>
          </a:p>
        </p:txBody>
      </p:sp>
      <p:sp>
        <p:nvSpPr>
          <p:cNvPr id="4" name="Slide Number Placeholder 3"/>
          <p:cNvSpPr>
            <a:spLocks noGrp="1"/>
          </p:cNvSpPr>
          <p:nvPr>
            <p:ph type="sldNum" sz="quarter" idx="12"/>
          </p:nvPr>
        </p:nvSpPr>
        <p:spPr/>
        <p:txBody>
          <a:bodyPr/>
          <a:lstStyle/>
          <a:p>
            <a:fld id="{BEA013AE-2DA6-41D9-9176-EC7FBE50BA8B}" type="slidenum">
              <a:rPr lang="en-US" smtClean="0"/>
              <a:pPr/>
              <a:t>25</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sz="4000" b="1" dirty="0" smtClean="0"/>
              <a:t>Irregular Union</a:t>
            </a:r>
          </a:p>
          <a:p>
            <a:r>
              <a:rPr lang="en-US" dirty="0" smtClean="0"/>
              <a:t>Normally it is not a marriage relation and does not give parties status of a husband and wife.</a:t>
            </a:r>
          </a:p>
          <a:p>
            <a:r>
              <a:rPr lang="en-US" dirty="0" smtClean="0"/>
              <a:t>Law regulates Irregular union for purpose of some pecuniary effects of the relationship.</a:t>
            </a:r>
          </a:p>
          <a:p>
            <a:r>
              <a:rPr lang="en-US" dirty="0" smtClean="0"/>
              <a:t>There seems to be some difference among the family laws on pecuniary effects. Between the 1960 Civil code, the TFC and other Family codes.</a:t>
            </a:r>
          </a:p>
          <a:p>
            <a:r>
              <a:rPr lang="en-US" dirty="0" smtClean="0"/>
              <a:t>Under art 712 of civil code irregular union shall not create any community of property between the parties.</a:t>
            </a:r>
          </a:p>
          <a:p>
            <a:r>
              <a:rPr lang="en-US" dirty="0" smtClean="0"/>
              <a:t>Revised Family code ( Art.102), The Oromiya Family Code (art.?), the SNNPR( Art116) and Harari Family codes  ( Art. 105) it creates community of property if the union lasted not less than three years.</a:t>
            </a:r>
          </a:p>
          <a:p>
            <a:r>
              <a:rPr lang="en-US" dirty="0" smtClean="0"/>
              <a:t>Tigray Family Code Art.130(a)  common property shall be created if the union lasts for ten years or more.</a:t>
            </a:r>
          </a:p>
          <a:p>
            <a:endParaRPr lang="en-US" dirty="0"/>
          </a:p>
        </p:txBody>
      </p:sp>
      <p:sp>
        <p:nvSpPr>
          <p:cNvPr id="4" name="Footer Placeholder 3"/>
          <p:cNvSpPr>
            <a:spLocks noGrp="1"/>
          </p:cNvSpPr>
          <p:nvPr>
            <p:ph type="ftr" sz="quarter" idx="11"/>
          </p:nvPr>
        </p:nvSpPr>
        <p:spPr/>
        <p:txBody>
          <a:bodyPr/>
          <a:lstStyle/>
          <a:p>
            <a:r>
              <a:rPr lang="en-US" smtClean="0"/>
              <a:t>Conflict of Laws PPT Chapter Eight  Sultan Kassim  HU COL</a:t>
            </a:r>
            <a:endParaRPr lang="en-US"/>
          </a:p>
        </p:txBody>
      </p:sp>
      <p:sp>
        <p:nvSpPr>
          <p:cNvPr id="5" name="Slide Number Placeholder 4"/>
          <p:cNvSpPr>
            <a:spLocks noGrp="1"/>
          </p:cNvSpPr>
          <p:nvPr>
            <p:ph type="sldNum" sz="quarter" idx="12"/>
          </p:nvPr>
        </p:nvSpPr>
        <p:spPr/>
        <p:txBody>
          <a:bodyPr/>
          <a:lstStyle/>
          <a:p>
            <a:fld id="{BEA013AE-2DA6-41D9-9176-EC7FBE50BA8B}"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
            </a:r>
            <a:br>
              <a:rPr lang="en-US" b="1" dirty="0" smtClean="0"/>
            </a:br>
            <a:r>
              <a:rPr lang="en-US" dirty="0" smtClean="0"/>
              <a:t>Choice of Law Rules Governing Divorce</a:t>
            </a:r>
            <a:br>
              <a:rPr lang="en-US" dirty="0" smtClean="0"/>
            </a:b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47500" lnSpcReduction="20000"/>
          </a:bodyPr>
          <a:lstStyle/>
          <a:p>
            <a:pPr algn="just"/>
            <a:r>
              <a:rPr lang="en-US" sz="4400" dirty="0" smtClean="0"/>
              <a:t>Conflict of laws problems around the divorce part of family law revolves around problems of mainly </a:t>
            </a:r>
            <a:r>
              <a:rPr lang="en-US" sz="4400" b="1" dirty="0" smtClean="0"/>
              <a:t>judicial jurisdiction </a:t>
            </a:r>
            <a:r>
              <a:rPr lang="en-US" sz="4400" dirty="0" smtClean="0"/>
              <a:t>and </a:t>
            </a:r>
            <a:r>
              <a:rPr lang="en-US" sz="4400" b="1" dirty="0" smtClean="0"/>
              <a:t>enforcement and recognition </a:t>
            </a:r>
            <a:r>
              <a:rPr lang="en-US" sz="4400" dirty="0" smtClean="0"/>
              <a:t>rather than on choice of law problems.</a:t>
            </a:r>
          </a:p>
          <a:p>
            <a:pPr algn="just"/>
            <a:r>
              <a:rPr lang="en-US" sz="4400" dirty="0" smtClean="0"/>
              <a:t> So, it is not surprising that in both international and interstate relations there are no many developed choice of law rules regarding divorce.</a:t>
            </a:r>
          </a:p>
          <a:p>
            <a:pPr algn="just"/>
            <a:r>
              <a:rPr lang="en-US" sz="5100" b="1" dirty="0" smtClean="0"/>
              <a:t>I. Grounds of Divorce</a:t>
            </a:r>
          </a:p>
          <a:p>
            <a:pPr algn="just"/>
            <a:r>
              <a:rPr lang="en-US" sz="4400" dirty="0" smtClean="0"/>
              <a:t>There are staggering diversities amongst the family laws regarding  </a:t>
            </a:r>
            <a:r>
              <a:rPr lang="en-US" sz="4400" b="1" dirty="0" smtClean="0"/>
              <a:t>Grounds of divorce</a:t>
            </a:r>
            <a:r>
              <a:rPr lang="en-US" sz="4400" dirty="0" smtClean="0"/>
              <a:t>, at least between the 1960 CC on the one hand and the new family laws on the other hand, choice of law to find the applicable law in case a suit for divorce is instituted is essential.</a:t>
            </a:r>
          </a:p>
          <a:p>
            <a:pPr algn="just"/>
            <a:r>
              <a:rPr lang="en-US" sz="4400" dirty="0" smtClean="0"/>
              <a:t>Explained, while divorce in the 1960 CC is fully based on fault, it is not so in the others. The Tigray Family Law only requires, as it seems, the existence of</a:t>
            </a:r>
            <a:r>
              <a:rPr lang="en-US" sz="4400" b="1" dirty="0" smtClean="0"/>
              <a:t> incompatibility</a:t>
            </a:r>
            <a:r>
              <a:rPr lang="en-US" sz="4400" dirty="0" smtClean="0"/>
              <a:t>.  “When they reach the stage where they can no longer live together.” Art.102 of TFC.</a:t>
            </a:r>
          </a:p>
          <a:p>
            <a:endParaRPr lang="en-US" dirty="0"/>
          </a:p>
        </p:txBody>
      </p:sp>
      <p:sp>
        <p:nvSpPr>
          <p:cNvPr id="4" name="Slide Number Placeholder 3"/>
          <p:cNvSpPr>
            <a:spLocks noGrp="1"/>
          </p:cNvSpPr>
          <p:nvPr>
            <p:ph type="sldNum" sz="quarter" idx="12"/>
          </p:nvPr>
        </p:nvSpPr>
        <p:spPr/>
        <p:txBody>
          <a:bodyPr/>
          <a:lstStyle/>
          <a:p>
            <a:fld id="{BEA013AE-2DA6-41D9-9176-EC7FBE50BA8B}" type="slidenum">
              <a:rPr lang="en-US" smtClean="0"/>
              <a:pPr/>
              <a:t>27</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a:buNone/>
            </a:pPr>
            <a:r>
              <a:rPr lang="en-US" b="1" dirty="0" smtClean="0"/>
              <a:t>  II. Effects of Divorce</a:t>
            </a:r>
          </a:p>
          <a:p>
            <a:r>
              <a:rPr lang="en-US" dirty="0" smtClean="0"/>
              <a:t>Some diversity exists on this matter. </a:t>
            </a:r>
            <a:r>
              <a:rPr lang="en-US" dirty="0" err="1" smtClean="0"/>
              <a:t>Eg</a:t>
            </a:r>
            <a:r>
              <a:rPr lang="en-US" dirty="0" smtClean="0"/>
              <a:t>. On restitution of personal gifts between spouse on divorce. Art.691 of the 1960 Civil code and Art.121 of TFC. While under Civil code gifts given between spouses due to marriage are </a:t>
            </a:r>
            <a:r>
              <a:rPr lang="en-US" dirty="0" err="1" smtClean="0"/>
              <a:t>restitutable</a:t>
            </a:r>
            <a:r>
              <a:rPr lang="en-US" dirty="0" smtClean="0"/>
              <a:t> on divorce , they can’t be so under TFC. This could lead to </a:t>
            </a:r>
            <a:r>
              <a:rPr lang="en-US" dirty="0" err="1" smtClean="0"/>
              <a:t>diffrence</a:t>
            </a:r>
            <a:r>
              <a:rPr lang="en-US" dirty="0" smtClean="0"/>
              <a:t> in out come.</a:t>
            </a:r>
          </a:p>
          <a:p>
            <a:r>
              <a:rPr lang="en-US" dirty="0" smtClean="0"/>
              <a:t>Other Family laws are silent on this issue.</a:t>
            </a:r>
          </a:p>
          <a:p>
            <a:endParaRPr lang="en-US" b="1" dirty="0"/>
          </a:p>
        </p:txBody>
      </p:sp>
      <p:sp>
        <p:nvSpPr>
          <p:cNvPr id="4" name="Slide Number Placeholder 3"/>
          <p:cNvSpPr>
            <a:spLocks noGrp="1"/>
          </p:cNvSpPr>
          <p:nvPr>
            <p:ph type="sldNum" sz="quarter" idx="12"/>
          </p:nvPr>
        </p:nvSpPr>
        <p:spPr/>
        <p:txBody>
          <a:bodyPr/>
          <a:lstStyle/>
          <a:p>
            <a:fld id="{BEA013AE-2DA6-41D9-9176-EC7FBE50BA8B}" type="slidenum">
              <a:rPr lang="en-US" smtClean="0"/>
              <a:pPr/>
              <a:t>28</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b="1" dirty="0" smtClean="0"/>
              <a:t>Choice of Law on substantive issues of Divorce.</a:t>
            </a:r>
          </a:p>
          <a:p>
            <a:r>
              <a:rPr lang="en-US" dirty="0" smtClean="0"/>
              <a:t>There are two choices of law views: the Common Law and the Civil Law.</a:t>
            </a:r>
          </a:p>
          <a:p>
            <a:r>
              <a:rPr lang="en-US" dirty="0" smtClean="0"/>
              <a:t> In the U.S as well as in the Common Wealth the rule is well established that the divorce </a:t>
            </a:r>
            <a:r>
              <a:rPr lang="en-US" b="1" dirty="0" smtClean="0"/>
              <a:t>court applies its own law</a:t>
            </a:r>
            <a:r>
              <a:rPr lang="en-US" dirty="0" smtClean="0"/>
              <a:t> to the substantive requirements of divorce that seems sufficient and reasonable so long as the principle prevailed that the parties’ matrimonial domicile is the basis of jurisdiction. </a:t>
            </a:r>
          </a:p>
          <a:p>
            <a:r>
              <a:rPr lang="en-US" dirty="0" smtClean="0"/>
              <a:t>The second view   has a startling point in almost all laws of the civil law orbit </a:t>
            </a:r>
            <a:r>
              <a:rPr lang="en-US" baseline="30000" dirty="0" smtClean="0"/>
              <a:t>__</a:t>
            </a:r>
            <a:r>
              <a:rPr lang="en-US" b="1" dirty="0" smtClean="0"/>
              <a:t>the parties common personal law applies</a:t>
            </a:r>
            <a:r>
              <a:rPr lang="en-US" dirty="0" smtClean="0"/>
              <a:t>. This is most of the time the last (or the predominantly lived) </a:t>
            </a:r>
            <a:r>
              <a:rPr lang="en-US" b="1" dirty="0" smtClean="0"/>
              <a:t>common domicile of the spouses</a:t>
            </a:r>
            <a:r>
              <a:rPr lang="en-US" dirty="0" smtClean="0"/>
              <a:t>.</a:t>
            </a:r>
          </a:p>
          <a:p>
            <a:endParaRPr lang="en-US" dirty="0"/>
          </a:p>
        </p:txBody>
      </p:sp>
      <p:sp>
        <p:nvSpPr>
          <p:cNvPr id="4" name="Slide Number Placeholder 3"/>
          <p:cNvSpPr>
            <a:spLocks noGrp="1"/>
          </p:cNvSpPr>
          <p:nvPr>
            <p:ph type="sldNum" sz="quarter" idx="12"/>
          </p:nvPr>
        </p:nvSpPr>
        <p:spPr/>
        <p:txBody>
          <a:bodyPr/>
          <a:lstStyle/>
          <a:p>
            <a:fld id="{BEA013AE-2DA6-41D9-9176-EC7FBE50BA8B}" type="slidenum">
              <a:rPr lang="en-US" smtClean="0"/>
              <a:pPr/>
              <a:t>29</a:t>
            </a:fld>
            <a:endParaRPr lang="en-US"/>
          </a:p>
        </p:txBody>
      </p:sp>
      <p:sp>
        <p:nvSpPr>
          <p:cNvPr id="5" name="Footer Placeholder 4"/>
          <p:cNvSpPr>
            <a:spLocks noGrp="1"/>
          </p:cNvSpPr>
          <p:nvPr>
            <p:ph type="ftr" sz="quarter" idx="11"/>
          </p:nvPr>
        </p:nvSpPr>
        <p:spPr/>
        <p:txBody>
          <a:bodyPr/>
          <a:lstStyle/>
          <a:p>
            <a:r>
              <a:rPr lang="en-US" smtClean="0"/>
              <a:t>Conflict of Laws PPT Chapter Eight  Sultan Kassim  HU COL</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sz="3800" b="1" dirty="0" smtClean="0"/>
              <a:t>Which position should be taken in Ethiopia?</a:t>
            </a:r>
          </a:p>
          <a:p>
            <a:r>
              <a:rPr lang="en-US" dirty="0" smtClean="0"/>
              <a:t>The rule that the "law of the matrimonial domicile of the parties’ control" seems proper. Because:</a:t>
            </a:r>
          </a:p>
          <a:p>
            <a:r>
              <a:rPr lang="en-US" dirty="0" smtClean="0"/>
              <a:t>This is the law that is believed to have been accustomed to by the parties. </a:t>
            </a:r>
          </a:p>
          <a:p>
            <a:r>
              <a:rPr lang="en-US" dirty="0" smtClean="0"/>
              <a:t>This is the law the spouses are said to have predominantly connected with or the law of the parties their matrimonial life is predominantly lived. </a:t>
            </a:r>
          </a:p>
          <a:p>
            <a:r>
              <a:rPr lang="en-US" dirty="0" smtClean="0"/>
              <a:t>Therefore, it will not be unfair for either of them to be judged according to the law of the place they were living in. Hence, due process of law is respected.</a:t>
            </a:r>
          </a:p>
          <a:p>
            <a:endParaRPr lang="en-US" dirty="0"/>
          </a:p>
        </p:txBody>
      </p:sp>
      <p:sp>
        <p:nvSpPr>
          <p:cNvPr id="4" name="Footer Placeholder 3"/>
          <p:cNvSpPr>
            <a:spLocks noGrp="1"/>
          </p:cNvSpPr>
          <p:nvPr>
            <p:ph type="ftr" sz="quarter" idx="11"/>
          </p:nvPr>
        </p:nvSpPr>
        <p:spPr/>
        <p:txBody>
          <a:bodyPr/>
          <a:lstStyle/>
          <a:p>
            <a:r>
              <a:rPr lang="en-US" smtClean="0"/>
              <a:t>Conflict of Laws PPT Chapter Eight  Sultan Kassim  HU COL</a:t>
            </a:r>
            <a:endParaRPr lang="en-US"/>
          </a:p>
        </p:txBody>
      </p:sp>
      <p:sp>
        <p:nvSpPr>
          <p:cNvPr id="5" name="Slide Number Placeholder 4"/>
          <p:cNvSpPr>
            <a:spLocks noGrp="1"/>
          </p:cNvSpPr>
          <p:nvPr>
            <p:ph type="sldNum" sz="quarter" idx="12"/>
          </p:nvPr>
        </p:nvSpPr>
        <p:spPr/>
        <p:txBody>
          <a:bodyPr/>
          <a:lstStyle/>
          <a:p>
            <a:fld id="{BEA013AE-2DA6-41D9-9176-EC7FBE50BA8B}"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ctr"/>
            <a:r>
              <a:rPr lang="en-US" dirty="0" smtClean="0">
                <a:solidFill>
                  <a:srgbClr val="0070C0"/>
                </a:solidFill>
              </a:rPr>
              <a:t>End of class But </a:t>
            </a:r>
            <a:r>
              <a:rPr lang="en-US" smtClean="0">
                <a:solidFill>
                  <a:srgbClr val="0070C0"/>
                </a:solidFill>
              </a:rPr>
              <a:t>continued Controversy </a:t>
            </a:r>
            <a:r>
              <a:rPr lang="en-US" dirty="0" smtClean="0">
                <a:solidFill>
                  <a:srgbClr val="0070C0"/>
                </a:solidFill>
              </a:rPr>
              <a:t>on conflict of laws!!!</a:t>
            </a:r>
          </a:p>
          <a:p>
            <a:pPr algn="ctr"/>
            <a:endParaRPr lang="en-US" dirty="0" smtClean="0">
              <a:solidFill>
                <a:srgbClr val="0070C0"/>
              </a:solidFill>
            </a:endParaRPr>
          </a:p>
          <a:p>
            <a:pPr algn="ctr"/>
            <a:r>
              <a:rPr lang="en-US" dirty="0" smtClean="0">
                <a:solidFill>
                  <a:srgbClr val="0070C0"/>
                </a:solidFill>
              </a:rPr>
              <a:t>Thank You </a:t>
            </a:r>
            <a:endParaRPr lang="en-US" dirty="0">
              <a:solidFill>
                <a:srgbClr val="0070C0"/>
              </a:solidFill>
            </a:endParaRPr>
          </a:p>
        </p:txBody>
      </p:sp>
      <p:sp>
        <p:nvSpPr>
          <p:cNvPr id="4" name="Footer Placeholder 3"/>
          <p:cNvSpPr>
            <a:spLocks noGrp="1"/>
          </p:cNvSpPr>
          <p:nvPr>
            <p:ph type="ftr" sz="quarter" idx="11"/>
          </p:nvPr>
        </p:nvSpPr>
        <p:spPr/>
        <p:txBody>
          <a:bodyPr/>
          <a:lstStyle/>
          <a:p>
            <a:r>
              <a:rPr lang="en-US" smtClean="0"/>
              <a:t>Conflict of Laws PPT Chapter Eight  Sultan Kassim  HU COL</a:t>
            </a:r>
            <a:endParaRPr lang="en-US"/>
          </a:p>
        </p:txBody>
      </p:sp>
      <p:sp>
        <p:nvSpPr>
          <p:cNvPr id="5" name="Slide Number Placeholder 4"/>
          <p:cNvSpPr>
            <a:spLocks noGrp="1"/>
          </p:cNvSpPr>
          <p:nvPr>
            <p:ph type="sldNum" sz="quarter" idx="12"/>
          </p:nvPr>
        </p:nvSpPr>
        <p:spPr/>
        <p:txBody>
          <a:bodyPr/>
          <a:lstStyle/>
          <a:p>
            <a:fld id="{BEA013AE-2DA6-41D9-9176-EC7FBE50BA8B}" type="slidenum">
              <a:rPr lang="en-US" smtClean="0"/>
              <a:pPr/>
              <a:t>31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248</TotalTime>
  <Words>3483</Words>
  <Application>Microsoft Office PowerPoint</Application>
  <PresentationFormat>On-screen Show (4:3)</PresentationFormat>
  <Paragraphs>199</Paragraphs>
  <Slides>31</Slides>
  <Notes>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Chapter Eight  Choice of Law Rules Governing Marriage and Divorce </vt:lpstr>
      <vt:lpstr>PowerPoint Presentation</vt:lpstr>
      <vt:lpstr>PowerPoint Presentation</vt:lpstr>
      <vt:lpstr>PowerPoint Presentation</vt:lpstr>
      <vt:lpstr>PowerPoint Presentation</vt:lpstr>
      <vt:lpstr>PowerPoint Presentation</vt:lpstr>
      <vt:lpstr>Issue of Interstate conflict of Family cases in Ethiopia</vt:lpstr>
      <vt:lpstr>PowerPoint Presentation</vt:lpstr>
      <vt:lpstr>PowerPoint Presentation</vt:lpstr>
      <vt:lpstr>Marriage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Choice of Law Rules Governing Divorce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Eight</dc:title>
  <dc:creator>user</dc:creator>
  <cp:lastModifiedBy>Students Union</cp:lastModifiedBy>
  <cp:revision>87</cp:revision>
  <dcterms:created xsi:type="dcterms:W3CDTF">2011-03-10T20:06:09Z</dcterms:created>
  <dcterms:modified xsi:type="dcterms:W3CDTF">2017-12-07T17:39:16Z</dcterms:modified>
</cp:coreProperties>
</file>