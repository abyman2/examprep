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E083CA-C855-4A2F-813D-7FEB8C561A4B}" type="datetimeFigureOut">
              <a:rPr lang="en-US" smtClean="0"/>
              <a:t>3/11/2011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98672B-247B-4C2E-A74F-841DD30DB44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76DD5FE-FF8A-477E-9020-20D40861A972}" type="datetime1">
              <a:rPr lang="en-US" smtClean="0"/>
              <a:t>3/11/2011</a:t>
            </a:fld>
            <a:endParaRPr lang="en-US"/>
          </a:p>
        </p:txBody>
      </p:sp>
      <p:sp>
        <p:nvSpPr>
          <p:cNvPr id="5" name="Footer Placeholder 4"/>
          <p:cNvSpPr>
            <a:spLocks noGrp="1"/>
          </p:cNvSpPr>
          <p:nvPr>
            <p:ph type="ftr" sz="quarter" idx="11"/>
          </p:nvPr>
        </p:nvSpPr>
        <p:spPr/>
        <p:txBody>
          <a:bodyPr/>
          <a:lstStyle/>
          <a:p>
            <a:r>
              <a:rPr lang="en-US" smtClean="0"/>
              <a:t>Conflict of Laws PPT Chapter Seven  Sultan Kssim  HU COL</a:t>
            </a:r>
            <a:endParaRPr lang="en-US"/>
          </a:p>
        </p:txBody>
      </p:sp>
      <p:sp>
        <p:nvSpPr>
          <p:cNvPr id="6" name="Slide Number Placeholder 5"/>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C83A08-832F-4787-A9CD-A938DE2A0D11}" type="datetime1">
              <a:rPr lang="en-US" smtClean="0"/>
              <a:t>3/11/2011</a:t>
            </a:fld>
            <a:endParaRPr lang="en-US"/>
          </a:p>
        </p:txBody>
      </p:sp>
      <p:sp>
        <p:nvSpPr>
          <p:cNvPr id="5" name="Footer Placeholder 4"/>
          <p:cNvSpPr>
            <a:spLocks noGrp="1"/>
          </p:cNvSpPr>
          <p:nvPr>
            <p:ph type="ftr" sz="quarter" idx="11"/>
          </p:nvPr>
        </p:nvSpPr>
        <p:spPr/>
        <p:txBody>
          <a:bodyPr/>
          <a:lstStyle/>
          <a:p>
            <a:r>
              <a:rPr lang="en-US" smtClean="0"/>
              <a:t>Conflict of Laws PPT Chapter Seven  Sultan Kssim  HU COL</a:t>
            </a:r>
            <a:endParaRPr lang="en-US"/>
          </a:p>
        </p:txBody>
      </p:sp>
      <p:sp>
        <p:nvSpPr>
          <p:cNvPr id="6" name="Slide Number Placeholder 5"/>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F6F132D-F7B2-4E56-9ACB-05F6B655A7DB}" type="datetime1">
              <a:rPr lang="en-US" smtClean="0"/>
              <a:t>3/11/2011</a:t>
            </a:fld>
            <a:endParaRPr lang="en-US"/>
          </a:p>
        </p:txBody>
      </p:sp>
      <p:sp>
        <p:nvSpPr>
          <p:cNvPr id="5" name="Footer Placeholder 4"/>
          <p:cNvSpPr>
            <a:spLocks noGrp="1"/>
          </p:cNvSpPr>
          <p:nvPr>
            <p:ph type="ftr" sz="quarter" idx="11"/>
          </p:nvPr>
        </p:nvSpPr>
        <p:spPr/>
        <p:txBody>
          <a:bodyPr/>
          <a:lstStyle/>
          <a:p>
            <a:r>
              <a:rPr lang="en-US" smtClean="0"/>
              <a:t>Conflict of Laws PPT Chapter Seven  Sultan Kssim  HU COL</a:t>
            </a:r>
            <a:endParaRPr lang="en-US"/>
          </a:p>
        </p:txBody>
      </p:sp>
      <p:sp>
        <p:nvSpPr>
          <p:cNvPr id="6" name="Slide Number Placeholder 5"/>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CD87B99-5252-4380-9589-F521578B0244}" type="datetime1">
              <a:rPr lang="en-US" smtClean="0"/>
              <a:t>3/11/2011</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
        <p:nvSpPr>
          <p:cNvPr id="7" name="Slide Number Placeholder 6"/>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8457829-A3D6-4EB0-B087-F82634519EE9}" type="datetime1">
              <a:rPr lang="en-US" smtClean="0"/>
              <a:t>3/11/2011</a:t>
            </a:fld>
            <a:endParaRPr lang="en-US"/>
          </a:p>
        </p:txBody>
      </p:sp>
      <p:sp>
        <p:nvSpPr>
          <p:cNvPr id="8" name="Footer Placeholder 7"/>
          <p:cNvSpPr>
            <a:spLocks noGrp="1"/>
          </p:cNvSpPr>
          <p:nvPr>
            <p:ph type="ftr" sz="quarter" idx="11"/>
          </p:nvPr>
        </p:nvSpPr>
        <p:spPr/>
        <p:txBody>
          <a:bodyPr/>
          <a:lstStyle/>
          <a:p>
            <a:r>
              <a:rPr lang="en-US" smtClean="0"/>
              <a:t>Conflict of Laws PPT Chapter Seven  Sultan Kssim  HU COL</a:t>
            </a:r>
            <a:endParaRPr lang="en-US"/>
          </a:p>
        </p:txBody>
      </p:sp>
      <p:sp>
        <p:nvSpPr>
          <p:cNvPr id="9" name="Slide Number Placeholder 8"/>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3781B6A-FB4C-45F3-A214-4649E32358BE}" type="datetime1">
              <a:rPr lang="en-US" smtClean="0"/>
              <a:t>3/11/2011</a:t>
            </a:fld>
            <a:endParaRPr lang="en-US"/>
          </a:p>
        </p:txBody>
      </p:sp>
      <p:sp>
        <p:nvSpPr>
          <p:cNvPr id="4" name="Footer Placeholder 3"/>
          <p:cNvSpPr>
            <a:spLocks noGrp="1"/>
          </p:cNvSpPr>
          <p:nvPr>
            <p:ph type="ftr" sz="quarter" idx="11"/>
          </p:nvPr>
        </p:nvSpPr>
        <p:spPr/>
        <p:txBody>
          <a:bodyPr/>
          <a:lstStyle/>
          <a:p>
            <a:r>
              <a:rPr lang="en-US" smtClean="0"/>
              <a:t>Conflict of Laws PPT Chapter Seven  Sultan Kssim  HU COL</a:t>
            </a:r>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EB30F0-AD1E-486E-89C9-2A7B79EC497A}" type="datetime1">
              <a:rPr lang="en-US" smtClean="0"/>
              <a:t>3/11/2011</a:t>
            </a:fld>
            <a:endParaRPr lang="en-US"/>
          </a:p>
        </p:txBody>
      </p:sp>
      <p:sp>
        <p:nvSpPr>
          <p:cNvPr id="3" name="Footer Placeholder 2"/>
          <p:cNvSpPr>
            <a:spLocks noGrp="1"/>
          </p:cNvSpPr>
          <p:nvPr>
            <p:ph type="ftr" sz="quarter" idx="11"/>
          </p:nvPr>
        </p:nvSpPr>
        <p:spPr/>
        <p:txBody>
          <a:bodyPr/>
          <a:lstStyle/>
          <a:p>
            <a:r>
              <a:rPr lang="en-US" smtClean="0"/>
              <a:t>Conflict of Laws PPT Chapter Seven  Sultan Kssim  HU COL</a:t>
            </a:r>
            <a:endParaRPr lang="en-US"/>
          </a:p>
        </p:txBody>
      </p:sp>
      <p:sp>
        <p:nvSpPr>
          <p:cNvPr id="4" name="Slide Number Placeholder 3"/>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D98BCE-AD82-4F27-AF02-03EA3FAAEA33}" type="datetime1">
              <a:rPr lang="en-US" smtClean="0"/>
              <a:t>3/11/2011</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
        <p:nvSpPr>
          <p:cNvPr id="7" name="Slide Number Placeholder 6"/>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200B80-BA06-4D3D-9061-2F15DB375E26}" type="datetime1">
              <a:rPr lang="en-US" smtClean="0"/>
              <a:t>3/11/2011</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
        <p:nvSpPr>
          <p:cNvPr id="7" name="Slide Number Placeholder 6"/>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3F8E3B-FF9C-4D7B-A530-07D9FA53D895}" type="datetime1">
              <a:rPr lang="en-US" smtClean="0"/>
              <a:t>3/11/2011</a:t>
            </a:fld>
            <a:endParaRPr lang="en-US"/>
          </a:p>
        </p:txBody>
      </p:sp>
      <p:sp>
        <p:nvSpPr>
          <p:cNvPr id="5" name="Footer Placeholder 4"/>
          <p:cNvSpPr>
            <a:spLocks noGrp="1"/>
          </p:cNvSpPr>
          <p:nvPr>
            <p:ph type="ftr" sz="quarter" idx="11"/>
          </p:nvPr>
        </p:nvSpPr>
        <p:spPr/>
        <p:txBody>
          <a:bodyPr/>
          <a:lstStyle/>
          <a:p>
            <a:r>
              <a:rPr lang="en-US" smtClean="0"/>
              <a:t>Conflict of Laws PPT Chapter Seven  Sultan Kssim  HU COL</a:t>
            </a:r>
            <a:endParaRPr lang="en-US"/>
          </a:p>
        </p:txBody>
      </p:sp>
      <p:sp>
        <p:nvSpPr>
          <p:cNvPr id="6" name="Slide Number Placeholder 5"/>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0B9C447-0B5B-4BC3-9A76-6360818916A3}" type="datetime1">
              <a:rPr lang="en-US" smtClean="0"/>
              <a:t>3/11/2011</a:t>
            </a:fld>
            <a:endParaRPr lang="en-US"/>
          </a:p>
        </p:txBody>
      </p:sp>
      <p:sp>
        <p:nvSpPr>
          <p:cNvPr id="5" name="Footer Placeholder 4"/>
          <p:cNvSpPr>
            <a:spLocks noGrp="1"/>
          </p:cNvSpPr>
          <p:nvPr>
            <p:ph type="ftr" sz="quarter" idx="11"/>
          </p:nvPr>
        </p:nvSpPr>
        <p:spPr/>
        <p:txBody>
          <a:bodyPr/>
          <a:lstStyle/>
          <a:p>
            <a:r>
              <a:rPr lang="en-US" smtClean="0"/>
              <a:t>Conflict of Laws PPT Chapter Seven  Sultan Kssim  HU COL</a:t>
            </a:r>
            <a:endParaRPr lang="en-US"/>
          </a:p>
        </p:txBody>
      </p:sp>
      <p:sp>
        <p:nvSpPr>
          <p:cNvPr id="6" name="Slide Number Placeholder 5"/>
          <p:cNvSpPr>
            <a:spLocks noGrp="1"/>
          </p:cNvSpPr>
          <p:nvPr>
            <p:ph type="sldNum" sz="quarter" idx="12"/>
          </p:nvPr>
        </p:nvSpPr>
        <p:spPr/>
        <p:txBody>
          <a:bodyPr/>
          <a:lstStyle/>
          <a:p>
            <a:fld id="{A4114856-916E-44B8-9292-F16EE84A504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A8D58D-6D5C-4FBE-A02C-3BB158571693}" type="datetime1">
              <a:rPr lang="en-US" smtClean="0"/>
              <a:t>3/11/2011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Conflict of Laws PPT Chapter Seven  Sultan Kssim  HU COL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114856-916E-44B8-9292-F16EE84A504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984375"/>
          </a:xfrm>
        </p:spPr>
        <p:txBody>
          <a:bodyPr>
            <a:normAutofit fontScale="90000"/>
          </a:bodyPr>
          <a:lstStyle/>
          <a:p>
            <a:r>
              <a:rPr lang="en-US" dirty="0" smtClean="0"/>
              <a:t>Chapter Seven</a:t>
            </a:r>
            <a:br>
              <a:rPr lang="en-US" dirty="0" smtClean="0"/>
            </a:br>
            <a:r>
              <a:rPr lang="en-US" dirty="0" smtClean="0"/>
              <a:t>Choice of law Rules Governing Property</a:t>
            </a:r>
            <a:endParaRPr lang="en-US" dirty="0"/>
          </a:p>
        </p:txBody>
      </p:sp>
      <p:sp>
        <p:nvSpPr>
          <p:cNvPr id="3" name="Subtitle 2"/>
          <p:cNvSpPr>
            <a:spLocks noGrp="1"/>
          </p:cNvSpPr>
          <p:nvPr>
            <p:ph type="subTitle" idx="1"/>
          </p:nvPr>
        </p:nvSpPr>
        <p:spPr>
          <a:xfrm>
            <a:off x="1371600" y="4724400"/>
            <a:ext cx="6400800" cy="914400"/>
          </a:xfrm>
        </p:spPr>
        <p:txBody>
          <a:bodyPr/>
          <a:lstStyle/>
          <a:p>
            <a:endParaRPr lang="en-US" dirty="0"/>
          </a:p>
        </p:txBody>
      </p:sp>
      <p:sp>
        <p:nvSpPr>
          <p:cNvPr id="4" name="Date Placeholder 3"/>
          <p:cNvSpPr>
            <a:spLocks noGrp="1"/>
          </p:cNvSpPr>
          <p:nvPr>
            <p:ph type="dt" sz="half" idx="10"/>
          </p:nvPr>
        </p:nvSpPr>
        <p:spPr/>
        <p:txBody>
          <a:bodyPr/>
          <a:lstStyle/>
          <a:p>
            <a:fld id="{AE9961FE-CC97-4005-8A8F-208B40739B9F}"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1</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a:t>Property rights are areas of law where the sovereignty of the state in which the property situated is most jealously guarded</a:t>
            </a:r>
            <a:r>
              <a:rPr lang="en-US" dirty="0" smtClean="0"/>
              <a:t>.</a:t>
            </a:r>
          </a:p>
          <a:p>
            <a:r>
              <a:rPr lang="en-US" dirty="0" smtClean="0"/>
              <a:t> </a:t>
            </a:r>
            <a:r>
              <a:rPr lang="en-US" dirty="0"/>
              <a:t>Thus, we will see how the </a:t>
            </a:r>
            <a:r>
              <a:rPr lang="en-US" b="1" dirty="0"/>
              <a:t>law of the place of </a:t>
            </a:r>
            <a:r>
              <a:rPr lang="en-US" b="1" dirty="0" err="1"/>
              <a:t>situs</a:t>
            </a:r>
            <a:r>
              <a:rPr lang="en-US" b="1" dirty="0"/>
              <a:t> </a:t>
            </a:r>
            <a:r>
              <a:rPr lang="en-US" dirty="0"/>
              <a:t>affects</a:t>
            </a:r>
            <a:r>
              <a:rPr lang="en-US" b="1" dirty="0"/>
              <a:t> </a:t>
            </a:r>
            <a:r>
              <a:rPr lang="en-US" dirty="0"/>
              <a:t>the status of the property and the different types of transactions on properties that call for choice of law</a:t>
            </a:r>
            <a:r>
              <a:rPr lang="en-US" dirty="0" smtClean="0"/>
              <a:t>. </a:t>
            </a:r>
            <a:r>
              <a:rPr lang="en-US" dirty="0" err="1" smtClean="0"/>
              <a:t>i.e</a:t>
            </a:r>
            <a:r>
              <a:rPr lang="en-US" dirty="0" smtClean="0"/>
              <a:t> </a:t>
            </a:r>
            <a:r>
              <a:rPr lang="en-US" dirty="0"/>
              <a:t>conveyances and </a:t>
            </a:r>
            <a:r>
              <a:rPr lang="en-US" dirty="0" smtClean="0"/>
              <a:t>encumbrances, and successions.</a:t>
            </a:r>
          </a:p>
          <a:p>
            <a:endParaRPr lang="en-US" dirty="0"/>
          </a:p>
        </p:txBody>
      </p:sp>
      <p:sp>
        <p:nvSpPr>
          <p:cNvPr id="4" name="Date Placeholder 3"/>
          <p:cNvSpPr>
            <a:spLocks noGrp="1"/>
          </p:cNvSpPr>
          <p:nvPr>
            <p:ph type="dt" sz="half" idx="10"/>
          </p:nvPr>
        </p:nvSpPr>
        <p:spPr/>
        <p:txBody>
          <a:bodyPr/>
          <a:lstStyle/>
          <a:p>
            <a:fld id="{CCBB5BCE-AF71-4C70-A435-3584073DA7E1}"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t>7.1. General </a:t>
            </a:r>
            <a:r>
              <a:rPr lang="en-US" sz="3600" b="1" dirty="0"/>
              <a:t>Rules Governing Choice of Law In Property</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a:t>
            </a:r>
            <a:r>
              <a:rPr lang="en-US" dirty="0"/>
              <a:t>object of the law of property is to provide a </a:t>
            </a:r>
            <a:r>
              <a:rPr lang="en-US" b="1" dirty="0"/>
              <a:t>secure foundation</a:t>
            </a:r>
            <a:r>
              <a:rPr lang="en-US" dirty="0"/>
              <a:t> so far as the law can do it, for the acquisition, enjoyment and disposal of wealth and that property of all type should be considered as </a:t>
            </a:r>
            <a:r>
              <a:rPr lang="en-US" dirty="0" smtClean="0"/>
              <a:t>value.</a:t>
            </a:r>
          </a:p>
          <a:p>
            <a:r>
              <a:rPr lang="en-US" dirty="0"/>
              <a:t>As long as the state recognizes private property it must try to guarantee the security of property transactions</a:t>
            </a:r>
            <a:r>
              <a:rPr lang="en-US" dirty="0" smtClean="0"/>
              <a:t>.</a:t>
            </a:r>
          </a:p>
          <a:p>
            <a:r>
              <a:rPr lang="en-US" dirty="0" smtClean="0"/>
              <a:t>The </a:t>
            </a:r>
            <a:r>
              <a:rPr lang="en-US" dirty="0"/>
              <a:t>appropriate questions that should be addressed in conflict of laws rules dealing with property are: </a:t>
            </a:r>
            <a:endParaRPr lang="en-US" dirty="0" smtClean="0"/>
          </a:p>
          <a:p>
            <a:pPr lvl="1"/>
            <a:r>
              <a:rPr lang="en-US" dirty="0" smtClean="0"/>
              <a:t>what </a:t>
            </a:r>
            <a:r>
              <a:rPr lang="en-US" dirty="0"/>
              <a:t>law governs the creation, transfer and effect of property right</a:t>
            </a:r>
            <a:r>
              <a:rPr lang="en-US" dirty="0" smtClean="0"/>
              <a:t>?</a:t>
            </a:r>
          </a:p>
          <a:p>
            <a:pPr lvl="1"/>
            <a:r>
              <a:rPr lang="en-US" dirty="0" smtClean="0"/>
              <a:t> </a:t>
            </a:r>
            <a:r>
              <a:rPr lang="en-US" dirty="0"/>
              <a:t>Which law should determine whether the property should be considered as movable or immovable? </a:t>
            </a:r>
            <a:endParaRPr lang="en-US" dirty="0" smtClean="0"/>
          </a:p>
          <a:p>
            <a:pPr lvl="1"/>
            <a:r>
              <a:rPr lang="en-US" dirty="0" smtClean="0"/>
              <a:t>Are </a:t>
            </a:r>
            <a:r>
              <a:rPr lang="en-US" dirty="0" err="1"/>
              <a:t>immovables</a:t>
            </a:r>
            <a:r>
              <a:rPr lang="en-US" dirty="0"/>
              <a:t> and movables subject to the same law</a:t>
            </a:r>
            <a:r>
              <a:rPr lang="en-US" dirty="0" smtClean="0"/>
              <a:t>? And the like.</a:t>
            </a:r>
            <a:endParaRPr lang="en-US" dirty="0"/>
          </a:p>
          <a:p>
            <a:endParaRPr lang="en-US" dirty="0"/>
          </a:p>
        </p:txBody>
      </p:sp>
      <p:sp>
        <p:nvSpPr>
          <p:cNvPr id="4" name="Date Placeholder 3"/>
          <p:cNvSpPr>
            <a:spLocks noGrp="1"/>
          </p:cNvSpPr>
          <p:nvPr>
            <p:ph type="dt" sz="half" idx="10"/>
          </p:nvPr>
        </p:nvSpPr>
        <p:spPr/>
        <p:txBody>
          <a:bodyPr/>
          <a:lstStyle/>
          <a:p>
            <a:fld id="{3B45BF04-151B-4169-BF16-9A1D557913B0}"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General Rules governing Property </a:t>
            </a:r>
            <a:r>
              <a:rPr lang="en-US" sz="3200" b="1" dirty="0" err="1" smtClean="0"/>
              <a:t>contd</a:t>
            </a:r>
            <a:r>
              <a:rPr lang="en-US" sz="3200" b="1" dirty="0" smtClean="0"/>
              <a:t>…</a:t>
            </a:r>
            <a:endParaRPr lang="en-US" sz="3200" dirty="0"/>
          </a:p>
        </p:txBody>
      </p:sp>
      <p:sp>
        <p:nvSpPr>
          <p:cNvPr id="3" name="Content Placeholder 2"/>
          <p:cNvSpPr>
            <a:spLocks noGrp="1"/>
          </p:cNvSpPr>
          <p:nvPr>
            <p:ph idx="1"/>
          </p:nvPr>
        </p:nvSpPr>
        <p:spPr/>
        <p:txBody>
          <a:bodyPr>
            <a:normAutofit fontScale="55000" lnSpcReduction="20000"/>
          </a:bodyPr>
          <a:lstStyle/>
          <a:p>
            <a:r>
              <a:rPr lang="en-US" dirty="0" smtClean="0"/>
              <a:t>Both </a:t>
            </a:r>
            <a:r>
              <a:rPr lang="en-US" dirty="0" err="1"/>
              <a:t>immovables</a:t>
            </a:r>
            <a:r>
              <a:rPr lang="en-US" dirty="0"/>
              <a:t> and movables are governed by </a:t>
            </a:r>
            <a:r>
              <a:rPr lang="en-US" b="1" dirty="0"/>
              <a:t>the </a:t>
            </a:r>
            <a:r>
              <a:rPr lang="en-US" b="1" i="1" dirty="0" err="1"/>
              <a:t>lex</a:t>
            </a:r>
            <a:r>
              <a:rPr lang="en-US" b="1" i="1" dirty="0"/>
              <a:t> </a:t>
            </a:r>
            <a:r>
              <a:rPr lang="en-US" b="1" i="1" dirty="0" err="1"/>
              <a:t>rei</a:t>
            </a:r>
            <a:r>
              <a:rPr lang="en-US" b="1" i="1" dirty="0"/>
              <a:t> </a:t>
            </a:r>
            <a:r>
              <a:rPr lang="en-US" b="1" i="1" dirty="0" err="1"/>
              <a:t>sitate</a:t>
            </a:r>
            <a:r>
              <a:rPr lang="en-US" i="1" dirty="0"/>
              <a:t>, i.e., the law of the state in which the properties are situated</a:t>
            </a:r>
            <a:r>
              <a:rPr lang="en-US" i="1" dirty="0" smtClean="0"/>
              <a:t>.</a:t>
            </a:r>
          </a:p>
          <a:p>
            <a:r>
              <a:rPr lang="en-US" dirty="0" smtClean="0"/>
              <a:t>The </a:t>
            </a:r>
            <a:r>
              <a:rPr lang="en-US" dirty="0"/>
              <a:t>definition of what properties are movable or immovable   is different from country to </a:t>
            </a:r>
            <a:r>
              <a:rPr lang="en-US" dirty="0" smtClean="0"/>
              <a:t>country.</a:t>
            </a:r>
          </a:p>
          <a:p>
            <a:r>
              <a:rPr lang="en-US" dirty="0" smtClean="0"/>
              <a:t>In </a:t>
            </a:r>
            <a:r>
              <a:rPr lang="en-US" dirty="0"/>
              <a:t>accordance to which law should we determine whether the property involved is movable or </a:t>
            </a:r>
            <a:r>
              <a:rPr lang="en-US" dirty="0" smtClean="0"/>
              <a:t>immovable?</a:t>
            </a:r>
          </a:p>
          <a:p>
            <a:r>
              <a:rPr lang="en-US" dirty="0" smtClean="0"/>
              <a:t> </a:t>
            </a:r>
            <a:r>
              <a:rPr lang="en-US" dirty="0"/>
              <a:t>Authorities and the jurisprudence of many countries hold that </a:t>
            </a:r>
            <a:r>
              <a:rPr lang="en-US" b="1" dirty="0"/>
              <a:t>the </a:t>
            </a:r>
            <a:r>
              <a:rPr lang="en-US" b="1" i="1" dirty="0" err="1"/>
              <a:t>lex</a:t>
            </a:r>
            <a:r>
              <a:rPr lang="en-US" b="1" i="1" dirty="0"/>
              <a:t> </a:t>
            </a:r>
            <a:r>
              <a:rPr lang="en-US" b="1" i="1" dirty="0" err="1"/>
              <a:t>situs</a:t>
            </a:r>
            <a:r>
              <a:rPr lang="en-US" b="1" dirty="0"/>
              <a:t> decides whether the property is movable or immovable.</a:t>
            </a:r>
            <a:r>
              <a:rPr lang="en-US" dirty="0"/>
              <a:t> </a:t>
            </a:r>
            <a:r>
              <a:rPr lang="en-US" dirty="0" smtClean="0"/>
              <a:t>Not the </a:t>
            </a:r>
            <a:r>
              <a:rPr lang="en-US" dirty="0" err="1" smtClean="0"/>
              <a:t>lex</a:t>
            </a:r>
            <a:r>
              <a:rPr lang="en-US" dirty="0" smtClean="0"/>
              <a:t> </a:t>
            </a:r>
            <a:r>
              <a:rPr lang="en-US" dirty="0" err="1" smtClean="0"/>
              <a:t>fori</a:t>
            </a:r>
            <a:r>
              <a:rPr lang="en-US" dirty="0" smtClean="0"/>
              <a:t>.</a:t>
            </a:r>
          </a:p>
          <a:p>
            <a:r>
              <a:rPr lang="en-US" dirty="0" smtClean="0"/>
              <a:t>It is submitted that </a:t>
            </a:r>
            <a:r>
              <a:rPr lang="en-US" b="1" dirty="0" smtClean="0"/>
              <a:t>law of the </a:t>
            </a:r>
            <a:r>
              <a:rPr lang="en-US" b="1" dirty="0" err="1" smtClean="0"/>
              <a:t>situs</a:t>
            </a:r>
            <a:r>
              <a:rPr lang="en-US" b="1" dirty="0" smtClean="0"/>
              <a:t> </a:t>
            </a:r>
            <a:r>
              <a:rPr lang="en-US" dirty="0" smtClean="0"/>
              <a:t>should be quite broad and should include all questions related to </a:t>
            </a:r>
            <a:r>
              <a:rPr lang="en-US" b="1" dirty="0" smtClean="0"/>
              <a:t>capacity and formal requirements </a:t>
            </a:r>
            <a:r>
              <a:rPr lang="en-US" dirty="0" smtClean="0"/>
              <a:t>for the transaction. </a:t>
            </a:r>
          </a:p>
          <a:p>
            <a:r>
              <a:rPr lang="en-US" b="1" dirty="0" smtClean="0"/>
              <a:t>The </a:t>
            </a:r>
            <a:r>
              <a:rPr lang="en-US" b="1" dirty="0"/>
              <a:t>rationale behind </a:t>
            </a:r>
            <a:r>
              <a:rPr lang="en-US" dirty="0"/>
              <a:t>this assertion </a:t>
            </a:r>
            <a:r>
              <a:rPr lang="en-US" dirty="0" smtClean="0"/>
              <a:t>are</a:t>
            </a:r>
          </a:p>
          <a:p>
            <a:pPr lvl="1"/>
            <a:r>
              <a:rPr lang="en-US" dirty="0" smtClean="0"/>
              <a:t>The </a:t>
            </a:r>
            <a:r>
              <a:rPr lang="en-US" i="1" dirty="0" err="1"/>
              <a:t>sius</a:t>
            </a:r>
            <a:r>
              <a:rPr lang="en-US" dirty="0"/>
              <a:t>   has the greatest interest in deciding who shall own a property situated in its territory. </a:t>
            </a:r>
            <a:endParaRPr lang="en-US" dirty="0" smtClean="0"/>
          </a:p>
          <a:p>
            <a:pPr lvl="1"/>
            <a:r>
              <a:rPr lang="en-US" dirty="0" smtClean="0"/>
              <a:t>Parties </a:t>
            </a:r>
            <a:r>
              <a:rPr lang="en-US" dirty="0"/>
              <a:t>dealing with the property would be likely to look to the law of the </a:t>
            </a:r>
            <a:r>
              <a:rPr lang="en-US" dirty="0" err="1"/>
              <a:t>situs</a:t>
            </a:r>
            <a:r>
              <a:rPr lang="en-US" dirty="0"/>
              <a:t> </a:t>
            </a:r>
            <a:r>
              <a:rPr lang="en-US" dirty="0" smtClean="0"/>
              <a:t>if </a:t>
            </a:r>
            <a:r>
              <a:rPr lang="en-US" dirty="0"/>
              <a:t>they looked at any law at all. </a:t>
            </a:r>
            <a:endParaRPr lang="en-US" dirty="0" smtClean="0"/>
          </a:p>
          <a:p>
            <a:pPr lvl="1"/>
            <a:r>
              <a:rPr lang="en-US" dirty="0" smtClean="0"/>
              <a:t>More </a:t>
            </a:r>
            <a:r>
              <a:rPr lang="en-US" dirty="0"/>
              <a:t>over the </a:t>
            </a:r>
            <a:r>
              <a:rPr lang="en-US" dirty="0" err="1"/>
              <a:t>situs</a:t>
            </a:r>
            <a:r>
              <a:rPr lang="en-US" dirty="0"/>
              <a:t> has an interest in regulating the security of transaction of property situated there.</a:t>
            </a:r>
          </a:p>
          <a:p>
            <a:endParaRPr lang="en-US" dirty="0"/>
          </a:p>
        </p:txBody>
      </p:sp>
      <p:sp>
        <p:nvSpPr>
          <p:cNvPr id="4" name="Date Placeholder 3"/>
          <p:cNvSpPr>
            <a:spLocks noGrp="1"/>
          </p:cNvSpPr>
          <p:nvPr>
            <p:ph type="dt" sz="half" idx="10"/>
          </p:nvPr>
        </p:nvSpPr>
        <p:spPr/>
        <p:txBody>
          <a:bodyPr/>
          <a:lstStyle/>
          <a:p>
            <a:fld id="{751C52CE-8955-4004-9780-FCA5400F28BC}"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7.2. Particular </a:t>
            </a:r>
            <a:r>
              <a:rPr lang="en-US" sz="2800" b="1" dirty="0"/>
              <a:t>Rules Governing Dealings With Movable and Immovable</a:t>
            </a:r>
            <a:endParaRPr lang="en-US" sz="2800" dirty="0"/>
          </a:p>
        </p:txBody>
      </p:sp>
      <p:sp>
        <p:nvSpPr>
          <p:cNvPr id="3" name="Content Placeholder 2"/>
          <p:cNvSpPr>
            <a:spLocks noGrp="1"/>
          </p:cNvSpPr>
          <p:nvPr>
            <p:ph idx="1"/>
          </p:nvPr>
        </p:nvSpPr>
        <p:spPr/>
        <p:txBody>
          <a:bodyPr>
            <a:normAutofit fontScale="55000" lnSpcReduction="20000"/>
          </a:bodyPr>
          <a:lstStyle/>
          <a:p>
            <a:r>
              <a:rPr lang="en-US" dirty="0" smtClean="0"/>
              <a:t>The two specific areas under consideration are: </a:t>
            </a:r>
            <a:r>
              <a:rPr lang="en-US" dirty="0"/>
              <a:t>c</a:t>
            </a:r>
            <a:r>
              <a:rPr lang="en-US" dirty="0" smtClean="0"/>
              <a:t>onveyances and encumbrances</a:t>
            </a:r>
          </a:p>
          <a:p>
            <a:r>
              <a:rPr lang="en-US" sz="4500" b="1" dirty="0" smtClean="0"/>
              <a:t> I. Rules Governing Conveyances  of Immovable</a:t>
            </a:r>
          </a:p>
          <a:p>
            <a:r>
              <a:rPr lang="en-US" dirty="0" smtClean="0"/>
              <a:t>Transfer </a:t>
            </a:r>
            <a:r>
              <a:rPr lang="en-US" dirty="0"/>
              <a:t>of rights in immovable property may occur by a contract interred between the parties in which case it is called </a:t>
            </a:r>
            <a:r>
              <a:rPr lang="en-US" dirty="0" smtClean="0"/>
              <a:t>conveyance. </a:t>
            </a:r>
          </a:p>
          <a:p>
            <a:r>
              <a:rPr lang="en-US" dirty="0"/>
              <a:t>In </a:t>
            </a:r>
            <a:r>
              <a:rPr lang="en-US" dirty="0" smtClean="0"/>
              <a:t>America </a:t>
            </a:r>
            <a:r>
              <a:rPr lang="en-US" dirty="0"/>
              <a:t>and in European countries, the general rule is that the </a:t>
            </a:r>
            <a:r>
              <a:rPr lang="en-US" i="1" dirty="0" err="1"/>
              <a:t>lex</a:t>
            </a:r>
            <a:r>
              <a:rPr lang="en-US" i="1" dirty="0"/>
              <a:t> </a:t>
            </a:r>
            <a:r>
              <a:rPr lang="en-US" i="1" dirty="0" err="1"/>
              <a:t>situs</a:t>
            </a:r>
            <a:r>
              <a:rPr lang="en-US" dirty="0"/>
              <a:t> </a:t>
            </a:r>
            <a:r>
              <a:rPr lang="en-US" b="1" dirty="0"/>
              <a:t>is the governing law for all questions that arise with regard to immovable </a:t>
            </a:r>
            <a:r>
              <a:rPr lang="en-US" dirty="0"/>
              <a:t>property. </a:t>
            </a:r>
            <a:r>
              <a:rPr lang="en-US" dirty="0" smtClean="0"/>
              <a:t> Such as:</a:t>
            </a:r>
          </a:p>
          <a:p>
            <a:pPr lvl="1"/>
            <a:r>
              <a:rPr lang="en-US" dirty="0" smtClean="0"/>
              <a:t>the capacity of the parties in conveyance,</a:t>
            </a:r>
          </a:p>
          <a:p>
            <a:pPr lvl="1"/>
            <a:r>
              <a:rPr lang="en-US" dirty="0" smtClean="0"/>
              <a:t> the formal validity of the conveyance, </a:t>
            </a:r>
          </a:p>
          <a:p>
            <a:pPr lvl="1"/>
            <a:r>
              <a:rPr lang="en-US" dirty="0" smtClean="0"/>
              <a:t>the validity of the conveyance in other respects, and </a:t>
            </a:r>
          </a:p>
          <a:p>
            <a:pPr lvl="1"/>
            <a:r>
              <a:rPr lang="en-US" dirty="0" smtClean="0"/>
              <a:t>the nature of the interest transferred. </a:t>
            </a:r>
          </a:p>
          <a:p>
            <a:r>
              <a:rPr lang="en-US" b="1" dirty="0" smtClean="0"/>
              <a:t>Exception</a:t>
            </a:r>
            <a:r>
              <a:rPr lang="en-US" dirty="0" smtClean="0"/>
              <a:t>: when the local law of the </a:t>
            </a:r>
            <a:r>
              <a:rPr lang="en-US" dirty="0" err="1"/>
              <a:t>s</a:t>
            </a:r>
            <a:r>
              <a:rPr lang="en-US" dirty="0" err="1" smtClean="0"/>
              <a:t>itus</a:t>
            </a:r>
            <a:r>
              <a:rPr lang="en-US" dirty="0" smtClean="0"/>
              <a:t> feels that another state has stronger connection to the property than the </a:t>
            </a:r>
            <a:r>
              <a:rPr lang="en-US" dirty="0" err="1" smtClean="0"/>
              <a:t>situs</a:t>
            </a:r>
            <a:r>
              <a:rPr lang="en-US" dirty="0" smtClean="0"/>
              <a:t>.</a:t>
            </a:r>
          </a:p>
          <a:p>
            <a:r>
              <a:rPr lang="en-US" dirty="0" smtClean="0"/>
              <a:t>When the rules of capacity if the </a:t>
            </a:r>
            <a:r>
              <a:rPr lang="en-US" dirty="0" err="1" smtClean="0"/>
              <a:t>situs</a:t>
            </a:r>
            <a:r>
              <a:rPr lang="en-US" dirty="0" smtClean="0"/>
              <a:t> are not meant to apply other than on domiciliary.</a:t>
            </a:r>
            <a:endParaRPr lang="en-US" dirty="0"/>
          </a:p>
          <a:p>
            <a:pPr lvl="1"/>
            <a:endParaRPr lang="en-US" dirty="0"/>
          </a:p>
        </p:txBody>
      </p:sp>
      <p:sp>
        <p:nvSpPr>
          <p:cNvPr id="4" name="Date Placeholder 3"/>
          <p:cNvSpPr>
            <a:spLocks noGrp="1"/>
          </p:cNvSpPr>
          <p:nvPr>
            <p:ph type="dt" sz="half" idx="10"/>
          </p:nvPr>
        </p:nvSpPr>
        <p:spPr/>
        <p:txBody>
          <a:bodyPr/>
          <a:lstStyle/>
          <a:p>
            <a:fld id="{B3D70EE1-9FDC-4E9A-85F3-75BF26445965}"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sz="4700" b="1" dirty="0" smtClean="0"/>
              <a:t>II. Rules </a:t>
            </a:r>
            <a:r>
              <a:rPr lang="en-US" sz="4700" b="1" dirty="0"/>
              <a:t>Governing Conveyance of Rights  in  Movables</a:t>
            </a:r>
            <a:endParaRPr lang="en-US" sz="4700" dirty="0"/>
          </a:p>
          <a:p>
            <a:r>
              <a:rPr lang="en-US" dirty="0"/>
              <a:t>Movable properties are classified in </a:t>
            </a:r>
            <a:r>
              <a:rPr lang="en-US" dirty="0" smtClean="0"/>
              <a:t>to:</a:t>
            </a:r>
          </a:p>
          <a:p>
            <a:pPr lvl="1"/>
            <a:r>
              <a:rPr lang="en-US" dirty="0" smtClean="0"/>
              <a:t>Corporeal chattels ( </a:t>
            </a:r>
            <a:r>
              <a:rPr lang="en-US" dirty="0" err="1" smtClean="0"/>
              <a:t>Choses</a:t>
            </a:r>
            <a:r>
              <a:rPr lang="en-US" dirty="0" smtClean="0"/>
              <a:t> in </a:t>
            </a:r>
            <a:r>
              <a:rPr lang="en-US" dirty="0" err="1" smtClean="0"/>
              <a:t>pocession</a:t>
            </a:r>
            <a:r>
              <a:rPr lang="en-US" dirty="0" smtClean="0"/>
              <a:t>)</a:t>
            </a:r>
          </a:p>
          <a:p>
            <a:pPr lvl="1"/>
            <a:r>
              <a:rPr lang="en-US" dirty="0" smtClean="0"/>
              <a:t>and </a:t>
            </a:r>
            <a:r>
              <a:rPr lang="en-US" dirty="0"/>
              <a:t>incorporeal </a:t>
            </a:r>
            <a:r>
              <a:rPr lang="en-US" dirty="0" smtClean="0"/>
              <a:t>chattels ( </a:t>
            </a:r>
            <a:r>
              <a:rPr lang="en-US" dirty="0" err="1" smtClean="0"/>
              <a:t>Choses</a:t>
            </a:r>
            <a:r>
              <a:rPr lang="en-US" dirty="0" smtClean="0"/>
              <a:t> in action) </a:t>
            </a:r>
          </a:p>
          <a:p>
            <a:r>
              <a:rPr lang="en-US" dirty="0"/>
              <a:t>D</a:t>
            </a:r>
            <a:r>
              <a:rPr lang="en-US" dirty="0" smtClean="0"/>
              <a:t>ifferent </a:t>
            </a:r>
            <a:r>
              <a:rPr lang="en-US" dirty="0"/>
              <a:t>rules apply to these categories of movable </a:t>
            </a:r>
            <a:r>
              <a:rPr lang="en-US" dirty="0" smtClean="0"/>
              <a:t>property.</a:t>
            </a:r>
          </a:p>
          <a:p>
            <a:pPr marL="514350" lvl="0" indent="-514350">
              <a:buAutoNum type="arabicPeriod"/>
            </a:pPr>
            <a:r>
              <a:rPr lang="en-US" b="1" i="1" dirty="0" smtClean="0"/>
              <a:t>Rules </a:t>
            </a:r>
            <a:r>
              <a:rPr lang="en-US" b="1" i="1" dirty="0"/>
              <a:t>Governing Transfer of </a:t>
            </a:r>
            <a:r>
              <a:rPr lang="en-US" b="1" i="1" dirty="0" err="1"/>
              <a:t>Choses</a:t>
            </a:r>
            <a:r>
              <a:rPr lang="en-US" b="1" i="1" dirty="0"/>
              <a:t> in </a:t>
            </a:r>
            <a:r>
              <a:rPr lang="en-US" b="1" i="1" dirty="0" smtClean="0"/>
              <a:t>Possession</a:t>
            </a:r>
          </a:p>
          <a:p>
            <a:r>
              <a:rPr lang="en-US" dirty="0" smtClean="0"/>
              <a:t>In </a:t>
            </a:r>
            <a:r>
              <a:rPr lang="en-US" dirty="0"/>
              <a:t>this regard mention should be made of the doctrines of </a:t>
            </a:r>
            <a:r>
              <a:rPr lang="en-US" i="1" dirty="0" err="1"/>
              <a:t>lex</a:t>
            </a:r>
            <a:r>
              <a:rPr lang="en-US" i="1" dirty="0"/>
              <a:t> </a:t>
            </a:r>
            <a:r>
              <a:rPr lang="en-US" i="1" dirty="0" err="1"/>
              <a:t>domicili</a:t>
            </a:r>
            <a:r>
              <a:rPr lang="en-US" i="1" dirty="0"/>
              <a:t>, the </a:t>
            </a:r>
            <a:r>
              <a:rPr lang="en-US" i="1" dirty="0" err="1"/>
              <a:t>lex</a:t>
            </a:r>
            <a:r>
              <a:rPr lang="en-US" i="1" dirty="0"/>
              <a:t> </a:t>
            </a:r>
            <a:r>
              <a:rPr lang="en-US" i="1" dirty="0" err="1"/>
              <a:t>citus</a:t>
            </a:r>
            <a:r>
              <a:rPr lang="en-US" i="1" dirty="0"/>
              <a:t> , the </a:t>
            </a:r>
            <a:r>
              <a:rPr lang="en-US" i="1" dirty="0" err="1"/>
              <a:t>lex</a:t>
            </a:r>
            <a:r>
              <a:rPr lang="en-US" i="1" dirty="0"/>
              <a:t> loci </a:t>
            </a:r>
            <a:r>
              <a:rPr lang="en-US" i="1" dirty="0" err="1"/>
              <a:t>actus</a:t>
            </a:r>
            <a:r>
              <a:rPr lang="en-US" dirty="0"/>
              <a:t>  and the doctrine of </a:t>
            </a:r>
            <a:r>
              <a:rPr lang="en-US" i="1" dirty="0"/>
              <a:t>the proper law of the transfer</a:t>
            </a:r>
            <a:r>
              <a:rPr lang="en-US" dirty="0"/>
              <a:t>. </a:t>
            </a:r>
            <a:endParaRPr lang="en-US" dirty="0" smtClean="0"/>
          </a:p>
          <a:p>
            <a:r>
              <a:rPr lang="en-US" b="1" dirty="0" smtClean="0"/>
              <a:t>Doctrine of proper law of transfer </a:t>
            </a:r>
            <a:r>
              <a:rPr lang="en-US" dirty="0" smtClean="0"/>
              <a:t>is </a:t>
            </a:r>
            <a:r>
              <a:rPr lang="en-US" dirty="0"/>
              <a:t>said to be the law of the country with which the transfer has the most real connection. </a:t>
            </a:r>
            <a:r>
              <a:rPr lang="en-US" dirty="0" smtClean="0"/>
              <a:t>It seems </a:t>
            </a:r>
            <a:r>
              <a:rPr lang="en-US" dirty="0"/>
              <a:t>to work in the same way as the proper law of the contract considered in the previous chapter. </a:t>
            </a:r>
            <a:endParaRPr lang="en-US" dirty="0" smtClean="0"/>
          </a:p>
          <a:p>
            <a:r>
              <a:rPr lang="en-US" dirty="0"/>
              <a:t>Among the above four alternative doctrines, the modern approach of choice seems to be between the </a:t>
            </a:r>
            <a:r>
              <a:rPr lang="en-US" dirty="0" err="1"/>
              <a:t>lex</a:t>
            </a:r>
            <a:r>
              <a:rPr lang="en-US" dirty="0"/>
              <a:t> </a:t>
            </a:r>
            <a:r>
              <a:rPr lang="en-US" dirty="0" err="1"/>
              <a:t>situs</a:t>
            </a:r>
            <a:r>
              <a:rPr lang="en-US" dirty="0"/>
              <a:t> and the proper law of the transfer. </a:t>
            </a:r>
            <a:endParaRPr lang="en-US" dirty="0" smtClean="0"/>
          </a:p>
          <a:p>
            <a:r>
              <a:rPr lang="en-US" dirty="0" smtClean="0"/>
              <a:t>In case of conflict between the two which </a:t>
            </a:r>
            <a:r>
              <a:rPr lang="en-US" dirty="0"/>
              <a:t>should prevail depends up on the nature of the issues at hand i.e., whether the issue is contractual or proprietary</a:t>
            </a:r>
            <a:r>
              <a:rPr lang="en-US" dirty="0" smtClean="0"/>
              <a:t>.</a:t>
            </a:r>
          </a:p>
          <a:p>
            <a:endParaRPr lang="en-US" dirty="0"/>
          </a:p>
        </p:txBody>
      </p:sp>
      <p:sp>
        <p:nvSpPr>
          <p:cNvPr id="4" name="Date Placeholder 3"/>
          <p:cNvSpPr>
            <a:spLocks noGrp="1"/>
          </p:cNvSpPr>
          <p:nvPr>
            <p:ph type="dt" sz="half" idx="10"/>
          </p:nvPr>
        </p:nvSpPr>
        <p:spPr/>
        <p:txBody>
          <a:bodyPr/>
          <a:lstStyle/>
          <a:p>
            <a:fld id="{B46DBC8C-C600-4199-87CC-B3852CB57D92}"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lvl="0"/>
            <a:r>
              <a:rPr lang="en-US" sz="2600" b="1" i="1" dirty="0" smtClean="0"/>
              <a:t>2. Rules </a:t>
            </a:r>
            <a:r>
              <a:rPr lang="en-US" sz="2600" b="1" i="1" dirty="0"/>
              <a:t>Governing Transfer of </a:t>
            </a:r>
            <a:r>
              <a:rPr lang="en-US" sz="2600" b="1" i="1" dirty="0" err="1"/>
              <a:t>Choses</a:t>
            </a:r>
            <a:r>
              <a:rPr lang="en-US" sz="2600" b="1" i="1" dirty="0"/>
              <a:t> in Action</a:t>
            </a:r>
          </a:p>
          <a:p>
            <a:r>
              <a:rPr lang="en-US" dirty="0"/>
              <a:t>Intangible movables or </a:t>
            </a:r>
            <a:r>
              <a:rPr lang="en-US" dirty="0" err="1"/>
              <a:t>choses</a:t>
            </a:r>
            <a:r>
              <a:rPr lang="en-US" dirty="0"/>
              <a:t> in action or as known under the Ethiopian law incorporeal </a:t>
            </a:r>
            <a:r>
              <a:rPr lang="en-US" dirty="0" smtClean="0"/>
              <a:t>properties Include debts , negotiable instruments and shares.</a:t>
            </a:r>
          </a:p>
          <a:p>
            <a:pPr>
              <a:buNone/>
            </a:pPr>
            <a:r>
              <a:rPr lang="en-US" b="1" dirty="0" smtClean="0"/>
              <a:t> A. Debts</a:t>
            </a:r>
          </a:p>
          <a:p>
            <a:r>
              <a:rPr lang="en-US" dirty="0" smtClean="0"/>
              <a:t>The proper law of transaction governing the original relationship are used to choose the applicable law.</a:t>
            </a:r>
          </a:p>
          <a:p>
            <a:endParaRPr lang="en-US" dirty="0"/>
          </a:p>
        </p:txBody>
      </p:sp>
      <p:sp>
        <p:nvSpPr>
          <p:cNvPr id="4" name="Date Placeholder 3"/>
          <p:cNvSpPr>
            <a:spLocks noGrp="1"/>
          </p:cNvSpPr>
          <p:nvPr>
            <p:ph type="dt" sz="half" idx="10"/>
          </p:nvPr>
        </p:nvSpPr>
        <p:spPr/>
        <p:txBody>
          <a:bodyPr/>
          <a:lstStyle/>
          <a:p>
            <a:fld id="{C6FB136B-5052-4467-B379-ACE668DC95B0}"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sz="4500" dirty="0" smtClean="0"/>
              <a:t>Negotiable instruments</a:t>
            </a:r>
          </a:p>
          <a:p>
            <a:r>
              <a:rPr lang="en-US" dirty="0"/>
              <a:t>According to the generally accepted practice, the transfer of foreign negotiable instruments is determined by the law of the place where the transfer is </a:t>
            </a:r>
            <a:r>
              <a:rPr lang="en-US" dirty="0" smtClean="0"/>
              <a:t>effected</a:t>
            </a:r>
            <a:r>
              <a:rPr lang="en-US" dirty="0"/>
              <a:t>, i.e., the law of the place in which the contact is made. This principle equally apples to a promissory note and a </a:t>
            </a:r>
            <a:r>
              <a:rPr lang="en-US" dirty="0" err="1"/>
              <a:t>cheque</a:t>
            </a:r>
            <a:r>
              <a:rPr lang="en-US" dirty="0" smtClean="0"/>
              <a:t>.</a:t>
            </a:r>
          </a:p>
          <a:p>
            <a:r>
              <a:rPr lang="en-US" sz="4500" b="1" dirty="0" smtClean="0"/>
              <a:t>Shares </a:t>
            </a:r>
          </a:p>
          <a:p>
            <a:r>
              <a:rPr lang="en-US" dirty="0" smtClean="0"/>
              <a:t>When </a:t>
            </a:r>
            <a:r>
              <a:rPr lang="en-US" dirty="0"/>
              <a:t>the shares are transferred in a country other than that in which the transfer of the shares is kept. In such a situation, the whole issue should be viewed from different aspects;  </a:t>
            </a:r>
            <a:r>
              <a:rPr lang="en-US" dirty="0" smtClean="0"/>
              <a:t>the </a:t>
            </a:r>
            <a:r>
              <a:rPr lang="en-US" dirty="0"/>
              <a:t>effect of transfer </a:t>
            </a:r>
            <a:r>
              <a:rPr lang="en-US" b="1" dirty="0"/>
              <a:t>as against the company</a:t>
            </a:r>
            <a:r>
              <a:rPr lang="en-US" dirty="0"/>
              <a:t>, and its </a:t>
            </a:r>
            <a:r>
              <a:rPr lang="en-US" b="1" dirty="0"/>
              <a:t>effects as regards the parties </a:t>
            </a:r>
            <a:r>
              <a:rPr lang="en-US" dirty="0"/>
              <a:t>to the transfer and persons claiming under them</a:t>
            </a:r>
            <a:r>
              <a:rPr lang="en-US" dirty="0" smtClean="0"/>
              <a:t>.</a:t>
            </a:r>
          </a:p>
          <a:p>
            <a:r>
              <a:rPr lang="en-US" dirty="0" smtClean="0"/>
              <a:t> </a:t>
            </a:r>
            <a:r>
              <a:rPr lang="en-US" dirty="0"/>
              <a:t>In relation to the first situation, the determining law is the </a:t>
            </a:r>
            <a:r>
              <a:rPr lang="en-US" b="1" i="1" dirty="0" err="1"/>
              <a:t>lex</a:t>
            </a:r>
            <a:r>
              <a:rPr lang="en-US" b="1" i="1" dirty="0"/>
              <a:t> </a:t>
            </a:r>
            <a:r>
              <a:rPr lang="en-US" b="1" i="1" dirty="0" err="1"/>
              <a:t>situs</a:t>
            </a:r>
            <a:r>
              <a:rPr lang="en-US" b="1" i="1" dirty="0"/>
              <a:t> of the shares</a:t>
            </a:r>
            <a:r>
              <a:rPr lang="en-US" dirty="0"/>
              <a:t>, </a:t>
            </a:r>
            <a:r>
              <a:rPr lang="en-US" dirty="0" smtClean="0"/>
              <a:t>and</a:t>
            </a:r>
          </a:p>
          <a:p>
            <a:r>
              <a:rPr lang="en-US" dirty="0" smtClean="0"/>
              <a:t> </a:t>
            </a:r>
            <a:r>
              <a:rPr lang="en-US" dirty="0"/>
              <a:t>the second type of the situations is determined by </a:t>
            </a:r>
            <a:r>
              <a:rPr lang="en-US" b="1" dirty="0"/>
              <a:t>the proper law of the transaction,</a:t>
            </a:r>
            <a:r>
              <a:rPr lang="en-US" dirty="0"/>
              <a:t> which in practically all cases will be the law of the place where the shares have been delivered.</a:t>
            </a:r>
          </a:p>
          <a:p>
            <a:endParaRPr lang="en-US" dirty="0"/>
          </a:p>
        </p:txBody>
      </p:sp>
      <p:sp>
        <p:nvSpPr>
          <p:cNvPr id="4" name="Date Placeholder 3"/>
          <p:cNvSpPr>
            <a:spLocks noGrp="1"/>
          </p:cNvSpPr>
          <p:nvPr>
            <p:ph type="dt" sz="half" idx="10"/>
          </p:nvPr>
        </p:nvSpPr>
        <p:spPr/>
        <p:txBody>
          <a:bodyPr/>
          <a:lstStyle/>
          <a:p>
            <a:fld id="{47F4FE60-098C-4499-99BD-7D249DABE0E0}"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sz="4200" b="1" dirty="0" smtClean="0"/>
              <a:t>Encumbrances Against Movables</a:t>
            </a:r>
          </a:p>
          <a:p>
            <a:pPr lvl="0">
              <a:buNone/>
            </a:pPr>
            <a:r>
              <a:rPr lang="en-US" b="1" i="1" dirty="0" smtClean="0"/>
              <a:t> </a:t>
            </a:r>
            <a:r>
              <a:rPr lang="en-US" b="1" i="1" dirty="0"/>
              <a:t> </a:t>
            </a:r>
            <a:r>
              <a:rPr lang="en-US" dirty="0" smtClean="0"/>
              <a:t>The </a:t>
            </a:r>
            <a:r>
              <a:rPr lang="en-US" dirty="0"/>
              <a:t>validity and effect of a security interest in a chattel as between the immediate parties are determined by the local law of the state which, with respect to the particular issue, has the most significant relationship to the parties.  </a:t>
            </a:r>
            <a:endParaRPr lang="en-US" dirty="0" smtClean="0"/>
          </a:p>
          <a:p>
            <a:r>
              <a:rPr lang="en-US" dirty="0" smtClean="0"/>
              <a:t> </a:t>
            </a:r>
            <a:r>
              <a:rPr lang="en-US" dirty="0"/>
              <a:t>In the absence of an effective choice of law by the parties, greater weight will usually be given to the location of the chattel at the time that the security interest attached than to any other contact in determining the state of the applicable law</a:t>
            </a:r>
            <a:r>
              <a:rPr lang="en-US" dirty="0" smtClean="0"/>
              <a:t>.</a:t>
            </a:r>
          </a:p>
          <a:p>
            <a:r>
              <a:rPr lang="en-US" sz="4000" b="1" dirty="0"/>
              <a:t>E</a:t>
            </a:r>
            <a:r>
              <a:rPr lang="en-US" sz="4000" b="1" dirty="0" smtClean="0"/>
              <a:t>ncumbrances on </a:t>
            </a:r>
            <a:r>
              <a:rPr lang="en-US" sz="4000" b="1" dirty="0" err="1" smtClean="0"/>
              <a:t>immovables</a:t>
            </a:r>
            <a:endParaRPr lang="en-US" sz="4000" dirty="0" smtClean="0"/>
          </a:p>
          <a:p>
            <a:r>
              <a:rPr lang="en-US" dirty="0"/>
              <a:t>Whether a mortgage creates an interest in an immovable property and the nature of the interest created are determined by the law that would be applied by the courts of the </a:t>
            </a:r>
            <a:r>
              <a:rPr lang="en-US" dirty="0" err="1"/>
              <a:t>situs</a:t>
            </a:r>
            <a:r>
              <a:rPr lang="en-US" dirty="0"/>
              <a:t>.</a:t>
            </a:r>
          </a:p>
        </p:txBody>
      </p:sp>
      <p:sp>
        <p:nvSpPr>
          <p:cNvPr id="4" name="Date Placeholder 3"/>
          <p:cNvSpPr>
            <a:spLocks noGrp="1"/>
          </p:cNvSpPr>
          <p:nvPr>
            <p:ph type="dt" sz="half" idx="10"/>
          </p:nvPr>
        </p:nvSpPr>
        <p:spPr/>
        <p:txBody>
          <a:bodyPr/>
          <a:lstStyle/>
          <a:p>
            <a:fld id="{F2086452-DF83-4828-93C3-1D7D9376F7A3}"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7.3.Rules Governing Succession</a:t>
            </a:r>
            <a:endParaRPr lang="en-US" dirty="0"/>
          </a:p>
        </p:txBody>
      </p:sp>
      <p:sp>
        <p:nvSpPr>
          <p:cNvPr id="3" name="Content Placeholder 2"/>
          <p:cNvSpPr>
            <a:spLocks noGrp="1"/>
          </p:cNvSpPr>
          <p:nvPr>
            <p:ph idx="1"/>
          </p:nvPr>
        </p:nvSpPr>
        <p:spPr/>
        <p:txBody>
          <a:bodyPr>
            <a:normAutofit fontScale="85000" lnSpcReduction="10000"/>
          </a:bodyPr>
          <a:lstStyle/>
          <a:p>
            <a:r>
              <a:rPr lang="en-US" sz="3800" b="1" dirty="0" smtClean="0"/>
              <a:t>I. Succession to Movables</a:t>
            </a:r>
          </a:p>
          <a:p>
            <a:r>
              <a:rPr lang="en-US" b="1" dirty="0" smtClean="0"/>
              <a:t>A. Intestate Succession</a:t>
            </a:r>
          </a:p>
          <a:p>
            <a:r>
              <a:rPr lang="en-US" dirty="0" smtClean="0"/>
              <a:t>The rule has been established for some two centuries that movable property in the case of intestacy is to be distributed according to the law of the domicile of the deceased person at the time of his death. </a:t>
            </a:r>
          </a:p>
          <a:p>
            <a:r>
              <a:rPr lang="en-US" dirty="0" smtClean="0"/>
              <a:t>This law determines the classes of persons to take ,the relative portions to which the distributes are entitled ,the right of representation, the rights of surviving spouses ,the liability of a beneficiary for unpaid debts ,and all related questions. </a:t>
            </a:r>
          </a:p>
        </p:txBody>
      </p:sp>
      <p:sp>
        <p:nvSpPr>
          <p:cNvPr id="4" name="Date Placeholder 3"/>
          <p:cNvSpPr>
            <a:spLocks noGrp="1"/>
          </p:cNvSpPr>
          <p:nvPr>
            <p:ph type="dt" sz="half" idx="10"/>
          </p:nvPr>
        </p:nvSpPr>
        <p:spPr/>
        <p:txBody>
          <a:bodyPr/>
          <a:lstStyle/>
          <a:p>
            <a:fld id="{C1BB0D22-B99B-4AB1-ACDB-25F4DA2C9483}"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sz="5100" b="1" dirty="0" smtClean="0"/>
              <a:t>B. Testate Succession </a:t>
            </a:r>
          </a:p>
          <a:p>
            <a:r>
              <a:rPr lang="en-US" dirty="0" smtClean="0"/>
              <a:t>The general principle established concerning testamentary succession of movables both in England and U.S.A is that it is governed exclusively by the law of the domicile of the deceased as it existed at the time of his death. </a:t>
            </a:r>
          </a:p>
          <a:p>
            <a:r>
              <a:rPr lang="en-US" dirty="0" smtClean="0"/>
              <a:t> When a testator dies domiciled in a foreign country, leaving assets in another country, it is necessary to note that the action for succession should be made at the court of the country where the property is situated. </a:t>
            </a:r>
          </a:p>
          <a:p>
            <a:r>
              <a:rPr lang="en-US" dirty="0" smtClean="0"/>
              <a:t>Moreover it is true that assets must be administered in the same country according to the law of the </a:t>
            </a:r>
            <a:r>
              <a:rPr lang="en-US" dirty="0" err="1" smtClean="0"/>
              <a:t>situs</a:t>
            </a:r>
            <a:r>
              <a:rPr lang="en-US" dirty="0" smtClean="0"/>
              <a:t>.</a:t>
            </a:r>
          </a:p>
          <a:p>
            <a:r>
              <a:rPr lang="en-US" dirty="0" smtClean="0"/>
              <a:t> But nevertheless all questions concerning the beneficial succession must be decided in accordance with the law of the domicile. </a:t>
            </a:r>
          </a:p>
          <a:p>
            <a:r>
              <a:rPr lang="en-US" dirty="0" smtClean="0"/>
              <a:t>The duty of the executor is to ascertain who, by the law of the domicile, are entitled under the will, and that being ascertained to distribute the property accordingly.</a:t>
            </a:r>
          </a:p>
          <a:p>
            <a:r>
              <a:rPr lang="en-US" dirty="0" smtClean="0"/>
              <a:t>Capacity of a person to make a will or to accept a legacy, the validity of a particular provision in the will, the required form of the will and the manner of its execution also fall within the scope of the present rule.</a:t>
            </a:r>
            <a:endParaRPr lang="en-US" dirty="0"/>
          </a:p>
        </p:txBody>
      </p:sp>
      <p:sp>
        <p:nvSpPr>
          <p:cNvPr id="4" name="Date Placeholder 3"/>
          <p:cNvSpPr>
            <a:spLocks noGrp="1"/>
          </p:cNvSpPr>
          <p:nvPr>
            <p:ph type="dt" sz="half" idx="10"/>
          </p:nvPr>
        </p:nvSpPr>
        <p:spPr/>
        <p:txBody>
          <a:bodyPr/>
          <a:lstStyle/>
          <a:p>
            <a:fld id="{93698723-34C6-47C7-8B4A-6963807ABDFB}"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sz="6500" b="1" dirty="0" smtClean="0"/>
              <a:t>II. Succession to Immovable</a:t>
            </a:r>
          </a:p>
          <a:p>
            <a:r>
              <a:rPr lang="en-US" sz="5100" b="1" dirty="0" smtClean="0"/>
              <a:t>A. Intestate </a:t>
            </a:r>
            <a:r>
              <a:rPr lang="en-US" sz="5100" b="1" dirty="0" err="1" smtClean="0"/>
              <a:t>sucession</a:t>
            </a:r>
            <a:endParaRPr lang="en-US" sz="5100" b="1" dirty="0" smtClean="0"/>
          </a:p>
          <a:p>
            <a:r>
              <a:rPr lang="en-US" dirty="0" smtClean="0"/>
              <a:t>The devolution of interests in land upon the death of the owner intestate is determined by the law that would be applied by the courts of the </a:t>
            </a:r>
            <a:r>
              <a:rPr lang="en-US" dirty="0" err="1" smtClean="0"/>
              <a:t>situs</a:t>
            </a:r>
            <a:r>
              <a:rPr lang="en-US" dirty="0" smtClean="0"/>
              <a:t>. These courts would usually apply their own local law in determining such questions.</a:t>
            </a:r>
          </a:p>
          <a:p>
            <a:r>
              <a:rPr lang="en-US" dirty="0" smtClean="0"/>
              <a:t>There will be situations in any event where the courts of the </a:t>
            </a:r>
            <a:r>
              <a:rPr lang="en-US" dirty="0" err="1" smtClean="0"/>
              <a:t>situs</a:t>
            </a:r>
            <a:r>
              <a:rPr lang="en-US" dirty="0" smtClean="0"/>
              <a:t> would look to the local law of some other state to determine questions involving intestate succession to local land. </a:t>
            </a:r>
            <a:r>
              <a:rPr lang="en-US" dirty="0" err="1" smtClean="0"/>
              <a:t>i.e</a:t>
            </a:r>
            <a:r>
              <a:rPr lang="en-US" dirty="0" smtClean="0"/>
              <a:t> incidental questions.</a:t>
            </a:r>
          </a:p>
          <a:p>
            <a:r>
              <a:rPr lang="en-US" dirty="0" smtClean="0"/>
              <a:t> For example, although these courts would usually look to their own local law to determine what categories of persons will inherit upon intestacy, they might look to the local law of some other state to determine whether a given person belongs to one of these categories.</a:t>
            </a:r>
          </a:p>
          <a:p>
            <a:r>
              <a:rPr lang="en-US" dirty="0" smtClean="0"/>
              <a:t>So these courts would usually determine whether a person was a "wife" within the meaning of their local succession statute in accordance with the local law of the state selected by the law governing the validity of the marriage. </a:t>
            </a:r>
            <a:endParaRPr lang="en-US" dirty="0"/>
          </a:p>
        </p:txBody>
      </p:sp>
      <p:sp>
        <p:nvSpPr>
          <p:cNvPr id="4" name="Date Placeholder 3"/>
          <p:cNvSpPr>
            <a:spLocks noGrp="1"/>
          </p:cNvSpPr>
          <p:nvPr>
            <p:ph type="dt" sz="half" idx="10"/>
          </p:nvPr>
        </p:nvSpPr>
        <p:spPr/>
        <p:txBody>
          <a:bodyPr/>
          <a:lstStyle/>
          <a:p>
            <a:fld id="{DDC72FA9-FE16-4719-BBDB-94F241EE902C}"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0">
              <a:buNone/>
            </a:pPr>
            <a:r>
              <a:rPr lang="en-US" b="1" dirty="0" smtClean="0"/>
              <a:t>B. Testate succession</a:t>
            </a:r>
          </a:p>
          <a:p>
            <a:pPr lvl="0"/>
            <a:r>
              <a:rPr lang="en-US" b="1" dirty="0" smtClean="0"/>
              <a:t>Validity and Effect of Will of an Immovable</a:t>
            </a:r>
            <a:endParaRPr lang="en-US" dirty="0" smtClean="0"/>
          </a:p>
          <a:p>
            <a:r>
              <a:rPr lang="en-US" dirty="0" smtClean="0"/>
              <a:t>Whether a will transfers an interest in land and the nature of the interest transferred are determined by the law that would be applied by the courts of the </a:t>
            </a:r>
            <a:r>
              <a:rPr lang="en-US" dirty="0" err="1" smtClean="0"/>
              <a:t>situs</a:t>
            </a:r>
            <a:r>
              <a:rPr lang="en-US" dirty="0" smtClean="0"/>
              <a:t>. These courts would usually apply their own local law in determining such questions.  </a:t>
            </a:r>
          </a:p>
          <a:p>
            <a:r>
              <a:rPr lang="en-US" dirty="0" smtClean="0"/>
              <a:t>The rule of this Section is applicable to questions relating to testamentary dispositions of interests in land.</a:t>
            </a:r>
          </a:p>
          <a:p>
            <a:r>
              <a:rPr lang="en-US" dirty="0" smtClean="0"/>
              <a:t>The present rule determines the capacity of a person to make a will or to accept a devise, the formal validity of the will and the validity of the will in other respects.</a:t>
            </a:r>
          </a:p>
          <a:p>
            <a:endParaRPr lang="en-US" dirty="0"/>
          </a:p>
        </p:txBody>
      </p:sp>
      <p:sp>
        <p:nvSpPr>
          <p:cNvPr id="4" name="Date Placeholder 3"/>
          <p:cNvSpPr>
            <a:spLocks noGrp="1"/>
          </p:cNvSpPr>
          <p:nvPr>
            <p:ph type="dt" sz="half" idx="10"/>
          </p:nvPr>
        </p:nvSpPr>
        <p:spPr/>
        <p:txBody>
          <a:bodyPr/>
          <a:lstStyle/>
          <a:p>
            <a:fld id="{B5AB69DB-497F-4AC3-B540-DC944F6FA128}"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sz="3100" b="1" dirty="0" smtClean="0"/>
              <a:t>7.4. Rules Governing Choice of Laws in succession Under the Federal Conflict of Law </a:t>
            </a:r>
            <a:r>
              <a:rPr lang="en-US" sz="3100" dirty="0" smtClean="0"/>
              <a:t/>
            </a:r>
            <a:br>
              <a:rPr lang="en-US" sz="3100" dirty="0" smtClean="0"/>
            </a:br>
            <a:endParaRPr lang="en-US" sz="3100" dirty="0"/>
          </a:p>
        </p:txBody>
      </p:sp>
      <p:sp>
        <p:nvSpPr>
          <p:cNvPr id="3" name="Content Placeholder 2"/>
          <p:cNvSpPr>
            <a:spLocks noGrp="1"/>
          </p:cNvSpPr>
          <p:nvPr>
            <p:ph idx="1"/>
          </p:nvPr>
        </p:nvSpPr>
        <p:spPr>
          <a:xfrm>
            <a:off x="457200" y="1676400"/>
            <a:ext cx="8229600" cy="4449763"/>
          </a:xfrm>
        </p:spPr>
        <p:txBody>
          <a:bodyPr>
            <a:normAutofit fontScale="62500" lnSpcReduction="20000"/>
          </a:bodyPr>
          <a:lstStyle/>
          <a:p>
            <a:r>
              <a:rPr lang="en-US" dirty="0" smtClean="0"/>
              <a:t>Relevant provisions are Art.66 and 67 of the draft.</a:t>
            </a:r>
          </a:p>
          <a:p>
            <a:pPr marL="571500" indent="-571500">
              <a:buAutoNum type="romanUcPeriod"/>
            </a:pPr>
            <a:r>
              <a:rPr lang="en-US" b="1" dirty="0" smtClean="0"/>
              <a:t>Succession to Immovable Property (</a:t>
            </a:r>
            <a:r>
              <a:rPr lang="en-US" b="1" dirty="0" err="1" smtClean="0"/>
              <a:t>BothTestate</a:t>
            </a:r>
            <a:r>
              <a:rPr lang="en-US" b="1" dirty="0" smtClean="0"/>
              <a:t> and Intestate)</a:t>
            </a:r>
          </a:p>
          <a:p>
            <a:r>
              <a:rPr lang="en-US" dirty="0" smtClean="0"/>
              <a:t>As stated under Art. 66, succession of immovable property is subject to the laws of the </a:t>
            </a:r>
            <a:r>
              <a:rPr lang="en-US" b="1" dirty="0" smtClean="0"/>
              <a:t>place where the property is situated</a:t>
            </a:r>
            <a:r>
              <a:rPr lang="en-US" dirty="0" smtClean="0"/>
              <a:t>. </a:t>
            </a:r>
          </a:p>
          <a:p>
            <a:r>
              <a:rPr lang="en-US" dirty="0" smtClean="0"/>
              <a:t>This emphasizes the importance of the place of </a:t>
            </a:r>
            <a:r>
              <a:rPr lang="en-US" dirty="0" err="1" smtClean="0"/>
              <a:t>sitis</a:t>
            </a:r>
            <a:r>
              <a:rPr lang="en-US" dirty="0" smtClean="0"/>
              <a:t> for all matters relating to the immovable property one of which is transfer by succession. </a:t>
            </a:r>
          </a:p>
          <a:p>
            <a:pPr>
              <a:buNone/>
            </a:pPr>
            <a:r>
              <a:rPr lang="en-US" b="1" dirty="0" smtClean="0"/>
              <a:t>II. Succession to Movable Property ( Testate and intestate)</a:t>
            </a:r>
          </a:p>
          <a:p>
            <a:r>
              <a:rPr lang="en-US" dirty="0" smtClean="0"/>
              <a:t>The provision of Art 67 provides that succession to movable property whether testate or intestate shall be governed by the personal law of the deceased at the time of his death. </a:t>
            </a:r>
          </a:p>
          <a:p>
            <a:r>
              <a:rPr lang="en-US" dirty="0" smtClean="0"/>
              <a:t>Both provisions lack sufficient specificity to enable Ethiopian judges identify and apply the appropriate law governing the matter. It seems that all issues related to succession except construction of will are supposed to be governed by single law. </a:t>
            </a:r>
          </a:p>
          <a:p>
            <a:endParaRPr lang="en-US" dirty="0"/>
          </a:p>
        </p:txBody>
      </p:sp>
      <p:sp>
        <p:nvSpPr>
          <p:cNvPr id="4" name="Date Placeholder 3"/>
          <p:cNvSpPr>
            <a:spLocks noGrp="1"/>
          </p:cNvSpPr>
          <p:nvPr>
            <p:ph type="dt" sz="half" idx="10"/>
          </p:nvPr>
        </p:nvSpPr>
        <p:spPr/>
        <p:txBody>
          <a:bodyPr/>
          <a:lstStyle/>
          <a:p>
            <a:fld id="{AA6C96D6-05EE-4DF8-B3CC-237CEB6CD796}"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14</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succession under the Federal Conflict of Law </a:t>
            </a:r>
            <a:r>
              <a:rPr lang="en-US" sz="2800" b="1" dirty="0" err="1" smtClean="0"/>
              <a:t>contd</a:t>
            </a:r>
            <a:r>
              <a:rPr lang="en-US" sz="2800" b="1" dirty="0" smtClean="0"/>
              <a:t>…</a:t>
            </a:r>
            <a:endParaRPr lang="en-US" sz="2800" dirty="0"/>
          </a:p>
        </p:txBody>
      </p:sp>
      <p:sp>
        <p:nvSpPr>
          <p:cNvPr id="3" name="Content Placeholder 2"/>
          <p:cNvSpPr>
            <a:spLocks noGrp="1"/>
          </p:cNvSpPr>
          <p:nvPr>
            <p:ph idx="1"/>
          </p:nvPr>
        </p:nvSpPr>
        <p:spPr/>
        <p:txBody>
          <a:bodyPr>
            <a:normAutofit fontScale="55000" lnSpcReduction="20000"/>
          </a:bodyPr>
          <a:lstStyle/>
          <a:p>
            <a:r>
              <a:rPr lang="en-US" sz="5100" b="1" dirty="0" smtClean="0"/>
              <a:t>Construction of Wills</a:t>
            </a:r>
          </a:p>
          <a:p>
            <a:r>
              <a:rPr lang="en-US" dirty="0" smtClean="0"/>
              <a:t>It tries to separately govern under specific provision of Art. 68 matters relating the substantive validity of testamentary provisions and other provisions mortis cause and the construction of the intention of the testator or person making the provision . </a:t>
            </a:r>
          </a:p>
          <a:p>
            <a:r>
              <a:rPr lang="en-US" dirty="0" smtClean="0"/>
              <a:t>It makes them subject to </a:t>
            </a:r>
            <a:r>
              <a:rPr lang="en-US" b="1" dirty="0" smtClean="0"/>
              <a:t>the personal law of the deceased at the time of his death</a:t>
            </a:r>
            <a:r>
              <a:rPr lang="en-US" dirty="0" smtClean="0"/>
              <a:t>, .i.e.  the law of his domicile.</a:t>
            </a:r>
          </a:p>
          <a:p>
            <a:r>
              <a:rPr lang="en-US" sz="4500" b="1" dirty="0" smtClean="0"/>
              <a:t>General Observation</a:t>
            </a:r>
          </a:p>
          <a:p>
            <a:r>
              <a:rPr lang="en-US" dirty="0" smtClean="0"/>
              <a:t>Generally, the content of the above stated provisions seems to be similar to the principles embodied in the laws and practices of other countries we have discussed.</a:t>
            </a:r>
          </a:p>
          <a:p>
            <a:r>
              <a:rPr lang="en-US" dirty="0" smtClean="0"/>
              <a:t> However, they lack specific details that would enable courts of Ethiopia too deal with the various issues that arise in this connection. For instance the provision dealing with wills does not cover issues related to formal validity of wills. </a:t>
            </a:r>
          </a:p>
          <a:p>
            <a:r>
              <a:rPr lang="en-US" dirty="0" smtClean="0"/>
              <a:t>They need some detail to make them capable of guiding Ethiopian courts to decide cases containing foreign element.</a:t>
            </a:r>
          </a:p>
          <a:p>
            <a:r>
              <a:rPr lang="en-US" b="1" dirty="0" smtClean="0"/>
              <a:t> </a:t>
            </a:r>
            <a:endParaRPr lang="en-US" dirty="0"/>
          </a:p>
        </p:txBody>
      </p:sp>
      <p:sp>
        <p:nvSpPr>
          <p:cNvPr id="4" name="Date Placeholder 3"/>
          <p:cNvSpPr>
            <a:spLocks noGrp="1"/>
          </p:cNvSpPr>
          <p:nvPr>
            <p:ph type="dt" sz="half" idx="10"/>
          </p:nvPr>
        </p:nvSpPr>
        <p:spPr/>
        <p:txBody>
          <a:bodyPr/>
          <a:lstStyle/>
          <a:p>
            <a:fld id="{F1BBEA38-069B-48C9-9D57-95ECB88828CC}" type="datetime1">
              <a:rPr lang="en-US" smtClean="0"/>
              <a:t>3/11/2011</a:t>
            </a:fld>
            <a:endParaRPr lang="en-US"/>
          </a:p>
        </p:txBody>
      </p:sp>
      <p:sp>
        <p:nvSpPr>
          <p:cNvPr id="5" name="Slide Number Placeholder 4"/>
          <p:cNvSpPr>
            <a:spLocks noGrp="1"/>
          </p:cNvSpPr>
          <p:nvPr>
            <p:ph type="sldNum" sz="quarter" idx="12"/>
          </p:nvPr>
        </p:nvSpPr>
        <p:spPr/>
        <p:txBody>
          <a:bodyPr/>
          <a:lstStyle/>
          <a:p>
            <a:fld id="{A4114856-916E-44B8-9292-F16EE84A504A}" type="slidenum">
              <a:rPr lang="en-US" smtClean="0"/>
              <a:pPr/>
              <a:t>15</a:t>
            </a:fld>
            <a:endParaRPr lang="en-US"/>
          </a:p>
        </p:txBody>
      </p:sp>
      <p:sp>
        <p:nvSpPr>
          <p:cNvPr id="6" name="Footer Placeholder 5"/>
          <p:cNvSpPr>
            <a:spLocks noGrp="1"/>
          </p:cNvSpPr>
          <p:nvPr>
            <p:ph type="ftr" sz="quarter" idx="11"/>
          </p:nvPr>
        </p:nvSpPr>
        <p:spPr/>
        <p:txBody>
          <a:bodyPr/>
          <a:lstStyle/>
          <a:p>
            <a:r>
              <a:rPr lang="en-US" smtClean="0"/>
              <a:t>Conflict of Laws PPT Chapter Seven  Sultan Kssim  HU COL</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1993</Words>
  <Application>Microsoft Office PowerPoint</Application>
  <PresentationFormat>On-screen Show (4:3)</PresentationFormat>
  <Paragraphs>142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Chapter Seven Choice of law Rules Governing Property</vt:lpstr>
      <vt:lpstr>Introduction</vt:lpstr>
      <vt:lpstr> 7.1. General Rules Governing Choice of Law In Property </vt:lpstr>
      <vt:lpstr>General Rules governing Property contd…</vt:lpstr>
      <vt:lpstr>7.2. Particular Rules Governing Dealings With Movable and Immovable</vt:lpstr>
      <vt:lpstr>Slide 6</vt:lpstr>
      <vt:lpstr>Slide 7</vt:lpstr>
      <vt:lpstr>Slide 8</vt:lpstr>
      <vt:lpstr>Slide 9</vt:lpstr>
      <vt:lpstr>7.3.Rules Governing Succession</vt:lpstr>
      <vt:lpstr>Slide 11</vt:lpstr>
      <vt:lpstr>Slide 12</vt:lpstr>
      <vt:lpstr>Slide 13</vt:lpstr>
      <vt:lpstr>  7.4. Rules Governing Choice of Laws in succession Under the Federal Conflict of Law  </vt:lpstr>
      <vt:lpstr>succession under the Federal Conflict of Law contd…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Seven Choice of law Rules Governing Property</dc:title>
  <dc:creator>user</dc:creator>
  <cp:lastModifiedBy>user</cp:lastModifiedBy>
  <cp:revision>43</cp:revision>
  <dcterms:created xsi:type="dcterms:W3CDTF">2011-03-10T03:56:04Z</dcterms:created>
  <dcterms:modified xsi:type="dcterms:W3CDTF">2011-03-11T10:36:42Z</dcterms:modified>
</cp:coreProperties>
</file>