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5" r:id="rId7"/>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561AF-3802-436C-97AD-C8ABC3F66D64}" type="datetimeFigureOut">
              <a:rPr lang="en-US" smtClean="0"/>
              <a:t>3/11/2011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39D131-B017-4B1D-B122-CF440F303A2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Footer Placeholder 4"/>
          <p:cNvSpPr>
            <a:spLocks noGrp="1"/>
          </p:cNvSpPr>
          <p:nvPr>
            <p:ph type="ftr" sz="quarter" idx="11"/>
          </p:nvPr>
        </p:nvSpPr>
        <p:spPr/>
        <p:txBody>
          <a:bodyPr/>
          <a:lstStyle/>
          <a:p>
            <a:r>
              <a:rPr lang="en-US" smtClean="0"/>
              <a:t>Conflict of Laws PPT Chapter Nine  Sultan Kassim  HU COL</a:t>
            </a:r>
            <a:endParaRPr lang="en-US"/>
          </a:p>
        </p:txBody>
      </p:sp>
      <p:sp>
        <p:nvSpPr>
          <p:cNvPr id="6" name="Slide Number Placeholder 5"/>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Footer Placeholder 4"/>
          <p:cNvSpPr>
            <a:spLocks noGrp="1"/>
          </p:cNvSpPr>
          <p:nvPr>
            <p:ph type="ftr" sz="quarter" idx="11"/>
          </p:nvPr>
        </p:nvSpPr>
        <p:spPr/>
        <p:txBody>
          <a:bodyPr/>
          <a:lstStyle/>
          <a:p>
            <a:r>
              <a:rPr lang="en-US" smtClean="0"/>
              <a:t>Conflict of Laws PPT Chapter Nine  Sultan Kassim  HU COL</a:t>
            </a:r>
            <a:endParaRPr lang="en-US"/>
          </a:p>
        </p:txBody>
      </p:sp>
      <p:sp>
        <p:nvSpPr>
          <p:cNvPr id="6" name="Slide Number Placeholder 5"/>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Footer Placeholder 4"/>
          <p:cNvSpPr>
            <a:spLocks noGrp="1"/>
          </p:cNvSpPr>
          <p:nvPr>
            <p:ph type="ftr" sz="quarter" idx="11"/>
          </p:nvPr>
        </p:nvSpPr>
        <p:spPr/>
        <p:txBody>
          <a:bodyPr/>
          <a:lstStyle/>
          <a:p>
            <a:r>
              <a:rPr lang="en-US" smtClean="0"/>
              <a:t>Conflict of Laws PPT Chapter Nine  Sultan Kassim  HU COL</a:t>
            </a:r>
            <a:endParaRPr lang="en-US"/>
          </a:p>
        </p:txBody>
      </p:sp>
      <p:sp>
        <p:nvSpPr>
          <p:cNvPr id="6" name="Slide Number Placeholder 5"/>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3/10/2011</a:t>
            </a:r>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
        <p:nvSpPr>
          <p:cNvPr id="7" name="Slide Number Placeholder 6"/>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3/10/2011</a:t>
            </a:r>
            <a:endParaRPr lang="en-US"/>
          </a:p>
        </p:txBody>
      </p:sp>
      <p:sp>
        <p:nvSpPr>
          <p:cNvPr id="8" name="Footer Placeholder 7"/>
          <p:cNvSpPr>
            <a:spLocks noGrp="1"/>
          </p:cNvSpPr>
          <p:nvPr>
            <p:ph type="ftr" sz="quarter" idx="11"/>
          </p:nvPr>
        </p:nvSpPr>
        <p:spPr/>
        <p:txBody>
          <a:bodyPr/>
          <a:lstStyle/>
          <a:p>
            <a:r>
              <a:rPr lang="en-US" smtClean="0"/>
              <a:t>Conflict of Laws PPT Chapter Nine  Sultan Kassim  HU COL</a:t>
            </a:r>
            <a:endParaRPr lang="en-US"/>
          </a:p>
        </p:txBody>
      </p:sp>
      <p:sp>
        <p:nvSpPr>
          <p:cNvPr id="9" name="Slide Number Placeholder 8"/>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3/10/2011</a:t>
            </a:r>
            <a:endParaRPr lang="en-US"/>
          </a:p>
        </p:txBody>
      </p:sp>
      <p:sp>
        <p:nvSpPr>
          <p:cNvPr id="4" name="Footer Placeholder 3"/>
          <p:cNvSpPr>
            <a:spLocks noGrp="1"/>
          </p:cNvSpPr>
          <p:nvPr>
            <p:ph type="ftr" sz="quarter" idx="11"/>
          </p:nvPr>
        </p:nvSpPr>
        <p:spPr/>
        <p:txBody>
          <a:bodyPr/>
          <a:lstStyle/>
          <a:p>
            <a:r>
              <a:rPr lang="en-US" smtClean="0"/>
              <a:t>Conflict of Laws PPT Chapter Nine  Sultan Kassim  HU COL</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3/10/2011</a:t>
            </a:r>
            <a:endParaRPr lang="en-US"/>
          </a:p>
        </p:txBody>
      </p:sp>
      <p:sp>
        <p:nvSpPr>
          <p:cNvPr id="3" name="Footer Placeholder 2"/>
          <p:cNvSpPr>
            <a:spLocks noGrp="1"/>
          </p:cNvSpPr>
          <p:nvPr>
            <p:ph type="ftr" sz="quarter" idx="11"/>
          </p:nvPr>
        </p:nvSpPr>
        <p:spPr/>
        <p:txBody>
          <a:bodyPr/>
          <a:lstStyle/>
          <a:p>
            <a:r>
              <a:rPr lang="en-US" smtClean="0"/>
              <a:t>Conflict of Laws PPT Chapter Nine  Sultan Kassim  HU COL</a:t>
            </a:r>
            <a:endParaRPr lang="en-US"/>
          </a:p>
        </p:txBody>
      </p:sp>
      <p:sp>
        <p:nvSpPr>
          <p:cNvPr id="4" name="Slide Number Placeholder 3"/>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3/10/2011</a:t>
            </a:r>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
        <p:nvSpPr>
          <p:cNvPr id="7" name="Slide Number Placeholder 6"/>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3/10/2011</a:t>
            </a:r>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
        <p:nvSpPr>
          <p:cNvPr id="7" name="Slide Number Placeholder 6"/>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Footer Placeholder 4"/>
          <p:cNvSpPr>
            <a:spLocks noGrp="1"/>
          </p:cNvSpPr>
          <p:nvPr>
            <p:ph type="ftr" sz="quarter" idx="11"/>
          </p:nvPr>
        </p:nvSpPr>
        <p:spPr/>
        <p:txBody>
          <a:bodyPr/>
          <a:lstStyle/>
          <a:p>
            <a:r>
              <a:rPr lang="en-US" smtClean="0"/>
              <a:t>Conflict of Laws PPT Chapter Nine  Sultan Kassim  HU COL</a:t>
            </a:r>
            <a:endParaRPr lang="en-US"/>
          </a:p>
        </p:txBody>
      </p:sp>
      <p:sp>
        <p:nvSpPr>
          <p:cNvPr id="6" name="Slide Number Placeholder 5"/>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Footer Placeholder 4"/>
          <p:cNvSpPr>
            <a:spLocks noGrp="1"/>
          </p:cNvSpPr>
          <p:nvPr>
            <p:ph type="ftr" sz="quarter" idx="11"/>
          </p:nvPr>
        </p:nvSpPr>
        <p:spPr/>
        <p:txBody>
          <a:bodyPr/>
          <a:lstStyle/>
          <a:p>
            <a:r>
              <a:rPr lang="en-US" smtClean="0"/>
              <a:t>Conflict of Laws PPT Chapter Nine  Sultan Kassim  HU COL</a:t>
            </a:r>
            <a:endParaRPr lang="en-US"/>
          </a:p>
        </p:txBody>
      </p:sp>
      <p:sp>
        <p:nvSpPr>
          <p:cNvPr id="6" name="Slide Number Placeholder 5"/>
          <p:cNvSpPr>
            <a:spLocks noGrp="1"/>
          </p:cNvSpPr>
          <p:nvPr>
            <p:ph type="sldNum" sz="quarter" idx="12"/>
          </p:nvPr>
        </p:nvSpPr>
        <p:spPr/>
        <p:txBody>
          <a:bodyPr/>
          <a:lstStyle/>
          <a:p>
            <a:fld id="{2A564884-1126-4731-86EE-3A7E2B79E8C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3/10/2011</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Chapter Nine  Sultan Kassim  HU COL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64884-1126-4731-86EE-3A7E2B79E8C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1"/>
            <a:ext cx="7772400" cy="1905000"/>
          </a:xfrm>
        </p:spPr>
        <p:txBody>
          <a:bodyPr>
            <a:normAutofit fontScale="90000"/>
          </a:bodyPr>
          <a:lstStyle/>
          <a:p>
            <a:r>
              <a:rPr lang="en-US" smtClean="0"/>
              <a:t>Chapter </a:t>
            </a:r>
            <a:r>
              <a:rPr lang="en-US" dirty="0" smtClean="0"/>
              <a:t>Nine</a:t>
            </a:r>
            <a:br>
              <a:rPr lang="en-US" dirty="0" smtClean="0"/>
            </a:br>
            <a:r>
              <a:rPr lang="en-US" dirty="0" smtClean="0"/>
              <a:t>Choice of law Rules Governing</a:t>
            </a:r>
            <a:br>
              <a:rPr lang="en-US" dirty="0" smtClean="0"/>
            </a:br>
            <a:r>
              <a:rPr lang="en-US" b="1" dirty="0"/>
              <a:t>Agency and Partnerships</a:t>
            </a:r>
            <a:r>
              <a:rPr lang="en-US" dirty="0"/>
              <a:t/>
            </a:r>
            <a:br>
              <a:rPr lang="en-US" dirty="0"/>
            </a:br>
            <a:r>
              <a:rPr lang="en-US" dirty="0" smtClean="0"/>
              <a:t/>
            </a:r>
            <a:br>
              <a:rPr lang="en-US" dirty="0" smtClean="0"/>
            </a:br>
            <a:r>
              <a:rPr lang="en-US" dirty="0" smtClean="0"/>
              <a:t> </a:t>
            </a:r>
            <a:endParaRPr lang="en-US" dirty="0"/>
          </a:p>
        </p:txBody>
      </p:sp>
      <p:sp>
        <p:nvSpPr>
          <p:cNvPr id="3" name="Subtitle 2"/>
          <p:cNvSpPr>
            <a:spLocks noGrp="1"/>
          </p:cNvSpPr>
          <p:nvPr>
            <p:ph type="subTitle" idx="1"/>
          </p:nvPr>
        </p:nvSpPr>
        <p:spPr>
          <a:xfrm>
            <a:off x="1371600" y="5410200"/>
            <a:ext cx="6400800" cy="228600"/>
          </a:xfrm>
        </p:spPr>
        <p:txBody>
          <a:bodyPr>
            <a:normAutofit fontScale="32500" lnSpcReduction="20000"/>
          </a:bodyPr>
          <a:lstStyle/>
          <a:p>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1</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sz="3900" b="1" dirty="0"/>
              <a:t>Agency</a:t>
            </a:r>
            <a:endParaRPr lang="en-US" sz="3900" dirty="0"/>
          </a:p>
          <a:p>
            <a:r>
              <a:rPr lang="en-US" b="1" dirty="0" smtClean="0"/>
              <a:t>I. Relationship </a:t>
            </a:r>
            <a:r>
              <a:rPr lang="en-US" b="1" dirty="0"/>
              <a:t>of Principal and </a:t>
            </a:r>
            <a:r>
              <a:rPr lang="en-US" b="1" dirty="0" smtClean="0"/>
              <a:t>Agent</a:t>
            </a:r>
          </a:p>
          <a:p>
            <a:r>
              <a:rPr lang="en-US" dirty="0"/>
              <a:t>The rights and duties of a principal and agent toward each other are determined by the local law of the state which, with respect to the </a:t>
            </a:r>
            <a:r>
              <a:rPr lang="en-US" dirty="0" smtClean="0"/>
              <a:t>particular </a:t>
            </a:r>
            <a:r>
              <a:rPr lang="en-US" dirty="0"/>
              <a:t>issue, has </a:t>
            </a:r>
            <a:r>
              <a:rPr lang="en-US" dirty="0" smtClean="0"/>
              <a:t>the </a:t>
            </a:r>
            <a:r>
              <a:rPr lang="en-US" b="1" dirty="0" smtClean="0"/>
              <a:t>most significant relationship to the parties and the transaction</a:t>
            </a:r>
            <a:r>
              <a:rPr lang="en-US" dirty="0" smtClean="0"/>
              <a:t>.</a:t>
            </a:r>
          </a:p>
          <a:p>
            <a:r>
              <a:rPr lang="en-US" dirty="0" smtClean="0"/>
              <a:t>This state is selected by a process essentially similar to that employed in the case of a contract.</a:t>
            </a:r>
          </a:p>
          <a:p>
            <a:r>
              <a:rPr lang="en-US" dirty="0" smtClean="0"/>
              <a:t>The </a:t>
            </a:r>
            <a:r>
              <a:rPr lang="en-US" dirty="0"/>
              <a:t>law selected by application of the rule of this Section determines what the agent is authorized to do on the principal's behalf. </a:t>
            </a:r>
            <a:endParaRPr lang="en-US" dirty="0" smtClean="0"/>
          </a:p>
          <a:p>
            <a:r>
              <a:rPr lang="en-US" dirty="0" smtClean="0"/>
              <a:t> </a:t>
            </a:r>
            <a:r>
              <a:rPr lang="en-US" dirty="0"/>
              <a:t>It likewise determines the rights and obligations of the parties toward each other, such as the circumstances under which either the principal or agent can put an end to their relationship, the amount of compensation, if any, to which the agent is entitled, and the liability of the agent to the principal for an unauthorized act</a:t>
            </a:r>
            <a:r>
              <a:rPr lang="en-US" dirty="0" smtClean="0"/>
              <a:t>.</a:t>
            </a:r>
          </a:p>
          <a:p>
            <a:endParaRPr lang="en-US" dirty="0"/>
          </a:p>
          <a:p>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In either </a:t>
            </a:r>
            <a:r>
              <a:rPr lang="en-US" dirty="0" smtClean="0"/>
              <a:t>case of agency created by contract  the parties can determine the governing law as to the right and duties between themselves.</a:t>
            </a:r>
          </a:p>
          <a:p>
            <a:r>
              <a:rPr lang="en-US" dirty="0"/>
              <a:t>I</a:t>
            </a:r>
            <a:r>
              <a:rPr lang="en-US" dirty="0" smtClean="0"/>
              <a:t>n </a:t>
            </a:r>
            <a:r>
              <a:rPr lang="en-US" dirty="0"/>
              <a:t>the absence of an effective choice of law by the parties </a:t>
            </a:r>
            <a:r>
              <a:rPr lang="en-US" dirty="0" smtClean="0"/>
              <a:t>, the state where performance by the agent is to take place will usually be given the greatest weight.</a:t>
            </a:r>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smtClean="0"/>
              <a:t>II. Contractual </a:t>
            </a:r>
            <a:r>
              <a:rPr lang="en-US" b="1" dirty="0"/>
              <a:t>Liability of Principal to Third </a:t>
            </a:r>
            <a:r>
              <a:rPr lang="en-US" b="1" dirty="0" smtClean="0"/>
              <a:t>Person</a:t>
            </a:r>
          </a:p>
          <a:p>
            <a:r>
              <a:rPr lang="en-US" dirty="0"/>
              <a:t>The principal will be held bound by the agent's action if he would so be bound under the local </a:t>
            </a:r>
            <a:r>
              <a:rPr lang="en-US" b="1" dirty="0"/>
              <a:t>law of the state where the agent dealt with the third person</a:t>
            </a:r>
            <a:r>
              <a:rPr lang="en-US" dirty="0"/>
              <a:t>, provided at least that the principal had authorized the agent to act on his behalf in that state or had led the third person reasonably to believe that the agent had such authority.</a:t>
            </a:r>
          </a:p>
          <a:p>
            <a:r>
              <a:rPr lang="en-US" dirty="0"/>
              <a:t> </a:t>
            </a:r>
            <a:r>
              <a:rPr lang="en-US" dirty="0" smtClean="0"/>
              <a:t>The </a:t>
            </a:r>
            <a:r>
              <a:rPr lang="en-US" dirty="0"/>
              <a:t>local law of the state selected by application of the rule of this Section determines such questions as whether the agent acted with authority or apparent authority, the scope and extent of this authority, and whether such authority had been effectively revoked prior to the agent's act or was revocable at all.</a:t>
            </a:r>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b="1" dirty="0" smtClean="0"/>
              <a:t>III. Ratification </a:t>
            </a:r>
            <a:r>
              <a:rPr lang="en-US" b="1" dirty="0"/>
              <a:t>by Principal of Agent's </a:t>
            </a:r>
            <a:r>
              <a:rPr lang="en-US" b="1" dirty="0" smtClean="0"/>
              <a:t>Act</a:t>
            </a:r>
          </a:p>
          <a:p>
            <a:pPr algn="just"/>
            <a:r>
              <a:rPr lang="en-US" dirty="0"/>
              <a:t>The consequences of a principal's ratification of action taken on his behalf by an agent in dealing with a third person are determined by the local law of the state which, with respect to the particular issue, </a:t>
            </a:r>
            <a:r>
              <a:rPr lang="en-US" b="1" dirty="0"/>
              <a:t>has the most significant relationship to the parties and the transaction.</a:t>
            </a:r>
            <a:r>
              <a:rPr lang="en-US" dirty="0"/>
              <a:t> </a:t>
            </a:r>
            <a:endParaRPr lang="en-US" dirty="0" smtClean="0"/>
          </a:p>
          <a:p>
            <a:pPr algn="just"/>
            <a:r>
              <a:rPr lang="en-US" dirty="0" smtClean="0"/>
              <a:t>This state will be </a:t>
            </a:r>
            <a:r>
              <a:rPr lang="en-US" b="1" dirty="0" smtClean="0"/>
              <a:t>the state </a:t>
            </a:r>
            <a:r>
              <a:rPr lang="en-US" b="1" dirty="0"/>
              <a:t>where agent dealt with third person</a:t>
            </a:r>
            <a:r>
              <a:rPr lang="en-US" dirty="0"/>
              <a:t>.</a:t>
            </a:r>
          </a:p>
          <a:p>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sz="3600" b="1" dirty="0"/>
              <a:t>Partnerships</a:t>
            </a:r>
            <a:endParaRPr lang="en-US" sz="3600" dirty="0"/>
          </a:p>
          <a:p>
            <a:r>
              <a:rPr lang="en-US" b="1" dirty="0" smtClean="0"/>
              <a:t>I. Relationship </a:t>
            </a:r>
            <a:r>
              <a:rPr lang="en-US" b="1" dirty="0"/>
              <a:t>of Partners Inter Se</a:t>
            </a:r>
            <a:endParaRPr lang="en-US" dirty="0"/>
          </a:p>
          <a:p>
            <a:r>
              <a:rPr lang="en-US" dirty="0"/>
              <a:t>The rights and duties owned by partners to each other are determined by the local law of the state which, with respect to the particular issue, has the most significant relationship to the partners and the transaction. </a:t>
            </a:r>
            <a:endParaRPr lang="en-US" dirty="0" smtClean="0"/>
          </a:p>
          <a:p>
            <a:r>
              <a:rPr lang="en-US" dirty="0" smtClean="0"/>
              <a:t> </a:t>
            </a:r>
            <a:r>
              <a:rPr lang="en-US" dirty="0"/>
              <a:t>This law is selected by application of the rules governing choice of law in contract</a:t>
            </a:r>
            <a:r>
              <a:rPr lang="en-US" dirty="0" smtClean="0"/>
              <a:t>.</a:t>
            </a:r>
          </a:p>
          <a:p>
            <a:r>
              <a:rPr lang="en-US" dirty="0"/>
              <a:t>Sometimes, the partners will intend that their rights and duties toward each other should be determined by the local law of a particular state.  If so, the local law of this state will be applied.</a:t>
            </a:r>
            <a:endParaRPr lang="en-US" dirty="0" smtClean="0"/>
          </a:p>
          <a:p>
            <a:pPr>
              <a:buNone/>
            </a:pPr>
            <a:endParaRPr lang="en-US" dirty="0"/>
          </a:p>
          <a:p>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II. Contractual </a:t>
            </a:r>
            <a:r>
              <a:rPr lang="en-US" b="1" dirty="0"/>
              <a:t>Liability of Partnership, </a:t>
            </a:r>
            <a:r>
              <a:rPr lang="en-US" b="1" dirty="0" smtClean="0"/>
              <a:t>Pa </a:t>
            </a:r>
            <a:r>
              <a:rPr lang="en-US" b="1" dirty="0" err="1" smtClean="0"/>
              <a:t>rtners</a:t>
            </a:r>
            <a:r>
              <a:rPr lang="en-US" b="1" dirty="0" smtClean="0"/>
              <a:t> </a:t>
            </a:r>
            <a:r>
              <a:rPr lang="en-US" b="1" dirty="0"/>
              <a:t>and Third </a:t>
            </a:r>
            <a:r>
              <a:rPr lang="en-US" b="1" dirty="0" smtClean="0"/>
              <a:t>Person</a:t>
            </a:r>
          </a:p>
          <a:p>
            <a:r>
              <a:rPr lang="en-US" dirty="0"/>
              <a:t>Whether a general partner is bound by action taken on behalf of the partnership by an agent in dealing with a third person is determined by the local law of the state having most significant relationship. </a:t>
            </a:r>
            <a:endParaRPr lang="en-US" dirty="0" smtClean="0"/>
          </a:p>
          <a:p>
            <a:r>
              <a:rPr lang="en-US" dirty="0" smtClean="0"/>
              <a:t>The </a:t>
            </a:r>
            <a:r>
              <a:rPr lang="en-US" dirty="0"/>
              <a:t>liability of a limited partner for action taken on behalf of the partnership by an agent in dealing with a third person is determined by the local law of the state having the most significant relationship to the parties and the transaction, unless the limited partner has taken a significant part in the control of the partnership business or has led the third person reasonably to believe that he was a general partner.  </a:t>
            </a:r>
            <a:endParaRPr lang="en-US" dirty="0" smtClean="0"/>
          </a:p>
          <a:p>
            <a:r>
              <a:rPr lang="en-US" smtClean="0"/>
              <a:t>In </a:t>
            </a:r>
            <a:r>
              <a:rPr lang="en-US" dirty="0"/>
              <a:t>either of these latter events, the liability of the limited partner will be determined by application of the local law of the state having the most significant relationship.</a:t>
            </a:r>
          </a:p>
          <a:p>
            <a:endParaRPr lang="en-US" dirty="0"/>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r>
              <a:rPr lang="en-US" smtClean="0"/>
              <a:t>3/10/2011</a:t>
            </a:r>
            <a:endParaRPr lang="en-US"/>
          </a:p>
        </p:txBody>
      </p:sp>
      <p:sp>
        <p:nvSpPr>
          <p:cNvPr id="5" name="Slide Number Placeholder 4"/>
          <p:cNvSpPr>
            <a:spLocks noGrp="1"/>
          </p:cNvSpPr>
          <p:nvPr>
            <p:ph type="sldNum" sz="quarter" idx="12"/>
          </p:nvPr>
        </p:nvSpPr>
        <p:spPr/>
        <p:txBody>
          <a:bodyPr/>
          <a:lstStyle/>
          <a:p>
            <a:fld id="{2A564884-1126-4731-86EE-3A7E2B79E8CF}"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Conflict of Laws PPT Chapter Nine  Sultan Kassim  HU COL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741</Words>
  <Application>Microsoft Office PowerPoint</Application>
  <PresentationFormat>On-screen Show (4:3)</PresentationFormat>
  <Paragraphs>54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Chapter Nine Choice of law Rules Governing Agency and Partnerships   </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Chpter Nine Choice of law Rules Governing Agency and Partnerships   </dc:title>
  <dc:creator>user</dc:creator>
  <cp:lastModifiedBy>user</cp:lastModifiedBy>
  <cp:revision>9</cp:revision>
  <dcterms:created xsi:type="dcterms:W3CDTF">2011-03-10T11:04:52Z</dcterms:created>
  <dcterms:modified xsi:type="dcterms:W3CDTF">2011-03-11T10:38:09Z</dcterms:modified>
</cp:coreProperties>
</file>