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6" r:id="rId11"/>
    <p:sldId id="264" r:id="rId12"/>
    <p:sldId id="267" r:id="rId13"/>
    <p:sldId id="268" r:id="rId14"/>
    <p:sldId id="269" r:id="rId15"/>
    <p:sldId id="270" r:id="rId16"/>
    <p:sldId id="273" r:id="rId17"/>
    <p:sldId id="271" r:id="rId18"/>
    <p:sldId id="278" r:id="rId19"/>
    <p:sldId id="272" r:id="rId20"/>
    <p:sldId id="277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04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28E4A-6B81-48B8-9100-0DFA1890093A}" type="datetimeFigureOut">
              <a:rPr lang="en-US" smtClean="0"/>
              <a:pPr/>
              <a:t>3/3/2011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2DBD-5D6C-440B-9DFC-7F49D098DD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28E4A-6B81-48B8-9100-0DFA1890093A}" type="datetimeFigureOut">
              <a:rPr lang="en-US" smtClean="0"/>
              <a:pPr/>
              <a:t>3/3/2011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2DBD-5D6C-440B-9DFC-7F49D098DD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28E4A-6B81-48B8-9100-0DFA1890093A}" type="datetimeFigureOut">
              <a:rPr lang="en-US" smtClean="0"/>
              <a:pPr/>
              <a:t>3/3/2011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2DBD-5D6C-440B-9DFC-7F49D098DD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28E4A-6B81-48B8-9100-0DFA1890093A}" type="datetimeFigureOut">
              <a:rPr lang="en-US" smtClean="0"/>
              <a:pPr/>
              <a:t>3/3/2011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2DBD-5D6C-440B-9DFC-7F49D098DD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28E4A-6B81-48B8-9100-0DFA1890093A}" type="datetimeFigureOut">
              <a:rPr lang="en-US" smtClean="0"/>
              <a:pPr/>
              <a:t>3/3/2011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2DBD-5D6C-440B-9DFC-7F49D098DD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28E4A-6B81-48B8-9100-0DFA1890093A}" type="datetimeFigureOut">
              <a:rPr lang="en-US" smtClean="0"/>
              <a:pPr/>
              <a:t>3/3/2011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2DBD-5D6C-440B-9DFC-7F49D098DD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28E4A-6B81-48B8-9100-0DFA1890093A}" type="datetimeFigureOut">
              <a:rPr lang="en-US" smtClean="0"/>
              <a:pPr/>
              <a:t>3/3/2011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2DBD-5D6C-440B-9DFC-7F49D098DD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28E4A-6B81-48B8-9100-0DFA1890093A}" type="datetimeFigureOut">
              <a:rPr lang="en-US" smtClean="0"/>
              <a:pPr/>
              <a:t>3/3/2011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2DBD-5D6C-440B-9DFC-7F49D098DD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28E4A-6B81-48B8-9100-0DFA1890093A}" type="datetimeFigureOut">
              <a:rPr lang="en-US" smtClean="0"/>
              <a:pPr/>
              <a:t>3/3/2011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18A72DBD-5D6C-440B-9DFC-7F49D098DD8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28E4A-6B81-48B8-9100-0DFA1890093A}" type="datetimeFigureOut">
              <a:rPr lang="en-US" smtClean="0"/>
              <a:pPr/>
              <a:t>3/3/2011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2DBD-5D6C-440B-9DFC-7F49D098DD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28E4A-6B81-48B8-9100-0DFA1890093A}" type="datetimeFigureOut">
              <a:rPr lang="en-US" smtClean="0"/>
              <a:pPr/>
              <a:t>3/3/2011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2DBD-5D6C-440B-9DFC-7F49D098DD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EB28E4A-6B81-48B8-9100-0DFA1890093A}" type="datetimeFigureOut">
              <a:rPr lang="en-US" smtClean="0"/>
              <a:pPr/>
              <a:t>3/3/2011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8A72DBD-5D6C-440B-9DFC-7F49D098DD8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wipe dir="d"/>
  </p:transition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Haramaya University </a:t>
            </a:r>
            <a:br>
              <a:rPr lang="en-US" sz="3600" dirty="0" smtClean="0"/>
            </a:br>
            <a:r>
              <a:rPr lang="en-US" sz="3600" dirty="0" smtClean="0"/>
              <a:t>College of Law 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solidFill>
                  <a:schemeClr val="tx1"/>
                </a:solidFill>
              </a:rPr>
              <a:t>Conflict of </a:t>
            </a:r>
            <a:r>
              <a:rPr lang="en-US" dirty="0" smtClean="0">
                <a:solidFill>
                  <a:schemeClr val="tx1"/>
                </a:solidFill>
              </a:rPr>
              <a:t>Laws Syllabus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Instructor: Sultan Kassim</a:t>
            </a:r>
          </a:p>
          <a:p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Haramaya, March 2011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ransition>
    <p:wipe dir="d"/>
    <p:sndAc>
      <p:stSnd>
        <p:snd r:embed="rId2" name="camera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b="1" dirty="0" smtClean="0"/>
              <a:t>COURSE INFORMATION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 smtClean="0"/>
              <a:t>Course </a:t>
            </a:r>
            <a:r>
              <a:rPr lang="en-US" b="1" dirty="0"/>
              <a:t>Title: Conflict of Laws (Private International Law)</a:t>
            </a:r>
            <a:endParaRPr lang="en-US" dirty="0"/>
          </a:p>
          <a:p>
            <a:r>
              <a:rPr lang="en-US" b="1" dirty="0"/>
              <a:t>          Course Code:  Laws-452</a:t>
            </a:r>
            <a:endParaRPr lang="en-US" dirty="0"/>
          </a:p>
          <a:p>
            <a:r>
              <a:rPr lang="en-US" b="1" dirty="0"/>
              <a:t>          Credit Hours: 4 (four)  </a:t>
            </a:r>
            <a:endParaRPr lang="en-US" b="1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Prerequisites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Civil </a:t>
            </a:r>
            <a:r>
              <a:rPr lang="en-US" dirty="0"/>
              <a:t>procedure I&amp;II , majority of the substantive laws like</a:t>
            </a:r>
          </a:p>
          <a:p>
            <a:r>
              <a:rPr lang="en-US" dirty="0"/>
              <a:t>Law of Persons, Law of Contracts,  Federalism ,Constitutional </a:t>
            </a:r>
          </a:p>
          <a:p>
            <a:r>
              <a:rPr lang="en-US" dirty="0"/>
              <a:t>Law I, Family law, Law of Succession, Law of Traders and</a:t>
            </a:r>
          </a:p>
          <a:p>
            <a:r>
              <a:rPr lang="en-US" dirty="0"/>
              <a:t>Business Organizations, Law of Extra Contractual Liability</a:t>
            </a:r>
          </a:p>
        </p:txBody>
      </p:sp>
    </p:spTree>
  </p:cSld>
  <p:clrMapOvr>
    <a:masterClrMapping/>
  </p:clrMapOvr>
  <p:transition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b="1" dirty="0" smtClean="0"/>
              <a:t>Objective of the course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US" b="1" dirty="0" smtClean="0"/>
              <a:t>General </a:t>
            </a:r>
            <a:r>
              <a:rPr lang="en-US" b="1" dirty="0"/>
              <a:t>Objectives</a:t>
            </a:r>
            <a:endParaRPr lang="en-US" dirty="0"/>
          </a:p>
          <a:p>
            <a:r>
              <a:rPr lang="en-US" dirty="0"/>
              <a:t>The main objective of the course is to:</a:t>
            </a:r>
          </a:p>
          <a:p>
            <a:pPr lvl="0"/>
            <a:r>
              <a:rPr lang="en-US" dirty="0"/>
              <a:t>Acquaint students with the fundamental concepts of conflict of laws and the various ways Ethiopian courts apply these rules to resolve disputes,</a:t>
            </a:r>
          </a:p>
          <a:p>
            <a:pPr lvl="0"/>
            <a:r>
              <a:rPr lang="en-US" dirty="0"/>
              <a:t>Enable students to appreciate the complexities created by absence of a comprehensive Ethiopian conflict of law rules and how we could use experiences of foreign jurisdictions to develop our own rules, </a:t>
            </a:r>
          </a:p>
          <a:p>
            <a:pPr lvl="0"/>
            <a:r>
              <a:rPr lang="en-US" dirty="0"/>
              <a:t>Differentiate the three choice of law approaches and analyze their relevance in the light of the current Ethiopian Legal system.</a:t>
            </a:r>
          </a:p>
          <a:p>
            <a:pPr lvl="0"/>
            <a:r>
              <a:rPr lang="en-US" dirty="0"/>
              <a:t>Appreciate issues of interstate conflict of laws in Ethiopia;</a:t>
            </a:r>
          </a:p>
          <a:p>
            <a:r>
              <a:rPr lang="en-US" dirty="0"/>
              <a:t> Resolve cases containing foreign elements</a:t>
            </a:r>
          </a:p>
        </p:txBody>
      </p:sp>
    </p:spTree>
  </p:cSld>
  <p:clrMapOvr>
    <a:masterClrMapping/>
  </p:clrMapOvr>
  <p:transition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ctr" rtl="0">
              <a:spcBef>
                <a:spcPct val="0"/>
              </a:spcBef>
            </a:pPr>
            <a:r>
              <a:rPr lang="en-US" b="1" dirty="0" smtClean="0"/>
              <a:t>Specific objectives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 smtClean="0"/>
              <a:t>Explain </a:t>
            </a:r>
            <a:r>
              <a:rPr lang="en-US" dirty="0"/>
              <a:t>the basic principles and major schools of thoughts of conflict of laws;</a:t>
            </a:r>
          </a:p>
          <a:p>
            <a:pPr lvl="0"/>
            <a:r>
              <a:rPr lang="en-US" dirty="0"/>
              <a:t>Analyze cases containing foreign elements;</a:t>
            </a:r>
          </a:p>
          <a:p>
            <a:pPr lvl="0"/>
            <a:r>
              <a:rPr lang="en-US" dirty="0"/>
              <a:t>Deal with problems caused by the absence of a conflict of laws statute or precedent system in Ethiopia;</a:t>
            </a:r>
          </a:p>
          <a:p>
            <a:pPr lvl="0"/>
            <a:r>
              <a:rPr lang="en-US" dirty="0"/>
              <a:t>Critically analyze the practice of Ethiopian courts on conflict of laws;</a:t>
            </a:r>
          </a:p>
          <a:p>
            <a:pPr lvl="0"/>
            <a:r>
              <a:rPr lang="en-US" dirty="0"/>
              <a:t>Suggest solutions for interstate conflict of laws problems that would arise in the future;</a:t>
            </a:r>
          </a:p>
          <a:p>
            <a:pPr lvl="0"/>
            <a:r>
              <a:rPr lang="en-US" dirty="0"/>
              <a:t>Analyze which theory is suitable for interstate and international private cases;</a:t>
            </a:r>
          </a:p>
          <a:p>
            <a:pPr lvl="0"/>
            <a:r>
              <a:rPr lang="en-US" dirty="0"/>
              <a:t>Discuss the sufficiency or otherwise of the existing Civil Procedure rules on execution foreign judgments; </a:t>
            </a:r>
          </a:p>
          <a:p>
            <a:pPr lvl="0"/>
            <a:r>
              <a:rPr lang="en-US" dirty="0"/>
              <a:t>Discuss the relevance and problems in provisions of Federal courts establishment Proclamation (procl.25/96) on Judicial jurisdiction and Choice law in federal setup of Ethiopia ;</a:t>
            </a:r>
          </a:p>
          <a:p>
            <a:pPr lvl="0"/>
            <a:r>
              <a:rPr lang="en-US" dirty="0"/>
              <a:t>Critically analyze the current Federal Draft Conflict of Laws Proclamation proposed by the Justice and Legal Systems Research Institute;</a:t>
            </a:r>
          </a:p>
          <a:p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b="1" dirty="0" smtClean="0"/>
              <a:t>Course Outline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smtClean="0"/>
              <a:t>Part </a:t>
            </a:r>
            <a:r>
              <a:rPr lang="en-US" b="1" dirty="0"/>
              <a:t>One: General Principles of conflict of laws</a:t>
            </a:r>
            <a:endParaRPr lang="en-US" dirty="0"/>
          </a:p>
          <a:p>
            <a:r>
              <a:rPr lang="en-US" b="1" dirty="0"/>
              <a:t>Chapter One: General Introduction on Conflicts </a:t>
            </a:r>
            <a:endParaRPr lang="en-US" dirty="0"/>
          </a:p>
          <a:p>
            <a:pPr lvl="1"/>
            <a:r>
              <a:rPr lang="en-US" dirty="0"/>
              <a:t>Naming</a:t>
            </a:r>
          </a:p>
          <a:p>
            <a:pPr lvl="1"/>
            <a:r>
              <a:rPr lang="en-US" dirty="0"/>
              <a:t>Definition and analysis of Conflict of laws </a:t>
            </a:r>
          </a:p>
          <a:p>
            <a:pPr lvl="1"/>
            <a:r>
              <a:rPr lang="en-US" dirty="0"/>
              <a:t>Definition of state and law in the context of conflict of laws</a:t>
            </a:r>
          </a:p>
          <a:p>
            <a:pPr lvl="1"/>
            <a:r>
              <a:rPr lang="en-US" dirty="0"/>
              <a:t>Origin and development of Conflict of laws </a:t>
            </a:r>
          </a:p>
          <a:p>
            <a:pPr lvl="2"/>
            <a:r>
              <a:rPr lang="en-US" dirty="0"/>
              <a:t>In General</a:t>
            </a:r>
          </a:p>
          <a:p>
            <a:pPr lvl="2"/>
            <a:r>
              <a:rPr lang="en-US" dirty="0"/>
              <a:t>In Ethiopia </a:t>
            </a:r>
          </a:p>
          <a:p>
            <a:pPr lvl="1"/>
            <a:r>
              <a:rPr lang="en-US" dirty="0"/>
              <a:t>Raison d’être of   Conflict of Laws</a:t>
            </a:r>
          </a:p>
          <a:p>
            <a:pPr lvl="1"/>
            <a:r>
              <a:rPr lang="en-US" dirty="0"/>
              <a:t>Nature , Scope and Subject Matter of Conflict of laws</a:t>
            </a:r>
          </a:p>
          <a:p>
            <a:pPr lvl="1"/>
            <a:r>
              <a:rPr lang="en-US" dirty="0"/>
              <a:t>Interstate and international Conflict of Laws</a:t>
            </a:r>
          </a:p>
          <a:p>
            <a:pPr lvl="1"/>
            <a:r>
              <a:rPr lang="en-US" dirty="0"/>
              <a:t>Domicile , Nationality and Habitual Residence as connecting factors </a:t>
            </a:r>
          </a:p>
          <a:p>
            <a:pPr lvl="1"/>
            <a:r>
              <a:rPr lang="en-US" dirty="0"/>
              <a:t>The conflicts process</a:t>
            </a:r>
          </a:p>
          <a:p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Chapter Two: Judicial/Adjudicatory jurisdiction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lvl="0">
              <a:buNone/>
            </a:pPr>
            <a:endParaRPr lang="en-US" dirty="0"/>
          </a:p>
          <a:p>
            <a:pPr lvl="1"/>
            <a:r>
              <a:rPr lang="en-US" sz="2900" dirty="0"/>
              <a:t>Introduction</a:t>
            </a:r>
          </a:p>
          <a:p>
            <a:pPr lvl="1"/>
            <a:r>
              <a:rPr lang="en-US" sz="2900" dirty="0"/>
              <a:t>Theories of Judicial Jurisdiction</a:t>
            </a:r>
          </a:p>
          <a:p>
            <a:pPr lvl="2"/>
            <a:r>
              <a:rPr lang="en-US" sz="2900" dirty="0"/>
              <a:t>Territorial Power Theory </a:t>
            </a:r>
          </a:p>
          <a:p>
            <a:pPr lvl="2"/>
            <a:r>
              <a:rPr lang="en-US" sz="2900" dirty="0"/>
              <a:t>Minimum Contact and Fairness theory</a:t>
            </a:r>
          </a:p>
          <a:p>
            <a:pPr lvl="1"/>
            <a:r>
              <a:rPr lang="en-US" sz="2900" dirty="0"/>
              <a:t>Grounds of Jurisdiction </a:t>
            </a:r>
          </a:p>
          <a:p>
            <a:pPr lvl="2"/>
            <a:r>
              <a:rPr lang="en-US" sz="2900" dirty="0" smtClean="0"/>
              <a:t>Domicile, Nationality Habitual residence , Submission </a:t>
            </a:r>
            <a:r>
              <a:rPr lang="en-US" sz="2900" dirty="0"/>
              <a:t>or consent</a:t>
            </a:r>
          </a:p>
          <a:p>
            <a:pPr lvl="1"/>
            <a:r>
              <a:rPr lang="en-US" sz="2900" dirty="0"/>
              <a:t>Categories of Judicial Jurisdiction </a:t>
            </a:r>
          </a:p>
          <a:p>
            <a:pPr lvl="2"/>
            <a:r>
              <a:rPr lang="en-US" sz="2900" dirty="0" smtClean="0"/>
              <a:t>Judicial Jurisdiction over persons (including corporations),  over things and  over status</a:t>
            </a:r>
          </a:p>
          <a:p>
            <a:pPr lvl="1"/>
            <a:r>
              <a:rPr lang="en-US" sz="2900" dirty="0" smtClean="0"/>
              <a:t>Limitations </a:t>
            </a:r>
            <a:r>
              <a:rPr lang="en-US" sz="2900" dirty="0"/>
              <a:t>on the exercise of judicial jurisdiction </a:t>
            </a:r>
          </a:p>
          <a:p>
            <a:pPr lvl="2"/>
            <a:r>
              <a:rPr lang="en-US" sz="2900" dirty="0"/>
              <a:t>Limitations imposed by </a:t>
            </a:r>
            <a:r>
              <a:rPr lang="en-US" sz="2900" dirty="0" smtClean="0"/>
              <a:t>contract </a:t>
            </a:r>
          </a:p>
          <a:p>
            <a:pPr lvl="2"/>
            <a:r>
              <a:rPr lang="en-US" sz="2900" dirty="0" smtClean="0"/>
              <a:t>Limitations </a:t>
            </a:r>
            <a:r>
              <a:rPr lang="en-US" sz="2900" dirty="0"/>
              <a:t>imposed by the forum</a:t>
            </a:r>
          </a:p>
          <a:p>
            <a:pPr lvl="1"/>
            <a:r>
              <a:rPr lang="en-US" sz="2900" dirty="0"/>
              <a:t>Judicial Jurisdiction of Ethiopian courts </a:t>
            </a:r>
          </a:p>
          <a:p>
            <a:pPr lvl="2"/>
            <a:r>
              <a:rPr lang="en-US" sz="2900" dirty="0"/>
              <a:t>In International Conflict</a:t>
            </a:r>
          </a:p>
          <a:p>
            <a:pPr lvl="2"/>
            <a:r>
              <a:rPr lang="en-US" sz="2900" dirty="0"/>
              <a:t>In Interstate Conflict</a:t>
            </a:r>
          </a:p>
          <a:p>
            <a:pPr lvl="2"/>
            <a:r>
              <a:rPr lang="en-US" sz="2900" dirty="0"/>
              <a:t>Jurisdiction Under the Federal Draft Conflict of </a:t>
            </a:r>
            <a:r>
              <a:rPr lang="en-US" sz="2900" dirty="0" smtClean="0"/>
              <a:t>laws</a:t>
            </a:r>
          </a:p>
          <a:p>
            <a:pPr lvl="2"/>
            <a:r>
              <a:rPr lang="en-US" sz="2900" dirty="0" smtClean="0"/>
              <a:t>Ethiopia’s </a:t>
            </a:r>
            <a:r>
              <a:rPr lang="en-US" sz="2900" dirty="0"/>
              <a:t>past practice on Judicial Jurisdiction</a:t>
            </a:r>
          </a:p>
          <a:p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sz="4000" b="1" dirty="0" smtClean="0"/>
              <a:t>Chapter Three: The Choice of Law Process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en-US" dirty="0" smtClean="0"/>
              <a:t>Introduction</a:t>
            </a:r>
            <a:endParaRPr lang="en-US" dirty="0"/>
          </a:p>
          <a:p>
            <a:pPr lvl="1"/>
            <a:r>
              <a:rPr lang="en-US" dirty="0"/>
              <a:t>Choice of law methods (Theories)</a:t>
            </a:r>
          </a:p>
          <a:p>
            <a:pPr lvl="2">
              <a:buNone/>
            </a:pPr>
            <a:r>
              <a:rPr lang="en-US" dirty="0" smtClean="0"/>
              <a:t>1.The </a:t>
            </a:r>
            <a:r>
              <a:rPr lang="en-US" dirty="0"/>
              <a:t>classical Choice of law method</a:t>
            </a:r>
          </a:p>
          <a:p>
            <a:pPr lvl="3"/>
            <a:r>
              <a:rPr lang="en-US" dirty="0"/>
              <a:t>Goals </a:t>
            </a:r>
          </a:p>
          <a:p>
            <a:pPr lvl="3"/>
            <a:r>
              <a:rPr lang="en-US" dirty="0"/>
              <a:t>The “general part” or “escape devices”</a:t>
            </a:r>
          </a:p>
          <a:p>
            <a:pPr lvl="3"/>
            <a:r>
              <a:rPr lang="en-US" dirty="0"/>
              <a:t>Characterization</a:t>
            </a:r>
          </a:p>
          <a:p>
            <a:pPr lvl="3"/>
            <a:r>
              <a:rPr lang="en-US" i="1" dirty="0" err="1"/>
              <a:t>Renvoi</a:t>
            </a:r>
            <a:r>
              <a:rPr lang="en-US" i="1" dirty="0"/>
              <a:t> </a:t>
            </a:r>
            <a:endParaRPr lang="en-US" dirty="0"/>
          </a:p>
          <a:p>
            <a:pPr lvl="3"/>
            <a:r>
              <a:rPr lang="en-US" dirty="0"/>
              <a:t>Evasion/Fraud</a:t>
            </a:r>
          </a:p>
          <a:p>
            <a:pPr lvl="3"/>
            <a:r>
              <a:rPr lang="en-US" dirty="0"/>
              <a:t>Foreign Law</a:t>
            </a:r>
          </a:p>
          <a:p>
            <a:pPr lvl="4"/>
            <a:r>
              <a:rPr lang="en-US" dirty="0"/>
              <a:t>Application, burden and method of proof of foreign law</a:t>
            </a:r>
          </a:p>
          <a:p>
            <a:pPr lvl="4"/>
            <a:r>
              <a:rPr lang="en-US" dirty="0"/>
              <a:t>Failure to prove of foreign law</a:t>
            </a:r>
          </a:p>
          <a:p>
            <a:pPr lvl="4"/>
            <a:r>
              <a:rPr lang="en-US" dirty="0"/>
              <a:t>Exclusion of foreign law</a:t>
            </a:r>
          </a:p>
          <a:p>
            <a:pPr lvl="3"/>
            <a:r>
              <a:rPr lang="en-US" dirty="0" smtClean="0"/>
              <a:t>The </a:t>
            </a:r>
            <a:r>
              <a:rPr lang="en-US" dirty="0"/>
              <a:t>Incidental </a:t>
            </a:r>
            <a:r>
              <a:rPr lang="en-US" dirty="0" smtClean="0"/>
              <a:t>Issue</a:t>
            </a:r>
            <a:endParaRPr lang="en-US" dirty="0"/>
          </a:p>
          <a:p>
            <a:pPr lvl="2"/>
            <a:r>
              <a:rPr lang="en-US" dirty="0"/>
              <a:t>Criticisms against the Classical Choice of law </a:t>
            </a:r>
            <a:r>
              <a:rPr lang="en-US" dirty="0" smtClean="0"/>
              <a:t>Method</a:t>
            </a:r>
          </a:p>
          <a:p>
            <a:pPr lvl="2"/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 algn="ctr" rtl="0">
              <a:spcBef>
                <a:spcPct val="0"/>
              </a:spcBef>
            </a:pPr>
            <a:r>
              <a:rPr lang="en-US" b="1" dirty="0" smtClean="0"/>
              <a:t>The “new” or modern Conflict of law theories</a:t>
            </a:r>
            <a:br>
              <a:rPr lang="en-US" b="1" dirty="0" smtClean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3"/>
            <a:r>
              <a:rPr lang="en-US" dirty="0" smtClean="0"/>
              <a:t>Governmental </a:t>
            </a:r>
            <a:r>
              <a:rPr lang="en-US" dirty="0"/>
              <a:t>Interest analysis</a:t>
            </a:r>
          </a:p>
          <a:p>
            <a:pPr lvl="4"/>
            <a:r>
              <a:rPr lang="en-US" dirty="0"/>
              <a:t>Criticisms against Governmental Interest</a:t>
            </a:r>
          </a:p>
          <a:p>
            <a:pPr lvl="3"/>
            <a:r>
              <a:rPr lang="en-US" dirty="0"/>
              <a:t>Functional analysis (policy weighing approaches)</a:t>
            </a:r>
          </a:p>
          <a:p>
            <a:pPr lvl="3"/>
            <a:r>
              <a:rPr lang="en-US" dirty="0"/>
              <a:t>The Value-Oriented approaches</a:t>
            </a:r>
          </a:p>
          <a:p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3200" dirty="0" smtClean="0"/>
              <a:t>Choice of Law in a Federal Set up</a:t>
            </a:r>
            <a:br>
              <a:rPr lang="en-US" sz="3200" dirty="0" smtClean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r>
              <a:rPr lang="en-US" sz="2800" b="1" dirty="0" smtClean="0"/>
              <a:t>The </a:t>
            </a:r>
            <a:r>
              <a:rPr lang="en-US" sz="2800" b="1" dirty="0"/>
              <a:t>American Experience</a:t>
            </a:r>
          </a:p>
          <a:p>
            <a:pPr lvl="3"/>
            <a:r>
              <a:rPr lang="en-US" sz="2400" b="1" dirty="0"/>
              <a:t>Constitutional Limitations on choice of law </a:t>
            </a:r>
          </a:p>
          <a:p>
            <a:pPr lvl="0"/>
            <a:r>
              <a:rPr lang="en-US" sz="2000" dirty="0"/>
              <a:t>Full Faith and Credit Clause</a:t>
            </a:r>
          </a:p>
          <a:p>
            <a:pPr lvl="0"/>
            <a:r>
              <a:rPr lang="en-US" sz="2000" dirty="0"/>
              <a:t>Due Process Clause </a:t>
            </a:r>
          </a:p>
          <a:p>
            <a:pPr lvl="0"/>
            <a:r>
              <a:rPr lang="en-US" sz="2000" dirty="0"/>
              <a:t>Equal Protection Clause</a:t>
            </a:r>
          </a:p>
          <a:p>
            <a:pPr lvl="0"/>
            <a:r>
              <a:rPr lang="en-US" sz="2000" dirty="0"/>
              <a:t>Privilege and Immunities clause </a:t>
            </a:r>
          </a:p>
          <a:p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 algn="ctr" rtl="0">
              <a:spcBef>
                <a:spcPct val="0"/>
              </a:spcBef>
            </a:pPr>
            <a:r>
              <a:rPr lang="en-US" sz="2400" b="1" dirty="0" smtClean="0"/>
              <a:t>Choice of law in FDRE (Federal Democratic Republic of Ethiopia)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3"/>
            <a:r>
              <a:rPr lang="en-US" sz="2800" dirty="0" smtClean="0"/>
              <a:t>The </a:t>
            </a:r>
            <a:r>
              <a:rPr lang="en-US" sz="2800" dirty="0"/>
              <a:t>law applied in diversity cases; Federal or state?</a:t>
            </a:r>
          </a:p>
          <a:p>
            <a:pPr lvl="3"/>
            <a:r>
              <a:rPr lang="en-US" sz="2800" dirty="0"/>
              <a:t>Choice among state laws</a:t>
            </a:r>
          </a:p>
          <a:p>
            <a:pPr lvl="3"/>
            <a:r>
              <a:rPr lang="en-US" sz="2800" dirty="0"/>
              <a:t>The relation ship between Federal and state laws</a:t>
            </a:r>
          </a:p>
          <a:p>
            <a:pPr lvl="3"/>
            <a:r>
              <a:rPr lang="en-US" sz="2800" dirty="0"/>
              <a:t>Choice of Law Under Ethiopian Draft Conflict of law statute(s)</a:t>
            </a:r>
          </a:p>
          <a:p>
            <a:pPr lvl="3"/>
            <a:r>
              <a:rPr lang="en-US" sz="2800" dirty="0"/>
              <a:t>The court practice</a:t>
            </a:r>
          </a:p>
          <a:p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sz="3600" b="1" dirty="0" smtClean="0"/>
              <a:t>Chapter Four: Judgments and Arbitral Awards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smtClean="0"/>
              <a:t>Validity </a:t>
            </a:r>
            <a:r>
              <a:rPr lang="en-US" dirty="0"/>
              <a:t>in </a:t>
            </a:r>
            <a:r>
              <a:rPr lang="en-US" dirty="0" smtClean="0"/>
              <a:t>general</a:t>
            </a:r>
          </a:p>
          <a:p>
            <a:pPr lvl="1"/>
            <a:r>
              <a:rPr lang="en-US" dirty="0" smtClean="0"/>
              <a:t>Recognition and Execution of Foreign Judgments</a:t>
            </a:r>
          </a:p>
          <a:p>
            <a:pPr lvl="2"/>
            <a:r>
              <a:rPr lang="en-US" dirty="0" smtClean="0"/>
              <a:t>The rationale behind Recognition and Execution</a:t>
            </a:r>
          </a:p>
          <a:p>
            <a:pPr lvl="2"/>
            <a:r>
              <a:rPr lang="en-US" dirty="0" smtClean="0"/>
              <a:t>Theories of Recognition and Execution</a:t>
            </a:r>
          </a:p>
          <a:p>
            <a:pPr lvl="0"/>
            <a:r>
              <a:rPr lang="en-US" dirty="0" smtClean="0"/>
              <a:t>Recognition of foreign judgments</a:t>
            </a:r>
          </a:p>
          <a:p>
            <a:pPr lvl="0"/>
            <a:r>
              <a:rPr lang="en-US" dirty="0" smtClean="0"/>
              <a:t>Enforcement of foreign judgments</a:t>
            </a:r>
          </a:p>
          <a:p>
            <a:pPr lvl="0"/>
            <a:r>
              <a:rPr lang="en-US" dirty="0" smtClean="0"/>
              <a:t>Defenses to Recognition and Execution</a:t>
            </a:r>
          </a:p>
          <a:p>
            <a:pPr lvl="0"/>
            <a:r>
              <a:rPr lang="en-US" dirty="0" smtClean="0"/>
              <a:t>Recognition and Execution of Arbitral awards</a:t>
            </a:r>
            <a:endParaRPr lang="en-US" dirty="0"/>
          </a:p>
          <a:p>
            <a:pPr lvl="1"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4000" b="1" dirty="0"/>
              <a:t>Part </a:t>
            </a:r>
            <a:r>
              <a:rPr lang="en-US" sz="4000" b="1" dirty="0" smtClean="0"/>
              <a:t>Two</a:t>
            </a:r>
          </a:p>
          <a:p>
            <a:pPr algn="ctr">
              <a:buNone/>
            </a:pPr>
            <a:r>
              <a:rPr lang="en-US" sz="4000" b="1" dirty="0" smtClean="0"/>
              <a:t> </a:t>
            </a:r>
            <a:r>
              <a:rPr lang="en-US" sz="4000" b="1" dirty="0"/>
              <a:t>Application of Conflict of Laws in Specific Areas of Law</a:t>
            </a:r>
          </a:p>
          <a:p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/>
            <a:r>
              <a:rPr lang="en-US" sz="2800" b="1" dirty="0" smtClean="0"/>
              <a:t>Chapter five </a:t>
            </a:r>
            <a:br>
              <a:rPr lang="en-US" sz="2800" b="1" dirty="0" smtClean="0"/>
            </a:br>
            <a:r>
              <a:rPr lang="en-US" sz="2800" b="1" dirty="0" smtClean="0"/>
              <a:t>Contractual obligations (Interstate and International</a:t>
            </a: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1"/>
            <a:r>
              <a:rPr lang="en-US" sz="3400" dirty="0" smtClean="0"/>
              <a:t>Introduction</a:t>
            </a:r>
            <a:endParaRPr lang="en-US" sz="3400" dirty="0"/>
          </a:p>
          <a:p>
            <a:pPr lvl="1"/>
            <a:r>
              <a:rPr lang="en-US" sz="3400" dirty="0"/>
              <a:t>Choice of Applicable Law in Contract </a:t>
            </a:r>
          </a:p>
          <a:p>
            <a:pPr lvl="2"/>
            <a:r>
              <a:rPr lang="en-US" dirty="0"/>
              <a:t>Doctrine of the proper law of Contract</a:t>
            </a:r>
          </a:p>
          <a:p>
            <a:r>
              <a:rPr lang="en-US" dirty="0"/>
              <a:t> </a:t>
            </a:r>
            <a:r>
              <a:rPr lang="en-US" dirty="0" smtClean="0"/>
              <a:t>The Proper law of the Contract in the Federal Draft conflict of law</a:t>
            </a:r>
          </a:p>
          <a:p>
            <a:r>
              <a:rPr lang="en-US" dirty="0" smtClean="0"/>
              <a:t>Particular </a:t>
            </a:r>
            <a:r>
              <a:rPr lang="en-US" dirty="0"/>
              <a:t>aspects of the Contract</a:t>
            </a:r>
          </a:p>
          <a:p>
            <a:pPr lvl="3"/>
            <a:r>
              <a:rPr lang="en-US" dirty="0"/>
              <a:t>Capacity to contract</a:t>
            </a:r>
          </a:p>
          <a:p>
            <a:pPr lvl="3"/>
            <a:r>
              <a:rPr lang="en-US" dirty="0"/>
              <a:t>Consent and its vices</a:t>
            </a:r>
          </a:p>
          <a:p>
            <a:pPr lvl="3"/>
            <a:r>
              <a:rPr lang="en-US" dirty="0"/>
              <a:t>Formal requirements</a:t>
            </a:r>
          </a:p>
          <a:p>
            <a:pPr lvl="3"/>
            <a:r>
              <a:rPr lang="en-US" dirty="0"/>
              <a:t>Illegality of object of the contract</a:t>
            </a:r>
          </a:p>
          <a:p>
            <a:pPr lvl="1"/>
            <a:r>
              <a:rPr lang="en-US" dirty="0"/>
              <a:t>Protected Contracts</a:t>
            </a:r>
          </a:p>
          <a:p>
            <a:pPr lvl="2"/>
            <a:r>
              <a:rPr lang="en-US" dirty="0"/>
              <a:t>Consumer contracts </a:t>
            </a:r>
          </a:p>
          <a:p>
            <a:pPr lvl="2"/>
            <a:r>
              <a:rPr lang="en-US" dirty="0"/>
              <a:t> Individual contracts of employment</a:t>
            </a:r>
          </a:p>
          <a:p>
            <a:pPr lvl="2"/>
            <a:r>
              <a:rPr lang="en-US" dirty="0"/>
              <a:t>Rules under the Federal Draft conflict of laws </a:t>
            </a:r>
          </a:p>
          <a:p>
            <a:pPr lvl="1"/>
            <a:r>
              <a:rPr lang="en-US" dirty="0"/>
              <a:t>The Practice of Ethiopian Courts</a:t>
            </a:r>
          </a:p>
          <a:p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sz="3100" b="1" dirty="0" smtClean="0"/>
              <a:t/>
            </a:r>
            <a:br>
              <a:rPr lang="en-US" sz="3100" b="1" dirty="0" smtClean="0"/>
            </a:br>
            <a:r>
              <a:rPr lang="en-US" sz="3100" b="1" dirty="0"/>
              <a:t/>
            </a:r>
            <a:br>
              <a:rPr lang="en-US" sz="3100" b="1" dirty="0"/>
            </a:br>
            <a:r>
              <a:rPr lang="en-US" sz="3100" b="1" dirty="0" smtClean="0"/>
              <a:t>Chapter Six</a:t>
            </a:r>
            <a:br>
              <a:rPr lang="en-US" sz="3100" b="1" dirty="0" smtClean="0"/>
            </a:br>
            <a:r>
              <a:rPr lang="en-US" sz="3100" b="1" dirty="0" smtClean="0"/>
              <a:t>Non-contractual obligations (Torts</a:t>
            </a:r>
            <a:r>
              <a:rPr lang="en-US" b="1" dirty="0" smtClean="0"/>
              <a:t>)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US" dirty="0" smtClean="0"/>
              <a:t>Introduction</a:t>
            </a:r>
            <a:endParaRPr lang="en-US" dirty="0"/>
          </a:p>
          <a:p>
            <a:pPr lvl="1"/>
            <a:r>
              <a:rPr lang="en-US" dirty="0"/>
              <a:t>The Main Rules Governing Choice of Law in Tort</a:t>
            </a:r>
          </a:p>
          <a:p>
            <a:pPr lvl="1"/>
            <a:r>
              <a:rPr lang="en-US" dirty="0"/>
              <a:t>Rules governing choice of Law in tort under the Federal Draft Conflict of Laws</a:t>
            </a:r>
          </a:p>
          <a:p>
            <a:pPr lvl="1"/>
            <a:r>
              <a:rPr lang="en-US" dirty="0"/>
              <a:t>Particular Torts</a:t>
            </a:r>
          </a:p>
          <a:p>
            <a:pPr lvl="2"/>
            <a:r>
              <a:rPr lang="en-US" dirty="0"/>
              <a:t>Personal Injuries and Damage to property</a:t>
            </a:r>
          </a:p>
          <a:p>
            <a:pPr lvl="2"/>
            <a:r>
              <a:rPr lang="en-US" dirty="0"/>
              <a:t>Unfair Competition</a:t>
            </a:r>
          </a:p>
          <a:p>
            <a:pPr lvl="2"/>
            <a:r>
              <a:rPr lang="en-US" dirty="0"/>
              <a:t>Product liability</a:t>
            </a:r>
          </a:p>
          <a:p>
            <a:pPr lvl="2"/>
            <a:r>
              <a:rPr lang="en-US" dirty="0"/>
              <a:t>Defamation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Practice of Ethiopian courts</a:t>
            </a:r>
          </a:p>
          <a:p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Chapter Seven</a:t>
            </a:r>
            <a:br>
              <a:rPr lang="en-US" b="1" dirty="0" smtClean="0"/>
            </a:br>
            <a:r>
              <a:rPr lang="en-US" b="1" dirty="0" smtClean="0"/>
              <a:t> Property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1"/>
            <a:r>
              <a:rPr lang="en-US" dirty="0" smtClean="0"/>
              <a:t>Introduction</a:t>
            </a:r>
            <a:endParaRPr lang="en-US" dirty="0"/>
          </a:p>
          <a:p>
            <a:pPr lvl="1"/>
            <a:r>
              <a:rPr lang="en-US" dirty="0"/>
              <a:t> General Rules governing Choice of law in  Property</a:t>
            </a:r>
          </a:p>
          <a:p>
            <a:pPr lvl="1"/>
            <a:r>
              <a:rPr lang="en-US" dirty="0"/>
              <a:t> Particular Rules Governing Dealings with Immovable and Immovable</a:t>
            </a:r>
          </a:p>
          <a:p>
            <a:pPr lvl="2"/>
            <a:r>
              <a:rPr lang="en-US" dirty="0"/>
              <a:t>Conveyances</a:t>
            </a:r>
          </a:p>
          <a:p>
            <a:pPr lvl="2"/>
            <a:r>
              <a:rPr lang="en-US" dirty="0"/>
              <a:t>Encumbrances</a:t>
            </a:r>
          </a:p>
          <a:p>
            <a:pPr lvl="1"/>
            <a:r>
              <a:rPr lang="en-US" dirty="0"/>
              <a:t> Choice of Law Rules Governing Succession on Death</a:t>
            </a:r>
          </a:p>
          <a:p>
            <a:pPr lvl="1"/>
            <a:r>
              <a:rPr lang="en-US" dirty="0"/>
              <a:t>Rules Governing Choice of law In property under the Federal Draft Conflict of laws</a:t>
            </a:r>
          </a:p>
          <a:p>
            <a:pPr lvl="1"/>
            <a:r>
              <a:rPr lang="en-US" dirty="0"/>
              <a:t>The Practice of Ethiopian courts</a:t>
            </a:r>
          </a:p>
          <a:p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US" b="1" dirty="0"/>
              <a:t>Chapter eight: Status (Interstate and International</a:t>
            </a:r>
            <a:r>
              <a:rPr lang="en-US" b="1" dirty="0" smtClean="0"/>
              <a:t>)</a:t>
            </a:r>
            <a:endParaRPr lang="en-US" dirty="0"/>
          </a:p>
          <a:p>
            <a:pPr lvl="1"/>
            <a:r>
              <a:rPr lang="en-US" b="1" dirty="0"/>
              <a:t>General Introduction on Status</a:t>
            </a:r>
          </a:p>
          <a:p>
            <a:pPr lvl="1"/>
            <a:r>
              <a:rPr lang="en-US" sz="3300" b="1" dirty="0"/>
              <a:t> Marriage</a:t>
            </a:r>
          </a:p>
          <a:p>
            <a:pPr lvl="2"/>
            <a:r>
              <a:rPr lang="en-US" dirty="0"/>
              <a:t>Introduction</a:t>
            </a:r>
          </a:p>
          <a:p>
            <a:pPr lvl="2"/>
            <a:r>
              <a:rPr lang="en-US" dirty="0"/>
              <a:t>Formal Validity</a:t>
            </a:r>
          </a:p>
          <a:p>
            <a:pPr lvl="2"/>
            <a:r>
              <a:rPr lang="en-US" dirty="0"/>
              <a:t>Essential validity</a:t>
            </a:r>
          </a:p>
          <a:p>
            <a:pPr lvl="2"/>
            <a:r>
              <a:rPr lang="en-US" dirty="0"/>
              <a:t>Incidents if foreign marriage</a:t>
            </a:r>
          </a:p>
          <a:p>
            <a:pPr lvl="2"/>
            <a:r>
              <a:rPr lang="en-US" dirty="0"/>
              <a:t>Public policy</a:t>
            </a:r>
          </a:p>
          <a:p>
            <a:pPr lvl="2"/>
            <a:r>
              <a:rPr lang="en-US" dirty="0"/>
              <a:t>Matrimonial causes </a:t>
            </a:r>
          </a:p>
          <a:p>
            <a:pPr lvl="2"/>
            <a:r>
              <a:rPr lang="en-US" dirty="0"/>
              <a:t>Jurisdiction</a:t>
            </a:r>
          </a:p>
          <a:p>
            <a:pPr lvl="2"/>
            <a:r>
              <a:rPr lang="en-US" dirty="0"/>
              <a:t>Choice of law</a:t>
            </a:r>
          </a:p>
          <a:p>
            <a:pPr lvl="2"/>
            <a:r>
              <a:rPr lang="en-US" dirty="0"/>
              <a:t>Recognition of foreign judgments</a:t>
            </a:r>
          </a:p>
          <a:p>
            <a:pPr lvl="2"/>
            <a:r>
              <a:rPr lang="en-US" dirty="0"/>
              <a:t>Marital/Matrimonial Property</a:t>
            </a:r>
          </a:p>
          <a:p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Chapter eight Contd..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None/>
            </a:pPr>
            <a:r>
              <a:rPr lang="en-US" sz="3600" b="1" dirty="0"/>
              <a:t>Children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Introduction</a:t>
            </a:r>
          </a:p>
          <a:p>
            <a:pPr lvl="2"/>
            <a:r>
              <a:rPr lang="en-US" dirty="0"/>
              <a:t>Custody</a:t>
            </a:r>
          </a:p>
          <a:p>
            <a:pPr lvl="2"/>
            <a:r>
              <a:rPr lang="en-US" dirty="0"/>
              <a:t>Legitimacy and </a:t>
            </a:r>
            <a:r>
              <a:rPr lang="en-US" dirty="0" err="1"/>
              <a:t>legitimation</a:t>
            </a:r>
            <a:endParaRPr lang="en-US" dirty="0"/>
          </a:p>
          <a:p>
            <a:pPr lvl="2"/>
            <a:r>
              <a:rPr lang="en-US" dirty="0"/>
              <a:t>Adoption</a:t>
            </a:r>
          </a:p>
          <a:p>
            <a:pPr lvl="2"/>
            <a:r>
              <a:rPr lang="en-US" dirty="0"/>
              <a:t>Parental responsibility</a:t>
            </a:r>
          </a:p>
          <a:p>
            <a:pPr lvl="2"/>
            <a:r>
              <a:rPr lang="en-US" dirty="0"/>
              <a:t>Determination of paternity</a:t>
            </a:r>
          </a:p>
          <a:p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sz="4000" b="1" dirty="0" smtClean="0"/>
              <a:t/>
            </a:r>
            <a:br>
              <a:rPr lang="en-US" sz="4000" b="1" dirty="0" smtClean="0"/>
            </a:br>
            <a:r>
              <a:rPr lang="en-US" sz="4000" b="1" dirty="0" smtClean="0"/>
              <a:t>Chapter nine: </a:t>
            </a:r>
            <a:br>
              <a:rPr lang="en-US" sz="4000" b="1" dirty="0" smtClean="0"/>
            </a:br>
            <a:r>
              <a:rPr lang="en-US" sz="4000" b="1" dirty="0" smtClean="0"/>
              <a:t>Agency, Partnerships and companies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 smtClean="0"/>
              <a:t>General </a:t>
            </a:r>
            <a:r>
              <a:rPr lang="en-US" dirty="0"/>
              <a:t>Introduction</a:t>
            </a:r>
          </a:p>
          <a:p>
            <a:pPr lvl="1"/>
            <a:r>
              <a:rPr lang="en-US" dirty="0"/>
              <a:t>Agency</a:t>
            </a:r>
          </a:p>
          <a:p>
            <a:pPr lvl="1"/>
            <a:r>
              <a:rPr lang="en-US" dirty="0"/>
              <a:t>Partnerships</a:t>
            </a:r>
          </a:p>
          <a:p>
            <a:pPr lvl="1"/>
            <a:r>
              <a:rPr lang="en-US" dirty="0"/>
              <a:t>Companies</a:t>
            </a:r>
          </a:p>
          <a:p>
            <a:pPr lvl="2"/>
            <a:r>
              <a:rPr lang="en-US" dirty="0"/>
              <a:t>Creation, recognition and dissolution of companies</a:t>
            </a:r>
          </a:p>
          <a:p>
            <a:pPr lvl="2"/>
            <a:r>
              <a:rPr lang="en-US" dirty="0"/>
              <a:t>Corporate powers and liabilities of companies</a:t>
            </a:r>
          </a:p>
          <a:p>
            <a:pPr lvl="2"/>
            <a:r>
              <a:rPr lang="en-US" dirty="0"/>
              <a:t>Shareholders, directors and officers of companies</a:t>
            </a:r>
          </a:p>
          <a:p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 algn="ctr">
              <a:buNone/>
            </a:pPr>
            <a:r>
              <a:rPr lang="en-US" sz="4000" dirty="0" smtClean="0"/>
              <a:t>Enjoy The Course </a:t>
            </a:r>
          </a:p>
          <a:p>
            <a:pPr algn="ctr">
              <a:buNone/>
            </a:pPr>
            <a:r>
              <a:rPr lang="en-US" sz="4000" dirty="0" smtClean="0"/>
              <a:t>For It Deserves Mental Exercise!!</a:t>
            </a:r>
          </a:p>
          <a:p>
            <a:pPr algn="ctr">
              <a:buNone/>
            </a:pPr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247</TotalTime>
  <Words>929</Words>
  <Application>Microsoft Office PowerPoint</Application>
  <PresentationFormat>On-screen Show (4:3)</PresentationFormat>
  <Paragraphs>174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Flow</vt:lpstr>
      <vt:lpstr>Haramaya University  College of Law </vt:lpstr>
      <vt:lpstr>COURSE INFORMATION </vt:lpstr>
      <vt:lpstr>Prerequisites</vt:lpstr>
      <vt:lpstr>Objective of the course </vt:lpstr>
      <vt:lpstr>Specific objectives </vt:lpstr>
      <vt:lpstr>Course Outline </vt:lpstr>
      <vt:lpstr>Chapter Two: Judicial/Adjudicatory jurisdiction </vt:lpstr>
      <vt:lpstr>Chapter Three: The Choice of Law Process  </vt:lpstr>
      <vt:lpstr>The “new” or modern Conflict of law theories </vt:lpstr>
      <vt:lpstr>Choice of Law in a Federal Set up </vt:lpstr>
      <vt:lpstr>Choice of law in FDRE (Federal Democratic Republic of Ethiopia) </vt:lpstr>
      <vt:lpstr>Chapter Four: Judgments and Arbitral Awards  </vt:lpstr>
      <vt:lpstr>Slide 13</vt:lpstr>
      <vt:lpstr>Chapter five  Contractual obligations (Interstate and International </vt:lpstr>
      <vt:lpstr>  Chapter Six Non-contractual obligations (Torts)  </vt:lpstr>
      <vt:lpstr> Chapter Seven  Property </vt:lpstr>
      <vt:lpstr>Slide 17</vt:lpstr>
      <vt:lpstr>Chapter eight Contd..</vt:lpstr>
      <vt:lpstr> Chapter nine:  Agency, Partnerships and companies </vt:lpstr>
      <vt:lpstr>Slide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9</cp:revision>
  <dcterms:created xsi:type="dcterms:W3CDTF">2011-03-02T05:21:08Z</dcterms:created>
  <dcterms:modified xsi:type="dcterms:W3CDTF">2011-03-02T21:51:42Z</dcterms:modified>
</cp:coreProperties>
</file>