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25"/>
  </p:notesMasterIdLst>
  <p:sldIdLst>
    <p:sldId id="256" r:id="rId2"/>
    <p:sldId id="257" r:id="rId3"/>
    <p:sldId id="258" r:id="rId4"/>
    <p:sldId id="259" r:id="rId5"/>
    <p:sldId id="260" r:id="rId6"/>
    <p:sldId id="261" r:id="rId7"/>
    <p:sldId id="262" r:id="rId8"/>
    <p:sldId id="280" r:id="rId9"/>
    <p:sldId id="263" r:id="rId10"/>
    <p:sldId id="264" r:id="rId11"/>
    <p:sldId id="279"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90" d="100"/>
          <a:sy n="90" d="100"/>
        </p:scale>
        <p:origin x="-119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C2FA8DA-F466-4FBA-BD85-B8FC72BC7902}" type="datetimeFigureOut">
              <a:rPr lang="en-US" smtClean="0"/>
              <a:pPr/>
              <a:t>11/26/2013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AE2AEC-00EF-4B5D-A1CF-0BD144E6C471}" type="slidenum">
              <a:rPr lang="en-US" smtClean="0"/>
              <a:pPr/>
              <a:t>‹#›</a:t>
            </a:fld>
            <a:endParaRPr lang="en-US"/>
          </a:p>
        </p:txBody>
      </p:sp>
    </p:spTree>
    <p:extLst>
      <p:ext uri="{BB962C8B-B14F-4D97-AF65-F5344CB8AC3E}">
        <p14:creationId xmlns:p14="http://schemas.microsoft.com/office/powerpoint/2010/main" val="188859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4AE2AEC-00EF-4B5D-A1CF-0BD144E6C471}" type="slidenum">
              <a:rPr lang="en-US" smtClean="0"/>
              <a:pPr/>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19763DE-B23A-4691-95A1-6DE59591DA39}"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Capter One </a:t>
            </a:r>
            <a:endParaRPr lang="en-US"/>
          </a:p>
        </p:txBody>
      </p:sp>
      <p:sp>
        <p:nvSpPr>
          <p:cNvPr id="6" name="Slide Number Placeholder 5"/>
          <p:cNvSpPr>
            <a:spLocks noGrp="1"/>
          </p:cNvSpPr>
          <p:nvPr>
            <p:ph type="sldNum" sz="quarter" idx="12"/>
          </p:nvPr>
        </p:nvSpPr>
        <p:spPr/>
        <p:txBody>
          <a:bodyPr/>
          <a:lstStyle/>
          <a:p>
            <a:fld id="{E1D69346-A95F-4289-B3B1-F0DC879E0563}" type="slidenum">
              <a:rPr lang="en-US" smtClean="0"/>
              <a:pPr/>
              <a:t>‹#›</a:t>
            </a:fld>
            <a:endParaRPr lang="en-US"/>
          </a:p>
        </p:txBody>
      </p:sp>
    </p:spTree>
  </p:cSld>
  <p:clrMapOvr>
    <a:masterClrMapping/>
  </p:clrMapOvr>
  <p:transition spd="med">
    <p:wipe dir="d"/>
    <p:sndAc>
      <p:stSnd>
        <p:snd r:embed="rId1" name="camera.wav"/>
      </p:stSnd>
    </p:sndAc>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C0863C-E8D4-42C8-B739-44CFB41A2375}"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Capter One </a:t>
            </a:r>
            <a:endParaRPr lang="en-US"/>
          </a:p>
        </p:txBody>
      </p:sp>
      <p:sp>
        <p:nvSpPr>
          <p:cNvPr id="6" name="Slide Number Placeholder 5"/>
          <p:cNvSpPr>
            <a:spLocks noGrp="1"/>
          </p:cNvSpPr>
          <p:nvPr>
            <p:ph type="sldNum" sz="quarter" idx="12"/>
          </p:nvPr>
        </p:nvSpPr>
        <p:spPr/>
        <p:txBody>
          <a:bodyPr/>
          <a:lstStyle/>
          <a:p>
            <a:fld id="{E1D69346-A95F-4289-B3B1-F0DC879E0563}" type="slidenum">
              <a:rPr lang="en-US" smtClean="0"/>
              <a:pPr/>
              <a:t>‹#›</a:t>
            </a:fld>
            <a:endParaRPr lang="en-US"/>
          </a:p>
        </p:txBody>
      </p:sp>
    </p:spTree>
  </p:cSld>
  <p:clrMapOvr>
    <a:masterClrMapping/>
  </p:clrMapOvr>
  <p:transition spd="med">
    <p:wipe dir="d"/>
    <p:sndAc>
      <p:stSnd>
        <p:snd r:embed="rId1" name="camera.wav"/>
      </p:stSnd>
    </p:sndAc>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94C9FA1-727B-4672-8122-FCC122F98B5C}"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Capter One </a:t>
            </a:r>
            <a:endParaRPr lang="en-US"/>
          </a:p>
        </p:txBody>
      </p:sp>
      <p:sp>
        <p:nvSpPr>
          <p:cNvPr id="6" name="Slide Number Placeholder 5"/>
          <p:cNvSpPr>
            <a:spLocks noGrp="1"/>
          </p:cNvSpPr>
          <p:nvPr>
            <p:ph type="sldNum" sz="quarter" idx="12"/>
          </p:nvPr>
        </p:nvSpPr>
        <p:spPr/>
        <p:txBody>
          <a:bodyPr/>
          <a:lstStyle/>
          <a:p>
            <a:fld id="{E1D69346-A95F-4289-B3B1-F0DC879E0563}" type="slidenum">
              <a:rPr lang="en-US" smtClean="0"/>
              <a:pPr/>
              <a:t>‹#›</a:t>
            </a:fld>
            <a:endParaRPr lang="en-US"/>
          </a:p>
        </p:txBody>
      </p:sp>
    </p:spTree>
  </p:cSld>
  <p:clrMapOvr>
    <a:masterClrMapping/>
  </p:clrMapOvr>
  <p:transition spd="med">
    <p:wipe dir="d"/>
    <p:sndAc>
      <p:stSnd>
        <p:snd r:embed="rId1" name="camera.wav"/>
      </p:stSnd>
    </p:sndAc>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5EBD0FA-D438-4F1F-970B-864A13AA155A}"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7" name="Slide Number Placeholder 6"/>
          <p:cNvSpPr>
            <a:spLocks noGrp="1"/>
          </p:cNvSpPr>
          <p:nvPr>
            <p:ph type="sldNum" sz="quarter" idx="12"/>
          </p:nvPr>
        </p:nvSpPr>
        <p:spPr/>
        <p:txBody>
          <a:bodyPr/>
          <a:lstStyle/>
          <a:p>
            <a:fld id="{E1D69346-A95F-4289-B3B1-F0DC879E0563}" type="slidenum">
              <a:rPr lang="en-US" smtClean="0"/>
              <a:pPr/>
              <a:t>‹#›</a:t>
            </a:fld>
            <a:endParaRPr lang="en-US"/>
          </a:p>
        </p:txBody>
      </p:sp>
    </p:spTree>
  </p:cSld>
  <p:clrMapOvr>
    <a:masterClrMapping/>
  </p:clrMapOvr>
  <p:transition spd="med">
    <p:wipe dir="d"/>
    <p:sndAc>
      <p:stSnd>
        <p:snd r:embed="rId1" name="camera.wav"/>
      </p:stSnd>
    </p:sndAc>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4128611-A5E6-4201-BA94-AD77E8D3FF3D}" type="datetime1">
              <a:rPr lang="en-US" smtClean="0"/>
              <a:pPr/>
              <a:t>11/26/2013</a:t>
            </a:fld>
            <a:endParaRPr lang="en-US"/>
          </a:p>
        </p:txBody>
      </p:sp>
      <p:sp>
        <p:nvSpPr>
          <p:cNvPr id="8" name="Footer Placeholder 7"/>
          <p:cNvSpPr>
            <a:spLocks noGrp="1"/>
          </p:cNvSpPr>
          <p:nvPr>
            <p:ph type="ftr" sz="quarter" idx="11"/>
          </p:nvPr>
        </p:nvSpPr>
        <p:spPr/>
        <p:txBody>
          <a:bodyPr/>
          <a:lstStyle/>
          <a:p>
            <a:r>
              <a:rPr lang="en-US" smtClean="0"/>
              <a:t>Conflict of Laws PPT Capter One </a:t>
            </a:r>
            <a:endParaRPr lang="en-US"/>
          </a:p>
        </p:txBody>
      </p:sp>
      <p:sp>
        <p:nvSpPr>
          <p:cNvPr id="9" name="Slide Number Placeholder 8"/>
          <p:cNvSpPr>
            <a:spLocks noGrp="1"/>
          </p:cNvSpPr>
          <p:nvPr>
            <p:ph type="sldNum" sz="quarter" idx="12"/>
          </p:nvPr>
        </p:nvSpPr>
        <p:spPr/>
        <p:txBody>
          <a:bodyPr/>
          <a:lstStyle/>
          <a:p>
            <a:fld id="{E1D69346-A95F-4289-B3B1-F0DC879E0563}" type="slidenum">
              <a:rPr lang="en-US" smtClean="0"/>
              <a:pPr/>
              <a:t>‹#›</a:t>
            </a:fld>
            <a:endParaRPr lang="en-US"/>
          </a:p>
        </p:txBody>
      </p:sp>
    </p:spTree>
  </p:cSld>
  <p:clrMapOvr>
    <a:masterClrMapping/>
  </p:clrMapOvr>
  <p:transition spd="med">
    <p:wipe dir="d"/>
    <p:sndAc>
      <p:stSnd>
        <p:snd r:embed="rId1" name="camera.wav"/>
      </p:stSnd>
    </p:sndAc>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74C54CD-98E7-45FB-8D58-79D4F7287C3C}" type="datetime1">
              <a:rPr lang="en-US" smtClean="0"/>
              <a:pPr/>
              <a:t>11/26/2013</a:t>
            </a:fld>
            <a:endParaRPr lang="en-US"/>
          </a:p>
        </p:txBody>
      </p:sp>
      <p:sp>
        <p:nvSpPr>
          <p:cNvPr id="4" name="Footer Placeholder 3"/>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a:t>
            </a:fld>
            <a:endParaRPr lang="en-US"/>
          </a:p>
        </p:txBody>
      </p:sp>
    </p:spTree>
  </p:cSld>
  <p:clrMapOvr>
    <a:masterClrMapping/>
  </p:clrMapOvr>
  <p:transition spd="med">
    <p:wipe dir="d"/>
    <p:sndAc>
      <p:stSnd>
        <p:snd r:embed="rId1" name="camera.wav"/>
      </p:stSnd>
    </p:sndAc>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603AD5-5E85-44D0-A69B-43395B78C22B}" type="datetime1">
              <a:rPr lang="en-US" smtClean="0"/>
              <a:pPr/>
              <a:t>11/26/2013</a:t>
            </a:fld>
            <a:endParaRPr lang="en-US"/>
          </a:p>
        </p:txBody>
      </p:sp>
      <p:sp>
        <p:nvSpPr>
          <p:cNvPr id="3" name="Footer Placeholder 2"/>
          <p:cNvSpPr>
            <a:spLocks noGrp="1"/>
          </p:cNvSpPr>
          <p:nvPr>
            <p:ph type="ftr" sz="quarter" idx="11"/>
          </p:nvPr>
        </p:nvSpPr>
        <p:spPr/>
        <p:txBody>
          <a:bodyPr/>
          <a:lstStyle/>
          <a:p>
            <a:r>
              <a:rPr lang="en-US" smtClean="0"/>
              <a:t>Conflict of Laws PPT Capter One </a:t>
            </a:r>
            <a:endParaRPr lang="en-US"/>
          </a:p>
        </p:txBody>
      </p:sp>
      <p:sp>
        <p:nvSpPr>
          <p:cNvPr id="4" name="Slide Number Placeholder 3"/>
          <p:cNvSpPr>
            <a:spLocks noGrp="1"/>
          </p:cNvSpPr>
          <p:nvPr>
            <p:ph type="sldNum" sz="quarter" idx="12"/>
          </p:nvPr>
        </p:nvSpPr>
        <p:spPr/>
        <p:txBody>
          <a:bodyPr/>
          <a:lstStyle/>
          <a:p>
            <a:fld id="{E1D69346-A95F-4289-B3B1-F0DC879E0563}" type="slidenum">
              <a:rPr lang="en-US" smtClean="0"/>
              <a:pPr/>
              <a:t>‹#›</a:t>
            </a:fld>
            <a:endParaRPr lang="en-US"/>
          </a:p>
        </p:txBody>
      </p:sp>
    </p:spTree>
  </p:cSld>
  <p:clrMapOvr>
    <a:masterClrMapping/>
  </p:clrMapOvr>
  <p:transition spd="med">
    <p:wipe dir="d"/>
    <p:sndAc>
      <p:stSnd>
        <p:snd r:embed="rId1" name="camera.wav"/>
      </p:stSnd>
    </p:sndAc>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41F436-3513-428C-9A42-934B72C176EA}"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7" name="Slide Number Placeholder 6"/>
          <p:cNvSpPr>
            <a:spLocks noGrp="1"/>
          </p:cNvSpPr>
          <p:nvPr>
            <p:ph type="sldNum" sz="quarter" idx="12"/>
          </p:nvPr>
        </p:nvSpPr>
        <p:spPr/>
        <p:txBody>
          <a:bodyPr/>
          <a:lstStyle/>
          <a:p>
            <a:fld id="{E1D69346-A95F-4289-B3B1-F0DC879E0563}" type="slidenum">
              <a:rPr lang="en-US" smtClean="0"/>
              <a:pPr/>
              <a:t>‹#›</a:t>
            </a:fld>
            <a:endParaRPr lang="en-US"/>
          </a:p>
        </p:txBody>
      </p:sp>
    </p:spTree>
  </p:cSld>
  <p:clrMapOvr>
    <a:masterClrMapping/>
  </p:clrMapOvr>
  <p:transition spd="med">
    <p:wipe dir="d"/>
    <p:sndAc>
      <p:stSnd>
        <p:snd r:embed="rId1" name="camera.wav"/>
      </p:stSnd>
    </p:sndAc>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ABAEE89-983E-4B67-861F-C358EFD11CE4}"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7" name="Slide Number Placeholder 6"/>
          <p:cNvSpPr>
            <a:spLocks noGrp="1"/>
          </p:cNvSpPr>
          <p:nvPr>
            <p:ph type="sldNum" sz="quarter" idx="12"/>
          </p:nvPr>
        </p:nvSpPr>
        <p:spPr/>
        <p:txBody>
          <a:bodyPr/>
          <a:lstStyle/>
          <a:p>
            <a:fld id="{E1D69346-A95F-4289-B3B1-F0DC879E0563}" type="slidenum">
              <a:rPr lang="en-US" smtClean="0"/>
              <a:pPr/>
              <a:t>‹#›</a:t>
            </a:fld>
            <a:endParaRPr lang="en-US"/>
          </a:p>
        </p:txBody>
      </p:sp>
    </p:spTree>
  </p:cSld>
  <p:clrMapOvr>
    <a:masterClrMapping/>
  </p:clrMapOvr>
  <p:transition spd="med">
    <p:wipe dir="d"/>
    <p:sndAc>
      <p:stSnd>
        <p:snd r:embed="rId1" name="camera.wav"/>
      </p:stSnd>
    </p:sndAc>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832D4C-3D43-4CA9-B336-E9FD8C868F6B}"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Capter One </a:t>
            </a:r>
            <a:endParaRPr lang="en-US"/>
          </a:p>
        </p:txBody>
      </p:sp>
      <p:sp>
        <p:nvSpPr>
          <p:cNvPr id="6" name="Slide Number Placeholder 5"/>
          <p:cNvSpPr>
            <a:spLocks noGrp="1"/>
          </p:cNvSpPr>
          <p:nvPr>
            <p:ph type="sldNum" sz="quarter" idx="12"/>
          </p:nvPr>
        </p:nvSpPr>
        <p:spPr/>
        <p:txBody>
          <a:bodyPr/>
          <a:lstStyle/>
          <a:p>
            <a:fld id="{E1D69346-A95F-4289-B3B1-F0DC879E0563}" type="slidenum">
              <a:rPr lang="en-US" smtClean="0"/>
              <a:pPr/>
              <a:t>‹#›</a:t>
            </a:fld>
            <a:endParaRPr lang="en-US"/>
          </a:p>
        </p:txBody>
      </p:sp>
    </p:spTree>
  </p:cSld>
  <p:clrMapOvr>
    <a:masterClrMapping/>
  </p:clrMapOvr>
  <p:transition spd="med">
    <p:wipe dir="d"/>
    <p:sndAc>
      <p:stSnd>
        <p:snd r:embed="rId1" name="camera.wav"/>
      </p:stSnd>
    </p:sndAc>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747002-CB5F-4D48-8CA1-FAB6E8EC5218}"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Capter One </a:t>
            </a:r>
            <a:endParaRPr lang="en-US"/>
          </a:p>
        </p:txBody>
      </p:sp>
      <p:sp>
        <p:nvSpPr>
          <p:cNvPr id="6" name="Slide Number Placeholder 5"/>
          <p:cNvSpPr>
            <a:spLocks noGrp="1"/>
          </p:cNvSpPr>
          <p:nvPr>
            <p:ph type="sldNum" sz="quarter" idx="12"/>
          </p:nvPr>
        </p:nvSpPr>
        <p:spPr/>
        <p:txBody>
          <a:bodyPr/>
          <a:lstStyle/>
          <a:p>
            <a:fld id="{E1D69346-A95F-4289-B3B1-F0DC879E0563}" type="slidenum">
              <a:rPr lang="en-US" smtClean="0"/>
              <a:pPr/>
              <a:t>‹#›</a:t>
            </a:fld>
            <a:endParaRPr lang="en-US"/>
          </a:p>
        </p:txBody>
      </p:sp>
    </p:spTree>
  </p:cSld>
  <p:clrMapOvr>
    <a:masterClrMapping/>
  </p:clrMapOvr>
  <p:transition spd="med">
    <p:wipe dir="d"/>
    <p:sndAc>
      <p:stSnd>
        <p:snd r:embed="rId1" name="camera.wav"/>
      </p:stSnd>
    </p:sndAc>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4FDD5-CD1A-46A2-AAF9-79F275F2956E}" type="datetime1">
              <a:rPr lang="en-US" smtClean="0"/>
              <a:pPr/>
              <a:t>11/26/2013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Conflict of Laws PPT Capter One </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D69346-A95F-4289-B3B1-F0DC879E056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spd="med">
    <p:wipe dir="d"/>
    <p:sndAc>
      <p:stSnd>
        <p:snd r:embed="rId13" name="camera.wav"/>
      </p:stSnd>
    </p:sndAc>
  </p:transition>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t>Conflict Of Laws </a:t>
            </a:r>
            <a:endParaRPr lang="en-US" dirty="0"/>
          </a:p>
        </p:txBody>
      </p:sp>
      <p:sp>
        <p:nvSpPr>
          <p:cNvPr id="3" name="Subtitle 2"/>
          <p:cNvSpPr>
            <a:spLocks noGrp="1"/>
          </p:cNvSpPr>
          <p:nvPr>
            <p:ph type="subTitle" idx="1"/>
          </p:nvPr>
        </p:nvSpPr>
        <p:spPr>
          <a:xfrm>
            <a:off x="533400" y="3228536"/>
            <a:ext cx="7854696" cy="2410264"/>
          </a:xfrm>
        </p:spPr>
        <p:txBody>
          <a:bodyPr>
            <a:normAutofit fontScale="85000" lnSpcReduction="20000"/>
          </a:bodyPr>
          <a:lstStyle/>
          <a:p>
            <a:endParaRPr lang="en-US" dirty="0" smtClean="0">
              <a:solidFill>
                <a:schemeClr val="tx1"/>
              </a:solidFill>
            </a:endParaRPr>
          </a:p>
          <a:p>
            <a:pPr algn="ctr"/>
            <a:r>
              <a:rPr lang="en-US" sz="3600" dirty="0" smtClean="0">
                <a:solidFill>
                  <a:schemeClr val="tx1"/>
                </a:solidFill>
              </a:rPr>
              <a:t>Prepared By: </a:t>
            </a:r>
            <a:r>
              <a:rPr lang="en-US" sz="3600" dirty="0" smtClean="0"/>
              <a:t>Sultan Kassim</a:t>
            </a:r>
          </a:p>
          <a:p>
            <a:pPr algn="ctr"/>
            <a:r>
              <a:rPr lang="en-US" sz="3600" dirty="0" smtClean="0"/>
              <a:t>College of Law</a:t>
            </a:r>
          </a:p>
          <a:p>
            <a:pPr algn="ctr"/>
            <a:r>
              <a:rPr lang="en-US" sz="3600" dirty="0" smtClean="0"/>
              <a:t>Haramaya</a:t>
            </a:r>
          </a:p>
          <a:p>
            <a:pPr algn="ctr"/>
            <a:r>
              <a:rPr lang="en-US" sz="3600" smtClean="0"/>
              <a:t> January,2012</a:t>
            </a:r>
            <a:endParaRPr lang="en-US" sz="3600" dirty="0" smtClean="0"/>
          </a:p>
          <a:p>
            <a:endParaRPr lang="en-US" sz="3600" dirty="0" smtClean="0">
              <a:solidFill>
                <a:schemeClr val="tx1"/>
              </a:solidFill>
            </a:endParaRPr>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algn="ctr">
              <a:buNone/>
            </a:pPr>
            <a:r>
              <a:rPr lang="en-US" sz="4800" dirty="0" smtClean="0"/>
              <a:t>Part  One </a:t>
            </a:r>
          </a:p>
          <a:p>
            <a:pPr algn="ctr">
              <a:buNone/>
            </a:pPr>
            <a:r>
              <a:rPr lang="en-US" sz="4800" dirty="0" smtClean="0"/>
              <a:t>General Principles of Conflict of Laws</a:t>
            </a:r>
          </a:p>
        </p:txBody>
      </p:sp>
      <p:sp>
        <p:nvSpPr>
          <p:cNvPr id="4" name="Date Placeholder 3"/>
          <p:cNvSpPr>
            <a:spLocks noGrp="1"/>
          </p:cNvSpPr>
          <p:nvPr>
            <p:ph type="dt" sz="half" idx="10"/>
          </p:nvPr>
        </p:nvSpPr>
        <p:spPr/>
        <p:txBody>
          <a:bodyPr/>
          <a:lstStyle/>
          <a:p>
            <a:fld id="{AF136ADD-FD8F-48F2-820B-DD607AFF0645}"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2</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Chapter One</a:t>
            </a:r>
            <a:br>
              <a:rPr lang="en-US" dirty="0" smtClean="0"/>
            </a:br>
            <a:r>
              <a:rPr lang="en-US" dirty="0" smtClean="0"/>
              <a:t>General Introduction On Conflicts</a:t>
            </a:r>
            <a:endParaRPr lang="en-US" dirty="0"/>
          </a:p>
        </p:txBody>
      </p:sp>
      <p:sp>
        <p:nvSpPr>
          <p:cNvPr id="3" name="Content Placeholder 2"/>
          <p:cNvSpPr>
            <a:spLocks noGrp="1"/>
          </p:cNvSpPr>
          <p:nvPr>
            <p:ph idx="1"/>
          </p:nvPr>
        </p:nvSpPr>
        <p:spPr>
          <a:solidFill>
            <a:srgbClr val="00B050"/>
          </a:solidFill>
        </p:spPr>
        <p:txBody>
          <a:bodyPr>
            <a:normAutofit fontScale="77500" lnSpcReduction="20000"/>
          </a:bodyPr>
          <a:lstStyle/>
          <a:p>
            <a:r>
              <a:rPr lang="en-US" dirty="0" smtClean="0"/>
              <a:t>1.1. Naming</a:t>
            </a:r>
          </a:p>
          <a:p>
            <a:pPr lvl="1"/>
            <a:r>
              <a:rPr lang="en-US" dirty="0" smtClean="0"/>
              <a:t>Various names have been suggested to refer to the subject but each are inadequate to describe it.</a:t>
            </a:r>
          </a:p>
          <a:p>
            <a:pPr lvl="1"/>
            <a:r>
              <a:rPr lang="en-US" dirty="0" smtClean="0"/>
              <a:t>Such Names as: </a:t>
            </a:r>
          </a:p>
          <a:p>
            <a:pPr lvl="2"/>
            <a:r>
              <a:rPr lang="en-US" sz="2200" dirty="0" smtClean="0"/>
              <a:t>Conflict of Law</a:t>
            </a:r>
          </a:p>
          <a:p>
            <a:pPr lvl="2"/>
            <a:r>
              <a:rPr lang="en-US" sz="2200" dirty="0" smtClean="0"/>
              <a:t>Private International law</a:t>
            </a:r>
          </a:p>
          <a:p>
            <a:pPr lvl="2"/>
            <a:r>
              <a:rPr lang="en-US" sz="2200" dirty="0" smtClean="0"/>
              <a:t>Law of Multistate Justice</a:t>
            </a:r>
          </a:p>
          <a:p>
            <a:pPr lvl="2"/>
            <a:r>
              <a:rPr lang="en-US" sz="2200" dirty="0" smtClean="0"/>
              <a:t>International Property Law </a:t>
            </a:r>
          </a:p>
          <a:p>
            <a:pPr lvl="2"/>
            <a:r>
              <a:rPr lang="en-US" sz="2200" dirty="0" smtClean="0"/>
              <a:t>Law of Comity</a:t>
            </a:r>
          </a:p>
          <a:p>
            <a:pPr lvl="1"/>
            <a:r>
              <a:rPr lang="en-US" dirty="0" smtClean="0"/>
              <a:t>“</a:t>
            </a:r>
            <a:r>
              <a:rPr lang="en-US" sz="2200" dirty="0" smtClean="0"/>
              <a:t>Conflict of laws” and “Private International law” are commonly, and widely used</a:t>
            </a:r>
          </a:p>
          <a:p>
            <a:pPr lvl="1"/>
            <a:r>
              <a:rPr lang="en-US" dirty="0" smtClean="0"/>
              <a:t> All are Inadequate and Misleading Names</a:t>
            </a:r>
          </a:p>
          <a:p>
            <a:pPr lvl="2"/>
            <a:r>
              <a:rPr lang="en-US" dirty="0" err="1" smtClean="0"/>
              <a:t>Eg</a:t>
            </a:r>
            <a:r>
              <a:rPr lang="en-US" dirty="0" smtClean="0"/>
              <a:t>.  The </a:t>
            </a:r>
            <a:r>
              <a:rPr lang="en-US" dirty="0"/>
              <a:t> </a:t>
            </a:r>
            <a:r>
              <a:rPr lang="en-US" dirty="0" smtClean="0"/>
              <a:t>term “Conflict of laws” suggests  the existence of equal status between the two laws and they are in competition. But in reality it  is only with  permission of the forum court that foreign laws will be applicable in a country and foreign law has no equality with forum law.</a:t>
            </a:r>
          </a:p>
          <a:p>
            <a:pPr lvl="1"/>
            <a:endParaRPr lang="en-US" dirty="0" smtClean="0"/>
          </a:p>
          <a:p>
            <a:pPr lvl="1"/>
            <a:endParaRPr lang="en-US" dirty="0" smtClean="0"/>
          </a:p>
          <a:p>
            <a:pPr lvl="2">
              <a:buNone/>
            </a:pPr>
            <a:endParaRPr lang="en-US" dirty="0" smtClean="0"/>
          </a:p>
          <a:p>
            <a:pPr lvl="2"/>
            <a:endParaRPr lang="en-US" dirty="0"/>
          </a:p>
        </p:txBody>
      </p:sp>
      <p:sp>
        <p:nvSpPr>
          <p:cNvPr id="4" name="Date Placeholder 3"/>
          <p:cNvSpPr>
            <a:spLocks noGrp="1"/>
          </p:cNvSpPr>
          <p:nvPr>
            <p:ph type="dt" sz="half" idx="10"/>
          </p:nvPr>
        </p:nvSpPr>
        <p:spPr/>
        <p:txBody>
          <a:bodyPr/>
          <a:lstStyle/>
          <a:p>
            <a:fld id="{C245778A-0EA2-44BD-8439-6F586ABABB5B}"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3</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50"/>
          </a:solidFill>
        </p:spPr>
        <p:txBody>
          <a:bodyPr/>
          <a:lstStyle/>
          <a:p>
            <a:r>
              <a:rPr lang="en-US" dirty="0" smtClean="0"/>
              <a:t>Naming Contd..</a:t>
            </a:r>
            <a:endParaRPr lang="en-US" dirty="0"/>
          </a:p>
        </p:txBody>
      </p:sp>
      <p:sp>
        <p:nvSpPr>
          <p:cNvPr id="3" name="Content Placeholder 2"/>
          <p:cNvSpPr>
            <a:spLocks noGrp="1"/>
          </p:cNvSpPr>
          <p:nvPr>
            <p:ph idx="1"/>
          </p:nvPr>
        </p:nvSpPr>
        <p:spPr>
          <a:solidFill>
            <a:srgbClr val="00B050"/>
          </a:solidFill>
        </p:spPr>
        <p:txBody>
          <a:bodyPr>
            <a:normAutofit/>
          </a:bodyPr>
          <a:lstStyle/>
          <a:p>
            <a:r>
              <a:rPr lang="en-US" sz="2800" dirty="0" smtClean="0"/>
              <a:t>The term “Private International law” also suggests the existence of certain Internationally accepted law applicable on the subject matter.</a:t>
            </a:r>
          </a:p>
          <a:p>
            <a:r>
              <a:rPr lang="en-US" sz="2800" dirty="0" smtClean="0"/>
              <a:t> But the truth is conflict of laws is essentially a national( Municipal) law having no international  applicability except where it is permitted in special cases through treaty between countries. E.g. Harmonization attempt in EU private International Law.</a:t>
            </a:r>
            <a:endParaRPr lang="en-US" sz="2800" dirty="0"/>
          </a:p>
        </p:txBody>
      </p:sp>
      <p:sp>
        <p:nvSpPr>
          <p:cNvPr id="4" name="Date Placeholder 3"/>
          <p:cNvSpPr>
            <a:spLocks noGrp="1"/>
          </p:cNvSpPr>
          <p:nvPr>
            <p:ph type="dt" sz="half" idx="10"/>
          </p:nvPr>
        </p:nvSpPr>
        <p:spPr/>
        <p:txBody>
          <a:bodyPr/>
          <a:lstStyle/>
          <a:p>
            <a:fld id="{ADF83FFB-FA61-466F-B3CA-FEB388805C8F}"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4</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1.2. Definition and Analysis of Conflict of laws</a:t>
            </a:r>
            <a:endParaRPr lang="en-US" dirty="0"/>
          </a:p>
        </p:txBody>
      </p:sp>
      <p:sp>
        <p:nvSpPr>
          <p:cNvPr id="4" name="Content Placeholder 3"/>
          <p:cNvSpPr>
            <a:spLocks noGrp="1"/>
          </p:cNvSpPr>
          <p:nvPr>
            <p:ph idx="1"/>
          </p:nvPr>
        </p:nvSpPr>
        <p:spPr>
          <a:solidFill>
            <a:srgbClr val="00B050"/>
          </a:solidFill>
        </p:spPr>
        <p:txBody>
          <a:bodyPr>
            <a:normAutofit fontScale="85000" lnSpcReduction="10000"/>
          </a:bodyPr>
          <a:lstStyle/>
          <a:p>
            <a:r>
              <a:rPr lang="en-US" dirty="0" smtClean="0"/>
              <a:t>Does not have a universally agreed up on definition</a:t>
            </a:r>
          </a:p>
          <a:p>
            <a:r>
              <a:rPr lang="en-US" dirty="0" smtClean="0"/>
              <a:t>Blacks law Dictionary defines:</a:t>
            </a:r>
          </a:p>
          <a:p>
            <a:pPr lvl="1"/>
            <a:r>
              <a:rPr lang="en-US" dirty="0" smtClean="0"/>
              <a:t>“ That  branch of jurisprudence arising from </a:t>
            </a:r>
            <a:r>
              <a:rPr lang="en-US" i="1" dirty="0" smtClean="0"/>
              <a:t>diversity of laws of nations</a:t>
            </a:r>
            <a:r>
              <a:rPr lang="en-US" dirty="0" smtClean="0"/>
              <a:t> , state or jurisdictions, in their application to the rights and remedies  that decides which law or  system is to govern in case  or settles the degree of force to be accorded to the laws of another jurisdiction…”</a:t>
            </a:r>
          </a:p>
          <a:p>
            <a:r>
              <a:rPr lang="en-US" dirty="0" smtClean="0"/>
              <a:t>Robert Allen </a:t>
            </a:r>
            <a:r>
              <a:rPr lang="en-US" dirty="0" err="1" smtClean="0"/>
              <a:t>Sedler</a:t>
            </a:r>
            <a:r>
              <a:rPr lang="en-US" dirty="0" smtClean="0"/>
              <a:t> Defines :</a:t>
            </a:r>
          </a:p>
          <a:p>
            <a:pPr lvl="1"/>
            <a:r>
              <a:rPr lang="en-US" dirty="0" smtClean="0"/>
              <a:t>“ that body of law that determines whether the forum will give effect to the laws of another state where the case that is adjudicated contains a </a:t>
            </a:r>
            <a:r>
              <a:rPr lang="en-US" i="1" dirty="0" smtClean="0"/>
              <a:t>foreign element.”</a:t>
            </a:r>
            <a:endParaRPr lang="en-US" i="1" dirty="0"/>
          </a:p>
        </p:txBody>
      </p:sp>
      <p:sp>
        <p:nvSpPr>
          <p:cNvPr id="5" name="Date Placeholder 4"/>
          <p:cNvSpPr>
            <a:spLocks noGrp="1"/>
          </p:cNvSpPr>
          <p:nvPr>
            <p:ph type="dt" sz="half" idx="10"/>
          </p:nvPr>
        </p:nvSpPr>
        <p:spPr/>
        <p:txBody>
          <a:bodyPr/>
          <a:lstStyle/>
          <a:p>
            <a:fld id="{08DF5435-71A3-4151-A1E2-7BF911B77A9B}" type="datetime1">
              <a:rPr lang="en-US" smtClean="0"/>
              <a:pPr/>
              <a:t>11/26/2013</a:t>
            </a:fld>
            <a:endParaRPr lang="en-US"/>
          </a:p>
        </p:txBody>
      </p:sp>
      <p:sp>
        <p:nvSpPr>
          <p:cNvPr id="7" name="Footer Placeholder 6"/>
          <p:cNvSpPr>
            <a:spLocks noGrp="1"/>
          </p:cNvSpPr>
          <p:nvPr>
            <p:ph type="ftr" sz="quarter" idx="11"/>
          </p:nvPr>
        </p:nvSpPr>
        <p:spPr/>
        <p:txBody>
          <a:bodyPr/>
          <a:lstStyle/>
          <a:p>
            <a:r>
              <a:rPr lang="en-US" smtClean="0"/>
              <a:t>Conflict of Laws PPT Capter One </a:t>
            </a:r>
            <a:endParaRPr lang="en-US"/>
          </a:p>
        </p:txBody>
      </p:sp>
      <p:sp>
        <p:nvSpPr>
          <p:cNvPr id="6" name="Slide Number Placeholder 5"/>
          <p:cNvSpPr>
            <a:spLocks noGrp="1"/>
          </p:cNvSpPr>
          <p:nvPr>
            <p:ph type="sldNum" sz="quarter" idx="12"/>
          </p:nvPr>
        </p:nvSpPr>
        <p:spPr/>
        <p:txBody>
          <a:bodyPr/>
          <a:lstStyle/>
          <a:p>
            <a:fld id="{E1D69346-A95F-4289-B3B1-F0DC879E0563}" type="slidenum">
              <a:rPr lang="en-US" smtClean="0"/>
              <a:pPr/>
              <a:t>5</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Analysis</a:t>
            </a:r>
            <a:endParaRPr lang="en-US" dirty="0"/>
          </a:p>
        </p:txBody>
      </p:sp>
      <p:sp>
        <p:nvSpPr>
          <p:cNvPr id="3" name="Content Placeholder 2"/>
          <p:cNvSpPr>
            <a:spLocks noGrp="1"/>
          </p:cNvSpPr>
          <p:nvPr>
            <p:ph idx="1"/>
          </p:nvPr>
        </p:nvSpPr>
        <p:spPr>
          <a:xfrm>
            <a:off x="914400" y="1143000"/>
            <a:ext cx="8229600" cy="4525963"/>
          </a:xfrm>
          <a:solidFill>
            <a:srgbClr val="00B050"/>
          </a:solidFill>
        </p:spPr>
        <p:txBody>
          <a:bodyPr>
            <a:normAutofit fontScale="85000" lnSpcReduction="20000"/>
          </a:bodyPr>
          <a:lstStyle/>
          <a:p>
            <a:r>
              <a:rPr lang="en-US" b="1" dirty="0" smtClean="0"/>
              <a:t>The basic concepts in the above definitions are</a:t>
            </a:r>
            <a:r>
              <a:rPr lang="en-US" dirty="0" smtClean="0"/>
              <a:t> :</a:t>
            </a:r>
          </a:p>
          <a:p>
            <a:pPr lvl="1"/>
            <a:r>
              <a:rPr lang="en-US" dirty="0" smtClean="0"/>
              <a:t>Existence of diversity of laws of different nations</a:t>
            </a:r>
          </a:p>
          <a:p>
            <a:pPr lvl="1"/>
            <a:r>
              <a:rPr lang="en-US" dirty="0" smtClean="0"/>
              <a:t>The existence  of a case that contains a foreign element</a:t>
            </a:r>
          </a:p>
          <a:p>
            <a:pPr lvl="1"/>
            <a:r>
              <a:rPr lang="en-US" dirty="0" smtClean="0"/>
              <a:t>The need for  rule or body of law to determine the applicable law in such cases</a:t>
            </a:r>
          </a:p>
          <a:p>
            <a:pPr lvl="1"/>
            <a:r>
              <a:rPr lang="en-US" dirty="0"/>
              <a:t> </a:t>
            </a:r>
            <a:r>
              <a:rPr lang="en-US" b="1" dirty="0" smtClean="0"/>
              <a:t>When does a case contains a foreign element?</a:t>
            </a:r>
          </a:p>
          <a:p>
            <a:pPr lvl="1"/>
            <a:r>
              <a:rPr lang="en-US" dirty="0" smtClean="0"/>
              <a:t>Three grounds: </a:t>
            </a:r>
          </a:p>
          <a:p>
            <a:pPr lvl="1">
              <a:buNone/>
            </a:pPr>
            <a:r>
              <a:rPr lang="en-US" dirty="0" smtClean="0"/>
              <a:t>	1. When the </a:t>
            </a:r>
            <a:r>
              <a:rPr lang="en-US" b="1" dirty="0" smtClean="0"/>
              <a:t>events</a:t>
            </a:r>
            <a:r>
              <a:rPr lang="en-US" dirty="0" smtClean="0"/>
              <a:t> giving rise to the litigation occurred partially or totally in foreign lands or;</a:t>
            </a:r>
          </a:p>
          <a:p>
            <a:pPr lvl="1">
              <a:buNone/>
            </a:pPr>
            <a:r>
              <a:rPr lang="en-US" dirty="0" smtClean="0"/>
              <a:t>	2. When the </a:t>
            </a:r>
            <a:r>
              <a:rPr lang="en-US" b="1" dirty="0" smtClean="0"/>
              <a:t>Parties</a:t>
            </a:r>
            <a:r>
              <a:rPr lang="en-US" dirty="0" smtClean="0"/>
              <a:t> to the dispute are domiciliary, nationals or residents of different states; or </a:t>
            </a:r>
          </a:p>
          <a:p>
            <a:pPr lvl="1">
              <a:buNone/>
            </a:pPr>
            <a:r>
              <a:rPr lang="en-US" dirty="0" smtClean="0"/>
              <a:t>	3. When the </a:t>
            </a:r>
            <a:r>
              <a:rPr lang="en-US" b="1" dirty="0" smtClean="0"/>
              <a:t>property ( subject matter of the dispute)</a:t>
            </a:r>
            <a:r>
              <a:rPr lang="en-US" dirty="0" smtClean="0"/>
              <a:t> is </a:t>
            </a:r>
            <a:r>
              <a:rPr lang="en-US" b="1" dirty="0" smtClean="0"/>
              <a:t>situated </a:t>
            </a:r>
            <a:r>
              <a:rPr lang="en-US" dirty="0"/>
              <a:t> </a:t>
            </a:r>
            <a:r>
              <a:rPr lang="en-US" dirty="0" smtClean="0"/>
              <a:t>outside the forum.</a:t>
            </a:r>
          </a:p>
          <a:p>
            <a:pPr lvl="1"/>
            <a:endParaRPr lang="en-US" dirty="0"/>
          </a:p>
        </p:txBody>
      </p:sp>
      <p:sp>
        <p:nvSpPr>
          <p:cNvPr id="4" name="Date Placeholder 3"/>
          <p:cNvSpPr>
            <a:spLocks noGrp="1"/>
          </p:cNvSpPr>
          <p:nvPr>
            <p:ph type="dt" sz="half" idx="10"/>
          </p:nvPr>
        </p:nvSpPr>
        <p:spPr/>
        <p:txBody>
          <a:bodyPr/>
          <a:lstStyle/>
          <a:p>
            <a:fld id="{5E6AEDB6-BF36-4532-8577-94D0C7669676}"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6</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50"/>
          </a:solidFill>
        </p:spPr>
        <p:txBody>
          <a:bodyPr>
            <a:normAutofit fontScale="90000"/>
          </a:bodyPr>
          <a:lstStyle/>
          <a:p>
            <a:r>
              <a:rPr lang="en-US" dirty="0" smtClean="0"/>
              <a:t>1.3. Nature , Scope and Subject matter of conflict of laws</a:t>
            </a:r>
            <a:endParaRPr lang="en-US" dirty="0"/>
          </a:p>
        </p:txBody>
      </p:sp>
      <p:sp>
        <p:nvSpPr>
          <p:cNvPr id="3" name="Content Placeholder 2"/>
          <p:cNvSpPr>
            <a:spLocks noGrp="1"/>
          </p:cNvSpPr>
          <p:nvPr>
            <p:ph idx="1"/>
          </p:nvPr>
        </p:nvSpPr>
        <p:spPr>
          <a:solidFill>
            <a:srgbClr val="00B050"/>
          </a:solidFill>
        </p:spPr>
        <p:txBody>
          <a:bodyPr>
            <a:normAutofit fontScale="85000" lnSpcReduction="10000"/>
          </a:bodyPr>
          <a:lstStyle/>
          <a:p>
            <a:pPr>
              <a:buNone/>
            </a:pPr>
            <a:r>
              <a:rPr lang="en-US" b="1" dirty="0" smtClean="0"/>
              <a:t>A. Nature</a:t>
            </a:r>
          </a:p>
          <a:p>
            <a:r>
              <a:rPr lang="en-US" dirty="0" smtClean="0"/>
              <a:t>1. Conflict of law rules </a:t>
            </a:r>
            <a:r>
              <a:rPr lang="en-US" b="1" dirty="0" smtClean="0"/>
              <a:t>does not by themselves dispose </a:t>
            </a:r>
            <a:r>
              <a:rPr lang="en-US" dirty="0" smtClean="0"/>
              <a:t>of a case with substantive remedy. They simply indicate the law through which final remedy could be obtained</a:t>
            </a:r>
          </a:p>
          <a:p>
            <a:r>
              <a:rPr lang="en-US" dirty="0" smtClean="0"/>
              <a:t>2.</a:t>
            </a:r>
            <a:r>
              <a:rPr lang="en-US" dirty="0"/>
              <a:t> </a:t>
            </a:r>
            <a:r>
              <a:rPr lang="en-US" dirty="0" smtClean="0"/>
              <a:t>Is </a:t>
            </a:r>
            <a:r>
              <a:rPr lang="en-US" dirty="0"/>
              <a:t>not concerned with </a:t>
            </a:r>
            <a:r>
              <a:rPr lang="en-US" b="1" dirty="0"/>
              <a:t>public cases </a:t>
            </a:r>
            <a:r>
              <a:rPr lang="en-US" dirty="0"/>
              <a:t>like criminal, revenue, customs, constitutional and administrative cases</a:t>
            </a:r>
            <a:r>
              <a:rPr lang="en-US" dirty="0" smtClean="0"/>
              <a:t>. It deals with disputes of private nature.</a:t>
            </a:r>
          </a:p>
          <a:p>
            <a:r>
              <a:rPr lang="en-US" dirty="0" smtClean="0"/>
              <a:t>3. It is </a:t>
            </a:r>
            <a:r>
              <a:rPr lang="en-US" b="1" dirty="0" smtClean="0"/>
              <a:t>basically a national law </a:t>
            </a:r>
            <a:r>
              <a:rPr lang="en-US" dirty="0" smtClean="0"/>
              <a:t>made by each country. </a:t>
            </a:r>
          </a:p>
          <a:p>
            <a:r>
              <a:rPr lang="en-US" dirty="0" smtClean="0"/>
              <a:t>4.</a:t>
            </a:r>
            <a:r>
              <a:rPr lang="en-US" dirty="0"/>
              <a:t> conflict problems arise at both the international </a:t>
            </a:r>
            <a:r>
              <a:rPr lang="en-US" dirty="0" smtClean="0"/>
              <a:t>( intra -state) and </a:t>
            </a:r>
            <a:r>
              <a:rPr lang="en-US" dirty="0"/>
              <a:t>national level (interstate conflicts</a:t>
            </a:r>
            <a:r>
              <a:rPr lang="en-US" dirty="0" smtClean="0"/>
              <a:t>).e.g. in Federations</a:t>
            </a:r>
            <a:endParaRPr lang="en-US" dirty="0"/>
          </a:p>
        </p:txBody>
      </p:sp>
      <p:sp>
        <p:nvSpPr>
          <p:cNvPr id="4" name="Date Placeholder 3"/>
          <p:cNvSpPr>
            <a:spLocks noGrp="1"/>
          </p:cNvSpPr>
          <p:nvPr>
            <p:ph type="dt" sz="half" idx="10"/>
          </p:nvPr>
        </p:nvSpPr>
        <p:spPr/>
        <p:txBody>
          <a:bodyPr/>
          <a:lstStyle/>
          <a:p>
            <a:fld id="{2C66C815-5CF6-4E39-9423-E75B6DC1FEAE}"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7</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Conflict of laws( Private International Law)  VS. Public International Law</a:t>
            </a:r>
            <a:endParaRPr lang="en-US" sz="3600" dirty="0"/>
          </a:p>
        </p:txBody>
      </p:sp>
      <p:sp>
        <p:nvSpPr>
          <p:cNvPr id="3" name="Content Placeholder 2"/>
          <p:cNvSpPr>
            <a:spLocks noGrp="1"/>
          </p:cNvSpPr>
          <p:nvPr>
            <p:ph idx="1"/>
          </p:nvPr>
        </p:nvSpPr>
        <p:spPr>
          <a:solidFill>
            <a:srgbClr val="00B050"/>
          </a:solidFill>
        </p:spPr>
        <p:txBody>
          <a:bodyPr>
            <a:normAutofit fontScale="77500" lnSpcReduction="20000"/>
          </a:bodyPr>
          <a:lstStyle/>
          <a:p>
            <a:r>
              <a:rPr lang="en-US" dirty="0" smtClean="0"/>
              <a:t>Common Grounds</a:t>
            </a:r>
          </a:p>
          <a:p>
            <a:pPr lvl="1"/>
            <a:r>
              <a:rPr lang="en-US" dirty="0" smtClean="0"/>
              <a:t> Common  Historical Origin </a:t>
            </a:r>
          </a:p>
          <a:p>
            <a:pPr lvl="1"/>
            <a:r>
              <a:rPr lang="en-US" dirty="0" smtClean="0"/>
              <a:t> Exceptions to the normal application of law created by sovereign and diplomatic immunity</a:t>
            </a:r>
          </a:p>
          <a:p>
            <a:pPr lvl="1"/>
            <a:r>
              <a:rPr lang="en-US" dirty="0" smtClean="0"/>
              <a:t>Displacement of  the normal operation of rules of the conflicts when they threaten friendly international relations  </a:t>
            </a:r>
          </a:p>
          <a:p>
            <a:r>
              <a:rPr lang="en-US" dirty="0" smtClean="0"/>
              <a:t> Differences</a:t>
            </a:r>
          </a:p>
          <a:p>
            <a:pPr lvl="1"/>
            <a:r>
              <a:rPr lang="en-US" dirty="0" smtClean="0"/>
              <a:t> Conflict of laws is Part of domestic law of a country , It deals with private matters among private  individuals </a:t>
            </a:r>
          </a:p>
          <a:p>
            <a:pPr lvl="1"/>
            <a:r>
              <a:rPr lang="en-US" dirty="0" smtClean="0"/>
              <a:t>It has no uniformity or no consensus among states </a:t>
            </a:r>
          </a:p>
          <a:p>
            <a:pPr lvl="1"/>
            <a:r>
              <a:rPr lang="en-US" dirty="0" smtClean="0"/>
              <a:t>Public international law governs  states and international organizations in their mutual relations </a:t>
            </a:r>
          </a:p>
          <a:p>
            <a:pPr lvl="1"/>
            <a:r>
              <a:rPr lang="en-US" dirty="0" smtClean="0"/>
              <a:t> Here there exist a certain degree of consensus on the rules an d principles. </a:t>
            </a:r>
          </a:p>
          <a:p>
            <a:pPr lvl="1"/>
            <a:endParaRPr lang="en-US" dirty="0"/>
          </a:p>
        </p:txBody>
      </p:sp>
      <p:sp>
        <p:nvSpPr>
          <p:cNvPr id="4" name="Date Placeholder 3"/>
          <p:cNvSpPr>
            <a:spLocks noGrp="1"/>
          </p:cNvSpPr>
          <p:nvPr>
            <p:ph type="dt" sz="half" idx="10"/>
          </p:nvPr>
        </p:nvSpPr>
        <p:spPr/>
        <p:txBody>
          <a:bodyPr/>
          <a:lstStyle/>
          <a:p>
            <a:fld id="{DAA18C1F-C38C-4E45-9DF3-C25A795E4025}"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8</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Nature , scope ctd…</a:t>
            </a:r>
            <a:endParaRPr lang="en-US" dirty="0"/>
          </a:p>
        </p:txBody>
      </p:sp>
      <p:sp>
        <p:nvSpPr>
          <p:cNvPr id="3" name="Content Placeholder 2"/>
          <p:cNvSpPr>
            <a:spLocks noGrp="1"/>
          </p:cNvSpPr>
          <p:nvPr>
            <p:ph idx="1"/>
          </p:nvPr>
        </p:nvSpPr>
        <p:spPr>
          <a:solidFill>
            <a:srgbClr val="00B050"/>
          </a:solidFill>
        </p:spPr>
        <p:txBody>
          <a:bodyPr>
            <a:normAutofit fontScale="92500" lnSpcReduction="20000"/>
          </a:bodyPr>
          <a:lstStyle/>
          <a:p>
            <a:r>
              <a:rPr lang="en-US" b="1" dirty="0" smtClean="0"/>
              <a:t>B. Scope</a:t>
            </a:r>
          </a:p>
          <a:p>
            <a:r>
              <a:rPr lang="en-US" dirty="0"/>
              <a:t>According to the traditional view, conflicts mainly deal with three major </a:t>
            </a:r>
            <a:r>
              <a:rPr lang="en-US" dirty="0" smtClean="0"/>
              <a:t>sub-divisions</a:t>
            </a:r>
          </a:p>
          <a:p>
            <a:r>
              <a:rPr lang="en-US" dirty="0" smtClean="0"/>
              <a:t>They are: </a:t>
            </a:r>
          </a:p>
          <a:p>
            <a:pPr lvl="1"/>
            <a:r>
              <a:rPr lang="en-US" b="1" dirty="0"/>
              <a:t>J</a:t>
            </a:r>
            <a:r>
              <a:rPr lang="en-US" b="1" dirty="0" smtClean="0"/>
              <a:t>udicial </a:t>
            </a:r>
            <a:r>
              <a:rPr lang="en-US" b="1" dirty="0"/>
              <a:t>jurisdiction</a:t>
            </a:r>
            <a:r>
              <a:rPr lang="en-US" dirty="0"/>
              <a:t>, </a:t>
            </a:r>
            <a:r>
              <a:rPr lang="en-US" dirty="0" smtClean="0"/>
              <a:t>(whether the forum court has the power to see and decide on the case);</a:t>
            </a:r>
          </a:p>
          <a:p>
            <a:pPr lvl="1"/>
            <a:r>
              <a:rPr lang="en-US" b="1" dirty="0"/>
              <a:t>C</a:t>
            </a:r>
            <a:r>
              <a:rPr lang="en-US" b="1" dirty="0" smtClean="0"/>
              <a:t>hoice </a:t>
            </a:r>
            <a:r>
              <a:rPr lang="en-US" b="1" dirty="0"/>
              <a:t>of law</a:t>
            </a:r>
            <a:r>
              <a:rPr lang="en-US" dirty="0"/>
              <a:t>, </a:t>
            </a:r>
            <a:r>
              <a:rPr lang="en-US" dirty="0" smtClean="0"/>
              <a:t>( the law which  related state governs the case) and;</a:t>
            </a:r>
          </a:p>
          <a:p>
            <a:pPr lvl="1"/>
            <a:r>
              <a:rPr lang="en-US" dirty="0" smtClean="0"/>
              <a:t> </a:t>
            </a:r>
            <a:r>
              <a:rPr lang="en-US" b="1" dirty="0" smtClean="0"/>
              <a:t>Recognition </a:t>
            </a:r>
            <a:r>
              <a:rPr lang="en-US" b="1" dirty="0"/>
              <a:t>and enforcement </a:t>
            </a:r>
            <a:r>
              <a:rPr lang="en-US" dirty="0"/>
              <a:t>of foreign judgments and foreign arbitral awards. </a:t>
            </a:r>
            <a:r>
              <a:rPr lang="en-US" dirty="0" smtClean="0"/>
              <a:t>( How should we recognize a foreign judgment and ward</a:t>
            </a:r>
            <a:r>
              <a:rPr lang="en-US" dirty="0"/>
              <a:t>;</a:t>
            </a:r>
            <a:r>
              <a:rPr lang="en-US" dirty="0" smtClean="0"/>
              <a:t> How to execute domestically.)</a:t>
            </a:r>
            <a:endParaRPr lang="en-US" b="1" dirty="0"/>
          </a:p>
        </p:txBody>
      </p:sp>
      <p:sp>
        <p:nvSpPr>
          <p:cNvPr id="4" name="Date Placeholder 3"/>
          <p:cNvSpPr>
            <a:spLocks noGrp="1"/>
          </p:cNvSpPr>
          <p:nvPr>
            <p:ph type="dt" sz="half" idx="10"/>
          </p:nvPr>
        </p:nvSpPr>
        <p:spPr/>
        <p:txBody>
          <a:bodyPr/>
          <a:lstStyle/>
          <a:p>
            <a:fld id="{F93BB0A9-2412-42A4-9752-1FB208C2A4A5}"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9</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Nature and scope cntd…</a:t>
            </a:r>
            <a:endParaRPr lang="en-US" dirty="0"/>
          </a:p>
        </p:txBody>
      </p:sp>
      <p:sp>
        <p:nvSpPr>
          <p:cNvPr id="3" name="Content Placeholder 2"/>
          <p:cNvSpPr>
            <a:spLocks noGrp="1"/>
          </p:cNvSpPr>
          <p:nvPr>
            <p:ph idx="1"/>
          </p:nvPr>
        </p:nvSpPr>
        <p:spPr>
          <a:solidFill>
            <a:srgbClr val="00B050"/>
          </a:solidFill>
        </p:spPr>
        <p:txBody>
          <a:bodyPr/>
          <a:lstStyle/>
          <a:p>
            <a:r>
              <a:rPr lang="en-US" b="1" dirty="0" smtClean="0"/>
              <a:t>Exceptions to scope</a:t>
            </a:r>
          </a:p>
          <a:p>
            <a:pPr lvl="1"/>
            <a:r>
              <a:rPr lang="en-US" dirty="0" smtClean="0"/>
              <a:t> In some  civil law countries the </a:t>
            </a:r>
            <a:r>
              <a:rPr lang="en-US" dirty="0"/>
              <a:t>subject </a:t>
            </a:r>
            <a:r>
              <a:rPr lang="en-US" dirty="0" smtClean="0"/>
              <a:t>often encompasses in addition to the above three:</a:t>
            </a:r>
          </a:p>
          <a:p>
            <a:pPr lvl="2"/>
            <a:r>
              <a:rPr lang="en-US" dirty="0" smtClean="0"/>
              <a:t> </a:t>
            </a:r>
            <a:r>
              <a:rPr lang="en-US" dirty="0"/>
              <a:t>T</a:t>
            </a:r>
            <a:r>
              <a:rPr lang="en-US" dirty="0" smtClean="0"/>
              <a:t>he </a:t>
            </a:r>
            <a:r>
              <a:rPr lang="en-US" dirty="0"/>
              <a:t>Law of Nationality and Citizenship </a:t>
            </a:r>
            <a:endParaRPr lang="en-US" dirty="0" smtClean="0"/>
          </a:p>
          <a:p>
            <a:pPr lvl="2"/>
            <a:r>
              <a:rPr lang="en-US" dirty="0" smtClean="0"/>
              <a:t> </a:t>
            </a:r>
            <a:r>
              <a:rPr lang="en-US" dirty="0"/>
              <a:t>S</a:t>
            </a:r>
            <a:r>
              <a:rPr lang="en-US" dirty="0" smtClean="0"/>
              <a:t>ome </a:t>
            </a:r>
            <a:r>
              <a:rPr lang="en-US" dirty="0"/>
              <a:t>special rules pertaining to the position of </a:t>
            </a:r>
            <a:r>
              <a:rPr lang="en-US" dirty="0" smtClean="0"/>
              <a:t>aliens</a:t>
            </a:r>
          </a:p>
          <a:p>
            <a:pPr lvl="2"/>
            <a:r>
              <a:rPr lang="en-US" dirty="0" smtClean="0"/>
              <a:t>International </a:t>
            </a:r>
            <a:r>
              <a:rPr lang="en-US" dirty="0"/>
              <a:t>Legal Cooperation in civil </a:t>
            </a:r>
            <a:r>
              <a:rPr lang="en-US" dirty="0" smtClean="0"/>
              <a:t>matters</a:t>
            </a:r>
          </a:p>
          <a:p>
            <a:pPr lvl="2">
              <a:buNone/>
            </a:pPr>
            <a:endParaRPr lang="en-US" b="1" dirty="0" smtClean="0"/>
          </a:p>
          <a:p>
            <a:endParaRPr lang="en-US" dirty="0"/>
          </a:p>
        </p:txBody>
      </p:sp>
      <p:sp>
        <p:nvSpPr>
          <p:cNvPr id="4" name="Date Placeholder 3"/>
          <p:cNvSpPr>
            <a:spLocks noGrp="1"/>
          </p:cNvSpPr>
          <p:nvPr>
            <p:ph type="dt" sz="half" idx="10"/>
          </p:nvPr>
        </p:nvSpPr>
        <p:spPr/>
        <p:txBody>
          <a:bodyPr/>
          <a:lstStyle/>
          <a:p>
            <a:fld id="{2BC3DA50-5B2D-4F8B-893F-3E3EE55F46EA}"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10</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
            </a:r>
            <a:br>
              <a:rPr lang="en-US" sz="3600" dirty="0" smtClean="0"/>
            </a:br>
            <a:r>
              <a:rPr lang="en-US" sz="3600" dirty="0" smtClean="0"/>
              <a:t>Scope of Conflict of laws Under Ethiopian System</a:t>
            </a:r>
            <a:r>
              <a:rPr lang="en-US" dirty="0" smtClean="0"/>
              <a:t/>
            </a:r>
            <a:br>
              <a:rPr lang="en-US" dirty="0" smtClean="0"/>
            </a:br>
            <a:endParaRPr lang="en-US" dirty="0"/>
          </a:p>
        </p:txBody>
      </p:sp>
      <p:sp>
        <p:nvSpPr>
          <p:cNvPr id="3" name="Content Placeholder 2"/>
          <p:cNvSpPr>
            <a:spLocks noGrp="1"/>
          </p:cNvSpPr>
          <p:nvPr>
            <p:ph idx="1"/>
          </p:nvPr>
        </p:nvSpPr>
        <p:spPr>
          <a:solidFill>
            <a:srgbClr val="00B050"/>
          </a:solidFill>
        </p:spPr>
        <p:txBody>
          <a:bodyPr>
            <a:normAutofit fontScale="85000" lnSpcReduction="20000"/>
          </a:bodyPr>
          <a:lstStyle/>
          <a:p>
            <a:r>
              <a:rPr lang="en-US" dirty="0" smtClean="0"/>
              <a:t>No  separate   conflict of law Proclamation</a:t>
            </a:r>
          </a:p>
          <a:p>
            <a:r>
              <a:rPr lang="en-US" dirty="0" smtClean="0"/>
              <a:t>Proclamation No. 25/1996 , dealing with Jurisdiction of federal courts and very vague choice of law rule;</a:t>
            </a:r>
          </a:p>
          <a:p>
            <a:r>
              <a:rPr lang="en-US" dirty="0" smtClean="0"/>
              <a:t>Art.11 (2) (a) and (c) of Proc. 25/1996 and the Civil Procedure Code of Ethiopia (esp. the former) deliberately or not implies that (recognition) and enforcement of foreign judgments is not part of conflicts discipline. </a:t>
            </a:r>
          </a:p>
          <a:p>
            <a:r>
              <a:rPr lang="en-US" dirty="0" smtClean="0"/>
              <a:t>Initial Draft Proclamation to Provide for Federal Rules of Private International Law prepared by the Justice and Legal System Research Institute considers the three elements as parts of the discipline.</a:t>
            </a:r>
            <a:endParaRPr lang="en-US" dirty="0"/>
          </a:p>
        </p:txBody>
      </p:sp>
      <p:sp>
        <p:nvSpPr>
          <p:cNvPr id="4" name="Date Placeholder 3"/>
          <p:cNvSpPr>
            <a:spLocks noGrp="1"/>
          </p:cNvSpPr>
          <p:nvPr>
            <p:ph type="dt" sz="half" idx="10"/>
          </p:nvPr>
        </p:nvSpPr>
        <p:spPr/>
        <p:txBody>
          <a:bodyPr/>
          <a:lstStyle/>
          <a:p>
            <a:fld id="{6BA4A1F1-1CE3-4E0D-A436-74B584F9A69A}"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11</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1.4. Raison D'être of conflict of Laws(What is the purpose of its existence, Why do we need It?)</a:t>
            </a:r>
            <a:endParaRPr lang="en-US" sz="3200" dirty="0"/>
          </a:p>
        </p:txBody>
      </p:sp>
      <p:sp>
        <p:nvSpPr>
          <p:cNvPr id="3" name="Content Placeholder 2"/>
          <p:cNvSpPr>
            <a:spLocks noGrp="1"/>
          </p:cNvSpPr>
          <p:nvPr>
            <p:ph idx="1"/>
          </p:nvPr>
        </p:nvSpPr>
        <p:spPr>
          <a:solidFill>
            <a:srgbClr val="00B050"/>
          </a:solidFill>
        </p:spPr>
        <p:txBody>
          <a:bodyPr>
            <a:normAutofit fontScale="92500"/>
          </a:bodyPr>
          <a:lstStyle/>
          <a:p>
            <a:r>
              <a:rPr lang="en-US" dirty="0" smtClean="0"/>
              <a:t>Two important facts  create obstacle to smooth operation of law in the international community and give rise to Conflict of laws Problems:</a:t>
            </a:r>
          </a:p>
          <a:p>
            <a:pPr lvl="1"/>
            <a:r>
              <a:rPr lang="en-US" dirty="0"/>
              <a:t> </a:t>
            </a:r>
            <a:r>
              <a:rPr lang="en-US" dirty="0" smtClean="0"/>
              <a:t>Different legal communities have different laws </a:t>
            </a:r>
            <a:r>
              <a:rPr lang="en-US" i="1" dirty="0" smtClean="0"/>
              <a:t>( diversity factor)</a:t>
            </a:r>
          </a:p>
          <a:p>
            <a:pPr lvl="1"/>
            <a:r>
              <a:rPr lang="en-US" dirty="0" smtClean="0"/>
              <a:t>Legal transactions are some how connected with more than one legal system because of cross border </a:t>
            </a:r>
            <a:r>
              <a:rPr lang="en-US" dirty="0"/>
              <a:t> </a:t>
            </a:r>
            <a:r>
              <a:rPr lang="en-US" dirty="0" smtClean="0"/>
              <a:t>commercial, family etc relations </a:t>
            </a:r>
            <a:r>
              <a:rPr lang="en-US" i="1" dirty="0" smtClean="0"/>
              <a:t>(Integration factor)</a:t>
            </a:r>
          </a:p>
          <a:p>
            <a:pPr lvl="1"/>
            <a:r>
              <a:rPr lang="en-US" dirty="0" smtClean="0"/>
              <a:t> In addition the Notion of state sovereignty and impact on recognition of foreign judgments </a:t>
            </a:r>
          </a:p>
          <a:p>
            <a:pPr lvl="1"/>
            <a:endParaRPr lang="en-US" dirty="0" smtClean="0"/>
          </a:p>
          <a:p>
            <a:pPr lvl="1"/>
            <a:endParaRPr lang="en-US" dirty="0" smtClean="0"/>
          </a:p>
          <a:p>
            <a:pPr lvl="1"/>
            <a:endParaRPr lang="en-US" dirty="0"/>
          </a:p>
        </p:txBody>
      </p:sp>
      <p:sp>
        <p:nvSpPr>
          <p:cNvPr id="4" name="Date Placeholder 3"/>
          <p:cNvSpPr>
            <a:spLocks noGrp="1"/>
          </p:cNvSpPr>
          <p:nvPr>
            <p:ph type="dt" sz="half" idx="10"/>
          </p:nvPr>
        </p:nvSpPr>
        <p:spPr/>
        <p:txBody>
          <a:bodyPr/>
          <a:lstStyle/>
          <a:p>
            <a:fld id="{4489E936-91CE-46A6-8880-A06DDB75BEA2}"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12</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Raison d'être Cotd..</a:t>
            </a:r>
            <a:endParaRPr lang="en-US" dirty="0"/>
          </a:p>
        </p:txBody>
      </p:sp>
      <p:sp>
        <p:nvSpPr>
          <p:cNvPr id="3" name="Content Placeholder 2"/>
          <p:cNvSpPr>
            <a:spLocks noGrp="1"/>
          </p:cNvSpPr>
          <p:nvPr>
            <p:ph idx="1"/>
          </p:nvPr>
        </p:nvSpPr>
        <p:spPr>
          <a:solidFill>
            <a:srgbClr val="00B050"/>
          </a:solidFill>
        </p:spPr>
        <p:txBody>
          <a:bodyPr>
            <a:normAutofit fontScale="85000" lnSpcReduction="20000"/>
          </a:bodyPr>
          <a:lstStyle/>
          <a:p>
            <a:r>
              <a:rPr lang="en-US" dirty="0" smtClean="0"/>
              <a:t>The legal systems being diverse and the unavoidability of  commercial and other interaction among individuals  across borders of states, in case of disputes  individuals will  and courts will be faced with questions of :</a:t>
            </a:r>
          </a:p>
          <a:p>
            <a:pPr lvl="1"/>
            <a:r>
              <a:rPr lang="en-US" dirty="0" smtClean="0"/>
              <a:t>Which court , the local or the foreign court can see the case</a:t>
            </a:r>
          </a:p>
          <a:p>
            <a:pPr lvl="1"/>
            <a:r>
              <a:rPr lang="en-US" dirty="0" smtClean="0"/>
              <a:t>If a certain court has assumed jurisdiction which law is it going to apply to remedy the dispute</a:t>
            </a:r>
          </a:p>
          <a:p>
            <a:pPr lvl="1"/>
            <a:r>
              <a:rPr lang="en-US" dirty="0" smtClean="0"/>
              <a:t>Even if the plaintiff may obtain a judgment here can she obtain enforcement of the same in a foreign territory where the defendant has property etc</a:t>
            </a:r>
          </a:p>
          <a:p>
            <a:r>
              <a:rPr lang="en-US" dirty="0" smtClean="0"/>
              <a:t>These are the main problems private international law is meant to alleviate.</a:t>
            </a:r>
            <a:endParaRPr lang="en-US" dirty="0"/>
          </a:p>
        </p:txBody>
      </p:sp>
      <p:sp>
        <p:nvSpPr>
          <p:cNvPr id="4" name="Date Placeholder 3"/>
          <p:cNvSpPr>
            <a:spLocks noGrp="1"/>
          </p:cNvSpPr>
          <p:nvPr>
            <p:ph type="dt" sz="half" idx="10"/>
          </p:nvPr>
        </p:nvSpPr>
        <p:spPr/>
        <p:txBody>
          <a:bodyPr/>
          <a:lstStyle/>
          <a:p>
            <a:fld id="{95C84F66-2993-4B69-BD99-8BC2AF80AFA4}"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13</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would happen if there were no Conflict of law rules?</a:t>
            </a:r>
            <a:endParaRPr lang="en-US" dirty="0"/>
          </a:p>
        </p:txBody>
      </p:sp>
      <p:sp>
        <p:nvSpPr>
          <p:cNvPr id="3" name="Content Placeholder 2"/>
          <p:cNvSpPr>
            <a:spLocks noGrp="1"/>
          </p:cNvSpPr>
          <p:nvPr>
            <p:ph idx="1"/>
          </p:nvPr>
        </p:nvSpPr>
        <p:spPr>
          <a:solidFill>
            <a:srgbClr val="00B050"/>
          </a:solidFill>
        </p:spPr>
        <p:txBody>
          <a:bodyPr>
            <a:normAutofit fontScale="70000" lnSpcReduction="20000"/>
          </a:bodyPr>
          <a:lstStyle/>
          <a:p>
            <a:r>
              <a:rPr lang="en-US" dirty="0" smtClean="0"/>
              <a:t>International legal transactions would be greatly </a:t>
            </a:r>
            <a:r>
              <a:rPr lang="en-US" dirty="0" smtClean="0"/>
              <a:t>impeded $ </a:t>
            </a:r>
            <a:r>
              <a:rPr lang="en-US" dirty="0" smtClean="0"/>
              <a:t>Forum shopping would be rampant</a:t>
            </a:r>
          </a:p>
          <a:p>
            <a:pPr lvl="1"/>
            <a:r>
              <a:rPr lang="en-US" dirty="0" smtClean="0"/>
              <a:t>Forum shopping is making use of jurisdictional options to affect the outcome of a lawsuit provided that all courts would always apply their own laws.</a:t>
            </a:r>
          </a:p>
          <a:p>
            <a:r>
              <a:rPr lang="en-US" dirty="0" err="1" smtClean="0"/>
              <a:t>Lex</a:t>
            </a:r>
            <a:r>
              <a:rPr lang="en-US" dirty="0" smtClean="0"/>
              <a:t> </a:t>
            </a:r>
            <a:r>
              <a:rPr lang="en-US" dirty="0" err="1" smtClean="0"/>
              <a:t>fori</a:t>
            </a:r>
            <a:r>
              <a:rPr lang="en-US" dirty="0" smtClean="0"/>
              <a:t> would always be applicable</a:t>
            </a:r>
          </a:p>
          <a:p>
            <a:r>
              <a:rPr lang="en-US" dirty="0" smtClean="0"/>
              <a:t>No one involved in multistate legal relationship would be sure of the out come of his action</a:t>
            </a:r>
          </a:p>
          <a:p>
            <a:r>
              <a:rPr lang="en-US" dirty="0" smtClean="0"/>
              <a:t>Prevention of Injustice to parties. Individuals could be gravely harmed for they may lose a right or status legally obtained in one state when they cross a border to another state</a:t>
            </a:r>
          </a:p>
          <a:p>
            <a:r>
              <a:rPr lang="en-US" dirty="0" smtClean="0"/>
              <a:t> Judgment creditors may be left  without execution  of their right obtained in one state  against  defendant in another state</a:t>
            </a:r>
          </a:p>
          <a:p>
            <a:r>
              <a:rPr lang="en-US" dirty="0" smtClean="0"/>
              <a:t>Business, and investment will be greatly hampered.</a:t>
            </a:r>
          </a:p>
          <a:p>
            <a:endParaRPr lang="en-US" dirty="0"/>
          </a:p>
        </p:txBody>
      </p:sp>
      <p:sp>
        <p:nvSpPr>
          <p:cNvPr id="4" name="Date Placeholder 3"/>
          <p:cNvSpPr>
            <a:spLocks noGrp="1"/>
          </p:cNvSpPr>
          <p:nvPr>
            <p:ph type="dt" sz="half" idx="10"/>
          </p:nvPr>
        </p:nvSpPr>
        <p:spPr/>
        <p:txBody>
          <a:bodyPr/>
          <a:lstStyle/>
          <a:p>
            <a:fld id="{02A3083B-3B6F-459B-97ED-3D8390D7DAD5}"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14</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1.5. Interstate and International Conflict of laws</a:t>
            </a:r>
            <a:endParaRPr lang="en-US" dirty="0"/>
          </a:p>
        </p:txBody>
      </p:sp>
      <p:sp>
        <p:nvSpPr>
          <p:cNvPr id="3" name="Content Placeholder 2"/>
          <p:cNvSpPr>
            <a:spLocks noGrp="1"/>
          </p:cNvSpPr>
          <p:nvPr>
            <p:ph idx="1"/>
          </p:nvPr>
        </p:nvSpPr>
        <p:spPr>
          <a:solidFill>
            <a:srgbClr val="00B050"/>
          </a:solidFill>
        </p:spPr>
        <p:txBody>
          <a:bodyPr>
            <a:normAutofit fontScale="70000" lnSpcReduction="20000"/>
          </a:bodyPr>
          <a:lstStyle/>
          <a:p>
            <a:r>
              <a:rPr lang="en-US" dirty="0" smtClean="0"/>
              <a:t>Conflict of laws problem arises both on international level ( among national states )( Intra-state) and between sister states of a federal or a decentralized system of governments( inter state conflict)</a:t>
            </a:r>
          </a:p>
          <a:p>
            <a:r>
              <a:rPr lang="en-US" dirty="0" smtClean="0"/>
              <a:t>For purpose of conflict of laws states of a federation  are considered a separate legal entity and a  distinct legal system</a:t>
            </a:r>
          </a:p>
          <a:p>
            <a:r>
              <a:rPr lang="en-US" dirty="0" smtClean="0"/>
              <a:t>Each   of the sister state  may have their own  conflict of law rules</a:t>
            </a:r>
          </a:p>
          <a:p>
            <a:r>
              <a:rPr lang="en-US" dirty="0" smtClean="0"/>
              <a:t>Even if in most cases the nature of inter state and international conflicts of laws are the same, the  inter state conflict is different because the  federal constitution provides for certain rules that aim at homogeneity on certain issues  and  a  constitutional guarantees so as to protect right of individuals, Unity of the federation and the sisterly relation of state governments. </a:t>
            </a:r>
            <a:endParaRPr lang="en-US" dirty="0"/>
          </a:p>
        </p:txBody>
      </p:sp>
      <p:sp>
        <p:nvSpPr>
          <p:cNvPr id="4" name="Date Placeholder 3"/>
          <p:cNvSpPr>
            <a:spLocks noGrp="1"/>
          </p:cNvSpPr>
          <p:nvPr>
            <p:ph type="dt" sz="half" idx="10"/>
          </p:nvPr>
        </p:nvSpPr>
        <p:spPr/>
        <p:txBody>
          <a:bodyPr/>
          <a:lstStyle/>
          <a:p>
            <a:fld id="{356E5346-AB92-4551-B1CC-E0B70BA680B2}"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15</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1.6. Origin and development of Conflict of Laws </a:t>
            </a:r>
            <a:br>
              <a:rPr lang="en-US" sz="3200" dirty="0" smtClean="0"/>
            </a:br>
            <a:r>
              <a:rPr lang="en-US" sz="3200" dirty="0" smtClean="0"/>
              <a:t>In General</a:t>
            </a:r>
            <a:endParaRPr lang="en-US" sz="3200" dirty="0"/>
          </a:p>
        </p:txBody>
      </p:sp>
      <p:sp>
        <p:nvSpPr>
          <p:cNvPr id="3" name="Content Placeholder 2"/>
          <p:cNvSpPr>
            <a:spLocks noGrp="1"/>
          </p:cNvSpPr>
          <p:nvPr>
            <p:ph idx="1"/>
          </p:nvPr>
        </p:nvSpPr>
        <p:spPr>
          <a:solidFill>
            <a:srgbClr val="00B050"/>
          </a:solidFill>
        </p:spPr>
        <p:txBody>
          <a:bodyPr>
            <a:normAutofit fontScale="85000" lnSpcReduction="20000"/>
          </a:bodyPr>
          <a:lstStyle/>
          <a:p>
            <a:r>
              <a:rPr lang="en-US" dirty="0" smtClean="0"/>
              <a:t> The history of Conflict of Laws or Private International Law is history of Choice of law.</a:t>
            </a:r>
          </a:p>
          <a:p>
            <a:pPr lvl="1"/>
            <a:r>
              <a:rPr lang="en-US" dirty="0" smtClean="0"/>
              <a:t>i.e.,  History of the theories of Choice of Law</a:t>
            </a:r>
          </a:p>
          <a:p>
            <a:r>
              <a:rPr lang="en-US" dirty="0" smtClean="0"/>
              <a:t> Problem of conflict of laws has a very ancient history from the time of ancient Egypt, Rome and Greek </a:t>
            </a:r>
          </a:p>
          <a:p>
            <a:r>
              <a:rPr lang="en-US" dirty="0" smtClean="0"/>
              <a:t>Various Methods were used to deal with the matter Like:</a:t>
            </a:r>
          </a:p>
          <a:p>
            <a:pPr lvl="1"/>
            <a:r>
              <a:rPr lang="en-US" dirty="0" smtClean="0"/>
              <a:t>In Greek ,Special Courts  for cases in which  foreigners  involved</a:t>
            </a:r>
          </a:p>
          <a:p>
            <a:pPr lvl="1"/>
            <a:r>
              <a:rPr lang="en-US" dirty="0" smtClean="0"/>
              <a:t>In Rome Special Law, </a:t>
            </a:r>
            <a:r>
              <a:rPr lang="en-US" i="1" dirty="0" smtClean="0"/>
              <a:t>Jus </a:t>
            </a:r>
            <a:r>
              <a:rPr lang="en-US" i="1" dirty="0" err="1" smtClean="0"/>
              <a:t>gentium</a:t>
            </a:r>
            <a:r>
              <a:rPr lang="en-US" i="1" dirty="0" smtClean="0"/>
              <a:t>  </a:t>
            </a:r>
            <a:r>
              <a:rPr lang="en-US" i="1" dirty="0" err="1" smtClean="0"/>
              <a:t>i.e</a:t>
            </a:r>
            <a:r>
              <a:rPr lang="en-US" i="1" dirty="0" smtClean="0"/>
              <a:t> </a:t>
            </a:r>
            <a:r>
              <a:rPr lang="en-US" dirty="0" smtClean="0"/>
              <a:t>"general principles of law common to all nations” was applied </a:t>
            </a:r>
            <a:r>
              <a:rPr lang="en-US" i="1" dirty="0" smtClean="0"/>
              <a:t> </a:t>
            </a:r>
            <a:r>
              <a:rPr lang="en-US" dirty="0" smtClean="0"/>
              <a:t>Instead of the </a:t>
            </a:r>
            <a:r>
              <a:rPr lang="en-US" i="1" dirty="0" smtClean="0"/>
              <a:t>jus </a:t>
            </a:r>
            <a:r>
              <a:rPr lang="en-US" i="1" dirty="0" err="1" smtClean="0"/>
              <a:t>civile</a:t>
            </a:r>
            <a:r>
              <a:rPr lang="en-US" dirty="0" smtClean="0"/>
              <a:t>.</a:t>
            </a:r>
          </a:p>
          <a:p>
            <a:endParaRPr lang="en-US" dirty="0"/>
          </a:p>
        </p:txBody>
      </p:sp>
      <p:sp>
        <p:nvSpPr>
          <p:cNvPr id="4" name="Date Placeholder 3"/>
          <p:cNvSpPr>
            <a:spLocks noGrp="1"/>
          </p:cNvSpPr>
          <p:nvPr>
            <p:ph type="dt" sz="half" idx="10"/>
          </p:nvPr>
        </p:nvSpPr>
        <p:spPr/>
        <p:txBody>
          <a:bodyPr/>
          <a:lstStyle/>
          <a:p>
            <a:fld id="{172E1E1F-B194-45FF-B663-AFCF0049F397}"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16</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Development ctd…</a:t>
            </a:r>
            <a:endParaRPr lang="en-US" dirty="0"/>
          </a:p>
        </p:txBody>
      </p:sp>
      <p:sp>
        <p:nvSpPr>
          <p:cNvPr id="3" name="Content Placeholder 2"/>
          <p:cNvSpPr>
            <a:spLocks noGrp="1"/>
          </p:cNvSpPr>
          <p:nvPr>
            <p:ph idx="1"/>
          </p:nvPr>
        </p:nvSpPr>
        <p:spPr>
          <a:solidFill>
            <a:srgbClr val="00B050"/>
          </a:solidFill>
        </p:spPr>
        <p:txBody>
          <a:bodyPr>
            <a:normAutofit lnSpcReduction="10000"/>
          </a:bodyPr>
          <a:lstStyle/>
          <a:p>
            <a:pPr>
              <a:buNone/>
            </a:pPr>
            <a:r>
              <a:rPr lang="en-US" b="1" dirty="0" smtClean="0"/>
              <a:t>Middle Ages</a:t>
            </a:r>
          </a:p>
          <a:p>
            <a:r>
              <a:rPr lang="en-US" dirty="0" smtClean="0"/>
              <a:t>Conflict of laws as we know it emerged around 13</a:t>
            </a:r>
            <a:r>
              <a:rPr lang="en-US" baseline="30000" dirty="0" smtClean="0"/>
              <a:t>th</a:t>
            </a:r>
            <a:r>
              <a:rPr lang="en-US" dirty="0" smtClean="0"/>
              <a:t> c In Italian City States</a:t>
            </a:r>
          </a:p>
          <a:p>
            <a:r>
              <a:rPr lang="en-US" dirty="0" err="1" smtClean="0">
                <a:solidFill>
                  <a:srgbClr val="C00000"/>
                </a:solidFill>
              </a:rPr>
              <a:t>Mgistur</a:t>
            </a:r>
            <a:r>
              <a:rPr lang="en-US" dirty="0" smtClean="0">
                <a:solidFill>
                  <a:srgbClr val="C00000"/>
                </a:solidFill>
              </a:rPr>
              <a:t> </a:t>
            </a:r>
            <a:r>
              <a:rPr lang="en-US" dirty="0" err="1" smtClean="0">
                <a:solidFill>
                  <a:srgbClr val="C00000"/>
                </a:solidFill>
              </a:rPr>
              <a:t>Aldricus</a:t>
            </a:r>
            <a:r>
              <a:rPr lang="en-US" dirty="0" smtClean="0">
                <a:solidFill>
                  <a:srgbClr val="C00000"/>
                </a:solidFill>
              </a:rPr>
              <a:t> </a:t>
            </a:r>
            <a:r>
              <a:rPr lang="en-US" dirty="0" smtClean="0"/>
              <a:t>( The Father of Conflict of Laws ) Developed the first choice of law rule</a:t>
            </a:r>
          </a:p>
          <a:p>
            <a:r>
              <a:rPr lang="en-US" dirty="0" smtClean="0"/>
              <a:t>Suggested that “ Court must apply the law with the significant contact with the case and the most effective and useful law”</a:t>
            </a:r>
          </a:p>
          <a:p>
            <a:r>
              <a:rPr lang="en-US" dirty="0" smtClean="0"/>
              <a:t> Critics: Vague</a:t>
            </a:r>
          </a:p>
          <a:p>
            <a:endParaRPr lang="en-US" dirty="0"/>
          </a:p>
        </p:txBody>
      </p:sp>
      <p:sp>
        <p:nvSpPr>
          <p:cNvPr id="4" name="Date Placeholder 3"/>
          <p:cNvSpPr>
            <a:spLocks noGrp="1"/>
          </p:cNvSpPr>
          <p:nvPr>
            <p:ph type="dt" sz="half" idx="10"/>
          </p:nvPr>
        </p:nvSpPr>
        <p:spPr/>
        <p:txBody>
          <a:bodyPr/>
          <a:lstStyle/>
          <a:p>
            <a:fld id="{3E0AD635-2BDD-4279-9B61-21653D5891C4}"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17</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Development  ctd..</a:t>
            </a:r>
            <a:endParaRPr lang="en-US" dirty="0"/>
          </a:p>
        </p:txBody>
      </p:sp>
      <p:sp>
        <p:nvSpPr>
          <p:cNvPr id="3" name="Content Placeholder 2"/>
          <p:cNvSpPr>
            <a:spLocks noGrp="1"/>
          </p:cNvSpPr>
          <p:nvPr>
            <p:ph idx="1"/>
          </p:nvPr>
        </p:nvSpPr>
        <p:spPr>
          <a:solidFill>
            <a:srgbClr val="00B050"/>
          </a:solidFill>
        </p:spPr>
        <p:txBody>
          <a:bodyPr>
            <a:normAutofit fontScale="77500" lnSpcReduction="20000"/>
          </a:bodyPr>
          <a:lstStyle/>
          <a:p>
            <a:pPr>
              <a:buNone/>
            </a:pPr>
            <a:r>
              <a:rPr lang="en-US" dirty="0" smtClean="0"/>
              <a:t> </a:t>
            </a:r>
            <a:r>
              <a:rPr lang="en-US" sz="3600" dirty="0" smtClean="0"/>
              <a:t>The Statutory Theory</a:t>
            </a:r>
          </a:p>
          <a:p>
            <a:r>
              <a:rPr lang="en-US" dirty="0" smtClean="0"/>
              <a:t> Foreign defendant  should be governed by his   National or personal law wherever he may be</a:t>
            </a:r>
          </a:p>
          <a:p>
            <a:r>
              <a:rPr lang="en-US" dirty="0" smtClean="0"/>
              <a:t> Place of Cause of action immaterial personal law follows the person</a:t>
            </a:r>
          </a:p>
          <a:p>
            <a:r>
              <a:rPr lang="en-US" dirty="0" smtClean="0"/>
              <a:t>Critics: A person did not carry all of his national or personal law with him</a:t>
            </a:r>
          </a:p>
          <a:p>
            <a:r>
              <a:rPr lang="en-US" dirty="0" smtClean="0"/>
              <a:t> Classification of Statutes in to real and personal statutes</a:t>
            </a:r>
          </a:p>
          <a:p>
            <a:pPr lvl="1"/>
            <a:r>
              <a:rPr lang="en-US" dirty="0" smtClean="0"/>
              <a:t>Real statutes do not have extra territorial applicability. E.g. Rules governing immovable are the laws of the citus.</a:t>
            </a:r>
          </a:p>
          <a:p>
            <a:pPr lvl="1"/>
            <a:r>
              <a:rPr lang="en-US" dirty="0" smtClean="0"/>
              <a:t>Personal statutes follow the Person.  E.g.   Matters relating to  status and movables  governed  by defendants national law.</a:t>
            </a:r>
          </a:p>
          <a:p>
            <a:endParaRPr lang="en-US" dirty="0" smtClean="0"/>
          </a:p>
          <a:p>
            <a:endParaRPr lang="en-US" dirty="0"/>
          </a:p>
        </p:txBody>
      </p:sp>
      <p:sp>
        <p:nvSpPr>
          <p:cNvPr id="4" name="Date Placeholder 3"/>
          <p:cNvSpPr>
            <a:spLocks noGrp="1"/>
          </p:cNvSpPr>
          <p:nvPr>
            <p:ph type="dt" sz="half" idx="10"/>
          </p:nvPr>
        </p:nvSpPr>
        <p:spPr/>
        <p:txBody>
          <a:bodyPr/>
          <a:lstStyle/>
          <a:p>
            <a:fld id="{53C78C9E-25BE-48E5-B520-F0A41EE17337}"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18</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Development ctd…</a:t>
            </a:r>
            <a:endParaRPr lang="en-US" dirty="0"/>
          </a:p>
        </p:txBody>
      </p:sp>
      <p:sp>
        <p:nvSpPr>
          <p:cNvPr id="3" name="Content Placeholder 2"/>
          <p:cNvSpPr>
            <a:spLocks noGrp="1"/>
          </p:cNvSpPr>
          <p:nvPr>
            <p:ph idx="1"/>
          </p:nvPr>
        </p:nvSpPr>
        <p:spPr>
          <a:solidFill>
            <a:srgbClr val="00B050"/>
          </a:solidFill>
        </p:spPr>
        <p:txBody>
          <a:bodyPr/>
          <a:lstStyle/>
          <a:p>
            <a:pPr algn="just"/>
            <a:r>
              <a:rPr lang="en-US" dirty="0" smtClean="0"/>
              <a:t>Difficulty of Classification of statutes in to real and personal and the consequent development of third category “Mixed statutes” by </a:t>
            </a:r>
            <a:r>
              <a:rPr lang="en-US" dirty="0" err="1" smtClean="0"/>
              <a:t>d'Argentrè</a:t>
            </a:r>
            <a:r>
              <a:rPr lang="en-US" dirty="0" smtClean="0"/>
              <a:t>.</a:t>
            </a:r>
          </a:p>
          <a:p>
            <a:pPr algn="just"/>
            <a:r>
              <a:rPr lang="en-US" dirty="0" smtClean="0"/>
              <a:t>Mixed statutes have same effect as Real statutes.</a:t>
            </a:r>
            <a:endParaRPr lang="en-US" dirty="0"/>
          </a:p>
        </p:txBody>
      </p:sp>
      <p:sp>
        <p:nvSpPr>
          <p:cNvPr id="4" name="Date Placeholder 3"/>
          <p:cNvSpPr>
            <a:spLocks noGrp="1"/>
          </p:cNvSpPr>
          <p:nvPr>
            <p:ph type="dt" sz="half" idx="10"/>
          </p:nvPr>
        </p:nvSpPr>
        <p:spPr/>
        <p:txBody>
          <a:bodyPr/>
          <a:lstStyle/>
          <a:p>
            <a:fld id="{6AEBDE2B-CCDD-4FE1-9C1D-C21182CC9680}"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19</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Development Ctd..</a:t>
            </a:r>
            <a:endParaRPr lang="en-US" dirty="0"/>
          </a:p>
        </p:txBody>
      </p:sp>
      <p:sp>
        <p:nvSpPr>
          <p:cNvPr id="3" name="Content Placeholder 2"/>
          <p:cNvSpPr>
            <a:spLocks noGrp="1"/>
          </p:cNvSpPr>
          <p:nvPr>
            <p:ph idx="1"/>
          </p:nvPr>
        </p:nvSpPr>
        <p:spPr>
          <a:solidFill>
            <a:srgbClr val="00B050"/>
          </a:solidFill>
        </p:spPr>
        <p:txBody>
          <a:bodyPr>
            <a:normAutofit fontScale="92500" lnSpcReduction="10000"/>
          </a:bodyPr>
          <a:lstStyle/>
          <a:p>
            <a:r>
              <a:rPr lang="en-US" dirty="0" smtClean="0"/>
              <a:t>16</a:t>
            </a:r>
            <a:r>
              <a:rPr lang="en-US" baseline="30000" dirty="0" smtClean="0"/>
              <a:t>th</a:t>
            </a:r>
            <a:r>
              <a:rPr lang="en-US" dirty="0" smtClean="0"/>
              <a:t> Century development and the French jurist  Du Moulin’s Party autonomy in contract cases.</a:t>
            </a:r>
          </a:p>
          <a:p>
            <a:pPr lvl="1"/>
            <a:r>
              <a:rPr lang="en-US" dirty="0" smtClean="0"/>
              <a:t> contract should be governed by the law intended by the parties.</a:t>
            </a:r>
          </a:p>
          <a:p>
            <a:r>
              <a:rPr lang="en-US" dirty="0" smtClean="0"/>
              <a:t>17</a:t>
            </a:r>
            <a:r>
              <a:rPr lang="en-US" baseline="30000" dirty="0" smtClean="0"/>
              <a:t>th</a:t>
            </a:r>
            <a:r>
              <a:rPr lang="en-US" dirty="0" smtClean="0"/>
              <a:t> century Emergence of “Territoriality Theory” by Dutch Jurists along with the concept of sovereignty</a:t>
            </a:r>
          </a:p>
          <a:p>
            <a:pPr lvl="1"/>
            <a:r>
              <a:rPr lang="en-US" dirty="0" smtClean="0"/>
              <a:t>Law should have force only within the territory of enacting sovereign foreign law applies only for purpose of comity.</a:t>
            </a:r>
          </a:p>
          <a:p>
            <a:pPr lvl="1"/>
            <a:endParaRPr lang="en-US" dirty="0" smtClean="0"/>
          </a:p>
          <a:p>
            <a:pPr lvl="1"/>
            <a:endParaRPr lang="en-US" dirty="0"/>
          </a:p>
        </p:txBody>
      </p:sp>
      <p:sp>
        <p:nvSpPr>
          <p:cNvPr id="4" name="Date Placeholder 3"/>
          <p:cNvSpPr>
            <a:spLocks noGrp="1"/>
          </p:cNvSpPr>
          <p:nvPr>
            <p:ph type="dt" sz="half" idx="10"/>
          </p:nvPr>
        </p:nvSpPr>
        <p:spPr/>
        <p:txBody>
          <a:bodyPr/>
          <a:lstStyle/>
          <a:p>
            <a:fld id="{15EE0494-6625-4F04-AF67-9A10A9489A6A}"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20</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Development ctd…</a:t>
            </a:r>
            <a:endParaRPr lang="en-US" dirty="0"/>
          </a:p>
        </p:txBody>
      </p:sp>
      <p:sp>
        <p:nvSpPr>
          <p:cNvPr id="3" name="Content Placeholder 2"/>
          <p:cNvSpPr>
            <a:spLocks noGrp="1"/>
          </p:cNvSpPr>
          <p:nvPr>
            <p:ph idx="1"/>
          </p:nvPr>
        </p:nvSpPr>
        <p:spPr>
          <a:solidFill>
            <a:srgbClr val="00B050"/>
          </a:solidFill>
        </p:spPr>
        <p:txBody>
          <a:bodyPr>
            <a:normAutofit fontScale="70000" lnSpcReduction="20000"/>
          </a:bodyPr>
          <a:lstStyle/>
          <a:p>
            <a:pPr>
              <a:buNone/>
            </a:pPr>
            <a:r>
              <a:rPr lang="en-US" dirty="0" smtClean="0"/>
              <a:t>   </a:t>
            </a:r>
            <a:r>
              <a:rPr lang="en-US" b="1" dirty="0" smtClean="0"/>
              <a:t>Modern Times </a:t>
            </a:r>
          </a:p>
          <a:p>
            <a:r>
              <a:rPr lang="en-US" dirty="0" smtClean="0"/>
              <a:t>Allocation Method (Traditional Choice of law  Method )</a:t>
            </a:r>
          </a:p>
          <a:p>
            <a:pPr lvl="1"/>
            <a:r>
              <a:rPr lang="en-US" dirty="0" smtClean="0"/>
              <a:t>in 1840’s German Romanist, Karl von </a:t>
            </a:r>
            <a:r>
              <a:rPr lang="en-US" dirty="0" err="1" smtClean="0"/>
              <a:t>Savigny</a:t>
            </a:r>
            <a:r>
              <a:rPr lang="en-US" dirty="0" smtClean="0"/>
              <a:t>, who achieved the important shift of focus from classification of rules to ‘consideration of legal relationships’</a:t>
            </a:r>
          </a:p>
          <a:p>
            <a:r>
              <a:rPr lang="en-US" dirty="0" smtClean="0"/>
              <a:t>The Governmental interest analysis theory</a:t>
            </a:r>
          </a:p>
          <a:p>
            <a:pPr lvl="1"/>
            <a:r>
              <a:rPr lang="en-US" dirty="0" smtClean="0"/>
              <a:t>Developed by David Cavers, Brainerd Currie, Robert </a:t>
            </a:r>
            <a:r>
              <a:rPr lang="en-US" dirty="0" err="1" smtClean="0"/>
              <a:t>Leflar</a:t>
            </a:r>
            <a:r>
              <a:rPr lang="en-US" dirty="0" smtClean="0"/>
              <a:t> </a:t>
            </a:r>
          </a:p>
          <a:p>
            <a:pPr lvl="1"/>
            <a:r>
              <a:rPr lang="en-US" dirty="0" smtClean="0"/>
              <a:t>“The Policy Underlying the rule of substantive law and the interest a state might have in its actual application determine the out come of the choice of law process.”</a:t>
            </a:r>
          </a:p>
          <a:p>
            <a:pPr lvl="1"/>
            <a:r>
              <a:rPr lang="en-US" dirty="0" smtClean="0"/>
              <a:t>Varieties : </a:t>
            </a:r>
          </a:p>
          <a:p>
            <a:pPr lvl="2"/>
            <a:r>
              <a:rPr lang="en-US" dirty="0" smtClean="0"/>
              <a:t>Value Oriented Approach </a:t>
            </a:r>
          </a:p>
          <a:p>
            <a:pPr lvl="2"/>
            <a:r>
              <a:rPr lang="en-US" dirty="0" smtClean="0"/>
              <a:t>Policy weighing Approach ( Functional Analysis) </a:t>
            </a:r>
          </a:p>
          <a:p>
            <a:pPr lvl="1"/>
            <a:r>
              <a:rPr lang="en-US" dirty="0" smtClean="0"/>
              <a:t>Widely accepted in USA</a:t>
            </a:r>
          </a:p>
          <a:p>
            <a:pPr lvl="1"/>
            <a:r>
              <a:rPr lang="en-US" dirty="0" smtClean="0"/>
              <a:t> Suggested for Ethiopia by R. A. </a:t>
            </a:r>
            <a:r>
              <a:rPr lang="en-US" dirty="0" err="1" smtClean="0"/>
              <a:t>Sedler</a:t>
            </a:r>
            <a:r>
              <a:rPr lang="en-US" dirty="0" smtClean="0"/>
              <a:t>.</a:t>
            </a:r>
          </a:p>
          <a:p>
            <a:pPr lvl="1"/>
            <a:endParaRPr lang="en-US" dirty="0" smtClean="0"/>
          </a:p>
          <a:p>
            <a:endParaRPr lang="en-US" dirty="0"/>
          </a:p>
        </p:txBody>
      </p:sp>
      <p:sp>
        <p:nvSpPr>
          <p:cNvPr id="4" name="Date Placeholder 3"/>
          <p:cNvSpPr>
            <a:spLocks noGrp="1"/>
          </p:cNvSpPr>
          <p:nvPr>
            <p:ph type="dt" sz="half" idx="10"/>
          </p:nvPr>
        </p:nvSpPr>
        <p:spPr/>
        <p:txBody>
          <a:bodyPr/>
          <a:lstStyle/>
          <a:p>
            <a:fld id="{3579693C-F898-4053-96B4-B899043F6758}"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21</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1.7. Development of Conflict of Laws in Ethiopia</a:t>
            </a:r>
            <a:endParaRPr lang="en-US" sz="3600" dirty="0"/>
          </a:p>
        </p:txBody>
      </p:sp>
      <p:sp>
        <p:nvSpPr>
          <p:cNvPr id="3" name="Content Placeholder 2"/>
          <p:cNvSpPr>
            <a:spLocks noGrp="1"/>
          </p:cNvSpPr>
          <p:nvPr>
            <p:ph idx="1"/>
          </p:nvPr>
        </p:nvSpPr>
        <p:spPr>
          <a:solidFill>
            <a:srgbClr val="00B050"/>
          </a:solidFill>
        </p:spPr>
        <p:txBody>
          <a:bodyPr>
            <a:normAutofit fontScale="85000" lnSpcReduction="20000"/>
          </a:bodyPr>
          <a:lstStyle/>
          <a:p>
            <a:r>
              <a:rPr lang="en-US" dirty="0" smtClean="0"/>
              <a:t>There is no  separately enacted law of conflict of laws to guide judges in Ethiopia.</a:t>
            </a:r>
          </a:p>
          <a:p>
            <a:r>
              <a:rPr lang="en-US" dirty="0" smtClean="0"/>
              <a:t>A number of attempts have been made to draft the Private International law rules.</a:t>
            </a:r>
          </a:p>
          <a:p>
            <a:pPr lvl="1"/>
            <a:r>
              <a:rPr lang="en-US" dirty="0" err="1" smtClean="0"/>
              <a:t>Renè</a:t>
            </a:r>
            <a:r>
              <a:rPr lang="en-US" dirty="0" smtClean="0"/>
              <a:t> David’s  draft  during civil code codification</a:t>
            </a:r>
          </a:p>
          <a:p>
            <a:pPr lvl="2"/>
            <a:r>
              <a:rPr lang="en-US" dirty="0" smtClean="0"/>
              <a:t>Rejected for no apparent  reason</a:t>
            </a:r>
          </a:p>
          <a:p>
            <a:pPr lvl="1"/>
            <a:r>
              <a:rPr lang="en-US" dirty="0" smtClean="0"/>
              <a:t>1976 E.C. The Short-Term Law Revision Committee</a:t>
            </a:r>
          </a:p>
          <a:p>
            <a:pPr lvl="2"/>
            <a:r>
              <a:rPr lang="en-US" dirty="0" smtClean="0"/>
              <a:t>Not  adopted</a:t>
            </a:r>
          </a:p>
          <a:p>
            <a:pPr lvl="1"/>
            <a:r>
              <a:rPr lang="en-US" dirty="0" smtClean="0"/>
              <a:t> R.A. </a:t>
            </a:r>
            <a:r>
              <a:rPr lang="en-US" dirty="0" err="1" smtClean="0"/>
              <a:t>Sedler's</a:t>
            </a:r>
            <a:r>
              <a:rPr lang="en-US" dirty="0" smtClean="0"/>
              <a:t> personal draft </a:t>
            </a:r>
          </a:p>
          <a:p>
            <a:pPr lvl="2"/>
            <a:r>
              <a:rPr lang="en-US" dirty="0" smtClean="0"/>
              <a:t>No  Action taken</a:t>
            </a:r>
          </a:p>
          <a:p>
            <a:pPr lvl="1"/>
            <a:r>
              <a:rPr lang="en-US" dirty="0" smtClean="0"/>
              <a:t>The Federal Draft Conflict of law Rules by the Justice and legal Systems Research Institute</a:t>
            </a:r>
          </a:p>
          <a:p>
            <a:pPr lvl="2"/>
            <a:r>
              <a:rPr lang="en-US" dirty="0" smtClean="0"/>
              <a:t>Not adopted</a:t>
            </a:r>
          </a:p>
          <a:p>
            <a:pPr lvl="2"/>
            <a:endParaRPr lang="en-US" dirty="0" smtClean="0"/>
          </a:p>
          <a:p>
            <a:pPr lvl="1"/>
            <a:endParaRPr lang="en-US" dirty="0" smtClean="0"/>
          </a:p>
          <a:p>
            <a:pPr lvl="1"/>
            <a:endParaRPr lang="en-US" dirty="0" smtClean="0"/>
          </a:p>
          <a:p>
            <a:endParaRPr lang="en-US" dirty="0"/>
          </a:p>
        </p:txBody>
      </p:sp>
      <p:sp>
        <p:nvSpPr>
          <p:cNvPr id="4" name="Date Placeholder 3"/>
          <p:cNvSpPr>
            <a:spLocks noGrp="1"/>
          </p:cNvSpPr>
          <p:nvPr>
            <p:ph type="dt" sz="half" idx="10"/>
          </p:nvPr>
        </p:nvSpPr>
        <p:spPr/>
        <p:txBody>
          <a:bodyPr/>
          <a:lstStyle/>
          <a:p>
            <a:fld id="{37C0E111-A546-40C6-8D7F-D0E597244A6F}"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22</a:t>
            </a:fld>
            <a:endParaRPr lang="en-US"/>
          </a:p>
        </p:txBody>
      </p:sp>
    </p:spTree>
  </p:cSld>
  <p:clrMapOvr>
    <a:masterClrMapping/>
  </p:clrMapOvr>
  <p:transition spd="med">
    <p:wipe dir="d"/>
    <p:sndAc>
      <p:stSnd>
        <p:snd r:embed="rId2" name="camera.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Development in Ethiopia Ctd..</a:t>
            </a:r>
            <a:endParaRPr lang="en-US" dirty="0"/>
          </a:p>
        </p:txBody>
      </p:sp>
      <p:sp>
        <p:nvSpPr>
          <p:cNvPr id="3" name="Content Placeholder 2"/>
          <p:cNvSpPr>
            <a:spLocks noGrp="1"/>
          </p:cNvSpPr>
          <p:nvPr>
            <p:ph idx="1"/>
          </p:nvPr>
        </p:nvSpPr>
        <p:spPr>
          <a:solidFill>
            <a:srgbClr val="00B050"/>
          </a:solidFill>
        </p:spPr>
        <p:txBody>
          <a:bodyPr>
            <a:normAutofit fontScale="85000" lnSpcReduction="20000"/>
          </a:bodyPr>
          <a:lstStyle/>
          <a:p>
            <a:r>
              <a:rPr lang="en-US" dirty="0" smtClean="0"/>
              <a:t>Despite no Proclamation Courts entertain Cases of conflict of laws</a:t>
            </a:r>
          </a:p>
          <a:p>
            <a:pPr lvl="1"/>
            <a:r>
              <a:rPr lang="en-US" dirty="0" smtClean="0"/>
              <a:t>Ethiopian courts assume Judicial Jurisdiction if:</a:t>
            </a:r>
          </a:p>
          <a:p>
            <a:pPr lvl="2"/>
            <a:r>
              <a:rPr lang="en-US" dirty="0" smtClean="0"/>
              <a:t>Defendant is Ethiopian national or domiciliary</a:t>
            </a:r>
          </a:p>
          <a:p>
            <a:pPr lvl="2"/>
            <a:r>
              <a:rPr lang="en-US" dirty="0" smtClean="0"/>
              <a:t>Cause of  action  arise in Ethiopia. </a:t>
            </a:r>
          </a:p>
          <a:p>
            <a:pPr lvl="1"/>
            <a:r>
              <a:rPr lang="en-US" dirty="0" smtClean="0"/>
              <a:t>Choice of law: Nationality and Domicile as connecting Factors</a:t>
            </a:r>
          </a:p>
          <a:p>
            <a:pPr lvl="1"/>
            <a:r>
              <a:rPr lang="en-US" dirty="0" smtClean="0"/>
              <a:t>No Consistent trend followed  by courts  resulted in hampered of case law jurisprudence</a:t>
            </a:r>
          </a:p>
          <a:p>
            <a:pPr lvl="1"/>
            <a:r>
              <a:rPr lang="en-US" dirty="0" smtClean="0"/>
              <a:t>The problem intensified by the Current Federal arrangement</a:t>
            </a:r>
          </a:p>
          <a:p>
            <a:pPr lvl="2"/>
            <a:r>
              <a:rPr lang="en-US" dirty="0" smtClean="0"/>
              <a:t>Both </a:t>
            </a:r>
            <a:r>
              <a:rPr lang="en-US" dirty="0" err="1" smtClean="0"/>
              <a:t>Intera</a:t>
            </a:r>
            <a:r>
              <a:rPr lang="en-US" dirty="0" smtClean="0"/>
              <a:t>- state  (International)and interstate ( National ) Conflict of laws arise in Ethiopia.</a:t>
            </a:r>
          </a:p>
          <a:p>
            <a:pPr lvl="1"/>
            <a:endParaRPr lang="en-US" dirty="0" smtClean="0"/>
          </a:p>
          <a:p>
            <a:pPr lvl="1">
              <a:buNone/>
            </a:pPr>
            <a:endParaRPr lang="en-US" dirty="0" smtClean="0"/>
          </a:p>
          <a:p>
            <a:pPr lvl="2"/>
            <a:endParaRPr lang="en-US" dirty="0"/>
          </a:p>
        </p:txBody>
      </p:sp>
      <p:sp>
        <p:nvSpPr>
          <p:cNvPr id="4" name="Date Placeholder 3"/>
          <p:cNvSpPr>
            <a:spLocks noGrp="1"/>
          </p:cNvSpPr>
          <p:nvPr>
            <p:ph type="dt" sz="half" idx="10"/>
          </p:nvPr>
        </p:nvSpPr>
        <p:spPr/>
        <p:txBody>
          <a:bodyPr/>
          <a:lstStyle/>
          <a:p>
            <a:fld id="{40462C52-681E-435A-B776-26CCE85BC439}"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Capter One </a:t>
            </a:r>
            <a:endParaRPr lang="en-US"/>
          </a:p>
        </p:txBody>
      </p:sp>
      <p:sp>
        <p:nvSpPr>
          <p:cNvPr id="5" name="Slide Number Placeholder 4"/>
          <p:cNvSpPr>
            <a:spLocks noGrp="1"/>
          </p:cNvSpPr>
          <p:nvPr>
            <p:ph type="sldNum" sz="quarter" idx="12"/>
          </p:nvPr>
        </p:nvSpPr>
        <p:spPr/>
        <p:txBody>
          <a:bodyPr/>
          <a:lstStyle/>
          <a:p>
            <a:fld id="{E1D69346-A95F-4289-B3B1-F0DC879E0563}" type="slidenum">
              <a:rPr lang="en-US" smtClean="0"/>
              <a:pPr/>
              <a:t>23</a:t>
            </a:fld>
            <a:endParaRPr lang="en-US"/>
          </a:p>
        </p:txBody>
      </p:sp>
    </p:spTree>
  </p:cSld>
  <p:clrMapOvr>
    <a:masterClrMapping/>
  </p:clrMapOvr>
  <p:transition spd="med">
    <p:wipe dir="d"/>
    <p:sndAc>
      <p:stSnd>
        <p:snd r:embed="rId3" name="camera.wav"/>
      </p:stSnd>
    </p:sndAc>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834</TotalTime>
  <Words>2156</Words>
  <Application>Microsoft Office PowerPoint</Application>
  <PresentationFormat>On-screen Show (4:3)</PresentationFormat>
  <Paragraphs>231</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Conflict Of Laws </vt:lpstr>
      <vt:lpstr>PowerPoint Presentation</vt:lpstr>
      <vt:lpstr>Chapter One General Introduction On Conflicts</vt:lpstr>
      <vt:lpstr>Naming Contd..</vt:lpstr>
      <vt:lpstr>1.2. Definition and Analysis of Conflict of laws</vt:lpstr>
      <vt:lpstr>Analysis</vt:lpstr>
      <vt:lpstr>1.3. Nature , Scope and Subject matter of conflict of laws</vt:lpstr>
      <vt:lpstr>Conflict of laws( Private International Law)  VS. Public International Law</vt:lpstr>
      <vt:lpstr>Nature , scope ctd…</vt:lpstr>
      <vt:lpstr>Nature and scope cntd…</vt:lpstr>
      <vt:lpstr> Scope of Conflict of laws Under Ethiopian System </vt:lpstr>
      <vt:lpstr>1.4. Raison D'être of conflict of Laws(What is the purpose of its existence, Why do we need It?)</vt:lpstr>
      <vt:lpstr>Raison d'être Cotd..</vt:lpstr>
      <vt:lpstr>What would happen if there were no Conflict of law rules?</vt:lpstr>
      <vt:lpstr>1.5. Interstate and International Conflict of laws</vt:lpstr>
      <vt:lpstr>1.6. Origin and development of Conflict of Laws  In General</vt:lpstr>
      <vt:lpstr>Development ctd…</vt:lpstr>
      <vt:lpstr>Development  ctd..</vt:lpstr>
      <vt:lpstr>Development ctd…</vt:lpstr>
      <vt:lpstr>Development Ctd..</vt:lpstr>
      <vt:lpstr>Development ctd…</vt:lpstr>
      <vt:lpstr>1.7. Development of Conflict of Laws in Ethiopia</vt:lpstr>
      <vt:lpstr>Development in Ethiopia Ctd..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Conflict Of Laws</dc:title>
  <dc:creator>user</dc:creator>
  <cp:lastModifiedBy>ismail - [2010]</cp:lastModifiedBy>
  <cp:revision>113</cp:revision>
  <dcterms:created xsi:type="dcterms:W3CDTF">2011-03-02T09:28:52Z</dcterms:created>
  <dcterms:modified xsi:type="dcterms:W3CDTF">2013-11-27T05:50:33Z</dcterms:modified>
</cp:coreProperties>
</file>