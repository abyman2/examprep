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0" r:id="rId22"/>
    <p:sldId id="291" r:id="rId23"/>
    <p:sldId id="292" r:id="rId24"/>
    <p:sldId id="293" r:id="rId25"/>
    <p:sldId id="289" r:id="rId26"/>
    <p:sldId id="286" r:id="rId27"/>
    <p:sldId id="287" r:id="rId28"/>
    <p:sldId id="278" r:id="rId29"/>
    <p:sldId id="280" r:id="rId30"/>
    <p:sldId id="281" r:id="rId31"/>
    <p:sldId id="282" r:id="rId32"/>
    <p:sldId id="283" r:id="rId33"/>
    <p:sldId id="284" r:id="rId34"/>
    <p:sldId id="285" r:id="rId35"/>
    <p:sldId id="294" r:id="rId36"/>
    <p:sldId id="295" r:id="rId37"/>
    <p:sldId id="296" r:id="rId38"/>
    <p:sldId id="298" r:id="rId39"/>
    <p:sldId id="299" r:id="rId40"/>
    <p:sldId id="300" r:id="rId41"/>
    <p:sldId id="304" r:id="rId42"/>
    <p:sldId id="301" r:id="rId43"/>
    <p:sldId id="302" r:id="rId44"/>
    <p:sldId id="305" r:id="rId45"/>
    <p:sldId id="307" r:id="rId46"/>
    <p:sldId id="308" r:id="rId47"/>
    <p:sldId id="309" r:id="rId48"/>
    <p:sldId id="310"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D8873D0-9591-4361-9A3B-A7C011490EAF}" type="datetimeFigureOut">
              <a:rPr lang="en-US" smtClean="0"/>
              <a:pPr/>
              <a:t>12/7/2017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2FDCAD-91C5-40F7-9FC7-E9524DC294B9}" type="slidenum">
              <a:rPr lang="en-US" smtClean="0"/>
              <a:pPr/>
              <a:t>‹#›</a:t>
            </a:fld>
            <a:endParaRPr lang="en-US"/>
          </a:p>
        </p:txBody>
      </p:sp>
    </p:spTree>
    <p:extLst>
      <p:ext uri="{BB962C8B-B14F-4D97-AF65-F5344CB8AC3E}">
        <p14:creationId xmlns:p14="http://schemas.microsoft.com/office/powerpoint/2010/main" val="178724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92FDCAD-91C5-40F7-9FC7-E9524DC294B9}" type="slidenum">
              <a:rPr lang="en-US" smtClean="0"/>
              <a:pPr/>
              <a:t>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0D7F8CE-3CAE-4958-A1DA-8983E0801B05}"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Sultan Kassim HUCOL</a:t>
            </a:r>
            <a:endParaRPr lang="en-US"/>
          </a:p>
        </p:txBody>
      </p:sp>
      <p:sp>
        <p:nvSpPr>
          <p:cNvPr id="6" name="Slide Number Placeholder 5"/>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12488C-6E3C-412B-BAFC-74B13A8C2E6F}"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Sultan Kassim HUCOL</a:t>
            </a:r>
            <a:endParaRPr lang="en-US"/>
          </a:p>
        </p:txBody>
      </p:sp>
      <p:sp>
        <p:nvSpPr>
          <p:cNvPr id="6" name="Slide Number Placeholder 5"/>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F133D24-F493-4512-BE70-6C88DC956206}"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Sultan Kassim HUCOL</a:t>
            </a:r>
            <a:endParaRPr lang="en-US"/>
          </a:p>
        </p:txBody>
      </p:sp>
      <p:sp>
        <p:nvSpPr>
          <p:cNvPr id="6" name="Slide Number Placeholder 5"/>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E1F35C-D514-4141-92F4-30F2FF10208F}" type="datetime1">
              <a:rPr lang="en-US" smtClean="0"/>
              <a:pPr/>
              <a:t>12/7/2017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
        <p:nvSpPr>
          <p:cNvPr id="7" name="Slide Number Placeholder 6"/>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E47653-F8E3-4567-BEFB-D91179782DC3}" type="datetime1">
              <a:rPr lang="en-US" smtClean="0"/>
              <a:pPr/>
              <a:t>12/7/2017</a:t>
            </a:fld>
            <a:endParaRPr lang="en-US"/>
          </a:p>
        </p:txBody>
      </p:sp>
      <p:sp>
        <p:nvSpPr>
          <p:cNvPr id="8" name="Footer Placeholder 7"/>
          <p:cNvSpPr>
            <a:spLocks noGrp="1"/>
          </p:cNvSpPr>
          <p:nvPr>
            <p:ph type="ftr" sz="quarter" idx="11"/>
          </p:nvPr>
        </p:nvSpPr>
        <p:spPr/>
        <p:txBody>
          <a:bodyPr/>
          <a:lstStyle/>
          <a:p>
            <a:r>
              <a:rPr lang="en-US" smtClean="0"/>
              <a:t>Conflict of Laws PPT Sultan Kassim HUCOL</a:t>
            </a:r>
            <a:endParaRPr lang="en-US"/>
          </a:p>
        </p:txBody>
      </p:sp>
      <p:sp>
        <p:nvSpPr>
          <p:cNvPr id="9" name="Slide Number Placeholder 8"/>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EAAC2C-4213-431E-97A2-B879F3361869}" type="datetime1">
              <a:rPr lang="en-US" smtClean="0"/>
              <a:pPr/>
              <a:t>12/7/2017</a:t>
            </a:fld>
            <a:endParaRPr lang="en-US"/>
          </a:p>
        </p:txBody>
      </p:sp>
      <p:sp>
        <p:nvSpPr>
          <p:cNvPr id="4" name="Footer Placeholder 3"/>
          <p:cNvSpPr>
            <a:spLocks noGrp="1"/>
          </p:cNvSpPr>
          <p:nvPr>
            <p:ph type="ftr" sz="quarter" idx="11"/>
          </p:nvPr>
        </p:nvSpPr>
        <p:spPr/>
        <p:txBody>
          <a:bodyPr/>
          <a:lstStyle/>
          <a:p>
            <a:r>
              <a:rPr lang="en-US" smtClean="0"/>
              <a:t>Conflict of Laws PPT Sultan Kassim HUCOL</a:t>
            </a:r>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9D1C5A-89E8-42B0-BA3F-AB2127BAFB87}" type="datetime1">
              <a:rPr lang="en-US" smtClean="0"/>
              <a:pPr/>
              <a:t>12/7/2017</a:t>
            </a:fld>
            <a:endParaRPr lang="en-US"/>
          </a:p>
        </p:txBody>
      </p:sp>
      <p:sp>
        <p:nvSpPr>
          <p:cNvPr id="3" name="Footer Placeholder 2"/>
          <p:cNvSpPr>
            <a:spLocks noGrp="1"/>
          </p:cNvSpPr>
          <p:nvPr>
            <p:ph type="ftr" sz="quarter" idx="11"/>
          </p:nvPr>
        </p:nvSpPr>
        <p:spPr/>
        <p:txBody>
          <a:bodyPr/>
          <a:lstStyle/>
          <a:p>
            <a:r>
              <a:rPr lang="en-US" smtClean="0"/>
              <a:t>Conflict of Laws PPT Sultan Kassim HUCOL</a:t>
            </a:r>
            <a:endParaRPr lang="en-US"/>
          </a:p>
        </p:txBody>
      </p:sp>
      <p:sp>
        <p:nvSpPr>
          <p:cNvPr id="4" name="Slide Number Placeholder 3"/>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7039689-D37B-4012-BC9D-5B52C718E03E}" type="datetime1">
              <a:rPr lang="en-US" smtClean="0"/>
              <a:pPr/>
              <a:t>12/7/2017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
        <p:nvSpPr>
          <p:cNvPr id="7" name="Slide Number Placeholder 6"/>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BA0C68-FC73-460E-8FBD-2FB0D2643722}" type="datetime1">
              <a:rPr lang="en-US" smtClean="0"/>
              <a:pPr/>
              <a:t>12/7/2017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
        <p:nvSpPr>
          <p:cNvPr id="7" name="Slide Number Placeholder 6"/>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EA2379-A362-40FD-B12E-DAAA831C5D99}"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Sultan Kassim HUCOL</a:t>
            </a:r>
            <a:endParaRPr lang="en-US"/>
          </a:p>
        </p:txBody>
      </p:sp>
      <p:sp>
        <p:nvSpPr>
          <p:cNvPr id="6" name="Slide Number Placeholder 5"/>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279AEAE-A3AE-40F7-A9CA-C03DDCF7E469}" type="datetime1">
              <a:rPr lang="en-US" smtClean="0"/>
              <a:pPr/>
              <a:t>12/7/2017</a:t>
            </a:fld>
            <a:endParaRPr lang="en-US"/>
          </a:p>
        </p:txBody>
      </p:sp>
      <p:sp>
        <p:nvSpPr>
          <p:cNvPr id="5" name="Footer Placeholder 4"/>
          <p:cNvSpPr>
            <a:spLocks noGrp="1"/>
          </p:cNvSpPr>
          <p:nvPr>
            <p:ph type="ftr" sz="quarter" idx="11"/>
          </p:nvPr>
        </p:nvSpPr>
        <p:spPr/>
        <p:txBody>
          <a:bodyPr/>
          <a:lstStyle/>
          <a:p>
            <a:r>
              <a:rPr lang="en-US" smtClean="0"/>
              <a:t>Conflict of Laws PPT Sultan Kassim HUCOL</a:t>
            </a:r>
            <a:endParaRPr lang="en-US"/>
          </a:p>
        </p:txBody>
      </p:sp>
      <p:sp>
        <p:nvSpPr>
          <p:cNvPr id="6" name="Slide Number Placeholder 5"/>
          <p:cNvSpPr>
            <a:spLocks noGrp="1"/>
          </p:cNvSpPr>
          <p:nvPr>
            <p:ph type="sldNum" sz="quarter" idx="12"/>
          </p:nvPr>
        </p:nvSpPr>
        <p:spPr/>
        <p:txBody>
          <a:bodyPr/>
          <a:lstStyle/>
          <a:p>
            <a:fld id="{834BFF34-3419-4CE5-8DD6-F563781C887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4EBC08-E088-4F76-B727-19FAEBB1C73F}" type="datetime1">
              <a:rPr lang="en-US" smtClean="0"/>
              <a:pPr/>
              <a:t>12/7/2017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Conflict of Laws PPT Sultan Kassim HUCOL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4BFF34-3419-4CE5-8DD6-F563781C887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en.wikipedia.org/wiki/Motor_vehicle_accident" TargetMode="External"/><Relationship Id="rId2" Type="http://schemas.openxmlformats.org/officeDocument/2006/relationships/hyperlink" Target="http://en.wikipedia.org/wiki/Ontario"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Three</a:t>
            </a:r>
            <a:br>
              <a:rPr lang="en-US" dirty="0" smtClean="0"/>
            </a:br>
            <a:r>
              <a:rPr lang="en-US" dirty="0" smtClean="0"/>
              <a:t>Choice of Law</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Choice of Law Methods</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dirty="0"/>
              <a:t>Choice-of law is the core element of the conflicts discipline</a:t>
            </a:r>
            <a:r>
              <a:rPr lang="en-US" dirty="0" smtClean="0"/>
              <a:t>.</a:t>
            </a:r>
          </a:p>
          <a:p>
            <a:r>
              <a:rPr lang="en-US" dirty="0" smtClean="0"/>
              <a:t> </a:t>
            </a:r>
            <a:r>
              <a:rPr lang="en-US" dirty="0"/>
              <a:t>It is very muddy, controversial, and unsettled field. </a:t>
            </a:r>
            <a:endParaRPr lang="en-US" dirty="0" smtClean="0"/>
          </a:p>
          <a:p>
            <a:r>
              <a:rPr lang="en-US" dirty="0" smtClean="0"/>
              <a:t>methods </a:t>
            </a:r>
            <a:r>
              <a:rPr lang="en-US" dirty="0"/>
              <a:t>can be </a:t>
            </a:r>
            <a:r>
              <a:rPr lang="en-US" dirty="0" smtClean="0"/>
              <a:t>categorized into: unilateralism</a:t>
            </a:r>
            <a:r>
              <a:rPr lang="en-US" dirty="0"/>
              <a:t>, multilateralism, and substantive law </a:t>
            </a:r>
            <a:r>
              <a:rPr lang="en-US" dirty="0" smtClean="0"/>
              <a:t>approaches.</a:t>
            </a:r>
          </a:p>
          <a:p>
            <a:endParaRPr lang="en-US" dirty="0" smtClean="0"/>
          </a:p>
          <a:p>
            <a:r>
              <a:rPr lang="en-US" b="1" dirty="0" smtClean="0"/>
              <a:t>Unilateralism ( Territorial Method)</a:t>
            </a:r>
          </a:p>
          <a:p>
            <a:pPr lvl="1"/>
            <a:r>
              <a:rPr lang="en-US" dirty="0" smtClean="0"/>
              <a:t>It </a:t>
            </a:r>
            <a:r>
              <a:rPr lang="en-US" dirty="0"/>
              <a:t>determines the spatial reach of a certain state's substantive </a:t>
            </a:r>
            <a:r>
              <a:rPr lang="en-US" dirty="0" smtClean="0"/>
              <a:t>laws</a:t>
            </a:r>
          </a:p>
          <a:p>
            <a:pPr lvl="1"/>
            <a:r>
              <a:rPr lang="en-US" dirty="0" smtClean="0"/>
              <a:t>deals </a:t>
            </a:r>
            <a:r>
              <a:rPr lang="en-US" dirty="0"/>
              <a:t>with the determination of the personal and territorial reach of the potentially applicable local rules of decision</a:t>
            </a:r>
            <a:r>
              <a:rPr lang="en-US" dirty="0" smtClean="0"/>
              <a:t>.</a:t>
            </a:r>
          </a:p>
          <a:p>
            <a:r>
              <a:rPr lang="en-US" dirty="0" smtClean="0"/>
              <a:t> </a:t>
            </a:r>
            <a:r>
              <a:rPr lang="en-US" b="1" dirty="0" smtClean="0"/>
              <a:t>Multilateralism ( Classical Method)</a:t>
            </a:r>
          </a:p>
          <a:p>
            <a:pPr lvl="1"/>
            <a:r>
              <a:rPr lang="en-US" dirty="0" smtClean="0"/>
              <a:t>determine </a:t>
            </a:r>
            <a:r>
              <a:rPr lang="en-US" dirty="0"/>
              <a:t>whether the issue or legal relationship has a strong relationship with one or the other law; and finally decide the case in accordance with the legal system with which the law has strong relationship or has most close connection</a:t>
            </a:r>
            <a:r>
              <a:rPr lang="en-US" dirty="0" smtClean="0"/>
              <a:t>.</a:t>
            </a:r>
            <a:endParaRPr lang="en-US" dirty="0"/>
          </a:p>
          <a:p>
            <a:pPr lvl="1">
              <a:buNone/>
            </a:pPr>
            <a:endParaRPr lang="en-US" dirty="0" smtClean="0"/>
          </a:p>
          <a:p>
            <a:pPr>
              <a:buNone/>
            </a:pPr>
            <a:endParaRPr lang="en-US" dirty="0"/>
          </a:p>
        </p:txBody>
      </p:sp>
      <p:sp>
        <p:nvSpPr>
          <p:cNvPr id="4" name="Date Placeholder 3"/>
          <p:cNvSpPr>
            <a:spLocks noGrp="1"/>
          </p:cNvSpPr>
          <p:nvPr>
            <p:ph type="dt" sz="half" idx="10"/>
          </p:nvPr>
        </p:nvSpPr>
        <p:spPr/>
        <p:txBody>
          <a:bodyPr/>
          <a:lstStyle/>
          <a:p>
            <a:fld id="{188EB8EE-FD3B-449E-8086-7DF2B2CE5416}"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Choice of Law Methods </a:t>
            </a:r>
            <a:r>
              <a:rPr lang="en-US" b="1" dirty="0" err="1" smtClean="0"/>
              <a:t>cntd</a:t>
            </a:r>
            <a:r>
              <a:rPr lang="en-US" b="1" dirty="0" smtClean="0"/>
              <a:t>…</a:t>
            </a:r>
            <a:endParaRPr lang="en-US" dirty="0"/>
          </a:p>
        </p:txBody>
      </p:sp>
      <p:sp>
        <p:nvSpPr>
          <p:cNvPr id="3" name="Content Placeholder 2"/>
          <p:cNvSpPr>
            <a:spLocks noGrp="1"/>
          </p:cNvSpPr>
          <p:nvPr>
            <p:ph idx="1"/>
          </p:nvPr>
        </p:nvSpPr>
        <p:spPr>
          <a:solidFill>
            <a:srgbClr val="00B050"/>
          </a:solidFill>
        </p:spPr>
        <p:txBody>
          <a:bodyPr/>
          <a:lstStyle/>
          <a:p>
            <a:r>
              <a:rPr lang="en-US" b="1" dirty="0" smtClean="0"/>
              <a:t>Substantive </a:t>
            </a:r>
            <a:r>
              <a:rPr lang="en-US" b="1" dirty="0"/>
              <a:t>law </a:t>
            </a:r>
            <a:r>
              <a:rPr lang="en-US" b="1" dirty="0" smtClean="0"/>
              <a:t>approach </a:t>
            </a:r>
            <a:r>
              <a:rPr lang="en-US" dirty="0" smtClean="0"/>
              <a:t>( New Choice of law Methods)</a:t>
            </a:r>
          </a:p>
          <a:p>
            <a:pPr lvl="1"/>
            <a:r>
              <a:rPr lang="en-US" dirty="0"/>
              <a:t>a policy -oriented approach in which substantive policies directly determine the outcome of the choice-of- law process.</a:t>
            </a:r>
          </a:p>
        </p:txBody>
      </p:sp>
      <p:sp>
        <p:nvSpPr>
          <p:cNvPr id="4" name="Date Placeholder 3"/>
          <p:cNvSpPr>
            <a:spLocks noGrp="1"/>
          </p:cNvSpPr>
          <p:nvPr>
            <p:ph type="dt" sz="half" idx="10"/>
          </p:nvPr>
        </p:nvSpPr>
        <p:spPr/>
        <p:txBody>
          <a:bodyPr/>
          <a:lstStyle/>
          <a:p>
            <a:fld id="{636E428A-E2F0-4D85-9C33-A1420ED4D55E}"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3.1. The Classical Choice of Law Method</a:t>
            </a:r>
            <a:endParaRPr lang="en-US" b="1"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Developed by the </a:t>
            </a:r>
            <a:r>
              <a:rPr lang="en-US" dirty="0"/>
              <a:t>German scholar von </a:t>
            </a:r>
            <a:r>
              <a:rPr lang="en-US" dirty="0" err="1"/>
              <a:t>Savigny</a:t>
            </a:r>
            <a:r>
              <a:rPr lang="en-US" dirty="0"/>
              <a:t> (</a:t>
            </a:r>
            <a:r>
              <a:rPr lang="en-US" i="1" dirty="0" err="1"/>
              <a:t>Sitz</a:t>
            </a:r>
            <a:r>
              <a:rPr lang="en-US" dirty="0"/>
              <a:t> theory) in </a:t>
            </a:r>
            <a:r>
              <a:rPr lang="en-US" dirty="0" smtClean="0"/>
              <a:t>1849</a:t>
            </a:r>
          </a:p>
          <a:p>
            <a:r>
              <a:rPr lang="en-US" dirty="0" smtClean="0"/>
              <a:t>Is also called </a:t>
            </a:r>
            <a:r>
              <a:rPr lang="en-US" dirty="0"/>
              <a:t>the allocation </a:t>
            </a:r>
            <a:r>
              <a:rPr lang="en-US" dirty="0" smtClean="0"/>
              <a:t>method</a:t>
            </a:r>
          </a:p>
          <a:p>
            <a:r>
              <a:rPr lang="en-US" b="1" dirty="0" smtClean="0"/>
              <a:t>Goals of the Classical Method</a:t>
            </a:r>
            <a:r>
              <a:rPr lang="en-US" dirty="0" smtClean="0"/>
              <a:t> </a:t>
            </a:r>
          </a:p>
          <a:p>
            <a:pPr lvl="1"/>
            <a:r>
              <a:rPr lang="en-US" dirty="0" smtClean="0"/>
              <a:t>Decisional </a:t>
            </a:r>
            <a:r>
              <a:rPr lang="en-US" dirty="0"/>
              <a:t>harmony or </a:t>
            </a:r>
            <a:r>
              <a:rPr lang="en-US" dirty="0" smtClean="0"/>
              <a:t>Uniformity </a:t>
            </a:r>
            <a:r>
              <a:rPr lang="en-US" dirty="0"/>
              <a:t>of judgments </a:t>
            </a:r>
            <a:endParaRPr lang="en-US" dirty="0" smtClean="0"/>
          </a:p>
          <a:p>
            <a:pPr lvl="1"/>
            <a:r>
              <a:rPr lang="en-US" dirty="0" smtClean="0"/>
              <a:t> </a:t>
            </a:r>
            <a:r>
              <a:rPr lang="en-US" dirty="0"/>
              <a:t>avoid or reduce forum </a:t>
            </a:r>
            <a:r>
              <a:rPr lang="en-US" dirty="0" smtClean="0"/>
              <a:t>shopping,</a:t>
            </a:r>
          </a:p>
          <a:p>
            <a:pPr lvl="1"/>
            <a:r>
              <a:rPr lang="en-US" dirty="0" smtClean="0"/>
              <a:t>ensuring predictability </a:t>
            </a:r>
            <a:r>
              <a:rPr lang="en-US" dirty="0"/>
              <a:t>and </a:t>
            </a:r>
            <a:r>
              <a:rPr lang="en-US" dirty="0" smtClean="0"/>
              <a:t>certainty</a:t>
            </a:r>
          </a:p>
          <a:p>
            <a:r>
              <a:rPr lang="en-US" dirty="0" smtClean="0"/>
              <a:t>Built </a:t>
            </a:r>
            <a:r>
              <a:rPr lang="en-US" dirty="0"/>
              <a:t>on the premise that choice of the applicable law is determined by the "center of gravity" of the legal relationship at </a:t>
            </a:r>
            <a:r>
              <a:rPr lang="en-US" dirty="0" smtClean="0"/>
              <a:t>issue</a:t>
            </a:r>
            <a:r>
              <a:rPr lang="en-US" dirty="0"/>
              <a:t>  </a:t>
            </a:r>
            <a:r>
              <a:rPr lang="en-US" dirty="0" smtClean="0"/>
              <a:t>ascertained through :</a:t>
            </a:r>
          </a:p>
          <a:p>
            <a:pPr lvl="1"/>
            <a:r>
              <a:rPr lang="en-US" dirty="0" smtClean="0"/>
              <a:t>Legal Categories ( Operative Facts)</a:t>
            </a:r>
          </a:p>
          <a:p>
            <a:pPr lvl="1"/>
            <a:r>
              <a:rPr lang="en-US" dirty="0" smtClean="0"/>
              <a:t>Connecting Factors</a:t>
            </a:r>
          </a:p>
        </p:txBody>
      </p:sp>
      <p:sp>
        <p:nvSpPr>
          <p:cNvPr id="4" name="Date Placeholder 3"/>
          <p:cNvSpPr>
            <a:spLocks noGrp="1"/>
          </p:cNvSpPr>
          <p:nvPr>
            <p:ph type="dt" sz="half" idx="10"/>
          </p:nvPr>
        </p:nvSpPr>
        <p:spPr/>
        <p:txBody>
          <a:bodyPr/>
          <a:lstStyle/>
          <a:p>
            <a:fld id="{A29A1CF2-2444-4900-AC1A-B39264FE4E51}"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Classical Method </a:t>
            </a:r>
            <a:r>
              <a:rPr lang="en-US" b="1" dirty="0" err="1" smtClean="0"/>
              <a:t>contd</a:t>
            </a:r>
            <a:r>
              <a:rPr lang="en-US" b="1" dirty="0" smtClean="0"/>
              <a:t>…</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dirty="0"/>
              <a:t>D</a:t>
            </a:r>
            <a:r>
              <a:rPr lang="en-US" dirty="0" smtClean="0"/>
              <a:t>epend </a:t>
            </a:r>
            <a:r>
              <a:rPr lang="en-US" dirty="0"/>
              <a:t>on a set of choice-of-law rules each of which covers a specific category of legal relationships, for which it contains an appropriate connecting factor. </a:t>
            </a:r>
            <a:endParaRPr lang="en-US" dirty="0" smtClean="0"/>
          </a:p>
          <a:p>
            <a:r>
              <a:rPr lang="en-US" dirty="0" smtClean="0"/>
              <a:t>The </a:t>
            </a:r>
            <a:r>
              <a:rPr lang="en-US" dirty="0"/>
              <a:t>choice of jurisdiction to which the connecting factor refers entails the choice of the law of that </a:t>
            </a:r>
            <a:r>
              <a:rPr lang="en-US" dirty="0" smtClean="0"/>
              <a:t>jurisdiction.</a:t>
            </a:r>
          </a:p>
          <a:p>
            <a:r>
              <a:rPr lang="en-US" dirty="0" smtClean="0"/>
              <a:t>E.G. “Succession to Immovable property is governed by </a:t>
            </a:r>
            <a:r>
              <a:rPr lang="en-US" dirty="0" err="1" smtClean="0"/>
              <a:t>lex</a:t>
            </a:r>
            <a:r>
              <a:rPr lang="en-US" dirty="0" smtClean="0"/>
              <a:t> </a:t>
            </a:r>
            <a:r>
              <a:rPr lang="en-US" dirty="0" err="1"/>
              <a:t>s</a:t>
            </a:r>
            <a:r>
              <a:rPr lang="en-US" dirty="0" err="1" smtClean="0"/>
              <a:t>itus</a:t>
            </a:r>
            <a:r>
              <a:rPr lang="en-US" dirty="0" smtClean="0"/>
              <a:t>.” This Provision has two elements.</a:t>
            </a:r>
          </a:p>
          <a:p>
            <a:pPr lvl="1"/>
            <a:r>
              <a:rPr lang="en-US" dirty="0" smtClean="0"/>
              <a:t>1. “Succession to Immovable property” (Legal Category)</a:t>
            </a:r>
          </a:p>
          <a:p>
            <a:pPr lvl="1"/>
            <a:r>
              <a:rPr lang="en-US" dirty="0" smtClean="0"/>
              <a:t>2.  “</a:t>
            </a:r>
            <a:r>
              <a:rPr lang="en-US" dirty="0" err="1" smtClean="0"/>
              <a:t>Situs</a:t>
            </a:r>
            <a:r>
              <a:rPr lang="en-US" dirty="0" smtClean="0"/>
              <a:t>” ( Connection factor)</a:t>
            </a:r>
          </a:p>
          <a:p>
            <a:endParaRPr lang="en-US" dirty="0" smtClean="0"/>
          </a:p>
          <a:p>
            <a:endParaRPr lang="en-US" dirty="0"/>
          </a:p>
        </p:txBody>
      </p:sp>
      <p:sp>
        <p:nvSpPr>
          <p:cNvPr id="4" name="Date Placeholder 3"/>
          <p:cNvSpPr>
            <a:spLocks noGrp="1"/>
          </p:cNvSpPr>
          <p:nvPr>
            <p:ph type="dt" sz="half" idx="10"/>
          </p:nvPr>
        </p:nvSpPr>
        <p:spPr/>
        <p:txBody>
          <a:bodyPr/>
          <a:lstStyle/>
          <a:p>
            <a:fld id="{D7EC9B3C-F653-46C3-AB48-A314F0515F16}"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5</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Classical Method </a:t>
            </a:r>
            <a:r>
              <a:rPr lang="en-US" b="1" dirty="0" err="1" smtClean="0"/>
              <a:t>contd</a:t>
            </a:r>
            <a:r>
              <a:rPr lang="en-US" b="1" dirty="0" smtClean="0"/>
              <a:t>…</a:t>
            </a:r>
            <a:endParaRPr lang="en-US" dirty="0"/>
          </a:p>
        </p:txBody>
      </p:sp>
      <p:sp>
        <p:nvSpPr>
          <p:cNvPr id="3" name="Content Placeholder 2"/>
          <p:cNvSpPr>
            <a:spLocks noGrp="1"/>
          </p:cNvSpPr>
          <p:nvPr>
            <p:ph idx="1"/>
          </p:nvPr>
        </p:nvSpPr>
        <p:spPr>
          <a:solidFill>
            <a:srgbClr val="00B050"/>
          </a:solidFill>
        </p:spPr>
        <p:txBody>
          <a:bodyPr/>
          <a:lstStyle/>
          <a:p>
            <a:r>
              <a:rPr lang="en-US" b="1" dirty="0" smtClean="0"/>
              <a:t>Legal categories </a:t>
            </a:r>
            <a:r>
              <a:rPr lang="en-US" dirty="0" smtClean="0"/>
              <a:t>( operative facts) are like pigeon holes in to which the legal issue disclosed by the facts of the case may be placed</a:t>
            </a:r>
          </a:p>
          <a:p>
            <a:r>
              <a:rPr lang="en-US" b="1" dirty="0" smtClean="0"/>
              <a:t>Connecting factors </a:t>
            </a:r>
            <a:r>
              <a:rPr lang="en-US" dirty="0" smtClean="0"/>
              <a:t>connect the legal categories to the applicable law</a:t>
            </a:r>
          </a:p>
          <a:p>
            <a:endParaRPr lang="en-US" dirty="0" smtClean="0"/>
          </a:p>
          <a:p>
            <a:pPr marL="0" indent="0">
              <a:buNone/>
            </a:pPr>
            <a:endParaRPr lang="en-US" dirty="0"/>
          </a:p>
        </p:txBody>
      </p:sp>
      <p:sp>
        <p:nvSpPr>
          <p:cNvPr id="4" name="Date Placeholder 3"/>
          <p:cNvSpPr>
            <a:spLocks noGrp="1"/>
          </p:cNvSpPr>
          <p:nvPr>
            <p:ph type="dt" sz="half" idx="10"/>
          </p:nvPr>
        </p:nvSpPr>
        <p:spPr/>
        <p:txBody>
          <a:bodyPr/>
          <a:lstStyle/>
          <a:p>
            <a:fld id="{D7401CA0-DB94-46B5-B1D3-9276D93FDB42}"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3.2. The General Part in the classical choice of law method</a:t>
            </a:r>
            <a:endParaRPr lang="en-US" dirty="0"/>
          </a:p>
        </p:txBody>
      </p:sp>
      <p:sp>
        <p:nvSpPr>
          <p:cNvPr id="3" name="Content Placeholder 2"/>
          <p:cNvSpPr>
            <a:spLocks noGrp="1"/>
          </p:cNvSpPr>
          <p:nvPr>
            <p:ph idx="1"/>
          </p:nvPr>
        </p:nvSpPr>
        <p:spPr>
          <a:solidFill>
            <a:srgbClr val="00B050"/>
          </a:solidFill>
        </p:spPr>
        <p:txBody>
          <a:bodyPr/>
          <a:lstStyle/>
          <a:p>
            <a:pPr marL="342900" lvl="1" indent="-342900">
              <a:buNone/>
            </a:pPr>
            <a:r>
              <a:rPr lang="en-US" b="1" dirty="0" smtClean="0"/>
              <a:t>  Analysis of Choice of law Problems</a:t>
            </a:r>
            <a:r>
              <a:rPr lang="en-US" dirty="0" smtClean="0"/>
              <a:t>:</a:t>
            </a:r>
          </a:p>
          <a:p>
            <a:pPr marL="342900" lvl="1" indent="-342900">
              <a:buFont typeface="Arial" pitchFamily="34" charset="0"/>
              <a:buChar char="•"/>
            </a:pPr>
            <a:r>
              <a:rPr lang="en-US" dirty="0" smtClean="0"/>
              <a:t> </a:t>
            </a:r>
            <a:r>
              <a:rPr lang="en-US" sz="3600" dirty="0" smtClean="0"/>
              <a:t>Choice of law problems may arise in three different ways:</a:t>
            </a:r>
          </a:p>
          <a:p>
            <a:r>
              <a:rPr lang="en-US" b="1" dirty="0" smtClean="0"/>
              <a:t>Characterization</a:t>
            </a:r>
            <a:r>
              <a:rPr lang="en-US" dirty="0" smtClean="0"/>
              <a:t> of the subject matter of the dispute </a:t>
            </a:r>
          </a:p>
          <a:p>
            <a:r>
              <a:rPr lang="en-US" dirty="0" smtClean="0"/>
              <a:t>Questions of Connecting factors</a:t>
            </a:r>
          </a:p>
          <a:p>
            <a:r>
              <a:rPr lang="en-US" dirty="0" smtClean="0"/>
              <a:t>The doctrine of </a:t>
            </a:r>
            <a:r>
              <a:rPr lang="en-US" dirty="0" err="1"/>
              <a:t>R</a:t>
            </a:r>
            <a:r>
              <a:rPr lang="en-US" dirty="0" err="1" smtClean="0"/>
              <a:t>envoi</a:t>
            </a:r>
            <a:endParaRPr lang="en-US" dirty="0" smtClean="0"/>
          </a:p>
          <a:p>
            <a:endParaRPr lang="en-US" dirty="0"/>
          </a:p>
        </p:txBody>
      </p:sp>
      <p:sp>
        <p:nvSpPr>
          <p:cNvPr id="4" name="Date Placeholder 3"/>
          <p:cNvSpPr>
            <a:spLocks noGrp="1"/>
          </p:cNvSpPr>
          <p:nvPr>
            <p:ph type="dt" sz="half" idx="10"/>
          </p:nvPr>
        </p:nvSpPr>
        <p:spPr/>
        <p:txBody>
          <a:bodyPr/>
          <a:lstStyle/>
          <a:p>
            <a:fld id="{FD924692-29EF-42C2-914B-AA13ED3D87DB}"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3.2.1. Characterization</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dirty="0" smtClean="0"/>
              <a:t>Is the process through which the court assigns the dispute to its </a:t>
            </a:r>
            <a:r>
              <a:rPr lang="en-US" b="1" dirty="0" smtClean="0"/>
              <a:t>correct legal category</a:t>
            </a:r>
            <a:r>
              <a:rPr lang="en-US" dirty="0" smtClean="0"/>
              <a:t>.</a:t>
            </a:r>
          </a:p>
          <a:p>
            <a:r>
              <a:rPr lang="en-US" dirty="0" smtClean="0"/>
              <a:t>It is a mechanism through which the court identifies the juridical nature of the dispute i.e. whether dispute relates to contract, property, tort etc. </a:t>
            </a:r>
            <a:r>
              <a:rPr lang="en-US" dirty="0"/>
              <a:t> </a:t>
            </a:r>
            <a:r>
              <a:rPr lang="en-US" dirty="0" smtClean="0"/>
              <a:t>Or whether the matter is substantive or procedural.</a:t>
            </a:r>
          </a:p>
          <a:p>
            <a:r>
              <a:rPr lang="en-US" dirty="0" smtClean="0"/>
              <a:t>A single legal issue may fall under different legal categories in the </a:t>
            </a:r>
            <a:r>
              <a:rPr lang="en-US" dirty="0" err="1" smtClean="0"/>
              <a:t>lex</a:t>
            </a:r>
            <a:r>
              <a:rPr lang="en-US" dirty="0" smtClean="0"/>
              <a:t> </a:t>
            </a:r>
            <a:r>
              <a:rPr lang="en-US" dirty="0" err="1" smtClean="0"/>
              <a:t>fori</a:t>
            </a:r>
            <a:r>
              <a:rPr lang="en-US" dirty="0" smtClean="0"/>
              <a:t>( law of the forum) and the </a:t>
            </a:r>
            <a:r>
              <a:rPr lang="en-US" dirty="0" err="1" smtClean="0"/>
              <a:t>lex</a:t>
            </a:r>
            <a:r>
              <a:rPr lang="en-US" dirty="0" smtClean="0"/>
              <a:t> </a:t>
            </a:r>
            <a:r>
              <a:rPr lang="en-US" dirty="0" err="1" smtClean="0"/>
              <a:t>causae</a:t>
            </a:r>
            <a:r>
              <a:rPr lang="en-US" dirty="0" smtClean="0"/>
              <a:t> ( The relevant foreign law)</a:t>
            </a:r>
          </a:p>
          <a:p>
            <a:r>
              <a:rPr lang="en-US" dirty="0" smtClean="0"/>
              <a:t>E.g. Ethiopian law ( </a:t>
            </a:r>
            <a:r>
              <a:rPr lang="en-US" dirty="0" err="1" smtClean="0"/>
              <a:t>lex</a:t>
            </a:r>
            <a:r>
              <a:rPr lang="en-US" dirty="0" smtClean="0"/>
              <a:t> </a:t>
            </a:r>
            <a:r>
              <a:rPr lang="en-US" dirty="0" err="1" smtClean="0"/>
              <a:t>fori</a:t>
            </a:r>
            <a:r>
              <a:rPr lang="en-US" dirty="0" smtClean="0"/>
              <a:t>) regards breach of betrothal as tort issue while it is considered as issue of contract under Kenyan law ( the </a:t>
            </a:r>
            <a:r>
              <a:rPr lang="en-US" dirty="0" err="1" smtClean="0"/>
              <a:t>lex</a:t>
            </a:r>
            <a:r>
              <a:rPr lang="en-US" dirty="0" smtClean="0"/>
              <a:t> </a:t>
            </a:r>
            <a:r>
              <a:rPr lang="en-US" dirty="0" err="1" smtClean="0"/>
              <a:t>causae</a:t>
            </a:r>
            <a:r>
              <a:rPr lang="en-US" dirty="0" smtClean="0"/>
              <a:t>)</a:t>
            </a:r>
          </a:p>
        </p:txBody>
      </p:sp>
      <p:sp>
        <p:nvSpPr>
          <p:cNvPr id="4" name="Date Placeholder 3"/>
          <p:cNvSpPr>
            <a:spLocks noGrp="1"/>
          </p:cNvSpPr>
          <p:nvPr>
            <p:ph type="dt" sz="half" idx="10"/>
          </p:nvPr>
        </p:nvSpPr>
        <p:spPr/>
        <p:txBody>
          <a:bodyPr/>
          <a:lstStyle/>
          <a:p>
            <a:fld id="{1E1171E9-5E01-4D8C-876A-E7569A6CAFDF}"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Characterization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92500"/>
          </a:bodyPr>
          <a:lstStyle/>
          <a:p>
            <a:pPr algn="just"/>
            <a:r>
              <a:rPr lang="en-US" dirty="0" smtClean="0"/>
              <a:t>If the case has been  characterized  as one of tort the choice of law rule may refer to the place of injury so that the law of the place where the injury occurred would be the appropriate law to govern the case. </a:t>
            </a:r>
          </a:p>
          <a:p>
            <a:pPr algn="just"/>
            <a:r>
              <a:rPr lang="en-US" dirty="0" smtClean="0"/>
              <a:t>But If understood as contract then place where contract is made or to be performed governs.</a:t>
            </a:r>
          </a:p>
          <a:p>
            <a:pPr algn="just"/>
            <a:r>
              <a:rPr lang="en-US" dirty="0" smtClean="0"/>
              <a:t>Therefore, characterization surely affects out come of litigation</a:t>
            </a:r>
            <a:endParaRPr lang="en-US" dirty="0"/>
          </a:p>
        </p:txBody>
      </p:sp>
      <p:sp>
        <p:nvSpPr>
          <p:cNvPr id="4" name="Date Placeholder 3"/>
          <p:cNvSpPr>
            <a:spLocks noGrp="1"/>
          </p:cNvSpPr>
          <p:nvPr>
            <p:ph type="dt" sz="half" idx="10"/>
          </p:nvPr>
        </p:nvSpPr>
        <p:spPr/>
        <p:txBody>
          <a:bodyPr/>
          <a:lstStyle/>
          <a:p>
            <a:fld id="{5FC7C07A-D72B-4868-A8FC-DD294660517D}"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Characterization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r>
              <a:rPr lang="en-US" dirty="0" smtClean="0"/>
              <a:t>Characterization includes three things:</a:t>
            </a:r>
          </a:p>
          <a:p>
            <a:r>
              <a:rPr lang="en-US" b="1" dirty="0" smtClean="0"/>
              <a:t>Subject matter Characterization ( also Primary Characterization)</a:t>
            </a:r>
          </a:p>
          <a:p>
            <a:pPr marL="742950" lvl="2" indent="-342900"/>
            <a:r>
              <a:rPr lang="en-US" dirty="0" smtClean="0"/>
              <a:t>Allocation of a case to its correct legal category</a:t>
            </a:r>
          </a:p>
          <a:p>
            <a:pPr marL="742950" lvl="2" indent="-342900"/>
            <a:r>
              <a:rPr lang="en-US" dirty="0" smtClean="0"/>
              <a:t> Or determination of whether the disputed question before the court is a tort or contract etc...</a:t>
            </a:r>
          </a:p>
          <a:p>
            <a:r>
              <a:rPr lang="en-US" b="1" dirty="0" smtClean="0"/>
              <a:t>Connecting Factors </a:t>
            </a:r>
            <a:r>
              <a:rPr lang="en-US" dirty="0" smtClean="0"/>
              <a:t>(their use and definition)</a:t>
            </a:r>
          </a:p>
          <a:p>
            <a:r>
              <a:rPr lang="en-US" b="1" dirty="0" smtClean="0"/>
              <a:t>Substance - Procedure Characterization</a:t>
            </a:r>
          </a:p>
          <a:p>
            <a:pPr lvl="1"/>
            <a:r>
              <a:rPr lang="en-US" dirty="0" smtClean="0"/>
              <a:t>Determination of the extent of  the application of the law already selected. i.e. if procedural it will be excluded if substantive it will be applied.</a:t>
            </a:r>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C2E0A2AB-FED3-45B2-AC36-51E5A757DDF8}"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1. Subject matter Characterization</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r>
              <a:rPr lang="en-US" dirty="0" smtClean="0"/>
              <a:t>Problem of subject matter characterization arises when the law of the forum and the </a:t>
            </a:r>
            <a:r>
              <a:rPr lang="en-US" dirty="0" err="1" smtClean="0"/>
              <a:t>lex</a:t>
            </a:r>
            <a:r>
              <a:rPr lang="en-US" dirty="0" smtClean="0"/>
              <a:t> </a:t>
            </a:r>
            <a:r>
              <a:rPr lang="en-US" dirty="0" err="1" smtClean="0"/>
              <a:t>causae</a:t>
            </a:r>
            <a:r>
              <a:rPr lang="en-US" dirty="0" smtClean="0"/>
              <a:t> characterize the nature of the case differently. E.g. Forum as  tort,  but by </a:t>
            </a:r>
            <a:r>
              <a:rPr lang="en-US" dirty="0" err="1" smtClean="0"/>
              <a:t>lex</a:t>
            </a:r>
            <a:r>
              <a:rPr lang="en-US" dirty="0" smtClean="0"/>
              <a:t> </a:t>
            </a:r>
            <a:r>
              <a:rPr lang="en-US" dirty="0" err="1" smtClean="0"/>
              <a:t>causae</a:t>
            </a:r>
            <a:r>
              <a:rPr lang="en-US" dirty="0" smtClean="0"/>
              <a:t>  as contract</a:t>
            </a:r>
          </a:p>
          <a:p>
            <a:r>
              <a:rPr lang="en-US" dirty="0" smtClean="0"/>
              <a:t>Characterization affects the out come of the case.</a:t>
            </a:r>
          </a:p>
          <a:p>
            <a:r>
              <a:rPr lang="en-US" dirty="0"/>
              <a:t> </a:t>
            </a:r>
            <a:r>
              <a:rPr lang="en-US" dirty="0" smtClean="0"/>
              <a:t>Whose characterization should be accepted? Four Options: Characterization</a:t>
            </a:r>
          </a:p>
          <a:p>
            <a:pPr lvl="1"/>
            <a:r>
              <a:rPr lang="en-US" dirty="0"/>
              <a:t>B</a:t>
            </a:r>
            <a:r>
              <a:rPr lang="en-US" dirty="0" smtClean="0"/>
              <a:t>y </a:t>
            </a:r>
            <a:r>
              <a:rPr lang="en-US" dirty="0" err="1" smtClean="0"/>
              <a:t>Lex</a:t>
            </a:r>
            <a:r>
              <a:rPr lang="en-US" dirty="0" smtClean="0"/>
              <a:t> </a:t>
            </a:r>
            <a:r>
              <a:rPr lang="en-US" dirty="0" err="1" smtClean="0"/>
              <a:t>fori</a:t>
            </a:r>
            <a:endParaRPr lang="en-US" dirty="0" smtClean="0"/>
          </a:p>
          <a:p>
            <a:pPr lvl="1"/>
            <a:r>
              <a:rPr lang="en-US" dirty="0" smtClean="0"/>
              <a:t>By </a:t>
            </a:r>
            <a:r>
              <a:rPr lang="en-US" dirty="0" err="1" smtClean="0"/>
              <a:t>Lex</a:t>
            </a:r>
            <a:r>
              <a:rPr lang="en-US" dirty="0" smtClean="0"/>
              <a:t> </a:t>
            </a:r>
            <a:r>
              <a:rPr lang="en-US" dirty="0" err="1" smtClean="0"/>
              <a:t>causae</a:t>
            </a:r>
            <a:endParaRPr lang="en-US" dirty="0" smtClean="0"/>
          </a:p>
          <a:p>
            <a:pPr lvl="1"/>
            <a:r>
              <a:rPr lang="en-US" dirty="0" smtClean="0"/>
              <a:t>By general international principles</a:t>
            </a:r>
          </a:p>
          <a:p>
            <a:pPr lvl="1"/>
            <a:r>
              <a:rPr lang="en-US" dirty="0" smtClean="0"/>
              <a:t>By both </a:t>
            </a:r>
            <a:r>
              <a:rPr lang="en-US" dirty="0" err="1" smtClean="0"/>
              <a:t>lex</a:t>
            </a:r>
            <a:r>
              <a:rPr lang="en-US" dirty="0" smtClean="0"/>
              <a:t> </a:t>
            </a:r>
            <a:r>
              <a:rPr lang="en-US" dirty="0" err="1" smtClean="0"/>
              <a:t>fori</a:t>
            </a:r>
            <a:r>
              <a:rPr lang="en-US" dirty="0" smtClean="0"/>
              <a:t> and </a:t>
            </a:r>
            <a:r>
              <a:rPr lang="en-US" dirty="0" err="1" smtClean="0"/>
              <a:t>lex</a:t>
            </a:r>
            <a:r>
              <a:rPr lang="en-US" dirty="0" smtClean="0"/>
              <a:t> </a:t>
            </a:r>
            <a:r>
              <a:rPr lang="en-US" dirty="0" err="1" smtClean="0"/>
              <a:t>causae</a:t>
            </a:r>
            <a:endParaRPr lang="en-US" dirty="0"/>
          </a:p>
        </p:txBody>
      </p:sp>
      <p:sp>
        <p:nvSpPr>
          <p:cNvPr id="4" name="Date Placeholder 3"/>
          <p:cNvSpPr>
            <a:spLocks noGrp="1"/>
          </p:cNvSpPr>
          <p:nvPr>
            <p:ph type="dt" sz="half" idx="10"/>
          </p:nvPr>
        </p:nvSpPr>
        <p:spPr/>
        <p:txBody>
          <a:bodyPr/>
          <a:lstStyle/>
          <a:p>
            <a:fld id="{321283AD-C2F9-41FD-BF89-6F93160F5360}"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Subject matter contd..</a:t>
            </a:r>
            <a:endParaRPr lang="en-US" dirty="0"/>
          </a:p>
        </p:txBody>
      </p:sp>
      <p:sp>
        <p:nvSpPr>
          <p:cNvPr id="3" name="Content Placeholder 2"/>
          <p:cNvSpPr>
            <a:spLocks noGrp="1"/>
          </p:cNvSpPr>
          <p:nvPr>
            <p:ph idx="1"/>
          </p:nvPr>
        </p:nvSpPr>
        <p:spPr>
          <a:solidFill>
            <a:srgbClr val="00B050"/>
          </a:solidFill>
        </p:spPr>
        <p:txBody>
          <a:bodyPr>
            <a:normAutofit fontScale="77500" lnSpcReduction="20000"/>
          </a:bodyPr>
          <a:lstStyle/>
          <a:p>
            <a:pPr>
              <a:buNone/>
            </a:pPr>
            <a:r>
              <a:rPr lang="en-US" dirty="0" smtClean="0"/>
              <a:t> </a:t>
            </a:r>
            <a:r>
              <a:rPr lang="en-US" b="1" dirty="0" smtClean="0"/>
              <a:t>Characterization by </a:t>
            </a:r>
            <a:r>
              <a:rPr lang="en-US" b="1" dirty="0" err="1" smtClean="0"/>
              <a:t>Lex</a:t>
            </a:r>
            <a:r>
              <a:rPr lang="en-US" b="1" dirty="0" smtClean="0"/>
              <a:t> </a:t>
            </a:r>
            <a:r>
              <a:rPr lang="en-US" b="1" dirty="0" err="1" smtClean="0"/>
              <a:t>fori</a:t>
            </a:r>
            <a:endParaRPr lang="en-US" b="1" dirty="0" smtClean="0"/>
          </a:p>
          <a:p>
            <a:r>
              <a:rPr lang="en-US" dirty="0"/>
              <a:t> </a:t>
            </a:r>
            <a:r>
              <a:rPr lang="en-US" dirty="0" smtClean="0"/>
              <a:t>Court should characterize the issue in accordance with categories of its own domestic law and foreign rules of law  in accordance with their nearest analogy in the same law</a:t>
            </a:r>
          </a:p>
          <a:p>
            <a:r>
              <a:rPr lang="en-US" dirty="0" smtClean="0"/>
              <a:t> Proposed by Khan and Bart who discovered problem in 1890s</a:t>
            </a:r>
          </a:p>
          <a:p>
            <a:r>
              <a:rPr lang="en-US" dirty="0" smtClean="0"/>
              <a:t> Justification: Characterizing the matter by foreign laws infringes sovereignty.</a:t>
            </a:r>
          </a:p>
          <a:p>
            <a:r>
              <a:rPr lang="en-US" dirty="0" smtClean="0"/>
              <a:t>Exception: </a:t>
            </a:r>
          </a:p>
          <a:p>
            <a:pPr lvl="1"/>
            <a:r>
              <a:rPr lang="en-US" dirty="0" smtClean="0"/>
              <a:t>Movable Vs. Immovable  by law of </a:t>
            </a:r>
            <a:r>
              <a:rPr lang="en-US" dirty="0" err="1"/>
              <a:t>s</a:t>
            </a:r>
            <a:r>
              <a:rPr lang="en-US" dirty="0" err="1" smtClean="0"/>
              <a:t>itus</a:t>
            </a:r>
            <a:r>
              <a:rPr lang="en-US" dirty="0" smtClean="0"/>
              <a:t>. Because it is the sovereign over the property.</a:t>
            </a:r>
          </a:p>
          <a:p>
            <a:pPr lvl="1"/>
            <a:r>
              <a:rPr lang="en-US" dirty="0" smtClean="0"/>
              <a:t>Matters of contract  by the law chosen by the parties.</a:t>
            </a:r>
          </a:p>
          <a:p>
            <a:endParaRPr lang="en-US" dirty="0" smtClean="0"/>
          </a:p>
          <a:p>
            <a:endParaRPr lang="en-US" dirty="0" smtClean="0"/>
          </a:p>
          <a:p>
            <a:endParaRPr lang="en-US" dirty="0" smtClean="0"/>
          </a:p>
          <a:p>
            <a:endParaRPr lang="en-US" dirty="0"/>
          </a:p>
        </p:txBody>
      </p:sp>
      <p:sp>
        <p:nvSpPr>
          <p:cNvPr id="4" name="Date Placeholder 3"/>
          <p:cNvSpPr>
            <a:spLocks noGrp="1"/>
          </p:cNvSpPr>
          <p:nvPr>
            <p:ph type="dt" sz="half" idx="10"/>
          </p:nvPr>
        </p:nvSpPr>
        <p:spPr/>
        <p:txBody>
          <a:bodyPr/>
          <a:lstStyle/>
          <a:p>
            <a:fld id="{E1140AD1-9ACC-4A80-9E69-B8FB6278FA0D}"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Subject matter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lnSpcReduction="10000"/>
          </a:bodyPr>
          <a:lstStyle/>
          <a:p>
            <a:pPr>
              <a:buNone/>
            </a:pPr>
            <a:r>
              <a:rPr lang="en-US" dirty="0" smtClean="0"/>
              <a:t>  </a:t>
            </a:r>
            <a:r>
              <a:rPr lang="en-US" b="1" dirty="0" smtClean="0"/>
              <a:t>Characterization by </a:t>
            </a:r>
            <a:r>
              <a:rPr lang="en-US" b="1" dirty="0" err="1" smtClean="0"/>
              <a:t>lex</a:t>
            </a:r>
            <a:r>
              <a:rPr lang="en-US" b="1" dirty="0" smtClean="0"/>
              <a:t> </a:t>
            </a:r>
            <a:r>
              <a:rPr lang="en-US" b="1" dirty="0" err="1" smtClean="0"/>
              <a:t>caus</a:t>
            </a:r>
            <a:r>
              <a:rPr lang="en-US" dirty="0" err="1" smtClean="0"/>
              <a:t>ae</a:t>
            </a:r>
            <a:endParaRPr lang="en-US" dirty="0" smtClean="0"/>
          </a:p>
          <a:p>
            <a:r>
              <a:rPr lang="en-US" dirty="0" smtClean="0"/>
              <a:t>Disputed characterization should be determined  by the appropriate foreign law.</a:t>
            </a:r>
          </a:p>
          <a:p>
            <a:r>
              <a:rPr lang="en-US" dirty="0" smtClean="0"/>
              <a:t> Justification: Not to accept characterization by </a:t>
            </a:r>
            <a:r>
              <a:rPr lang="en-US" dirty="0" err="1" smtClean="0"/>
              <a:t>lex</a:t>
            </a:r>
            <a:r>
              <a:rPr lang="en-US" dirty="0" smtClean="0"/>
              <a:t> </a:t>
            </a:r>
            <a:r>
              <a:rPr lang="en-US" dirty="0" err="1" smtClean="0"/>
              <a:t>causae</a:t>
            </a:r>
            <a:r>
              <a:rPr lang="en-US" dirty="0" smtClean="0"/>
              <a:t> is equal to failure to apply that law.</a:t>
            </a:r>
          </a:p>
          <a:p>
            <a:r>
              <a:rPr lang="en-US" dirty="0" smtClean="0"/>
              <a:t>Critics: </a:t>
            </a:r>
          </a:p>
          <a:p>
            <a:pPr lvl="1"/>
            <a:r>
              <a:rPr lang="en-US" dirty="0" smtClean="0"/>
              <a:t>It is circular </a:t>
            </a:r>
          </a:p>
          <a:p>
            <a:pPr lvl="1"/>
            <a:r>
              <a:rPr lang="en-US" dirty="0" smtClean="0"/>
              <a:t>Difficult to apply if more than one </a:t>
            </a:r>
            <a:r>
              <a:rPr lang="en-US" dirty="0" err="1" smtClean="0"/>
              <a:t>lex</a:t>
            </a:r>
            <a:r>
              <a:rPr lang="en-US" dirty="0" smtClean="0"/>
              <a:t> cause exist</a:t>
            </a:r>
          </a:p>
          <a:p>
            <a:endParaRPr lang="en-US" dirty="0"/>
          </a:p>
        </p:txBody>
      </p:sp>
      <p:sp>
        <p:nvSpPr>
          <p:cNvPr id="4" name="Date Placeholder 3"/>
          <p:cNvSpPr>
            <a:spLocks noGrp="1"/>
          </p:cNvSpPr>
          <p:nvPr>
            <p:ph type="dt" sz="half" idx="10"/>
          </p:nvPr>
        </p:nvSpPr>
        <p:spPr/>
        <p:txBody>
          <a:bodyPr/>
          <a:lstStyle/>
          <a:p>
            <a:fld id="{07FEBA07-3ED8-4888-BA52-ABA550D591CB}"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Subject matter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lnSpcReduction="10000"/>
          </a:bodyPr>
          <a:lstStyle/>
          <a:p>
            <a:pPr>
              <a:buNone/>
            </a:pPr>
            <a:r>
              <a:rPr lang="en-US" b="1" dirty="0" smtClean="0"/>
              <a:t>	Characterization by General International Principles</a:t>
            </a:r>
          </a:p>
          <a:p>
            <a:r>
              <a:rPr lang="en-US" dirty="0" smtClean="0"/>
              <a:t>Characterization not of  forum or foreign law but of the  general international principle of comparative law.</a:t>
            </a:r>
          </a:p>
          <a:p>
            <a:r>
              <a:rPr lang="en-US" dirty="0" smtClean="0"/>
              <a:t>Approach base on view that conflict of law is part of international law</a:t>
            </a:r>
          </a:p>
          <a:p>
            <a:r>
              <a:rPr lang="en-US" dirty="0" smtClean="0"/>
              <a:t>Critics: Vague to apply and impracticable b/c few general principles of universal application.</a:t>
            </a:r>
            <a:endParaRPr lang="en-US" dirty="0"/>
          </a:p>
        </p:txBody>
      </p:sp>
      <p:sp>
        <p:nvSpPr>
          <p:cNvPr id="4" name="Date Placeholder 3"/>
          <p:cNvSpPr>
            <a:spLocks noGrp="1"/>
          </p:cNvSpPr>
          <p:nvPr>
            <p:ph type="dt" sz="half" idx="10"/>
          </p:nvPr>
        </p:nvSpPr>
        <p:spPr/>
        <p:txBody>
          <a:bodyPr/>
          <a:lstStyle/>
          <a:p>
            <a:fld id="{B1032F1C-BA8F-40B5-8ABC-12B1833C5458}"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14</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Subject matter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lnSpcReduction="10000"/>
          </a:bodyPr>
          <a:lstStyle/>
          <a:p>
            <a:pPr>
              <a:buNone/>
            </a:pPr>
            <a:r>
              <a:rPr lang="en-US" b="1" dirty="0" smtClean="0"/>
              <a:t>Characterization both  by </a:t>
            </a:r>
            <a:r>
              <a:rPr lang="en-US" b="1" dirty="0" err="1" smtClean="0"/>
              <a:t>lex</a:t>
            </a:r>
            <a:r>
              <a:rPr lang="en-US" b="1" dirty="0" smtClean="0"/>
              <a:t> </a:t>
            </a:r>
            <a:r>
              <a:rPr lang="en-US" b="1" dirty="0" err="1" smtClean="0"/>
              <a:t>fori</a:t>
            </a:r>
            <a:r>
              <a:rPr lang="en-US" b="1" dirty="0" smtClean="0"/>
              <a:t> and </a:t>
            </a:r>
            <a:r>
              <a:rPr lang="en-US" b="1" dirty="0" err="1" smtClean="0"/>
              <a:t>lex</a:t>
            </a:r>
            <a:r>
              <a:rPr lang="en-US" b="1" dirty="0" smtClean="0"/>
              <a:t> </a:t>
            </a:r>
            <a:r>
              <a:rPr lang="en-US" b="1" dirty="0" err="1" smtClean="0"/>
              <a:t>causae</a:t>
            </a:r>
            <a:endParaRPr lang="en-US" b="1" dirty="0" smtClean="0"/>
          </a:p>
          <a:p>
            <a:r>
              <a:rPr lang="en-US" dirty="0" smtClean="0"/>
              <a:t>Primary characterization by </a:t>
            </a:r>
            <a:r>
              <a:rPr lang="en-US" dirty="0" err="1" smtClean="0"/>
              <a:t>lex</a:t>
            </a:r>
            <a:r>
              <a:rPr lang="en-US" dirty="0" smtClean="0"/>
              <a:t> </a:t>
            </a:r>
            <a:r>
              <a:rPr lang="en-US" dirty="0" err="1" smtClean="0"/>
              <a:t>fori</a:t>
            </a:r>
            <a:endParaRPr lang="en-US" dirty="0" smtClean="0"/>
          </a:p>
          <a:p>
            <a:r>
              <a:rPr lang="en-US" dirty="0" smtClean="0"/>
              <a:t>Secondary characterization by </a:t>
            </a:r>
            <a:r>
              <a:rPr lang="en-US" dirty="0" err="1" smtClean="0"/>
              <a:t>lex</a:t>
            </a:r>
            <a:r>
              <a:rPr lang="en-US" dirty="0" smtClean="0"/>
              <a:t> </a:t>
            </a:r>
            <a:r>
              <a:rPr lang="en-US" dirty="0" err="1" smtClean="0"/>
              <a:t>causae</a:t>
            </a:r>
            <a:endParaRPr lang="en-US" dirty="0" smtClean="0"/>
          </a:p>
          <a:p>
            <a:r>
              <a:rPr lang="en-US" dirty="0" smtClean="0"/>
              <a:t>Critic: Distinction b/n primary and secondary </a:t>
            </a:r>
            <a:r>
              <a:rPr lang="en-US" dirty="0" err="1" smtClean="0"/>
              <a:t>caracterization</a:t>
            </a:r>
            <a:r>
              <a:rPr lang="en-US" dirty="0" smtClean="0"/>
              <a:t> artificial and brings arbitrary decision.</a:t>
            </a:r>
          </a:p>
          <a:p>
            <a:r>
              <a:rPr lang="en-US" dirty="0" smtClean="0"/>
              <a:t> Generally most countries accept characterization by </a:t>
            </a:r>
            <a:r>
              <a:rPr lang="en-US" dirty="0" err="1" smtClean="0"/>
              <a:t>lex</a:t>
            </a:r>
            <a:r>
              <a:rPr lang="en-US" dirty="0" smtClean="0"/>
              <a:t> </a:t>
            </a:r>
            <a:r>
              <a:rPr lang="en-US" dirty="0" err="1" smtClean="0"/>
              <a:t>fori</a:t>
            </a:r>
            <a:r>
              <a:rPr lang="en-US" dirty="0" smtClean="0"/>
              <a:t>. Except Property movable Vs. immovable by </a:t>
            </a:r>
            <a:r>
              <a:rPr lang="en-US" dirty="0" err="1" smtClean="0"/>
              <a:t>situs</a:t>
            </a:r>
            <a:r>
              <a:rPr lang="en-US" dirty="0" smtClean="0"/>
              <a:t>.</a:t>
            </a:r>
            <a:endParaRPr lang="en-US" dirty="0"/>
          </a:p>
        </p:txBody>
      </p:sp>
      <p:sp>
        <p:nvSpPr>
          <p:cNvPr id="4" name="Date Placeholder 3"/>
          <p:cNvSpPr>
            <a:spLocks noGrp="1"/>
          </p:cNvSpPr>
          <p:nvPr>
            <p:ph type="dt" sz="half" idx="10"/>
          </p:nvPr>
        </p:nvSpPr>
        <p:spPr/>
        <p:txBody>
          <a:bodyPr/>
          <a:lstStyle/>
          <a:p>
            <a:fld id="{6120A06D-A765-4670-9655-18CADA5C4C28}"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Connecting Factors</a:t>
            </a:r>
            <a:endParaRPr lang="en-US" dirty="0"/>
          </a:p>
        </p:txBody>
      </p:sp>
      <p:sp>
        <p:nvSpPr>
          <p:cNvPr id="3" name="Content Placeholder 2"/>
          <p:cNvSpPr>
            <a:spLocks noGrp="1"/>
          </p:cNvSpPr>
          <p:nvPr>
            <p:ph idx="1"/>
          </p:nvPr>
        </p:nvSpPr>
        <p:spPr>
          <a:solidFill>
            <a:srgbClr val="00B050"/>
          </a:solidFill>
        </p:spPr>
        <p:txBody>
          <a:bodyPr>
            <a:normAutofit fontScale="77500" lnSpcReduction="20000"/>
          </a:bodyPr>
          <a:lstStyle/>
          <a:p>
            <a:r>
              <a:rPr lang="en-US" dirty="0" smtClean="0"/>
              <a:t>Connecting factors are terms embodied in every states’ conflict rule in order to indicate the place whose law may be applied.</a:t>
            </a:r>
          </a:p>
          <a:p>
            <a:r>
              <a:rPr lang="en-US" dirty="0" smtClean="0"/>
              <a:t>E.g.  “Capacity to marry shall be governed by the law of the parties domicile.”</a:t>
            </a:r>
          </a:p>
          <a:p>
            <a:pPr lvl="1"/>
            <a:r>
              <a:rPr lang="en-US" dirty="0" smtClean="0"/>
              <a:t>“Formal validity of marriage is governed by the law of place of celebration.”</a:t>
            </a:r>
          </a:p>
          <a:p>
            <a:pPr lvl="1"/>
            <a:r>
              <a:rPr lang="en-US" dirty="0" smtClean="0"/>
              <a:t>“Succession to immovable governed by the law of the </a:t>
            </a:r>
            <a:r>
              <a:rPr lang="en-US" dirty="0" err="1" smtClean="0"/>
              <a:t>situs</a:t>
            </a:r>
            <a:r>
              <a:rPr lang="en-US" dirty="0" smtClean="0"/>
              <a:t>.”</a:t>
            </a:r>
          </a:p>
          <a:p>
            <a:r>
              <a:rPr lang="en-US" dirty="0" smtClean="0"/>
              <a:t>Here terms ‘domicile’, ‘place of celebration’ and ‘</a:t>
            </a:r>
            <a:r>
              <a:rPr lang="en-US" dirty="0" err="1" smtClean="0"/>
              <a:t>situs</a:t>
            </a:r>
            <a:r>
              <a:rPr lang="en-US" dirty="0" smtClean="0"/>
              <a:t>’ are connecting factors.</a:t>
            </a:r>
          </a:p>
          <a:p>
            <a:r>
              <a:rPr lang="en-US" dirty="0" smtClean="0"/>
              <a:t>Problem of interpretation of connecting factors.</a:t>
            </a:r>
          </a:p>
          <a:p>
            <a:pPr lvl="1"/>
            <a:r>
              <a:rPr lang="en-US" dirty="0" smtClean="0"/>
              <a:t> E.g.. Domicile in accordance to Ethiopian law may be different to domicile in Kenyan law so which should be accepted?</a:t>
            </a:r>
          </a:p>
          <a:p>
            <a:pPr>
              <a:buNone/>
            </a:pPr>
            <a:endParaRPr lang="en-US" dirty="0"/>
          </a:p>
        </p:txBody>
      </p:sp>
      <p:sp>
        <p:nvSpPr>
          <p:cNvPr id="4" name="Date Placeholder 3"/>
          <p:cNvSpPr>
            <a:spLocks noGrp="1"/>
          </p:cNvSpPr>
          <p:nvPr>
            <p:ph type="dt" sz="half" idx="10"/>
          </p:nvPr>
        </p:nvSpPr>
        <p:spPr/>
        <p:txBody>
          <a:bodyPr/>
          <a:lstStyle/>
          <a:p>
            <a:fld id="{12C71B0E-C668-4022-92B2-995EF48935FF}"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16</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Connecting factors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pPr>
              <a:buNone/>
            </a:pPr>
            <a:r>
              <a:rPr lang="en-US" sz="4000" b="1" dirty="0" smtClean="0"/>
              <a:t>Categories of Connecting Factors</a:t>
            </a:r>
            <a:r>
              <a:rPr lang="en-US" dirty="0" smtClean="0"/>
              <a:t>:</a:t>
            </a:r>
          </a:p>
          <a:p>
            <a:r>
              <a:rPr lang="en-US" b="1" dirty="0" smtClean="0"/>
              <a:t>Connecting factors based on factual allocation</a:t>
            </a:r>
          </a:p>
          <a:p>
            <a:r>
              <a:rPr lang="en-US" dirty="0" smtClean="0"/>
              <a:t> To establish a link with the jurisdiction with which the legal question is factually most closely connected.</a:t>
            </a:r>
          </a:p>
          <a:p>
            <a:pPr lvl="1"/>
            <a:r>
              <a:rPr lang="en-US" dirty="0" smtClean="0"/>
              <a:t>E.g. Place of injury, place of </a:t>
            </a:r>
            <a:r>
              <a:rPr lang="en-US" dirty="0" err="1" smtClean="0"/>
              <a:t>situs</a:t>
            </a:r>
            <a:r>
              <a:rPr lang="en-US" dirty="0" smtClean="0"/>
              <a:t> of property, place of celebration etc.</a:t>
            </a:r>
          </a:p>
          <a:p>
            <a:r>
              <a:rPr lang="en-US" b="1" dirty="0" smtClean="0"/>
              <a:t>Connecting factors based on functional allocation </a:t>
            </a:r>
          </a:p>
          <a:p>
            <a:r>
              <a:rPr lang="en-US" dirty="0" smtClean="0"/>
              <a:t>To promote certain social values and protect weaker party</a:t>
            </a:r>
          </a:p>
          <a:p>
            <a:r>
              <a:rPr lang="en-US" dirty="0" smtClean="0"/>
              <a:t>Refer to the jurisdiction that may be considered to have the strongest interest in the application of its law on the dispute.</a:t>
            </a:r>
          </a:p>
          <a:p>
            <a:pPr lvl="1"/>
            <a:r>
              <a:rPr lang="en-US" dirty="0" smtClean="0"/>
              <a:t>E.g.  Habitual residence of maintenance creditor, Consumer’s habitual residence,</a:t>
            </a:r>
          </a:p>
          <a:p>
            <a:r>
              <a:rPr lang="en-US" b="1" dirty="0" smtClean="0"/>
              <a:t>Connecting factors based on Party autonomy.</a:t>
            </a:r>
          </a:p>
          <a:p>
            <a:pPr lvl="1"/>
            <a:r>
              <a:rPr lang="en-US" dirty="0" err="1" smtClean="0"/>
              <a:t>Eg</a:t>
            </a:r>
            <a:r>
              <a:rPr lang="en-US" dirty="0" smtClean="0"/>
              <a:t>. Contacting parties chose the applicable law in their </a:t>
            </a:r>
            <a:r>
              <a:rPr lang="en-US" dirty="0" err="1" smtClean="0"/>
              <a:t>agraament</a:t>
            </a:r>
            <a:r>
              <a:rPr lang="en-US" dirty="0" smtClean="0"/>
              <a:t>.</a:t>
            </a:r>
          </a:p>
          <a:p>
            <a:endParaRPr lang="en-US" dirty="0" smtClean="0"/>
          </a:p>
          <a:p>
            <a:endParaRPr lang="en-US" dirty="0"/>
          </a:p>
        </p:txBody>
      </p:sp>
      <p:sp>
        <p:nvSpPr>
          <p:cNvPr id="4" name="Date Placeholder 3"/>
          <p:cNvSpPr>
            <a:spLocks noGrp="1"/>
          </p:cNvSpPr>
          <p:nvPr>
            <p:ph type="dt" sz="half" idx="10"/>
          </p:nvPr>
        </p:nvSpPr>
        <p:spPr/>
        <p:txBody>
          <a:bodyPr/>
          <a:lstStyle/>
          <a:p>
            <a:fld id="{BDA846CB-2147-4C97-855E-A1C1CC54B729}"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3. Substance - Procedure Characterization</a:t>
            </a:r>
            <a:endParaRPr lang="en-US" dirty="0"/>
          </a:p>
        </p:txBody>
      </p:sp>
      <p:sp>
        <p:nvSpPr>
          <p:cNvPr id="3" name="Content Placeholder 2"/>
          <p:cNvSpPr>
            <a:spLocks noGrp="1"/>
          </p:cNvSpPr>
          <p:nvPr>
            <p:ph idx="1"/>
          </p:nvPr>
        </p:nvSpPr>
        <p:spPr>
          <a:solidFill>
            <a:srgbClr val="00B050"/>
          </a:solidFill>
        </p:spPr>
        <p:txBody>
          <a:bodyPr>
            <a:normAutofit fontScale="77500" lnSpcReduction="20000"/>
          </a:bodyPr>
          <a:lstStyle/>
          <a:p>
            <a:r>
              <a:rPr lang="en-US" dirty="0" smtClean="0"/>
              <a:t>Relates </a:t>
            </a:r>
            <a:r>
              <a:rPr lang="en-US" dirty="0"/>
              <a:t>to the extent of application of a law when the forum's choice of law rule refers to the law of another jurisdiction: delimitation of the proper law</a:t>
            </a:r>
            <a:r>
              <a:rPr lang="en-US" dirty="0" smtClean="0"/>
              <a:t>.</a:t>
            </a:r>
          </a:p>
          <a:p>
            <a:r>
              <a:rPr lang="en-US" b="1" dirty="0" smtClean="0"/>
              <a:t>Principle</a:t>
            </a:r>
            <a:r>
              <a:rPr lang="en-US" dirty="0" smtClean="0"/>
              <a:t>: Even if foreign law is chosen as applicable law the forum applies only the foreign substantive laws but uses its own procedural law.</a:t>
            </a:r>
          </a:p>
          <a:p>
            <a:r>
              <a:rPr lang="en-US" dirty="0" smtClean="0"/>
              <a:t>If issue </a:t>
            </a:r>
            <a:r>
              <a:rPr lang="en-US" dirty="0"/>
              <a:t> </a:t>
            </a:r>
            <a:r>
              <a:rPr lang="en-US" dirty="0" smtClean="0"/>
              <a:t>is procedural then forum law applies if it is substantive then foreign law applies.</a:t>
            </a:r>
          </a:p>
          <a:p>
            <a:r>
              <a:rPr lang="en-US" b="1" dirty="0" smtClean="0"/>
              <a:t>Justification</a:t>
            </a:r>
            <a:r>
              <a:rPr lang="en-US" dirty="0" smtClean="0"/>
              <a:t>: We should not suspend our normal court operation by applying foreign procedural law in our court.</a:t>
            </a:r>
          </a:p>
          <a:p>
            <a:r>
              <a:rPr lang="en-US" dirty="0" smtClean="0"/>
              <a:t>Traditional test </a:t>
            </a:r>
            <a:r>
              <a:rPr lang="en-US" dirty="0"/>
              <a:t> </a:t>
            </a:r>
            <a:r>
              <a:rPr lang="en-US" dirty="0" smtClean="0"/>
              <a:t>(Outcome determinative test)</a:t>
            </a:r>
          </a:p>
          <a:p>
            <a:pPr lvl="1"/>
            <a:r>
              <a:rPr lang="en-US" dirty="0" smtClean="0"/>
              <a:t> those rules that don’t affect out come are procedural</a:t>
            </a:r>
          </a:p>
          <a:p>
            <a:endParaRPr lang="en-US" dirty="0"/>
          </a:p>
        </p:txBody>
      </p:sp>
      <p:sp>
        <p:nvSpPr>
          <p:cNvPr id="4" name="Date Placeholder 3"/>
          <p:cNvSpPr>
            <a:spLocks noGrp="1"/>
          </p:cNvSpPr>
          <p:nvPr>
            <p:ph type="dt" sz="half" idx="10"/>
          </p:nvPr>
        </p:nvSpPr>
        <p:spPr/>
        <p:txBody>
          <a:bodyPr/>
          <a:lstStyle/>
          <a:p>
            <a:fld id="{BB41F03C-0BA7-4C63-B365-602222494DCE}"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3.2.2. </a:t>
            </a:r>
            <a:r>
              <a:rPr lang="en-US" dirty="0" err="1" smtClean="0"/>
              <a:t>Renvoi</a:t>
            </a:r>
            <a:r>
              <a:rPr lang="en-US" dirty="0" smtClean="0"/>
              <a:t> (refer back)</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r>
              <a:rPr lang="en-US" dirty="0" smtClean="0"/>
              <a:t>French term to mean ‘refer back’ or ‘sending before the court’, or ‘send back’</a:t>
            </a:r>
          </a:p>
          <a:p>
            <a:r>
              <a:rPr lang="en-US" dirty="0" smtClean="0"/>
              <a:t>A problem of </a:t>
            </a:r>
            <a:r>
              <a:rPr lang="en-US" dirty="0" err="1" smtClean="0"/>
              <a:t>renvoi</a:t>
            </a:r>
            <a:r>
              <a:rPr lang="en-US" dirty="0" smtClean="0"/>
              <a:t> arises whenever a case containing a foreign element is referred by the conflict of law rules of the forum to the “law” of a foreign country and  when ever this reference is </a:t>
            </a:r>
            <a:r>
              <a:rPr lang="en-US" b="1" dirty="0" smtClean="0"/>
              <a:t>to entire law of the foreign state </a:t>
            </a:r>
            <a:r>
              <a:rPr lang="en-US" dirty="0" smtClean="0"/>
              <a:t>including its conflict of law rules involving the possibility that the conflict rules of this foreign state refers the question back to the law of the forum or forward to the law of a third country.</a:t>
            </a:r>
            <a:endParaRPr lang="en-US" dirty="0"/>
          </a:p>
        </p:txBody>
      </p:sp>
      <p:sp>
        <p:nvSpPr>
          <p:cNvPr id="4" name="Date Placeholder 3"/>
          <p:cNvSpPr>
            <a:spLocks noGrp="1"/>
          </p:cNvSpPr>
          <p:nvPr>
            <p:ph type="dt" sz="half" idx="10"/>
          </p:nvPr>
        </p:nvSpPr>
        <p:spPr/>
        <p:txBody>
          <a:bodyPr/>
          <a:lstStyle/>
          <a:p>
            <a:fld id="{6E80DCEF-4EDF-4E1B-AB2C-F52AB5B6EB24}"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19</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solidFill>
            <a:srgbClr val="00B050"/>
          </a:solidFill>
        </p:spPr>
        <p:txBody>
          <a:bodyPr>
            <a:normAutofit/>
          </a:bodyPr>
          <a:lstStyle/>
          <a:p>
            <a:r>
              <a:rPr lang="en-US" dirty="0" smtClean="0"/>
              <a:t>The reference back to the law of the forum called </a:t>
            </a:r>
            <a:r>
              <a:rPr lang="en-US" b="1" dirty="0" smtClean="0"/>
              <a:t>remission</a:t>
            </a:r>
          </a:p>
          <a:p>
            <a:pPr>
              <a:buNone/>
            </a:pPr>
            <a:r>
              <a:rPr lang="en-US" sz="2400" dirty="0" smtClean="0"/>
              <a:t> </a:t>
            </a:r>
          </a:p>
          <a:p>
            <a:pPr>
              <a:buNone/>
            </a:pPr>
            <a:endParaRPr lang="en-US" sz="2400" dirty="0" smtClean="0"/>
          </a:p>
          <a:p>
            <a:pPr>
              <a:buNone/>
            </a:pPr>
            <a:endParaRPr lang="en-US" sz="2400" dirty="0" smtClean="0"/>
          </a:p>
          <a:p>
            <a:r>
              <a:rPr lang="en-US" dirty="0" smtClean="0"/>
              <a:t>Reference to the law of a third state called </a:t>
            </a:r>
            <a:r>
              <a:rPr lang="en-US" b="1" dirty="0" smtClean="0"/>
              <a:t>transmission</a:t>
            </a:r>
          </a:p>
          <a:p>
            <a:endParaRPr lang="en-US" b="1" dirty="0" smtClean="0"/>
          </a:p>
          <a:p>
            <a:endParaRPr lang="en-US" b="1" dirty="0"/>
          </a:p>
        </p:txBody>
      </p:sp>
      <p:sp>
        <p:nvSpPr>
          <p:cNvPr id="5" name="AutoShape 4"/>
          <p:cNvSpPr>
            <a:spLocks noChangeArrowheads="1"/>
          </p:cNvSpPr>
          <p:nvPr/>
        </p:nvSpPr>
        <p:spPr bwMode="auto">
          <a:xfrm>
            <a:off x="912813" y="2741613"/>
            <a:ext cx="2209800" cy="763587"/>
          </a:xfrm>
          <a:prstGeom prst="roundRect">
            <a:avLst>
              <a:gd name="adj" fmla="val 16667"/>
            </a:avLst>
          </a:prstGeom>
          <a:solidFill>
            <a:srgbClr val="FFFFFF"/>
          </a:solidFill>
          <a:ln w="9525">
            <a:solidFill>
              <a:schemeClr val="tx1"/>
            </a:solidFill>
            <a:round/>
            <a:headEnd/>
            <a:tailEnd/>
          </a:ln>
        </p:spPr>
        <p:txBody>
          <a:bodyPr wrap="none" anchor="ctr"/>
          <a:lstStyle/>
          <a:p>
            <a:pPr algn="ctr"/>
            <a:r>
              <a:rPr kumimoji="1" lang="en-US" altLang="zh-CN" sz="2400" dirty="0">
                <a:latin typeface="Times New Roman" charset="0"/>
              </a:rPr>
              <a:t>The law of </a:t>
            </a:r>
            <a:r>
              <a:rPr kumimoji="1" lang="en-US" altLang="zh-CN" sz="2400" dirty="0" smtClean="0">
                <a:latin typeface="Times New Roman" charset="0"/>
              </a:rPr>
              <a:t>A</a:t>
            </a:r>
          </a:p>
          <a:p>
            <a:pPr algn="ctr"/>
            <a:endParaRPr kumimoji="1" lang="en-US" altLang="zh-CN" sz="2400" dirty="0">
              <a:latin typeface="Times New Roman" charset="0"/>
            </a:endParaRPr>
          </a:p>
        </p:txBody>
      </p:sp>
      <p:sp>
        <p:nvSpPr>
          <p:cNvPr id="6" name="AutoShape 5"/>
          <p:cNvSpPr>
            <a:spLocks noChangeArrowheads="1"/>
          </p:cNvSpPr>
          <p:nvPr/>
        </p:nvSpPr>
        <p:spPr bwMode="auto">
          <a:xfrm>
            <a:off x="4800600" y="2817813"/>
            <a:ext cx="2590800" cy="763587"/>
          </a:xfrm>
          <a:prstGeom prst="roundRect">
            <a:avLst>
              <a:gd name="adj" fmla="val 16667"/>
            </a:avLst>
          </a:prstGeom>
          <a:solidFill>
            <a:srgbClr val="FFFFFF"/>
          </a:solidFill>
          <a:ln w="9525">
            <a:solidFill>
              <a:schemeClr val="tx1"/>
            </a:solidFill>
            <a:round/>
            <a:headEnd/>
            <a:tailEnd/>
          </a:ln>
        </p:spPr>
        <p:txBody>
          <a:bodyPr wrap="none" anchor="ctr"/>
          <a:lstStyle/>
          <a:p>
            <a:pPr algn="ctr"/>
            <a:r>
              <a:rPr kumimoji="1" lang="en-US" altLang="zh-CN" sz="2400" dirty="0">
                <a:latin typeface="Times New Roman" charset="0"/>
              </a:rPr>
              <a:t>The law of B</a:t>
            </a:r>
          </a:p>
        </p:txBody>
      </p:sp>
      <p:sp>
        <p:nvSpPr>
          <p:cNvPr id="7" name="AutoShape 6"/>
          <p:cNvSpPr>
            <a:spLocks noChangeArrowheads="1"/>
          </p:cNvSpPr>
          <p:nvPr/>
        </p:nvSpPr>
        <p:spPr bwMode="auto">
          <a:xfrm>
            <a:off x="3124200" y="2590800"/>
            <a:ext cx="1676400" cy="381000"/>
          </a:xfrm>
          <a:prstGeom prst="rightArrow">
            <a:avLst>
              <a:gd name="adj1" fmla="val 50000"/>
              <a:gd name="adj2" fmla="val 182069"/>
            </a:avLst>
          </a:prstGeom>
          <a:solidFill>
            <a:srgbClr val="FFFFFF"/>
          </a:solidFill>
          <a:ln w="9525">
            <a:solidFill>
              <a:schemeClr val="tx1"/>
            </a:solidFill>
            <a:miter lim="800000"/>
            <a:headEnd/>
            <a:tailEnd/>
          </a:ln>
        </p:spPr>
        <p:txBody>
          <a:bodyPr wrap="none" anchor="ctr"/>
          <a:lstStyle/>
          <a:p>
            <a:r>
              <a:rPr lang="en-US" dirty="0" smtClean="0"/>
              <a:t>Domicile </a:t>
            </a:r>
            <a:endParaRPr lang="en-US" dirty="0"/>
          </a:p>
        </p:txBody>
      </p:sp>
      <p:sp>
        <p:nvSpPr>
          <p:cNvPr id="9" name="AutoShape 7"/>
          <p:cNvSpPr>
            <a:spLocks noChangeArrowheads="1"/>
          </p:cNvSpPr>
          <p:nvPr/>
        </p:nvSpPr>
        <p:spPr bwMode="auto">
          <a:xfrm>
            <a:off x="3124200" y="3200400"/>
            <a:ext cx="1676400" cy="381000"/>
          </a:xfrm>
          <a:prstGeom prst="leftArrow">
            <a:avLst>
              <a:gd name="adj1" fmla="val 50000"/>
              <a:gd name="adj2" fmla="val 183333"/>
            </a:avLst>
          </a:prstGeom>
          <a:solidFill>
            <a:srgbClr val="FFFFFF"/>
          </a:solidFill>
          <a:ln w="9525">
            <a:solidFill>
              <a:schemeClr val="tx1"/>
            </a:solidFill>
            <a:miter lim="800000"/>
            <a:headEnd/>
            <a:tailEnd/>
          </a:ln>
        </p:spPr>
        <p:txBody>
          <a:bodyPr wrap="none" anchor="ctr"/>
          <a:lstStyle/>
          <a:p>
            <a:r>
              <a:rPr lang="en-US" dirty="0" smtClean="0"/>
              <a:t>Nationality</a:t>
            </a:r>
            <a:endParaRPr lang="en-US" dirty="0"/>
          </a:p>
        </p:txBody>
      </p:sp>
      <p:sp>
        <p:nvSpPr>
          <p:cNvPr id="11" name="Oval 4"/>
          <p:cNvSpPr>
            <a:spLocks noChangeArrowheads="1"/>
          </p:cNvSpPr>
          <p:nvPr/>
        </p:nvSpPr>
        <p:spPr bwMode="auto">
          <a:xfrm>
            <a:off x="381000" y="5105400"/>
            <a:ext cx="1600200" cy="8382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dirty="0">
                <a:latin typeface="Times New Roman" charset="0"/>
              </a:rPr>
              <a:t>The law of A</a:t>
            </a:r>
          </a:p>
        </p:txBody>
      </p:sp>
      <p:sp>
        <p:nvSpPr>
          <p:cNvPr id="12" name="AutoShape 7"/>
          <p:cNvSpPr>
            <a:spLocks noChangeArrowheads="1"/>
          </p:cNvSpPr>
          <p:nvPr/>
        </p:nvSpPr>
        <p:spPr bwMode="auto">
          <a:xfrm>
            <a:off x="2057400" y="5257800"/>
            <a:ext cx="1143000" cy="381000"/>
          </a:xfrm>
          <a:prstGeom prst="rightArrow">
            <a:avLst>
              <a:gd name="adj1" fmla="val 50000"/>
              <a:gd name="adj2" fmla="val 43750"/>
            </a:avLst>
          </a:prstGeom>
          <a:solidFill>
            <a:srgbClr val="FFFFFF"/>
          </a:solidFill>
          <a:ln w="9525">
            <a:solidFill>
              <a:schemeClr val="tx1"/>
            </a:solidFill>
            <a:miter lim="800000"/>
            <a:headEnd/>
            <a:tailEnd/>
          </a:ln>
        </p:spPr>
        <p:txBody>
          <a:bodyPr wrap="none" anchor="ctr"/>
          <a:lstStyle/>
          <a:p>
            <a:r>
              <a:rPr lang="en-US" dirty="0" smtClean="0"/>
              <a:t>Domicile</a:t>
            </a:r>
            <a:endParaRPr lang="en-US" dirty="0"/>
          </a:p>
        </p:txBody>
      </p:sp>
      <p:sp>
        <p:nvSpPr>
          <p:cNvPr id="13" name="Oval 5"/>
          <p:cNvSpPr>
            <a:spLocks noChangeArrowheads="1"/>
          </p:cNvSpPr>
          <p:nvPr/>
        </p:nvSpPr>
        <p:spPr bwMode="auto">
          <a:xfrm>
            <a:off x="3200400" y="5029200"/>
            <a:ext cx="1600200" cy="8382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dirty="0">
                <a:latin typeface="Times New Roman" charset="0"/>
              </a:rPr>
              <a:t>The law of B</a:t>
            </a:r>
          </a:p>
        </p:txBody>
      </p:sp>
      <p:sp>
        <p:nvSpPr>
          <p:cNvPr id="14" name="AutoShape 8"/>
          <p:cNvSpPr>
            <a:spLocks noChangeArrowheads="1"/>
          </p:cNvSpPr>
          <p:nvPr/>
        </p:nvSpPr>
        <p:spPr bwMode="auto">
          <a:xfrm>
            <a:off x="5029200" y="5257800"/>
            <a:ext cx="1371600" cy="381000"/>
          </a:xfrm>
          <a:prstGeom prst="rightArrow">
            <a:avLst>
              <a:gd name="adj1" fmla="val 50000"/>
              <a:gd name="adj2" fmla="val 40000"/>
            </a:avLst>
          </a:prstGeom>
          <a:solidFill>
            <a:srgbClr val="FFFFFF"/>
          </a:solidFill>
          <a:ln w="9525">
            <a:solidFill>
              <a:schemeClr val="tx1"/>
            </a:solidFill>
            <a:miter lim="800000"/>
            <a:headEnd/>
            <a:tailEnd/>
          </a:ln>
        </p:spPr>
        <p:txBody>
          <a:bodyPr wrap="none" anchor="ctr"/>
          <a:lstStyle/>
          <a:p>
            <a:r>
              <a:rPr lang="en-US" dirty="0" smtClean="0"/>
              <a:t>Nationality</a:t>
            </a:r>
            <a:endParaRPr lang="en-US" dirty="0"/>
          </a:p>
        </p:txBody>
      </p:sp>
      <p:sp>
        <p:nvSpPr>
          <p:cNvPr id="15" name="Oval 6"/>
          <p:cNvSpPr>
            <a:spLocks noChangeArrowheads="1"/>
          </p:cNvSpPr>
          <p:nvPr/>
        </p:nvSpPr>
        <p:spPr bwMode="auto">
          <a:xfrm>
            <a:off x="6553200" y="4953000"/>
            <a:ext cx="1828800" cy="8382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dirty="0">
                <a:latin typeface="Times New Roman" charset="0"/>
              </a:rPr>
              <a:t>The law of C</a:t>
            </a:r>
          </a:p>
        </p:txBody>
      </p:sp>
      <p:sp>
        <p:nvSpPr>
          <p:cNvPr id="16" name="Date Placeholder 15"/>
          <p:cNvSpPr>
            <a:spLocks noGrp="1"/>
          </p:cNvSpPr>
          <p:nvPr>
            <p:ph type="dt" sz="half" idx="10"/>
          </p:nvPr>
        </p:nvSpPr>
        <p:spPr/>
        <p:txBody>
          <a:bodyPr/>
          <a:lstStyle/>
          <a:p>
            <a:fld id="{F57D4AEE-CC97-4A60-9AFF-5B5749A61E63}" type="datetime1">
              <a:rPr lang="en-US" smtClean="0"/>
              <a:pPr/>
              <a:t>12/7/2017</a:t>
            </a:fld>
            <a:endParaRPr lang="en-US"/>
          </a:p>
        </p:txBody>
      </p:sp>
      <p:sp>
        <p:nvSpPr>
          <p:cNvPr id="17" name="Slide Number Placeholder 16"/>
          <p:cNvSpPr>
            <a:spLocks noGrp="1"/>
          </p:cNvSpPr>
          <p:nvPr>
            <p:ph type="sldNum" sz="quarter" idx="12"/>
          </p:nvPr>
        </p:nvSpPr>
        <p:spPr/>
        <p:txBody>
          <a:bodyPr/>
          <a:lstStyle/>
          <a:p>
            <a:fld id="{834BFF34-3419-4CE5-8DD6-F563781C8875}" type="slidenum">
              <a:rPr lang="en-US" smtClean="0"/>
              <a:pPr/>
              <a:t>20</a:t>
            </a:fld>
            <a:endParaRPr lang="en-US"/>
          </a:p>
        </p:txBody>
      </p:sp>
      <p:sp>
        <p:nvSpPr>
          <p:cNvPr id="18" name="Footer Placeholder 17"/>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Hypothetical Example</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dirty="0" smtClean="0"/>
              <a:t>An Englishman dies domiciled in France and a question arises in an English court as to the distribution of tangible movable property which he leaves in England. It is a well established English law that a decedent’s property is distributed on death according to “the law of the country of his </a:t>
            </a:r>
            <a:r>
              <a:rPr lang="en-US" b="1" dirty="0" smtClean="0"/>
              <a:t>domicile</a:t>
            </a:r>
            <a:r>
              <a:rPr lang="en-US" dirty="0" smtClean="0"/>
              <a:t>”. Let us say, however, that the conflict of laws rule applicable in France is that an alien decedent’s property is to be distributed according to “the law of the county of his </a:t>
            </a:r>
            <a:r>
              <a:rPr lang="en-US" b="1" dirty="0" smtClean="0"/>
              <a:t>nationality</a:t>
            </a:r>
            <a:r>
              <a:rPr lang="en-US" dirty="0" smtClean="0"/>
              <a:t>”, which in our case is English. </a:t>
            </a:r>
          </a:p>
          <a:p>
            <a:endParaRPr lang="en-US" dirty="0" smtClean="0"/>
          </a:p>
          <a:p>
            <a:r>
              <a:rPr lang="en-US" dirty="0" smtClean="0"/>
              <a:t>This is to mean that when the rule of conflict of law of England  directs the matter to the law of France ,including the latter's rule of conflict of laws , the French conflict rule refers the case back to the law of England.</a:t>
            </a:r>
          </a:p>
          <a:p>
            <a:r>
              <a:rPr lang="en-US" dirty="0" smtClean="0"/>
              <a:t>In this case a problem of </a:t>
            </a:r>
            <a:r>
              <a:rPr lang="en-US" dirty="0" err="1" smtClean="0"/>
              <a:t>renvoi</a:t>
            </a:r>
            <a:r>
              <a:rPr lang="en-US" dirty="0" smtClean="0"/>
              <a:t> arises and court would face a question as to which law , English or French apply?</a:t>
            </a:r>
          </a:p>
          <a:p>
            <a:pPr>
              <a:buNone/>
            </a:pPr>
            <a:endParaRPr lang="en-US" dirty="0"/>
          </a:p>
        </p:txBody>
      </p:sp>
      <p:sp>
        <p:nvSpPr>
          <p:cNvPr id="4" name="Date Placeholder 3"/>
          <p:cNvSpPr>
            <a:spLocks noGrp="1"/>
          </p:cNvSpPr>
          <p:nvPr>
            <p:ph type="dt" sz="half" idx="10"/>
          </p:nvPr>
        </p:nvSpPr>
        <p:spPr/>
        <p:txBody>
          <a:bodyPr/>
          <a:lstStyle/>
          <a:p>
            <a:fld id="{76BF533D-AAE2-4B86-96AA-4D930384F670}"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21</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Approaches to resolve </a:t>
            </a:r>
            <a:r>
              <a:rPr lang="en-US" dirty="0" err="1" smtClean="0"/>
              <a:t>renvoi</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b="1" dirty="0" smtClean="0"/>
              <a:t>Three approaches to solve </a:t>
            </a:r>
            <a:r>
              <a:rPr lang="en-US" b="1" dirty="0" err="1" smtClean="0"/>
              <a:t>Renvoi</a:t>
            </a:r>
            <a:r>
              <a:rPr lang="en-US" b="1" dirty="0" smtClean="0"/>
              <a:t> </a:t>
            </a:r>
            <a:r>
              <a:rPr lang="en-US" dirty="0" smtClean="0"/>
              <a:t>:</a:t>
            </a:r>
          </a:p>
          <a:p>
            <a:r>
              <a:rPr lang="en-US" dirty="0" smtClean="0"/>
              <a:t>Rejecting </a:t>
            </a:r>
            <a:r>
              <a:rPr lang="en-US" dirty="0" err="1" smtClean="0"/>
              <a:t>Renvoi</a:t>
            </a:r>
            <a:r>
              <a:rPr lang="en-US" dirty="0" smtClean="0"/>
              <a:t>, Accepting </a:t>
            </a:r>
            <a:r>
              <a:rPr lang="en-US" dirty="0" err="1" smtClean="0"/>
              <a:t>Renvoi</a:t>
            </a:r>
            <a:r>
              <a:rPr lang="en-US" dirty="0" smtClean="0"/>
              <a:t> and the Foreign court theory</a:t>
            </a:r>
          </a:p>
          <a:p>
            <a:pPr>
              <a:buNone/>
            </a:pPr>
            <a:r>
              <a:rPr lang="en-US" b="1" dirty="0" smtClean="0"/>
              <a:t> I. Rejecting </a:t>
            </a:r>
            <a:r>
              <a:rPr lang="en-US" b="1" dirty="0" err="1" smtClean="0"/>
              <a:t>Renvoi</a:t>
            </a:r>
            <a:r>
              <a:rPr lang="en-US" b="1" dirty="0" smtClean="0"/>
              <a:t> </a:t>
            </a:r>
          </a:p>
          <a:p>
            <a:r>
              <a:rPr lang="en-US" dirty="0" smtClean="0"/>
              <a:t> Reference to foreign law means </a:t>
            </a:r>
            <a:r>
              <a:rPr lang="en-US" b="1" dirty="0" smtClean="0"/>
              <a:t>only to substantive foreign law </a:t>
            </a:r>
            <a:r>
              <a:rPr lang="en-US" dirty="0" smtClean="0"/>
              <a:t>not foreign conflict rules</a:t>
            </a:r>
          </a:p>
          <a:p>
            <a:r>
              <a:rPr lang="en-US" dirty="0" smtClean="0"/>
              <a:t>Accepted in Common law countries, US and English</a:t>
            </a:r>
          </a:p>
          <a:p>
            <a:r>
              <a:rPr lang="en-US" dirty="0" smtClean="0"/>
              <a:t>In our case if English court rejects </a:t>
            </a:r>
            <a:r>
              <a:rPr lang="en-US" dirty="0" err="1" smtClean="0"/>
              <a:t>renvoi</a:t>
            </a:r>
            <a:r>
              <a:rPr lang="en-US" dirty="0" smtClean="0"/>
              <a:t> it means reference is only to substantive laws of France and the applicable law is French law.</a:t>
            </a:r>
          </a:p>
          <a:p>
            <a:endParaRPr lang="en-US" dirty="0" smtClean="0"/>
          </a:p>
          <a:p>
            <a:endParaRPr lang="en-US" dirty="0"/>
          </a:p>
        </p:txBody>
      </p:sp>
      <p:sp>
        <p:nvSpPr>
          <p:cNvPr id="4" name="Date Placeholder 3"/>
          <p:cNvSpPr>
            <a:spLocks noGrp="1"/>
          </p:cNvSpPr>
          <p:nvPr>
            <p:ph type="dt" sz="half" idx="10"/>
          </p:nvPr>
        </p:nvSpPr>
        <p:spPr/>
        <p:txBody>
          <a:bodyPr/>
          <a:lstStyle/>
          <a:p>
            <a:fld id="{557CF5FF-CF14-490E-BE89-635AB7BD78A4}"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22</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Approaches to resolve </a:t>
            </a:r>
            <a:r>
              <a:rPr lang="en-US" dirty="0" err="1" smtClean="0"/>
              <a:t>renvoi</a:t>
            </a:r>
            <a:r>
              <a:rPr lang="en-US" dirty="0" smtClean="0"/>
              <a:t>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a:bodyPr>
          <a:lstStyle/>
          <a:p>
            <a:pPr>
              <a:buNone/>
            </a:pPr>
            <a:r>
              <a:rPr lang="en-US" b="1" dirty="0" smtClean="0"/>
              <a:t> II. Accepting </a:t>
            </a:r>
            <a:r>
              <a:rPr lang="en-US" b="1" dirty="0" err="1" smtClean="0"/>
              <a:t>Renvoi</a:t>
            </a:r>
            <a:endParaRPr lang="en-US" b="1" dirty="0" smtClean="0"/>
          </a:p>
          <a:p>
            <a:r>
              <a:rPr lang="en-US" dirty="0" smtClean="0"/>
              <a:t>Reference to foreign law means to </a:t>
            </a:r>
            <a:r>
              <a:rPr lang="en-US" b="1" dirty="0" smtClean="0"/>
              <a:t>the whole law including conflict rules of the foreign</a:t>
            </a:r>
            <a:r>
              <a:rPr lang="en-US" dirty="0" smtClean="0"/>
              <a:t>.</a:t>
            </a:r>
          </a:p>
          <a:p>
            <a:r>
              <a:rPr lang="en-US" dirty="0" smtClean="0"/>
              <a:t>Accepted in some Continental countries</a:t>
            </a:r>
          </a:p>
          <a:p>
            <a:r>
              <a:rPr lang="en-US" dirty="0" smtClean="0"/>
              <a:t>In our case the English court accepts the reference made by French conflict rules to the law of Nationality and apply its own English law.</a:t>
            </a:r>
          </a:p>
          <a:p>
            <a:endParaRPr lang="en-US" dirty="0"/>
          </a:p>
        </p:txBody>
      </p:sp>
      <p:sp>
        <p:nvSpPr>
          <p:cNvPr id="4" name="Date Placeholder 3"/>
          <p:cNvSpPr>
            <a:spLocks noGrp="1"/>
          </p:cNvSpPr>
          <p:nvPr>
            <p:ph type="dt" sz="half" idx="10"/>
          </p:nvPr>
        </p:nvSpPr>
        <p:spPr/>
        <p:txBody>
          <a:bodyPr/>
          <a:lstStyle/>
          <a:p>
            <a:fld id="{E9710F46-6A30-4EEB-AC61-6F51B9C62EF3}"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23</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b="1" dirty="0" smtClean="0"/>
              <a:t>III. Foreign Court theory</a:t>
            </a:r>
          </a:p>
          <a:p>
            <a:r>
              <a:rPr lang="en-US" b="1" dirty="0" smtClean="0"/>
              <a:t>Being in the shoe of the foreign judge and apply the law that would have been applied by the foreign court in same cases.</a:t>
            </a:r>
          </a:p>
          <a:p>
            <a:endParaRPr lang="en-US" dirty="0" smtClean="0"/>
          </a:p>
          <a:p>
            <a:r>
              <a:rPr lang="en-US" dirty="0" smtClean="0"/>
              <a:t>Here, state X’s judge is referred by his choice of law rule to the law of Y. what is the law of Y? It is the law which state Y’s court would have applied to the same case. </a:t>
            </a:r>
          </a:p>
          <a:p>
            <a:r>
              <a:rPr lang="en-US" dirty="0" smtClean="0"/>
              <a:t>Then if state Y’s court would have applied  Y’s “internal law”, then state X’s court should apply state Y’s “internal law”. </a:t>
            </a:r>
          </a:p>
          <a:p>
            <a:r>
              <a:rPr lang="en-US" dirty="0" smtClean="0"/>
              <a:t>If state Y’s court would apply state X’s “internal law, then state X’s court would apply state X’s “internal law”. </a:t>
            </a:r>
          </a:p>
          <a:p>
            <a:r>
              <a:rPr lang="en-US" dirty="0" smtClean="0"/>
              <a:t>And, if state Y’s court would apply state Z’s “internal law”, and then state X’s court would do the same. </a:t>
            </a:r>
          </a:p>
          <a:p>
            <a:endParaRPr lang="en-US" dirty="0"/>
          </a:p>
        </p:txBody>
      </p:sp>
      <p:sp>
        <p:nvSpPr>
          <p:cNvPr id="4" name="Date Placeholder 3"/>
          <p:cNvSpPr>
            <a:spLocks noGrp="1"/>
          </p:cNvSpPr>
          <p:nvPr>
            <p:ph type="dt" sz="half" idx="10"/>
          </p:nvPr>
        </p:nvSpPr>
        <p:spPr/>
        <p:txBody>
          <a:bodyPr/>
          <a:lstStyle/>
          <a:p>
            <a:fld id="{C4CEAEAB-9E3A-412D-B136-EAD4ABE4F467}"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24</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zh-CN" dirty="0" smtClean="0"/>
              <a:t>Indirect  </a:t>
            </a:r>
            <a:r>
              <a:rPr lang="en-US" altLang="zh-CN" dirty="0" err="1" smtClean="0"/>
              <a:t>renvoi</a:t>
            </a:r>
            <a:endParaRPr lang="en-US" altLang="zh-CN" dirty="0" smtClean="0"/>
          </a:p>
        </p:txBody>
      </p:sp>
      <p:sp>
        <p:nvSpPr>
          <p:cNvPr id="20483" name="Rectangle 3"/>
          <p:cNvSpPr>
            <a:spLocks noGrp="1" noChangeArrowheads="1"/>
          </p:cNvSpPr>
          <p:nvPr>
            <p:ph type="body" idx="1"/>
          </p:nvPr>
        </p:nvSpPr>
        <p:spPr>
          <a:solidFill>
            <a:srgbClr val="00B050"/>
          </a:solidFill>
        </p:spPr>
        <p:txBody>
          <a:bodyPr/>
          <a:lstStyle/>
          <a:p>
            <a:pPr eaLnBrk="1" hangingPunct="1">
              <a:buFontTx/>
              <a:buNone/>
            </a:pPr>
            <a:r>
              <a:rPr lang="en-US" altLang="zh-CN" dirty="0" smtClean="0"/>
              <a:t>      </a:t>
            </a:r>
          </a:p>
          <a:p>
            <a:pPr eaLnBrk="1" hangingPunct="1">
              <a:buFontTx/>
              <a:buNone/>
            </a:pPr>
            <a:r>
              <a:rPr lang="en-US" altLang="zh-CN" dirty="0" smtClean="0"/>
              <a:t>    For   a    case</a:t>
            </a:r>
            <a:r>
              <a:rPr lang="zh-CN" altLang="en-US" dirty="0" smtClean="0"/>
              <a:t>，</a:t>
            </a:r>
            <a:r>
              <a:rPr lang="en-US" altLang="zh-CN" dirty="0" smtClean="0"/>
              <a:t>the  court   will   use     law  of B  according  to  its   rule  of  conflict ,but  this  B  conflict  law direct   the   legal   relation  will  apply to  the law  of C. But  C  </a:t>
            </a:r>
            <a:r>
              <a:rPr lang="en-US" altLang="zh-CN" dirty="0" err="1" smtClean="0"/>
              <a:t>confilct</a:t>
            </a:r>
            <a:r>
              <a:rPr lang="en-US" altLang="zh-CN" dirty="0" smtClean="0"/>
              <a:t>  law  direct to the  </a:t>
            </a:r>
            <a:r>
              <a:rPr lang="en-US" altLang="zh-CN" dirty="0" err="1" smtClean="0"/>
              <a:t>lex</a:t>
            </a:r>
            <a:r>
              <a:rPr lang="en-US" altLang="zh-CN" dirty="0" smtClean="0"/>
              <a:t>  </a:t>
            </a:r>
            <a:r>
              <a:rPr lang="en-US" altLang="zh-CN" dirty="0" err="1" smtClean="0"/>
              <a:t>fori</a:t>
            </a:r>
            <a:r>
              <a:rPr lang="en-US" altLang="zh-CN" dirty="0" smtClean="0"/>
              <a:t>.</a:t>
            </a:r>
          </a:p>
          <a:p>
            <a:pPr eaLnBrk="1" hangingPunct="1">
              <a:buFontTx/>
              <a:buNone/>
            </a:pPr>
            <a:endParaRPr lang="en-US" altLang="zh-CN" dirty="0" smtClean="0"/>
          </a:p>
        </p:txBody>
      </p:sp>
      <p:sp>
        <p:nvSpPr>
          <p:cNvPr id="4" name="Date Placeholder 3"/>
          <p:cNvSpPr>
            <a:spLocks noGrp="1"/>
          </p:cNvSpPr>
          <p:nvPr>
            <p:ph type="dt" sz="half" idx="10"/>
          </p:nvPr>
        </p:nvSpPr>
        <p:spPr/>
        <p:txBody>
          <a:bodyPr/>
          <a:lstStyle/>
          <a:p>
            <a:fld id="{3802EC3E-0814-4D8B-9535-E36CD01EA2CF}"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25</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zh-CN" dirty="0" smtClean="0"/>
              <a:t>indirect  </a:t>
            </a:r>
            <a:r>
              <a:rPr lang="en-US" altLang="zh-CN" dirty="0" err="1" smtClean="0"/>
              <a:t>renvoi</a:t>
            </a:r>
            <a:endParaRPr lang="en-US" altLang="zh-CN" dirty="0" smtClean="0"/>
          </a:p>
        </p:txBody>
      </p:sp>
      <p:sp>
        <p:nvSpPr>
          <p:cNvPr id="21507" name="Rectangle 3"/>
          <p:cNvSpPr>
            <a:spLocks noGrp="1" noChangeArrowheads="1"/>
          </p:cNvSpPr>
          <p:nvPr>
            <p:ph type="body" idx="1"/>
          </p:nvPr>
        </p:nvSpPr>
        <p:spPr>
          <a:solidFill>
            <a:srgbClr val="00B050"/>
          </a:solidFill>
        </p:spPr>
        <p:txBody>
          <a:bodyPr/>
          <a:lstStyle/>
          <a:p>
            <a:pPr eaLnBrk="1" hangingPunct="1">
              <a:buFontTx/>
              <a:buNone/>
            </a:pPr>
            <a:endParaRPr lang="en-US" dirty="0" smtClean="0"/>
          </a:p>
        </p:txBody>
      </p:sp>
      <p:sp>
        <p:nvSpPr>
          <p:cNvPr id="21508" name="Oval 4"/>
          <p:cNvSpPr>
            <a:spLocks noChangeArrowheads="1"/>
          </p:cNvSpPr>
          <p:nvPr/>
        </p:nvSpPr>
        <p:spPr bwMode="auto">
          <a:xfrm>
            <a:off x="762000" y="3276600"/>
            <a:ext cx="1752600" cy="9144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dirty="0">
                <a:latin typeface="Times New Roman" charset="0"/>
              </a:rPr>
              <a:t>The law of C</a:t>
            </a:r>
          </a:p>
        </p:txBody>
      </p:sp>
      <p:sp>
        <p:nvSpPr>
          <p:cNvPr id="21509" name="Oval 5"/>
          <p:cNvSpPr>
            <a:spLocks noChangeArrowheads="1"/>
          </p:cNvSpPr>
          <p:nvPr/>
        </p:nvSpPr>
        <p:spPr bwMode="auto">
          <a:xfrm>
            <a:off x="3733800" y="3352800"/>
            <a:ext cx="1676400" cy="9144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a:latin typeface="Times New Roman" charset="0"/>
              </a:rPr>
              <a:t>The law of B</a:t>
            </a:r>
          </a:p>
        </p:txBody>
      </p:sp>
      <p:sp>
        <p:nvSpPr>
          <p:cNvPr id="21510" name="Oval 6"/>
          <p:cNvSpPr>
            <a:spLocks noChangeArrowheads="1"/>
          </p:cNvSpPr>
          <p:nvPr/>
        </p:nvSpPr>
        <p:spPr bwMode="auto">
          <a:xfrm>
            <a:off x="6477000" y="3352800"/>
            <a:ext cx="1752600" cy="9906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a:latin typeface="Times New Roman" charset="0"/>
              </a:rPr>
              <a:t>The law of A</a:t>
            </a:r>
          </a:p>
        </p:txBody>
      </p:sp>
      <p:sp>
        <p:nvSpPr>
          <p:cNvPr id="21511" name="AutoShape 7"/>
          <p:cNvSpPr>
            <a:spLocks noChangeArrowheads="1"/>
          </p:cNvSpPr>
          <p:nvPr/>
        </p:nvSpPr>
        <p:spPr bwMode="auto">
          <a:xfrm>
            <a:off x="5715000" y="3657600"/>
            <a:ext cx="457200" cy="457200"/>
          </a:xfrm>
          <a:prstGeom prst="leftArrow">
            <a:avLst>
              <a:gd name="adj1" fmla="val 50000"/>
              <a:gd name="adj2" fmla="val 25000"/>
            </a:avLst>
          </a:prstGeom>
          <a:solidFill>
            <a:srgbClr val="FFFFFF"/>
          </a:solidFill>
          <a:ln w="9525">
            <a:solidFill>
              <a:schemeClr val="tx1"/>
            </a:solidFill>
            <a:miter lim="800000"/>
            <a:headEnd/>
            <a:tailEnd/>
          </a:ln>
        </p:spPr>
        <p:txBody>
          <a:bodyPr wrap="none" anchor="ctr"/>
          <a:lstStyle/>
          <a:p>
            <a:endParaRPr lang="en-US"/>
          </a:p>
        </p:txBody>
      </p:sp>
      <p:sp>
        <p:nvSpPr>
          <p:cNvPr id="21512" name="AutoShape 8"/>
          <p:cNvSpPr>
            <a:spLocks noChangeArrowheads="1"/>
          </p:cNvSpPr>
          <p:nvPr/>
        </p:nvSpPr>
        <p:spPr bwMode="auto">
          <a:xfrm>
            <a:off x="2819400" y="3657600"/>
            <a:ext cx="533400" cy="457200"/>
          </a:xfrm>
          <a:prstGeom prst="leftArrow">
            <a:avLst>
              <a:gd name="adj1" fmla="val 50000"/>
              <a:gd name="adj2" fmla="val 29167"/>
            </a:avLst>
          </a:prstGeom>
          <a:solidFill>
            <a:srgbClr val="FFFFFF"/>
          </a:solidFill>
          <a:ln w="9525">
            <a:solidFill>
              <a:schemeClr val="tx1"/>
            </a:solidFill>
            <a:miter lim="800000"/>
            <a:headEnd/>
            <a:tailEnd/>
          </a:ln>
        </p:spPr>
        <p:txBody>
          <a:bodyPr wrap="none" anchor="ctr"/>
          <a:lstStyle/>
          <a:p>
            <a:endParaRPr lang="en-US"/>
          </a:p>
        </p:txBody>
      </p:sp>
      <p:sp>
        <p:nvSpPr>
          <p:cNvPr id="21513" name="AutoShape 9"/>
          <p:cNvSpPr>
            <a:spLocks noChangeArrowheads="1"/>
          </p:cNvSpPr>
          <p:nvPr/>
        </p:nvSpPr>
        <p:spPr bwMode="auto">
          <a:xfrm>
            <a:off x="1447800" y="4419600"/>
            <a:ext cx="6934200" cy="1219200"/>
          </a:xfrm>
          <a:prstGeom prst="curvedUpArrow">
            <a:avLst>
              <a:gd name="adj1" fmla="val 113750"/>
              <a:gd name="adj2" fmla="val 227500"/>
              <a:gd name="adj3" fmla="val 33333"/>
            </a:avLst>
          </a:prstGeom>
          <a:solidFill>
            <a:srgbClr val="00B050"/>
          </a:solidFill>
          <a:ln w="9525">
            <a:solidFill>
              <a:schemeClr val="tx1"/>
            </a:solidFill>
            <a:miter lim="800000"/>
            <a:headEnd/>
            <a:tailEnd/>
          </a:ln>
        </p:spPr>
        <p:txBody>
          <a:bodyPr wrap="none" anchor="ctr"/>
          <a:lstStyle/>
          <a:p>
            <a:endParaRPr lang="en-US"/>
          </a:p>
        </p:txBody>
      </p:sp>
      <p:sp>
        <p:nvSpPr>
          <p:cNvPr id="10" name="Date Placeholder 9"/>
          <p:cNvSpPr>
            <a:spLocks noGrp="1"/>
          </p:cNvSpPr>
          <p:nvPr>
            <p:ph type="dt" sz="half" idx="10"/>
          </p:nvPr>
        </p:nvSpPr>
        <p:spPr/>
        <p:txBody>
          <a:bodyPr/>
          <a:lstStyle/>
          <a:p>
            <a:fld id="{9F39C457-0270-4669-82A8-F9A9AED1025E}" type="datetime1">
              <a:rPr lang="en-US" smtClean="0"/>
              <a:pPr/>
              <a:t>12/7/2017</a:t>
            </a:fld>
            <a:endParaRPr lang="en-US"/>
          </a:p>
        </p:txBody>
      </p:sp>
      <p:sp>
        <p:nvSpPr>
          <p:cNvPr id="11" name="Slide Number Placeholder 10"/>
          <p:cNvSpPr>
            <a:spLocks noGrp="1"/>
          </p:cNvSpPr>
          <p:nvPr>
            <p:ph type="sldNum" sz="quarter" idx="12"/>
          </p:nvPr>
        </p:nvSpPr>
        <p:spPr/>
        <p:txBody>
          <a:bodyPr/>
          <a:lstStyle/>
          <a:p>
            <a:fld id="{834BFF34-3419-4CE5-8DD6-F563781C8875}" type="slidenum">
              <a:rPr lang="en-US" smtClean="0"/>
              <a:pPr/>
              <a:t>26</a:t>
            </a:fld>
            <a:endParaRPr lang="en-US"/>
          </a:p>
        </p:txBody>
      </p:sp>
      <p:sp>
        <p:nvSpPr>
          <p:cNvPr id="12" name="Footer Placeholder 11"/>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dirty="0" smtClean="0"/>
              <a:t>Double </a:t>
            </a:r>
            <a:r>
              <a:rPr lang="en-US" altLang="zh-CN" dirty="0" err="1" smtClean="0"/>
              <a:t>renvoi</a:t>
            </a:r>
            <a:endParaRPr lang="en-US" altLang="zh-CN" dirty="0" smtClean="0"/>
          </a:p>
        </p:txBody>
      </p:sp>
      <p:sp>
        <p:nvSpPr>
          <p:cNvPr id="22531" name="Rectangle 3"/>
          <p:cNvSpPr>
            <a:spLocks noGrp="1" noChangeArrowheads="1"/>
          </p:cNvSpPr>
          <p:nvPr>
            <p:ph type="body" idx="1"/>
          </p:nvPr>
        </p:nvSpPr>
        <p:spPr>
          <a:solidFill>
            <a:srgbClr val="00B050"/>
          </a:solidFill>
        </p:spPr>
        <p:txBody>
          <a:bodyPr>
            <a:normAutofit lnSpcReduction="10000"/>
          </a:bodyPr>
          <a:lstStyle/>
          <a:p>
            <a:pPr eaLnBrk="1" hangingPunct="1">
              <a:buFontTx/>
              <a:buNone/>
            </a:pPr>
            <a:r>
              <a:rPr lang="en-US" altLang="zh-CN" dirty="0" smtClean="0"/>
              <a:t>    It is only in  Britain.</a:t>
            </a:r>
          </a:p>
          <a:p>
            <a:pPr eaLnBrk="1" hangingPunct="1">
              <a:buFontTx/>
              <a:buNone/>
            </a:pPr>
            <a:endParaRPr lang="en-US" altLang="zh-CN" dirty="0" smtClean="0"/>
          </a:p>
          <a:p>
            <a:pPr eaLnBrk="1" hangingPunct="1">
              <a:buFontTx/>
              <a:buNone/>
            </a:pPr>
            <a:endParaRPr lang="en-US" altLang="zh-CN" dirty="0" smtClean="0"/>
          </a:p>
          <a:p>
            <a:pPr eaLnBrk="1" hangingPunct="1">
              <a:buFontTx/>
              <a:buNone/>
            </a:pPr>
            <a:endParaRPr lang="en-US" altLang="zh-CN" dirty="0" smtClean="0"/>
          </a:p>
          <a:p>
            <a:pPr eaLnBrk="1" hangingPunct="1">
              <a:buFontTx/>
              <a:buNone/>
            </a:pPr>
            <a:endParaRPr lang="en-US" altLang="zh-CN" dirty="0" smtClean="0"/>
          </a:p>
          <a:p>
            <a:pPr eaLnBrk="1" hangingPunct="1">
              <a:buFontTx/>
              <a:buNone/>
            </a:pPr>
            <a:endParaRPr lang="en-US" altLang="zh-CN" dirty="0" smtClean="0"/>
          </a:p>
          <a:p>
            <a:pPr eaLnBrk="1" hangingPunct="1">
              <a:buFontTx/>
              <a:buNone/>
            </a:pPr>
            <a:endParaRPr lang="en-US" altLang="zh-CN" dirty="0" smtClean="0"/>
          </a:p>
          <a:p>
            <a:pPr eaLnBrk="1" hangingPunct="1">
              <a:buFontTx/>
              <a:buNone/>
            </a:pPr>
            <a:r>
              <a:rPr lang="en-US" altLang="zh-CN" dirty="0" smtClean="0"/>
              <a:t>In the end, it  apply to  foreign  law</a:t>
            </a:r>
          </a:p>
        </p:txBody>
      </p:sp>
      <p:sp>
        <p:nvSpPr>
          <p:cNvPr id="22532" name="Oval 4"/>
          <p:cNvSpPr>
            <a:spLocks noChangeArrowheads="1"/>
          </p:cNvSpPr>
          <p:nvPr/>
        </p:nvSpPr>
        <p:spPr bwMode="auto">
          <a:xfrm>
            <a:off x="990600" y="3124200"/>
            <a:ext cx="1066800" cy="22860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a:latin typeface="Times New Roman" charset="0"/>
              </a:rPr>
              <a:t>Britain </a:t>
            </a:r>
          </a:p>
          <a:p>
            <a:pPr algn="ctr"/>
            <a:r>
              <a:rPr kumimoji="1" lang="en-US" altLang="zh-CN" sz="2400">
                <a:latin typeface="Times New Roman" charset="0"/>
              </a:rPr>
              <a:t>law</a:t>
            </a:r>
          </a:p>
        </p:txBody>
      </p:sp>
      <p:sp>
        <p:nvSpPr>
          <p:cNvPr id="22533" name="Oval 5"/>
          <p:cNvSpPr>
            <a:spLocks noChangeArrowheads="1"/>
          </p:cNvSpPr>
          <p:nvPr/>
        </p:nvSpPr>
        <p:spPr bwMode="auto">
          <a:xfrm>
            <a:off x="4800600" y="3124200"/>
            <a:ext cx="1066800" cy="2286000"/>
          </a:xfrm>
          <a:prstGeom prst="ellipse">
            <a:avLst/>
          </a:prstGeom>
          <a:solidFill>
            <a:srgbClr val="FFFFFF"/>
          </a:solidFill>
          <a:ln w="9525">
            <a:solidFill>
              <a:schemeClr val="tx1"/>
            </a:solidFill>
            <a:round/>
            <a:headEnd/>
            <a:tailEnd/>
          </a:ln>
        </p:spPr>
        <p:txBody>
          <a:bodyPr wrap="none" anchor="ctr"/>
          <a:lstStyle/>
          <a:p>
            <a:pPr algn="ctr"/>
            <a:r>
              <a:rPr kumimoji="1" lang="en-US" altLang="zh-CN" sz="2400">
                <a:latin typeface="Times New Roman" charset="0"/>
              </a:rPr>
              <a:t>Foreign</a:t>
            </a:r>
          </a:p>
          <a:p>
            <a:pPr algn="ctr"/>
            <a:r>
              <a:rPr kumimoji="1" lang="en-US" altLang="zh-CN" sz="2400">
                <a:latin typeface="Times New Roman" charset="0"/>
              </a:rPr>
              <a:t>law</a:t>
            </a:r>
          </a:p>
        </p:txBody>
      </p:sp>
      <p:sp>
        <p:nvSpPr>
          <p:cNvPr id="22534" name="AutoShape 6"/>
          <p:cNvSpPr>
            <a:spLocks noChangeArrowheads="1"/>
          </p:cNvSpPr>
          <p:nvPr/>
        </p:nvSpPr>
        <p:spPr bwMode="auto">
          <a:xfrm>
            <a:off x="2057400" y="3505200"/>
            <a:ext cx="2667000" cy="304800"/>
          </a:xfrm>
          <a:prstGeom prst="rightArrow">
            <a:avLst>
              <a:gd name="adj1" fmla="val 50000"/>
              <a:gd name="adj2" fmla="val 218750"/>
            </a:avLst>
          </a:prstGeom>
          <a:solidFill>
            <a:srgbClr val="FFFFFF"/>
          </a:solidFill>
          <a:ln w="9525">
            <a:solidFill>
              <a:schemeClr val="tx1"/>
            </a:solidFill>
            <a:miter lim="800000"/>
            <a:headEnd/>
            <a:tailEnd/>
          </a:ln>
        </p:spPr>
        <p:txBody>
          <a:bodyPr wrap="none" anchor="ctr"/>
          <a:lstStyle/>
          <a:p>
            <a:endParaRPr lang="en-US"/>
          </a:p>
        </p:txBody>
      </p:sp>
      <p:sp>
        <p:nvSpPr>
          <p:cNvPr id="22535" name="AutoShape 7"/>
          <p:cNvSpPr>
            <a:spLocks noChangeArrowheads="1"/>
          </p:cNvSpPr>
          <p:nvPr/>
        </p:nvSpPr>
        <p:spPr bwMode="auto">
          <a:xfrm>
            <a:off x="2057400" y="4191000"/>
            <a:ext cx="2590800" cy="304800"/>
          </a:xfrm>
          <a:prstGeom prst="leftArrow">
            <a:avLst>
              <a:gd name="adj1" fmla="val 50000"/>
              <a:gd name="adj2" fmla="val 212500"/>
            </a:avLst>
          </a:prstGeom>
          <a:solidFill>
            <a:srgbClr val="FFFFFF"/>
          </a:solidFill>
          <a:ln w="9525">
            <a:solidFill>
              <a:schemeClr val="tx1"/>
            </a:solidFill>
            <a:miter lim="800000"/>
            <a:headEnd/>
            <a:tailEnd/>
          </a:ln>
        </p:spPr>
        <p:txBody>
          <a:bodyPr wrap="none" anchor="ctr"/>
          <a:lstStyle/>
          <a:p>
            <a:endParaRPr lang="en-US"/>
          </a:p>
        </p:txBody>
      </p:sp>
      <p:sp>
        <p:nvSpPr>
          <p:cNvPr id="22536" name="AutoShape 8"/>
          <p:cNvSpPr>
            <a:spLocks noChangeArrowheads="1"/>
          </p:cNvSpPr>
          <p:nvPr/>
        </p:nvSpPr>
        <p:spPr bwMode="auto">
          <a:xfrm>
            <a:off x="2133600" y="4953000"/>
            <a:ext cx="2743200" cy="304800"/>
          </a:xfrm>
          <a:prstGeom prst="rightArrow">
            <a:avLst>
              <a:gd name="adj1" fmla="val 50000"/>
              <a:gd name="adj2" fmla="val 225000"/>
            </a:avLst>
          </a:prstGeom>
          <a:solidFill>
            <a:srgbClr val="FFFFFF"/>
          </a:solidFill>
          <a:ln w="9525">
            <a:solidFill>
              <a:schemeClr val="tx1"/>
            </a:solidFill>
            <a:miter lim="800000"/>
            <a:headEnd/>
            <a:tailEnd/>
          </a:ln>
        </p:spPr>
        <p:txBody>
          <a:bodyPr wrap="none" anchor="ctr"/>
          <a:lstStyle/>
          <a:p>
            <a:endParaRPr lang="en-US"/>
          </a:p>
        </p:txBody>
      </p:sp>
      <p:sp>
        <p:nvSpPr>
          <p:cNvPr id="9" name="Date Placeholder 8"/>
          <p:cNvSpPr>
            <a:spLocks noGrp="1"/>
          </p:cNvSpPr>
          <p:nvPr>
            <p:ph type="dt" sz="half" idx="10"/>
          </p:nvPr>
        </p:nvSpPr>
        <p:spPr/>
        <p:txBody>
          <a:bodyPr/>
          <a:lstStyle/>
          <a:p>
            <a:fld id="{0F3E96A6-FCD5-469C-B39A-0027C52ADEEC}" type="datetime1">
              <a:rPr lang="en-US" smtClean="0"/>
              <a:pPr/>
              <a:t>12/7/2017</a:t>
            </a:fld>
            <a:endParaRPr lang="en-US"/>
          </a:p>
        </p:txBody>
      </p:sp>
      <p:sp>
        <p:nvSpPr>
          <p:cNvPr id="10" name="Slide Number Placeholder 9"/>
          <p:cNvSpPr>
            <a:spLocks noGrp="1"/>
          </p:cNvSpPr>
          <p:nvPr>
            <p:ph type="sldNum" sz="quarter" idx="12"/>
          </p:nvPr>
        </p:nvSpPr>
        <p:spPr/>
        <p:txBody>
          <a:bodyPr/>
          <a:lstStyle/>
          <a:p>
            <a:fld id="{834BFF34-3419-4CE5-8DD6-F563781C8875}" type="slidenum">
              <a:rPr lang="en-US" smtClean="0"/>
              <a:pPr/>
              <a:t>27</a:t>
            </a:fld>
            <a:endParaRPr lang="en-US"/>
          </a:p>
        </p:txBody>
      </p:sp>
      <p:sp>
        <p:nvSpPr>
          <p:cNvPr id="11" name="Footer Placeholder 10"/>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Evasion/ Fraud</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altLang="zh-CN" dirty="0" smtClean="0"/>
              <a:t>Means parties of civil legal relation e</a:t>
            </a:r>
            <a:r>
              <a:rPr lang="en-US" dirty="0" smtClean="0"/>
              <a:t>ither to avoid the forum law’s effect on their acts or to gain better but undue advantage of a foreign law, might </a:t>
            </a:r>
            <a:r>
              <a:rPr lang="en-US" b="1" dirty="0" smtClean="0"/>
              <a:t>deliberately create a foreign element </a:t>
            </a:r>
            <a:r>
              <a:rPr lang="en-US" dirty="0" smtClean="0"/>
              <a:t>to their case.</a:t>
            </a:r>
          </a:p>
          <a:p>
            <a:r>
              <a:rPr lang="en-US" dirty="0" smtClean="0"/>
              <a:t> In other words, there might be a case involving the creation of a relationship between a person and a legal system other than the forum’s (or another to which one is closely related) in an </a:t>
            </a:r>
            <a:r>
              <a:rPr lang="en-US" b="1" dirty="0" smtClean="0"/>
              <a:t>artificial manner </a:t>
            </a:r>
            <a:r>
              <a:rPr lang="en-US" dirty="0" smtClean="0"/>
              <a:t>whose main purpose is to avoid the application of the forum (proper) law.</a:t>
            </a:r>
          </a:p>
          <a:p>
            <a:r>
              <a:rPr lang="en-US" dirty="0" smtClean="0"/>
              <a:t>It is not, for example, uncommon to encounter would-be-couples to celebrate marriage where the jurisdiction of one or both of them does not allow them to do so by leaving their own jurisdiction and going to another jurisdiction which does allow or at least does not prohibit them to exercise same, to avoid the applications of the law of the jurisdiction they are rushing from. The same holds true for divorce situations. </a:t>
            </a:r>
          </a:p>
          <a:p>
            <a:pPr algn="just">
              <a:buNone/>
            </a:pPr>
            <a:endParaRPr lang="en-US" altLang="zh-CN" dirty="0" smtClean="0"/>
          </a:p>
          <a:p>
            <a:endParaRPr lang="en-US" dirty="0"/>
          </a:p>
        </p:txBody>
      </p:sp>
      <p:sp>
        <p:nvSpPr>
          <p:cNvPr id="4" name="Date Placeholder 3"/>
          <p:cNvSpPr>
            <a:spLocks noGrp="1"/>
          </p:cNvSpPr>
          <p:nvPr>
            <p:ph type="dt" sz="half" idx="10"/>
          </p:nvPr>
        </p:nvSpPr>
        <p:spPr/>
        <p:txBody>
          <a:bodyPr/>
          <a:lstStyle/>
          <a:p>
            <a:fld id="{456DAD3A-8BF9-4FA6-BE75-674177FA5CEA}"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28</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Evasion </a:t>
            </a:r>
            <a:r>
              <a:rPr lang="en-US" dirty="0" err="1" smtClean="0"/>
              <a:t>Contd</a:t>
            </a:r>
            <a:r>
              <a:rPr lang="en-US" dirty="0" smtClean="0"/>
              <a:t>…</a:t>
            </a:r>
            <a:endParaRPr lang="en-US" dirty="0"/>
          </a:p>
        </p:txBody>
      </p:sp>
      <p:sp>
        <p:nvSpPr>
          <p:cNvPr id="3" name="Content Placeholder 2"/>
          <p:cNvSpPr>
            <a:spLocks noGrp="1"/>
          </p:cNvSpPr>
          <p:nvPr>
            <p:ph idx="1"/>
          </p:nvPr>
        </p:nvSpPr>
        <p:spPr>
          <a:solidFill>
            <a:srgbClr val="00B050"/>
          </a:solidFill>
        </p:spPr>
        <p:txBody>
          <a:bodyPr>
            <a:normAutofit/>
          </a:bodyPr>
          <a:lstStyle/>
          <a:p>
            <a:pPr>
              <a:lnSpc>
                <a:spcPct val="90000"/>
              </a:lnSpc>
              <a:buNone/>
            </a:pPr>
            <a:r>
              <a:rPr lang="en-US" altLang="zh-CN" dirty="0" smtClean="0"/>
              <a:t>Way of evasion of law </a:t>
            </a:r>
            <a:r>
              <a:rPr lang="zh-CN" altLang="en-US" dirty="0" smtClean="0"/>
              <a:t>：</a:t>
            </a:r>
          </a:p>
          <a:p>
            <a:pPr>
              <a:lnSpc>
                <a:spcPct val="90000"/>
              </a:lnSpc>
              <a:buNone/>
            </a:pPr>
            <a:r>
              <a:rPr lang="zh-CN" altLang="en-US" dirty="0" smtClean="0"/>
              <a:t>     </a:t>
            </a:r>
            <a:r>
              <a:rPr lang="en-US" altLang="zh-CN" dirty="0" smtClean="0"/>
              <a:t>(pass and alter the dynamic connection to click) </a:t>
            </a:r>
          </a:p>
          <a:p>
            <a:pPr>
              <a:lnSpc>
                <a:spcPct val="90000"/>
              </a:lnSpc>
              <a:buFont typeface="Wingdings" pitchFamily="2" charset="2"/>
              <a:buChar char="§"/>
            </a:pPr>
            <a:r>
              <a:rPr lang="en-US" altLang="zh-CN" dirty="0" smtClean="0"/>
              <a:t>Alter the residence or the nationality </a:t>
            </a:r>
          </a:p>
          <a:p>
            <a:pPr>
              <a:lnSpc>
                <a:spcPct val="90000"/>
              </a:lnSpc>
              <a:buFont typeface="Wingdings" pitchFamily="2" charset="2"/>
              <a:buChar char="§"/>
            </a:pPr>
            <a:r>
              <a:rPr lang="en-US" altLang="zh-CN" dirty="0" smtClean="0"/>
              <a:t>Alter the behavior ground </a:t>
            </a:r>
          </a:p>
          <a:p>
            <a:pPr>
              <a:lnSpc>
                <a:spcPct val="90000"/>
              </a:lnSpc>
              <a:buFont typeface="Wingdings" pitchFamily="2" charset="2"/>
              <a:buChar char="§"/>
            </a:pPr>
            <a:r>
              <a:rPr lang="en-US" altLang="zh-CN" dirty="0" smtClean="0"/>
              <a:t>Alter the site (when suitable to apply the local law of the thing ) </a:t>
            </a:r>
          </a:p>
        </p:txBody>
      </p:sp>
      <p:sp>
        <p:nvSpPr>
          <p:cNvPr id="4" name="Date Placeholder 3"/>
          <p:cNvSpPr>
            <a:spLocks noGrp="1"/>
          </p:cNvSpPr>
          <p:nvPr>
            <p:ph type="dt" sz="half" idx="10"/>
          </p:nvPr>
        </p:nvSpPr>
        <p:spPr/>
        <p:txBody>
          <a:bodyPr/>
          <a:lstStyle/>
          <a:p>
            <a:fld id="{C5AE3AB2-501B-464E-B502-D02383B2C84C}"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29</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Exclusion of Foreign Law</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pPr>
              <a:buNone/>
            </a:pPr>
            <a:r>
              <a:rPr lang="en-US" b="1" dirty="0" smtClean="0"/>
              <a:t>Public Policy and Rules of Immediate Application</a:t>
            </a:r>
          </a:p>
          <a:p>
            <a:pPr>
              <a:buNone/>
            </a:pPr>
            <a:r>
              <a:rPr lang="en-US" b="1" dirty="0" smtClean="0"/>
              <a:t>I. Public Policy</a:t>
            </a:r>
          </a:p>
          <a:p>
            <a:r>
              <a:rPr lang="en-US" dirty="0" smtClean="0"/>
              <a:t>Means in certain circumstances the foreign law ordinarily applicable will not be applied because to do so would violate public policy of the forum.</a:t>
            </a:r>
          </a:p>
          <a:p>
            <a:r>
              <a:rPr lang="en-US" dirty="0" smtClean="0"/>
              <a:t>Difficult to define and vague </a:t>
            </a:r>
          </a:p>
          <a:p>
            <a:r>
              <a:rPr lang="en-US" dirty="0" smtClean="0"/>
              <a:t>But it is observed that the public policy of a state can be reflected in its </a:t>
            </a:r>
            <a:r>
              <a:rPr lang="en-US" b="1" dirty="0" smtClean="0"/>
              <a:t>constitutions</a:t>
            </a:r>
            <a:r>
              <a:rPr lang="en-US" dirty="0" smtClean="0"/>
              <a:t>, </a:t>
            </a:r>
            <a:r>
              <a:rPr lang="en-US" b="1" dirty="0" smtClean="0"/>
              <a:t>statutes</a:t>
            </a:r>
            <a:r>
              <a:rPr lang="en-US" dirty="0" smtClean="0"/>
              <a:t>, and </a:t>
            </a:r>
            <a:r>
              <a:rPr lang="en-US" b="1" dirty="0" smtClean="0"/>
              <a:t>decision of courts</a:t>
            </a:r>
            <a:r>
              <a:rPr lang="en-US" dirty="0" smtClean="0"/>
              <a:t>.</a:t>
            </a:r>
          </a:p>
          <a:p>
            <a:r>
              <a:rPr lang="en-US" dirty="0" smtClean="0"/>
              <a:t>Justice Cardozo's definition: “A  foreign law must violate some fundamental principles justice , some prevalent conception of good morals some  deep rooted tradition of the common weal”</a:t>
            </a:r>
          </a:p>
          <a:p>
            <a:r>
              <a:rPr lang="en-US" dirty="0" smtClean="0"/>
              <a:t>Must be construed narrowly lest we become super moralist.</a:t>
            </a:r>
          </a:p>
          <a:p>
            <a:r>
              <a:rPr lang="en-US" dirty="0" smtClean="0"/>
              <a:t>Public policy exception has limited application between states of a federal union as their policy is not very different.</a:t>
            </a:r>
            <a:endParaRPr lang="en-US" dirty="0"/>
          </a:p>
        </p:txBody>
      </p:sp>
      <p:sp>
        <p:nvSpPr>
          <p:cNvPr id="4" name="Date Placeholder 3"/>
          <p:cNvSpPr>
            <a:spLocks noGrp="1"/>
          </p:cNvSpPr>
          <p:nvPr>
            <p:ph type="dt" sz="half" idx="10"/>
          </p:nvPr>
        </p:nvSpPr>
        <p:spPr/>
        <p:txBody>
          <a:bodyPr/>
          <a:lstStyle/>
          <a:p>
            <a:fld id="{3341B06F-CC6C-4DAA-9B54-F172AAF21F3C}"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30</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solidFill>
            <a:srgbClr val="00B050"/>
          </a:solidFill>
        </p:spPr>
        <p:txBody>
          <a:bodyPr>
            <a:normAutofit lnSpcReduction="10000"/>
          </a:bodyPr>
          <a:lstStyle/>
          <a:p>
            <a:pPr>
              <a:buNone/>
            </a:pPr>
            <a:r>
              <a:rPr lang="en-US" b="1" dirty="0" smtClean="0"/>
              <a:t>II. Rules of Immediate application</a:t>
            </a:r>
          </a:p>
          <a:p>
            <a:r>
              <a:rPr lang="en-US" dirty="0" smtClean="0"/>
              <a:t>As a rule of conflict of law deals with rights and remedies of a civil nature and strictly affecting persons as individuals in their private affairs, these rule are limited to laws of private nature.</a:t>
            </a:r>
          </a:p>
          <a:p>
            <a:r>
              <a:rPr lang="en-US" dirty="0" smtClean="0"/>
              <a:t>Rules of domestic public law are beyond scope of conflict of laws. So they will  not be applied.</a:t>
            </a:r>
          </a:p>
          <a:p>
            <a:r>
              <a:rPr lang="en-US" dirty="0" err="1" smtClean="0"/>
              <a:t>Eg</a:t>
            </a:r>
            <a:r>
              <a:rPr lang="en-US" dirty="0" smtClean="0"/>
              <a:t>. Foreign penal, tax, and other related laws</a:t>
            </a:r>
            <a:endParaRPr lang="en-US" dirty="0"/>
          </a:p>
        </p:txBody>
      </p:sp>
      <p:sp>
        <p:nvSpPr>
          <p:cNvPr id="4" name="Date Placeholder 3"/>
          <p:cNvSpPr>
            <a:spLocks noGrp="1"/>
          </p:cNvSpPr>
          <p:nvPr>
            <p:ph type="dt" sz="half" idx="10"/>
          </p:nvPr>
        </p:nvSpPr>
        <p:spPr/>
        <p:txBody>
          <a:bodyPr/>
          <a:lstStyle/>
          <a:p>
            <a:fld id="{3711ACF7-AA0A-4069-B454-B6CEDC6C3D7B}"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31</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ctr" rtl="0">
              <a:spcBef>
                <a:spcPct val="0"/>
              </a:spcBef>
            </a:pPr>
            <a:r>
              <a:rPr lang="en-US" sz="3200" b="1" dirty="0"/>
              <a:t>The Incidental Question </a:t>
            </a:r>
            <a:r>
              <a:rPr lang="en-US" sz="3200" dirty="0"/>
              <a:t/>
            </a:r>
            <a:br>
              <a:rPr lang="en-US" sz="3200" dirty="0"/>
            </a:br>
            <a:endParaRPr lang="en-US" sz="3200" dirty="0"/>
          </a:p>
        </p:txBody>
      </p:sp>
      <p:sp>
        <p:nvSpPr>
          <p:cNvPr id="3" name="Content Placeholder 2"/>
          <p:cNvSpPr>
            <a:spLocks noGrp="1"/>
          </p:cNvSpPr>
          <p:nvPr>
            <p:ph idx="1"/>
          </p:nvPr>
        </p:nvSpPr>
        <p:spPr>
          <a:solidFill>
            <a:srgbClr val="00B050"/>
          </a:solidFill>
        </p:spPr>
        <p:txBody>
          <a:bodyPr>
            <a:normAutofit fontScale="55000" lnSpcReduction="20000"/>
          </a:bodyPr>
          <a:lstStyle/>
          <a:p>
            <a:pPr algn="just"/>
            <a:r>
              <a:rPr lang="en-US" sz="3800" dirty="0" smtClean="0"/>
              <a:t>The problem of the incidental issue or incidental question is said to arise when dealing with the main issue another issue incidentally arises and it becomes necessary to resolve this issue to  decide on the main issue.</a:t>
            </a:r>
          </a:p>
          <a:p>
            <a:pPr algn="just"/>
            <a:r>
              <a:rPr lang="en-US" sz="3800" dirty="0" smtClean="0"/>
              <a:t>E.g. in many cases the issue of the validity of marriage arises incidentally as a secondary question while the principal claim concerns like divorce, property or pecuniary rights, succession, support and alimony, etc</a:t>
            </a:r>
          </a:p>
          <a:p>
            <a:pPr algn="just"/>
            <a:r>
              <a:rPr lang="en-US" sz="3800" dirty="0" smtClean="0"/>
              <a:t>The main issue may be governed by one law and the incidental issue by another.</a:t>
            </a:r>
          </a:p>
          <a:p>
            <a:pPr algn="just"/>
            <a:r>
              <a:rPr lang="en-US" sz="3800" dirty="0" smtClean="0"/>
              <a:t>In interstate choice of law in Ethiopia incidental question may not be a big problem due to the fact that we will not, hopefully, have choice of law rules for each state but one Federal Conflicts Rules.</a:t>
            </a:r>
          </a:p>
          <a:p>
            <a:pPr algn="just"/>
            <a:r>
              <a:rPr lang="en-US" sz="3800" dirty="0" smtClean="0"/>
              <a:t> As a result, all issues, whether they are main, incidental or incidental of second degree are going to be resolved by the federal choice of law rules.</a:t>
            </a:r>
          </a:p>
          <a:p>
            <a:endParaRPr lang="en-US" dirty="0"/>
          </a:p>
        </p:txBody>
      </p:sp>
      <p:sp>
        <p:nvSpPr>
          <p:cNvPr id="4" name="Date Placeholder 3"/>
          <p:cNvSpPr>
            <a:spLocks noGrp="1"/>
          </p:cNvSpPr>
          <p:nvPr>
            <p:ph type="dt" sz="half" idx="10"/>
          </p:nvPr>
        </p:nvSpPr>
        <p:spPr/>
        <p:txBody>
          <a:bodyPr/>
          <a:lstStyle/>
          <a:p>
            <a:fld id="{675C9109-7CEC-4C39-9190-8E1CC6B5427C}"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32</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Foreign Law</a:t>
            </a:r>
            <a:endParaRPr lang="en-US" dirty="0"/>
          </a:p>
        </p:txBody>
      </p:sp>
      <p:sp>
        <p:nvSpPr>
          <p:cNvPr id="3" name="Content Placeholder 2"/>
          <p:cNvSpPr>
            <a:spLocks noGrp="1"/>
          </p:cNvSpPr>
          <p:nvPr>
            <p:ph idx="1"/>
          </p:nvPr>
        </p:nvSpPr>
        <p:spPr>
          <a:solidFill>
            <a:srgbClr val="00B050"/>
          </a:solidFill>
        </p:spPr>
        <p:txBody>
          <a:bodyPr>
            <a:normAutofit/>
          </a:bodyPr>
          <a:lstStyle/>
          <a:p>
            <a:pPr>
              <a:buNone/>
            </a:pPr>
            <a:r>
              <a:rPr lang="en-US" dirty="0" smtClean="0"/>
              <a:t> </a:t>
            </a:r>
            <a:r>
              <a:rPr lang="en-US" b="1" dirty="0" smtClean="0"/>
              <a:t>Main questions that arise are:</a:t>
            </a:r>
          </a:p>
          <a:p>
            <a:r>
              <a:rPr lang="en-US" dirty="0" smtClean="0"/>
              <a:t>What status does foreign law has in the forum?</a:t>
            </a:r>
          </a:p>
          <a:p>
            <a:r>
              <a:rPr lang="en-US" dirty="0" smtClean="0"/>
              <a:t>How can we ascertain the content of foreign law? (method of proof)</a:t>
            </a:r>
          </a:p>
          <a:p>
            <a:r>
              <a:rPr lang="en-US" dirty="0" smtClean="0"/>
              <a:t>What will be the effect failure to prove?</a:t>
            </a:r>
          </a:p>
        </p:txBody>
      </p:sp>
      <p:sp>
        <p:nvSpPr>
          <p:cNvPr id="4" name="Date Placeholder 3"/>
          <p:cNvSpPr>
            <a:spLocks noGrp="1"/>
          </p:cNvSpPr>
          <p:nvPr>
            <p:ph type="dt" sz="half" idx="10"/>
          </p:nvPr>
        </p:nvSpPr>
        <p:spPr/>
        <p:txBody>
          <a:bodyPr/>
          <a:lstStyle/>
          <a:p>
            <a:fld id="{6C31954A-E1AC-48D8-944E-8FB953616469}"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33</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Foreign Law </a:t>
            </a:r>
            <a:r>
              <a:rPr lang="en-US" b="1" dirty="0" err="1" smtClean="0"/>
              <a:t>contd</a:t>
            </a:r>
            <a:r>
              <a:rPr lang="en-US" b="1" dirty="0" smtClean="0"/>
              <a:t>…</a:t>
            </a:r>
            <a:endParaRPr lang="en-US" dirty="0"/>
          </a:p>
        </p:txBody>
      </p:sp>
      <p:sp>
        <p:nvSpPr>
          <p:cNvPr id="3" name="Content Placeholder 2"/>
          <p:cNvSpPr>
            <a:spLocks noGrp="1"/>
          </p:cNvSpPr>
          <p:nvPr>
            <p:ph idx="1"/>
          </p:nvPr>
        </p:nvSpPr>
        <p:spPr>
          <a:solidFill>
            <a:srgbClr val="00B050"/>
          </a:solidFill>
        </p:spPr>
        <p:txBody>
          <a:bodyPr>
            <a:normAutofit fontScale="85000" lnSpcReduction="20000"/>
          </a:bodyPr>
          <a:lstStyle/>
          <a:p>
            <a:pPr>
              <a:buNone/>
            </a:pPr>
            <a:r>
              <a:rPr lang="en-US" b="1" dirty="0" smtClean="0"/>
              <a:t> Application and  Status of Foreign law</a:t>
            </a:r>
          </a:p>
          <a:p>
            <a:r>
              <a:rPr lang="en-US" dirty="0" smtClean="0"/>
              <a:t>Regarding status two approaches:</a:t>
            </a:r>
          </a:p>
          <a:p>
            <a:r>
              <a:rPr lang="en-US" b="1" dirty="0" smtClean="0"/>
              <a:t>Common law : foreign law seen as issue of fact</a:t>
            </a:r>
          </a:p>
          <a:p>
            <a:pPr lvl="1"/>
            <a:r>
              <a:rPr lang="en-US" dirty="0" smtClean="0"/>
              <a:t>Court will not take judicial notice of foreign law</a:t>
            </a:r>
          </a:p>
          <a:p>
            <a:pPr lvl="1"/>
            <a:r>
              <a:rPr lang="en-US" dirty="0" smtClean="0"/>
              <a:t>So burden to raise the issue of applicability of foreign law  and prove lies on the parties.</a:t>
            </a:r>
          </a:p>
          <a:p>
            <a:r>
              <a:rPr lang="en-US" dirty="0" smtClean="0"/>
              <a:t> Method of proof: By expert testimony</a:t>
            </a:r>
          </a:p>
          <a:p>
            <a:r>
              <a:rPr lang="en-US" dirty="0" smtClean="0"/>
              <a:t>Who is an expert?</a:t>
            </a:r>
          </a:p>
          <a:p>
            <a:r>
              <a:rPr lang="en-US" dirty="0" smtClean="0"/>
              <a:t>Expert testimony conclusive</a:t>
            </a:r>
          </a:p>
          <a:p>
            <a:r>
              <a:rPr lang="en-US" b="1" dirty="0" smtClean="0"/>
              <a:t>Failure to prove</a:t>
            </a:r>
            <a:r>
              <a:rPr lang="en-US" dirty="0" smtClean="0"/>
              <a:t>: results in dismissal of case or application of Forum law.</a:t>
            </a:r>
          </a:p>
          <a:p>
            <a:endParaRPr lang="en-US" dirty="0"/>
          </a:p>
        </p:txBody>
      </p:sp>
      <p:sp>
        <p:nvSpPr>
          <p:cNvPr id="4" name="Date Placeholder 3"/>
          <p:cNvSpPr>
            <a:spLocks noGrp="1"/>
          </p:cNvSpPr>
          <p:nvPr>
            <p:ph type="dt" sz="half" idx="10"/>
          </p:nvPr>
        </p:nvSpPr>
        <p:spPr/>
        <p:txBody>
          <a:bodyPr/>
          <a:lstStyle/>
          <a:p>
            <a:fld id="{C34EAFE5-4E60-4515-9FD4-8F4896B02587}"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34</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Foreign Law </a:t>
            </a:r>
            <a:r>
              <a:rPr lang="en-US" b="1" dirty="0" err="1" smtClean="0"/>
              <a:t>contd</a:t>
            </a:r>
            <a:r>
              <a:rPr lang="en-US" b="1" dirty="0" smtClean="0"/>
              <a:t>…</a:t>
            </a:r>
            <a:endParaRPr lang="en-US" dirty="0"/>
          </a:p>
        </p:txBody>
      </p:sp>
      <p:sp>
        <p:nvSpPr>
          <p:cNvPr id="3" name="Content Placeholder 2"/>
          <p:cNvSpPr>
            <a:spLocks noGrp="1"/>
          </p:cNvSpPr>
          <p:nvPr>
            <p:ph idx="1"/>
          </p:nvPr>
        </p:nvSpPr>
        <p:spPr>
          <a:solidFill>
            <a:srgbClr val="00B050"/>
          </a:solidFill>
        </p:spPr>
        <p:txBody>
          <a:bodyPr/>
          <a:lstStyle/>
          <a:p>
            <a:r>
              <a:rPr lang="en-US" dirty="0" smtClean="0"/>
              <a:t>Civil law:  Foreign law seen as </a:t>
            </a:r>
            <a:r>
              <a:rPr lang="en-US" b="1" dirty="0" smtClean="0"/>
              <a:t>issue of law</a:t>
            </a:r>
          </a:p>
          <a:p>
            <a:r>
              <a:rPr lang="en-US" dirty="0" smtClean="0"/>
              <a:t>Court takes judicial notice of foreign law</a:t>
            </a:r>
          </a:p>
          <a:p>
            <a:r>
              <a:rPr lang="en-US" dirty="0" smtClean="0"/>
              <a:t>Party are merely responsible to </a:t>
            </a:r>
            <a:r>
              <a:rPr lang="en-US" b="1" dirty="0" smtClean="0"/>
              <a:t>assist court </a:t>
            </a:r>
            <a:r>
              <a:rPr lang="en-US" dirty="0" smtClean="0"/>
              <a:t>in the proof.</a:t>
            </a:r>
          </a:p>
          <a:p>
            <a:r>
              <a:rPr lang="en-US" b="1" dirty="0" smtClean="0"/>
              <a:t>Method of proof</a:t>
            </a:r>
            <a:r>
              <a:rPr lang="en-US" dirty="0" smtClean="0"/>
              <a:t>: By reference to standard official documents of the foreign law and court practice,</a:t>
            </a:r>
          </a:p>
          <a:p>
            <a:r>
              <a:rPr lang="en-US" dirty="0" smtClean="0"/>
              <a:t>Expert testimony not conclusive</a:t>
            </a:r>
          </a:p>
          <a:p>
            <a:endParaRPr lang="en-US" dirty="0"/>
          </a:p>
        </p:txBody>
      </p:sp>
      <p:sp>
        <p:nvSpPr>
          <p:cNvPr id="4" name="Date Placeholder 3"/>
          <p:cNvSpPr>
            <a:spLocks noGrp="1"/>
          </p:cNvSpPr>
          <p:nvPr>
            <p:ph type="dt" sz="half" idx="10"/>
          </p:nvPr>
        </p:nvSpPr>
        <p:spPr/>
        <p:txBody>
          <a:bodyPr/>
          <a:lstStyle/>
          <a:p>
            <a:fld id="{0EFBAF1A-C568-4733-801F-419956E9B02C}"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35</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Criticism Against Classical Choice of Law Method</a:t>
            </a: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sz="4000" b="1" dirty="0" smtClean="0"/>
              <a:t>Criteria for evaluation of choice of law methods</a:t>
            </a:r>
            <a:r>
              <a:rPr lang="en-US" sz="4000" dirty="0" smtClean="0"/>
              <a:t>:</a:t>
            </a:r>
            <a:r>
              <a:rPr lang="en-US" dirty="0" smtClean="0"/>
              <a:t> Strength of a certain choice of law method can be measured based on:</a:t>
            </a:r>
          </a:p>
          <a:p>
            <a:pPr lvl="1"/>
            <a:r>
              <a:rPr lang="en-US" dirty="0" smtClean="0"/>
              <a:t>Utility ( simplicity in application)</a:t>
            </a:r>
          </a:p>
          <a:p>
            <a:pPr lvl="1"/>
            <a:r>
              <a:rPr lang="en-US" dirty="0" smtClean="0"/>
              <a:t> Certainty ( predictability of out come)</a:t>
            </a:r>
          </a:p>
          <a:p>
            <a:pPr lvl="1"/>
            <a:r>
              <a:rPr lang="en-US" dirty="0" smtClean="0"/>
              <a:t>Justice to the parties</a:t>
            </a:r>
          </a:p>
          <a:p>
            <a:pPr lvl="1">
              <a:buNone/>
            </a:pPr>
            <a:r>
              <a:rPr lang="en-US" sz="4000" b="1" dirty="0" smtClean="0"/>
              <a:t>The classical method criticized  Because </a:t>
            </a:r>
            <a:r>
              <a:rPr lang="en-US" dirty="0" smtClean="0"/>
              <a:t>:</a:t>
            </a:r>
          </a:p>
          <a:p>
            <a:r>
              <a:rPr lang="en-US" dirty="0" smtClean="0"/>
              <a:t>It is </a:t>
            </a:r>
            <a:r>
              <a:rPr lang="en-US" b="1" dirty="0" smtClean="0"/>
              <a:t>mechanical </a:t>
            </a:r>
            <a:r>
              <a:rPr lang="en-US" dirty="0" smtClean="0"/>
              <a:t>and do not take in to consideration policy factors</a:t>
            </a:r>
          </a:p>
          <a:p>
            <a:r>
              <a:rPr lang="en-US" dirty="0" smtClean="0"/>
              <a:t> </a:t>
            </a:r>
            <a:r>
              <a:rPr lang="en-US" b="1" dirty="0" smtClean="0"/>
              <a:t>Not easy to apply </a:t>
            </a:r>
            <a:r>
              <a:rPr lang="en-US" dirty="0" smtClean="0"/>
              <a:t>it is complicated</a:t>
            </a:r>
          </a:p>
          <a:p>
            <a:r>
              <a:rPr lang="en-US" dirty="0" smtClean="0"/>
              <a:t> </a:t>
            </a:r>
            <a:r>
              <a:rPr lang="en-US" b="1" dirty="0" smtClean="0"/>
              <a:t>Failed to achieve its stated objectives </a:t>
            </a:r>
            <a:r>
              <a:rPr lang="en-US" dirty="0" smtClean="0"/>
              <a:t>:  Because of connecting factor, </a:t>
            </a:r>
            <a:r>
              <a:rPr lang="en-US" dirty="0" err="1" smtClean="0"/>
              <a:t>Revoi</a:t>
            </a:r>
            <a:r>
              <a:rPr lang="en-US" dirty="0" smtClean="0"/>
              <a:t> etc problem Decisional harmony to avoid forum shopping not achieved</a:t>
            </a:r>
            <a:endParaRPr lang="en-US" dirty="0"/>
          </a:p>
        </p:txBody>
      </p:sp>
      <p:sp>
        <p:nvSpPr>
          <p:cNvPr id="4" name="Date Placeholder 3"/>
          <p:cNvSpPr>
            <a:spLocks noGrp="1"/>
          </p:cNvSpPr>
          <p:nvPr>
            <p:ph type="dt" sz="half" idx="10"/>
          </p:nvPr>
        </p:nvSpPr>
        <p:spPr/>
        <p:txBody>
          <a:bodyPr/>
          <a:lstStyle/>
          <a:p>
            <a:fld id="{46B77AB1-0D88-4296-8906-1F67C9E86A91}"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36</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Governmental Interest Analysis </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dirty="0" smtClean="0"/>
              <a:t>Also known the </a:t>
            </a:r>
            <a:r>
              <a:rPr lang="en-US" i="1" dirty="0" err="1" smtClean="0"/>
              <a:t>Lex</a:t>
            </a:r>
            <a:r>
              <a:rPr lang="en-US" i="1" dirty="0" smtClean="0"/>
              <a:t> </a:t>
            </a:r>
            <a:r>
              <a:rPr lang="en-US" i="1" dirty="0" err="1" smtClean="0"/>
              <a:t>fori</a:t>
            </a:r>
            <a:r>
              <a:rPr lang="en-US" dirty="0" smtClean="0"/>
              <a:t> (law of the forum or local law) theory.</a:t>
            </a:r>
          </a:p>
          <a:p>
            <a:r>
              <a:rPr lang="en-US" dirty="0" smtClean="0"/>
              <a:t>Developed by American scholars David Cavers, Brainerd </a:t>
            </a:r>
            <a:r>
              <a:rPr lang="en-US" dirty="0" err="1" smtClean="0"/>
              <a:t>Curre</a:t>
            </a:r>
            <a:r>
              <a:rPr lang="en-US" dirty="0" smtClean="0"/>
              <a:t>, and Robert </a:t>
            </a:r>
            <a:r>
              <a:rPr lang="en-US" dirty="0" err="1" smtClean="0"/>
              <a:t>Leflar</a:t>
            </a:r>
            <a:r>
              <a:rPr lang="en-US" dirty="0" smtClean="0"/>
              <a:t>,</a:t>
            </a:r>
          </a:p>
          <a:p>
            <a:r>
              <a:rPr lang="en-US" dirty="0" smtClean="0"/>
              <a:t>Only applicable in the USA</a:t>
            </a:r>
          </a:p>
          <a:p>
            <a:r>
              <a:rPr lang="en-US" dirty="0" smtClean="0"/>
              <a:t>Contend that Multistate case should be seen as a potential collision of laws</a:t>
            </a:r>
          </a:p>
          <a:p>
            <a:r>
              <a:rPr lang="en-US" dirty="0" smtClean="0"/>
              <a:t>Out come of choice of law process is determined by </a:t>
            </a:r>
          </a:p>
          <a:p>
            <a:pPr lvl="1"/>
            <a:r>
              <a:rPr lang="en-US" dirty="0" smtClean="0"/>
              <a:t>The policy underlying a rule of substantive law  and</a:t>
            </a:r>
          </a:p>
          <a:p>
            <a:pPr lvl="1"/>
            <a:r>
              <a:rPr lang="en-US" dirty="0" smtClean="0"/>
              <a:t> The interest a state might have in its  actual application</a:t>
            </a:r>
          </a:p>
          <a:p>
            <a:pPr>
              <a:buNone/>
            </a:pPr>
            <a:endParaRPr lang="en-US" dirty="0" smtClean="0"/>
          </a:p>
        </p:txBody>
      </p:sp>
      <p:sp>
        <p:nvSpPr>
          <p:cNvPr id="4" name="Date Placeholder 3"/>
          <p:cNvSpPr>
            <a:spLocks noGrp="1"/>
          </p:cNvSpPr>
          <p:nvPr>
            <p:ph type="dt" sz="half" idx="10"/>
          </p:nvPr>
        </p:nvSpPr>
        <p:spPr/>
        <p:txBody>
          <a:bodyPr/>
          <a:lstStyle/>
          <a:p>
            <a:fld id="{AF7C2C2F-F2FE-4941-B6EE-774129B51117}"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3600" b="1" dirty="0" smtClean="0"/>
              <a:t>Stages in choice of law by Government Analysis</a:t>
            </a:r>
            <a:endParaRPr lang="en-US" sz="3600" b="1" dirty="0"/>
          </a:p>
        </p:txBody>
      </p:sp>
      <p:sp>
        <p:nvSpPr>
          <p:cNvPr id="3" name="Content Placeholder 2"/>
          <p:cNvSpPr>
            <a:spLocks noGrp="1"/>
          </p:cNvSpPr>
          <p:nvPr>
            <p:ph idx="1"/>
          </p:nvPr>
        </p:nvSpPr>
        <p:spPr>
          <a:solidFill>
            <a:srgbClr val="00B050"/>
          </a:solidFill>
        </p:spPr>
        <p:txBody>
          <a:bodyPr/>
          <a:lstStyle/>
          <a:p>
            <a:pPr>
              <a:buNone/>
            </a:pPr>
            <a:r>
              <a:rPr lang="en-US" b="1" dirty="0" smtClean="0"/>
              <a:t>  Stage One</a:t>
            </a:r>
          </a:p>
          <a:p>
            <a:r>
              <a:rPr lang="en-US" dirty="0" smtClean="0"/>
              <a:t>Identify the issue and determine the contents of the various relevant substantive rules</a:t>
            </a:r>
          </a:p>
          <a:p>
            <a:r>
              <a:rPr lang="en-US" dirty="0" smtClean="0"/>
              <a:t>Compare if they lead to the same practical out come</a:t>
            </a:r>
          </a:p>
          <a:p>
            <a:r>
              <a:rPr lang="en-US" dirty="0" smtClean="0"/>
              <a:t>If so then, no conflict therefore no need for choice of law since it has no effect on out came of the case. </a:t>
            </a:r>
            <a:endParaRPr lang="en-US" dirty="0"/>
          </a:p>
        </p:txBody>
      </p:sp>
      <p:sp>
        <p:nvSpPr>
          <p:cNvPr id="4" name="Date Placeholder 3"/>
          <p:cNvSpPr>
            <a:spLocks noGrp="1"/>
          </p:cNvSpPr>
          <p:nvPr>
            <p:ph type="dt" sz="half" idx="10"/>
          </p:nvPr>
        </p:nvSpPr>
        <p:spPr/>
        <p:txBody>
          <a:bodyPr/>
          <a:lstStyle/>
          <a:p>
            <a:fld id="{CD1D24EF-E194-46D1-8B94-CF1FAAFBD729}"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38</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t/>
            </a:r>
            <a:br>
              <a:rPr lang="en-US" sz="3600" b="1" dirty="0" smtClean="0"/>
            </a:br>
            <a:r>
              <a:rPr lang="en-US" sz="3600" b="1" dirty="0" smtClean="0"/>
              <a:t/>
            </a:r>
            <a:br>
              <a:rPr lang="en-US" sz="3600" b="1" dirty="0" smtClean="0"/>
            </a:br>
            <a:r>
              <a:rPr lang="en-US" sz="3600" b="1" dirty="0" smtClean="0"/>
              <a:t>Stages in  Government Analysis </a:t>
            </a:r>
            <a:r>
              <a:rPr lang="en-US" sz="3600" b="1" dirty="0" err="1" smtClean="0"/>
              <a:t>contd</a:t>
            </a:r>
            <a:r>
              <a:rPr lang="en-US" sz="3600" b="1" dirty="0" smtClean="0"/>
              <a:t>…</a:t>
            </a:r>
            <a:r>
              <a:rPr lang="en-US" b="1" dirty="0" smtClean="0"/>
              <a:t/>
            </a:r>
            <a:br>
              <a:rPr lang="en-US" b="1" dirty="0" smtClean="0"/>
            </a:br>
            <a:endParaRPr lang="en-US" b="1" dirty="0"/>
          </a:p>
        </p:txBody>
      </p:sp>
      <p:sp>
        <p:nvSpPr>
          <p:cNvPr id="3" name="Content Placeholder 2"/>
          <p:cNvSpPr>
            <a:spLocks noGrp="1"/>
          </p:cNvSpPr>
          <p:nvPr>
            <p:ph idx="1"/>
          </p:nvPr>
        </p:nvSpPr>
        <p:spPr>
          <a:solidFill>
            <a:srgbClr val="00B050"/>
          </a:solidFill>
        </p:spPr>
        <p:txBody>
          <a:bodyPr>
            <a:normAutofit fontScale="85000" lnSpcReduction="20000"/>
          </a:bodyPr>
          <a:lstStyle/>
          <a:p>
            <a:pPr>
              <a:buNone/>
            </a:pPr>
            <a:r>
              <a:rPr lang="en-US" b="1" dirty="0" smtClean="0"/>
              <a:t>    Stage Two</a:t>
            </a:r>
          </a:p>
          <a:p>
            <a:r>
              <a:rPr lang="en-US" dirty="0" smtClean="0"/>
              <a:t>If there is difference in the substantive rules of decision then identify whether the case represents true or false conflict. </a:t>
            </a:r>
          </a:p>
          <a:p>
            <a:r>
              <a:rPr lang="en-US" dirty="0" smtClean="0"/>
              <a:t>To do so examine:</a:t>
            </a:r>
          </a:p>
          <a:p>
            <a:pPr lvl="1"/>
            <a:r>
              <a:rPr lang="en-US" dirty="0" smtClean="0"/>
              <a:t>The policy underlying each rule of decision</a:t>
            </a:r>
          </a:p>
          <a:p>
            <a:pPr lvl="1"/>
            <a:r>
              <a:rPr lang="en-US" dirty="0" smtClean="0"/>
              <a:t>The relation of each state to the dispute </a:t>
            </a:r>
          </a:p>
          <a:p>
            <a:r>
              <a:rPr lang="en-US" b="1" dirty="0" smtClean="0"/>
              <a:t>False conflict </a:t>
            </a:r>
            <a:r>
              <a:rPr lang="en-US" dirty="0" smtClean="0"/>
              <a:t>where only one state has interest resolve by applying the law of the state concerned</a:t>
            </a:r>
          </a:p>
          <a:p>
            <a:r>
              <a:rPr lang="en-US" b="1" dirty="0" smtClean="0"/>
              <a:t>True conflict</a:t>
            </a:r>
            <a:r>
              <a:rPr lang="en-US" dirty="0" smtClean="0"/>
              <a:t> where more than one state has interest , Very difficult to resolve.</a:t>
            </a:r>
            <a:endParaRPr lang="en-US" dirty="0"/>
          </a:p>
        </p:txBody>
      </p:sp>
      <p:sp>
        <p:nvSpPr>
          <p:cNvPr id="4" name="Date Placeholder 3"/>
          <p:cNvSpPr>
            <a:spLocks noGrp="1"/>
          </p:cNvSpPr>
          <p:nvPr>
            <p:ph type="dt" sz="half" idx="10"/>
          </p:nvPr>
        </p:nvSpPr>
        <p:spPr/>
        <p:txBody>
          <a:bodyPr/>
          <a:lstStyle/>
          <a:p>
            <a:fld id="{54E845F3-A1A2-4B3D-86B3-C9662391644B}"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39</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solidFill>
            <a:srgbClr val="00B050"/>
          </a:solidFill>
        </p:spPr>
        <p:txBody>
          <a:bodyPr>
            <a:normAutofit lnSpcReduction="10000"/>
          </a:bodyPr>
          <a:lstStyle/>
          <a:p>
            <a:r>
              <a:rPr lang="en-US" dirty="0" smtClean="0"/>
              <a:t>Basic law: Law of the forum</a:t>
            </a:r>
          </a:p>
          <a:p>
            <a:r>
              <a:rPr lang="en-US" dirty="0" smtClean="0"/>
              <a:t>Law of the forum displaced only where</a:t>
            </a:r>
          </a:p>
          <a:p>
            <a:pPr lvl="1"/>
            <a:r>
              <a:rPr lang="en-US" dirty="0" smtClean="0"/>
              <a:t>Justice to the parties so requires ,and</a:t>
            </a:r>
          </a:p>
          <a:p>
            <a:pPr lvl="1"/>
            <a:r>
              <a:rPr lang="en-US" dirty="0" smtClean="0"/>
              <a:t> higher governmental interest of foreign state requires </a:t>
            </a:r>
          </a:p>
          <a:p>
            <a:pPr lvl="1">
              <a:buNone/>
            </a:pPr>
            <a:r>
              <a:rPr lang="en-US" dirty="0" smtClean="0"/>
              <a:t>Forum = Foreign              Forum Law Applies</a:t>
            </a:r>
          </a:p>
          <a:p>
            <a:pPr lvl="1">
              <a:buNone/>
            </a:pPr>
            <a:r>
              <a:rPr lang="en-US" dirty="0" smtClean="0"/>
              <a:t>Forum &gt; Foreign              Forum law Applies </a:t>
            </a:r>
          </a:p>
          <a:p>
            <a:pPr lvl="1">
              <a:buNone/>
            </a:pPr>
            <a:r>
              <a:rPr lang="en-US" dirty="0" smtClean="0"/>
              <a:t>Forum &lt; Foreign              Foreign Law Applies</a:t>
            </a:r>
          </a:p>
          <a:p>
            <a:pPr lvl="1">
              <a:buNone/>
            </a:pPr>
            <a:r>
              <a:rPr lang="en-US" dirty="0" smtClean="0"/>
              <a:t>In Most cases the Forum law applies.</a:t>
            </a:r>
            <a:endParaRPr lang="en-US" dirty="0"/>
          </a:p>
        </p:txBody>
      </p:sp>
      <p:sp>
        <p:nvSpPr>
          <p:cNvPr id="4" name="Right Arrow 3"/>
          <p:cNvSpPr/>
          <p:nvPr/>
        </p:nvSpPr>
        <p:spPr>
          <a:xfrm>
            <a:off x="3505200" y="41148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a:off x="3505200" y="45720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505200" y="5029200"/>
            <a:ext cx="762000" cy="304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p:cNvSpPr>
            <a:spLocks noGrp="1"/>
          </p:cNvSpPr>
          <p:nvPr>
            <p:ph type="dt" sz="half" idx="10"/>
          </p:nvPr>
        </p:nvSpPr>
        <p:spPr/>
        <p:txBody>
          <a:bodyPr/>
          <a:lstStyle/>
          <a:p>
            <a:fld id="{A28B5D19-8892-463E-B807-26E0734AC710}" type="datetime1">
              <a:rPr lang="en-US" smtClean="0"/>
              <a:pPr/>
              <a:t>12/7/2017</a:t>
            </a:fld>
            <a:endParaRPr lang="en-US"/>
          </a:p>
        </p:txBody>
      </p:sp>
      <p:sp>
        <p:nvSpPr>
          <p:cNvPr id="8" name="Slide Number Placeholder 7"/>
          <p:cNvSpPr>
            <a:spLocks noGrp="1"/>
          </p:cNvSpPr>
          <p:nvPr>
            <p:ph type="sldNum" sz="quarter" idx="12"/>
          </p:nvPr>
        </p:nvSpPr>
        <p:spPr/>
        <p:txBody>
          <a:bodyPr/>
          <a:lstStyle/>
          <a:p>
            <a:fld id="{834BFF34-3419-4CE5-8DD6-F563781C8875}" type="slidenum">
              <a:rPr lang="en-US" smtClean="0"/>
              <a:pPr/>
              <a:t>40</a:t>
            </a:fld>
            <a:endParaRPr lang="en-US"/>
          </a:p>
        </p:txBody>
      </p:sp>
      <p:sp>
        <p:nvSpPr>
          <p:cNvPr id="9" name="Footer Placeholder 8"/>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3600" b="1" dirty="0" smtClean="0"/>
              <a:t>Babcock Vs. Jackson (1963)</a:t>
            </a:r>
            <a:br>
              <a:rPr lang="en-US" sz="3600" b="1" dirty="0" smtClean="0"/>
            </a:br>
            <a:r>
              <a:rPr lang="en-US" sz="3600" b="1" dirty="0" smtClean="0"/>
              <a:t> Court of Appeals of New York </a:t>
            </a:r>
            <a:r>
              <a:rPr lang="en-US" dirty="0" smtClean="0"/>
              <a:t/>
            </a:r>
            <a:br>
              <a:rPr lang="en-US" dirty="0" smtClean="0"/>
            </a:br>
            <a:endParaRPr lang="en-US" dirty="0"/>
          </a:p>
        </p:txBody>
      </p:sp>
      <p:sp>
        <p:nvSpPr>
          <p:cNvPr id="3" name="Content Placeholder 2"/>
          <p:cNvSpPr>
            <a:spLocks noGrp="1"/>
          </p:cNvSpPr>
          <p:nvPr>
            <p:ph idx="1"/>
          </p:nvPr>
        </p:nvSpPr>
        <p:spPr>
          <a:solidFill>
            <a:srgbClr val="00B050"/>
          </a:solidFill>
        </p:spPr>
        <p:txBody>
          <a:bodyPr>
            <a:normAutofit fontScale="70000" lnSpcReduction="20000"/>
          </a:bodyPr>
          <a:lstStyle/>
          <a:p>
            <a:r>
              <a:rPr lang="en-US" dirty="0" smtClean="0"/>
              <a:t>A husband and wife from New York went on a car trip with a friend Babcock to </a:t>
            </a:r>
            <a:r>
              <a:rPr lang="en-US" dirty="0" smtClean="0">
                <a:hlinkClick r:id="rId2" tooltip="Ontario"/>
              </a:rPr>
              <a:t>Ontario</a:t>
            </a:r>
            <a:r>
              <a:rPr lang="en-US" dirty="0" smtClean="0"/>
              <a:t>. While in Ontario they had a </a:t>
            </a:r>
            <a:r>
              <a:rPr lang="en-US" dirty="0" smtClean="0">
                <a:hlinkClick r:id="rId3" tooltip="Motor vehicle accident"/>
              </a:rPr>
              <a:t>motor vehicle accident</a:t>
            </a:r>
            <a:r>
              <a:rPr lang="en-US" dirty="0" smtClean="0"/>
              <a:t>. Babcock sued Jackson, the driver, claiming their negligence caused the car crash.</a:t>
            </a:r>
          </a:p>
          <a:p>
            <a:r>
              <a:rPr lang="en-US" dirty="0" smtClean="0"/>
              <a:t>New York recognizes Liability of host driver for negligence</a:t>
            </a:r>
          </a:p>
          <a:p>
            <a:r>
              <a:rPr lang="en-US" dirty="0" smtClean="0"/>
              <a:t>However, Ontario had a law that prohibited passengers from suing the driver. So  immunized him from suit by his guest.</a:t>
            </a:r>
          </a:p>
          <a:p>
            <a:r>
              <a:rPr lang="en-US" dirty="0" smtClean="0"/>
              <a:t>The court rejected a traditional  </a:t>
            </a:r>
            <a:r>
              <a:rPr lang="en-US" dirty="0" err="1" smtClean="0"/>
              <a:t>lex</a:t>
            </a:r>
            <a:r>
              <a:rPr lang="en-US" dirty="0" smtClean="0"/>
              <a:t> loci </a:t>
            </a:r>
            <a:r>
              <a:rPr lang="en-US" dirty="0" err="1" smtClean="0"/>
              <a:t>delicti</a:t>
            </a:r>
            <a:r>
              <a:rPr lang="en-US" dirty="0" smtClean="0"/>
              <a:t>  rule and instead, a process of weighing factors such as relationship between the party, decision to take the trip, connections to the locality. </a:t>
            </a:r>
          </a:p>
          <a:p>
            <a:r>
              <a:rPr lang="en-US" dirty="0" smtClean="0"/>
              <a:t>Thus, the Court held that the parties did not have substantial connection with Ontario and so it would be unfair to apply the law as the location was largely fortuitous. </a:t>
            </a:r>
          </a:p>
          <a:p>
            <a:r>
              <a:rPr lang="en-US" dirty="0" smtClean="0"/>
              <a:t>The Court found that the jurisdiction with the most connections was New York and so New York law should apply.</a:t>
            </a:r>
            <a:endParaRPr lang="en-US" dirty="0"/>
          </a:p>
        </p:txBody>
      </p:sp>
      <p:sp>
        <p:nvSpPr>
          <p:cNvPr id="4" name="Date Placeholder 3"/>
          <p:cNvSpPr>
            <a:spLocks noGrp="1"/>
          </p:cNvSpPr>
          <p:nvPr>
            <p:ph type="dt" sz="half" idx="10"/>
          </p:nvPr>
        </p:nvSpPr>
        <p:spPr/>
        <p:txBody>
          <a:bodyPr/>
          <a:lstStyle/>
          <a:p>
            <a:fld id="{4505092C-81BF-491E-B3CE-D3914BEC264E}"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41</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
            </a:r>
            <a:br>
              <a:rPr lang="en-US" sz="3200" b="1" dirty="0" smtClean="0"/>
            </a:br>
            <a:r>
              <a:rPr lang="en-US" sz="3200" b="1" dirty="0" smtClean="0"/>
              <a:t>Critics Against Government Interest Analysis</a:t>
            </a:r>
            <a:endParaRPr lang="en-US" sz="3200" b="1" dirty="0"/>
          </a:p>
        </p:txBody>
      </p:sp>
      <p:sp>
        <p:nvSpPr>
          <p:cNvPr id="3" name="Content Placeholder 2"/>
          <p:cNvSpPr>
            <a:spLocks noGrp="1"/>
          </p:cNvSpPr>
          <p:nvPr>
            <p:ph idx="1"/>
          </p:nvPr>
        </p:nvSpPr>
        <p:spPr>
          <a:solidFill>
            <a:srgbClr val="00B050"/>
          </a:solidFill>
        </p:spPr>
        <p:txBody>
          <a:bodyPr/>
          <a:lstStyle/>
          <a:p>
            <a:r>
              <a:rPr lang="en-US" dirty="0" smtClean="0"/>
              <a:t>It is difficult to find governmental interest in each and every private dispute</a:t>
            </a:r>
          </a:p>
          <a:p>
            <a:r>
              <a:rPr lang="en-US" dirty="0" smtClean="0"/>
              <a:t>Policy behind rules is difficult to ascertain</a:t>
            </a:r>
          </a:p>
          <a:p>
            <a:r>
              <a:rPr lang="en-US" dirty="0" smtClean="0"/>
              <a:t>How to measure policies?</a:t>
            </a:r>
          </a:p>
          <a:p>
            <a:r>
              <a:rPr lang="en-US" dirty="0" smtClean="0"/>
              <a:t>“All roads lead to home”</a:t>
            </a:r>
          </a:p>
          <a:p>
            <a:endParaRPr lang="en-US" dirty="0" smtClean="0"/>
          </a:p>
          <a:p>
            <a:endParaRPr lang="en-US" dirty="0"/>
          </a:p>
        </p:txBody>
      </p:sp>
      <p:sp>
        <p:nvSpPr>
          <p:cNvPr id="4" name="Date Placeholder 3"/>
          <p:cNvSpPr>
            <a:spLocks noGrp="1"/>
          </p:cNvSpPr>
          <p:nvPr>
            <p:ph type="dt" sz="half" idx="10"/>
          </p:nvPr>
        </p:nvSpPr>
        <p:spPr/>
        <p:txBody>
          <a:bodyPr/>
          <a:lstStyle/>
          <a:p>
            <a:fld id="{9B5598FF-A44C-405A-BCD9-38E0ECD3A18F}"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42</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
            </a:r>
            <a:br>
              <a:rPr lang="en-US" sz="3600" dirty="0" smtClean="0"/>
            </a:br>
            <a:r>
              <a:rPr lang="en-US" sz="4000" b="1" dirty="0" smtClean="0"/>
              <a:t>Choice of law In a Federal set up</a:t>
            </a:r>
            <a:endParaRPr lang="en-US" sz="4000" b="1" dirty="0"/>
          </a:p>
        </p:txBody>
      </p:sp>
      <p:sp>
        <p:nvSpPr>
          <p:cNvPr id="3" name="Content Placeholder 2"/>
          <p:cNvSpPr>
            <a:spLocks noGrp="1"/>
          </p:cNvSpPr>
          <p:nvPr>
            <p:ph idx="1"/>
          </p:nvPr>
        </p:nvSpPr>
        <p:spPr>
          <a:solidFill>
            <a:srgbClr val="00B050"/>
          </a:solidFill>
        </p:spPr>
        <p:txBody>
          <a:bodyPr/>
          <a:lstStyle/>
          <a:p>
            <a:r>
              <a:rPr lang="en-US" dirty="0" smtClean="0"/>
              <a:t>The American  Experience</a:t>
            </a:r>
          </a:p>
          <a:p>
            <a:pPr>
              <a:buNone/>
            </a:pPr>
            <a:r>
              <a:rPr lang="en-US" dirty="0" smtClean="0"/>
              <a:t>Constitutional limitations on choice of law</a:t>
            </a:r>
          </a:p>
          <a:p>
            <a:r>
              <a:rPr lang="en-US" dirty="0" smtClean="0"/>
              <a:t>Full faith and credit clause</a:t>
            </a:r>
          </a:p>
          <a:p>
            <a:r>
              <a:rPr lang="en-US" dirty="0" smtClean="0"/>
              <a:t>Due process clause</a:t>
            </a:r>
          </a:p>
          <a:p>
            <a:r>
              <a:rPr lang="en-US" dirty="0" smtClean="0"/>
              <a:t>Equal Protection clause</a:t>
            </a:r>
          </a:p>
          <a:p>
            <a:r>
              <a:rPr lang="en-US" dirty="0" smtClean="0"/>
              <a:t>Privileges and immunities clause</a:t>
            </a:r>
          </a:p>
          <a:p>
            <a:endParaRPr lang="en-US" dirty="0" smtClean="0"/>
          </a:p>
          <a:p>
            <a:endParaRPr lang="en-US" dirty="0"/>
          </a:p>
        </p:txBody>
      </p:sp>
      <p:sp>
        <p:nvSpPr>
          <p:cNvPr id="4" name="Date Placeholder 3"/>
          <p:cNvSpPr>
            <a:spLocks noGrp="1"/>
          </p:cNvSpPr>
          <p:nvPr>
            <p:ph type="dt" sz="half" idx="10"/>
          </p:nvPr>
        </p:nvSpPr>
        <p:spPr/>
        <p:txBody>
          <a:bodyPr/>
          <a:lstStyle/>
          <a:p>
            <a:fld id="{B92353EA-5E68-4864-ACFD-C4C9FC5D54B7}"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43</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Choice of law in the FDRE</a:t>
            </a:r>
            <a:endParaRPr lang="en-US" dirty="0"/>
          </a:p>
        </p:txBody>
      </p:sp>
      <p:sp>
        <p:nvSpPr>
          <p:cNvPr id="3" name="Content Placeholder 2"/>
          <p:cNvSpPr>
            <a:spLocks noGrp="1"/>
          </p:cNvSpPr>
          <p:nvPr>
            <p:ph idx="1"/>
          </p:nvPr>
        </p:nvSpPr>
        <p:spPr>
          <a:solidFill>
            <a:srgbClr val="00B050"/>
          </a:solidFill>
        </p:spPr>
        <p:txBody>
          <a:bodyPr>
            <a:normAutofit fontScale="85000" lnSpcReduction="10000"/>
          </a:bodyPr>
          <a:lstStyle/>
          <a:p>
            <a:r>
              <a:rPr lang="en-US" dirty="0" smtClean="0"/>
              <a:t>As regards choice of law the accepted rule is federal court must in diversity cases apply the conflict of law rules of the state in which it is sitting.</a:t>
            </a:r>
          </a:p>
          <a:p>
            <a:r>
              <a:rPr lang="en-US" dirty="0" smtClean="0"/>
              <a:t>The court may refuse to apply the conflict rules of the state if they are inconsistent with the constitution.</a:t>
            </a:r>
          </a:p>
          <a:p>
            <a:r>
              <a:rPr lang="en-US" dirty="0" smtClean="0"/>
              <a:t>Critics to help develop uniform body of law federal courts should ignore conflict of law rules of state and apply their own federal conflict rules. And decide for itself which state’s substantive law should apply.</a:t>
            </a:r>
            <a:endParaRPr lang="en-US" dirty="0"/>
          </a:p>
        </p:txBody>
      </p:sp>
      <p:sp>
        <p:nvSpPr>
          <p:cNvPr id="4" name="Date Placeholder 3"/>
          <p:cNvSpPr>
            <a:spLocks noGrp="1"/>
          </p:cNvSpPr>
          <p:nvPr>
            <p:ph type="dt" sz="half" idx="10"/>
          </p:nvPr>
        </p:nvSpPr>
        <p:spPr/>
        <p:txBody>
          <a:bodyPr/>
          <a:lstStyle/>
          <a:p>
            <a:fld id="{FFA2603C-E5DF-4CDF-8EF3-6B5E54042096}"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44</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Choice of law in the FDRE </a:t>
            </a:r>
            <a:r>
              <a:rPr lang="en-US" sz="3600" b="1" dirty="0" err="1" smtClean="0"/>
              <a:t>contd</a:t>
            </a:r>
            <a:r>
              <a:rPr lang="en-US" sz="3600" b="1" dirty="0" smtClean="0"/>
              <a:t>…</a:t>
            </a:r>
            <a:endParaRPr lang="en-US" sz="3600" b="1" dirty="0"/>
          </a:p>
        </p:txBody>
      </p:sp>
      <p:sp>
        <p:nvSpPr>
          <p:cNvPr id="3" name="Content Placeholder 2"/>
          <p:cNvSpPr>
            <a:spLocks noGrp="1"/>
          </p:cNvSpPr>
          <p:nvPr>
            <p:ph idx="1"/>
          </p:nvPr>
        </p:nvSpPr>
        <p:spPr>
          <a:solidFill>
            <a:srgbClr val="00B050"/>
          </a:solidFill>
        </p:spPr>
        <p:txBody>
          <a:bodyPr>
            <a:normAutofit fontScale="85000" lnSpcReduction="20000"/>
          </a:bodyPr>
          <a:lstStyle/>
          <a:p>
            <a:r>
              <a:rPr lang="en-US" sz="3300" b="1" dirty="0" smtClean="0"/>
              <a:t>Law Applied in Diversity Cases</a:t>
            </a:r>
          </a:p>
          <a:p>
            <a:r>
              <a:rPr lang="en-US" i="1" dirty="0" smtClean="0"/>
              <a:t>Proclamation no. 25/1996</a:t>
            </a:r>
          </a:p>
          <a:p>
            <a:r>
              <a:rPr lang="en-US" i="1" dirty="0" smtClean="0"/>
              <a:t>Art.6 Substantive Laws to be Applied by Federal </a:t>
            </a:r>
            <a:r>
              <a:rPr lang="en-US" i="1" dirty="0" err="1" smtClean="0"/>
              <a:t>CoUIts</a:t>
            </a:r>
            <a:endParaRPr lang="en-US" i="1" dirty="0" smtClean="0"/>
          </a:p>
          <a:p>
            <a:r>
              <a:rPr lang="en-US" dirty="0" smtClean="0"/>
              <a:t>1) Federal Courts shall settle cases or disputes, submitted to them within their jurisdiction on the basis of:</a:t>
            </a:r>
          </a:p>
          <a:p>
            <a:pPr lvl="1"/>
            <a:r>
              <a:rPr lang="en-US" dirty="0" smtClean="0"/>
              <a:t>(a) Federal laws and international treaties;</a:t>
            </a:r>
          </a:p>
          <a:p>
            <a:pPr lvl="1"/>
            <a:r>
              <a:rPr lang="en-US" dirty="0" smtClean="0"/>
              <a:t>(b) Regional  laws where the cases relate to same;</a:t>
            </a:r>
          </a:p>
          <a:p>
            <a:r>
              <a:rPr lang="en-US" dirty="0" smtClean="0"/>
              <a:t>2) Regional laws to be applied pursuant to sub-Article (1)(b) hereof shall not be  applicable where they are inconsistent with Federal laws and international treaties.</a:t>
            </a:r>
            <a:endParaRPr lang="en-US" dirty="0"/>
          </a:p>
        </p:txBody>
      </p:sp>
      <p:sp>
        <p:nvSpPr>
          <p:cNvPr id="4" name="Date Placeholder 3"/>
          <p:cNvSpPr>
            <a:spLocks noGrp="1"/>
          </p:cNvSpPr>
          <p:nvPr>
            <p:ph type="dt" sz="half" idx="10"/>
          </p:nvPr>
        </p:nvSpPr>
        <p:spPr/>
        <p:txBody>
          <a:bodyPr/>
          <a:lstStyle/>
          <a:p>
            <a:fld id="{C5A01C53-B2CB-4C31-BAB2-FD983298D3F9}"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45</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 b/n state and federal law</a:t>
            </a:r>
            <a:endParaRPr lang="en-US" dirty="0"/>
          </a:p>
        </p:txBody>
      </p:sp>
      <p:sp>
        <p:nvSpPr>
          <p:cNvPr id="3" name="Content Placeholder 2"/>
          <p:cNvSpPr>
            <a:spLocks noGrp="1"/>
          </p:cNvSpPr>
          <p:nvPr>
            <p:ph idx="1"/>
          </p:nvPr>
        </p:nvSpPr>
        <p:spPr>
          <a:solidFill>
            <a:srgbClr val="00B050"/>
          </a:solidFill>
        </p:spPr>
        <p:txBody>
          <a:bodyPr>
            <a:normAutofit fontScale="92500" lnSpcReduction="20000"/>
          </a:bodyPr>
          <a:lstStyle/>
          <a:p>
            <a:r>
              <a:rPr lang="en-US" dirty="0" smtClean="0"/>
              <a:t>Art.6 of US Const state laws are subordinate to federal laws</a:t>
            </a:r>
          </a:p>
          <a:p>
            <a:r>
              <a:rPr lang="en-US" dirty="0" smtClean="0"/>
              <a:t>Art.254 of Indian Constitution on concurrent jurisdiction when conflict arises Union law prevails</a:t>
            </a:r>
          </a:p>
          <a:p>
            <a:r>
              <a:rPr lang="en-US" dirty="0" smtClean="0"/>
              <a:t>No clear hierarchy made in Ethiopian constitution  b/n state and federal laws in concurrent jurisdiction.</a:t>
            </a:r>
          </a:p>
          <a:p>
            <a:r>
              <a:rPr lang="en-US" dirty="0" smtClean="0"/>
              <a:t>But procl.25/96 Art.6(2)  federal law prevails.</a:t>
            </a:r>
          </a:p>
          <a:p>
            <a:r>
              <a:rPr lang="en-US" dirty="0" smtClean="0"/>
              <a:t>Art.9 Draft  conflict of laws Federal law prevails.</a:t>
            </a:r>
          </a:p>
          <a:p>
            <a:endParaRPr lang="en-US" dirty="0"/>
          </a:p>
        </p:txBody>
      </p:sp>
      <p:sp>
        <p:nvSpPr>
          <p:cNvPr id="4" name="Date Placeholder 3"/>
          <p:cNvSpPr>
            <a:spLocks noGrp="1"/>
          </p:cNvSpPr>
          <p:nvPr>
            <p:ph type="dt" sz="half" idx="10"/>
          </p:nvPr>
        </p:nvSpPr>
        <p:spPr/>
        <p:txBody>
          <a:bodyPr/>
          <a:lstStyle/>
          <a:p>
            <a:fld id="{F2FB16C2-A361-4580-AE74-8F0BBB3972E0}"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46</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29FDFFA0-E092-4F9C-8004-0E3C33A72574}"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47</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Date Placeholder 3"/>
          <p:cNvSpPr>
            <a:spLocks noGrp="1"/>
          </p:cNvSpPr>
          <p:nvPr>
            <p:ph type="dt" sz="half" idx="10"/>
          </p:nvPr>
        </p:nvSpPr>
        <p:spPr/>
        <p:txBody>
          <a:bodyPr/>
          <a:lstStyle/>
          <a:p>
            <a:fld id="{7DCB836C-D600-433C-8698-A092CDCB9A2B}" type="datetime1">
              <a:rPr lang="en-US" smtClean="0"/>
              <a:pPr/>
              <a:t>12/7/2017</a:t>
            </a:fld>
            <a:endParaRPr lang="en-US"/>
          </a:p>
        </p:txBody>
      </p:sp>
      <p:sp>
        <p:nvSpPr>
          <p:cNvPr id="5" name="Slide Number Placeholder 4"/>
          <p:cNvSpPr>
            <a:spLocks noGrp="1"/>
          </p:cNvSpPr>
          <p:nvPr>
            <p:ph type="sldNum" sz="quarter" idx="12"/>
          </p:nvPr>
        </p:nvSpPr>
        <p:spPr/>
        <p:txBody>
          <a:bodyPr/>
          <a:lstStyle/>
          <a:p>
            <a:fld id="{834BFF34-3419-4CE5-8DD6-F563781C8875}" type="slidenum">
              <a:rPr lang="en-US" smtClean="0"/>
              <a:pPr/>
              <a:t>48</a:t>
            </a:fld>
            <a:endParaRPr lang="en-US"/>
          </a:p>
        </p:txBody>
      </p:sp>
      <p:sp>
        <p:nvSpPr>
          <p:cNvPr id="6" name="Footer Placeholder 5"/>
          <p:cNvSpPr>
            <a:spLocks noGrp="1"/>
          </p:cNvSpPr>
          <p:nvPr>
            <p:ph type="ftr" sz="quarter" idx="11"/>
          </p:nvPr>
        </p:nvSpPr>
        <p:spPr/>
        <p:txBody>
          <a:bodyPr/>
          <a:lstStyle/>
          <a:p>
            <a:r>
              <a:rPr lang="en-US" smtClean="0"/>
              <a:t>Conflict of Laws PPT Sultan Kassim HUCOL</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1097</TotalTime>
  <Words>4061</Words>
  <Application>Microsoft Office PowerPoint</Application>
  <PresentationFormat>On-screen Show (4:3)</PresentationFormat>
  <Paragraphs>447</Paragraphs>
  <Slides>48</Slides>
  <Notes>1</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Chapter Three Choice of Law</vt:lpstr>
      <vt:lpstr>Choice of Law Methods</vt:lpstr>
      <vt:lpstr>Choice of Law Methods cntd…</vt:lpstr>
      <vt:lpstr>3.1. The Classical Choice of Law Method</vt:lpstr>
      <vt:lpstr>The Classical Method contd…</vt:lpstr>
      <vt:lpstr>The Classical Method contd…</vt:lpstr>
      <vt:lpstr>3.2. The General Part in the classical choice of law method</vt:lpstr>
      <vt:lpstr>3.2.1. Characterization</vt:lpstr>
      <vt:lpstr>Characterization contd…</vt:lpstr>
      <vt:lpstr>Characterization contd…</vt:lpstr>
      <vt:lpstr>1. Subject matter Characterization</vt:lpstr>
      <vt:lpstr>Subject matter contd..</vt:lpstr>
      <vt:lpstr>Subject matter contd…</vt:lpstr>
      <vt:lpstr>Subject matter contd…</vt:lpstr>
      <vt:lpstr>Subject matter contd…</vt:lpstr>
      <vt:lpstr>2. Connecting Factors</vt:lpstr>
      <vt:lpstr>Connecting factors contd…</vt:lpstr>
      <vt:lpstr>3. Substance - Procedure Characterization</vt:lpstr>
      <vt:lpstr>3.2.2. Renvoi (refer back)</vt:lpstr>
      <vt:lpstr>PowerPoint Presentation</vt:lpstr>
      <vt:lpstr>Hypothetical Example</vt:lpstr>
      <vt:lpstr>Approaches to resolve renvoi</vt:lpstr>
      <vt:lpstr>Approaches to resolve renvoi contd…</vt:lpstr>
      <vt:lpstr>PowerPoint Presentation</vt:lpstr>
      <vt:lpstr>Indirect  renvoi</vt:lpstr>
      <vt:lpstr>indirect  renvoi</vt:lpstr>
      <vt:lpstr>Double renvoi</vt:lpstr>
      <vt:lpstr>Evasion/ Fraud</vt:lpstr>
      <vt:lpstr>Evasion Contd…</vt:lpstr>
      <vt:lpstr>Exclusion of Foreign Law</vt:lpstr>
      <vt:lpstr>PowerPoint Presentation</vt:lpstr>
      <vt:lpstr>The Incidental Question  </vt:lpstr>
      <vt:lpstr>Foreign Law</vt:lpstr>
      <vt:lpstr>Foreign Law contd…</vt:lpstr>
      <vt:lpstr>Foreign Law contd…</vt:lpstr>
      <vt:lpstr>Criticism Against Classical Choice of Law Method</vt:lpstr>
      <vt:lpstr>The Governmental Interest Analysis </vt:lpstr>
      <vt:lpstr> Stages in choice of law by Government Analysis</vt:lpstr>
      <vt:lpstr>  Stages in  Government Analysis contd… </vt:lpstr>
      <vt:lpstr>PowerPoint Presentation</vt:lpstr>
      <vt:lpstr> Babcock Vs. Jackson (1963)  Court of Appeals of New York  </vt:lpstr>
      <vt:lpstr> Critics Against Government Interest Analysis</vt:lpstr>
      <vt:lpstr> Choice of law In a Federal set up</vt:lpstr>
      <vt:lpstr>Choice of law in the FDRE</vt:lpstr>
      <vt:lpstr>Choice of law in the FDRE contd…</vt:lpstr>
      <vt:lpstr>Relation b/n state and federal law</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Three Choice of Law</dc:title>
  <dc:creator>user</dc:creator>
  <cp:lastModifiedBy>Students Union</cp:lastModifiedBy>
  <cp:revision>146</cp:revision>
  <dcterms:created xsi:type="dcterms:W3CDTF">2011-03-05T16:27:59Z</dcterms:created>
  <dcterms:modified xsi:type="dcterms:W3CDTF">2017-12-07T17:37:57Z</dcterms:modified>
</cp:coreProperties>
</file>