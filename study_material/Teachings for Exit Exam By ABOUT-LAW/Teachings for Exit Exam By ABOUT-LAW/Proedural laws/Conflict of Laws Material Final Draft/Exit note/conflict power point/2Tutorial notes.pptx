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480" y="4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92FA12-A1F3-45BC-A505-59B8D24A4CCF}" type="datetimeFigureOut">
              <a:rPr lang="en-US" smtClean="0"/>
              <a:t>12/7/2017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E21E8B-147F-45DD-8FEE-A1433CEDB956}" type="slidenum">
              <a:rPr lang="en-US" smtClean="0"/>
              <a:t>‹#›</a:t>
            </a:fld>
            <a:endParaRPr lang="en-US"/>
          </a:p>
        </p:txBody>
      </p:sp>
    </p:spTree>
    <p:extLst>
      <p:ext uri="{BB962C8B-B14F-4D97-AF65-F5344CB8AC3E}">
        <p14:creationId xmlns:p14="http://schemas.microsoft.com/office/powerpoint/2010/main" val="2864292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E21E8B-147F-45DD-8FEE-A1433CEDB956}" type="slidenum">
              <a:rPr lang="en-US" smtClean="0"/>
              <a:t>25</a:t>
            </a:fld>
            <a:endParaRPr lang="en-US"/>
          </a:p>
        </p:txBody>
      </p:sp>
    </p:spTree>
    <p:extLst>
      <p:ext uri="{BB962C8B-B14F-4D97-AF65-F5344CB8AC3E}">
        <p14:creationId xmlns:p14="http://schemas.microsoft.com/office/powerpoint/2010/main" val="3586688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B5564C9-6270-4376-B337-2959AA89FF2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5564C9-6270-4376-B337-2959AA89FF2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5564C9-6270-4376-B337-2959AA89FF2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B5564C9-6270-4376-B337-2959AA89FF24}" type="datetimeFigureOut">
              <a:rPr lang="en-US" smtClean="0"/>
              <a:pPr/>
              <a:t>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B5564C9-6270-4376-B337-2959AA89FF24}" type="datetimeFigureOut">
              <a:rPr lang="en-US" smtClean="0"/>
              <a:pPr/>
              <a:t>12/7/2017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B5564C9-6270-4376-B337-2959AA89FF24}" type="datetimeFigureOut">
              <a:rPr lang="en-US" smtClean="0"/>
              <a:pPr/>
              <a:t>12/7/2017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5564C9-6270-4376-B337-2959AA89FF24}" type="datetimeFigureOut">
              <a:rPr lang="en-US" smtClean="0"/>
              <a:pPr/>
              <a:t>12/7/2017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5564C9-6270-4376-B337-2959AA89FF24}" type="datetimeFigureOut">
              <a:rPr lang="en-US" smtClean="0"/>
              <a:pPr/>
              <a:t>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5564C9-6270-4376-B337-2959AA89FF24}" type="datetimeFigureOut">
              <a:rPr lang="en-US" smtClean="0"/>
              <a:pPr/>
              <a:t>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5564C9-6270-4376-B337-2959AA89FF2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5564C9-6270-4376-B337-2959AA89FF2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BA078-93A9-4C6D-A63C-055E6642AC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5564C9-6270-4376-B337-2959AA89FF24}" type="datetimeFigureOut">
              <a:rPr lang="en-US" smtClean="0"/>
              <a:pPr/>
              <a:t>12/7/2017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ABA078-93A9-4C6D-A63C-055E6642ACB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Conflict of Laws </a:t>
            </a:r>
            <a:br>
              <a:rPr lang="en-US" dirty="0" smtClean="0"/>
            </a:br>
            <a:r>
              <a:rPr lang="en-US" dirty="0" smtClean="0"/>
              <a:t>Tutorial Notes </a:t>
            </a:r>
            <a:endParaRPr lang="en-US" dirty="0"/>
          </a:p>
        </p:txBody>
      </p:sp>
      <p:sp>
        <p:nvSpPr>
          <p:cNvPr id="3" name="Subtitle 2"/>
          <p:cNvSpPr>
            <a:spLocks noGrp="1"/>
          </p:cNvSpPr>
          <p:nvPr>
            <p:ph type="subTitle" idx="1"/>
          </p:nvPr>
        </p:nvSpPr>
        <p:spPr/>
        <p:txBody>
          <a:bodyPr/>
          <a:lstStyle/>
          <a:p>
            <a:r>
              <a:rPr lang="en-US" dirty="0" smtClean="0"/>
              <a:t>Prepared By: Sultan Kassim</a:t>
            </a:r>
          </a:p>
          <a:p>
            <a:r>
              <a:rPr lang="en-US" dirty="0" smtClean="0"/>
              <a:t>Haramaya</a:t>
            </a:r>
          </a:p>
          <a:p>
            <a:r>
              <a:rPr lang="en-US" dirty="0" smtClean="0"/>
              <a:t>March,2011</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Chapter One</a:t>
            </a:r>
            <a:br>
              <a:rPr lang="en-US" dirty="0" smtClean="0"/>
            </a:br>
            <a:r>
              <a:rPr lang="en-US" dirty="0" smtClean="0"/>
              <a:t> General Introduction On Conflicts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Various names have been suggested to refer to the subject but each are inadequate to describe it</a:t>
            </a:r>
          </a:p>
          <a:p>
            <a:r>
              <a:rPr lang="en-US" dirty="0" smtClean="0"/>
              <a:t>Does not have a universally agreed up on definition</a:t>
            </a:r>
          </a:p>
          <a:p>
            <a:r>
              <a:rPr lang="en-US" dirty="0" smtClean="0"/>
              <a:t>Robert Allen </a:t>
            </a:r>
            <a:r>
              <a:rPr lang="en-US" dirty="0" err="1" smtClean="0"/>
              <a:t>Sedler</a:t>
            </a:r>
            <a:r>
              <a:rPr lang="en-US" dirty="0" smtClean="0"/>
              <a:t> Defines :</a:t>
            </a:r>
          </a:p>
          <a:p>
            <a:pPr lvl="1"/>
            <a:r>
              <a:rPr lang="en-US" dirty="0" smtClean="0"/>
              <a:t>“ that body of law that determines whether the forum will give effect to the laws of another state where the case that is adjudicated contains a </a:t>
            </a:r>
            <a:r>
              <a:rPr lang="en-US" i="1" dirty="0" smtClean="0"/>
              <a:t>foreign element.”</a:t>
            </a:r>
          </a:p>
          <a:p>
            <a:pPr lvl="1"/>
            <a:r>
              <a:rPr lang="en-US" b="1" dirty="0" smtClean="0"/>
              <a:t>When does a case contains a foreign element?</a:t>
            </a:r>
          </a:p>
          <a:p>
            <a:pPr lvl="1"/>
            <a:r>
              <a:rPr lang="en-US" dirty="0" smtClean="0"/>
              <a:t>Three grounds: </a:t>
            </a:r>
          </a:p>
          <a:p>
            <a:pPr lvl="1">
              <a:buNone/>
            </a:pPr>
            <a:r>
              <a:rPr lang="en-US" dirty="0" smtClean="0"/>
              <a:t>	1. When the </a:t>
            </a:r>
            <a:r>
              <a:rPr lang="en-US" b="1" dirty="0" smtClean="0"/>
              <a:t>events</a:t>
            </a:r>
            <a:r>
              <a:rPr lang="en-US" dirty="0" smtClean="0"/>
              <a:t> giving rise to the litigation occurred partially or totally in foreign lands or;</a:t>
            </a:r>
          </a:p>
          <a:p>
            <a:pPr lvl="1">
              <a:buNone/>
            </a:pPr>
            <a:r>
              <a:rPr lang="en-US" dirty="0" smtClean="0"/>
              <a:t>	2. When the </a:t>
            </a:r>
            <a:r>
              <a:rPr lang="en-US" b="1" dirty="0" smtClean="0"/>
              <a:t>Parties</a:t>
            </a:r>
            <a:r>
              <a:rPr lang="en-US" dirty="0" smtClean="0"/>
              <a:t> to the dispute are domiciliary, nationals or residents of different states; or </a:t>
            </a:r>
          </a:p>
          <a:p>
            <a:pPr lvl="1">
              <a:buNone/>
            </a:pPr>
            <a:r>
              <a:rPr lang="en-US" dirty="0" smtClean="0"/>
              <a:t>	3. When the </a:t>
            </a:r>
            <a:r>
              <a:rPr lang="en-US" b="1" dirty="0" smtClean="0"/>
              <a:t>property ( subject matter of the dispute)</a:t>
            </a:r>
            <a:r>
              <a:rPr lang="en-US" dirty="0" smtClean="0"/>
              <a:t> is </a:t>
            </a:r>
            <a:r>
              <a:rPr lang="en-US" b="1" dirty="0" smtClean="0"/>
              <a:t>situated </a:t>
            </a:r>
            <a:r>
              <a:rPr lang="en-US" dirty="0" smtClean="0"/>
              <a:t> outside the forum.</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a:buNone/>
            </a:pPr>
            <a:r>
              <a:rPr lang="en-US" b="1" dirty="0" smtClean="0"/>
              <a:t>A. Nature</a:t>
            </a:r>
          </a:p>
          <a:p>
            <a:r>
              <a:rPr lang="en-US" dirty="0" smtClean="0"/>
              <a:t>1. Conflict of law rules </a:t>
            </a:r>
            <a:r>
              <a:rPr lang="en-US" b="1" dirty="0" smtClean="0"/>
              <a:t>does not by themselves dispose </a:t>
            </a:r>
            <a:r>
              <a:rPr lang="en-US" dirty="0" smtClean="0"/>
              <a:t>of a case with substantive remedy. They simply indicate the law through which final remedy could be obtained</a:t>
            </a:r>
          </a:p>
          <a:p>
            <a:r>
              <a:rPr lang="en-US" dirty="0" smtClean="0"/>
              <a:t>2. Is not concerned with </a:t>
            </a:r>
            <a:r>
              <a:rPr lang="en-US" b="1" dirty="0" smtClean="0"/>
              <a:t>public cases </a:t>
            </a:r>
            <a:r>
              <a:rPr lang="en-US" dirty="0" smtClean="0"/>
              <a:t>like criminal, revenue, customs, constitutional and administrative cases. It deals with disputes of private nature.</a:t>
            </a:r>
          </a:p>
          <a:p>
            <a:r>
              <a:rPr lang="en-US" dirty="0" smtClean="0"/>
              <a:t>3. It is </a:t>
            </a:r>
            <a:r>
              <a:rPr lang="en-US" b="1" dirty="0" smtClean="0"/>
              <a:t>basically a national law </a:t>
            </a:r>
            <a:r>
              <a:rPr lang="en-US" dirty="0" smtClean="0"/>
              <a:t>made by each country. </a:t>
            </a:r>
          </a:p>
          <a:p>
            <a:r>
              <a:rPr lang="en-US" dirty="0" smtClean="0"/>
              <a:t>4. conflict problems arise at both the international ( intra -state) and national level (interstate conflicts).e.g. in Federations</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t>B. Scope</a:t>
            </a:r>
          </a:p>
          <a:p>
            <a:r>
              <a:rPr lang="en-US" dirty="0" smtClean="0"/>
              <a:t>According to the traditional view, conflicts mainly deal with three major sub-divisions</a:t>
            </a:r>
          </a:p>
          <a:p>
            <a:r>
              <a:rPr lang="en-US" dirty="0" smtClean="0"/>
              <a:t>They are: </a:t>
            </a:r>
          </a:p>
          <a:p>
            <a:pPr lvl="1"/>
            <a:r>
              <a:rPr lang="en-US" b="1" dirty="0" smtClean="0"/>
              <a:t>Judicial jurisdiction</a:t>
            </a:r>
            <a:r>
              <a:rPr lang="en-US" dirty="0" smtClean="0"/>
              <a:t>, (whether the forum court has the power to see and decide on the case);</a:t>
            </a:r>
          </a:p>
          <a:p>
            <a:pPr lvl="1"/>
            <a:r>
              <a:rPr lang="en-US" b="1" dirty="0" smtClean="0"/>
              <a:t>Choice of law</a:t>
            </a:r>
            <a:r>
              <a:rPr lang="en-US" dirty="0" smtClean="0"/>
              <a:t>, ( the law which  related state governs the case) and;</a:t>
            </a:r>
          </a:p>
          <a:p>
            <a:pPr lvl="1"/>
            <a:r>
              <a:rPr lang="en-US" dirty="0" smtClean="0"/>
              <a:t> </a:t>
            </a:r>
            <a:r>
              <a:rPr lang="en-US" b="1" dirty="0" smtClean="0"/>
              <a:t>Recognition and enforcement </a:t>
            </a:r>
            <a:r>
              <a:rPr lang="en-US" dirty="0" smtClean="0"/>
              <a:t>of foreign judgments and foreign arbitral awards. ( How should we recognize a foreign judgment and ward; How to execute domestically.)</a:t>
            </a:r>
            <a:endParaRPr lang="en-US" b="1"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r>
              <a:rPr lang="en-US" dirty="0"/>
              <a:t>Raison D'être of conflict of Laws(What is </a:t>
            </a:r>
            <a:r>
              <a:rPr lang="en-US" dirty="0" smtClean="0"/>
              <a:t>the purpose of </a:t>
            </a:r>
            <a:r>
              <a:rPr lang="en-US" dirty="0"/>
              <a:t>its existence, Why do we need It</a:t>
            </a:r>
            <a:r>
              <a:rPr lang="en-US" dirty="0" smtClean="0"/>
              <a:t>?)</a:t>
            </a:r>
          </a:p>
          <a:p>
            <a:r>
              <a:rPr lang="en-US" dirty="0" smtClean="0"/>
              <a:t>Two important facts  create obstacle to smooth operation of law in the international community and give rise to Conflict of laws Problems:</a:t>
            </a:r>
          </a:p>
          <a:p>
            <a:pPr lvl="1"/>
            <a:r>
              <a:rPr lang="en-US" dirty="0" smtClean="0"/>
              <a:t> Different legal communities have different laws </a:t>
            </a:r>
            <a:r>
              <a:rPr lang="en-US" i="1" dirty="0" smtClean="0"/>
              <a:t>( diversity factor)</a:t>
            </a:r>
          </a:p>
          <a:p>
            <a:pPr lvl="1"/>
            <a:r>
              <a:rPr lang="en-US" dirty="0" smtClean="0"/>
              <a:t>Legal transactions are some how connected with more than one legal system because of cross border  commercial, family etc relations </a:t>
            </a:r>
            <a:r>
              <a:rPr lang="en-US" i="1" dirty="0" smtClean="0"/>
              <a:t>(Integration factor)</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What would happen if there were no Conflict of law rules?</a:t>
            </a:r>
          </a:p>
          <a:p>
            <a:r>
              <a:rPr lang="en-US" dirty="0" smtClean="0"/>
              <a:t>International legal transactions would be greatly impeded Forum shopping would be rampant</a:t>
            </a:r>
          </a:p>
          <a:p>
            <a:pPr lvl="1"/>
            <a:r>
              <a:rPr lang="en-US" dirty="0" smtClean="0"/>
              <a:t>Forum shopping is making use of jurisdictional options to affect the outcome of a lawsuit provided that all courts would always apply their own laws.</a:t>
            </a:r>
          </a:p>
          <a:p>
            <a:r>
              <a:rPr lang="en-US" dirty="0" err="1" smtClean="0"/>
              <a:t>Lex</a:t>
            </a:r>
            <a:r>
              <a:rPr lang="en-US" dirty="0" smtClean="0"/>
              <a:t> </a:t>
            </a:r>
            <a:r>
              <a:rPr lang="en-US" dirty="0" err="1" smtClean="0"/>
              <a:t>fori</a:t>
            </a:r>
            <a:r>
              <a:rPr lang="en-US" dirty="0" smtClean="0"/>
              <a:t> would always be applicable</a:t>
            </a:r>
          </a:p>
          <a:p>
            <a:r>
              <a:rPr lang="en-US" dirty="0" smtClean="0"/>
              <a:t>No one involved in multistate legal relationship would be sure of the out come of his action</a:t>
            </a:r>
          </a:p>
          <a:p>
            <a:r>
              <a:rPr lang="en-US" dirty="0" smtClean="0"/>
              <a:t>Prevention of Injustice to parties. Individuals could be gravely harmed for they may lose a right or status legally obtained in one state when they cross a border to another state</a:t>
            </a:r>
          </a:p>
          <a:p>
            <a:r>
              <a:rPr lang="en-US" dirty="0" smtClean="0"/>
              <a:t> Judgment creditors may be left  without execution  of their right obtained in one state  against  defendant in another state</a:t>
            </a:r>
          </a:p>
          <a:p>
            <a:r>
              <a:rPr lang="en-US" dirty="0" smtClean="0"/>
              <a:t>Business, and investment will be greatly hampered.</a:t>
            </a:r>
          </a:p>
          <a:p>
            <a:endParaRPr lang="en-US" dirty="0" smtClean="0"/>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Chapter Two</a:t>
            </a:r>
            <a:br>
              <a:rPr lang="en-US" dirty="0" smtClean="0"/>
            </a:br>
            <a:r>
              <a:rPr lang="en-US" dirty="0" smtClean="0"/>
              <a:t>Judicial Jurisdiction</a:t>
            </a: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What is Jurisdiction?</a:t>
            </a:r>
          </a:p>
          <a:p>
            <a:pPr lvl="0"/>
            <a:r>
              <a:rPr lang="en-US" dirty="0" smtClean="0"/>
              <a:t>Jurisdiction refers to the power of a court to entertain a case. It has got other meanings depending on the context it is used.</a:t>
            </a:r>
          </a:p>
          <a:p>
            <a:r>
              <a:rPr lang="en-US" dirty="0" smtClean="0"/>
              <a:t>What is Judicial Jurisdiction? </a:t>
            </a:r>
          </a:p>
          <a:p>
            <a:r>
              <a:rPr lang="en-US" dirty="0" smtClean="0"/>
              <a:t>It refers to the power of the court of a particular state to render a judgment binding an individual or his property</a:t>
            </a:r>
            <a:r>
              <a:rPr lang="en-US" baseline="30000" dirty="0" smtClean="0"/>
              <a:t>.</a:t>
            </a:r>
          </a:p>
          <a:p>
            <a:r>
              <a:rPr lang="en-US" dirty="0" smtClean="0"/>
              <a:t>Arises when the case contains a foreign Element </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smtClean="0"/>
              <a:t>Various </a:t>
            </a:r>
            <a:r>
              <a:rPr lang="en-US" dirty="0" err="1" smtClean="0"/>
              <a:t>Teories</a:t>
            </a:r>
            <a:r>
              <a:rPr lang="en-US" dirty="0" smtClean="0"/>
              <a:t> of Jurisdiction</a:t>
            </a:r>
          </a:p>
          <a:p>
            <a:r>
              <a:rPr lang="en-US" b="1" dirty="0" smtClean="0"/>
              <a:t>The Power Theory ( or  Territorial Theory )</a:t>
            </a:r>
          </a:p>
          <a:p>
            <a:r>
              <a:rPr lang="en-US" dirty="0" smtClean="0"/>
              <a:t> Famous case (Grace V. McArthur) </a:t>
            </a:r>
            <a:endParaRPr lang="en-US" b="1" dirty="0" smtClean="0"/>
          </a:p>
          <a:p>
            <a:r>
              <a:rPr lang="en-US" dirty="0" smtClean="0"/>
              <a:t>Physical Presence of the Defendant  at time of summons in the territory of the court.</a:t>
            </a:r>
          </a:p>
          <a:p>
            <a:r>
              <a:rPr lang="en-US" dirty="0" smtClean="0"/>
              <a:t>The power theory is defended mainly from the viewpoint of enforcement of judgments. </a:t>
            </a:r>
          </a:p>
          <a:p>
            <a:r>
              <a:rPr lang="en-US" dirty="0" smtClean="0"/>
              <a:t>Applicable in common law countries</a:t>
            </a:r>
          </a:p>
          <a:p>
            <a:r>
              <a:rPr lang="en-US" b="1" dirty="0" smtClean="0"/>
              <a:t>The Minimum Contact Theory</a:t>
            </a:r>
          </a:p>
          <a:p>
            <a:r>
              <a:rPr lang="en-US" i="1" dirty="0" smtClean="0"/>
              <a:t>International Shoe Co.</a:t>
            </a:r>
            <a:r>
              <a:rPr lang="en-US" dirty="0" smtClean="0"/>
              <a:t> V. </a:t>
            </a:r>
            <a:r>
              <a:rPr lang="en-US" i="1" dirty="0" smtClean="0"/>
              <a:t>Washington </a:t>
            </a:r>
          </a:p>
          <a:p>
            <a:r>
              <a:rPr lang="en-US" i="1" dirty="0" smtClean="0"/>
              <a:t>“ Due process</a:t>
            </a:r>
            <a:r>
              <a:rPr lang="en-US" dirty="0" smtClean="0"/>
              <a:t> requires only that in order to subject a defendant to a judgment </a:t>
            </a:r>
            <a:r>
              <a:rPr lang="en-US" i="1" dirty="0" smtClean="0"/>
              <a:t>in </a:t>
            </a:r>
            <a:r>
              <a:rPr lang="en-US" i="1" dirty="0" err="1" smtClean="0"/>
              <a:t>personam</a:t>
            </a:r>
            <a:r>
              <a:rPr lang="en-US" i="1" dirty="0" smtClean="0"/>
              <a:t>,</a:t>
            </a:r>
            <a:r>
              <a:rPr lang="en-US" dirty="0" smtClean="0"/>
              <a:t> if he be not present within the territory of the forum, we have certain minimum contacts with it such that the maintenance of the suit does not offend traditional notions of fair play and substantial justice“</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b="1" dirty="0" smtClean="0"/>
              <a:t>The Fairness Theory</a:t>
            </a:r>
          </a:p>
          <a:p>
            <a:pPr>
              <a:buFont typeface="Wingdings" pitchFamily="2" charset="2"/>
              <a:buChar char="§"/>
            </a:pPr>
            <a:r>
              <a:rPr lang="en-US" dirty="0" smtClean="0"/>
              <a:t>Fairness requires the forum state to try a case when it is convenient, fair and just to the parties.</a:t>
            </a:r>
            <a:r>
              <a:rPr lang="en-US" baseline="30000" dirty="0" smtClean="0"/>
              <a:t> </a:t>
            </a:r>
          </a:p>
          <a:p>
            <a:pPr>
              <a:buFont typeface="Wingdings" pitchFamily="2" charset="2"/>
              <a:buChar char="§"/>
            </a:pPr>
            <a:r>
              <a:rPr lang="en-US" dirty="0" smtClean="0"/>
              <a:t> Justification: Resolution of a dispute based on fairness guarantees recognition elsewhere </a:t>
            </a:r>
          </a:p>
          <a:p>
            <a:pPr>
              <a:buFont typeface="Wingdings" pitchFamily="2" charset="2"/>
              <a:buChar char="§"/>
            </a:pPr>
            <a:r>
              <a:rPr lang="en-US" dirty="0" smtClean="0"/>
              <a:t>Fairness can be established by consideration of three relational circumstances :</a:t>
            </a:r>
          </a:p>
          <a:p>
            <a:pPr lvl="1">
              <a:buFont typeface="Wingdings" pitchFamily="2" charset="2"/>
              <a:buChar char="§"/>
            </a:pPr>
            <a:r>
              <a:rPr lang="en-US" dirty="0" smtClean="0"/>
              <a:t> 1) The relationship between the litigants and the forum;</a:t>
            </a:r>
          </a:p>
          <a:p>
            <a:pPr lvl="1">
              <a:buFont typeface="Wingdings" pitchFamily="2" charset="2"/>
              <a:buChar char="§"/>
            </a:pPr>
            <a:r>
              <a:rPr lang="en-US" dirty="0" smtClean="0"/>
              <a:t>2) The relationship between the underlying controversy and the forum;  </a:t>
            </a:r>
          </a:p>
          <a:p>
            <a:pPr lvl="1">
              <a:buFont typeface="Wingdings" pitchFamily="2" charset="2"/>
              <a:buChar char="§"/>
            </a:pPr>
            <a:r>
              <a:rPr lang="en-US" dirty="0" smtClean="0"/>
              <a:t>3) The controversies’ substantive relation to the forum</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Domicile, Habitual Residence, Nationality as  basis of Judicial Jurisdiction</a:t>
            </a:r>
            <a:endParaRPr lang="en-US" sz="3200" dirty="0"/>
          </a:p>
        </p:txBody>
      </p:sp>
      <p:sp>
        <p:nvSpPr>
          <p:cNvPr id="3" name="Content Placeholder 2"/>
          <p:cNvSpPr>
            <a:spLocks noGrp="1"/>
          </p:cNvSpPr>
          <p:nvPr>
            <p:ph idx="1"/>
          </p:nvPr>
        </p:nvSpPr>
        <p:spPr/>
        <p:txBody>
          <a:bodyPr>
            <a:normAutofit fontScale="77500" lnSpcReduction="20000"/>
          </a:bodyPr>
          <a:lstStyle/>
          <a:p>
            <a:pPr>
              <a:buFont typeface="Wingdings" pitchFamily="2" charset="2"/>
              <a:buChar char="§"/>
            </a:pPr>
            <a:r>
              <a:rPr lang="en-US" dirty="0" smtClean="0"/>
              <a:t>Justification for Domicile as a basis of jurisdiction:</a:t>
            </a:r>
          </a:p>
          <a:p>
            <a:pPr lvl="1">
              <a:buFont typeface="Wingdings" pitchFamily="2" charset="2"/>
              <a:buChar char="§"/>
            </a:pPr>
            <a:r>
              <a:rPr lang="en-US" dirty="0" smtClean="0"/>
              <a:t>Convenience and familiarity. </a:t>
            </a:r>
          </a:p>
          <a:p>
            <a:pPr lvl="1">
              <a:buFont typeface="Wingdings" pitchFamily="2" charset="2"/>
              <a:buChar char="§"/>
            </a:pPr>
            <a:r>
              <a:rPr lang="en-US" dirty="0" smtClean="0"/>
              <a:t>Benefit burden rationale. </a:t>
            </a:r>
          </a:p>
          <a:p>
            <a:pPr>
              <a:buFont typeface="Wingdings" pitchFamily="2" charset="2"/>
              <a:buChar char="§"/>
            </a:pPr>
            <a:r>
              <a:rPr lang="en-US" dirty="0" smtClean="0"/>
              <a:t>Critics of domicile as ground of jurisdiction</a:t>
            </a:r>
          </a:p>
          <a:p>
            <a:pPr lvl="1">
              <a:buFont typeface="Wingdings" pitchFamily="2" charset="2"/>
              <a:buChar char="§"/>
            </a:pPr>
            <a:r>
              <a:rPr lang="en-US" dirty="0" smtClean="0"/>
              <a:t> It disregards the significance of a convenient forum in the administration of justice. </a:t>
            </a:r>
          </a:p>
          <a:p>
            <a:pPr lvl="1">
              <a:buFont typeface="Wingdings" pitchFamily="2" charset="2"/>
              <a:buChar char="§"/>
            </a:pPr>
            <a:r>
              <a:rPr lang="en-US" dirty="0" smtClean="0"/>
              <a:t> Convenience to party depends on accessibility of witnesses, and the connection of the underlying controversy to the forum </a:t>
            </a:r>
          </a:p>
          <a:p>
            <a:pPr>
              <a:buFont typeface="Wingdings" pitchFamily="2" charset="2"/>
              <a:buChar char="§"/>
            </a:pPr>
            <a:r>
              <a:rPr lang="en-US" dirty="0" smtClean="0"/>
              <a:t>New Developments</a:t>
            </a:r>
          </a:p>
          <a:p>
            <a:pPr lvl="1">
              <a:buFont typeface="Wingdings" pitchFamily="2" charset="2"/>
              <a:buChar char="§"/>
            </a:pPr>
            <a:r>
              <a:rPr lang="en-US" dirty="0" smtClean="0"/>
              <a:t>Habitual Residence replacing domicile as ground of judicial jurisdiction in EU parties to  Hague Convention on Jurisdiction and Foreign Judgments in Civil and Commercial Matters</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buNone/>
            </a:pPr>
            <a:r>
              <a:rPr lang="en-US" b="1" dirty="0" smtClean="0"/>
              <a:t>Nationality as ground of Judicial Jurisdiction</a:t>
            </a:r>
          </a:p>
          <a:p>
            <a:r>
              <a:rPr lang="en-US" dirty="0" smtClean="0"/>
              <a:t>Justification: as the state has extended protection and benefits to the person he reciprocally has duty of loyalty allegiance to submit himself to jurisdiction of his national courts </a:t>
            </a:r>
          </a:p>
          <a:p>
            <a:r>
              <a:rPr lang="en-US" dirty="0" smtClean="0"/>
              <a:t>Critics: Nationality and place of  Domicile or Habitual residence could be different it making jurisdiction at place of nationality inconvenient for defendant</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a:buNone/>
            </a:pPr>
            <a:r>
              <a:rPr lang="en-US" b="1" dirty="0" smtClean="0"/>
              <a:t>3.Jurisdiction based on consent/submission</a:t>
            </a:r>
          </a:p>
          <a:p>
            <a:pPr>
              <a:buFont typeface="Wingdings" pitchFamily="2" charset="2"/>
              <a:buChar char="§"/>
            </a:pPr>
            <a:r>
              <a:rPr lang="en-US" dirty="0" smtClean="0"/>
              <a:t>The parties’ consent or choice as to the place of trial is regarded as a major basis for the assertion of judicial jurisdiction. </a:t>
            </a:r>
          </a:p>
          <a:p>
            <a:pPr>
              <a:buFont typeface="Wingdings" pitchFamily="2" charset="2"/>
              <a:buChar char="§"/>
            </a:pPr>
            <a:r>
              <a:rPr lang="en-US" b="1" dirty="0" smtClean="0"/>
              <a:t> Advantage </a:t>
            </a:r>
            <a:r>
              <a:rPr lang="en-US" dirty="0" smtClean="0"/>
              <a:t>:</a:t>
            </a:r>
          </a:p>
          <a:p>
            <a:pPr lvl="1">
              <a:buFont typeface="Wingdings" pitchFamily="2" charset="2"/>
              <a:buChar char="§"/>
            </a:pPr>
            <a:r>
              <a:rPr lang="en-US" dirty="0" smtClean="0"/>
              <a:t> It enables parties to escape the harshness or the inconvenience of statutory place of trial.</a:t>
            </a:r>
          </a:p>
          <a:p>
            <a:pPr lvl="1">
              <a:buFont typeface="Wingdings" pitchFamily="2" charset="2"/>
              <a:buChar char="§"/>
            </a:pPr>
            <a:r>
              <a:rPr lang="en-US" dirty="0" smtClean="0"/>
              <a:t>minimizes, at least potentially, the cost of litigation, and other related factors.</a:t>
            </a:r>
          </a:p>
          <a:p>
            <a:pPr>
              <a:buFont typeface="Wingdings" pitchFamily="2" charset="2"/>
              <a:buChar char="§"/>
            </a:pPr>
            <a:r>
              <a:rPr lang="en-US" dirty="0" smtClean="0"/>
              <a:t>Consent by Plaintiff established by bringing of action in a forum court</a:t>
            </a:r>
          </a:p>
          <a:p>
            <a:pPr>
              <a:buFont typeface="Wingdings" pitchFamily="2" charset="2"/>
              <a:buChar char="§"/>
            </a:pPr>
            <a:r>
              <a:rPr lang="en-US" dirty="0" smtClean="0"/>
              <a:t>Consent by defendant established:</a:t>
            </a:r>
          </a:p>
          <a:p>
            <a:pPr lvl="1">
              <a:buFont typeface="Wingdings" pitchFamily="2" charset="2"/>
              <a:buChar char="§"/>
            </a:pPr>
            <a:r>
              <a:rPr lang="en-US" dirty="0" smtClean="0"/>
              <a:t>By prior consent (forum selection clause in contract)</a:t>
            </a:r>
          </a:p>
          <a:p>
            <a:pPr lvl="1">
              <a:buFont typeface="Wingdings" pitchFamily="2" charset="2"/>
              <a:buChar char="§"/>
            </a:pPr>
            <a:r>
              <a:rPr lang="en-US" dirty="0" smtClean="0"/>
              <a:t>Agreement after cause of action arises		</a:t>
            </a:r>
          </a:p>
          <a:p>
            <a:pPr lvl="1">
              <a:buFont typeface="Wingdings" pitchFamily="2" charset="2"/>
              <a:buChar char="§"/>
            </a:pPr>
            <a:r>
              <a:rPr lang="en-US" dirty="0" smtClean="0"/>
              <a:t>Consent by appearance and defense of subject matter of the case</a:t>
            </a:r>
          </a:p>
          <a:p>
            <a:pPr>
              <a:buFont typeface="Wingdings" pitchFamily="2" charset="2"/>
              <a:buChar char="§"/>
            </a:pPr>
            <a:r>
              <a:rPr lang="en-US" dirty="0" smtClean="0"/>
              <a:t>Exception: Special appearance to contest jurisdiction is not consent</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Categories of Judicial Jurisdiction</a:t>
            </a:r>
            <a:endParaRPr lang="en-US" dirty="0"/>
          </a:p>
        </p:txBody>
      </p:sp>
      <p:sp>
        <p:nvSpPr>
          <p:cNvPr id="3" name="Content Placeholder 2"/>
          <p:cNvSpPr>
            <a:spLocks noGrp="1"/>
          </p:cNvSpPr>
          <p:nvPr>
            <p:ph idx="1"/>
          </p:nvPr>
        </p:nvSpPr>
        <p:spPr/>
        <p:txBody>
          <a:bodyPr>
            <a:normAutofit fontScale="62500" lnSpcReduction="20000"/>
          </a:bodyPr>
          <a:lstStyle/>
          <a:p>
            <a:pPr>
              <a:buFont typeface="Wingdings" pitchFamily="2" charset="2"/>
              <a:buChar char="§"/>
            </a:pPr>
            <a:r>
              <a:rPr lang="en-US" b="1" dirty="0" smtClean="0"/>
              <a:t>Three basic categories</a:t>
            </a:r>
            <a:r>
              <a:rPr lang="en-US" dirty="0" smtClean="0"/>
              <a:t>:</a:t>
            </a:r>
          </a:p>
          <a:p>
            <a:pPr lvl="1">
              <a:buFont typeface="Wingdings" pitchFamily="2" charset="2"/>
              <a:buChar char="§"/>
            </a:pPr>
            <a:r>
              <a:rPr lang="en-US" dirty="0" smtClean="0"/>
              <a:t>Jurisdiction </a:t>
            </a:r>
            <a:r>
              <a:rPr lang="en-US" i="1" dirty="0" smtClean="0"/>
              <a:t>in </a:t>
            </a:r>
            <a:r>
              <a:rPr lang="en-US" i="1" dirty="0" err="1" smtClean="0"/>
              <a:t>personam</a:t>
            </a:r>
            <a:endParaRPr lang="en-US" i="1" dirty="0" smtClean="0"/>
          </a:p>
          <a:p>
            <a:pPr lvl="1">
              <a:buFont typeface="Wingdings" pitchFamily="2" charset="2"/>
              <a:buChar char="§"/>
            </a:pPr>
            <a:r>
              <a:rPr lang="en-US" dirty="0" smtClean="0"/>
              <a:t>Jurisdiction </a:t>
            </a:r>
            <a:r>
              <a:rPr lang="en-US" i="1" dirty="0" smtClean="0"/>
              <a:t>in </a:t>
            </a:r>
            <a:r>
              <a:rPr lang="en-US" i="1" dirty="0" err="1" smtClean="0"/>
              <a:t>rem</a:t>
            </a:r>
            <a:endParaRPr lang="en-US" i="1" dirty="0" smtClean="0"/>
          </a:p>
          <a:p>
            <a:pPr lvl="1">
              <a:buFont typeface="Wingdings" pitchFamily="2" charset="2"/>
              <a:buChar char="§"/>
            </a:pPr>
            <a:r>
              <a:rPr lang="en-US" dirty="0" smtClean="0"/>
              <a:t>Jurisdiction over status</a:t>
            </a:r>
          </a:p>
          <a:p>
            <a:pPr>
              <a:buNone/>
            </a:pPr>
            <a:r>
              <a:rPr lang="en-US" dirty="0" smtClean="0"/>
              <a:t>1. </a:t>
            </a:r>
            <a:r>
              <a:rPr lang="en-US" b="1" dirty="0" smtClean="0"/>
              <a:t>Judicial jurisdiction </a:t>
            </a:r>
            <a:r>
              <a:rPr lang="en-US" b="1" i="1" dirty="0" smtClean="0"/>
              <a:t>in </a:t>
            </a:r>
            <a:r>
              <a:rPr lang="en-US" b="1" i="1" dirty="0" err="1" smtClean="0"/>
              <a:t>personam</a:t>
            </a:r>
            <a:r>
              <a:rPr lang="en-US" b="1" i="1" dirty="0" smtClean="0"/>
              <a:t> </a:t>
            </a:r>
            <a:r>
              <a:rPr lang="en-US" dirty="0" smtClean="0"/>
              <a:t>( claim against the person) </a:t>
            </a:r>
          </a:p>
          <a:p>
            <a:pPr lvl="1">
              <a:buFont typeface="Wingdings" pitchFamily="2" charset="2"/>
              <a:buChar char="§"/>
            </a:pPr>
            <a:r>
              <a:rPr lang="en-US" dirty="0" smtClean="0"/>
              <a:t>At the place of :</a:t>
            </a:r>
          </a:p>
          <a:p>
            <a:pPr lvl="2">
              <a:buFont typeface="Wingdings" pitchFamily="2" charset="2"/>
              <a:buChar char="§"/>
            </a:pPr>
            <a:r>
              <a:rPr lang="en-US" dirty="0" smtClean="0"/>
              <a:t>Defendants domicile</a:t>
            </a:r>
          </a:p>
          <a:p>
            <a:pPr lvl="2">
              <a:buFont typeface="Wingdings" pitchFamily="2" charset="2"/>
              <a:buChar char="§"/>
            </a:pPr>
            <a:r>
              <a:rPr lang="en-US" dirty="0" smtClean="0"/>
              <a:t>Contract making or performance</a:t>
            </a:r>
          </a:p>
          <a:p>
            <a:pPr lvl="2">
              <a:buFont typeface="Wingdings" pitchFamily="2" charset="2"/>
              <a:buChar char="§"/>
            </a:pPr>
            <a:r>
              <a:rPr lang="en-US" dirty="0" smtClean="0"/>
              <a:t>Cause of action arise </a:t>
            </a:r>
          </a:p>
          <a:p>
            <a:pPr>
              <a:buNone/>
            </a:pPr>
            <a:r>
              <a:rPr lang="en-US" dirty="0" smtClean="0"/>
              <a:t>2. </a:t>
            </a:r>
            <a:r>
              <a:rPr lang="en-US" b="1" dirty="0" smtClean="0"/>
              <a:t>Judicial jurisdiction </a:t>
            </a:r>
            <a:r>
              <a:rPr lang="en-US" b="1" i="1" dirty="0" smtClean="0"/>
              <a:t>in</a:t>
            </a:r>
            <a:r>
              <a:rPr lang="en-US" b="1" dirty="0" smtClean="0"/>
              <a:t> </a:t>
            </a:r>
            <a:r>
              <a:rPr lang="en-US" b="1" i="1" dirty="0" err="1" smtClean="0"/>
              <a:t>rem</a:t>
            </a:r>
            <a:r>
              <a:rPr lang="en-US" b="1" i="1" dirty="0" smtClean="0"/>
              <a:t> </a:t>
            </a:r>
            <a:r>
              <a:rPr lang="en-US" dirty="0" smtClean="0"/>
              <a:t>( claim  of right over a property)</a:t>
            </a:r>
          </a:p>
          <a:p>
            <a:pPr lvl="1">
              <a:buFont typeface="Wingdings" pitchFamily="2" charset="2"/>
              <a:buChar char="§"/>
            </a:pPr>
            <a:r>
              <a:rPr lang="en-US" dirty="0" smtClean="0"/>
              <a:t>Place of </a:t>
            </a:r>
            <a:r>
              <a:rPr lang="en-US" dirty="0" err="1" smtClean="0"/>
              <a:t>citus</a:t>
            </a:r>
            <a:r>
              <a:rPr lang="en-US" dirty="0" smtClean="0"/>
              <a:t> of property</a:t>
            </a:r>
          </a:p>
          <a:p>
            <a:pPr lvl="1">
              <a:buFont typeface="Wingdings" pitchFamily="2" charset="2"/>
              <a:buChar char="§"/>
            </a:pPr>
            <a:r>
              <a:rPr lang="en-US" dirty="0" smtClean="0"/>
              <a:t>Exception: Movable property in transit at place of destination</a:t>
            </a:r>
          </a:p>
          <a:p>
            <a:pPr>
              <a:buNone/>
            </a:pPr>
            <a:r>
              <a:rPr lang="en-US" dirty="0" smtClean="0"/>
              <a:t>3. </a:t>
            </a:r>
            <a:r>
              <a:rPr lang="en-US" b="1" dirty="0" smtClean="0"/>
              <a:t>Judicial jurisdiction on status </a:t>
            </a:r>
            <a:r>
              <a:rPr lang="en-US" dirty="0" smtClean="0"/>
              <a:t>( Filiations, Guardianship, marriage, divorce)</a:t>
            </a:r>
          </a:p>
          <a:p>
            <a:pPr>
              <a:buFont typeface="Wingdings" pitchFamily="2" charset="2"/>
              <a:buChar char="§"/>
            </a:pPr>
            <a:r>
              <a:rPr lang="en-US" dirty="0" smtClean="0"/>
              <a:t>At the place of : Domicile or Nationality</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b="1" dirty="0" smtClean="0"/>
              <a:t>Limitations on the Exercise of Judicial Jurisdiction</a:t>
            </a:r>
          </a:p>
          <a:p>
            <a:pPr>
              <a:buFont typeface="Wingdings" pitchFamily="2" charset="2"/>
              <a:buChar char="§"/>
            </a:pPr>
            <a:r>
              <a:rPr lang="en-AU" dirty="0" smtClean="0"/>
              <a:t>Defendant may challenge the Plaintiff’s choice of forum because of  </a:t>
            </a:r>
            <a:r>
              <a:rPr lang="en-US" dirty="0" smtClean="0"/>
              <a:t>three major grounds for a declining of jurisdiction:</a:t>
            </a:r>
          </a:p>
          <a:p>
            <a:pPr lvl="1">
              <a:buFont typeface="Wingdings" pitchFamily="2" charset="2"/>
              <a:buChar char="§"/>
            </a:pPr>
            <a:r>
              <a:rPr lang="en-US" dirty="0" smtClean="0"/>
              <a:t>1) Forum non convenience(</a:t>
            </a:r>
            <a:r>
              <a:rPr lang="en-AU" dirty="0" smtClean="0"/>
              <a:t>Inappropriate forum)</a:t>
            </a:r>
          </a:p>
          <a:p>
            <a:pPr lvl="1">
              <a:buFont typeface="Wingdings" pitchFamily="2" charset="2"/>
              <a:buChar char="§"/>
            </a:pPr>
            <a:r>
              <a:rPr lang="en-US" dirty="0" smtClean="0"/>
              <a:t>2) Pendency </a:t>
            </a:r>
            <a:r>
              <a:rPr lang="en-AU" dirty="0" smtClean="0"/>
              <a:t>Similar proceedings on foot elsewhere)</a:t>
            </a:r>
            <a:r>
              <a:rPr lang="en-US" dirty="0" smtClean="0"/>
              <a:t>and </a:t>
            </a:r>
          </a:p>
          <a:p>
            <a:pPr lvl="1">
              <a:buFont typeface="Wingdings" pitchFamily="2" charset="2"/>
              <a:buChar char="§"/>
            </a:pPr>
            <a:r>
              <a:rPr lang="en-US" dirty="0" smtClean="0"/>
              <a:t>3) Austere clauses (</a:t>
            </a:r>
            <a:r>
              <a:rPr lang="en-AU" dirty="0" smtClean="0"/>
              <a:t>Parties agreed on another forum as suitable prior to the dispute in issue)</a:t>
            </a:r>
          </a:p>
          <a:p>
            <a:pPr>
              <a:buFont typeface="Wingdings" pitchFamily="2" charset="2"/>
              <a:buChar char="§"/>
            </a:pPr>
            <a:r>
              <a:rPr lang="en-AU" dirty="0" smtClean="0"/>
              <a:t>Remedy: Seek to stay, dismiss( decline), or transfer proceedings</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Judicial Jurisdiction of Ethiopian Courts</a:t>
            </a:r>
            <a:endParaRPr lang="en-US" dirty="0"/>
          </a:p>
        </p:txBody>
      </p:sp>
      <p:sp>
        <p:nvSpPr>
          <p:cNvPr id="3" name="Content Placeholder 2"/>
          <p:cNvSpPr>
            <a:spLocks noGrp="1"/>
          </p:cNvSpPr>
          <p:nvPr>
            <p:ph idx="1"/>
          </p:nvPr>
        </p:nvSpPr>
        <p:spPr>
          <a:solidFill>
            <a:srgbClr val="FFFF00"/>
          </a:solidFill>
        </p:spPr>
        <p:txBody>
          <a:bodyPr>
            <a:normAutofit fontScale="62500" lnSpcReduction="20000"/>
          </a:bodyPr>
          <a:lstStyle/>
          <a:p>
            <a:pPr>
              <a:buNone/>
            </a:pPr>
            <a:r>
              <a:rPr lang="en-US" b="1" dirty="0" smtClean="0"/>
              <a:t>Jurisdiction in International Interstate Conflict</a:t>
            </a:r>
          </a:p>
          <a:p>
            <a:pPr>
              <a:buNone/>
            </a:pPr>
            <a:endParaRPr lang="en-US" b="1" dirty="0" smtClean="0"/>
          </a:p>
          <a:p>
            <a:pPr>
              <a:buFont typeface="Wingdings" pitchFamily="2" charset="2"/>
              <a:buChar char="§"/>
            </a:pPr>
            <a:r>
              <a:rPr lang="en-US" dirty="0" smtClean="0"/>
              <a:t>Federal Courts have Jurisdiction on intra state and inter state conflicts</a:t>
            </a:r>
          </a:p>
          <a:p>
            <a:pPr>
              <a:buFont typeface="Wingdings" pitchFamily="2" charset="2"/>
              <a:buChar char="§"/>
            </a:pPr>
            <a:r>
              <a:rPr lang="en-US" b="1" dirty="0" smtClean="0"/>
              <a:t>Procl.25/96</a:t>
            </a:r>
            <a:r>
              <a:rPr lang="en-US" dirty="0" smtClean="0"/>
              <a:t> </a:t>
            </a:r>
          </a:p>
          <a:p>
            <a:pPr lvl="1">
              <a:buFont typeface="Wingdings" pitchFamily="2" charset="2"/>
              <a:buChar char="§"/>
            </a:pPr>
            <a:r>
              <a:rPr lang="en-US" dirty="0" smtClean="0"/>
              <a:t>FHC Jurisdiction on  civil cases between persons permanently residing in different states </a:t>
            </a:r>
          </a:p>
          <a:p>
            <a:pPr>
              <a:buFont typeface="Wingdings" pitchFamily="2" charset="2"/>
              <a:buChar char="§"/>
            </a:pPr>
            <a:r>
              <a:rPr lang="en-US" b="1" dirty="0" smtClean="0"/>
              <a:t>Justification</a:t>
            </a:r>
            <a:r>
              <a:rPr lang="en-US" dirty="0" smtClean="0"/>
              <a:t> :</a:t>
            </a:r>
          </a:p>
          <a:p>
            <a:pPr lvl="1">
              <a:buFont typeface="Wingdings" pitchFamily="2" charset="2"/>
              <a:buChar char="§"/>
            </a:pPr>
            <a:r>
              <a:rPr lang="en-US" dirty="0" smtClean="0"/>
              <a:t>Avoid local prejudice</a:t>
            </a:r>
          </a:p>
          <a:p>
            <a:pPr lvl="1">
              <a:buFont typeface="Wingdings" pitchFamily="2" charset="2"/>
              <a:buChar char="§"/>
            </a:pPr>
            <a:r>
              <a:rPr lang="en-US" dirty="0" smtClean="0"/>
              <a:t>To help formulate national rule of conflict of laws</a:t>
            </a:r>
          </a:p>
          <a:p>
            <a:pPr lvl="1">
              <a:buFont typeface="Wingdings" pitchFamily="2" charset="2"/>
              <a:buChar char="§"/>
            </a:pPr>
            <a:r>
              <a:rPr lang="en-US" dirty="0" smtClean="0"/>
              <a:t>Quality of justice </a:t>
            </a:r>
          </a:p>
          <a:p>
            <a:pPr>
              <a:buFont typeface="Wingdings" pitchFamily="2" charset="2"/>
              <a:buChar char="§"/>
            </a:pPr>
            <a:r>
              <a:rPr lang="en-US" b="1" dirty="0" smtClean="0"/>
              <a:t>Critique of justification</a:t>
            </a:r>
          </a:p>
          <a:p>
            <a:pPr>
              <a:buFont typeface="Wingdings" pitchFamily="2" charset="2"/>
              <a:buChar char="§"/>
            </a:pPr>
            <a:r>
              <a:rPr lang="en-US" b="1" dirty="0" smtClean="0"/>
              <a:t>Jurisdiction </a:t>
            </a:r>
            <a:r>
              <a:rPr lang="en-US" b="1" cap="all" dirty="0" smtClean="0"/>
              <a:t>r</a:t>
            </a:r>
            <a:r>
              <a:rPr lang="en-US" b="1" dirty="0" smtClean="0"/>
              <a:t>elated </a:t>
            </a:r>
            <a:r>
              <a:rPr lang="en-US" b="1" cap="all" dirty="0" smtClean="0"/>
              <a:t>b</a:t>
            </a:r>
            <a:r>
              <a:rPr lang="en-US" b="1" dirty="0" smtClean="0"/>
              <a:t>asic </a:t>
            </a:r>
            <a:r>
              <a:rPr lang="en-US" b="1" cap="all" dirty="0" smtClean="0"/>
              <a:t>c</a:t>
            </a:r>
            <a:r>
              <a:rPr lang="en-US" b="1" dirty="0" smtClean="0"/>
              <a:t>onstitutional </a:t>
            </a:r>
            <a:r>
              <a:rPr lang="en-US" b="1" cap="all" dirty="0" smtClean="0"/>
              <a:t>g</a:t>
            </a:r>
            <a:r>
              <a:rPr lang="en-US" b="1" dirty="0" smtClean="0"/>
              <a:t>uarantees</a:t>
            </a:r>
          </a:p>
          <a:p>
            <a:pPr lvl="1">
              <a:buFont typeface="Wingdings" pitchFamily="2" charset="2"/>
              <a:buChar char="§"/>
            </a:pPr>
            <a:r>
              <a:rPr lang="en-US" b="1" dirty="0" smtClean="0">
                <a:solidFill>
                  <a:srgbClr val="FFFF00"/>
                </a:solidFill>
              </a:rPr>
              <a:t>Full faith and credit clause </a:t>
            </a:r>
          </a:p>
          <a:p>
            <a:pPr lvl="1">
              <a:buFont typeface="Wingdings" pitchFamily="2" charset="2"/>
              <a:buChar char="§"/>
            </a:pPr>
            <a:r>
              <a:rPr lang="en-US" b="1" dirty="0" smtClean="0">
                <a:solidFill>
                  <a:srgbClr val="FFFF00"/>
                </a:solidFill>
              </a:rPr>
              <a:t>Immunities and privileges clause</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Practice of Ethiopian Courts in on Judicial Jurisdiction</a:t>
            </a:r>
            <a:endParaRPr lang="en-US" dirty="0"/>
          </a:p>
        </p:txBody>
      </p:sp>
      <p:sp>
        <p:nvSpPr>
          <p:cNvPr id="3" name="Content Placeholder 2"/>
          <p:cNvSpPr>
            <a:spLocks noGrp="1"/>
          </p:cNvSpPr>
          <p:nvPr>
            <p:ph idx="1"/>
          </p:nvPr>
        </p:nvSpPr>
        <p:spPr/>
        <p:txBody>
          <a:bodyPr/>
          <a:lstStyle/>
          <a:p>
            <a:r>
              <a:rPr lang="en-US" i="1" dirty="0" smtClean="0"/>
              <a:t>Three different approaches , these are:</a:t>
            </a:r>
          </a:p>
          <a:p>
            <a:pPr lvl="1" algn="r">
              <a:buFont typeface="Wingdings" pitchFamily="2" charset="2"/>
              <a:buChar char="§"/>
            </a:pPr>
            <a:r>
              <a:rPr lang="en-US" sz="3400" dirty="0" smtClean="0"/>
              <a:t>Approach </a:t>
            </a:r>
            <a:r>
              <a:rPr lang="en-US" sz="3400" dirty="0" smtClean="0">
                <a:solidFill>
                  <a:srgbClr val="FF0000"/>
                </a:solidFill>
              </a:rPr>
              <a:t>1. Silence regarding judicial jurisdiction</a:t>
            </a:r>
          </a:p>
          <a:p>
            <a:pPr lvl="1">
              <a:buFont typeface="Wingdings" pitchFamily="2" charset="2"/>
              <a:buChar char="§"/>
            </a:pPr>
            <a:r>
              <a:rPr lang="en-US" sz="3400" dirty="0" smtClean="0"/>
              <a:t>Approach 2: </a:t>
            </a:r>
            <a:r>
              <a:rPr lang="en-US" sz="3400" dirty="0" smtClean="0">
                <a:solidFill>
                  <a:srgbClr val="FF0000"/>
                </a:solidFill>
              </a:rPr>
              <a:t>Recourse to Civil Procedure Code</a:t>
            </a:r>
          </a:p>
          <a:p>
            <a:pPr lvl="1">
              <a:buFont typeface="Wingdings" pitchFamily="2" charset="2"/>
              <a:buChar char="§"/>
            </a:pPr>
            <a:r>
              <a:rPr lang="en-US" sz="3400" dirty="0" smtClean="0"/>
              <a:t>Approach 3: </a:t>
            </a:r>
            <a:r>
              <a:rPr lang="en-US" sz="3400" dirty="0" smtClean="0">
                <a:solidFill>
                  <a:srgbClr val="FF0000"/>
                </a:solidFill>
              </a:rPr>
              <a:t>Recourse to general jurisprudence</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Chapter Three</a:t>
            </a:r>
            <a:br>
              <a:rPr lang="en-US" dirty="0" smtClean="0"/>
            </a:br>
            <a:r>
              <a:rPr lang="en-US" dirty="0" smtClean="0"/>
              <a:t>Choice of Law</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Choice of Law Methods</a:t>
            </a:r>
          </a:p>
          <a:p>
            <a:r>
              <a:rPr lang="en-US" dirty="0" smtClean="0"/>
              <a:t>methods can be categorized into: unilateralism, multilateralism, and substantive law approaches.</a:t>
            </a:r>
          </a:p>
          <a:p>
            <a:endParaRPr lang="en-US" dirty="0" smtClean="0"/>
          </a:p>
          <a:p>
            <a:r>
              <a:rPr lang="en-US" b="1" dirty="0" smtClean="0"/>
              <a:t>Unilateralism ( Territorial Method)</a:t>
            </a:r>
          </a:p>
          <a:p>
            <a:pPr lvl="1"/>
            <a:r>
              <a:rPr lang="en-US" dirty="0" smtClean="0"/>
              <a:t>It determines the spatial reach of a certain state's substantive laws</a:t>
            </a:r>
          </a:p>
          <a:p>
            <a:pPr lvl="1"/>
            <a:r>
              <a:rPr lang="en-US" dirty="0" smtClean="0"/>
              <a:t>deals with the determination of the personal and territorial reach of the potentially applicable local rules of decision.</a:t>
            </a:r>
          </a:p>
          <a:p>
            <a:r>
              <a:rPr lang="en-US" dirty="0" smtClean="0"/>
              <a:t> </a:t>
            </a:r>
            <a:r>
              <a:rPr lang="en-US" b="1" dirty="0" smtClean="0"/>
              <a:t>Multilateralism ( Classical Method)</a:t>
            </a:r>
          </a:p>
          <a:p>
            <a:pPr lvl="1"/>
            <a:r>
              <a:rPr lang="en-US" dirty="0" smtClean="0"/>
              <a:t>determine whether the issue or legal relationship has a strong relationship with one or the other law; and finally decide the case in accordance with the legal system with which the law has strong relationship or has most close connection.</a:t>
            </a:r>
          </a:p>
          <a:p>
            <a:r>
              <a:rPr lang="en-US" b="1" dirty="0" smtClean="0"/>
              <a:t>Substantive law approach </a:t>
            </a:r>
            <a:r>
              <a:rPr lang="en-US" dirty="0" smtClean="0"/>
              <a:t>( New Choice of law Methods)</a:t>
            </a:r>
          </a:p>
          <a:p>
            <a:pPr lvl="1"/>
            <a:r>
              <a:rPr lang="en-US" dirty="0" smtClean="0"/>
              <a:t>a policy -oriented approach in which substantive policies directly determine the outcome of the choice-of- law process.</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The Classical Choice of Law Method</a:t>
            </a:r>
          </a:p>
          <a:p>
            <a:r>
              <a:rPr lang="en-US" b="1" dirty="0" smtClean="0"/>
              <a:t>Goals of the Classical Method</a:t>
            </a:r>
            <a:r>
              <a:rPr lang="en-US" dirty="0" smtClean="0"/>
              <a:t> </a:t>
            </a:r>
          </a:p>
          <a:p>
            <a:pPr lvl="1"/>
            <a:r>
              <a:rPr lang="en-US" dirty="0" smtClean="0"/>
              <a:t>Decisional harmony or Uniformity of judgments </a:t>
            </a:r>
          </a:p>
          <a:p>
            <a:pPr lvl="1"/>
            <a:r>
              <a:rPr lang="en-US" dirty="0" smtClean="0"/>
              <a:t> avoid or reduce forum shopping,</a:t>
            </a:r>
          </a:p>
          <a:p>
            <a:pPr lvl="1"/>
            <a:r>
              <a:rPr lang="en-US" dirty="0" smtClean="0"/>
              <a:t>ensuring predictability and certainty</a:t>
            </a:r>
          </a:p>
          <a:p>
            <a:r>
              <a:rPr lang="en-US" dirty="0" smtClean="0"/>
              <a:t>Depend on a set of choice-of-law rules each of which covers a specific category of legal relationships, for which it contains an appropriate connecting factor. </a:t>
            </a:r>
          </a:p>
          <a:p>
            <a:r>
              <a:rPr lang="en-US" dirty="0" smtClean="0"/>
              <a:t>The choice of jurisdiction to which the connecting factor refers entails the choice of the law of that jurisdiction.</a:t>
            </a:r>
          </a:p>
          <a:p>
            <a:r>
              <a:rPr lang="en-US" dirty="0" smtClean="0"/>
              <a:t>E.G. “Succession to Immovable property is governed by </a:t>
            </a:r>
            <a:r>
              <a:rPr lang="en-US" dirty="0" err="1" smtClean="0"/>
              <a:t>lex</a:t>
            </a:r>
            <a:r>
              <a:rPr lang="en-US" dirty="0" smtClean="0"/>
              <a:t> </a:t>
            </a:r>
            <a:r>
              <a:rPr lang="en-US" dirty="0" err="1" smtClean="0"/>
              <a:t>situs</a:t>
            </a:r>
            <a:r>
              <a:rPr lang="en-US" dirty="0" smtClean="0"/>
              <a:t>.” This Provision has two elements.</a:t>
            </a:r>
          </a:p>
          <a:p>
            <a:pPr lvl="1"/>
            <a:r>
              <a:rPr lang="en-US" dirty="0" smtClean="0"/>
              <a:t>1. “Succession to Immovable property” (Legal Category)</a:t>
            </a:r>
          </a:p>
          <a:p>
            <a:pPr lvl="1"/>
            <a:r>
              <a:rPr lang="en-US" dirty="0" smtClean="0"/>
              <a:t>2.  “</a:t>
            </a:r>
            <a:r>
              <a:rPr lang="en-US" dirty="0" err="1" smtClean="0"/>
              <a:t>Situs</a:t>
            </a:r>
            <a:r>
              <a:rPr lang="en-US" dirty="0" smtClean="0"/>
              <a:t>” ( Connection factor)</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r>
              <a:rPr lang="en-US" b="1" dirty="0" smtClean="0"/>
              <a:t>Characterization ( subject matter characterization)</a:t>
            </a:r>
          </a:p>
          <a:p>
            <a:r>
              <a:rPr lang="en-US" dirty="0" smtClean="0"/>
              <a:t>Is the process through which the court assigns the dispute to its </a:t>
            </a:r>
            <a:r>
              <a:rPr lang="en-US" b="1" dirty="0" smtClean="0"/>
              <a:t>correct legal category</a:t>
            </a:r>
            <a:r>
              <a:rPr lang="en-US" dirty="0" smtClean="0"/>
              <a:t>.</a:t>
            </a:r>
          </a:p>
          <a:p>
            <a:r>
              <a:rPr lang="en-US" dirty="0" smtClean="0"/>
              <a:t>Generally most countries accept characterization by </a:t>
            </a:r>
            <a:r>
              <a:rPr lang="en-US" dirty="0" err="1" smtClean="0"/>
              <a:t>lex</a:t>
            </a:r>
            <a:r>
              <a:rPr lang="en-US" dirty="0" smtClean="0"/>
              <a:t> </a:t>
            </a:r>
            <a:r>
              <a:rPr lang="en-US" dirty="0" err="1" smtClean="0"/>
              <a:t>fori</a:t>
            </a:r>
            <a:r>
              <a:rPr lang="en-US" dirty="0" smtClean="0"/>
              <a:t>. Except Property movable Vs. immovable by </a:t>
            </a:r>
            <a:r>
              <a:rPr lang="en-US" dirty="0" err="1" smtClean="0"/>
              <a:t>situs</a:t>
            </a:r>
            <a:r>
              <a:rPr lang="en-US" dirty="0" smtClean="0"/>
              <a:t>.</a:t>
            </a:r>
          </a:p>
          <a:p>
            <a:r>
              <a:rPr lang="en-US" b="1" dirty="0" smtClean="0"/>
              <a:t>Connecting Factors</a:t>
            </a:r>
          </a:p>
          <a:p>
            <a:r>
              <a:rPr lang="en-US" dirty="0" smtClean="0"/>
              <a:t>Connecting factors are terms embodied in every states’ conflict rule in order to indicate the place whose law may be applied.</a:t>
            </a:r>
          </a:p>
          <a:p>
            <a:r>
              <a:rPr lang="en-US" dirty="0" smtClean="0"/>
              <a:t>E.g.  “Capacity to marry shall be governed by the law of the parties domicile.”</a:t>
            </a:r>
          </a:p>
          <a:p>
            <a:pPr lvl="1"/>
            <a:r>
              <a:rPr lang="en-US" dirty="0" smtClean="0"/>
              <a:t>“Formal validity of marriage is governed by the law of place of celebration.”</a:t>
            </a:r>
          </a:p>
          <a:p>
            <a:pPr lvl="1"/>
            <a:r>
              <a:rPr lang="en-US" dirty="0" smtClean="0"/>
              <a:t>“Succession to immovable governed by the law of the </a:t>
            </a:r>
            <a:r>
              <a:rPr lang="en-US" dirty="0" err="1" smtClean="0"/>
              <a:t>situs</a:t>
            </a:r>
            <a:r>
              <a:rPr lang="en-US" dirty="0" smtClean="0"/>
              <a:t>.”</a:t>
            </a:r>
          </a:p>
          <a:p>
            <a:r>
              <a:rPr lang="en-US" dirty="0" smtClean="0"/>
              <a:t>Here terms ‘domicile’, ‘place of celebration’ and ‘</a:t>
            </a:r>
            <a:r>
              <a:rPr lang="en-US" dirty="0" err="1" smtClean="0"/>
              <a:t>situs</a:t>
            </a:r>
            <a:r>
              <a:rPr lang="en-US" dirty="0" smtClean="0"/>
              <a:t>’ are connecting factors.</a:t>
            </a:r>
          </a:p>
          <a:p>
            <a:r>
              <a:rPr lang="en-US" b="1" dirty="0" smtClean="0"/>
              <a:t>Substance - Procedure Characterization</a:t>
            </a:r>
          </a:p>
          <a:p>
            <a:r>
              <a:rPr lang="en-US" dirty="0" smtClean="0"/>
              <a:t>Relates to the extent of application of a law when the forum's choice of law rule refers to the law of another jurisdiction: delimitation of the proper law.</a:t>
            </a:r>
          </a:p>
          <a:p>
            <a:endParaRPr lang="en-US" dirty="0" smtClean="0"/>
          </a:p>
          <a:p>
            <a:r>
              <a:rPr lang="en-US" b="1" dirty="0" smtClean="0"/>
              <a:t>Principle</a:t>
            </a:r>
            <a:r>
              <a:rPr lang="en-US" dirty="0" smtClean="0"/>
              <a:t>: Even if foreign law is chosen as applicable law the forum applies only the foreign substantive laws but uses its own procedural law.</a:t>
            </a:r>
          </a:p>
          <a:p>
            <a:r>
              <a:rPr lang="en-US" dirty="0" smtClean="0"/>
              <a:t>If issue  is procedural then forum law applies if it is substantive then foreign law applies.</a:t>
            </a:r>
          </a:p>
          <a:p>
            <a:endParaRPr lang="en-US"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err="1" smtClean="0"/>
              <a:t>Renvoi</a:t>
            </a:r>
            <a:r>
              <a:rPr lang="en-US" dirty="0" smtClean="0"/>
              <a:t> (refer back)</a:t>
            </a:r>
          </a:p>
          <a:p>
            <a:r>
              <a:rPr lang="en-US" dirty="0" smtClean="0"/>
              <a:t>A problem of </a:t>
            </a:r>
            <a:r>
              <a:rPr lang="en-US" dirty="0" err="1" smtClean="0"/>
              <a:t>renvoi</a:t>
            </a:r>
            <a:r>
              <a:rPr lang="en-US" dirty="0" smtClean="0"/>
              <a:t> arises whenever a case containing a foreign element is referred by the conflict of law rules of the forum to the “law” of a foreign country and  when ever this reference is </a:t>
            </a:r>
            <a:r>
              <a:rPr lang="en-US" b="1" dirty="0" smtClean="0"/>
              <a:t>to entire law of the foreign state </a:t>
            </a:r>
            <a:r>
              <a:rPr lang="en-US" dirty="0" smtClean="0"/>
              <a:t>including its conflict of law rules involving the possibility that the conflict rules of this foreign state refers the question back to the law of the forum or forward to the law of a third country.</a:t>
            </a:r>
          </a:p>
          <a:p>
            <a:r>
              <a:rPr lang="en-US" b="1" dirty="0" smtClean="0"/>
              <a:t>Three approaches to solve </a:t>
            </a:r>
            <a:r>
              <a:rPr lang="en-US" b="1" dirty="0" err="1" smtClean="0"/>
              <a:t>Renvoi</a:t>
            </a:r>
            <a:r>
              <a:rPr lang="en-US" b="1" dirty="0" smtClean="0"/>
              <a:t> </a:t>
            </a:r>
            <a:r>
              <a:rPr lang="en-US" dirty="0" smtClean="0"/>
              <a:t>:</a:t>
            </a:r>
          </a:p>
          <a:p>
            <a:r>
              <a:rPr lang="en-US" dirty="0" smtClean="0"/>
              <a:t>Rejecting </a:t>
            </a:r>
            <a:r>
              <a:rPr lang="en-US" dirty="0" err="1" smtClean="0"/>
              <a:t>Renvoi</a:t>
            </a:r>
            <a:r>
              <a:rPr lang="en-US" dirty="0" smtClean="0"/>
              <a:t>, Accepting </a:t>
            </a:r>
            <a:r>
              <a:rPr lang="en-US" dirty="0" err="1" smtClean="0"/>
              <a:t>Renvoi</a:t>
            </a:r>
            <a:r>
              <a:rPr lang="en-US" dirty="0" smtClean="0"/>
              <a:t> and the Foreign court theory</a:t>
            </a:r>
          </a:p>
          <a:p>
            <a:endParaRPr lang="en-US" dirty="0" smtClean="0"/>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Exceptions to application of foreign law</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1.Evasion/ Fraud</a:t>
            </a:r>
          </a:p>
          <a:p>
            <a:r>
              <a:rPr lang="en-US" b="1" dirty="0"/>
              <a:t>D</a:t>
            </a:r>
            <a:r>
              <a:rPr lang="en-US" b="1" dirty="0" smtClean="0"/>
              <a:t>eliberately creating a foreign element</a:t>
            </a:r>
            <a:r>
              <a:rPr lang="en-US" dirty="0" smtClean="0"/>
              <a:t> in an </a:t>
            </a:r>
            <a:r>
              <a:rPr lang="en-US" b="1" dirty="0" smtClean="0"/>
              <a:t>artificial manner </a:t>
            </a:r>
            <a:r>
              <a:rPr lang="en-US" dirty="0" smtClean="0"/>
              <a:t>whose main purpose is to avoid the application of the forum (proper) law.</a:t>
            </a:r>
          </a:p>
          <a:p>
            <a:pPr>
              <a:buNone/>
            </a:pPr>
            <a:r>
              <a:rPr lang="en-US" b="1" dirty="0" smtClean="0"/>
              <a:t>2.Public Policy </a:t>
            </a:r>
          </a:p>
          <a:p>
            <a:pPr>
              <a:buNone/>
            </a:pPr>
            <a:r>
              <a:rPr lang="en-US" dirty="0" smtClean="0"/>
              <a:t>Justice Cardozo's definition: </a:t>
            </a:r>
          </a:p>
          <a:p>
            <a:pPr>
              <a:buNone/>
            </a:pPr>
            <a:r>
              <a:rPr lang="en-US" dirty="0" smtClean="0"/>
              <a:t>“A  foreign law must violate some fundamental principles justice , some prevalent conception of good morals some  deep rooted tradition of the common weal”</a:t>
            </a:r>
          </a:p>
          <a:p>
            <a:pPr>
              <a:buNone/>
            </a:pPr>
            <a:r>
              <a:rPr lang="en-US" dirty="0" smtClean="0"/>
              <a:t>Must be construed narrowly lest we become super moralist.</a:t>
            </a:r>
          </a:p>
          <a:p>
            <a:pPr>
              <a:buNone/>
            </a:pPr>
            <a:endParaRPr lang="en-US" b="1" dirty="0" smtClean="0"/>
          </a:p>
          <a:p>
            <a:pPr>
              <a:buNone/>
            </a:pPr>
            <a:r>
              <a:rPr lang="en-US" b="1" dirty="0" smtClean="0"/>
              <a:t>3.Rules of Immediate Application</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smtClean="0"/>
              <a:t>Foreign Law</a:t>
            </a:r>
          </a:p>
          <a:p>
            <a:r>
              <a:rPr lang="en-US" dirty="0" smtClean="0"/>
              <a:t>What status does foreign law has in the forum?</a:t>
            </a:r>
          </a:p>
          <a:p>
            <a:r>
              <a:rPr lang="en-US" dirty="0" smtClean="0"/>
              <a:t>How can we ascertain the content of foreign law? (method of proof)</a:t>
            </a:r>
          </a:p>
          <a:p>
            <a:r>
              <a:rPr lang="en-US" dirty="0" smtClean="0"/>
              <a:t>What will be the effect failure to prove?</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smtClean="0"/>
              <a:t>Criticism Against Classical Choice of Law Method</a:t>
            </a:r>
          </a:p>
          <a:p>
            <a:r>
              <a:rPr lang="en-US" sz="4000" b="1" dirty="0" smtClean="0"/>
              <a:t>Criteria for evaluation of choice of law methods</a:t>
            </a:r>
            <a:r>
              <a:rPr lang="en-US" sz="4000" dirty="0" smtClean="0"/>
              <a:t>:</a:t>
            </a:r>
            <a:r>
              <a:rPr lang="en-US" dirty="0" smtClean="0"/>
              <a:t> Strength of a certain choice of law method can be measured based on:</a:t>
            </a:r>
          </a:p>
          <a:p>
            <a:pPr lvl="1"/>
            <a:r>
              <a:rPr lang="en-US" dirty="0" smtClean="0"/>
              <a:t>Utility ( simplicity in application)</a:t>
            </a:r>
          </a:p>
          <a:p>
            <a:pPr lvl="1"/>
            <a:r>
              <a:rPr lang="en-US" dirty="0" smtClean="0"/>
              <a:t> Certainty ( predictability of out come)</a:t>
            </a:r>
          </a:p>
          <a:p>
            <a:pPr lvl="1"/>
            <a:r>
              <a:rPr lang="en-US" dirty="0" smtClean="0"/>
              <a:t>Justice to the parties</a:t>
            </a:r>
          </a:p>
          <a:p>
            <a:pPr lvl="1">
              <a:buNone/>
            </a:pPr>
            <a:r>
              <a:rPr lang="en-US" sz="4000" b="1" dirty="0" smtClean="0"/>
              <a:t>The classical method criticized  Because </a:t>
            </a:r>
            <a:r>
              <a:rPr lang="en-US" dirty="0" smtClean="0"/>
              <a:t>:</a:t>
            </a:r>
          </a:p>
          <a:p>
            <a:r>
              <a:rPr lang="en-US" dirty="0" smtClean="0"/>
              <a:t>It is </a:t>
            </a:r>
            <a:r>
              <a:rPr lang="en-US" b="1" dirty="0" smtClean="0"/>
              <a:t>mechanical </a:t>
            </a:r>
            <a:r>
              <a:rPr lang="en-US" dirty="0" smtClean="0"/>
              <a:t>and do not take in to consideration policy factors</a:t>
            </a:r>
          </a:p>
          <a:p>
            <a:r>
              <a:rPr lang="en-US" dirty="0" smtClean="0"/>
              <a:t> </a:t>
            </a:r>
            <a:r>
              <a:rPr lang="en-US" b="1" dirty="0" smtClean="0"/>
              <a:t>Not easy to apply </a:t>
            </a:r>
            <a:r>
              <a:rPr lang="en-US" dirty="0" smtClean="0"/>
              <a:t>it is complicated</a:t>
            </a:r>
          </a:p>
          <a:p>
            <a:r>
              <a:rPr lang="en-US" dirty="0" smtClean="0"/>
              <a:t> </a:t>
            </a:r>
            <a:r>
              <a:rPr lang="en-US" b="1" dirty="0" smtClean="0"/>
              <a:t>Failed to achieve its stated objectives </a:t>
            </a:r>
            <a:r>
              <a:rPr lang="en-US" dirty="0" smtClean="0"/>
              <a:t>:  Because of connecting factor, </a:t>
            </a:r>
            <a:r>
              <a:rPr lang="en-US" dirty="0" err="1" smtClean="0"/>
              <a:t>Revoi</a:t>
            </a:r>
            <a:r>
              <a:rPr lang="en-US" dirty="0" smtClean="0"/>
              <a:t> etc problem Decisional harmony to avoid forum shopping not achieved</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Government Analysis theory</a:t>
            </a:r>
            <a:endParaRPr lang="en-US" dirty="0"/>
          </a:p>
        </p:txBody>
      </p:sp>
      <p:sp>
        <p:nvSpPr>
          <p:cNvPr id="3" name="Content Placeholder 2"/>
          <p:cNvSpPr>
            <a:spLocks noGrp="1"/>
          </p:cNvSpPr>
          <p:nvPr>
            <p:ph idx="1"/>
          </p:nvPr>
        </p:nvSpPr>
        <p:spPr/>
        <p:txBody>
          <a:bodyPr>
            <a:normAutofit lnSpcReduction="10000"/>
          </a:bodyPr>
          <a:lstStyle/>
          <a:p>
            <a:r>
              <a:rPr lang="en-US" dirty="0" smtClean="0"/>
              <a:t>Basic law: Law of the forum</a:t>
            </a:r>
          </a:p>
          <a:p>
            <a:r>
              <a:rPr lang="en-US" dirty="0" smtClean="0"/>
              <a:t>Law of the forum displaced only where</a:t>
            </a:r>
          </a:p>
          <a:p>
            <a:pPr lvl="1"/>
            <a:r>
              <a:rPr lang="en-US" dirty="0" smtClean="0"/>
              <a:t>Justice to the parties so requires ,and</a:t>
            </a:r>
          </a:p>
          <a:p>
            <a:pPr lvl="1"/>
            <a:r>
              <a:rPr lang="en-US" dirty="0" smtClean="0"/>
              <a:t> higher governmental interest of foreign state requires </a:t>
            </a:r>
          </a:p>
          <a:p>
            <a:pPr lvl="1">
              <a:buNone/>
            </a:pPr>
            <a:r>
              <a:rPr lang="en-US" dirty="0" smtClean="0"/>
              <a:t>Forum = Foreign              Forum Law Applies</a:t>
            </a:r>
          </a:p>
          <a:p>
            <a:pPr lvl="1">
              <a:buNone/>
            </a:pPr>
            <a:r>
              <a:rPr lang="en-US" dirty="0" smtClean="0"/>
              <a:t>Forum &gt; Foreign              Forum law Applies </a:t>
            </a:r>
          </a:p>
          <a:p>
            <a:pPr lvl="1">
              <a:buNone/>
            </a:pPr>
            <a:r>
              <a:rPr lang="en-US" dirty="0" smtClean="0"/>
              <a:t>Forum &lt; Foreign              </a:t>
            </a:r>
            <a:r>
              <a:rPr lang="en-US" dirty="0" err="1" smtClean="0"/>
              <a:t>Foreign</a:t>
            </a:r>
            <a:r>
              <a:rPr lang="en-US" dirty="0" smtClean="0"/>
              <a:t> Law Applies</a:t>
            </a:r>
          </a:p>
          <a:p>
            <a:pPr lvl="1">
              <a:buNone/>
            </a:pPr>
            <a:r>
              <a:rPr lang="en-US" dirty="0" smtClean="0"/>
              <a:t>In Most cases the Forum law applies</a:t>
            </a:r>
            <a:endParaRPr lang="en-US" dirty="0"/>
          </a:p>
        </p:txBody>
      </p:sp>
      <p:sp>
        <p:nvSpPr>
          <p:cNvPr id="4" name="Right Arrow 3"/>
          <p:cNvSpPr/>
          <p:nvPr/>
        </p:nvSpPr>
        <p:spPr>
          <a:xfrm>
            <a:off x="3505200" y="45720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p:cNvSpPr/>
          <p:nvPr/>
        </p:nvSpPr>
        <p:spPr>
          <a:xfrm>
            <a:off x="3505200" y="50292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3505200" y="41148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a:t>Critics Against Government Interest </a:t>
            </a:r>
            <a:r>
              <a:rPr lang="en-US" b="1" dirty="0" smtClean="0"/>
              <a:t>Analysis</a:t>
            </a:r>
          </a:p>
          <a:p>
            <a:pPr lvl="1"/>
            <a:r>
              <a:rPr lang="en-US" dirty="0" smtClean="0"/>
              <a:t>It is difficult to find governmental interest in each and every private dispute</a:t>
            </a:r>
          </a:p>
          <a:p>
            <a:pPr lvl="1"/>
            <a:r>
              <a:rPr lang="en-US" dirty="0" smtClean="0"/>
              <a:t>Policy behind rules is difficult to ascertain</a:t>
            </a:r>
          </a:p>
          <a:p>
            <a:pPr lvl="1"/>
            <a:r>
              <a:rPr lang="en-US" dirty="0" smtClean="0"/>
              <a:t>How to measure policies?</a:t>
            </a:r>
          </a:p>
          <a:p>
            <a:pPr lvl="1"/>
            <a:r>
              <a:rPr lang="en-US" dirty="0" smtClean="0"/>
              <a:t>“All roads lead to home”</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smtClean="0"/>
              <a:t/>
            </a:r>
            <a:br>
              <a:rPr lang="en-US" sz="2700" dirty="0" smtClean="0"/>
            </a:br>
            <a:r>
              <a:rPr lang="en-US" sz="2700" dirty="0"/>
              <a:t/>
            </a:r>
            <a:br>
              <a:rPr lang="en-US" sz="2700" dirty="0"/>
            </a:br>
            <a:r>
              <a:rPr lang="en-US" sz="3600" dirty="0" smtClean="0"/>
              <a:t>Chapter Four</a:t>
            </a:r>
            <a:br>
              <a:rPr lang="en-US" sz="3600" dirty="0" smtClean="0"/>
            </a:br>
            <a:r>
              <a:rPr lang="en-US" sz="3600" dirty="0" smtClean="0"/>
              <a:t>Recognition and Enforcement of Foreign Judgments and Arbitral Awards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Why do we need to recognize and enforce foreign judgments and award?</a:t>
            </a:r>
          </a:p>
          <a:p>
            <a:r>
              <a:rPr lang="en-US" dirty="0" smtClean="0"/>
              <a:t>The world today we have </a:t>
            </a:r>
            <a:r>
              <a:rPr lang="en-US" b="1" dirty="0" smtClean="0"/>
              <a:t>diverse states </a:t>
            </a:r>
            <a:r>
              <a:rPr lang="en-US" dirty="0" smtClean="0"/>
              <a:t>g the </a:t>
            </a:r>
            <a:r>
              <a:rPr lang="en-US" b="1" dirty="0" smtClean="0"/>
              <a:t>interactions</a:t>
            </a:r>
            <a:r>
              <a:rPr lang="en-US" dirty="0" smtClean="0"/>
              <a:t> of which in different spheres of life often results in conflicting international legal situations.</a:t>
            </a:r>
          </a:p>
          <a:p>
            <a:r>
              <a:rPr lang="en-US" dirty="0" smtClean="0"/>
              <a:t>Such interactions may give rise to court decisions  that requires to be enforced out side its territory.</a:t>
            </a:r>
          </a:p>
          <a:p>
            <a:r>
              <a:rPr lang="en-US" dirty="0" smtClean="0"/>
              <a:t>As states are sovereign they will not readily enforce judgments by foreign courts. Therefore unless certain mechanisms are created to allow recognition and enforcement of foreign judgments in a  certain country:</a:t>
            </a:r>
          </a:p>
          <a:p>
            <a:pPr lvl="1"/>
            <a:r>
              <a:rPr lang="en-US" dirty="0" smtClean="0"/>
              <a:t> legitimate rights and status obtained under a foreign law may be lost, </a:t>
            </a:r>
          </a:p>
          <a:p>
            <a:pPr lvl="1"/>
            <a:r>
              <a:rPr lang="en-US" dirty="0" smtClean="0"/>
              <a:t>Parties to the dispute will be subject to additional costs and trouble as they may be required to bring a new suit or claim in this court</a:t>
            </a:r>
          </a:p>
          <a:p>
            <a:endParaRPr lang="en-US" dirty="0" smtClean="0"/>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Execution of foreign judgments in Ethiopia</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We have two methods:</a:t>
            </a:r>
          </a:p>
          <a:p>
            <a:pPr lvl="1"/>
            <a:r>
              <a:rPr lang="en-US" dirty="0" smtClean="0"/>
              <a:t>On the basis of International treaty( agreement)</a:t>
            </a:r>
          </a:p>
          <a:p>
            <a:pPr lvl="1"/>
            <a:r>
              <a:rPr lang="en-US" dirty="0" smtClean="0"/>
              <a:t>On the basis of on fulfillment of conditions under civil procedure code provisions </a:t>
            </a:r>
          </a:p>
          <a:p>
            <a:r>
              <a:rPr lang="en-US" dirty="0" smtClean="0"/>
              <a:t> If there is any treaty that was entered between Ethiopia and other country for recognition and enforcement of judgments of each other based on that treaty Ethiopian courts will recognize and enforce judgments obtained in that country. (Art.456)</a:t>
            </a:r>
          </a:p>
          <a:p>
            <a:r>
              <a:rPr lang="en-US" dirty="0" smtClean="0"/>
              <a:t>E.g. Treaty between Ethiopia and Djibouti.</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In the absence of treaty, then the conditions under Art.458 must be full filled. These are:</a:t>
            </a:r>
          </a:p>
          <a:p>
            <a:r>
              <a:rPr lang="en-US" dirty="0" smtClean="0"/>
              <a:t> </a:t>
            </a:r>
            <a:r>
              <a:rPr lang="en-US" i="1" dirty="0" smtClean="0"/>
              <a:t>a) the execution of Ethiopian judgments is allowed in the country in which the    judgment to be executed was given(</a:t>
            </a:r>
            <a:r>
              <a:rPr lang="en-US" b="1" i="1" dirty="0" smtClean="0"/>
              <a:t>Reciprocity)</a:t>
            </a:r>
            <a:r>
              <a:rPr lang="en-US" i="1" dirty="0" smtClean="0"/>
              <a:t>;</a:t>
            </a:r>
            <a:endParaRPr lang="en-US" dirty="0" smtClean="0"/>
          </a:p>
          <a:p>
            <a:r>
              <a:rPr lang="en-US" i="1" dirty="0" smtClean="0"/>
              <a:t>  b) The judgment was given by a court duly established and constituted;</a:t>
            </a:r>
            <a:endParaRPr lang="en-US" dirty="0" smtClean="0"/>
          </a:p>
          <a:p>
            <a:r>
              <a:rPr lang="en-US" i="1" dirty="0" smtClean="0"/>
              <a:t>  c) The judgment-debtor was given the opportunity to appear and present his defense;</a:t>
            </a:r>
            <a:endParaRPr lang="en-US" dirty="0" smtClean="0"/>
          </a:p>
          <a:p>
            <a:r>
              <a:rPr lang="en-US" i="1" dirty="0" smtClean="0"/>
              <a:t>  d) The judgment to be executed is final and enforceable; and</a:t>
            </a:r>
            <a:endParaRPr lang="en-US" dirty="0" smtClean="0"/>
          </a:p>
          <a:p>
            <a:r>
              <a:rPr lang="en-US" i="1" dirty="0" smtClean="0"/>
              <a:t>  e) Execution is not contrary to public order or </a:t>
            </a:r>
            <a:r>
              <a:rPr lang="en-US" i="1" dirty="0" err="1" smtClean="0"/>
              <a:t>mora</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4800" dirty="0" smtClean="0"/>
              <a:t>Part Two</a:t>
            </a:r>
            <a:br>
              <a:rPr lang="en-US" sz="4800" dirty="0" smtClean="0"/>
            </a:br>
            <a:r>
              <a:rPr lang="en-US" sz="4800" dirty="0" smtClean="0"/>
              <a:t>Application of Conflict of law in Specific Areas of Law</a:t>
            </a:r>
            <a:endParaRPr lang="en-US" sz="4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Chapter Five</a:t>
            </a:r>
            <a:br>
              <a:rPr lang="en-US" dirty="0" smtClean="0"/>
            </a:br>
            <a:r>
              <a:rPr lang="en-US" dirty="0" smtClean="0"/>
              <a:t>Contractual Obligations</a:t>
            </a:r>
            <a:endParaRPr lang="en-US" dirty="0"/>
          </a:p>
        </p:txBody>
      </p:sp>
      <p:sp>
        <p:nvSpPr>
          <p:cNvPr id="3" name="Content Placeholder 2"/>
          <p:cNvSpPr>
            <a:spLocks noGrp="1"/>
          </p:cNvSpPr>
          <p:nvPr>
            <p:ph idx="1"/>
          </p:nvPr>
        </p:nvSpPr>
        <p:spPr/>
        <p:txBody>
          <a:bodyPr>
            <a:normAutofit fontScale="47500" lnSpcReduction="20000"/>
          </a:bodyPr>
          <a:lstStyle/>
          <a:p>
            <a:r>
              <a:rPr lang="en-US" b="1" dirty="0" smtClean="0"/>
              <a:t>Doctrine of the proper law of Contract</a:t>
            </a:r>
          </a:p>
          <a:p>
            <a:r>
              <a:rPr lang="en-US" dirty="0" smtClean="0"/>
              <a:t>It is </a:t>
            </a:r>
            <a:r>
              <a:rPr lang="en-US" dirty="0"/>
              <a:t>that law which a court is to apply in determining the obligations under the contract</a:t>
            </a:r>
            <a:r>
              <a:rPr lang="en-GB" dirty="0"/>
              <a:t>. However, meaning and identification of this proper law of contact is very different from county to country</a:t>
            </a:r>
            <a:r>
              <a:rPr lang="en-GB" dirty="0" smtClean="0"/>
              <a:t>.</a:t>
            </a:r>
          </a:p>
          <a:p>
            <a:r>
              <a:rPr lang="en-GB" b="1" dirty="0" smtClean="0"/>
              <a:t>Choice by the Parties</a:t>
            </a:r>
          </a:p>
          <a:p>
            <a:r>
              <a:rPr lang="en-GB" dirty="0" smtClean="0"/>
              <a:t>the </a:t>
            </a:r>
            <a:r>
              <a:rPr lang="en-GB" dirty="0"/>
              <a:t>appropriate system of law to govern the formation and outcome of contacts containing foreign elements in principle is left for the parties to choose</a:t>
            </a:r>
            <a:r>
              <a:rPr lang="en-GB" dirty="0" smtClean="0"/>
              <a:t>.</a:t>
            </a:r>
          </a:p>
          <a:p>
            <a:r>
              <a:rPr lang="en-GB" dirty="0"/>
              <a:t>the parties are not free to choose any law they like. They have to have substantial relationship with the parties and the chosen law should not be contrary to the public policy of the </a:t>
            </a:r>
            <a:r>
              <a:rPr lang="en-GB" dirty="0" smtClean="0"/>
              <a:t>forum</a:t>
            </a:r>
          </a:p>
          <a:p>
            <a:r>
              <a:rPr lang="en-GB" b="1" dirty="0" smtClean="0"/>
              <a:t>Law of  Most significant Relation</a:t>
            </a:r>
          </a:p>
          <a:p>
            <a:r>
              <a:rPr lang="en-GB" dirty="0" smtClean="0"/>
              <a:t>if </a:t>
            </a:r>
            <a:r>
              <a:rPr lang="en-GB" dirty="0"/>
              <a:t>the parties fail to make a valid choice, the practice of different countries shows that the court of the forum applies the law of the state that has the most significant relationship or the closest connection with the contract. </a:t>
            </a:r>
            <a:endParaRPr lang="en-US" dirty="0"/>
          </a:p>
          <a:p>
            <a:r>
              <a:rPr lang="en-GB" dirty="0"/>
              <a:t>In order to determine the law that has the most significant relationship or connection  countries use indictors like the place of contracting , place of performance, place where the subject matter of the contract is situated or the place where the parties have their address particularly -  domicile residence, or place of incorporation or place of business of the parties.</a:t>
            </a:r>
            <a:endParaRPr lang="en-US" dirty="0"/>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Chapter six</a:t>
            </a:r>
            <a:br>
              <a:rPr lang="en-US" dirty="0" smtClean="0"/>
            </a:br>
            <a:r>
              <a:rPr lang="en-US" dirty="0" smtClean="0"/>
              <a:t>Non-contractual Obligations</a:t>
            </a:r>
            <a:endParaRPr lang="en-US" dirty="0"/>
          </a:p>
        </p:txBody>
      </p:sp>
      <p:sp>
        <p:nvSpPr>
          <p:cNvPr id="3" name="Content Placeholder 2"/>
          <p:cNvSpPr>
            <a:spLocks noGrp="1"/>
          </p:cNvSpPr>
          <p:nvPr>
            <p:ph idx="1"/>
          </p:nvPr>
        </p:nvSpPr>
        <p:spPr/>
        <p:txBody>
          <a:bodyPr>
            <a:normAutofit fontScale="47500" lnSpcReduction="20000"/>
          </a:bodyPr>
          <a:lstStyle/>
          <a:p>
            <a:r>
              <a:rPr lang="en-US" dirty="0" smtClean="0"/>
              <a:t>Choice of law in tort issues are areas of conflict of law where, as opposed to contract, the parties are not free to chose the governing law. This seems to be based on policy consideration to give the victim a chance to be compensated since he is the party with a weak bargaining power and needs protection.</a:t>
            </a:r>
          </a:p>
          <a:p>
            <a:endParaRPr lang="en-US" dirty="0" smtClean="0"/>
          </a:p>
          <a:p>
            <a:r>
              <a:rPr lang="en-US" dirty="0" smtClean="0"/>
              <a:t>The traditional rule for choice of law in multi state tort cases have always been </a:t>
            </a:r>
            <a:r>
              <a:rPr lang="en-US" b="1" dirty="0" smtClean="0"/>
              <a:t>the </a:t>
            </a:r>
            <a:r>
              <a:rPr lang="en-US" b="1" i="1" dirty="0" err="1" smtClean="0"/>
              <a:t>lex</a:t>
            </a:r>
            <a:r>
              <a:rPr lang="en-US" b="1" i="1" dirty="0" smtClean="0"/>
              <a:t> loci </a:t>
            </a:r>
            <a:r>
              <a:rPr lang="en-US" b="1" i="1" dirty="0" err="1" smtClean="0"/>
              <a:t>delicti</a:t>
            </a:r>
            <a:r>
              <a:rPr lang="en-US" b="1" i="1" dirty="0" smtClean="0"/>
              <a:t> </a:t>
            </a:r>
            <a:r>
              <a:rPr lang="en-US" b="1" dirty="0" smtClean="0"/>
              <a:t>.i.e., the law of the place of wrong. </a:t>
            </a:r>
          </a:p>
          <a:p>
            <a:r>
              <a:rPr lang="en-US" sz="3800" b="1" dirty="0" smtClean="0"/>
              <a:t>The Exceptions where </a:t>
            </a:r>
            <a:r>
              <a:rPr lang="en-US" sz="3800" b="1" dirty="0" err="1" smtClean="0"/>
              <a:t>lex</a:t>
            </a:r>
            <a:r>
              <a:rPr lang="en-US" sz="3800" b="1" dirty="0" smtClean="0"/>
              <a:t> loci </a:t>
            </a:r>
            <a:r>
              <a:rPr lang="en-US" sz="3800" b="1" dirty="0" err="1" smtClean="0"/>
              <a:t>damni</a:t>
            </a:r>
            <a:r>
              <a:rPr lang="en-US" sz="3800" b="1" dirty="0" smtClean="0"/>
              <a:t> may not apply</a:t>
            </a:r>
            <a:endParaRPr lang="en-US" sz="3800" dirty="0" smtClean="0"/>
          </a:p>
          <a:p>
            <a:r>
              <a:rPr lang="en-US" dirty="0" smtClean="0"/>
              <a:t>The general exceptions include the following:</a:t>
            </a:r>
          </a:p>
          <a:p>
            <a:r>
              <a:rPr lang="en-US" dirty="0" smtClean="0"/>
              <a:t>(1)  the application of the law of the parties' common habitual residence, under Article 4(2); </a:t>
            </a:r>
          </a:p>
          <a:p>
            <a:r>
              <a:rPr lang="en-US" dirty="0" smtClean="0"/>
              <a:t>(2) the application of the law of a state that has a "manifestly closer connection," under the escape clause of Article 4(3) </a:t>
            </a:r>
          </a:p>
          <a:p>
            <a:r>
              <a:rPr lang="en-US" dirty="0" smtClean="0"/>
              <a:t>(3) the application of the mandatory rules of the forum state, under Article 16;</a:t>
            </a:r>
          </a:p>
          <a:p>
            <a:r>
              <a:rPr lang="en-US" dirty="0" smtClean="0"/>
              <a:t>(4) the "taking into account" (and possible application) of the "safety and conduct" rules of the state of conduct, under Article 17;</a:t>
            </a:r>
          </a:p>
          <a:p>
            <a:r>
              <a:rPr lang="en-US" dirty="0" smtClean="0"/>
              <a:t>(5) the application of the law chosen by the parties before or after the occurrence of the tort, under Article 14;</a:t>
            </a:r>
          </a:p>
          <a:p>
            <a:r>
              <a:rPr lang="en-US" dirty="0" smtClean="0"/>
              <a:t>(6) the non-application of the </a:t>
            </a:r>
            <a:r>
              <a:rPr lang="en-US" dirty="0" err="1" smtClean="0"/>
              <a:t>lex</a:t>
            </a:r>
            <a:r>
              <a:rPr lang="en-US" dirty="0" smtClean="0"/>
              <a:t> loci (or any other law) when it is manifestly incompatible with the </a:t>
            </a:r>
            <a:r>
              <a:rPr lang="en-US" dirty="0" err="1" smtClean="0"/>
              <a:t>ordre</a:t>
            </a:r>
            <a:r>
              <a:rPr lang="en-US" dirty="0" smtClean="0"/>
              <a:t> public of the forum, under Article 26.</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Chapter Seven</a:t>
            </a:r>
            <a:br>
              <a:rPr lang="en-US" dirty="0" smtClean="0"/>
            </a:br>
            <a:r>
              <a:rPr lang="en-US" dirty="0" smtClean="0"/>
              <a:t>Choice of law Rules Governing Property</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Property rights are areas of law where the sovereignty of the state in which the property situated is most jealously guarded.</a:t>
            </a:r>
          </a:p>
          <a:p>
            <a:r>
              <a:rPr lang="en-US" dirty="0" smtClean="0"/>
              <a:t> Thus, we will see how the </a:t>
            </a:r>
            <a:r>
              <a:rPr lang="en-US" b="1" dirty="0" smtClean="0"/>
              <a:t>law of the place of </a:t>
            </a:r>
            <a:r>
              <a:rPr lang="en-US" b="1" dirty="0" err="1" smtClean="0"/>
              <a:t>situs</a:t>
            </a:r>
            <a:r>
              <a:rPr lang="en-US" b="1" dirty="0" smtClean="0"/>
              <a:t> </a:t>
            </a:r>
            <a:r>
              <a:rPr lang="en-US" dirty="0" smtClean="0"/>
              <a:t>affects</a:t>
            </a:r>
            <a:r>
              <a:rPr lang="en-US" b="1" dirty="0" smtClean="0"/>
              <a:t> </a:t>
            </a:r>
            <a:r>
              <a:rPr lang="en-US" dirty="0" smtClean="0"/>
              <a:t>the status of the property and the different types of transactions on properties that call for choice of law. </a:t>
            </a:r>
            <a:r>
              <a:rPr lang="en-US" dirty="0" err="1" smtClean="0"/>
              <a:t>i.e</a:t>
            </a:r>
            <a:r>
              <a:rPr lang="en-US" dirty="0" smtClean="0"/>
              <a:t> conveyances and encumbrances, and successions.</a:t>
            </a:r>
          </a:p>
          <a:p>
            <a:r>
              <a:rPr lang="en-US" dirty="0" smtClean="0"/>
              <a:t>The appropriate questions that should be addressed in conflict of laws rules dealing with property are: </a:t>
            </a:r>
          </a:p>
          <a:p>
            <a:pPr lvl="1"/>
            <a:r>
              <a:rPr lang="en-US" dirty="0" smtClean="0"/>
              <a:t>what law governs the creation, transfer and effect of property right?</a:t>
            </a:r>
          </a:p>
          <a:p>
            <a:pPr lvl="1"/>
            <a:r>
              <a:rPr lang="en-US" dirty="0" smtClean="0"/>
              <a:t> Which law should determine whether the property should be considered as movable or immovable? </a:t>
            </a:r>
          </a:p>
          <a:p>
            <a:pPr lvl="1"/>
            <a:r>
              <a:rPr lang="en-US" dirty="0" smtClean="0"/>
              <a:t>Are </a:t>
            </a:r>
            <a:r>
              <a:rPr lang="en-US" dirty="0" err="1" smtClean="0"/>
              <a:t>immovables</a:t>
            </a:r>
            <a:r>
              <a:rPr lang="en-US" dirty="0" smtClean="0"/>
              <a:t> and movables subject to the same law? And the like.</a:t>
            </a:r>
          </a:p>
          <a:p>
            <a:endParaRPr lang="en-US" dirty="0" smtClean="0"/>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Both </a:t>
            </a:r>
            <a:r>
              <a:rPr lang="en-US" dirty="0" err="1" smtClean="0"/>
              <a:t>immovables</a:t>
            </a:r>
            <a:r>
              <a:rPr lang="en-US" dirty="0" smtClean="0"/>
              <a:t> and movables are governed by </a:t>
            </a:r>
            <a:r>
              <a:rPr lang="en-US" b="1" dirty="0" smtClean="0"/>
              <a:t>the </a:t>
            </a:r>
            <a:r>
              <a:rPr lang="en-US" b="1" i="1" dirty="0" err="1" smtClean="0"/>
              <a:t>lex</a:t>
            </a:r>
            <a:r>
              <a:rPr lang="en-US" b="1" i="1" dirty="0" smtClean="0"/>
              <a:t> </a:t>
            </a:r>
            <a:r>
              <a:rPr lang="en-US" b="1" i="1" dirty="0" err="1" smtClean="0"/>
              <a:t>rei</a:t>
            </a:r>
            <a:r>
              <a:rPr lang="en-US" b="1" i="1" dirty="0" smtClean="0"/>
              <a:t> </a:t>
            </a:r>
            <a:r>
              <a:rPr lang="en-US" b="1" i="1" dirty="0" err="1" smtClean="0"/>
              <a:t>sitate</a:t>
            </a:r>
            <a:r>
              <a:rPr lang="en-US" i="1" dirty="0" smtClean="0"/>
              <a:t>, i.e., the law of the state in which the properties are situated.</a:t>
            </a:r>
          </a:p>
          <a:p>
            <a:r>
              <a:rPr lang="en-US" dirty="0" smtClean="0"/>
              <a:t>The definition of what properties are movable or immovable   is different from country to country.</a:t>
            </a:r>
          </a:p>
          <a:p>
            <a:r>
              <a:rPr lang="en-US" dirty="0" smtClean="0"/>
              <a:t>In accordance to which law should we determine whether the property involved is movable or immovable?</a:t>
            </a:r>
          </a:p>
          <a:p>
            <a:r>
              <a:rPr lang="en-US" dirty="0" smtClean="0"/>
              <a:t> Authorities and the jurisprudence of many countries hold that </a:t>
            </a:r>
            <a:r>
              <a:rPr lang="en-US" b="1" dirty="0" smtClean="0"/>
              <a:t>the </a:t>
            </a:r>
            <a:r>
              <a:rPr lang="en-US" b="1" i="1" dirty="0" err="1" smtClean="0"/>
              <a:t>lex</a:t>
            </a:r>
            <a:r>
              <a:rPr lang="en-US" b="1" i="1" dirty="0" smtClean="0"/>
              <a:t> </a:t>
            </a:r>
            <a:r>
              <a:rPr lang="en-US" b="1" i="1" dirty="0" err="1" smtClean="0"/>
              <a:t>situs</a:t>
            </a:r>
            <a:r>
              <a:rPr lang="en-US" b="1" dirty="0" smtClean="0"/>
              <a:t> decides whether the property is movable or immovable.</a:t>
            </a:r>
            <a:r>
              <a:rPr lang="en-US" dirty="0" smtClean="0"/>
              <a:t> Not the </a:t>
            </a:r>
            <a:r>
              <a:rPr lang="en-US" dirty="0" err="1" smtClean="0"/>
              <a:t>lex</a:t>
            </a:r>
            <a:r>
              <a:rPr lang="en-US" dirty="0" smtClean="0"/>
              <a:t> </a:t>
            </a:r>
            <a:r>
              <a:rPr lang="en-US" dirty="0" err="1" smtClean="0"/>
              <a:t>fori</a:t>
            </a:r>
            <a:r>
              <a:rPr lang="en-US" dirty="0" smtClean="0"/>
              <a:t>.</a:t>
            </a:r>
          </a:p>
          <a:p>
            <a:r>
              <a:rPr lang="en-US" dirty="0" smtClean="0"/>
              <a:t>It is submitted that </a:t>
            </a:r>
            <a:r>
              <a:rPr lang="en-US" b="1" dirty="0" smtClean="0"/>
              <a:t>law of the </a:t>
            </a:r>
            <a:r>
              <a:rPr lang="en-US" b="1" dirty="0" err="1" smtClean="0"/>
              <a:t>situs</a:t>
            </a:r>
            <a:r>
              <a:rPr lang="en-US" b="1" dirty="0" smtClean="0"/>
              <a:t> </a:t>
            </a:r>
            <a:r>
              <a:rPr lang="en-US" dirty="0" smtClean="0"/>
              <a:t>should be quite broad and should include all questions related to </a:t>
            </a:r>
            <a:r>
              <a:rPr lang="en-US" b="1" dirty="0" smtClean="0"/>
              <a:t>capacity and formal requirements </a:t>
            </a:r>
            <a:r>
              <a:rPr lang="en-US" dirty="0" smtClean="0"/>
              <a:t>for the transaction. </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7.3.Rules Governing Succession</a:t>
            </a:r>
            <a:endParaRPr lang="en-US" dirty="0"/>
          </a:p>
        </p:txBody>
      </p:sp>
      <p:sp>
        <p:nvSpPr>
          <p:cNvPr id="3" name="Content Placeholder 2"/>
          <p:cNvSpPr>
            <a:spLocks noGrp="1"/>
          </p:cNvSpPr>
          <p:nvPr>
            <p:ph idx="1"/>
          </p:nvPr>
        </p:nvSpPr>
        <p:spPr/>
        <p:txBody>
          <a:bodyPr>
            <a:normAutofit fontScale="55000" lnSpcReduction="20000"/>
          </a:bodyPr>
          <a:lstStyle/>
          <a:p>
            <a:r>
              <a:rPr lang="en-US" sz="3800" b="1" dirty="0" smtClean="0"/>
              <a:t>. Succession to Movables</a:t>
            </a:r>
          </a:p>
          <a:p>
            <a:r>
              <a:rPr lang="en-US" b="1" dirty="0" smtClean="0"/>
              <a:t>A. Intestate Succession</a:t>
            </a:r>
          </a:p>
          <a:p>
            <a:r>
              <a:rPr lang="en-US" dirty="0" smtClean="0"/>
              <a:t>The rule has been established for some two centuries that movable property in the case of intestacy is to be distributed according to the law of the domicile of the deceased person at the time of his death. </a:t>
            </a:r>
          </a:p>
          <a:p>
            <a:r>
              <a:rPr lang="en-US" sz="5100" b="1" dirty="0" smtClean="0"/>
              <a:t>B. Testate Succession </a:t>
            </a:r>
          </a:p>
          <a:p>
            <a:r>
              <a:rPr lang="en-US" dirty="0" smtClean="0"/>
              <a:t>The general principle established concerning testamentary succession of movables both in England and U.S.A is that it is governed exclusively by the law of the domicile of the deceased as it existed at the time of his death. </a:t>
            </a:r>
          </a:p>
          <a:p>
            <a:r>
              <a:rPr lang="en-US" dirty="0" smtClean="0"/>
              <a:t> When a testator dies domiciled in a foreign country, leaving assets in another country, it is necessary to note that the action for succession should be made at the court of the country where the property is situated. </a:t>
            </a:r>
          </a:p>
          <a:p>
            <a:r>
              <a:rPr lang="en-US" dirty="0" smtClean="0"/>
              <a:t>Moreover it is true that assets must be administered in the same country according to the law of the </a:t>
            </a:r>
            <a:r>
              <a:rPr lang="en-US" dirty="0" err="1" smtClean="0"/>
              <a:t>situs</a:t>
            </a:r>
            <a:r>
              <a:rPr lang="en-US" dirty="0" smtClean="0"/>
              <a:t>.</a:t>
            </a:r>
          </a:p>
          <a:p>
            <a:r>
              <a:rPr lang="en-US" dirty="0" smtClean="0"/>
              <a:t> But nevertheless all questions concerning the beneficial succession must be decided in accordance with the law of the domicile</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sz="6500" b="1" dirty="0" smtClean="0"/>
              <a:t>II. Succession to Immovable</a:t>
            </a:r>
          </a:p>
          <a:p>
            <a:r>
              <a:rPr lang="en-US" sz="5100" b="1" dirty="0" smtClean="0"/>
              <a:t>A. Intestate </a:t>
            </a:r>
            <a:r>
              <a:rPr lang="en-US" sz="5100" b="1" dirty="0" err="1" smtClean="0"/>
              <a:t>sucession</a:t>
            </a:r>
            <a:endParaRPr lang="en-US" sz="5100" b="1" dirty="0" smtClean="0"/>
          </a:p>
          <a:p>
            <a:r>
              <a:rPr lang="en-US" dirty="0" smtClean="0"/>
              <a:t>The devolution of interests in land upon the death of the owner intestate is determined by the law that would be applied by the courts of the </a:t>
            </a:r>
            <a:r>
              <a:rPr lang="en-US" dirty="0" err="1" smtClean="0"/>
              <a:t>situs</a:t>
            </a:r>
            <a:r>
              <a:rPr lang="en-US" dirty="0" smtClean="0"/>
              <a:t>. These courts would usually apply their own local law in determining such questions.</a:t>
            </a:r>
          </a:p>
          <a:p>
            <a:r>
              <a:rPr lang="en-US" dirty="0" smtClean="0"/>
              <a:t>There will be situations in any event where the courts of the </a:t>
            </a:r>
            <a:r>
              <a:rPr lang="en-US" dirty="0" err="1" smtClean="0"/>
              <a:t>situs</a:t>
            </a:r>
            <a:r>
              <a:rPr lang="en-US" dirty="0" smtClean="0"/>
              <a:t> would look to the local law of some other state to determine questions involving intestate succession to local land. </a:t>
            </a:r>
            <a:r>
              <a:rPr lang="en-US" dirty="0" err="1" smtClean="0"/>
              <a:t>i.e</a:t>
            </a:r>
            <a:r>
              <a:rPr lang="en-US" dirty="0" smtClean="0"/>
              <a:t> incidental questions.</a:t>
            </a:r>
          </a:p>
          <a:p>
            <a:pPr lvl="0">
              <a:buNone/>
            </a:pPr>
            <a:r>
              <a:rPr lang="en-US" sz="5100" b="1" dirty="0" smtClean="0"/>
              <a:t>B. Testate succession</a:t>
            </a:r>
          </a:p>
          <a:p>
            <a:pPr lvl="0"/>
            <a:r>
              <a:rPr lang="en-US" b="1" dirty="0" smtClean="0"/>
              <a:t>Validity and Effect of Will of an Immovable</a:t>
            </a:r>
            <a:endParaRPr lang="en-US" dirty="0" smtClean="0"/>
          </a:p>
          <a:p>
            <a:r>
              <a:rPr lang="en-US" dirty="0" smtClean="0"/>
              <a:t>Whether a will transfers an interest in land and the nature of the interest transferred are determined by the law that would be applied by the courts of the </a:t>
            </a:r>
            <a:r>
              <a:rPr lang="en-US" dirty="0" err="1" smtClean="0"/>
              <a:t>situs</a:t>
            </a:r>
            <a:r>
              <a:rPr lang="en-US" dirty="0" smtClean="0"/>
              <a:t>. These courts would usually apply their own local law in determining such questions.  </a:t>
            </a:r>
          </a:p>
          <a:p>
            <a:r>
              <a:rPr lang="en-US" dirty="0" smtClean="0"/>
              <a:t>The rule of this Section is applicable to questions relating to testamentary dispositions of interests in land</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a:t/>
            </a:r>
            <a:br>
              <a:rPr lang="en-US" b="1" dirty="0"/>
            </a:br>
            <a:r>
              <a:rPr lang="en-US" sz="3600" b="1" dirty="0" smtClean="0"/>
              <a:t>Rules Governing Choice of Laws in succession Under the Federal Conflict of Law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Relevant provisions are Art.66 and 67 of the draft.</a:t>
            </a:r>
          </a:p>
          <a:p>
            <a:pPr marL="571500" indent="-571500">
              <a:buAutoNum type="romanUcPeriod"/>
            </a:pPr>
            <a:r>
              <a:rPr lang="en-US" b="1" dirty="0" smtClean="0"/>
              <a:t>Succession to Immovable Property (</a:t>
            </a:r>
            <a:r>
              <a:rPr lang="en-US" b="1" dirty="0" err="1" smtClean="0"/>
              <a:t>BothTestate</a:t>
            </a:r>
            <a:r>
              <a:rPr lang="en-US" b="1" dirty="0" smtClean="0"/>
              <a:t> and Intestate)</a:t>
            </a:r>
          </a:p>
          <a:p>
            <a:r>
              <a:rPr lang="en-US" dirty="0" smtClean="0"/>
              <a:t>As stated under Art. 66, succession of immovable property is subject to the laws of the </a:t>
            </a:r>
            <a:r>
              <a:rPr lang="en-US" b="1" dirty="0" smtClean="0"/>
              <a:t>place where the property is situated</a:t>
            </a:r>
            <a:r>
              <a:rPr lang="en-US" dirty="0" smtClean="0"/>
              <a:t>. </a:t>
            </a:r>
          </a:p>
          <a:p>
            <a:r>
              <a:rPr lang="en-US" dirty="0" smtClean="0"/>
              <a:t>This emphasizes the importance of the place of </a:t>
            </a:r>
            <a:r>
              <a:rPr lang="en-US" dirty="0" err="1" smtClean="0"/>
              <a:t>sitis</a:t>
            </a:r>
            <a:r>
              <a:rPr lang="en-US" dirty="0" smtClean="0"/>
              <a:t> for all matters relating to the immovable property one of which is transfer by succession. </a:t>
            </a:r>
          </a:p>
          <a:p>
            <a:pPr>
              <a:buNone/>
            </a:pPr>
            <a:r>
              <a:rPr lang="en-US" b="1" dirty="0" smtClean="0"/>
              <a:t>II. Succession to Movable Property ( Testate and intestate)</a:t>
            </a:r>
          </a:p>
          <a:p>
            <a:r>
              <a:rPr lang="en-US" dirty="0" smtClean="0"/>
              <a:t>The provision of Art 67 provides that succession to movable property whether testate or intestate shall be governed by the personal law of the deceased at the time of his death. </a:t>
            </a:r>
          </a:p>
          <a:p>
            <a:r>
              <a:rPr lang="en-US" dirty="0" smtClean="0"/>
              <a:t>Both provisions lack sufficient specificity to enable Ethiopian judges identify and apply the appropriate law governing the matter. It seems that all issues related to succession except construction of will are supposed to be governed by single law. </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3600" dirty="0" smtClean="0"/>
              <a:t>Chapter Eight </a:t>
            </a:r>
            <a:br>
              <a:rPr lang="en-US" sz="3600" dirty="0" smtClean="0"/>
            </a:br>
            <a:r>
              <a:rPr lang="en-US" sz="3600" dirty="0" smtClean="0"/>
              <a:t>Choice of Law Rules Governing Marriage and Divorce</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Generally the applicable  law on status  is the law of the place where the transaction or the person has more contact when compared to the laws of other places</a:t>
            </a:r>
          </a:p>
          <a:p>
            <a:r>
              <a:rPr lang="en-US" dirty="0" smtClean="0"/>
              <a:t>What can be the connecting factor employed for personal status matters in general and family matters in particular? </a:t>
            </a:r>
          </a:p>
          <a:p>
            <a:r>
              <a:rPr lang="en-US" dirty="0" smtClean="0"/>
              <a:t>The major leading principles are </a:t>
            </a:r>
            <a:r>
              <a:rPr lang="en-US" b="1" dirty="0" smtClean="0"/>
              <a:t>nationality</a:t>
            </a:r>
            <a:r>
              <a:rPr lang="en-US" dirty="0" smtClean="0"/>
              <a:t>( Continental)  </a:t>
            </a:r>
            <a:r>
              <a:rPr lang="en-US" b="1" dirty="0" smtClean="0"/>
              <a:t>and domicile </a:t>
            </a:r>
            <a:r>
              <a:rPr lang="en-US" dirty="0" smtClean="0"/>
              <a:t>( common law). </a:t>
            </a:r>
          </a:p>
          <a:p>
            <a:r>
              <a:rPr lang="en-US" dirty="0" smtClean="0"/>
              <a:t>Some states employ "residence "or" habitual (principal) residence” in place of domicile</a:t>
            </a:r>
          </a:p>
          <a:p>
            <a:r>
              <a:rPr lang="en-US" dirty="0" smtClean="0"/>
              <a:t>Other may use  "most intimate and most tense connection" of a person with a given legal system for the purpose of regulating one's personal status.</a:t>
            </a:r>
          </a:p>
          <a:p>
            <a:r>
              <a:rPr lang="en-US" b="1" dirty="0" smtClean="0"/>
              <a:t>Which connecting factor should be used in Ethiopia? Nationality, Domicile or Residence?</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Issue of Interstate conflict of Family cases in Ethiopia</a:t>
            </a:r>
            <a:endParaRPr lang="en-US" dirty="0"/>
          </a:p>
        </p:txBody>
      </p:sp>
      <p:sp>
        <p:nvSpPr>
          <p:cNvPr id="3" name="Content Placeholder 2"/>
          <p:cNvSpPr>
            <a:spLocks noGrp="1"/>
          </p:cNvSpPr>
          <p:nvPr>
            <p:ph idx="1"/>
          </p:nvPr>
        </p:nvSpPr>
        <p:spPr/>
        <p:txBody>
          <a:bodyPr>
            <a:normAutofit fontScale="77500" lnSpcReduction="20000"/>
          </a:bodyPr>
          <a:lstStyle/>
          <a:p>
            <a:r>
              <a:rPr lang="en-US" sz="4100" b="1" dirty="0" smtClean="0"/>
              <a:t>Relevance of the Issue</a:t>
            </a:r>
          </a:p>
          <a:p>
            <a:r>
              <a:rPr lang="en-US" dirty="0" smtClean="0"/>
              <a:t>Under the FDRE constitution the powers of the federal government are enumerated while residual power vested in states.</a:t>
            </a:r>
          </a:p>
          <a:p>
            <a:r>
              <a:rPr lang="en-US" dirty="0" smtClean="0"/>
              <a:t>Federal government does not have a clear mandate on family law.</a:t>
            </a:r>
          </a:p>
          <a:p>
            <a:r>
              <a:rPr lang="en-US" dirty="0" smtClean="0"/>
              <a:t>Regional governments with residual power to enact on many private laws including family.</a:t>
            </a:r>
          </a:p>
          <a:p>
            <a:r>
              <a:rPr lang="en-US" dirty="0" smtClean="0"/>
              <a:t> Family law fall under private law category with many public policy implications. i.e. equality of women and protection to children.</a:t>
            </a:r>
          </a:p>
          <a:p>
            <a:r>
              <a:rPr lang="en-US" dirty="0" smtClean="0"/>
              <a:t>So federal or state family law ? Diverse or Uniform family law?</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Marriage</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sz="3600" b="1" dirty="0" smtClean="0"/>
              <a:t>Formal validity of Marriage</a:t>
            </a:r>
          </a:p>
          <a:p>
            <a:r>
              <a:rPr lang="en-US" dirty="0" smtClean="0"/>
              <a:t>Formal validity of marriage is generally governed by the law of the place of celebration. </a:t>
            </a:r>
          </a:p>
          <a:p>
            <a:r>
              <a:rPr lang="en-US" dirty="0" smtClean="0"/>
              <a:t>“A marriage valid where celebrated is valid every where.”</a:t>
            </a:r>
          </a:p>
          <a:p>
            <a:r>
              <a:rPr lang="en-US" dirty="0" smtClean="0"/>
              <a:t>However, if the law of the matrimonial domicile prescribes compliance with certain formalities to be very essential, amounting to policy requirements, failure to meet those requirements may preclude the recognition of the marriage celebrated out of the state.</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In Ethiopia interstate conflict of marriage , problem of formal validity does not seem to arise because of similarity in the family laws of states. Three recognized forms of marriage (i.e., religious, civil, and customary).</a:t>
            </a:r>
          </a:p>
          <a:p>
            <a:r>
              <a:rPr lang="en-US" dirty="0" smtClean="0"/>
              <a:t>Formal validity of marriage celebrated in another state with a bit different formal requirement does not usually affect substantive requirements of the forum/domiciliary state. Unless found to be contrary to public policy. See Art.5 Revised family code and Harari Family code, Art 15 of SNNPR family code.</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II. Essential ( Substantive) Validity</a:t>
            </a:r>
          </a:p>
          <a:p>
            <a:r>
              <a:rPr lang="en-US" sz="3400" b="1" dirty="0" smtClean="0"/>
              <a:t>1. Matrimonial Domicile Test</a:t>
            </a:r>
          </a:p>
          <a:p>
            <a:r>
              <a:rPr lang="en-US" b="1" dirty="0" smtClean="0"/>
              <a:t>The capacity to marry is the personal status laws of the prospective spouses’ common domicile or intended matrimonial domicile</a:t>
            </a:r>
            <a:r>
              <a:rPr lang="en-US" dirty="0" smtClean="0"/>
              <a:t> at the time of the conclusion of the marriage which is in accord with due process.</a:t>
            </a:r>
          </a:p>
          <a:p>
            <a:r>
              <a:rPr lang="en-US" sz="3400" b="1" dirty="0" smtClean="0"/>
              <a:t>2. Dual or ante nuptial domicile test</a:t>
            </a:r>
          </a:p>
          <a:p>
            <a:r>
              <a:rPr lang="en-US" dirty="0" smtClean="0"/>
              <a:t>If spouses have a capacity to marry each other by the laws of </a:t>
            </a:r>
            <a:r>
              <a:rPr lang="en-US" b="1" dirty="0" smtClean="0"/>
              <a:t>their respective domiciles during the ceremony, the marriage is to be held valid.</a:t>
            </a:r>
          </a:p>
          <a:p>
            <a:r>
              <a:rPr lang="en-US" b="1" dirty="0" smtClean="0"/>
              <a:t>3.  Doctrine of </a:t>
            </a:r>
            <a:r>
              <a:rPr lang="en-US" b="1" dirty="0" err="1" smtClean="0"/>
              <a:t>lex</a:t>
            </a:r>
            <a:r>
              <a:rPr lang="en-US" b="1" dirty="0" smtClean="0"/>
              <a:t> loci </a:t>
            </a:r>
            <a:r>
              <a:rPr lang="en-US" b="1" dirty="0" err="1" smtClean="0"/>
              <a:t>lelebration</a:t>
            </a:r>
            <a:r>
              <a:rPr lang="en-US" b="1" dirty="0" smtClean="0"/>
              <a:t> ( For both formal and essential validity)</a:t>
            </a:r>
          </a:p>
          <a:p>
            <a:r>
              <a:rPr lang="en-US" dirty="0" smtClean="0"/>
              <a:t>“a marriage good where contracted is good everywhere, and </a:t>
            </a:r>
            <a:r>
              <a:rPr lang="en-US" i="1" dirty="0" smtClean="0"/>
              <a:t>vice versa</a:t>
            </a:r>
            <a:r>
              <a:rPr lang="en-US" dirty="0" smtClean="0"/>
              <a:t>.”</a:t>
            </a:r>
            <a:endParaRPr lang="en-US" b="1" dirty="0" smtClean="0"/>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t>Which test should be used in Ethiopia?</a:t>
            </a:r>
          </a:p>
          <a:p>
            <a:r>
              <a:rPr lang="en-US" dirty="0" smtClean="0"/>
              <a:t>Many states  adhere to the law of common domicile of the spouses. Because if either the law of respective domiciles or the place of celebration is employed in which the parties might not live either in either’s domicile or the place of celebration, there might be a possibility for the contravention of the intrinsic conditions, and thereby possibly public policies, of the place the parties made their matrimonial home/domicile.</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t>Effect of contravention of Essential validity Void or voidable?</a:t>
            </a:r>
          </a:p>
          <a:p>
            <a:r>
              <a:rPr lang="en-US" dirty="0" smtClean="0"/>
              <a:t>If the essential validity contravened cannot pass( change) through time the marriage is </a:t>
            </a:r>
            <a:r>
              <a:rPr lang="en-US" b="1" i="1" dirty="0" smtClean="0"/>
              <a:t>void </a:t>
            </a:r>
            <a:r>
              <a:rPr lang="en-US" b="1" i="1" dirty="0" err="1" smtClean="0"/>
              <a:t>ab</a:t>
            </a:r>
            <a:r>
              <a:rPr lang="en-US" b="1" i="1" dirty="0" smtClean="0"/>
              <a:t> </a:t>
            </a:r>
            <a:r>
              <a:rPr lang="en-US" b="1" i="1" dirty="0" err="1" smtClean="0"/>
              <a:t>innitio</a:t>
            </a:r>
            <a:r>
              <a:rPr lang="en-US" b="1" i="1" dirty="0" smtClean="0"/>
              <a:t> </a:t>
            </a:r>
            <a:r>
              <a:rPr lang="en-US" b="1" dirty="0" smtClean="0"/>
              <a:t>and subject to attack at any time</a:t>
            </a:r>
            <a:r>
              <a:rPr lang="en-US" dirty="0" smtClean="0"/>
              <a:t>.</a:t>
            </a:r>
          </a:p>
          <a:p>
            <a:r>
              <a:rPr lang="en-US" dirty="0" err="1" smtClean="0"/>
              <a:t>Eg</a:t>
            </a:r>
            <a:r>
              <a:rPr lang="en-US" dirty="0" smtClean="0"/>
              <a:t>. Consanguinity or Affinity. Art.32 RFC.</a:t>
            </a:r>
          </a:p>
          <a:p>
            <a:r>
              <a:rPr lang="en-US" dirty="0" smtClean="0"/>
              <a:t>If essential validity contravened is transient </a:t>
            </a:r>
            <a:r>
              <a:rPr lang="en-US" dirty="0" err="1" smtClean="0"/>
              <a:t>i.e</a:t>
            </a:r>
            <a:r>
              <a:rPr lang="en-US" dirty="0" smtClean="0"/>
              <a:t> can change through passage of time, the marriage is </a:t>
            </a:r>
            <a:r>
              <a:rPr lang="en-US" b="1" dirty="0" smtClean="0"/>
              <a:t>voidable and can be attacked only at the time the contravention persists</a:t>
            </a:r>
            <a:r>
              <a:rPr lang="en-US" dirty="0" smtClean="0"/>
              <a:t>.</a:t>
            </a:r>
          </a:p>
          <a:p>
            <a:r>
              <a:rPr lang="en-US" dirty="0" err="1" smtClean="0"/>
              <a:t>eg</a:t>
            </a:r>
            <a:r>
              <a:rPr lang="en-US" dirty="0" smtClean="0"/>
              <a:t>,. Age, Bigamy etc see Art.31 and 33 of RFC.</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Why do we recognize foreign marriages?</a:t>
            </a:r>
          </a:p>
          <a:p>
            <a:r>
              <a:rPr lang="en-US" dirty="0" smtClean="0"/>
              <a:t>The main aim lies on the preservation of the </a:t>
            </a:r>
            <a:r>
              <a:rPr lang="en-US" b="1" dirty="0" smtClean="0"/>
              <a:t>“justified expectations” of the parties </a:t>
            </a:r>
            <a:r>
              <a:rPr lang="en-US" dirty="0" smtClean="0"/>
              <a:t>at the expense of some local but not that much significant values, that are however, not strong enough to destruct the moral standards or/and very essential conditions of the local law.</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t>Effects of Marriage ( Personal and </a:t>
            </a:r>
            <a:r>
              <a:rPr lang="en-US" b="1" dirty="0" err="1" smtClean="0"/>
              <a:t>pequinary</a:t>
            </a:r>
            <a:r>
              <a:rPr lang="en-US" b="1" dirty="0" smtClean="0"/>
              <a:t>)</a:t>
            </a:r>
          </a:p>
          <a:p>
            <a:r>
              <a:rPr lang="en-US" dirty="0" smtClean="0"/>
              <a:t>The effects or incidents of marriage in those the rights and duties of the spouses are, as a rule, governed by the </a:t>
            </a:r>
            <a:r>
              <a:rPr lang="en-US" b="1" dirty="0" smtClean="0"/>
              <a:t>common personal status of the spouses during the lifetime of the marriage.</a:t>
            </a:r>
          </a:p>
          <a:p>
            <a:r>
              <a:rPr lang="en-US" b="1" dirty="0" smtClean="0"/>
              <a:t> </a:t>
            </a:r>
            <a:r>
              <a:rPr lang="en-US" dirty="0" smtClean="0"/>
              <a:t>In most instances, this law is the </a:t>
            </a:r>
            <a:r>
              <a:rPr lang="en-US" b="1" dirty="0" smtClean="0"/>
              <a:t>common matrimonial domicile of the spouses</a:t>
            </a:r>
            <a:r>
              <a:rPr lang="en-US" dirty="0" smtClean="0"/>
              <a:t>.</a:t>
            </a:r>
          </a:p>
          <a:p>
            <a:r>
              <a:rPr lang="en-US" dirty="0" smtClean="0"/>
              <a:t>Exception: Pecuniary effect of marriage may be agreed up on by the parties. They may select the applicable law without contravening fundamental provisions of law.</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Choice of Law Rules Governing Divorce</a:t>
            </a:r>
          </a:p>
          <a:p>
            <a:pPr algn="just"/>
            <a:r>
              <a:rPr lang="en-US" sz="4000" b="1" dirty="0" smtClean="0"/>
              <a:t>I. Grounds of Divorce</a:t>
            </a:r>
          </a:p>
          <a:p>
            <a:pPr algn="just"/>
            <a:r>
              <a:rPr lang="en-US" dirty="0" smtClean="0"/>
              <a:t>There are staggering diversities amongst the family laws regarding  </a:t>
            </a:r>
            <a:r>
              <a:rPr lang="en-US" b="1" dirty="0" smtClean="0"/>
              <a:t>Grounds of divorce</a:t>
            </a:r>
            <a:r>
              <a:rPr lang="en-US" dirty="0" smtClean="0"/>
              <a:t>, at least between the 1960 CC on the one hand and the new family laws on the other hand, choice of law to find the applicable law in case a suit for divorce is instituted is essential.</a:t>
            </a:r>
          </a:p>
          <a:p>
            <a:pPr algn="just"/>
            <a:r>
              <a:rPr lang="en-US" dirty="0" smtClean="0"/>
              <a:t>Explained, while divorce in the 1960 CC is fully based on fault, it is not so in the others. The Tigray Family Law only requires, as it seems, the existence of</a:t>
            </a:r>
            <a:r>
              <a:rPr lang="en-US" b="1" dirty="0" smtClean="0"/>
              <a:t> incompatibility</a:t>
            </a:r>
            <a:r>
              <a:rPr lang="en-US" dirty="0" smtClean="0"/>
              <a:t>.  “When they reach the stage where they can no longer live together.” Art.102 of TFC.</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buNone/>
            </a:pPr>
            <a:r>
              <a:rPr lang="en-US" b="1" dirty="0" smtClean="0"/>
              <a:t>II. Effects of Divorce</a:t>
            </a:r>
          </a:p>
          <a:p>
            <a:r>
              <a:rPr lang="en-US" dirty="0" smtClean="0"/>
              <a:t>Some diversity exists on this matter. </a:t>
            </a:r>
            <a:r>
              <a:rPr lang="en-US" dirty="0" err="1" smtClean="0"/>
              <a:t>Eg</a:t>
            </a:r>
            <a:r>
              <a:rPr lang="en-US" dirty="0" smtClean="0"/>
              <a:t>. On restitution of personal gifts between spouse on divorce. Art.691 of the 1960 Civil code and Art.121 of TFC. While under Civil code gifts given between spouses due to marriage are </a:t>
            </a:r>
            <a:r>
              <a:rPr lang="en-US" dirty="0" err="1" smtClean="0"/>
              <a:t>restitutable</a:t>
            </a:r>
            <a:r>
              <a:rPr lang="en-US" dirty="0" smtClean="0"/>
              <a:t> on divorce , they can’t be so under TFC. This could lead to </a:t>
            </a:r>
            <a:r>
              <a:rPr lang="en-US" dirty="0" err="1" smtClean="0"/>
              <a:t>diffrence</a:t>
            </a:r>
            <a:r>
              <a:rPr lang="en-US" dirty="0" smtClean="0"/>
              <a:t> in out come.</a:t>
            </a:r>
          </a:p>
          <a:p>
            <a:r>
              <a:rPr lang="en-US" dirty="0" smtClean="0"/>
              <a:t>Other Family laws are silent on this issue.</a:t>
            </a:r>
          </a:p>
          <a:p>
            <a:endParaRPr lang="en-US" b="1" dirty="0" smtClean="0"/>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r>
              <a:rPr lang="en-US" b="1" dirty="0" smtClean="0"/>
              <a:t>Choice of Law on substantive issues of Divorce.</a:t>
            </a:r>
          </a:p>
          <a:p>
            <a:r>
              <a:rPr lang="en-US" b="1" dirty="0" smtClean="0"/>
              <a:t>Choice of Law on substantive issues of Divorce.</a:t>
            </a:r>
          </a:p>
          <a:p>
            <a:r>
              <a:rPr lang="en-US" dirty="0" smtClean="0"/>
              <a:t>There are two choices of law views: the Common Law and the Civil Law.</a:t>
            </a:r>
          </a:p>
          <a:p>
            <a:r>
              <a:rPr lang="en-US" dirty="0" smtClean="0"/>
              <a:t> In the U.S as well as in the Common Wealth the rule is well established that the divorce </a:t>
            </a:r>
            <a:r>
              <a:rPr lang="en-US" b="1" dirty="0" smtClean="0"/>
              <a:t>court applies its own law</a:t>
            </a:r>
            <a:r>
              <a:rPr lang="en-US" dirty="0" smtClean="0"/>
              <a:t> to the substantive requirements of divorce that seems sufficient and reasonable so long as the principle prevailed that the parties’ matrimonial domicile is the basis of jurisdiction. </a:t>
            </a:r>
          </a:p>
          <a:p>
            <a:r>
              <a:rPr lang="en-US" dirty="0" smtClean="0"/>
              <a:t>The second view   has a startling point in almost all laws of the civil law orbit </a:t>
            </a:r>
            <a:r>
              <a:rPr lang="en-US" baseline="30000" dirty="0" smtClean="0"/>
              <a:t>__</a:t>
            </a:r>
            <a:r>
              <a:rPr lang="en-US" b="1" dirty="0" smtClean="0"/>
              <a:t>the parties common personal law applies</a:t>
            </a:r>
            <a:r>
              <a:rPr lang="en-US" dirty="0" smtClean="0"/>
              <a:t>. This is most of the time the last (or the predominantly lived) </a:t>
            </a:r>
            <a:r>
              <a:rPr lang="en-US" b="1" dirty="0" smtClean="0"/>
              <a:t>common domicile of the spouses</a:t>
            </a:r>
            <a:r>
              <a:rPr lang="en-US" dirty="0" smtClean="0"/>
              <a:t>.</a:t>
            </a:r>
          </a:p>
          <a:p>
            <a:r>
              <a:rPr lang="en-US" sz="3800" b="1" dirty="0" smtClean="0"/>
              <a:t>Which position should be taken in Ethiopia?</a:t>
            </a:r>
          </a:p>
          <a:p>
            <a:r>
              <a:rPr lang="en-US" dirty="0" smtClean="0"/>
              <a:t>The rule that the "law of the matrimonial domicile of the parties’ control" seems proper. Because:</a:t>
            </a:r>
          </a:p>
          <a:p>
            <a:r>
              <a:rPr lang="en-US" dirty="0" smtClean="0"/>
              <a:t>This is the law that is believed to have been accustomed to by the parties. </a:t>
            </a:r>
          </a:p>
          <a:p>
            <a:r>
              <a:rPr lang="en-US" dirty="0" smtClean="0"/>
              <a:t>This is the law the spouses are said to have predominantly connected with or the law of the parties their matrimonial life is predominantly lived. </a:t>
            </a:r>
          </a:p>
          <a:p>
            <a:r>
              <a:rPr lang="en-US" dirty="0" smtClean="0"/>
              <a:t>Therefore, it will not be unfair for either of them to be judged according to the law of the place they were living in. Hence, due process of law is respected.</a:t>
            </a:r>
            <a:endParaRPr lang="en-US" smtClean="0"/>
          </a:p>
          <a:p>
            <a:endParaRPr lang="en-US" smtClean="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357</TotalTime>
  <Words>4905</Words>
  <Application>Microsoft Office PowerPoint</Application>
  <PresentationFormat>On-screen Show (4:3)</PresentationFormat>
  <Paragraphs>334</Paragraphs>
  <Slides>48</Slides>
  <Notes>1</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Conflict of Laws  Tutorial Notes </vt:lpstr>
      <vt:lpstr>Chapter One  General Introduction On Conflicts</vt:lpstr>
      <vt:lpstr>PowerPoint Presentation</vt:lpstr>
      <vt:lpstr>PowerPoint Presentation</vt:lpstr>
      <vt:lpstr>PowerPoint Presentation</vt:lpstr>
      <vt:lpstr>PowerPoint Presentation</vt:lpstr>
      <vt:lpstr>Chapter Two Judicial Jurisdiction</vt:lpstr>
      <vt:lpstr>PowerPoint Presentation</vt:lpstr>
      <vt:lpstr>PowerPoint Presentation</vt:lpstr>
      <vt:lpstr>Domicile, Habitual Residence, Nationality as  basis of Judicial Jurisdiction</vt:lpstr>
      <vt:lpstr>PowerPoint Presentation</vt:lpstr>
      <vt:lpstr>PowerPoint Presentation</vt:lpstr>
      <vt:lpstr>Categories of Judicial Jurisdiction</vt:lpstr>
      <vt:lpstr>PowerPoint Presentation</vt:lpstr>
      <vt:lpstr>Judicial Jurisdiction of Ethiopian Courts</vt:lpstr>
      <vt:lpstr>Practice of Ethiopian Courts in on Judicial Jurisdiction</vt:lpstr>
      <vt:lpstr>Chapter Three Choice of Law</vt:lpstr>
      <vt:lpstr>PowerPoint Presentation</vt:lpstr>
      <vt:lpstr>PowerPoint Presentation</vt:lpstr>
      <vt:lpstr>PowerPoint Presentation</vt:lpstr>
      <vt:lpstr>Exceptions to application of foreign law</vt:lpstr>
      <vt:lpstr>PowerPoint Presentation</vt:lpstr>
      <vt:lpstr>PowerPoint Presentation</vt:lpstr>
      <vt:lpstr>Government Analysis theory</vt:lpstr>
      <vt:lpstr>PowerPoint Presentation</vt:lpstr>
      <vt:lpstr>  Chapter Four Recognition and Enforcement of Foreign Judgments and Arbitral Awards  </vt:lpstr>
      <vt:lpstr>Execution of foreign judgments in Ethiopia</vt:lpstr>
      <vt:lpstr>PowerPoint Presentation</vt:lpstr>
      <vt:lpstr>PowerPoint Presentation</vt:lpstr>
      <vt:lpstr>Chapter Five Contractual Obligations</vt:lpstr>
      <vt:lpstr>Chapter six Non-contractual Obligations</vt:lpstr>
      <vt:lpstr>Chapter Seven Choice of law Rules Governing Property</vt:lpstr>
      <vt:lpstr>PowerPoint Presentation</vt:lpstr>
      <vt:lpstr>7.3.Rules Governing Succession</vt:lpstr>
      <vt:lpstr>PowerPoint Presentation</vt:lpstr>
      <vt:lpstr>  Rules Governing Choice of Laws in succession Under the Federal Conflict of Law  </vt:lpstr>
      <vt:lpstr> Chapter Eight  Choice of Law Rules Governing Marriage and Divorce </vt:lpstr>
      <vt:lpstr>Issue of Interstate conflict of Family cases in Ethiopia</vt:lpstr>
      <vt:lpstr>Marriage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Conflict of Laws  Tutorial Notes</dc:title>
  <dc:creator>user</dc:creator>
  <cp:lastModifiedBy>Students Union</cp:lastModifiedBy>
  <cp:revision>32</cp:revision>
  <dcterms:created xsi:type="dcterms:W3CDTF">2011-03-12T04:09:02Z</dcterms:created>
  <dcterms:modified xsi:type="dcterms:W3CDTF">2017-12-07T17:39:33Z</dcterms:modified>
</cp:coreProperties>
</file>