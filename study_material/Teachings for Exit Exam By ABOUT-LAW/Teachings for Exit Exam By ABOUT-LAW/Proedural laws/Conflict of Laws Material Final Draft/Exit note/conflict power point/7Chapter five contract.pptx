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Lst>
  <p:sldSz cx="9144000" cy="6858000" type="screen4x3"/>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380"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p:spPr>
        <p:txBody>
          <a:bodyPr lIns="90000" tIns="45000" rIns="90000" bIns="45000"/>
          <a:lstStyle/>
          <a:p>
            <a:pPr algn="ctr"/>
            <a:r>
              <a:rPr lang="en-US" sz="4400">
                <a:solidFill>
                  <a:srgbClr val="000000"/>
                </a:solidFill>
                <a:latin typeface="Calibri"/>
              </a:rPr>
              <a:t>Click to edit the title text formatClick to edit Master title style</a:t>
            </a:r>
            <a:endParaRPr/>
          </a:p>
        </p:txBody>
      </p:sp>
      <p:sp>
        <p:nvSpPr>
          <p:cNvPr id="6" name="PlaceHolder 2"/>
          <p:cNvSpPr>
            <a:spLocks noGrp="1"/>
          </p:cNvSpPr>
          <p:nvPr>
            <p:ph type="dt"/>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2" name="PlaceHolder 3"/>
          <p:cNvSpPr>
            <a:spLocks noGrp="1"/>
          </p:cNvSpPr>
          <p:nvPr>
            <p:ph type="ftr"/>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3" name="PlaceHolder 4"/>
          <p:cNvSpPr>
            <a:spLocks noGrp="1"/>
          </p:cNvSpPr>
          <p:nvPr>
            <p:ph type="sldNum"/>
          </p:nvPr>
        </p:nvSpPr>
        <p:spPr>
          <a:xfrm>
            <a:off x="6553080" y="6356520"/>
            <a:ext cx="2133360" cy="364680"/>
          </a:xfrm>
          <a:prstGeom prst="rect">
            <a:avLst/>
          </a:prstGeom>
        </p:spPr>
        <p:txBody>
          <a:bodyPr lIns="90000" tIns="45000" rIns="90000" bIns="45000"/>
          <a:lstStyle/>
          <a:p>
            <a:fld id="{11B101D1-C101-41C1-81E1-31A131C16131}" type="slidenum">
              <a:rPr lang="en-US" sz="1200">
                <a:solidFill>
                  <a:srgbClr val="8B8B8B"/>
                </a:solidFill>
                <a:latin typeface="Calibri"/>
              </a:rPr>
              <a:pPr/>
              <a:t>‹#›</a:t>
            </a:fld>
            <a:endParaRPr/>
          </a:p>
        </p:txBody>
      </p:sp>
      <p:sp>
        <p:nvSpPr>
          <p:cNvPr id="4" name="PlaceHolder 5"/>
          <p:cNvSpPr>
            <a:spLocks noGrp="1"/>
          </p:cNvSpPr>
          <p:nvPr>
            <p:ph type="body"/>
          </p:nvPr>
        </p:nvSpPr>
        <p:spPr>
          <a:xfrm>
            <a:off x="457200" y="1604520"/>
            <a:ext cx="8229240" cy="4525920"/>
          </a:xfrm>
          <a:prstGeom prst="rect">
            <a:avLst/>
          </a:prstGeom>
        </p:spPr>
        <p:txBody>
          <a:bodyPr wrap="none" lIns="0" tIns="0" rIns="0" bIns="0"/>
          <a:lstStyle/>
          <a:p>
            <a:pPr>
              <a:buSzPct val="45000"/>
              <a:buFont typeface="StarSymbol"/>
              <a:buChar char=""/>
            </a:pPr>
            <a:r>
              <a:rPr lang="en-US"/>
              <a:t>Click to edit the outline text format</a:t>
            </a:r>
            <a:endParaRPr/>
          </a:p>
          <a:p>
            <a:pPr lvl="1">
              <a:buSzPct val="45000"/>
              <a:buFont typeface="StarSymbol"/>
              <a:buChar char=""/>
            </a:pPr>
            <a:r>
              <a:rPr lang="en-US"/>
              <a:t>Second Outline Level</a:t>
            </a:r>
            <a:endParaRPr/>
          </a:p>
          <a:p>
            <a:pPr lvl="2">
              <a:buSzPct val="75000"/>
              <a:buFont typeface="StarSymbol"/>
              <a:buChar char=""/>
            </a:pPr>
            <a:r>
              <a:rPr lang="en-US"/>
              <a:t>Third Outline Level</a:t>
            </a:r>
            <a:endParaRPr/>
          </a:p>
          <a:p>
            <a:pPr lvl="3">
              <a:buSzPct val="45000"/>
              <a:buFont typeface="StarSymbol"/>
              <a:buChar char=""/>
            </a:pPr>
            <a:r>
              <a:rPr lang="en-US"/>
              <a:t>Fourth Outline Level</a:t>
            </a:r>
            <a:endParaRPr/>
          </a:p>
          <a:p>
            <a:pPr lvl="4">
              <a:buSzPct val="75000"/>
              <a:buFont typeface="StarSymbol"/>
              <a:buChar char=""/>
            </a:pPr>
            <a:r>
              <a:rPr lang="en-US"/>
              <a:t>Fifth Outline Level</a:t>
            </a:r>
            <a:endParaRPr/>
          </a:p>
          <a:p>
            <a:pPr lvl="5">
              <a:buSzPct val="45000"/>
              <a:buFont typeface="StarSymbol"/>
              <a:buChar char=""/>
            </a:pPr>
            <a:r>
              <a:rPr lang="en-US"/>
              <a:t>Sixth Outline Level</a:t>
            </a:r>
            <a:endParaRPr/>
          </a:p>
          <a:p>
            <a:pPr lvl="6">
              <a:buSzPct val="45000"/>
              <a:buFont typeface="StarSymbol"/>
              <a:buChar char=""/>
            </a:pPr>
            <a:r>
              <a:rPr lang="en-US"/>
              <a:t>Seventh Outline Level</a:t>
            </a:r>
            <a:endParaRPr/>
          </a:p>
          <a:p>
            <a:pPr lvl="7">
              <a:buSzPct val="45000"/>
              <a:buFont typeface="StarSymbol"/>
              <a:buChar char=""/>
            </a:pPr>
            <a:r>
              <a:rPr lang="en-US"/>
              <a:t>Eighth Outline Level</a:t>
            </a:r>
            <a:endParaRPr/>
          </a:p>
          <a:p>
            <a:pPr lvl="8">
              <a:buSzPct val="45000"/>
              <a:buFont typeface="StarSymbol"/>
              <a:buChar char=""/>
            </a:pPr>
            <a:r>
              <a:rPr lang="en-US"/>
              <a:t>Ninth Outline Level</a:t>
            </a:r>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90000" tIns="45000" rIns="90000" bIns="45000"/>
          <a:lstStyle/>
          <a:p>
            <a:pPr algn="ctr"/>
            <a:r>
              <a:rPr lang="en-US" sz="4400">
                <a:solidFill>
                  <a:srgbClr val="000000"/>
                </a:solidFill>
                <a:latin typeface="Calibri"/>
              </a:rPr>
              <a:t>Click to edit the title text formatClick to edit Master title style</a:t>
            </a:r>
            <a:endParaRPr/>
          </a:p>
        </p:txBody>
      </p:sp>
      <p:sp>
        <p:nvSpPr>
          <p:cNvPr id="6" name="PlaceHolder 2"/>
          <p:cNvSpPr>
            <a:spLocks noGrp="1"/>
          </p:cNvSpPr>
          <p:nvPr>
            <p:ph type="body"/>
          </p:nvPr>
        </p:nvSpPr>
        <p:spPr>
          <a:xfrm>
            <a:off x="457200" y="1600200"/>
            <a:ext cx="8229240" cy="4525560"/>
          </a:xfrm>
          <a:prstGeom prst="rect">
            <a:avLst/>
          </a:prstGeom>
        </p:spPr>
        <p:txBody>
          <a:bodyPr lIns="90000" tIns="45000" rIns="90000" bIns="45000"/>
          <a:lstStyle/>
          <a:p>
            <a:pPr>
              <a:buSzPct val="45000"/>
              <a:buFont typeface="StarSymbol"/>
              <a:buChar char=""/>
            </a:pPr>
            <a:r>
              <a:rPr lang="en-US" sz="3200">
                <a:solidFill>
                  <a:srgbClr val="000000"/>
                </a:solidFill>
                <a:latin typeface="Calibri"/>
              </a:rPr>
              <a:t>Click to edit the outline text format</a:t>
            </a:r>
            <a:endParaRPr/>
          </a:p>
          <a:p>
            <a:pPr lvl="1">
              <a:buSzPct val="45000"/>
              <a:buFont typeface="StarSymbol"/>
              <a:buChar char=""/>
            </a:pPr>
            <a:r>
              <a:rPr lang="en-US" sz="3200">
                <a:solidFill>
                  <a:srgbClr val="000000"/>
                </a:solidFill>
                <a:latin typeface="Calibri"/>
              </a:rPr>
              <a:t>Second Outline Level</a:t>
            </a:r>
            <a:endParaRPr/>
          </a:p>
          <a:p>
            <a:pPr lvl="2">
              <a:buSzPct val="75000"/>
              <a:buFont typeface="StarSymbol"/>
              <a:buChar char=""/>
            </a:pPr>
            <a:r>
              <a:rPr lang="en-US" sz="3200">
                <a:solidFill>
                  <a:srgbClr val="000000"/>
                </a:solidFill>
                <a:latin typeface="Calibri"/>
              </a:rPr>
              <a:t>Third Outline Level</a:t>
            </a:r>
            <a:endParaRPr/>
          </a:p>
          <a:p>
            <a:pPr lvl="3">
              <a:buSzPct val="45000"/>
              <a:buFont typeface="StarSymbol"/>
              <a:buChar char=""/>
            </a:pPr>
            <a:r>
              <a:rPr lang="en-US" sz="3200">
                <a:solidFill>
                  <a:srgbClr val="000000"/>
                </a:solidFill>
                <a:latin typeface="Calibri"/>
              </a:rPr>
              <a:t>Fourth Outline Level</a:t>
            </a:r>
            <a:endParaRPr/>
          </a:p>
          <a:p>
            <a:pPr lvl="4">
              <a:buSzPct val="75000"/>
              <a:buFont typeface="StarSymbol"/>
              <a:buChar char=""/>
            </a:pPr>
            <a:r>
              <a:rPr lang="en-US" sz="3200">
                <a:solidFill>
                  <a:srgbClr val="000000"/>
                </a:solidFill>
                <a:latin typeface="Calibri"/>
              </a:rPr>
              <a:t>Fifth Outline Level</a:t>
            </a:r>
            <a:endParaRPr/>
          </a:p>
          <a:p>
            <a:pPr lvl="5">
              <a:buSzPct val="45000"/>
              <a:buFont typeface="StarSymbol"/>
              <a:buChar char=""/>
            </a:pPr>
            <a:r>
              <a:rPr lang="en-US" sz="3200">
                <a:solidFill>
                  <a:srgbClr val="000000"/>
                </a:solidFill>
                <a:latin typeface="Calibri"/>
              </a:rPr>
              <a:t>Sixth Outline Level</a:t>
            </a:r>
            <a:endParaRPr/>
          </a:p>
          <a:p>
            <a:pPr lvl="6">
              <a:buSzPct val="45000"/>
              <a:buFont typeface="StarSymbol"/>
              <a:buChar char=""/>
            </a:pPr>
            <a:r>
              <a:rPr lang="en-US" sz="3200">
                <a:solidFill>
                  <a:srgbClr val="000000"/>
                </a:solidFill>
                <a:latin typeface="Calibri"/>
              </a:rPr>
              <a:t>Seventh Outline Level</a:t>
            </a:r>
            <a:endParaRPr/>
          </a:p>
          <a:p>
            <a:pPr lvl="7">
              <a:buSzPct val="45000"/>
              <a:buFont typeface="StarSymbol"/>
              <a:buChar char=""/>
            </a:pPr>
            <a:r>
              <a:rPr lang="en-US" sz="3200">
                <a:solidFill>
                  <a:srgbClr val="000000"/>
                </a:solidFill>
                <a:latin typeface="Calibri"/>
              </a:rPr>
              <a:t>Eighth Outline Level</a:t>
            </a:r>
            <a:endParaRPr/>
          </a:p>
          <a:p>
            <a:pPr>
              <a:buSzPct val="45000"/>
              <a:buFont typeface="Arial"/>
              <a:buChar char="•"/>
            </a:pPr>
            <a:r>
              <a:rPr lang="en-US" sz="3200">
                <a:solidFill>
                  <a:srgbClr val="000000"/>
                </a:solidFill>
                <a:latin typeface="Calibri"/>
              </a:rPr>
              <a:t>Ninth Outline LevelClick to edit Master text styles</a:t>
            </a:r>
            <a:endParaRPr/>
          </a:p>
          <a:p>
            <a:pPr lvl="1">
              <a:buSzPct val="45000"/>
              <a:buFont typeface="Arial"/>
              <a:buChar char="–"/>
            </a:pPr>
            <a:r>
              <a:rPr lang="en-US" sz="2800">
                <a:solidFill>
                  <a:srgbClr val="000000"/>
                </a:solidFill>
                <a:latin typeface="Calibri"/>
              </a:rPr>
              <a:t>Second level</a:t>
            </a:r>
            <a:endParaRPr/>
          </a:p>
          <a:p>
            <a:pPr lvl="1">
              <a:buSzPct val="45000"/>
              <a:buFont typeface="Arial"/>
              <a:buChar char="–"/>
            </a:pPr>
            <a:r>
              <a:rPr lang="en-US" sz="2400">
                <a:solidFill>
                  <a:srgbClr val="000000"/>
                </a:solidFill>
                <a:latin typeface="Calibri"/>
              </a:rPr>
              <a:t>Third level</a:t>
            </a:r>
            <a:endParaRPr/>
          </a:p>
          <a:p>
            <a:pPr lvl="2">
              <a:buSzPct val="75000"/>
              <a:buFont typeface="Arial"/>
              <a:buChar char="•"/>
            </a:pPr>
            <a:r>
              <a:rPr lang="en-US" sz="2000">
                <a:solidFill>
                  <a:srgbClr val="000000"/>
                </a:solidFill>
                <a:latin typeface="Calibri"/>
              </a:rPr>
              <a:t>Fourth level</a:t>
            </a:r>
            <a:endParaRPr/>
          </a:p>
          <a:p>
            <a:pPr lvl="3">
              <a:buSzPct val="45000"/>
              <a:buFont typeface="Arial"/>
              <a:buChar char="–"/>
            </a:pPr>
            <a:r>
              <a:rPr lang="en-US" sz="2000">
                <a:solidFill>
                  <a:srgbClr val="000000"/>
                </a:solidFill>
                <a:latin typeface="Calibri"/>
              </a:rPr>
              <a:t>Fifth level</a:t>
            </a:r>
            <a:endParaRPr/>
          </a:p>
        </p:txBody>
      </p:sp>
      <p:sp>
        <p:nvSpPr>
          <p:cNvPr id="7" name="PlaceHolder 3"/>
          <p:cNvSpPr>
            <a:spLocks noGrp="1"/>
          </p:cNvSpPr>
          <p:nvPr>
            <p:ph type="dt"/>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8" name="PlaceHolder 4"/>
          <p:cNvSpPr>
            <a:spLocks noGrp="1"/>
          </p:cNvSpPr>
          <p:nvPr>
            <p:ph type="ftr"/>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9" name="PlaceHolder 5"/>
          <p:cNvSpPr>
            <a:spLocks noGrp="1"/>
          </p:cNvSpPr>
          <p:nvPr>
            <p:ph type="sldNum"/>
          </p:nvPr>
        </p:nvSpPr>
        <p:spPr>
          <a:xfrm>
            <a:off x="6553080" y="6356520"/>
            <a:ext cx="2133360" cy="364680"/>
          </a:xfrm>
          <a:prstGeom prst="rect">
            <a:avLst/>
          </a:prstGeom>
        </p:spPr>
        <p:txBody>
          <a:bodyPr lIns="90000" tIns="45000" rIns="90000" bIns="45000"/>
          <a:lstStyle/>
          <a:p>
            <a:fld id="{F1A16171-41E1-4111-A1C1-A1F121A19121}" type="slidenum">
              <a:rPr lang="en-US" sz="1200">
                <a:solidFill>
                  <a:srgbClr val="8B8B8B"/>
                </a:solidFill>
                <a:latin typeface="Calibri"/>
              </a:rPr>
              <a:pPr/>
              <a:t>‹#›</a:t>
            </a:fld>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Shape 1"/>
          <p:cNvSpPr txBox="1"/>
          <p:nvPr/>
        </p:nvSpPr>
        <p:spPr>
          <a:xfrm>
            <a:off x="685800" y="2130480"/>
            <a:ext cx="7772040" cy="2060280"/>
          </a:xfrm>
          <a:prstGeom prst="rect">
            <a:avLst/>
          </a:prstGeom>
          <a:ln>
            <a:solidFill>
              <a:srgbClr val="FF0000"/>
            </a:solidFill>
          </a:ln>
        </p:spPr>
        <p:txBody>
          <a:bodyPr lIns="90000" tIns="45000" rIns="90000" bIns="45000"/>
          <a:lstStyle/>
          <a:p>
            <a:pPr algn="ctr"/>
            <a:r>
              <a:rPr lang="en-US" sz="4400" dirty="0">
                <a:solidFill>
                  <a:srgbClr val="00B0F0"/>
                </a:solidFill>
                <a:latin typeface="Calibri"/>
              </a:rPr>
              <a:t>Part Two
Application of Conflict of law in Specific Areas of Law</a:t>
            </a:r>
            <a:endParaRPr>
              <a:solidFill>
                <a:srgbClr val="00B0F0"/>
              </a:solidFill>
            </a:endParaRPr>
          </a:p>
        </p:txBody>
      </p:sp>
      <p:sp>
        <p:nvSpPr>
          <p:cNvPr id="11" name="TextShape 2"/>
          <p:cNvSpPr txBox="1"/>
          <p:nvPr/>
        </p:nvSpPr>
        <p:spPr>
          <a:xfrm>
            <a:off x="1371600" y="4114800"/>
            <a:ext cx="6400440" cy="1676160"/>
          </a:xfrm>
          <a:prstGeom prst="rect">
            <a:avLst/>
          </a:prstGeom>
        </p:spPr>
        <p:txBody>
          <a:bodyPr lIns="90000" tIns="45000" rIns="90000" bIns="45000"/>
          <a:lstStyle/>
          <a:p>
            <a:endParaRPr/>
          </a:p>
          <a:p>
            <a:pPr algn="ctr"/>
            <a:r>
              <a:rPr lang="en-US" b="1">
                <a:solidFill>
                  <a:srgbClr val="000000"/>
                </a:solidFill>
              </a:rPr>
              <a:t>By: Sultan Kassim </a:t>
            </a:r>
            <a:endParaRPr/>
          </a:p>
          <a:p>
            <a:pPr algn="ctr"/>
            <a:r>
              <a:rPr lang="en-US" b="1">
                <a:solidFill>
                  <a:srgbClr val="000000"/>
                </a:solidFill>
              </a:rPr>
              <a:t>Haramaya University </a:t>
            </a:r>
            <a:endParaRPr/>
          </a:p>
          <a:p>
            <a:pPr algn="ctr"/>
            <a:r>
              <a:rPr lang="en-US" b="1">
                <a:solidFill>
                  <a:srgbClr val="000000"/>
                </a:solidFill>
              </a:rPr>
              <a:t>College of Law, </a:t>
            </a:r>
            <a:endParaRPr/>
          </a:p>
          <a:p>
            <a:pPr algn="ctr"/>
            <a:r>
              <a:rPr lang="en-US" b="1">
                <a:solidFill>
                  <a:srgbClr val="000000"/>
                </a:solidFill>
              </a:rPr>
              <a:t>Haramaya,2011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Shape 1"/>
          <p:cNvSpPr txBox="1"/>
          <p:nvPr/>
        </p:nvSpPr>
        <p:spPr>
          <a:xfrm>
            <a:off x="457200" y="274680"/>
            <a:ext cx="8229240" cy="1142640"/>
          </a:xfrm>
          <a:prstGeom prst="rect">
            <a:avLst/>
          </a:prstGeom>
        </p:spPr>
        <p:txBody>
          <a:bodyPr lIns="90000" tIns="45000" rIns="90000" bIns="45000"/>
          <a:lstStyle/>
          <a:p>
            <a:pPr algn="ctr"/>
            <a:r>
              <a:rPr lang="en-US" sz="4400" dirty="0">
                <a:solidFill>
                  <a:srgbClr val="FF0000"/>
                </a:solidFill>
                <a:latin typeface="Calibri"/>
              </a:rPr>
              <a:t>Introduction</a:t>
            </a:r>
            <a:endParaRPr>
              <a:solidFill>
                <a:srgbClr val="FF0000"/>
              </a:solidFill>
            </a:endParaRPr>
          </a:p>
        </p:txBody>
      </p:sp>
      <p:sp>
        <p:nvSpPr>
          <p:cNvPr id="13" name="TextShape 2"/>
          <p:cNvSpPr txBox="1"/>
          <p:nvPr/>
        </p:nvSpPr>
        <p:spPr>
          <a:xfrm>
            <a:off x="457200" y="1066800"/>
            <a:ext cx="8229240" cy="548640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2800" dirty="0">
                <a:solidFill>
                  <a:srgbClr val="000000"/>
                </a:solidFill>
                <a:latin typeface="Calibri"/>
              </a:rPr>
              <a:t> In this part we will be dealing with rules and principles of conflict of laws as applied on specific area of laws. </a:t>
            </a:r>
            <a:endParaRPr sz="2800"/>
          </a:p>
          <a:p>
            <a:pPr>
              <a:buSzPct val="45000"/>
              <a:buFont typeface="Arial"/>
              <a:buChar char="•"/>
            </a:pPr>
            <a:r>
              <a:rPr lang="en-US" sz="2800" dirty="0">
                <a:solidFill>
                  <a:srgbClr val="000000"/>
                </a:solidFill>
                <a:latin typeface="Calibri"/>
              </a:rPr>
              <a:t>This part deals mainly with conflict of law rules and principles governing  transactions in Contracts, non contractual obligations, property including succession, status including marriage and children, and finally we will be dealing with rules governing Agency ,Companies and Partnerships. </a:t>
            </a:r>
            <a:endParaRPr sz="2800"/>
          </a:p>
          <a:p>
            <a:pPr>
              <a:buSzPct val="45000"/>
              <a:buFont typeface="Arial"/>
              <a:buChar char="•"/>
            </a:pPr>
            <a:r>
              <a:rPr lang="en-US" sz="2800" dirty="0">
                <a:solidFill>
                  <a:srgbClr val="000000"/>
                </a:solidFill>
                <a:latin typeface="Calibri"/>
              </a:rPr>
              <a:t>We will make cross reference to the general principles you learned in part one. Therefore, you should try to relate what you learned in the general part to each of the topics under discussion here under.</a:t>
            </a:r>
            <a:endParaRPr sz="2800"/>
          </a:p>
          <a:p>
            <a:endParaRPr sz="2800"/>
          </a:p>
        </p:txBody>
      </p:sp>
      <p:sp>
        <p:nvSpPr>
          <p:cNvPr id="14"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15"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16" name="TextShape 5"/>
          <p:cNvSpPr txBox="1"/>
          <p:nvPr/>
        </p:nvSpPr>
        <p:spPr>
          <a:xfrm>
            <a:off x="6553080" y="6356520"/>
            <a:ext cx="2133360" cy="364680"/>
          </a:xfrm>
          <a:prstGeom prst="rect">
            <a:avLst/>
          </a:prstGeom>
        </p:spPr>
        <p:txBody>
          <a:bodyPr lIns="90000" tIns="45000" rIns="90000" bIns="45000"/>
          <a:lstStyle/>
          <a:p>
            <a:fld id="{B1913141-A1D1-4151-A1F1-41B14141D111}" type="slidenum">
              <a:rPr lang="en-US" sz="1200">
                <a:solidFill>
                  <a:srgbClr val="8B8B8B"/>
                </a:solidFill>
                <a:latin typeface="Calibri"/>
              </a:rPr>
              <a:p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Shape 1"/>
          <p:cNvSpPr txBox="1"/>
          <p:nvPr/>
        </p:nvSpPr>
        <p:spPr>
          <a:xfrm>
            <a:off x="457200" y="274680"/>
            <a:ext cx="8229240" cy="1630080"/>
          </a:xfrm>
          <a:prstGeom prst="rect">
            <a:avLst/>
          </a:prstGeom>
        </p:spPr>
        <p:txBody>
          <a:bodyPr lIns="90000" tIns="45000" rIns="90000" bIns="45000"/>
          <a:lstStyle/>
          <a:p>
            <a:pPr algn="ctr"/>
            <a:r>
              <a:rPr lang="en-US" sz="4400" dirty="0">
                <a:solidFill>
                  <a:srgbClr val="00B0F0"/>
                </a:solidFill>
                <a:latin typeface="Calibri"/>
              </a:rPr>
              <a:t>Chapter Five
Contractual Obligations</a:t>
            </a:r>
            <a:endParaRPr>
              <a:solidFill>
                <a:srgbClr val="00B0F0"/>
              </a:solidFill>
            </a:endParaRPr>
          </a:p>
        </p:txBody>
      </p:sp>
      <p:sp>
        <p:nvSpPr>
          <p:cNvPr id="18" name="TextShape 2"/>
          <p:cNvSpPr txBox="1"/>
          <p:nvPr/>
        </p:nvSpPr>
        <p:spPr>
          <a:xfrm>
            <a:off x="533400" y="1524000"/>
            <a:ext cx="8229240" cy="4648200"/>
          </a:xfrm>
          <a:prstGeom prst="rect">
            <a:avLst/>
          </a:prstGeom>
          <a:solidFill>
            <a:srgbClr val="00B050"/>
          </a:solidFill>
          <a:ln>
            <a:solidFill>
              <a:srgbClr val="FF0000"/>
            </a:solidFill>
          </a:ln>
        </p:spPr>
        <p:txBody>
          <a:bodyPr lIns="90000" tIns="45000" rIns="90000" bIns="45000"/>
          <a:lstStyle/>
          <a:p>
            <a:r>
              <a:rPr lang="en-US" sz="2400" b="1" dirty="0">
                <a:solidFill>
                  <a:srgbClr val="000000"/>
                </a:solidFill>
                <a:latin typeface="Calibri"/>
              </a:rPr>
              <a:t> 5.1. </a:t>
            </a:r>
            <a:r>
              <a:rPr lang="en-US" sz="2400" b="1" dirty="0">
                <a:solidFill>
                  <a:srgbClr val="FF0000"/>
                </a:solidFill>
                <a:latin typeface="Calibri"/>
              </a:rPr>
              <a:t>Choice of Applicable Law in Contract</a:t>
            </a:r>
            <a:endParaRPr sz="2400">
              <a:solidFill>
                <a:srgbClr val="FF0000"/>
              </a:solidFill>
            </a:endParaRPr>
          </a:p>
          <a:p>
            <a:pPr>
              <a:buSzPct val="45000"/>
              <a:buFont typeface="Arial"/>
              <a:buChar char="•"/>
            </a:pPr>
            <a:r>
              <a:rPr lang="en-US" sz="2400" dirty="0">
                <a:solidFill>
                  <a:srgbClr val="000000"/>
                </a:solidFill>
                <a:latin typeface="Calibri"/>
              </a:rPr>
              <a:t>A contract in which foreign elements are involved is one of the most complicated areas in private international law.</a:t>
            </a:r>
            <a:endParaRPr sz="2400"/>
          </a:p>
          <a:p>
            <a:pPr>
              <a:buSzPct val="45000"/>
              <a:buFont typeface="Arial"/>
              <a:buChar char="•"/>
            </a:pPr>
            <a:r>
              <a:rPr lang="en-US" sz="2400" dirty="0">
                <a:solidFill>
                  <a:srgbClr val="000000"/>
                </a:solidFill>
                <a:latin typeface="Calibri"/>
              </a:rPr>
              <a:t> This complexity results in part from the wide uses of contracts, the lawyer's universal tool in business and personal affairs. </a:t>
            </a:r>
            <a:endParaRPr sz="2400"/>
          </a:p>
          <a:p>
            <a:pPr>
              <a:buSzPct val="45000"/>
              <a:buFont typeface="Arial"/>
              <a:buChar char="•"/>
            </a:pPr>
            <a:r>
              <a:rPr lang="en-US" sz="2400" dirty="0">
                <a:solidFill>
                  <a:srgbClr val="000000"/>
                </a:solidFill>
                <a:latin typeface="Calibri"/>
              </a:rPr>
              <a:t>Realizing the problem different attempts are made to harmonize the governing laws in contract on international level</a:t>
            </a:r>
            <a:endParaRPr sz="2400"/>
          </a:p>
          <a:p>
            <a:pPr>
              <a:buSzPct val="45000"/>
              <a:buFont typeface="Arial"/>
              <a:buChar char="•"/>
            </a:pPr>
            <a:r>
              <a:rPr lang="en-US" sz="2400" dirty="0">
                <a:solidFill>
                  <a:srgbClr val="000000"/>
                </a:solidFill>
                <a:latin typeface="Calibri"/>
              </a:rPr>
              <a:t>Significant stapes is the 1980 Rome convention on Law applicable to Contractual obligations which has mandatory application in EU member states.</a:t>
            </a:r>
            <a:endParaRPr sz="2400"/>
          </a:p>
        </p:txBody>
      </p:sp>
      <p:sp>
        <p:nvSpPr>
          <p:cNvPr id="19"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20" name="TextShape 4"/>
          <p:cNvSpPr txBox="1"/>
          <p:nvPr/>
        </p:nvSpPr>
        <p:spPr>
          <a:xfrm>
            <a:off x="6553080" y="6356520"/>
            <a:ext cx="2133360" cy="364680"/>
          </a:xfrm>
          <a:prstGeom prst="rect">
            <a:avLst/>
          </a:prstGeom>
        </p:spPr>
        <p:txBody>
          <a:bodyPr lIns="90000" tIns="45000" rIns="90000" bIns="45000"/>
          <a:lstStyle/>
          <a:p>
            <a:fld id="{B1516191-61D1-4141-B1D1-515131B13151}" type="slidenum">
              <a:rPr lang="en-US" sz="1200">
                <a:solidFill>
                  <a:srgbClr val="8B8B8B"/>
                </a:solidFill>
                <a:latin typeface="Calibri"/>
              </a:rPr>
              <a:pPr/>
              <a:t>3</a:t>
            </a:fld>
            <a:endParaRPr/>
          </a:p>
        </p:txBody>
      </p:sp>
      <p:sp>
        <p:nvSpPr>
          <p:cNvPr id="21" name="TextShape 5"/>
          <p:cNvSpPr txBox="1"/>
          <p:nvPr/>
        </p:nvSpPr>
        <p:spPr>
          <a:xfrm>
            <a:off x="3124080" y="6356520"/>
            <a:ext cx="2895120" cy="364680"/>
          </a:xfrm>
          <a:prstGeom prst="rect">
            <a:avLst/>
          </a:prstGeom>
        </p:spPr>
        <p:txBody>
          <a:bodyPr lIns="90000" tIns="45000" rIns="90000" bIns="45000"/>
          <a:lstStyle/>
          <a:p>
            <a:r>
              <a:rPr lang="en-US" sz="1200" dirty="0">
                <a:solidFill>
                  <a:srgbClr val="8B8B8B"/>
                </a:solidFill>
                <a:latin typeface="Calibri"/>
              </a:rPr>
              <a:t>Conflict PPT Part II , Sultan </a:t>
            </a:r>
            <a:r>
              <a:rPr lang="en-US" sz="1200" dirty="0" err="1">
                <a:solidFill>
                  <a:srgbClr val="8B8B8B"/>
                </a:solidFill>
                <a:latin typeface="Calibri"/>
              </a:rPr>
              <a:t>Kassim</a:t>
            </a:r>
            <a:r>
              <a:rPr lang="en-US" sz="1200" dirty="0">
                <a:solidFill>
                  <a:srgbClr val="8B8B8B"/>
                </a:solidFill>
                <a:latin typeface="Calibri"/>
              </a:rPr>
              <a:t>,  HU COL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Shape 1"/>
          <p:cNvSpPr txBox="1"/>
          <p:nvPr/>
        </p:nvSpPr>
        <p:spPr>
          <a:xfrm>
            <a:off x="457200" y="274680"/>
            <a:ext cx="8229240" cy="1142640"/>
          </a:xfrm>
          <a:prstGeom prst="rect">
            <a:avLst/>
          </a:prstGeom>
        </p:spPr>
        <p:txBody>
          <a:bodyPr lIns="90000" tIns="45000" rIns="90000" bIns="45000"/>
          <a:lstStyle/>
          <a:p>
            <a:pPr algn="ctr"/>
            <a:r>
              <a:rPr lang="en-US" sz="4400" b="1" dirty="0">
                <a:solidFill>
                  <a:srgbClr val="000000"/>
                </a:solidFill>
                <a:latin typeface="Calibri"/>
              </a:rPr>
              <a:t>
</a:t>
            </a:r>
            <a:r>
              <a:rPr lang="en-US" sz="3200" b="1" dirty="0">
                <a:solidFill>
                  <a:srgbClr val="FF0000"/>
                </a:solidFill>
                <a:latin typeface="Calibri"/>
              </a:rPr>
              <a:t>Choice of Applicable Law in Contract</a:t>
            </a:r>
            <a:endParaRPr sz="3200">
              <a:solidFill>
                <a:srgbClr val="FF0000"/>
              </a:solidFill>
            </a:endParaRPr>
          </a:p>
        </p:txBody>
      </p:sp>
      <p:sp>
        <p:nvSpPr>
          <p:cNvPr id="23" name="TextShape 2"/>
          <p:cNvSpPr txBox="1"/>
          <p:nvPr/>
        </p:nvSpPr>
        <p:spPr>
          <a:xfrm>
            <a:off x="457200" y="1600200"/>
            <a:ext cx="8229240" cy="452556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3200" dirty="0">
                <a:solidFill>
                  <a:srgbClr val="000000"/>
                </a:solidFill>
                <a:latin typeface="Calibri"/>
              </a:rPr>
              <a:t>No  internationally accepted rules governing contractual relations containing a foreign element judges face problem.</a:t>
            </a:r>
            <a:endParaRPr/>
          </a:p>
          <a:p>
            <a:pPr>
              <a:buSzPct val="45000"/>
              <a:buFont typeface="Arial"/>
              <a:buChar char="•"/>
            </a:pPr>
            <a:r>
              <a:rPr lang="en-US" sz="3200" dirty="0">
                <a:solidFill>
                  <a:srgbClr val="000000"/>
                </a:solidFill>
                <a:latin typeface="Calibri"/>
              </a:rPr>
              <a:t>In Ethiopia, the problem is far worse than any country because of absence of any formally adopted conflict of law rules to resolve such disputes.</a:t>
            </a:r>
            <a:endParaRPr/>
          </a:p>
          <a:p>
            <a:endParaRPr/>
          </a:p>
        </p:txBody>
      </p:sp>
      <p:sp>
        <p:nvSpPr>
          <p:cNvPr id="24"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25"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26" name="TextShape 5"/>
          <p:cNvSpPr txBox="1"/>
          <p:nvPr/>
        </p:nvSpPr>
        <p:spPr>
          <a:xfrm>
            <a:off x="6553080" y="6356520"/>
            <a:ext cx="2133360" cy="364680"/>
          </a:xfrm>
          <a:prstGeom prst="rect">
            <a:avLst/>
          </a:prstGeom>
        </p:spPr>
        <p:txBody>
          <a:bodyPr lIns="90000" tIns="45000" rIns="90000" bIns="45000"/>
          <a:lstStyle/>
          <a:p>
            <a:fld id="{71F18131-C171-4171-B121-C161019111D1}" type="slidenum">
              <a:rPr lang="en-US" sz="1200">
                <a:solidFill>
                  <a:srgbClr val="8B8B8B"/>
                </a:solidFill>
                <a:latin typeface="Calibri"/>
              </a:rPr>
              <a:p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Shape 1"/>
          <p:cNvSpPr txBox="1"/>
          <p:nvPr/>
        </p:nvSpPr>
        <p:spPr>
          <a:xfrm>
            <a:off x="457200" y="-685800"/>
            <a:ext cx="8229240" cy="2286000"/>
          </a:xfrm>
          <a:prstGeom prst="rect">
            <a:avLst/>
          </a:prstGeom>
        </p:spPr>
        <p:txBody>
          <a:bodyPr lIns="90000" tIns="45000" rIns="90000" bIns="45000"/>
          <a:lstStyle/>
          <a:p>
            <a:pPr algn="ctr"/>
            <a:r>
              <a:rPr lang="en-US" sz="4400" b="1" dirty="0">
                <a:solidFill>
                  <a:srgbClr val="000000"/>
                </a:solidFill>
                <a:latin typeface="Calibri"/>
              </a:rPr>
              <a:t>
</a:t>
            </a:r>
            <a:r>
              <a:rPr lang="en-US" sz="2400" b="1" dirty="0" smtClean="0">
                <a:solidFill>
                  <a:srgbClr val="FF0000"/>
                </a:solidFill>
                <a:latin typeface="Calibri"/>
              </a:rPr>
              <a:t>5.2. Doctrine of the proper law of Contract</a:t>
            </a:r>
            <a:r>
              <a:rPr lang="en-US" sz="4400" dirty="0">
                <a:solidFill>
                  <a:srgbClr val="000000"/>
                </a:solidFill>
                <a:latin typeface="Calibri"/>
              </a:rPr>
              <a:t>
</a:t>
            </a:r>
            <a:endParaRPr/>
          </a:p>
        </p:txBody>
      </p:sp>
      <p:sp>
        <p:nvSpPr>
          <p:cNvPr id="28" name="TextShape 2"/>
          <p:cNvSpPr txBox="1"/>
          <p:nvPr/>
        </p:nvSpPr>
        <p:spPr>
          <a:xfrm>
            <a:off x="457200" y="685800"/>
            <a:ext cx="8229240" cy="563880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2800" dirty="0">
                <a:solidFill>
                  <a:srgbClr val="000000"/>
                </a:solidFill>
                <a:latin typeface="Calibri"/>
              </a:rPr>
              <a:t>Defined as “that law </a:t>
            </a:r>
            <a:r>
              <a:rPr lang="en-US" sz="2800" dirty="0" smtClean="0">
                <a:solidFill>
                  <a:srgbClr val="000000"/>
                </a:solidFill>
                <a:latin typeface="Calibri"/>
              </a:rPr>
              <a:t>which </a:t>
            </a:r>
            <a:r>
              <a:rPr lang="en-US" sz="2800" dirty="0">
                <a:solidFill>
                  <a:srgbClr val="000000"/>
                </a:solidFill>
                <a:latin typeface="Calibri"/>
              </a:rPr>
              <a:t>… a court is to apply in determining the obligations under the contract”. </a:t>
            </a:r>
            <a:endParaRPr sz="2800"/>
          </a:p>
          <a:p>
            <a:pPr>
              <a:buSzPct val="45000"/>
              <a:buFont typeface="Arial"/>
              <a:buChar char="•"/>
            </a:pPr>
            <a:r>
              <a:rPr lang="en-US" sz="2800" dirty="0">
                <a:solidFill>
                  <a:srgbClr val="000000"/>
                </a:solidFill>
                <a:latin typeface="Calibri"/>
              </a:rPr>
              <a:t>Not all the matters affecting the contract are governed by one system of law. </a:t>
            </a:r>
            <a:endParaRPr sz="2800"/>
          </a:p>
          <a:p>
            <a:pPr>
              <a:buSzPct val="45000"/>
              <a:buFont typeface="Arial"/>
              <a:buChar char="•"/>
            </a:pPr>
            <a:r>
              <a:rPr lang="en-US" sz="2800" dirty="0">
                <a:solidFill>
                  <a:srgbClr val="000000"/>
                </a:solidFill>
                <a:latin typeface="Calibri"/>
              </a:rPr>
              <a:t>But in all cases there is a primary system of law called the </a:t>
            </a:r>
            <a:r>
              <a:rPr lang="en-US" sz="2800" b="1" dirty="0">
                <a:solidFill>
                  <a:srgbClr val="000000"/>
                </a:solidFill>
                <a:latin typeface="Calibri"/>
              </a:rPr>
              <a:t>‘proper law’ </a:t>
            </a:r>
            <a:r>
              <a:rPr lang="en-US" sz="2800" dirty="0">
                <a:solidFill>
                  <a:srgbClr val="000000"/>
                </a:solidFill>
                <a:latin typeface="Calibri"/>
              </a:rPr>
              <a:t>which usually </a:t>
            </a:r>
            <a:r>
              <a:rPr lang="en-US" sz="2800" b="1" dirty="0">
                <a:solidFill>
                  <a:srgbClr val="000000"/>
                </a:solidFill>
                <a:latin typeface="Calibri"/>
              </a:rPr>
              <a:t>governs most matters </a:t>
            </a:r>
            <a:r>
              <a:rPr lang="en-US" sz="2800" dirty="0">
                <a:solidFill>
                  <a:srgbClr val="000000"/>
                </a:solidFill>
                <a:latin typeface="Calibri"/>
              </a:rPr>
              <a:t>affecting the formation and substance of the contract. </a:t>
            </a:r>
            <a:endParaRPr sz="2800"/>
          </a:p>
          <a:p>
            <a:pPr>
              <a:buSzPct val="45000"/>
              <a:buFont typeface="Arial"/>
              <a:buChar char="•"/>
            </a:pPr>
            <a:r>
              <a:rPr lang="en-US" sz="2800" dirty="0">
                <a:solidFill>
                  <a:srgbClr val="000000"/>
                </a:solidFill>
                <a:latin typeface="Calibri"/>
              </a:rPr>
              <a:t>The problem of ascertaining the </a:t>
            </a:r>
            <a:r>
              <a:rPr lang="en-US" sz="2800" i="1" dirty="0" err="1">
                <a:solidFill>
                  <a:srgbClr val="000000"/>
                </a:solidFill>
                <a:latin typeface="Calibri"/>
              </a:rPr>
              <a:t>lex</a:t>
            </a:r>
            <a:r>
              <a:rPr lang="en-US" sz="2800" i="1" dirty="0">
                <a:solidFill>
                  <a:srgbClr val="000000"/>
                </a:solidFill>
                <a:latin typeface="Calibri"/>
              </a:rPr>
              <a:t> </a:t>
            </a:r>
            <a:r>
              <a:rPr lang="en-US" sz="2800" i="1" dirty="0" err="1">
                <a:solidFill>
                  <a:srgbClr val="000000"/>
                </a:solidFill>
                <a:latin typeface="Calibri"/>
              </a:rPr>
              <a:t>causae</a:t>
            </a:r>
            <a:r>
              <a:rPr lang="en-US" sz="2800" i="1" dirty="0">
                <a:solidFill>
                  <a:srgbClr val="000000"/>
                </a:solidFill>
                <a:latin typeface="Calibri"/>
              </a:rPr>
              <a:t> </a:t>
            </a:r>
            <a:r>
              <a:rPr lang="en-US" sz="2800" dirty="0">
                <a:solidFill>
                  <a:srgbClr val="000000"/>
                </a:solidFill>
                <a:latin typeface="Calibri"/>
              </a:rPr>
              <a:t>is more complicated in the case of contract than in almost any other legal topic. b/c of multifarious connection.</a:t>
            </a:r>
            <a:endParaRPr sz="2800"/>
          </a:p>
          <a:p>
            <a:endParaRPr sz="2800"/>
          </a:p>
          <a:p>
            <a:endParaRPr sz="2800"/>
          </a:p>
        </p:txBody>
      </p:sp>
      <p:sp>
        <p:nvSpPr>
          <p:cNvPr id="29"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30"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31" name="TextShape 5"/>
          <p:cNvSpPr txBox="1"/>
          <p:nvPr/>
        </p:nvSpPr>
        <p:spPr>
          <a:xfrm>
            <a:off x="6553080" y="6356520"/>
            <a:ext cx="2133360" cy="364680"/>
          </a:xfrm>
          <a:prstGeom prst="rect">
            <a:avLst/>
          </a:prstGeom>
        </p:spPr>
        <p:txBody>
          <a:bodyPr lIns="90000" tIns="45000" rIns="90000" bIns="45000"/>
          <a:lstStyle/>
          <a:p>
            <a:fld id="{01D111F1-0181-41C1-B141-3131916141D1}" type="slidenum">
              <a:rPr lang="en-US" sz="1200">
                <a:solidFill>
                  <a:srgbClr val="8B8B8B"/>
                </a:solidFill>
                <a:latin typeface="Calibri"/>
              </a:rPr>
              <a:pP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Shape 1"/>
          <p:cNvSpPr txBox="1"/>
          <p:nvPr/>
        </p:nvSpPr>
        <p:spPr>
          <a:xfrm>
            <a:off x="457200" y="274680"/>
            <a:ext cx="8229240" cy="1142640"/>
          </a:xfrm>
          <a:prstGeom prst="rect">
            <a:avLst/>
          </a:prstGeom>
        </p:spPr>
        <p:txBody>
          <a:bodyPr lIns="90000" tIns="45000" rIns="90000" bIns="45000"/>
          <a:lstStyle/>
          <a:p>
            <a:pPr algn="ctr"/>
            <a:endParaRPr/>
          </a:p>
        </p:txBody>
      </p:sp>
      <p:sp>
        <p:nvSpPr>
          <p:cNvPr id="33" name="TextShape 2"/>
          <p:cNvSpPr txBox="1"/>
          <p:nvPr/>
        </p:nvSpPr>
        <p:spPr>
          <a:xfrm>
            <a:off x="457200" y="685800"/>
            <a:ext cx="8229240" cy="396240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3200" dirty="0">
                <a:solidFill>
                  <a:srgbClr val="000000"/>
                </a:solidFill>
                <a:latin typeface="Calibri"/>
              </a:rPr>
              <a:t>Multiplicity of connecting factors in contract :</a:t>
            </a:r>
            <a:endParaRPr/>
          </a:p>
          <a:p>
            <a:pPr>
              <a:buSzPct val="45000"/>
              <a:buFont typeface="Arial"/>
              <a:buChar char="•"/>
            </a:pPr>
            <a:r>
              <a:rPr lang="en-US" sz="3200" dirty="0">
                <a:solidFill>
                  <a:srgbClr val="000000"/>
                </a:solidFill>
                <a:latin typeface="Calibri"/>
              </a:rPr>
              <a:t>the place where it is made; the place of performance; the domicile; nationality or business center of the parties; the situation of the subject matter and so on. </a:t>
            </a:r>
            <a:endParaRPr/>
          </a:p>
          <a:p>
            <a:pPr>
              <a:buSzPct val="45000"/>
              <a:buFont typeface="Arial"/>
              <a:buChar char="•"/>
            </a:pPr>
            <a:r>
              <a:rPr lang="en-US" sz="3200" b="1" dirty="0">
                <a:solidFill>
                  <a:srgbClr val="000000"/>
                </a:solidFill>
                <a:latin typeface="Calibri"/>
              </a:rPr>
              <a:t>So which one is determinant of the proper law?</a:t>
            </a:r>
            <a:endParaRPr/>
          </a:p>
        </p:txBody>
      </p:sp>
      <p:sp>
        <p:nvSpPr>
          <p:cNvPr id="34"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35"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36" name="TextShape 5"/>
          <p:cNvSpPr txBox="1"/>
          <p:nvPr/>
        </p:nvSpPr>
        <p:spPr>
          <a:xfrm>
            <a:off x="6553080" y="6356520"/>
            <a:ext cx="2133360" cy="364680"/>
          </a:xfrm>
          <a:prstGeom prst="rect">
            <a:avLst/>
          </a:prstGeom>
        </p:spPr>
        <p:txBody>
          <a:bodyPr lIns="90000" tIns="45000" rIns="90000" bIns="45000"/>
          <a:lstStyle/>
          <a:p>
            <a:fld id="{A1C191A1-F111-41B1-B181-317141C1F101}" type="slidenum">
              <a:rPr lang="en-US" sz="1200">
                <a:solidFill>
                  <a:srgbClr val="8B8B8B"/>
                </a:solidFill>
                <a:latin typeface="Calibri"/>
              </a:rPr>
              <a:p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Shape 1"/>
          <p:cNvSpPr txBox="1"/>
          <p:nvPr/>
        </p:nvSpPr>
        <p:spPr>
          <a:xfrm>
            <a:off x="457200" y="274680"/>
            <a:ext cx="8229240" cy="1142640"/>
          </a:xfrm>
          <a:prstGeom prst="rect">
            <a:avLst/>
          </a:prstGeom>
        </p:spPr>
        <p:txBody>
          <a:bodyPr lIns="90000" tIns="45000" rIns="90000" bIns="45000"/>
          <a:lstStyle/>
          <a:p>
            <a:pPr algn="ctr"/>
            <a:r>
              <a:rPr lang="en-US" sz="3600" b="1" dirty="0">
                <a:solidFill>
                  <a:srgbClr val="000000"/>
                </a:solidFill>
                <a:latin typeface="Calibri"/>
              </a:rPr>
              <a:t>5.2.1</a:t>
            </a:r>
            <a:r>
              <a:rPr lang="en-US" sz="3600" b="1" dirty="0">
                <a:solidFill>
                  <a:srgbClr val="FF0000"/>
                </a:solidFill>
                <a:latin typeface="Calibri"/>
              </a:rPr>
              <a:t>. Ascertainment of the Proper Law</a:t>
            </a:r>
            <a:endParaRPr>
              <a:solidFill>
                <a:srgbClr val="FF0000"/>
              </a:solidFill>
            </a:endParaRPr>
          </a:p>
        </p:txBody>
      </p:sp>
      <p:sp>
        <p:nvSpPr>
          <p:cNvPr id="38" name="TextShape 2"/>
          <p:cNvSpPr txBox="1"/>
          <p:nvPr/>
        </p:nvSpPr>
        <p:spPr>
          <a:xfrm>
            <a:off x="457200" y="838200"/>
            <a:ext cx="8229240" cy="5715000"/>
          </a:xfrm>
          <a:prstGeom prst="rect">
            <a:avLst/>
          </a:prstGeom>
          <a:solidFill>
            <a:srgbClr val="00B050"/>
          </a:solidFill>
          <a:ln>
            <a:solidFill>
              <a:srgbClr val="FF0000"/>
            </a:solidFill>
          </a:ln>
        </p:spPr>
        <p:txBody>
          <a:bodyPr lIns="90000" tIns="45000" rIns="90000" bIns="45000"/>
          <a:lstStyle/>
          <a:p>
            <a:r>
              <a:rPr lang="en-US" sz="2800" b="1" dirty="0">
                <a:solidFill>
                  <a:srgbClr val="000000"/>
                </a:solidFill>
                <a:latin typeface="Calibri"/>
              </a:rPr>
              <a:t>1. </a:t>
            </a:r>
            <a:r>
              <a:rPr lang="en-US" sz="2800" b="1" dirty="0">
                <a:solidFill>
                  <a:srgbClr val="FF0000"/>
                </a:solidFill>
                <a:latin typeface="Calibri"/>
              </a:rPr>
              <a:t>The US Approach Under Second Restatement</a:t>
            </a:r>
            <a:endParaRPr sz="2800">
              <a:solidFill>
                <a:srgbClr val="FF0000"/>
              </a:solidFill>
            </a:endParaRPr>
          </a:p>
          <a:p>
            <a:pPr>
              <a:buSzPct val="45000"/>
              <a:buFont typeface="Arial"/>
              <a:buChar char="•"/>
            </a:pPr>
            <a:r>
              <a:rPr lang="en-US" sz="2800" dirty="0">
                <a:solidFill>
                  <a:srgbClr val="000000"/>
                </a:solidFill>
                <a:latin typeface="Calibri"/>
              </a:rPr>
              <a:t>Contractual obligations in principle shall be governed by </a:t>
            </a:r>
            <a:r>
              <a:rPr lang="en-US" sz="2800" b="1" dirty="0">
                <a:solidFill>
                  <a:srgbClr val="000000"/>
                </a:solidFill>
                <a:latin typeface="Calibri"/>
              </a:rPr>
              <a:t>the law of the state chosen by the parties </a:t>
            </a:r>
            <a:r>
              <a:rPr lang="en-US" sz="2800" dirty="0">
                <a:solidFill>
                  <a:srgbClr val="000000"/>
                </a:solidFill>
                <a:latin typeface="Calibri"/>
              </a:rPr>
              <a:t>unless this law is contrary to the public policy of the forum court.</a:t>
            </a:r>
            <a:endParaRPr sz="2800"/>
          </a:p>
          <a:p>
            <a:pPr>
              <a:buSzPct val="45000"/>
              <a:buFont typeface="Arial"/>
              <a:buChar char="•"/>
            </a:pPr>
            <a:r>
              <a:rPr lang="en-US" sz="2800" dirty="0">
                <a:solidFill>
                  <a:srgbClr val="000000"/>
                </a:solidFill>
                <a:latin typeface="Calibri"/>
              </a:rPr>
              <a:t>Parties can agree on issues in contract law that are included in permissive provisions in exclusion of mandatory provisions which cannot be agreed otherwise by the parties.</a:t>
            </a:r>
            <a:endParaRPr sz="2800"/>
          </a:p>
          <a:p>
            <a:pPr>
              <a:buSzPct val="45000"/>
              <a:buFont typeface="Arial"/>
              <a:buChar char="•"/>
            </a:pPr>
            <a:r>
              <a:rPr lang="en-US" sz="2800" dirty="0">
                <a:solidFill>
                  <a:srgbClr val="000000"/>
                </a:solidFill>
                <a:latin typeface="Calibri"/>
              </a:rPr>
              <a:t>For instance the parties are free to determine the place time and mode of performance.</a:t>
            </a:r>
            <a:endParaRPr sz="2800"/>
          </a:p>
        </p:txBody>
      </p:sp>
      <p:sp>
        <p:nvSpPr>
          <p:cNvPr id="39"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40"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41" name="TextShape 5"/>
          <p:cNvSpPr txBox="1"/>
          <p:nvPr/>
        </p:nvSpPr>
        <p:spPr>
          <a:xfrm>
            <a:off x="6553080" y="6356520"/>
            <a:ext cx="2133360" cy="364680"/>
          </a:xfrm>
          <a:prstGeom prst="rect">
            <a:avLst/>
          </a:prstGeom>
        </p:spPr>
        <p:txBody>
          <a:bodyPr lIns="90000" tIns="45000" rIns="90000" bIns="45000"/>
          <a:lstStyle/>
          <a:p>
            <a:fld id="{41614131-4121-41C1-81A1-C131D1316111}" type="slidenum">
              <a:rPr lang="en-US" sz="1200">
                <a:solidFill>
                  <a:srgbClr val="8B8B8B"/>
                </a:solidFill>
                <a:latin typeface="Calibri"/>
              </a:rPr>
              <a:pPr/>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Shape 1"/>
          <p:cNvSpPr txBox="1"/>
          <p:nvPr/>
        </p:nvSpPr>
        <p:spPr>
          <a:xfrm>
            <a:off x="457200" y="274680"/>
            <a:ext cx="8229240" cy="1142640"/>
          </a:xfrm>
          <a:prstGeom prst="rect">
            <a:avLst/>
          </a:prstGeom>
        </p:spPr>
        <p:txBody>
          <a:bodyPr lIns="90000" tIns="45000" rIns="90000" bIns="45000"/>
          <a:lstStyle/>
          <a:p>
            <a:pPr algn="ctr"/>
            <a:endParaRPr/>
          </a:p>
        </p:txBody>
      </p:sp>
      <p:sp>
        <p:nvSpPr>
          <p:cNvPr id="43" name="TextShape 2"/>
          <p:cNvSpPr txBox="1"/>
          <p:nvPr/>
        </p:nvSpPr>
        <p:spPr>
          <a:xfrm>
            <a:off x="457200" y="381000"/>
            <a:ext cx="8229240" cy="541020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3200" dirty="0">
                <a:solidFill>
                  <a:srgbClr val="000000"/>
                </a:solidFill>
                <a:latin typeface="Calibri"/>
              </a:rPr>
              <a:t>Parties could not agree on mandatory provisions of contract law, they  are not free to agree in a way they want. </a:t>
            </a:r>
            <a:endParaRPr sz="3200"/>
          </a:p>
          <a:p>
            <a:pPr>
              <a:buSzPct val="45000"/>
              <a:buFont typeface="Arial"/>
              <a:buChar char="•"/>
            </a:pPr>
            <a:r>
              <a:rPr lang="en-US" sz="3200" dirty="0">
                <a:solidFill>
                  <a:srgbClr val="000000"/>
                </a:solidFill>
                <a:latin typeface="Calibri"/>
              </a:rPr>
              <a:t> Examples of such questions are those involving capacity, formalities and substantial validity.</a:t>
            </a:r>
            <a:endParaRPr sz="3200"/>
          </a:p>
          <a:p>
            <a:pPr>
              <a:buSzPct val="45000"/>
              <a:buFont typeface="Arial"/>
              <a:buChar char="•"/>
            </a:pPr>
            <a:r>
              <a:rPr lang="en-US" sz="3200" dirty="0">
                <a:solidFill>
                  <a:srgbClr val="000000"/>
                </a:solidFill>
                <a:latin typeface="Calibri"/>
              </a:rPr>
              <a:t> </a:t>
            </a:r>
            <a:r>
              <a:rPr lang="en-US" sz="3200" b="1" dirty="0">
                <a:solidFill>
                  <a:srgbClr val="000000"/>
                </a:solidFill>
                <a:latin typeface="Calibri"/>
              </a:rPr>
              <a:t>When do we say parties made choice?</a:t>
            </a:r>
            <a:endParaRPr sz="3200"/>
          </a:p>
          <a:p>
            <a:pPr lvl="1">
              <a:buSzPct val="45000"/>
              <a:buFont typeface="Arial"/>
              <a:buChar char="–"/>
            </a:pPr>
            <a:r>
              <a:rPr lang="en-US" sz="3200" dirty="0">
                <a:solidFill>
                  <a:srgbClr val="000000"/>
                </a:solidFill>
                <a:latin typeface="Calibri"/>
              </a:rPr>
              <a:t>When they expressly stated or</a:t>
            </a:r>
            <a:endParaRPr sz="3200"/>
          </a:p>
          <a:p>
            <a:pPr lvl="1">
              <a:buSzPct val="45000"/>
              <a:buFont typeface="Arial"/>
              <a:buChar char="–"/>
            </a:pPr>
            <a:r>
              <a:rPr lang="en-US" sz="3200" dirty="0">
                <a:solidFill>
                  <a:srgbClr val="000000"/>
                </a:solidFill>
                <a:latin typeface="Calibri"/>
              </a:rPr>
              <a:t> when they used provisions of that law in their contract.</a:t>
            </a:r>
            <a:endParaRPr sz="3200"/>
          </a:p>
        </p:txBody>
      </p:sp>
      <p:sp>
        <p:nvSpPr>
          <p:cNvPr id="44"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45"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46" name="TextShape 5"/>
          <p:cNvSpPr txBox="1"/>
          <p:nvPr/>
        </p:nvSpPr>
        <p:spPr>
          <a:xfrm>
            <a:off x="6553080" y="6356520"/>
            <a:ext cx="2133360" cy="364680"/>
          </a:xfrm>
          <a:prstGeom prst="rect">
            <a:avLst/>
          </a:prstGeom>
        </p:spPr>
        <p:txBody>
          <a:bodyPr lIns="90000" tIns="45000" rIns="90000" bIns="45000"/>
          <a:lstStyle/>
          <a:p>
            <a:fld id="{11E15141-6191-41A1-8101-71B1C151E1B1}" type="slidenum">
              <a:rPr lang="en-US" sz="1200">
                <a:solidFill>
                  <a:srgbClr val="8B8B8B"/>
                </a:solidFill>
                <a:latin typeface="Calibri"/>
              </a:rPr>
              <a:pP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Shape 1"/>
          <p:cNvSpPr txBox="1"/>
          <p:nvPr/>
        </p:nvSpPr>
        <p:spPr>
          <a:xfrm>
            <a:off x="457200" y="274680"/>
            <a:ext cx="8229240" cy="1142640"/>
          </a:xfrm>
          <a:prstGeom prst="rect">
            <a:avLst/>
          </a:prstGeom>
        </p:spPr>
        <p:txBody>
          <a:bodyPr lIns="90000" tIns="45000" rIns="90000" bIns="45000"/>
          <a:lstStyle/>
          <a:p>
            <a:pPr algn="ctr"/>
            <a:endParaRPr/>
          </a:p>
        </p:txBody>
      </p:sp>
      <p:sp>
        <p:nvSpPr>
          <p:cNvPr id="48" name="TextShape 2"/>
          <p:cNvSpPr txBox="1"/>
          <p:nvPr/>
        </p:nvSpPr>
        <p:spPr>
          <a:xfrm>
            <a:off x="457200" y="381000"/>
            <a:ext cx="8229240" cy="579120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3200" b="1" dirty="0">
                <a:solidFill>
                  <a:srgbClr val="000000"/>
                </a:solidFill>
                <a:latin typeface="Calibri"/>
              </a:rPr>
              <a:t>Limitation:</a:t>
            </a:r>
            <a:endParaRPr sz="3200"/>
          </a:p>
          <a:p>
            <a:pPr>
              <a:buSzPct val="45000"/>
              <a:buFont typeface="Arial"/>
              <a:buChar char="•"/>
            </a:pPr>
            <a:r>
              <a:rPr lang="en-US" sz="3200" dirty="0">
                <a:solidFill>
                  <a:srgbClr val="000000"/>
                </a:solidFill>
                <a:latin typeface="Calibri"/>
              </a:rPr>
              <a:t>The parties cannot arbitrarily choose the law of a state they like. They must have a reasonable basis to select the law of a certain state.</a:t>
            </a:r>
            <a:endParaRPr sz="3200"/>
          </a:p>
          <a:p>
            <a:pPr>
              <a:buSzPct val="45000"/>
              <a:buFont typeface="Arial"/>
              <a:buChar char="•"/>
            </a:pPr>
            <a:r>
              <a:rPr lang="en-US" sz="3200" dirty="0">
                <a:solidFill>
                  <a:srgbClr val="000000"/>
                </a:solidFill>
                <a:latin typeface="Calibri"/>
              </a:rPr>
              <a:t>When the state of the chosen law has some </a:t>
            </a:r>
            <a:r>
              <a:rPr lang="en-US" sz="3200" b="1" dirty="0">
                <a:solidFill>
                  <a:srgbClr val="000000"/>
                </a:solidFill>
                <a:latin typeface="Calibri"/>
              </a:rPr>
              <a:t>substantial relationship </a:t>
            </a:r>
            <a:r>
              <a:rPr lang="en-US" sz="3200" dirty="0">
                <a:solidFill>
                  <a:srgbClr val="000000"/>
                </a:solidFill>
                <a:latin typeface="Calibri"/>
              </a:rPr>
              <a:t>to the parties or the contract, the parties will be held to have had a reasonable basis for their choice.</a:t>
            </a:r>
            <a:endParaRPr sz="3200"/>
          </a:p>
          <a:p>
            <a:pPr>
              <a:buSzPct val="45000"/>
              <a:buFont typeface="Arial"/>
              <a:buChar char="•"/>
            </a:pPr>
            <a:r>
              <a:rPr lang="en-US" sz="3200" dirty="0">
                <a:solidFill>
                  <a:srgbClr val="000000"/>
                </a:solidFill>
                <a:latin typeface="Calibri"/>
              </a:rPr>
              <a:t>E.g.  Place of performance, place of domicile of one of the parties, place of business, place of making contract( unless it was fortuitous).</a:t>
            </a:r>
            <a:endParaRPr sz="3200"/>
          </a:p>
        </p:txBody>
      </p:sp>
      <p:sp>
        <p:nvSpPr>
          <p:cNvPr id="49"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50"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51" name="TextShape 5"/>
          <p:cNvSpPr txBox="1"/>
          <p:nvPr/>
        </p:nvSpPr>
        <p:spPr>
          <a:xfrm>
            <a:off x="6553080" y="6356520"/>
            <a:ext cx="2133360" cy="364680"/>
          </a:xfrm>
          <a:prstGeom prst="rect">
            <a:avLst/>
          </a:prstGeom>
        </p:spPr>
        <p:txBody>
          <a:bodyPr lIns="90000" tIns="45000" rIns="90000" bIns="45000"/>
          <a:lstStyle/>
          <a:p>
            <a:fld id="{E17161A1-A1A1-4111-B191-81A10101D1A1}" type="slidenum">
              <a:rPr lang="en-US" sz="1200">
                <a:solidFill>
                  <a:srgbClr val="8B8B8B"/>
                </a:solidFill>
                <a:latin typeface="Calibri"/>
              </a:rPr>
              <a:pP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Shape 1"/>
          <p:cNvSpPr txBox="1"/>
          <p:nvPr/>
        </p:nvSpPr>
        <p:spPr>
          <a:xfrm>
            <a:off x="457200" y="274680"/>
            <a:ext cx="8229240" cy="1142640"/>
          </a:xfrm>
          <a:prstGeom prst="rect">
            <a:avLst/>
          </a:prstGeom>
        </p:spPr>
        <p:txBody>
          <a:bodyPr lIns="90000" tIns="45000" rIns="90000" bIns="45000"/>
          <a:lstStyle/>
          <a:p>
            <a:pPr algn="ctr"/>
            <a:endParaRPr/>
          </a:p>
        </p:txBody>
      </p:sp>
      <p:sp>
        <p:nvSpPr>
          <p:cNvPr id="53" name="TextShape 2"/>
          <p:cNvSpPr txBox="1"/>
          <p:nvPr/>
        </p:nvSpPr>
        <p:spPr>
          <a:xfrm>
            <a:off x="457200" y="533400"/>
            <a:ext cx="8229240" cy="559236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2800" b="1" dirty="0">
                <a:solidFill>
                  <a:srgbClr val="000000"/>
                </a:solidFill>
                <a:latin typeface="Calibri"/>
              </a:rPr>
              <a:t>What if the parties did not choose applicable law?</a:t>
            </a:r>
            <a:endParaRPr sz="2800"/>
          </a:p>
          <a:p>
            <a:pPr>
              <a:buSzPct val="45000"/>
              <a:buFont typeface="Arial"/>
              <a:buChar char="•"/>
            </a:pPr>
            <a:r>
              <a:rPr lang="en-US" sz="2800" dirty="0">
                <a:solidFill>
                  <a:srgbClr val="000000"/>
                </a:solidFill>
                <a:latin typeface="Calibri"/>
              </a:rPr>
              <a:t>In the absence of effectively chosen law by the parties the governing law shall be the law which has </a:t>
            </a:r>
            <a:r>
              <a:rPr lang="en-US" sz="2800" b="1" dirty="0">
                <a:solidFill>
                  <a:srgbClr val="000000"/>
                </a:solidFill>
                <a:latin typeface="Calibri"/>
              </a:rPr>
              <a:t>the most significant relationship</a:t>
            </a:r>
            <a:r>
              <a:rPr lang="en-US" sz="2800" dirty="0">
                <a:solidFill>
                  <a:srgbClr val="000000"/>
                </a:solidFill>
                <a:latin typeface="Calibri"/>
              </a:rPr>
              <a:t> to the transaction and the parties taking in to consideration various points of contact like: </a:t>
            </a:r>
            <a:endParaRPr sz="2800"/>
          </a:p>
          <a:p>
            <a:pPr lvl="1">
              <a:buSzPct val="45000"/>
              <a:buFont typeface="Arial"/>
              <a:buChar char="–"/>
            </a:pPr>
            <a:r>
              <a:rPr lang="en-US" sz="2800" dirty="0">
                <a:solidFill>
                  <a:srgbClr val="000000"/>
                </a:solidFill>
                <a:latin typeface="Calibri"/>
              </a:rPr>
              <a:t>Place of contracting, place of negotiation of the contract, place of performance,</a:t>
            </a:r>
            <a:endParaRPr sz="2800"/>
          </a:p>
          <a:p>
            <a:pPr lvl="1">
              <a:buSzPct val="45000"/>
              <a:buFont typeface="Arial"/>
              <a:buChar char="–"/>
            </a:pPr>
            <a:r>
              <a:rPr lang="en-US" sz="2800" dirty="0">
                <a:solidFill>
                  <a:srgbClr val="000000"/>
                </a:solidFill>
                <a:latin typeface="Calibri"/>
              </a:rPr>
              <a:t> the location of the subject matter of the contract and</a:t>
            </a:r>
            <a:endParaRPr sz="2800"/>
          </a:p>
          <a:p>
            <a:pPr lvl="1">
              <a:buSzPct val="45000"/>
              <a:buFont typeface="Arial"/>
              <a:buChar char="–"/>
            </a:pPr>
            <a:r>
              <a:rPr lang="en-US" sz="2800" dirty="0">
                <a:solidFill>
                  <a:srgbClr val="000000"/>
                </a:solidFill>
                <a:latin typeface="Calibri"/>
              </a:rPr>
              <a:t> the domicile, nationality, place of incorporation and place of business of the parties. </a:t>
            </a:r>
            <a:endParaRPr sz="2800"/>
          </a:p>
          <a:p>
            <a:endParaRPr sz="2800"/>
          </a:p>
        </p:txBody>
      </p:sp>
      <p:sp>
        <p:nvSpPr>
          <p:cNvPr id="54"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55"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56" name="TextShape 5"/>
          <p:cNvSpPr txBox="1"/>
          <p:nvPr/>
        </p:nvSpPr>
        <p:spPr>
          <a:xfrm>
            <a:off x="6553080" y="6356520"/>
            <a:ext cx="2133360" cy="364680"/>
          </a:xfrm>
          <a:prstGeom prst="rect">
            <a:avLst/>
          </a:prstGeom>
        </p:spPr>
        <p:txBody>
          <a:bodyPr lIns="90000" tIns="45000" rIns="90000" bIns="45000"/>
          <a:lstStyle/>
          <a:p>
            <a:fld id="{F15131E1-11D1-4111-91C1-417131B1D1E1}" type="slidenum">
              <a:rPr lang="en-US" sz="1200">
                <a:solidFill>
                  <a:srgbClr val="8B8B8B"/>
                </a:solidFill>
                <a:latin typeface="Calibri"/>
              </a:rPr>
              <a:pP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Shape 1"/>
          <p:cNvSpPr txBox="1"/>
          <p:nvPr/>
        </p:nvSpPr>
        <p:spPr>
          <a:xfrm>
            <a:off x="457200" y="-762000"/>
            <a:ext cx="8229240" cy="1524000"/>
          </a:xfrm>
          <a:prstGeom prst="rect">
            <a:avLst/>
          </a:prstGeom>
        </p:spPr>
        <p:txBody>
          <a:bodyPr lIns="90000" tIns="45000" rIns="90000" bIns="45000"/>
          <a:lstStyle/>
          <a:p>
            <a:pPr algn="ctr"/>
            <a:endParaRPr>
              <a:solidFill>
                <a:srgbClr val="FF0000"/>
              </a:solidFill>
            </a:endParaRPr>
          </a:p>
        </p:txBody>
      </p:sp>
      <p:sp>
        <p:nvSpPr>
          <p:cNvPr id="58" name="TextShape 2"/>
          <p:cNvSpPr txBox="1"/>
          <p:nvPr/>
        </p:nvSpPr>
        <p:spPr>
          <a:xfrm>
            <a:off x="457200" y="304800"/>
            <a:ext cx="8229240" cy="6172200"/>
          </a:xfrm>
          <a:prstGeom prst="rect">
            <a:avLst/>
          </a:prstGeom>
          <a:solidFill>
            <a:srgbClr val="00B050"/>
          </a:solidFill>
          <a:ln>
            <a:solidFill>
              <a:srgbClr val="FF0000"/>
            </a:solidFill>
          </a:ln>
        </p:spPr>
        <p:txBody>
          <a:bodyPr lIns="90000" tIns="45000" rIns="90000" bIns="45000"/>
          <a:lstStyle/>
          <a:p>
            <a:r>
              <a:rPr lang="en-US" sz="2800" b="1" dirty="0">
                <a:solidFill>
                  <a:srgbClr val="000000"/>
                </a:solidFill>
                <a:latin typeface="Calibri"/>
              </a:rPr>
              <a:t> </a:t>
            </a:r>
            <a:r>
              <a:rPr lang="en-US" sz="2800" b="1" dirty="0">
                <a:solidFill>
                  <a:srgbClr val="FF0000"/>
                </a:solidFill>
                <a:latin typeface="Calibri"/>
              </a:rPr>
              <a:t>2.The English Approach</a:t>
            </a:r>
            <a:endParaRPr sz="2800">
              <a:solidFill>
                <a:srgbClr val="FF0000"/>
              </a:solidFill>
            </a:endParaRPr>
          </a:p>
          <a:p>
            <a:pPr>
              <a:buSzPct val="45000"/>
              <a:buFont typeface="Arial"/>
              <a:buChar char="•"/>
            </a:pPr>
            <a:r>
              <a:rPr lang="en-US" sz="2800" dirty="0">
                <a:solidFill>
                  <a:srgbClr val="000000"/>
                </a:solidFill>
                <a:latin typeface="Calibri"/>
              </a:rPr>
              <a:t>Under English law</a:t>
            </a:r>
            <a:r>
              <a:rPr lang="en-US" sz="2800" b="1" dirty="0">
                <a:solidFill>
                  <a:srgbClr val="000000"/>
                </a:solidFill>
                <a:latin typeface="Calibri"/>
              </a:rPr>
              <a:t> </a:t>
            </a:r>
            <a:r>
              <a:rPr lang="en-US" sz="2800" dirty="0">
                <a:solidFill>
                  <a:srgbClr val="000000"/>
                </a:solidFill>
                <a:latin typeface="Calibri"/>
              </a:rPr>
              <a:t>determination of the proper law of contract depends up on whether the parties have expressly chosen the proper law or not.</a:t>
            </a:r>
            <a:endParaRPr sz="2800"/>
          </a:p>
          <a:p>
            <a:pPr lvl="1">
              <a:buSzPct val="45000"/>
              <a:buFont typeface="StarSymbol"/>
              <a:buChar char=""/>
            </a:pPr>
            <a:r>
              <a:rPr lang="en-US" sz="2800" b="1" dirty="0">
                <a:solidFill>
                  <a:srgbClr val="000000"/>
                </a:solidFill>
                <a:latin typeface="Calibri"/>
              </a:rPr>
              <a:t>Where There is  Express Choice of the Proper Law</a:t>
            </a:r>
            <a:endParaRPr sz="2800"/>
          </a:p>
          <a:p>
            <a:pPr>
              <a:buSzPct val="45000"/>
              <a:buFont typeface="Arial"/>
              <a:buChar char="•"/>
            </a:pPr>
            <a:r>
              <a:rPr lang="en-US" sz="2800" dirty="0">
                <a:solidFill>
                  <a:srgbClr val="000000"/>
                </a:solidFill>
                <a:latin typeface="Calibri"/>
              </a:rPr>
              <a:t>The parties may  declare their common intention </a:t>
            </a:r>
            <a:endParaRPr sz="2800"/>
          </a:p>
          <a:p>
            <a:pPr lvl="1">
              <a:buSzPct val="45000"/>
              <a:buFont typeface="Arial"/>
              <a:buChar char="–"/>
            </a:pPr>
            <a:r>
              <a:rPr lang="en-US" sz="2800" dirty="0">
                <a:solidFill>
                  <a:srgbClr val="000000"/>
                </a:solidFill>
                <a:latin typeface="Calibri"/>
              </a:rPr>
              <a:t>either by simple statement that the contract shall be governed by the law of country X, or</a:t>
            </a:r>
            <a:endParaRPr sz="2800"/>
          </a:p>
          <a:p>
            <a:pPr lvl="1">
              <a:buSzPct val="45000"/>
              <a:buFont typeface="Arial"/>
              <a:buChar char="–"/>
            </a:pPr>
            <a:r>
              <a:rPr lang="en-US" sz="2800" dirty="0">
                <a:solidFill>
                  <a:srgbClr val="000000"/>
                </a:solidFill>
                <a:latin typeface="Calibri"/>
              </a:rPr>
              <a:t> by a provision that any question arising between them shall be settled by a judge or an arbitration in that country.</a:t>
            </a:r>
            <a:endParaRPr sz="2800"/>
          </a:p>
          <a:p>
            <a:pPr>
              <a:buSzPct val="45000"/>
              <a:buFont typeface="Arial"/>
              <a:buChar char="•"/>
            </a:pPr>
            <a:r>
              <a:rPr lang="en-US" sz="2800" i="1" dirty="0">
                <a:solidFill>
                  <a:srgbClr val="000000"/>
                </a:solidFill>
                <a:latin typeface="Calibri"/>
              </a:rPr>
              <a:t>Principle: qui </a:t>
            </a:r>
            <a:r>
              <a:rPr lang="en-US" sz="2800" i="1" dirty="0" err="1">
                <a:solidFill>
                  <a:srgbClr val="000000"/>
                </a:solidFill>
                <a:latin typeface="Calibri"/>
              </a:rPr>
              <a:t>elegit</a:t>
            </a:r>
            <a:r>
              <a:rPr lang="en-US" sz="2800" i="1" dirty="0">
                <a:solidFill>
                  <a:srgbClr val="000000"/>
                </a:solidFill>
                <a:latin typeface="Calibri"/>
              </a:rPr>
              <a:t> </a:t>
            </a:r>
            <a:r>
              <a:rPr lang="en-US" sz="2800" i="1" dirty="0" err="1">
                <a:solidFill>
                  <a:srgbClr val="000000"/>
                </a:solidFill>
                <a:latin typeface="Calibri"/>
              </a:rPr>
              <a:t>judicem</a:t>
            </a:r>
            <a:r>
              <a:rPr lang="en-US" sz="2800" i="1" dirty="0">
                <a:solidFill>
                  <a:srgbClr val="000000"/>
                </a:solidFill>
                <a:latin typeface="Calibri"/>
              </a:rPr>
              <a:t> </a:t>
            </a:r>
            <a:r>
              <a:rPr lang="en-US" sz="2800" i="1" dirty="0" err="1">
                <a:solidFill>
                  <a:srgbClr val="000000"/>
                </a:solidFill>
                <a:latin typeface="Calibri"/>
              </a:rPr>
              <a:t>elegit</a:t>
            </a:r>
            <a:r>
              <a:rPr lang="en-US" sz="2800" i="1" dirty="0">
                <a:solidFill>
                  <a:srgbClr val="000000"/>
                </a:solidFill>
                <a:latin typeface="Calibri"/>
              </a:rPr>
              <a:t> jus, </a:t>
            </a:r>
            <a:r>
              <a:rPr lang="en-US" sz="2800" dirty="0">
                <a:solidFill>
                  <a:srgbClr val="000000"/>
                </a:solidFill>
                <a:latin typeface="Calibri"/>
              </a:rPr>
              <a:t>which means ‘an express choice of a tribunal is an implied choice of the proper law’.</a:t>
            </a:r>
            <a:endParaRPr sz="2800"/>
          </a:p>
        </p:txBody>
      </p:sp>
      <p:sp>
        <p:nvSpPr>
          <p:cNvPr id="59"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60"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61" name="TextShape 5"/>
          <p:cNvSpPr txBox="1"/>
          <p:nvPr/>
        </p:nvSpPr>
        <p:spPr>
          <a:xfrm>
            <a:off x="6553080" y="6356520"/>
            <a:ext cx="2133360" cy="364680"/>
          </a:xfrm>
          <a:prstGeom prst="rect">
            <a:avLst/>
          </a:prstGeom>
        </p:spPr>
        <p:txBody>
          <a:bodyPr lIns="90000" tIns="45000" rIns="90000" bIns="45000"/>
          <a:lstStyle/>
          <a:p>
            <a:fld id="{C131D131-9111-41E1-A181-414101514191}" type="slidenum">
              <a:rPr lang="en-US" sz="1200">
                <a:solidFill>
                  <a:srgbClr val="8B8B8B"/>
                </a:solidFill>
                <a:latin typeface="Calibri"/>
              </a:rPr>
              <a:pP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Shape 1"/>
          <p:cNvSpPr txBox="1"/>
          <p:nvPr/>
        </p:nvSpPr>
        <p:spPr>
          <a:xfrm>
            <a:off x="457200" y="274680"/>
            <a:ext cx="8229240" cy="1142640"/>
          </a:xfrm>
          <a:prstGeom prst="rect">
            <a:avLst/>
          </a:prstGeom>
        </p:spPr>
        <p:txBody>
          <a:bodyPr lIns="90000" tIns="45000" rIns="90000" bIns="45000"/>
          <a:lstStyle/>
          <a:p>
            <a:pPr algn="ctr"/>
            <a:endParaRPr/>
          </a:p>
        </p:txBody>
      </p:sp>
      <p:sp>
        <p:nvSpPr>
          <p:cNvPr id="63" name="TextShape 2"/>
          <p:cNvSpPr txBox="1"/>
          <p:nvPr/>
        </p:nvSpPr>
        <p:spPr>
          <a:xfrm>
            <a:off x="457200" y="609600"/>
            <a:ext cx="8229240" cy="502920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3600" dirty="0">
                <a:solidFill>
                  <a:srgbClr val="000000"/>
                </a:solidFill>
                <a:latin typeface="Calibri"/>
              </a:rPr>
              <a:t>May they choose any law in the world however alien it may be to the factual character of the contract? </a:t>
            </a:r>
            <a:endParaRPr sz="3600"/>
          </a:p>
          <a:p>
            <a:pPr>
              <a:buSzPct val="45000"/>
              <a:buFont typeface="Arial"/>
              <a:buChar char="•"/>
            </a:pPr>
            <a:r>
              <a:rPr lang="en-US" sz="3600" dirty="0">
                <a:solidFill>
                  <a:srgbClr val="000000"/>
                </a:solidFill>
                <a:latin typeface="Calibri"/>
              </a:rPr>
              <a:t>No. Unless, of course, it is also the proper law according to the </a:t>
            </a:r>
            <a:r>
              <a:rPr lang="en-US" sz="3600" b="1" dirty="0">
                <a:solidFill>
                  <a:srgbClr val="000000"/>
                </a:solidFill>
                <a:latin typeface="Calibri"/>
              </a:rPr>
              <a:t>objective standard</a:t>
            </a:r>
            <a:r>
              <a:rPr lang="en-US" sz="3600" dirty="0">
                <a:solidFill>
                  <a:srgbClr val="000000"/>
                </a:solidFill>
                <a:latin typeface="Calibri"/>
              </a:rPr>
              <a:t>.</a:t>
            </a:r>
            <a:endParaRPr sz="3600"/>
          </a:p>
          <a:p>
            <a:endParaRPr sz="3600"/>
          </a:p>
        </p:txBody>
      </p:sp>
      <p:sp>
        <p:nvSpPr>
          <p:cNvPr id="64"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65"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66" name="TextShape 5"/>
          <p:cNvSpPr txBox="1"/>
          <p:nvPr/>
        </p:nvSpPr>
        <p:spPr>
          <a:xfrm>
            <a:off x="6553080" y="6356520"/>
            <a:ext cx="2133360" cy="364680"/>
          </a:xfrm>
          <a:prstGeom prst="rect">
            <a:avLst/>
          </a:prstGeom>
        </p:spPr>
        <p:txBody>
          <a:bodyPr lIns="90000" tIns="45000" rIns="90000" bIns="45000"/>
          <a:lstStyle/>
          <a:p>
            <a:fld id="{F101E1F1-3181-4151-81D1-21A1C1D17101}" type="slidenum">
              <a:rPr lang="en-US" sz="1200">
                <a:solidFill>
                  <a:srgbClr val="8B8B8B"/>
                </a:solidFill>
                <a:latin typeface="Calibri"/>
              </a:rPr>
              <a:p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extShape 1"/>
          <p:cNvSpPr txBox="1"/>
          <p:nvPr/>
        </p:nvSpPr>
        <p:spPr>
          <a:xfrm>
            <a:off x="457200" y="274680"/>
            <a:ext cx="8229240" cy="1142640"/>
          </a:xfrm>
          <a:prstGeom prst="rect">
            <a:avLst/>
          </a:prstGeom>
        </p:spPr>
        <p:txBody>
          <a:bodyPr lIns="90000" tIns="45000" rIns="90000" bIns="45000"/>
          <a:lstStyle/>
          <a:p>
            <a:pPr algn="ctr"/>
            <a:endParaRPr/>
          </a:p>
        </p:txBody>
      </p:sp>
      <p:sp>
        <p:nvSpPr>
          <p:cNvPr id="68" name="TextShape 2"/>
          <p:cNvSpPr txBox="1"/>
          <p:nvPr/>
        </p:nvSpPr>
        <p:spPr>
          <a:xfrm>
            <a:off x="457200" y="381000"/>
            <a:ext cx="8229240" cy="574476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2800" b="1" dirty="0">
                <a:solidFill>
                  <a:srgbClr val="000000"/>
                </a:solidFill>
                <a:latin typeface="Calibri"/>
              </a:rPr>
              <a:t>Where There is no Express Choice of the Proper Law</a:t>
            </a:r>
            <a:endParaRPr sz="2800"/>
          </a:p>
          <a:p>
            <a:pPr>
              <a:buSzPct val="45000"/>
              <a:buFont typeface="Arial"/>
              <a:buChar char="•"/>
            </a:pPr>
            <a:r>
              <a:rPr lang="en-US" sz="2800" dirty="0">
                <a:solidFill>
                  <a:srgbClr val="000000"/>
                </a:solidFill>
                <a:latin typeface="Calibri"/>
              </a:rPr>
              <a:t>We infer from the terms and circumstances of the contract what their common intention </a:t>
            </a:r>
            <a:r>
              <a:rPr lang="en-US" sz="2800" i="1" dirty="0">
                <a:solidFill>
                  <a:srgbClr val="000000"/>
                </a:solidFill>
                <a:latin typeface="Calibri"/>
              </a:rPr>
              <a:t>would have been</a:t>
            </a:r>
            <a:r>
              <a:rPr lang="en-US" sz="2800" dirty="0">
                <a:solidFill>
                  <a:srgbClr val="000000"/>
                </a:solidFill>
                <a:latin typeface="Calibri"/>
              </a:rPr>
              <a:t> had they considered the matter at the time when the contract was made.</a:t>
            </a:r>
            <a:endParaRPr sz="2800"/>
          </a:p>
          <a:p>
            <a:pPr>
              <a:buSzPct val="45000"/>
              <a:buFont typeface="Arial"/>
              <a:buChar char="•"/>
            </a:pPr>
            <a:r>
              <a:rPr lang="en-US" sz="2800" dirty="0">
                <a:solidFill>
                  <a:srgbClr val="000000"/>
                </a:solidFill>
                <a:latin typeface="Calibri"/>
              </a:rPr>
              <a:t>Here the court imputes to the parties an intention to stand by the legal system which, having regard to the incidence of the connecting factors and of the circumstances generally, the contract appears most properly belong.</a:t>
            </a:r>
            <a:endParaRPr sz="2800"/>
          </a:p>
          <a:p>
            <a:pPr>
              <a:buSzPct val="45000"/>
              <a:buFont typeface="Arial"/>
              <a:buChar char="•"/>
            </a:pPr>
            <a:r>
              <a:rPr lang="en-US" sz="2800" dirty="0">
                <a:solidFill>
                  <a:srgbClr val="000000"/>
                </a:solidFill>
                <a:latin typeface="Calibri"/>
              </a:rPr>
              <a:t> In short the proper law is the legal system with which the contract has the </a:t>
            </a:r>
            <a:r>
              <a:rPr lang="en-US" sz="2800" b="1" dirty="0">
                <a:solidFill>
                  <a:srgbClr val="000000"/>
                </a:solidFill>
                <a:latin typeface="Calibri"/>
              </a:rPr>
              <a:t>most substantial connection</a:t>
            </a:r>
            <a:r>
              <a:rPr lang="en-US" sz="2800" dirty="0">
                <a:solidFill>
                  <a:srgbClr val="000000"/>
                </a:solidFill>
                <a:latin typeface="Calibri"/>
              </a:rPr>
              <a:t>. </a:t>
            </a:r>
            <a:endParaRPr sz="2800"/>
          </a:p>
        </p:txBody>
      </p:sp>
      <p:sp>
        <p:nvSpPr>
          <p:cNvPr id="69"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70"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71" name="TextShape 5"/>
          <p:cNvSpPr txBox="1"/>
          <p:nvPr/>
        </p:nvSpPr>
        <p:spPr>
          <a:xfrm>
            <a:off x="6553080" y="6356520"/>
            <a:ext cx="2133360" cy="364680"/>
          </a:xfrm>
          <a:prstGeom prst="rect">
            <a:avLst/>
          </a:prstGeom>
        </p:spPr>
        <p:txBody>
          <a:bodyPr lIns="90000" tIns="45000" rIns="90000" bIns="45000"/>
          <a:lstStyle/>
          <a:p>
            <a:fld id="{2171E161-A151-4121-A1D1-E1F1E1419141}" type="slidenum">
              <a:rPr lang="en-US" sz="1200">
                <a:solidFill>
                  <a:srgbClr val="8B8B8B"/>
                </a:solidFill>
                <a:latin typeface="Calibri"/>
              </a:rPr>
              <a:pPr/>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extShape 1"/>
          <p:cNvSpPr txBox="1"/>
          <p:nvPr/>
        </p:nvSpPr>
        <p:spPr>
          <a:xfrm>
            <a:off x="457200" y="274680"/>
            <a:ext cx="8229240" cy="1142640"/>
          </a:xfrm>
          <a:prstGeom prst="rect">
            <a:avLst/>
          </a:prstGeom>
        </p:spPr>
        <p:txBody>
          <a:bodyPr lIns="90000" tIns="45000" rIns="90000" bIns="45000"/>
          <a:lstStyle/>
          <a:p>
            <a:pPr algn="ctr"/>
            <a:endParaRPr/>
          </a:p>
        </p:txBody>
      </p:sp>
      <p:sp>
        <p:nvSpPr>
          <p:cNvPr id="73" name="TextShape 2"/>
          <p:cNvSpPr txBox="1"/>
          <p:nvPr/>
        </p:nvSpPr>
        <p:spPr>
          <a:xfrm>
            <a:off x="457200" y="304800"/>
            <a:ext cx="8229240" cy="624840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2800" dirty="0">
                <a:solidFill>
                  <a:srgbClr val="000000"/>
                </a:solidFill>
                <a:latin typeface="Calibri"/>
              </a:rPr>
              <a:t>To determine the </a:t>
            </a:r>
            <a:r>
              <a:rPr lang="en-US" sz="2800" b="1" dirty="0">
                <a:solidFill>
                  <a:srgbClr val="000000"/>
                </a:solidFill>
                <a:latin typeface="Calibri"/>
              </a:rPr>
              <a:t>existence of substantial connection </a:t>
            </a:r>
            <a:r>
              <a:rPr lang="en-US" sz="2800" dirty="0">
                <a:solidFill>
                  <a:srgbClr val="000000"/>
                </a:solidFill>
                <a:latin typeface="Calibri"/>
              </a:rPr>
              <a:t>between a certain law and the contract, the following objective factors are relevant: </a:t>
            </a:r>
            <a:endParaRPr sz="2800"/>
          </a:p>
          <a:p>
            <a:pPr lvl="1">
              <a:buSzPct val="45000"/>
              <a:buFont typeface="Arial"/>
              <a:buChar char="–"/>
            </a:pPr>
            <a:r>
              <a:rPr lang="en-US" sz="2800" dirty="0">
                <a:solidFill>
                  <a:srgbClr val="000000"/>
                </a:solidFill>
                <a:latin typeface="Calibri"/>
              </a:rPr>
              <a:t>the domicile and even the residence of the parties;</a:t>
            </a:r>
            <a:endParaRPr sz="2800"/>
          </a:p>
          <a:p>
            <a:pPr lvl="1">
              <a:buSzPct val="45000"/>
              <a:buFont typeface="Arial"/>
              <a:buChar char="–"/>
            </a:pPr>
            <a:r>
              <a:rPr lang="en-US" sz="2800" dirty="0">
                <a:solidFill>
                  <a:srgbClr val="000000"/>
                </a:solidFill>
                <a:latin typeface="Calibri"/>
              </a:rPr>
              <a:t>the national character of the corporation and the place where its principal place of business is situated; </a:t>
            </a:r>
            <a:endParaRPr sz="2800"/>
          </a:p>
          <a:p>
            <a:pPr lvl="1">
              <a:buSzPct val="45000"/>
              <a:buFont typeface="Arial"/>
              <a:buChar char="–"/>
            </a:pPr>
            <a:r>
              <a:rPr lang="en-US" sz="2800" dirty="0">
                <a:solidFill>
                  <a:srgbClr val="000000"/>
                </a:solidFill>
                <a:latin typeface="Calibri"/>
              </a:rPr>
              <a:t>the place where the contract is made and the place where it is to be performed; </a:t>
            </a:r>
            <a:endParaRPr sz="2800"/>
          </a:p>
          <a:p>
            <a:pPr lvl="1">
              <a:buSzPct val="45000"/>
              <a:buFont typeface="Arial"/>
              <a:buChar char="–"/>
            </a:pPr>
            <a:r>
              <a:rPr lang="en-US" sz="2800" dirty="0">
                <a:solidFill>
                  <a:srgbClr val="000000"/>
                </a:solidFill>
                <a:latin typeface="Calibri"/>
              </a:rPr>
              <a:t>the style in which the contract is drafted, as for instance ,whether, the language is appropriate to one system of law ,but inappropriate to another; </a:t>
            </a:r>
            <a:endParaRPr sz="2800"/>
          </a:p>
          <a:p>
            <a:pPr lvl="1">
              <a:buSzPct val="45000"/>
              <a:buFont typeface="Arial"/>
              <a:buChar char="–"/>
            </a:pPr>
            <a:r>
              <a:rPr lang="en-US" sz="2800" dirty="0">
                <a:solidFill>
                  <a:srgbClr val="000000"/>
                </a:solidFill>
                <a:latin typeface="Calibri"/>
              </a:rPr>
              <a:t>the fact that a certain stipulation is valid under one law but void under another; etc…</a:t>
            </a:r>
            <a:endParaRPr sz="2800"/>
          </a:p>
        </p:txBody>
      </p:sp>
      <p:sp>
        <p:nvSpPr>
          <p:cNvPr id="74"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75"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76" name="TextShape 5"/>
          <p:cNvSpPr txBox="1"/>
          <p:nvPr/>
        </p:nvSpPr>
        <p:spPr>
          <a:xfrm>
            <a:off x="6553080" y="6356520"/>
            <a:ext cx="2133360" cy="364680"/>
          </a:xfrm>
          <a:prstGeom prst="rect">
            <a:avLst/>
          </a:prstGeom>
        </p:spPr>
        <p:txBody>
          <a:bodyPr lIns="90000" tIns="45000" rIns="90000" bIns="45000"/>
          <a:lstStyle/>
          <a:p>
            <a:fld id="{F1811191-2181-4161-A1A1-B17161E131F1}" type="slidenum">
              <a:rPr lang="en-US" sz="1200">
                <a:solidFill>
                  <a:srgbClr val="8B8B8B"/>
                </a:solidFill>
                <a:latin typeface="Calibri"/>
              </a:rPr>
              <a:p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Shape 1"/>
          <p:cNvSpPr txBox="1"/>
          <p:nvPr/>
        </p:nvSpPr>
        <p:spPr>
          <a:xfrm>
            <a:off x="457200" y="218253"/>
            <a:ext cx="8229240" cy="1199067"/>
          </a:xfrm>
          <a:prstGeom prst="rect">
            <a:avLst/>
          </a:prstGeom>
        </p:spPr>
        <p:txBody>
          <a:bodyPr lIns="90000" tIns="45000" rIns="90000" bIns="45000"/>
          <a:lstStyle/>
          <a:p>
            <a:pPr algn="ctr"/>
            <a:r>
              <a:rPr lang="en-US" sz="2800" b="1" dirty="0" smtClean="0">
                <a:solidFill>
                  <a:srgbClr val="000000"/>
                </a:solidFill>
                <a:latin typeface="Calibri"/>
              </a:rPr>
              <a:t>\</a:t>
            </a:r>
            <a:endParaRPr sz="2800"/>
          </a:p>
        </p:txBody>
      </p:sp>
      <p:sp>
        <p:nvSpPr>
          <p:cNvPr id="78" name="TextShape 2"/>
          <p:cNvSpPr txBox="1"/>
          <p:nvPr/>
        </p:nvSpPr>
        <p:spPr>
          <a:xfrm>
            <a:off x="457200" y="0"/>
            <a:ext cx="8229240" cy="6477000"/>
          </a:xfrm>
          <a:prstGeom prst="rect">
            <a:avLst/>
          </a:prstGeom>
          <a:solidFill>
            <a:srgbClr val="00B050"/>
          </a:solidFill>
          <a:ln>
            <a:solidFill>
              <a:srgbClr val="FF0000"/>
            </a:solidFill>
          </a:ln>
        </p:spPr>
        <p:txBody>
          <a:bodyPr lIns="90000" tIns="45000" rIns="90000" bIns="45000"/>
          <a:lstStyle/>
          <a:p>
            <a:r>
              <a:rPr lang="en-US" sz="2800" b="1" dirty="0">
                <a:solidFill>
                  <a:srgbClr val="000000"/>
                </a:solidFill>
                <a:latin typeface="Calibri"/>
              </a:rPr>
              <a:t>3. </a:t>
            </a:r>
            <a:r>
              <a:rPr lang="en-US" sz="2800" b="1" dirty="0">
                <a:solidFill>
                  <a:srgbClr val="FF0000"/>
                </a:solidFill>
                <a:latin typeface="Calibri"/>
              </a:rPr>
              <a:t>The Approach in The Rome Convention 1980</a:t>
            </a:r>
            <a:endParaRPr sz="2800">
              <a:solidFill>
                <a:srgbClr val="FF0000"/>
              </a:solidFill>
            </a:endParaRPr>
          </a:p>
          <a:p>
            <a:pPr>
              <a:buSzPct val="45000"/>
              <a:buFont typeface="Arial"/>
              <a:buChar char="•"/>
            </a:pPr>
            <a:r>
              <a:rPr lang="en-US" sz="2800" dirty="0">
                <a:solidFill>
                  <a:srgbClr val="000000"/>
                </a:solidFill>
                <a:latin typeface="Calibri"/>
              </a:rPr>
              <a:t>The proper law is determined in accordance with the rules laid down by Articles 3 and 4.  These refer, </a:t>
            </a:r>
            <a:endParaRPr sz="2800"/>
          </a:p>
          <a:p>
            <a:pPr>
              <a:buSzPct val="45000"/>
              <a:buFont typeface="Arial"/>
              <a:buChar char="•"/>
            </a:pPr>
            <a:r>
              <a:rPr lang="en-US" sz="2800" dirty="0">
                <a:solidFill>
                  <a:srgbClr val="000000"/>
                </a:solidFill>
                <a:latin typeface="Calibri"/>
              </a:rPr>
              <a:t>Primarily, to a choice of law </a:t>
            </a:r>
            <a:r>
              <a:rPr lang="en-US" sz="2800" b="1" dirty="0">
                <a:solidFill>
                  <a:srgbClr val="000000"/>
                </a:solidFill>
                <a:latin typeface="Calibri"/>
              </a:rPr>
              <a:t>expressly agreed </a:t>
            </a:r>
            <a:r>
              <a:rPr lang="en-US" sz="2800" dirty="0">
                <a:solidFill>
                  <a:srgbClr val="000000"/>
                </a:solidFill>
                <a:latin typeface="Calibri"/>
              </a:rPr>
              <a:t>on by the parties to the contract; </a:t>
            </a:r>
            <a:endParaRPr sz="2800"/>
          </a:p>
          <a:p>
            <a:pPr>
              <a:buSzPct val="45000"/>
              <a:buFont typeface="Arial"/>
              <a:buChar char="•"/>
            </a:pPr>
            <a:r>
              <a:rPr lang="en-US" sz="2800" dirty="0">
                <a:solidFill>
                  <a:srgbClr val="000000"/>
                </a:solidFill>
                <a:latin typeface="Calibri"/>
              </a:rPr>
              <a:t>secondarily, to a choice of law </a:t>
            </a:r>
            <a:r>
              <a:rPr lang="en-US" sz="2800" b="1" dirty="0">
                <a:solidFill>
                  <a:srgbClr val="000000"/>
                </a:solidFill>
                <a:latin typeface="Calibri"/>
              </a:rPr>
              <a:t>impliedly, but clearly, agreed</a:t>
            </a:r>
            <a:r>
              <a:rPr lang="en-US" sz="2800" dirty="0">
                <a:solidFill>
                  <a:srgbClr val="000000"/>
                </a:solidFill>
                <a:latin typeface="Calibri"/>
              </a:rPr>
              <a:t> on by the parties; and</a:t>
            </a:r>
            <a:endParaRPr sz="2800"/>
          </a:p>
          <a:p>
            <a:pPr>
              <a:buSzPct val="45000"/>
              <a:buFont typeface="Arial"/>
              <a:buChar char="•"/>
            </a:pPr>
            <a:r>
              <a:rPr lang="en-US" sz="2800" dirty="0">
                <a:solidFill>
                  <a:srgbClr val="000000"/>
                </a:solidFill>
                <a:latin typeface="Calibri"/>
              </a:rPr>
              <a:t> Finally, in default of any such choice, to the law of the country which is </a:t>
            </a:r>
            <a:r>
              <a:rPr lang="en-US" sz="2800" b="1" dirty="0">
                <a:solidFill>
                  <a:srgbClr val="000000"/>
                </a:solidFill>
                <a:latin typeface="Calibri"/>
              </a:rPr>
              <a:t>most closely connected </a:t>
            </a:r>
            <a:r>
              <a:rPr lang="en-US" sz="2800" dirty="0">
                <a:solidFill>
                  <a:srgbClr val="000000"/>
                </a:solidFill>
                <a:latin typeface="Calibri"/>
              </a:rPr>
              <a:t>with the contract, (Art.5)</a:t>
            </a:r>
            <a:endParaRPr sz="2800"/>
          </a:p>
          <a:p>
            <a:pPr>
              <a:buSzPct val="45000"/>
              <a:buFont typeface="Arial"/>
              <a:buChar char="•"/>
            </a:pPr>
            <a:r>
              <a:rPr lang="en-US" sz="2800" dirty="0">
                <a:solidFill>
                  <a:srgbClr val="000000"/>
                </a:solidFill>
                <a:latin typeface="Calibri"/>
              </a:rPr>
              <a:t> i.e. the law of the  country where the party who is to effect the performance which is characteristic of the contract has his habitual residence.</a:t>
            </a:r>
            <a:endParaRPr sz="2800"/>
          </a:p>
          <a:p>
            <a:pPr>
              <a:buSzPct val="45000"/>
              <a:buFont typeface="Arial"/>
              <a:buChar char="•"/>
            </a:pPr>
            <a:r>
              <a:rPr lang="en-US" sz="2800" dirty="0">
                <a:solidFill>
                  <a:srgbClr val="000000"/>
                </a:solidFill>
                <a:latin typeface="Calibri"/>
              </a:rPr>
              <a:t>Incase of immovable property, the law of the </a:t>
            </a:r>
            <a:r>
              <a:rPr lang="en-US" sz="2800" dirty="0" err="1">
                <a:solidFill>
                  <a:srgbClr val="000000"/>
                </a:solidFill>
                <a:latin typeface="Calibri"/>
              </a:rPr>
              <a:t>situs</a:t>
            </a:r>
            <a:r>
              <a:rPr lang="en-US" sz="2800" dirty="0">
                <a:solidFill>
                  <a:srgbClr val="000000"/>
                </a:solidFill>
                <a:latin typeface="Calibri"/>
              </a:rPr>
              <a:t> of the property. </a:t>
            </a:r>
            <a:endParaRPr sz="2800"/>
          </a:p>
          <a:p>
            <a:endParaRPr sz="2800"/>
          </a:p>
        </p:txBody>
      </p:sp>
      <p:sp>
        <p:nvSpPr>
          <p:cNvPr id="79" name="TextShape 3"/>
          <p:cNvSpPr txBox="1"/>
          <p:nvPr/>
        </p:nvSpPr>
        <p:spPr>
          <a:xfrm>
            <a:off x="457200" y="6338511"/>
            <a:ext cx="2133360" cy="382689"/>
          </a:xfrm>
          <a:prstGeom prst="rect">
            <a:avLst/>
          </a:prstGeom>
        </p:spPr>
        <p:txBody>
          <a:bodyPr lIns="90000" tIns="45000" rIns="90000" bIns="45000"/>
          <a:lstStyle/>
          <a:p>
            <a:r>
              <a:rPr lang="en-US" sz="2800">
                <a:solidFill>
                  <a:srgbClr val="8B8B8B"/>
                </a:solidFill>
                <a:latin typeface="Calibri"/>
              </a:rPr>
              <a:t>5/13/12</a:t>
            </a:r>
            <a:endParaRPr sz="2800"/>
          </a:p>
        </p:txBody>
      </p:sp>
      <p:sp>
        <p:nvSpPr>
          <p:cNvPr id="80" name="TextShape 4"/>
          <p:cNvSpPr txBox="1"/>
          <p:nvPr/>
        </p:nvSpPr>
        <p:spPr>
          <a:xfrm>
            <a:off x="3124080" y="6338511"/>
            <a:ext cx="2895120" cy="382689"/>
          </a:xfrm>
          <a:prstGeom prst="rect">
            <a:avLst/>
          </a:prstGeom>
        </p:spPr>
        <p:txBody>
          <a:bodyPr lIns="90000" tIns="45000" rIns="90000" bIns="45000"/>
          <a:lstStyle/>
          <a:p>
            <a:r>
              <a:rPr lang="en-US" sz="2800">
                <a:solidFill>
                  <a:srgbClr val="8B8B8B"/>
                </a:solidFill>
                <a:latin typeface="Calibri"/>
              </a:rPr>
              <a:t>Conflict PPT Part II , Sultan Kassim,  HU COL</a:t>
            </a:r>
            <a:endParaRPr sz="2800"/>
          </a:p>
        </p:txBody>
      </p:sp>
      <p:sp>
        <p:nvSpPr>
          <p:cNvPr id="81" name="TextShape 5"/>
          <p:cNvSpPr txBox="1"/>
          <p:nvPr/>
        </p:nvSpPr>
        <p:spPr>
          <a:xfrm>
            <a:off x="6553080" y="6338511"/>
            <a:ext cx="2133360" cy="382689"/>
          </a:xfrm>
          <a:prstGeom prst="rect">
            <a:avLst/>
          </a:prstGeom>
        </p:spPr>
        <p:txBody>
          <a:bodyPr lIns="90000" tIns="45000" rIns="90000" bIns="45000"/>
          <a:lstStyle/>
          <a:p>
            <a:fld id="{A1D141C1-E161-4191-A121-71E1A1617111}" type="slidenum">
              <a:rPr lang="en-US" sz="2800">
                <a:solidFill>
                  <a:srgbClr val="8B8B8B"/>
                </a:solidFill>
                <a:latin typeface="Calibri"/>
              </a:rPr>
              <a:pPr/>
              <a:t>15</a:t>
            </a:fld>
            <a:endParaRPr sz="2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Shape 1"/>
          <p:cNvSpPr txBox="1"/>
          <p:nvPr/>
        </p:nvSpPr>
        <p:spPr>
          <a:xfrm>
            <a:off x="457200" y="274680"/>
            <a:ext cx="8229240" cy="1142640"/>
          </a:xfrm>
          <a:prstGeom prst="rect">
            <a:avLst/>
          </a:prstGeom>
        </p:spPr>
        <p:txBody>
          <a:bodyPr lIns="90000" tIns="45000" rIns="90000" bIns="45000"/>
          <a:lstStyle/>
          <a:p>
            <a:pPr algn="ctr"/>
            <a:r>
              <a:rPr lang="en-US" sz="3200" b="1" dirty="0">
                <a:solidFill>
                  <a:srgbClr val="FF0000"/>
                </a:solidFill>
                <a:latin typeface="Calibri"/>
              </a:rPr>
              <a:t>5.2.2 The Proper Law of the Contract in the Ethiopian Conflict of Law</a:t>
            </a:r>
            <a:endParaRPr>
              <a:solidFill>
                <a:srgbClr val="FF0000"/>
              </a:solidFill>
            </a:endParaRPr>
          </a:p>
        </p:txBody>
      </p:sp>
      <p:sp>
        <p:nvSpPr>
          <p:cNvPr id="83" name="TextShape 2"/>
          <p:cNvSpPr txBox="1"/>
          <p:nvPr/>
        </p:nvSpPr>
        <p:spPr>
          <a:xfrm>
            <a:off x="457200" y="1600200"/>
            <a:ext cx="8229240" cy="452556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3200" dirty="0">
                <a:solidFill>
                  <a:srgbClr val="000000"/>
                </a:solidFill>
                <a:latin typeface="Calibri"/>
              </a:rPr>
              <a:t>The general rules governing choice of laws in contract cases in the Federal Draft conflict of laws Proclamation are stated in Art.73-75.</a:t>
            </a:r>
            <a:endParaRPr/>
          </a:p>
          <a:p>
            <a:pPr>
              <a:buSzPct val="45000"/>
              <a:buFont typeface="Arial"/>
              <a:buChar char="•"/>
            </a:pPr>
            <a:r>
              <a:rPr lang="en-US" sz="3200" dirty="0">
                <a:solidFill>
                  <a:srgbClr val="000000"/>
                </a:solidFill>
                <a:latin typeface="Calibri"/>
              </a:rPr>
              <a:t>Under Art.73 (1) where the contract involves a foreign element, the parties are given the </a:t>
            </a:r>
            <a:r>
              <a:rPr lang="en-US" sz="3200" b="1" dirty="0">
                <a:solidFill>
                  <a:srgbClr val="000000"/>
                </a:solidFill>
                <a:latin typeface="Calibri"/>
              </a:rPr>
              <a:t>right to choose the law applicable </a:t>
            </a:r>
            <a:r>
              <a:rPr lang="en-US" sz="3200" dirty="0">
                <a:solidFill>
                  <a:srgbClr val="000000"/>
                </a:solidFill>
                <a:latin typeface="Calibri"/>
              </a:rPr>
              <a:t>to their contract.</a:t>
            </a:r>
            <a:endParaRPr/>
          </a:p>
          <a:p>
            <a:pPr>
              <a:buSzPct val="45000"/>
              <a:buFont typeface="Arial"/>
              <a:buChar char="•"/>
            </a:pPr>
            <a:r>
              <a:rPr lang="en-US" sz="3200" dirty="0">
                <a:solidFill>
                  <a:srgbClr val="000000"/>
                </a:solidFill>
                <a:latin typeface="Calibri"/>
              </a:rPr>
              <a:t>Rationale is to respect legitimate expectation of the contracting parties. </a:t>
            </a:r>
            <a:endParaRPr/>
          </a:p>
        </p:txBody>
      </p:sp>
      <p:sp>
        <p:nvSpPr>
          <p:cNvPr id="84"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85"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86" name="TextShape 5"/>
          <p:cNvSpPr txBox="1"/>
          <p:nvPr/>
        </p:nvSpPr>
        <p:spPr>
          <a:xfrm>
            <a:off x="6553080" y="6356520"/>
            <a:ext cx="2133360" cy="364680"/>
          </a:xfrm>
          <a:prstGeom prst="rect">
            <a:avLst/>
          </a:prstGeom>
        </p:spPr>
        <p:txBody>
          <a:bodyPr lIns="90000" tIns="45000" rIns="90000" bIns="45000"/>
          <a:lstStyle/>
          <a:p>
            <a:fld id="{51E1F171-81A1-4101-B191-A14141414141}" type="slidenum">
              <a:rPr lang="en-US" sz="1200">
                <a:solidFill>
                  <a:srgbClr val="8B8B8B"/>
                </a:solidFill>
                <a:latin typeface="Calibri"/>
              </a:rPr>
              <a:pPr/>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Shape 1"/>
          <p:cNvSpPr txBox="1"/>
          <p:nvPr/>
        </p:nvSpPr>
        <p:spPr>
          <a:xfrm>
            <a:off x="457200" y="274680"/>
            <a:ext cx="8229240" cy="1142640"/>
          </a:xfrm>
          <a:prstGeom prst="rect">
            <a:avLst/>
          </a:prstGeom>
        </p:spPr>
        <p:txBody>
          <a:bodyPr lIns="90000" tIns="45000" rIns="90000" bIns="45000"/>
          <a:lstStyle/>
          <a:p>
            <a:pPr algn="ctr"/>
            <a:endParaRPr sz="3200"/>
          </a:p>
        </p:txBody>
      </p:sp>
      <p:sp>
        <p:nvSpPr>
          <p:cNvPr id="88" name="TextShape 2"/>
          <p:cNvSpPr txBox="1"/>
          <p:nvPr/>
        </p:nvSpPr>
        <p:spPr>
          <a:xfrm>
            <a:off x="381000" y="381000"/>
            <a:ext cx="8229240" cy="525780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3200" dirty="0">
                <a:solidFill>
                  <a:srgbClr val="000000"/>
                </a:solidFill>
                <a:latin typeface="Calibri"/>
              </a:rPr>
              <a:t>The parties  however, are </a:t>
            </a:r>
            <a:r>
              <a:rPr lang="en-US" sz="3200" b="1" dirty="0">
                <a:solidFill>
                  <a:srgbClr val="000000"/>
                </a:solidFill>
                <a:latin typeface="Calibri"/>
              </a:rPr>
              <a:t>not free to choose arbitrarily </a:t>
            </a:r>
            <a:r>
              <a:rPr lang="en-US" sz="3200" dirty="0">
                <a:solidFill>
                  <a:srgbClr val="000000"/>
                </a:solidFill>
                <a:latin typeface="Calibri"/>
              </a:rPr>
              <a:t>any law of their liking.</a:t>
            </a:r>
            <a:endParaRPr sz="3200"/>
          </a:p>
          <a:p>
            <a:pPr>
              <a:buSzPct val="45000"/>
              <a:buFont typeface="Arial"/>
              <a:buChar char="•"/>
            </a:pPr>
            <a:r>
              <a:rPr lang="en-US" sz="3200" dirty="0">
                <a:solidFill>
                  <a:srgbClr val="000000"/>
                </a:solidFill>
                <a:latin typeface="Calibri"/>
              </a:rPr>
              <a:t> The law chosen by the parties must be :(Art.73)</a:t>
            </a:r>
            <a:endParaRPr sz="3200"/>
          </a:p>
          <a:p>
            <a:pPr lvl="1">
              <a:buSzPct val="45000"/>
              <a:buFont typeface="Arial"/>
              <a:buChar char="–"/>
            </a:pPr>
            <a:r>
              <a:rPr lang="en-US" sz="3200" dirty="0">
                <a:solidFill>
                  <a:srgbClr val="000000"/>
                </a:solidFill>
                <a:latin typeface="Calibri"/>
              </a:rPr>
              <a:t>The law of nationality or domicile of one or all of the parties.</a:t>
            </a:r>
            <a:endParaRPr sz="3200"/>
          </a:p>
          <a:p>
            <a:pPr lvl="1">
              <a:buSzPct val="45000"/>
              <a:buFont typeface="Arial"/>
              <a:buChar char="–"/>
            </a:pPr>
            <a:r>
              <a:rPr lang="en-US" sz="3200" dirty="0">
                <a:solidFill>
                  <a:srgbClr val="000000"/>
                </a:solidFill>
                <a:latin typeface="Calibri"/>
              </a:rPr>
              <a:t>The law of the place where the transaction is made</a:t>
            </a:r>
            <a:endParaRPr sz="3200"/>
          </a:p>
          <a:p>
            <a:pPr lvl="1">
              <a:buSzPct val="45000"/>
              <a:buFont typeface="Arial"/>
              <a:buChar char="–"/>
            </a:pPr>
            <a:r>
              <a:rPr lang="en-US" sz="3200" dirty="0">
                <a:solidFill>
                  <a:srgbClr val="000000"/>
                </a:solidFill>
                <a:latin typeface="Calibri"/>
              </a:rPr>
              <a:t>the law of the palace where the performance is intended.</a:t>
            </a:r>
            <a:endParaRPr sz="3200"/>
          </a:p>
          <a:p>
            <a:endParaRPr sz="3200"/>
          </a:p>
          <a:p>
            <a:endParaRPr sz="3200"/>
          </a:p>
        </p:txBody>
      </p:sp>
      <p:sp>
        <p:nvSpPr>
          <p:cNvPr id="89" name="TextShape 3"/>
          <p:cNvSpPr txBox="1"/>
          <p:nvPr/>
        </p:nvSpPr>
        <p:spPr>
          <a:xfrm>
            <a:off x="457200" y="6356520"/>
            <a:ext cx="2133360" cy="364680"/>
          </a:xfrm>
          <a:prstGeom prst="rect">
            <a:avLst/>
          </a:prstGeom>
        </p:spPr>
        <p:txBody>
          <a:bodyPr lIns="90000" tIns="45000" rIns="90000" bIns="45000"/>
          <a:lstStyle/>
          <a:p>
            <a:r>
              <a:rPr lang="en-US" sz="3200">
                <a:solidFill>
                  <a:srgbClr val="8B8B8B"/>
                </a:solidFill>
                <a:latin typeface="Calibri"/>
              </a:rPr>
              <a:t>5/13/12</a:t>
            </a:r>
            <a:endParaRPr sz="3200"/>
          </a:p>
        </p:txBody>
      </p:sp>
      <p:sp>
        <p:nvSpPr>
          <p:cNvPr id="90" name="TextShape 4"/>
          <p:cNvSpPr txBox="1"/>
          <p:nvPr/>
        </p:nvSpPr>
        <p:spPr>
          <a:xfrm>
            <a:off x="3124080" y="6356520"/>
            <a:ext cx="2895120" cy="364680"/>
          </a:xfrm>
          <a:prstGeom prst="rect">
            <a:avLst/>
          </a:prstGeom>
        </p:spPr>
        <p:txBody>
          <a:bodyPr lIns="90000" tIns="45000" rIns="90000" bIns="45000"/>
          <a:lstStyle/>
          <a:p>
            <a:r>
              <a:rPr lang="en-US" sz="3200">
                <a:solidFill>
                  <a:srgbClr val="8B8B8B"/>
                </a:solidFill>
                <a:latin typeface="Calibri"/>
              </a:rPr>
              <a:t>Conflict PPT Part II , Sultan Kassim,  HU COL</a:t>
            </a:r>
            <a:endParaRPr sz="3200"/>
          </a:p>
        </p:txBody>
      </p:sp>
      <p:sp>
        <p:nvSpPr>
          <p:cNvPr id="91" name="TextShape 5"/>
          <p:cNvSpPr txBox="1"/>
          <p:nvPr/>
        </p:nvSpPr>
        <p:spPr>
          <a:xfrm>
            <a:off x="6553080" y="6356520"/>
            <a:ext cx="2133360" cy="364680"/>
          </a:xfrm>
          <a:prstGeom prst="rect">
            <a:avLst/>
          </a:prstGeom>
        </p:spPr>
        <p:txBody>
          <a:bodyPr lIns="90000" tIns="45000" rIns="90000" bIns="45000"/>
          <a:lstStyle/>
          <a:p>
            <a:fld id="{81E14181-B1B1-41E1-81E1-3171D1C1B1C1}" type="slidenum">
              <a:rPr lang="en-US" sz="3200">
                <a:solidFill>
                  <a:srgbClr val="8B8B8B"/>
                </a:solidFill>
                <a:latin typeface="Calibri"/>
              </a:rPr>
              <a:pPr/>
              <a:t>17</a:t>
            </a:fld>
            <a:endParaRPr sz="3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extShape 1"/>
          <p:cNvSpPr txBox="1"/>
          <p:nvPr/>
        </p:nvSpPr>
        <p:spPr>
          <a:xfrm>
            <a:off x="457200" y="274680"/>
            <a:ext cx="8229240" cy="1142640"/>
          </a:xfrm>
          <a:prstGeom prst="rect">
            <a:avLst/>
          </a:prstGeom>
        </p:spPr>
        <p:txBody>
          <a:bodyPr lIns="90000" tIns="45000" rIns="90000" bIns="45000"/>
          <a:lstStyle/>
          <a:p>
            <a:pPr algn="ctr"/>
            <a:endParaRPr/>
          </a:p>
        </p:txBody>
      </p:sp>
      <p:sp>
        <p:nvSpPr>
          <p:cNvPr id="93" name="TextShape 2"/>
          <p:cNvSpPr txBox="1"/>
          <p:nvPr/>
        </p:nvSpPr>
        <p:spPr>
          <a:xfrm>
            <a:off x="457200" y="381000"/>
            <a:ext cx="8229240" cy="594360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3200" b="1" dirty="0">
                <a:solidFill>
                  <a:srgbClr val="000000"/>
                </a:solidFill>
                <a:latin typeface="Calibri"/>
              </a:rPr>
              <a:t>How can we ascertain whether the parties have made a choice of law for their contract?</a:t>
            </a:r>
            <a:endParaRPr sz="3200"/>
          </a:p>
          <a:p>
            <a:pPr>
              <a:buSzPct val="45000"/>
              <a:buFont typeface="Arial"/>
              <a:buChar char="•"/>
            </a:pPr>
            <a:r>
              <a:rPr lang="en-US" sz="3200" dirty="0">
                <a:solidFill>
                  <a:srgbClr val="000000"/>
                </a:solidFill>
                <a:latin typeface="Calibri"/>
              </a:rPr>
              <a:t>Art73(2) </a:t>
            </a:r>
            <a:endParaRPr sz="3200"/>
          </a:p>
          <a:p>
            <a:pPr lvl="1">
              <a:buSzPct val="45000"/>
              <a:buFont typeface="Arial"/>
              <a:buChar char="–"/>
            </a:pPr>
            <a:r>
              <a:rPr lang="en-US" sz="3200" dirty="0">
                <a:solidFill>
                  <a:srgbClr val="000000"/>
                </a:solidFill>
                <a:latin typeface="Calibri"/>
              </a:rPr>
              <a:t>By express selection of the law of a certain country or</a:t>
            </a:r>
            <a:endParaRPr sz="3200"/>
          </a:p>
          <a:p>
            <a:pPr lvl="1">
              <a:buSzPct val="45000"/>
              <a:buFont typeface="Arial"/>
              <a:buChar char="–"/>
            </a:pPr>
            <a:r>
              <a:rPr lang="en-US" sz="3200" dirty="0">
                <a:solidFill>
                  <a:srgbClr val="000000"/>
                </a:solidFill>
                <a:latin typeface="Calibri"/>
              </a:rPr>
              <a:t>By express selection of a tribunal of certain country.</a:t>
            </a:r>
            <a:endParaRPr sz="3200"/>
          </a:p>
          <a:p>
            <a:pPr lvl="1">
              <a:buSzPct val="45000"/>
              <a:buFont typeface="Arial"/>
              <a:buChar char="–"/>
            </a:pPr>
            <a:r>
              <a:rPr lang="en-US" sz="3200" dirty="0">
                <a:solidFill>
                  <a:srgbClr val="000000"/>
                </a:solidFill>
                <a:latin typeface="Calibri"/>
              </a:rPr>
              <a:t>Their intention to be subject to the law of a certain state </a:t>
            </a:r>
            <a:r>
              <a:rPr lang="en-US" sz="3200" b="1" dirty="0">
                <a:solidFill>
                  <a:srgbClr val="000000"/>
                </a:solidFill>
                <a:latin typeface="Calibri"/>
              </a:rPr>
              <a:t>from the terms of the contract </a:t>
            </a:r>
            <a:r>
              <a:rPr lang="en-US" sz="3200" dirty="0">
                <a:solidFill>
                  <a:srgbClr val="000000"/>
                </a:solidFill>
                <a:latin typeface="Calibri"/>
              </a:rPr>
              <a:t>may be identified  by </a:t>
            </a:r>
            <a:r>
              <a:rPr lang="en-US" sz="3200" b="1" dirty="0">
                <a:solidFill>
                  <a:srgbClr val="000000"/>
                </a:solidFill>
                <a:latin typeface="Calibri"/>
              </a:rPr>
              <a:t>interpretation</a:t>
            </a:r>
            <a:r>
              <a:rPr lang="en-US" sz="3200" dirty="0">
                <a:solidFill>
                  <a:srgbClr val="000000"/>
                </a:solidFill>
                <a:latin typeface="Calibri"/>
              </a:rPr>
              <a:t>.</a:t>
            </a:r>
            <a:endParaRPr sz="3200"/>
          </a:p>
        </p:txBody>
      </p:sp>
      <p:sp>
        <p:nvSpPr>
          <p:cNvPr id="94"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95"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96" name="TextShape 5"/>
          <p:cNvSpPr txBox="1"/>
          <p:nvPr/>
        </p:nvSpPr>
        <p:spPr>
          <a:xfrm>
            <a:off x="6553080" y="6356520"/>
            <a:ext cx="2133360" cy="364680"/>
          </a:xfrm>
          <a:prstGeom prst="rect">
            <a:avLst/>
          </a:prstGeom>
        </p:spPr>
        <p:txBody>
          <a:bodyPr lIns="90000" tIns="45000" rIns="90000" bIns="45000"/>
          <a:lstStyle/>
          <a:p>
            <a:fld id="{71B16161-8101-4191-A1C1-A1218111B1D1}" type="slidenum">
              <a:rPr lang="en-US" sz="1200">
                <a:solidFill>
                  <a:srgbClr val="8B8B8B"/>
                </a:solidFill>
                <a:latin typeface="Calibri"/>
              </a:rPr>
              <a:pP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Shape 1"/>
          <p:cNvSpPr txBox="1"/>
          <p:nvPr/>
        </p:nvSpPr>
        <p:spPr>
          <a:xfrm>
            <a:off x="457200" y="274680"/>
            <a:ext cx="8229240" cy="1142640"/>
          </a:xfrm>
          <a:prstGeom prst="rect">
            <a:avLst/>
          </a:prstGeom>
        </p:spPr>
        <p:txBody>
          <a:bodyPr lIns="90000" tIns="45000" rIns="90000" bIns="45000"/>
          <a:lstStyle/>
          <a:p>
            <a:pPr algn="ctr"/>
            <a:endParaRPr sz="3200"/>
          </a:p>
        </p:txBody>
      </p:sp>
      <p:sp>
        <p:nvSpPr>
          <p:cNvPr id="98" name="TextShape 2"/>
          <p:cNvSpPr txBox="1"/>
          <p:nvPr/>
        </p:nvSpPr>
        <p:spPr>
          <a:xfrm>
            <a:off x="457200" y="304800"/>
            <a:ext cx="8229240" cy="617220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3200" b="1" dirty="0">
                <a:solidFill>
                  <a:srgbClr val="000000"/>
                </a:solidFill>
                <a:latin typeface="Calibri"/>
              </a:rPr>
              <a:t>what if the parties choose a law which is not the law mentioned by art 73?  </a:t>
            </a:r>
            <a:endParaRPr sz="3200"/>
          </a:p>
          <a:p>
            <a:pPr>
              <a:buSzPct val="45000"/>
              <a:buFont typeface="Arial"/>
              <a:buChar char="•"/>
            </a:pPr>
            <a:r>
              <a:rPr lang="en-US" sz="3200" dirty="0">
                <a:solidFill>
                  <a:srgbClr val="000000"/>
                </a:solidFill>
                <a:latin typeface="Calibri"/>
              </a:rPr>
              <a:t>The provision does not clearly state the solution to this question.</a:t>
            </a:r>
            <a:endParaRPr sz="3200"/>
          </a:p>
          <a:p>
            <a:pPr>
              <a:buSzPct val="45000"/>
              <a:buFont typeface="Arial"/>
              <a:buChar char="•"/>
            </a:pPr>
            <a:r>
              <a:rPr lang="en-US" sz="3200" dirty="0">
                <a:solidFill>
                  <a:srgbClr val="000000"/>
                </a:solidFill>
                <a:latin typeface="Calibri"/>
              </a:rPr>
              <a:t> How ever under the other jurisdictions, the courts will declare the agreement invalid and it will be the default rules that would be applicable.</a:t>
            </a:r>
            <a:endParaRPr sz="3200"/>
          </a:p>
          <a:p>
            <a:pPr>
              <a:buSzPct val="45000"/>
              <a:buFont typeface="Arial"/>
              <a:buChar char="•"/>
            </a:pPr>
            <a:r>
              <a:rPr lang="en-US" sz="3200" dirty="0">
                <a:solidFill>
                  <a:srgbClr val="000000"/>
                </a:solidFill>
                <a:latin typeface="Calibri"/>
              </a:rPr>
              <a:t> So the default rules are the rules that the court would apply if the parties did not any choice.</a:t>
            </a:r>
            <a:endParaRPr sz="3200"/>
          </a:p>
          <a:p>
            <a:pPr>
              <a:buSzPct val="45000"/>
              <a:buFont typeface="Arial"/>
              <a:buChar char="•"/>
            </a:pPr>
            <a:r>
              <a:rPr lang="en-US" sz="3200" dirty="0">
                <a:solidFill>
                  <a:srgbClr val="000000"/>
                </a:solidFill>
                <a:latin typeface="Calibri"/>
              </a:rPr>
              <a:t>But it is better to expressly indicate this in the draft.</a:t>
            </a:r>
            <a:endParaRPr sz="3200"/>
          </a:p>
          <a:p>
            <a:endParaRPr sz="3200"/>
          </a:p>
        </p:txBody>
      </p:sp>
      <p:sp>
        <p:nvSpPr>
          <p:cNvPr id="99" name="TextShape 3"/>
          <p:cNvSpPr txBox="1"/>
          <p:nvPr/>
        </p:nvSpPr>
        <p:spPr>
          <a:xfrm>
            <a:off x="457200" y="6356520"/>
            <a:ext cx="2133360" cy="364680"/>
          </a:xfrm>
          <a:prstGeom prst="rect">
            <a:avLst/>
          </a:prstGeom>
        </p:spPr>
        <p:txBody>
          <a:bodyPr lIns="90000" tIns="45000" rIns="90000" bIns="45000"/>
          <a:lstStyle/>
          <a:p>
            <a:r>
              <a:rPr lang="en-US" sz="3200">
                <a:solidFill>
                  <a:srgbClr val="8B8B8B"/>
                </a:solidFill>
                <a:latin typeface="Calibri"/>
              </a:rPr>
              <a:t>5/13/12</a:t>
            </a:r>
            <a:endParaRPr sz="3200"/>
          </a:p>
        </p:txBody>
      </p:sp>
      <p:sp>
        <p:nvSpPr>
          <p:cNvPr id="100" name="TextShape 4"/>
          <p:cNvSpPr txBox="1"/>
          <p:nvPr/>
        </p:nvSpPr>
        <p:spPr>
          <a:xfrm>
            <a:off x="3124080" y="6356520"/>
            <a:ext cx="2895120" cy="364680"/>
          </a:xfrm>
          <a:prstGeom prst="rect">
            <a:avLst/>
          </a:prstGeom>
        </p:spPr>
        <p:txBody>
          <a:bodyPr lIns="90000" tIns="45000" rIns="90000" bIns="45000"/>
          <a:lstStyle/>
          <a:p>
            <a:r>
              <a:rPr lang="en-US" sz="3200">
                <a:solidFill>
                  <a:srgbClr val="8B8B8B"/>
                </a:solidFill>
                <a:latin typeface="Calibri"/>
              </a:rPr>
              <a:t>Conflict PPT Part II , Sultan Kassim,  HU COL</a:t>
            </a:r>
            <a:endParaRPr sz="3200"/>
          </a:p>
        </p:txBody>
      </p:sp>
      <p:sp>
        <p:nvSpPr>
          <p:cNvPr id="101" name="TextShape 5"/>
          <p:cNvSpPr txBox="1"/>
          <p:nvPr/>
        </p:nvSpPr>
        <p:spPr>
          <a:xfrm>
            <a:off x="6553080" y="6356520"/>
            <a:ext cx="2133360" cy="364680"/>
          </a:xfrm>
          <a:prstGeom prst="rect">
            <a:avLst/>
          </a:prstGeom>
        </p:spPr>
        <p:txBody>
          <a:bodyPr lIns="90000" tIns="45000" rIns="90000" bIns="45000"/>
          <a:lstStyle/>
          <a:p>
            <a:fld id="{71A14161-81A1-4101-A1A1-81F1A141D131}" type="slidenum">
              <a:rPr lang="en-US" sz="3200">
                <a:solidFill>
                  <a:srgbClr val="8B8B8B"/>
                </a:solidFill>
                <a:latin typeface="Calibri"/>
              </a:rPr>
              <a:pPr/>
              <a:t>19</a:t>
            </a:fld>
            <a:endParaRPr sz="32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Shape 1"/>
          <p:cNvSpPr txBox="1"/>
          <p:nvPr/>
        </p:nvSpPr>
        <p:spPr>
          <a:xfrm>
            <a:off x="457200" y="274680"/>
            <a:ext cx="8229240" cy="1142640"/>
          </a:xfrm>
          <a:prstGeom prst="rect">
            <a:avLst/>
          </a:prstGeom>
        </p:spPr>
        <p:txBody>
          <a:bodyPr lIns="90000" tIns="45000" rIns="90000" bIns="45000"/>
          <a:lstStyle/>
          <a:p>
            <a:pPr algn="ctr"/>
            <a:endParaRPr/>
          </a:p>
        </p:txBody>
      </p:sp>
      <p:sp>
        <p:nvSpPr>
          <p:cNvPr id="103" name="TextShape 2"/>
          <p:cNvSpPr txBox="1"/>
          <p:nvPr/>
        </p:nvSpPr>
        <p:spPr>
          <a:xfrm>
            <a:off x="457200" y="0"/>
            <a:ext cx="8229240" cy="6858000"/>
          </a:xfrm>
          <a:prstGeom prst="rect">
            <a:avLst/>
          </a:prstGeom>
          <a:solidFill>
            <a:srgbClr val="00B050"/>
          </a:solidFill>
          <a:ln>
            <a:solidFill>
              <a:srgbClr val="FF0000"/>
            </a:solidFill>
          </a:ln>
        </p:spPr>
        <p:txBody>
          <a:bodyPr lIns="90000" tIns="45000" rIns="90000" bIns="45000"/>
          <a:lstStyle/>
          <a:p>
            <a:r>
              <a:rPr lang="en-US" sz="2800" b="1" dirty="0">
                <a:solidFill>
                  <a:srgbClr val="000000"/>
                </a:solidFill>
                <a:latin typeface="Calibri"/>
              </a:rPr>
              <a:t>  The governing law in default of choice by the parties ( Art.74)</a:t>
            </a:r>
            <a:endParaRPr sz="2800"/>
          </a:p>
          <a:p>
            <a:pPr>
              <a:buSzPct val="45000"/>
              <a:buFont typeface="Arial"/>
              <a:buChar char="•"/>
            </a:pPr>
            <a:r>
              <a:rPr lang="en-US" sz="2800" dirty="0">
                <a:solidFill>
                  <a:srgbClr val="000000"/>
                </a:solidFill>
                <a:latin typeface="Calibri"/>
              </a:rPr>
              <a:t>The   court will apply the law with which the contract is </a:t>
            </a:r>
            <a:r>
              <a:rPr lang="en-US" sz="2800" b="1" dirty="0">
                <a:solidFill>
                  <a:srgbClr val="000000"/>
                </a:solidFill>
                <a:latin typeface="Calibri"/>
              </a:rPr>
              <a:t>most closely connected.  </a:t>
            </a:r>
            <a:endParaRPr sz="2800"/>
          </a:p>
          <a:p>
            <a:pPr>
              <a:buSzPct val="45000"/>
              <a:buFont typeface="Arial"/>
              <a:buChar char="•"/>
            </a:pPr>
            <a:r>
              <a:rPr lang="en-US" sz="2800" dirty="0">
                <a:solidFill>
                  <a:srgbClr val="000000"/>
                </a:solidFill>
                <a:latin typeface="Calibri"/>
              </a:rPr>
              <a:t>What maters should be taken in to account in determining the law of the place to which the contract is most closely connected. No indication in the </a:t>
            </a:r>
            <a:r>
              <a:rPr lang="en-US" sz="2800" dirty="0" smtClean="0">
                <a:solidFill>
                  <a:srgbClr val="000000"/>
                </a:solidFill>
                <a:latin typeface="Calibri"/>
              </a:rPr>
              <a:t>Draft</a:t>
            </a:r>
            <a:r>
              <a:rPr lang="en-US" sz="2800" dirty="0">
                <a:solidFill>
                  <a:srgbClr val="000000"/>
                </a:solidFill>
                <a:latin typeface="Calibri"/>
              </a:rPr>
              <a:t>.</a:t>
            </a:r>
            <a:endParaRPr sz="2800"/>
          </a:p>
          <a:p>
            <a:pPr>
              <a:buSzPct val="45000"/>
              <a:buFont typeface="Arial"/>
              <a:buChar char="•"/>
            </a:pPr>
            <a:r>
              <a:rPr lang="en-US" sz="2800" dirty="0">
                <a:solidFill>
                  <a:srgbClr val="000000"/>
                </a:solidFill>
                <a:latin typeface="Calibri"/>
              </a:rPr>
              <a:t>The expression “</a:t>
            </a:r>
            <a:r>
              <a:rPr lang="en-US" sz="2800" i="1" dirty="0">
                <a:solidFill>
                  <a:srgbClr val="000000"/>
                </a:solidFill>
                <a:latin typeface="Calibri"/>
              </a:rPr>
              <a:t>most closely connected</a:t>
            </a:r>
            <a:r>
              <a:rPr lang="en-US" sz="2800" dirty="0">
                <a:solidFill>
                  <a:srgbClr val="000000"/>
                </a:solidFill>
                <a:latin typeface="Calibri"/>
              </a:rPr>
              <a:t>” in the provision is closer in meaning to the American Second Restatement expression, “</a:t>
            </a:r>
            <a:r>
              <a:rPr lang="en-US" sz="2800" i="1" dirty="0">
                <a:solidFill>
                  <a:srgbClr val="000000"/>
                </a:solidFill>
                <a:latin typeface="Calibri"/>
              </a:rPr>
              <a:t>most significant relationship”</a:t>
            </a:r>
            <a:r>
              <a:rPr lang="en-US" sz="2800" dirty="0">
                <a:solidFill>
                  <a:srgbClr val="000000"/>
                </a:solidFill>
                <a:latin typeface="Calibri"/>
              </a:rPr>
              <a:t>  and that of art 4 of Rome convention "most</a:t>
            </a:r>
            <a:r>
              <a:rPr lang="en-US" sz="2800" i="1" dirty="0">
                <a:solidFill>
                  <a:srgbClr val="000000"/>
                </a:solidFill>
                <a:latin typeface="Calibri"/>
              </a:rPr>
              <a:t> closely connected</a:t>
            </a:r>
            <a:r>
              <a:rPr lang="en-US" sz="2800" dirty="0">
                <a:solidFill>
                  <a:srgbClr val="000000"/>
                </a:solidFill>
                <a:latin typeface="Calibri"/>
              </a:rPr>
              <a:t>”. So use the understanding in these laws.</a:t>
            </a:r>
            <a:endParaRPr sz="2800"/>
          </a:p>
          <a:p>
            <a:pPr>
              <a:buSzPct val="45000"/>
              <a:buFont typeface="Arial"/>
              <a:buChar char="•"/>
            </a:pPr>
            <a:r>
              <a:rPr lang="en-US" sz="2800" b="1" dirty="0">
                <a:solidFill>
                  <a:srgbClr val="000000"/>
                </a:solidFill>
                <a:latin typeface="Calibri"/>
              </a:rPr>
              <a:t>Exception:</a:t>
            </a:r>
            <a:r>
              <a:rPr lang="en-US" sz="2800" dirty="0">
                <a:solidFill>
                  <a:srgbClr val="000000"/>
                </a:solidFill>
                <a:latin typeface="Calibri"/>
              </a:rPr>
              <a:t> if the contract relates to the establishment or transfer of right in </a:t>
            </a:r>
            <a:r>
              <a:rPr lang="en-US" sz="2800" i="1" dirty="0" err="1">
                <a:solidFill>
                  <a:srgbClr val="000000"/>
                </a:solidFill>
                <a:latin typeface="Calibri"/>
              </a:rPr>
              <a:t>rem</a:t>
            </a:r>
            <a:r>
              <a:rPr lang="en-US" sz="2800" i="1" dirty="0">
                <a:solidFill>
                  <a:srgbClr val="000000"/>
                </a:solidFill>
                <a:latin typeface="Calibri"/>
              </a:rPr>
              <a:t> </a:t>
            </a:r>
            <a:r>
              <a:rPr lang="en-US" sz="2800" dirty="0">
                <a:solidFill>
                  <a:srgbClr val="000000"/>
                </a:solidFill>
                <a:latin typeface="Calibri"/>
              </a:rPr>
              <a:t>in immovable or movable property the law that has the closest connection is the law of the place where the property is situated. </a:t>
            </a:r>
            <a:endParaRPr sz="2800"/>
          </a:p>
          <a:p>
            <a:endParaRPr sz="2800"/>
          </a:p>
          <a:p>
            <a:endParaRPr sz="2800"/>
          </a:p>
          <a:p>
            <a:endParaRPr sz="2800"/>
          </a:p>
        </p:txBody>
      </p:sp>
      <p:sp>
        <p:nvSpPr>
          <p:cNvPr id="104"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105"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106" name="TextShape 5"/>
          <p:cNvSpPr txBox="1"/>
          <p:nvPr/>
        </p:nvSpPr>
        <p:spPr>
          <a:xfrm>
            <a:off x="6553080" y="6356520"/>
            <a:ext cx="2133360" cy="364680"/>
          </a:xfrm>
          <a:prstGeom prst="rect">
            <a:avLst/>
          </a:prstGeom>
        </p:spPr>
        <p:txBody>
          <a:bodyPr lIns="90000" tIns="45000" rIns="90000" bIns="45000"/>
          <a:lstStyle/>
          <a:p>
            <a:fld id="{A11101F1-B131-4171-A1C1-C1C1E18171F1}" type="slidenum">
              <a:rPr lang="en-US" sz="1200">
                <a:solidFill>
                  <a:srgbClr val="8B8B8B"/>
                </a:solidFill>
                <a:latin typeface="Calibri"/>
              </a:rPr>
              <a:pPr/>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extShape 1"/>
          <p:cNvSpPr txBox="1"/>
          <p:nvPr/>
        </p:nvSpPr>
        <p:spPr>
          <a:xfrm>
            <a:off x="457200" y="274680"/>
            <a:ext cx="8229240" cy="1142640"/>
          </a:xfrm>
          <a:prstGeom prst="rect">
            <a:avLst/>
          </a:prstGeom>
        </p:spPr>
        <p:txBody>
          <a:bodyPr lIns="90000" tIns="45000" rIns="90000" bIns="45000"/>
          <a:lstStyle/>
          <a:p>
            <a:pPr algn="ctr"/>
            <a:r>
              <a:rPr lang="en-US" sz="3600" b="1" dirty="0">
                <a:solidFill>
                  <a:srgbClr val="000000"/>
                </a:solidFill>
                <a:latin typeface="Calibri"/>
              </a:rPr>
              <a:t>5.2.3. </a:t>
            </a:r>
            <a:r>
              <a:rPr lang="en-US" sz="3600" b="1" dirty="0">
                <a:solidFill>
                  <a:srgbClr val="FF0000"/>
                </a:solidFill>
                <a:latin typeface="Calibri"/>
              </a:rPr>
              <a:t>Rules governing Particular Aspects of the Contract</a:t>
            </a:r>
            <a:endParaRPr>
              <a:solidFill>
                <a:srgbClr val="FF0000"/>
              </a:solidFill>
            </a:endParaRPr>
          </a:p>
        </p:txBody>
      </p:sp>
      <p:sp>
        <p:nvSpPr>
          <p:cNvPr id="108" name="TextShape 2"/>
          <p:cNvSpPr txBox="1"/>
          <p:nvPr/>
        </p:nvSpPr>
        <p:spPr>
          <a:xfrm>
            <a:off x="457200" y="1600200"/>
            <a:ext cx="8229240" cy="213360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3200" dirty="0">
                <a:solidFill>
                  <a:srgbClr val="000000"/>
                </a:solidFill>
                <a:latin typeface="Calibri"/>
              </a:rPr>
              <a:t>Important  specific elements of the contract are:</a:t>
            </a:r>
            <a:endParaRPr/>
          </a:p>
          <a:p>
            <a:pPr lvl="1">
              <a:buSzPct val="45000"/>
              <a:buFont typeface="Arial"/>
              <a:buChar char="–"/>
            </a:pPr>
            <a:r>
              <a:rPr lang="en-US" sz="2800" dirty="0">
                <a:solidFill>
                  <a:srgbClr val="000000"/>
                </a:solidFill>
                <a:latin typeface="Calibri"/>
              </a:rPr>
              <a:t>Capacity of the contracting parties,</a:t>
            </a:r>
            <a:endParaRPr/>
          </a:p>
          <a:p>
            <a:pPr lvl="1">
              <a:buSzPct val="45000"/>
              <a:buFont typeface="Arial"/>
              <a:buChar char="–"/>
            </a:pPr>
            <a:r>
              <a:rPr lang="en-US" sz="2800" dirty="0">
                <a:solidFill>
                  <a:srgbClr val="000000"/>
                </a:solidFill>
                <a:latin typeface="Calibri"/>
              </a:rPr>
              <a:t> Consent,</a:t>
            </a:r>
            <a:endParaRPr/>
          </a:p>
          <a:p>
            <a:pPr lvl="1">
              <a:buSzPct val="45000"/>
              <a:buFont typeface="Arial"/>
              <a:buChar char="–"/>
            </a:pPr>
            <a:r>
              <a:rPr lang="en-US" sz="2800" dirty="0">
                <a:solidFill>
                  <a:srgbClr val="000000"/>
                </a:solidFill>
                <a:latin typeface="Calibri"/>
              </a:rPr>
              <a:t> Object and Form of the Contract.</a:t>
            </a:r>
            <a:endParaRPr/>
          </a:p>
          <a:p>
            <a:r>
              <a:rPr lang="en-US" sz="2800" dirty="0">
                <a:solidFill>
                  <a:srgbClr val="000000"/>
                </a:solidFill>
                <a:latin typeface="Calibri"/>
              </a:rPr>
              <a:t> </a:t>
            </a:r>
            <a:endParaRPr/>
          </a:p>
        </p:txBody>
      </p:sp>
      <p:sp>
        <p:nvSpPr>
          <p:cNvPr id="109"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110"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111" name="TextShape 5"/>
          <p:cNvSpPr txBox="1"/>
          <p:nvPr/>
        </p:nvSpPr>
        <p:spPr>
          <a:xfrm>
            <a:off x="6553080" y="6356520"/>
            <a:ext cx="2133360" cy="364680"/>
          </a:xfrm>
          <a:prstGeom prst="rect">
            <a:avLst/>
          </a:prstGeom>
        </p:spPr>
        <p:txBody>
          <a:bodyPr lIns="90000" tIns="45000" rIns="90000" bIns="45000"/>
          <a:lstStyle/>
          <a:p>
            <a:fld id="{712131E1-71B1-4161-A141-E11171A10131}" type="slidenum">
              <a:rPr lang="en-US" sz="1200">
                <a:solidFill>
                  <a:srgbClr val="8B8B8B"/>
                </a:solidFill>
                <a:latin typeface="Calibri"/>
              </a:rPr>
              <a:pPr/>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TextShape 1"/>
          <p:cNvSpPr txBox="1"/>
          <p:nvPr/>
        </p:nvSpPr>
        <p:spPr>
          <a:xfrm>
            <a:off x="457200" y="274680"/>
            <a:ext cx="8229240" cy="1142640"/>
          </a:xfrm>
          <a:prstGeom prst="rect">
            <a:avLst/>
          </a:prstGeom>
        </p:spPr>
      </p:sp>
      <p:sp>
        <p:nvSpPr>
          <p:cNvPr id="113" name="TextShape 2"/>
          <p:cNvSpPr txBox="1"/>
          <p:nvPr/>
        </p:nvSpPr>
        <p:spPr>
          <a:xfrm>
            <a:off x="457200" y="304800"/>
            <a:ext cx="8229240" cy="624840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2400" b="1" dirty="0">
                <a:solidFill>
                  <a:srgbClr val="000000"/>
                </a:solidFill>
                <a:latin typeface="Calibri"/>
              </a:rPr>
              <a:t>1</a:t>
            </a:r>
            <a:r>
              <a:rPr lang="en-US" sz="2400" b="1" dirty="0">
                <a:solidFill>
                  <a:srgbClr val="FF0000"/>
                </a:solidFill>
                <a:latin typeface="Calibri"/>
              </a:rPr>
              <a:t>. Capacity to contract</a:t>
            </a:r>
            <a:endParaRPr sz="2400">
              <a:solidFill>
                <a:srgbClr val="FF0000"/>
              </a:solidFill>
            </a:endParaRPr>
          </a:p>
          <a:p>
            <a:pPr>
              <a:buSzPct val="45000"/>
              <a:buFont typeface="Arial"/>
              <a:buChar char="•"/>
            </a:pPr>
            <a:r>
              <a:rPr lang="en-US" sz="2400" b="1" dirty="0">
                <a:solidFill>
                  <a:srgbClr val="000000"/>
                </a:solidFill>
                <a:latin typeface="Calibri"/>
              </a:rPr>
              <a:t>In United States </a:t>
            </a:r>
            <a:r>
              <a:rPr lang="en-US" sz="2400" dirty="0">
                <a:solidFill>
                  <a:srgbClr val="000000"/>
                </a:solidFill>
                <a:latin typeface="Calibri"/>
              </a:rPr>
              <a:t>the question is governed by the law chosen by the parties, if they have made an effective choice.</a:t>
            </a:r>
            <a:endParaRPr sz="2400"/>
          </a:p>
          <a:p>
            <a:pPr>
              <a:buSzPct val="45000"/>
              <a:buFont typeface="Arial"/>
              <a:buChar char="•"/>
            </a:pPr>
            <a:r>
              <a:rPr lang="en-US" sz="2400" dirty="0">
                <a:solidFill>
                  <a:srgbClr val="000000"/>
                </a:solidFill>
                <a:latin typeface="Calibri"/>
              </a:rPr>
              <a:t>Otherwise, this question is determined by the law that has the most significant relation ship .</a:t>
            </a:r>
            <a:endParaRPr sz="2400"/>
          </a:p>
          <a:p>
            <a:pPr>
              <a:buSzPct val="45000"/>
              <a:buFont typeface="Arial"/>
              <a:buChar char="•"/>
            </a:pPr>
            <a:r>
              <a:rPr lang="en-US" sz="2400" b="1" dirty="0">
                <a:solidFill>
                  <a:srgbClr val="000000"/>
                </a:solidFill>
                <a:latin typeface="Calibri"/>
              </a:rPr>
              <a:t>In England  earlier </a:t>
            </a:r>
            <a:r>
              <a:rPr lang="en-US" sz="2400" dirty="0" err="1">
                <a:solidFill>
                  <a:srgbClr val="000000"/>
                </a:solidFill>
                <a:latin typeface="Calibri"/>
              </a:rPr>
              <a:t>lex</a:t>
            </a:r>
            <a:r>
              <a:rPr lang="en-US" sz="2400" dirty="0">
                <a:solidFill>
                  <a:srgbClr val="000000"/>
                </a:solidFill>
                <a:latin typeface="Calibri"/>
              </a:rPr>
              <a:t> </a:t>
            </a:r>
            <a:r>
              <a:rPr lang="en-US" sz="2400" dirty="0" err="1">
                <a:solidFill>
                  <a:srgbClr val="000000"/>
                </a:solidFill>
                <a:latin typeface="Calibri"/>
              </a:rPr>
              <a:t>domicili</a:t>
            </a:r>
            <a:r>
              <a:rPr lang="en-US" sz="2400" dirty="0">
                <a:solidFill>
                  <a:srgbClr val="000000"/>
                </a:solidFill>
                <a:latin typeface="Calibri"/>
              </a:rPr>
              <a:t> or </a:t>
            </a:r>
            <a:r>
              <a:rPr lang="en-US" sz="2400" dirty="0" err="1">
                <a:solidFill>
                  <a:srgbClr val="000000"/>
                </a:solidFill>
                <a:latin typeface="Calibri"/>
              </a:rPr>
              <a:t>lex</a:t>
            </a:r>
            <a:r>
              <a:rPr lang="en-US" sz="2400" dirty="0">
                <a:solidFill>
                  <a:srgbClr val="000000"/>
                </a:solidFill>
                <a:latin typeface="Calibri"/>
              </a:rPr>
              <a:t> loci </a:t>
            </a:r>
            <a:r>
              <a:rPr lang="en-US" sz="2400" dirty="0" err="1">
                <a:solidFill>
                  <a:srgbClr val="000000"/>
                </a:solidFill>
                <a:latin typeface="Calibri"/>
              </a:rPr>
              <a:t>actus</a:t>
            </a:r>
            <a:r>
              <a:rPr lang="en-US" sz="2400" dirty="0">
                <a:solidFill>
                  <a:srgbClr val="000000"/>
                </a:solidFill>
                <a:latin typeface="Calibri"/>
              </a:rPr>
              <a:t>. ( Both have defects)</a:t>
            </a:r>
            <a:endParaRPr sz="2400"/>
          </a:p>
          <a:p>
            <a:pPr>
              <a:buSzPct val="45000"/>
              <a:buFont typeface="Arial"/>
              <a:buChar char="•"/>
            </a:pPr>
            <a:r>
              <a:rPr lang="en-US" sz="2400" b="1" dirty="0">
                <a:solidFill>
                  <a:srgbClr val="000000"/>
                </a:solidFill>
                <a:latin typeface="Calibri"/>
              </a:rPr>
              <a:t>Currently: </a:t>
            </a:r>
            <a:r>
              <a:rPr lang="en-US" sz="2400" dirty="0">
                <a:solidFill>
                  <a:srgbClr val="000000"/>
                </a:solidFill>
                <a:latin typeface="Calibri"/>
              </a:rPr>
              <a:t>that capacity is regulated by proper law of the contract, provided that this expression is taken to mean the law of the country with which the contract is most substantially connected. </a:t>
            </a:r>
            <a:endParaRPr sz="2400"/>
          </a:p>
          <a:p>
            <a:pPr>
              <a:buSzPct val="45000"/>
              <a:buFont typeface="Arial"/>
              <a:buChar char="•"/>
            </a:pPr>
            <a:r>
              <a:rPr lang="en-US" sz="2400" dirty="0">
                <a:solidFill>
                  <a:srgbClr val="000000"/>
                </a:solidFill>
                <a:latin typeface="Calibri"/>
              </a:rPr>
              <a:t>Intention cannot here be allowed free play. A person cannot confer capacity up on himself by deliberately submitting himself to a law which factually the contract is unrelated.</a:t>
            </a:r>
            <a:endParaRPr sz="2400"/>
          </a:p>
          <a:p>
            <a:pPr>
              <a:buSzPct val="45000"/>
              <a:buFont typeface="Arial"/>
              <a:buChar char="•"/>
            </a:pPr>
            <a:r>
              <a:rPr lang="en-US" sz="2400" dirty="0">
                <a:solidFill>
                  <a:srgbClr val="000000"/>
                </a:solidFill>
                <a:latin typeface="Calibri"/>
              </a:rPr>
              <a:t>The capacity of both individuals and companies to contract is excluded from the scope of the </a:t>
            </a:r>
            <a:r>
              <a:rPr lang="en-US" sz="2400" b="1" dirty="0">
                <a:solidFill>
                  <a:srgbClr val="000000"/>
                </a:solidFill>
                <a:latin typeface="Calibri"/>
              </a:rPr>
              <a:t>Rome Convention</a:t>
            </a:r>
            <a:r>
              <a:rPr lang="en-US" sz="2400" dirty="0">
                <a:solidFill>
                  <a:srgbClr val="000000"/>
                </a:solidFill>
                <a:latin typeface="Calibri"/>
              </a:rPr>
              <a:t>. ( forum law applies)</a:t>
            </a:r>
            <a:endParaRPr sz="2400"/>
          </a:p>
          <a:p>
            <a:endParaRPr sz="2400"/>
          </a:p>
          <a:p>
            <a:endParaRPr sz="2400"/>
          </a:p>
          <a:p>
            <a:endParaRPr sz="2400"/>
          </a:p>
        </p:txBody>
      </p:sp>
      <p:sp>
        <p:nvSpPr>
          <p:cNvPr id="114"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115" name="TextShape 4"/>
          <p:cNvSpPr txBox="1"/>
          <p:nvPr/>
        </p:nvSpPr>
        <p:spPr>
          <a:xfrm>
            <a:off x="3124080" y="6356520"/>
            <a:ext cx="2895120" cy="364680"/>
          </a:xfrm>
          <a:prstGeom prst="rect">
            <a:avLst/>
          </a:prstGeom>
        </p:spPr>
        <p:txBody>
          <a:bodyPr lIns="90000" tIns="45000" rIns="90000" bIns="45000"/>
          <a:lstStyle/>
          <a:p>
            <a:r>
              <a:rPr lang="en-US" sz="1200" dirty="0">
                <a:solidFill>
                  <a:srgbClr val="8B8B8B"/>
                </a:solidFill>
                <a:latin typeface="Calibri"/>
              </a:rPr>
              <a:t>Conflict PPT Part II , Sultan </a:t>
            </a:r>
            <a:r>
              <a:rPr lang="en-US" sz="1200" dirty="0" err="1">
                <a:solidFill>
                  <a:srgbClr val="8B8B8B"/>
                </a:solidFill>
                <a:latin typeface="Calibri"/>
              </a:rPr>
              <a:t>Kassim</a:t>
            </a:r>
            <a:r>
              <a:rPr lang="en-US" sz="1200" dirty="0">
                <a:solidFill>
                  <a:srgbClr val="8B8B8B"/>
                </a:solidFill>
                <a:latin typeface="Calibri"/>
              </a:rPr>
              <a:t>,  HU COL</a:t>
            </a:r>
            <a:endParaRPr/>
          </a:p>
        </p:txBody>
      </p:sp>
      <p:sp>
        <p:nvSpPr>
          <p:cNvPr id="116" name="TextShape 5"/>
          <p:cNvSpPr txBox="1"/>
          <p:nvPr/>
        </p:nvSpPr>
        <p:spPr>
          <a:xfrm>
            <a:off x="6553080" y="6356520"/>
            <a:ext cx="2133360" cy="364680"/>
          </a:xfrm>
          <a:prstGeom prst="rect">
            <a:avLst/>
          </a:prstGeom>
        </p:spPr>
        <p:txBody>
          <a:bodyPr lIns="90000" tIns="45000" rIns="90000" bIns="45000"/>
          <a:lstStyle/>
          <a:p>
            <a:fld id="{91519171-11E1-41E1-A121-F1619101F1D1}" type="slidenum">
              <a:rPr lang="en-US" sz="1200">
                <a:solidFill>
                  <a:srgbClr val="8B8B8B"/>
                </a:solidFill>
                <a:latin typeface="Calibri"/>
              </a:rPr>
              <a:pPr/>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TextShape 1"/>
          <p:cNvSpPr txBox="1"/>
          <p:nvPr/>
        </p:nvSpPr>
        <p:spPr>
          <a:xfrm>
            <a:off x="457200" y="274680"/>
            <a:ext cx="8229240" cy="1142640"/>
          </a:xfrm>
          <a:prstGeom prst="rect">
            <a:avLst/>
          </a:prstGeom>
        </p:spPr>
      </p:sp>
      <p:sp>
        <p:nvSpPr>
          <p:cNvPr id="118" name="TextShape 2"/>
          <p:cNvSpPr txBox="1"/>
          <p:nvPr/>
        </p:nvSpPr>
        <p:spPr>
          <a:xfrm>
            <a:off x="457200" y="0"/>
            <a:ext cx="8229240" cy="655320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2000" b="1" dirty="0">
                <a:solidFill>
                  <a:srgbClr val="FF0000"/>
                </a:solidFill>
                <a:latin typeface="Calibri"/>
              </a:rPr>
              <a:t>Capacity Under the Federal Draft Conflict of Laws </a:t>
            </a:r>
            <a:endParaRPr sz="2000">
              <a:solidFill>
                <a:srgbClr val="FF0000"/>
              </a:solidFill>
            </a:endParaRPr>
          </a:p>
          <a:p>
            <a:pPr>
              <a:buSzPct val="45000"/>
              <a:buFont typeface="Arial"/>
              <a:buChar char="•"/>
            </a:pPr>
            <a:r>
              <a:rPr lang="en-US" sz="2000" b="1" dirty="0">
                <a:solidFill>
                  <a:srgbClr val="FF0000"/>
                </a:solidFill>
                <a:latin typeface="Calibri"/>
              </a:rPr>
              <a:t>Capacity governed by law governing the legal relationship</a:t>
            </a:r>
            <a:endParaRPr sz="2000">
              <a:solidFill>
                <a:srgbClr val="FF0000"/>
              </a:solidFill>
            </a:endParaRPr>
          </a:p>
          <a:p>
            <a:pPr algn="just">
              <a:buSzPct val="45000"/>
              <a:buFont typeface="Arial"/>
              <a:buChar char="•"/>
            </a:pPr>
            <a:r>
              <a:rPr lang="en-US" sz="2000" dirty="0">
                <a:solidFill>
                  <a:srgbClr val="000000"/>
                </a:solidFill>
                <a:latin typeface="Calibri"/>
              </a:rPr>
              <a:t>Under Art.45 it states that the general capacity of a natural person of exercising rights shall be governed by the law applicable to the matter to which such matter relates. </a:t>
            </a:r>
            <a:endParaRPr sz="2000"/>
          </a:p>
          <a:p>
            <a:pPr algn="just">
              <a:buSzPct val="45000"/>
              <a:buFont typeface="Arial"/>
              <a:buChar char="•"/>
            </a:pPr>
            <a:r>
              <a:rPr lang="en-US" sz="2000" dirty="0">
                <a:solidFill>
                  <a:srgbClr val="000000"/>
                </a:solidFill>
                <a:latin typeface="Calibri"/>
              </a:rPr>
              <a:t>The idea here is that, if the subject under discussion for instance, is contract, the law governing other substantive matters of the contract shall also govern the issue of capacity.</a:t>
            </a:r>
            <a:endParaRPr sz="2000"/>
          </a:p>
          <a:p>
            <a:pPr algn="just">
              <a:buSzPct val="45000"/>
              <a:buFont typeface="Arial"/>
              <a:buChar char="•"/>
            </a:pPr>
            <a:r>
              <a:rPr lang="en-US" sz="2000" b="1" dirty="0">
                <a:solidFill>
                  <a:srgbClr val="000000"/>
                </a:solidFill>
                <a:latin typeface="Calibri"/>
              </a:rPr>
              <a:t>Exception</a:t>
            </a:r>
            <a:r>
              <a:rPr lang="en-US" sz="2000" dirty="0">
                <a:solidFill>
                  <a:srgbClr val="000000"/>
                </a:solidFill>
                <a:latin typeface="Calibri"/>
              </a:rPr>
              <a:t>. As stated under Art.46 (1), an act performed by a person who would not have had the capacity to perform that act under his personal law shall be valid if he has capacity under the law of the country in which the act is performed. </a:t>
            </a:r>
            <a:endParaRPr sz="2000"/>
          </a:p>
          <a:p>
            <a:pPr algn="just">
              <a:buSzPct val="45000"/>
              <a:buFont typeface="Arial"/>
              <a:buChar char="•"/>
            </a:pPr>
            <a:r>
              <a:rPr lang="en-US" sz="2000" b="1" dirty="0">
                <a:solidFill>
                  <a:srgbClr val="000000"/>
                </a:solidFill>
                <a:latin typeface="Calibri"/>
              </a:rPr>
              <a:t>Exception to the Exception ( Art.46(3)</a:t>
            </a:r>
            <a:r>
              <a:rPr lang="en-US" sz="2000" dirty="0">
                <a:solidFill>
                  <a:srgbClr val="000000"/>
                </a:solidFill>
                <a:latin typeface="Calibri"/>
              </a:rPr>
              <a:t>:  In maters relating to family law, succession and donation </a:t>
            </a:r>
            <a:r>
              <a:rPr lang="en-US" sz="2000" dirty="0" err="1">
                <a:solidFill>
                  <a:srgbClr val="000000"/>
                </a:solidFill>
                <a:latin typeface="Calibri"/>
              </a:rPr>
              <a:t>intervivos</a:t>
            </a:r>
            <a:r>
              <a:rPr lang="en-US" sz="2000" dirty="0">
                <a:solidFill>
                  <a:srgbClr val="000000"/>
                </a:solidFill>
                <a:latin typeface="Calibri"/>
              </a:rPr>
              <a:t> capacity is not negotiable. </a:t>
            </a:r>
            <a:endParaRPr sz="2000"/>
          </a:p>
          <a:p>
            <a:pPr algn="just">
              <a:buSzPct val="45000"/>
              <a:buFont typeface="Arial"/>
              <a:buChar char="•"/>
            </a:pPr>
            <a:r>
              <a:rPr lang="en-US" sz="2000" b="1" dirty="0">
                <a:solidFill>
                  <a:srgbClr val="000000"/>
                </a:solidFill>
                <a:latin typeface="Calibri"/>
              </a:rPr>
              <a:t>Critics: </a:t>
            </a:r>
            <a:r>
              <a:rPr lang="en-US" sz="2000" dirty="0">
                <a:solidFill>
                  <a:srgbClr val="000000"/>
                </a:solidFill>
                <a:latin typeface="Calibri"/>
              </a:rPr>
              <a:t>this gives persons a chance to </a:t>
            </a:r>
            <a:r>
              <a:rPr lang="en-US" sz="2000" b="1" dirty="0">
                <a:solidFill>
                  <a:srgbClr val="000000"/>
                </a:solidFill>
                <a:latin typeface="Calibri"/>
              </a:rPr>
              <a:t>artificially create a connection </a:t>
            </a:r>
            <a:r>
              <a:rPr lang="en-US" sz="2000" dirty="0">
                <a:solidFill>
                  <a:srgbClr val="000000"/>
                </a:solidFill>
                <a:latin typeface="Calibri"/>
              </a:rPr>
              <a:t>with a certain foreign law in order to escape restrictions under their personal law.</a:t>
            </a:r>
            <a:endParaRPr sz="2000"/>
          </a:p>
          <a:p>
            <a:pPr algn="just">
              <a:buSzPct val="45000"/>
              <a:buFont typeface="Arial"/>
              <a:buChar char="•"/>
            </a:pPr>
            <a:r>
              <a:rPr lang="en-US" sz="2000" dirty="0">
                <a:solidFill>
                  <a:srgbClr val="000000"/>
                </a:solidFill>
                <a:latin typeface="Calibri"/>
              </a:rPr>
              <a:t>Unlike entering to contract, these are areas of law where the parties are not free to create a capacity for themselves by acting under different law other than their personal law. </a:t>
            </a:r>
            <a:endParaRPr sz="2000"/>
          </a:p>
          <a:p>
            <a:endParaRPr sz="2000"/>
          </a:p>
        </p:txBody>
      </p:sp>
      <p:sp>
        <p:nvSpPr>
          <p:cNvPr id="119"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120"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121" name="TextShape 5"/>
          <p:cNvSpPr txBox="1"/>
          <p:nvPr/>
        </p:nvSpPr>
        <p:spPr>
          <a:xfrm>
            <a:off x="6553080" y="6356520"/>
            <a:ext cx="2133360" cy="364680"/>
          </a:xfrm>
          <a:prstGeom prst="rect">
            <a:avLst/>
          </a:prstGeom>
        </p:spPr>
        <p:txBody>
          <a:bodyPr lIns="90000" tIns="45000" rIns="90000" bIns="45000"/>
          <a:lstStyle/>
          <a:p>
            <a:fld id="{2191B131-3141-4131-9131-012161C1C111}" type="slidenum">
              <a:rPr lang="en-US" sz="1200">
                <a:solidFill>
                  <a:srgbClr val="8B8B8B"/>
                </a:solidFill>
                <a:latin typeface="Calibri"/>
              </a:rPr>
              <a:pPr/>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extShape 1"/>
          <p:cNvSpPr txBox="1"/>
          <p:nvPr/>
        </p:nvSpPr>
        <p:spPr>
          <a:xfrm>
            <a:off x="457200" y="274680"/>
            <a:ext cx="8229240" cy="1142640"/>
          </a:xfrm>
          <a:prstGeom prst="rect">
            <a:avLst/>
          </a:prstGeom>
        </p:spPr>
      </p:sp>
      <p:sp>
        <p:nvSpPr>
          <p:cNvPr id="123" name="TextShape 2"/>
          <p:cNvSpPr txBox="1"/>
          <p:nvPr/>
        </p:nvSpPr>
        <p:spPr>
          <a:xfrm>
            <a:off x="381000" y="0"/>
            <a:ext cx="8229240" cy="685800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2400" b="1" dirty="0">
                <a:solidFill>
                  <a:srgbClr val="000000"/>
                </a:solidFill>
                <a:latin typeface="Calibri"/>
              </a:rPr>
              <a:t>2</a:t>
            </a:r>
            <a:r>
              <a:rPr lang="en-US" sz="2400" b="1" dirty="0">
                <a:solidFill>
                  <a:srgbClr val="FF0000"/>
                </a:solidFill>
                <a:latin typeface="Calibri"/>
              </a:rPr>
              <a:t>.  Consent and its vices</a:t>
            </a:r>
            <a:endParaRPr sz="2400">
              <a:solidFill>
                <a:srgbClr val="FF0000"/>
              </a:solidFill>
            </a:endParaRPr>
          </a:p>
          <a:p>
            <a:pPr>
              <a:buSzPct val="45000"/>
              <a:buFont typeface="Arial"/>
              <a:buChar char="•"/>
            </a:pPr>
            <a:r>
              <a:rPr lang="en-US" sz="2400" dirty="0">
                <a:solidFill>
                  <a:srgbClr val="000000"/>
                </a:solidFill>
                <a:latin typeface="Calibri"/>
              </a:rPr>
              <a:t>what law governs whether a valid consent is given or not?</a:t>
            </a:r>
            <a:endParaRPr sz="2400"/>
          </a:p>
          <a:p>
            <a:pPr>
              <a:buSzPct val="45000"/>
              <a:buFont typeface="Arial"/>
              <a:buChar char="•"/>
            </a:pPr>
            <a:r>
              <a:rPr lang="en-US" sz="2400" dirty="0">
                <a:solidFill>
                  <a:srgbClr val="000000"/>
                </a:solidFill>
                <a:latin typeface="Calibri"/>
              </a:rPr>
              <a:t> </a:t>
            </a:r>
            <a:r>
              <a:rPr lang="en-US" sz="2400" b="1" dirty="0">
                <a:solidFill>
                  <a:srgbClr val="000000"/>
                </a:solidFill>
                <a:latin typeface="Calibri"/>
              </a:rPr>
              <a:t>The English </a:t>
            </a:r>
            <a:r>
              <a:rPr lang="en-US" sz="2400" dirty="0">
                <a:solidFill>
                  <a:srgbClr val="000000"/>
                </a:solidFill>
                <a:latin typeface="Calibri"/>
              </a:rPr>
              <a:t>Judges prefer the theory of the </a:t>
            </a:r>
            <a:r>
              <a:rPr lang="en-US" sz="2400" i="1" dirty="0" err="1">
                <a:solidFill>
                  <a:srgbClr val="000000"/>
                </a:solidFill>
                <a:latin typeface="Calibri"/>
              </a:rPr>
              <a:t>lex</a:t>
            </a:r>
            <a:r>
              <a:rPr lang="en-US" sz="2400" i="1" dirty="0">
                <a:solidFill>
                  <a:srgbClr val="000000"/>
                </a:solidFill>
                <a:latin typeface="Calibri"/>
              </a:rPr>
              <a:t> loci </a:t>
            </a:r>
            <a:r>
              <a:rPr lang="en-US" sz="2400" i="1" dirty="0" err="1">
                <a:solidFill>
                  <a:srgbClr val="000000"/>
                </a:solidFill>
                <a:latin typeface="Calibri"/>
              </a:rPr>
              <a:t>contractus</a:t>
            </a:r>
            <a:r>
              <a:rPr lang="en-US" sz="2400" dirty="0">
                <a:solidFill>
                  <a:srgbClr val="000000"/>
                </a:solidFill>
                <a:latin typeface="Calibri"/>
              </a:rPr>
              <a:t>. Therefore, the law of the place where the last act constituting acceptance of the offer is made will be the governing law.</a:t>
            </a:r>
            <a:endParaRPr sz="2400"/>
          </a:p>
          <a:p>
            <a:pPr>
              <a:buSzPct val="45000"/>
              <a:buFont typeface="Arial"/>
              <a:buChar char="•"/>
            </a:pPr>
            <a:r>
              <a:rPr lang="en-US" sz="2400" dirty="0">
                <a:solidFill>
                  <a:srgbClr val="000000"/>
                </a:solidFill>
                <a:latin typeface="Calibri"/>
              </a:rPr>
              <a:t>Under the US 2nd Restatement section 201, the effect of misrepresentation, duress, undue influence and mistake upon a contract are determined by </a:t>
            </a:r>
            <a:r>
              <a:rPr lang="en-US" sz="2400" b="1" dirty="0">
                <a:solidFill>
                  <a:srgbClr val="000000"/>
                </a:solidFill>
                <a:latin typeface="Calibri"/>
              </a:rPr>
              <a:t>the law chosen by the parties</a:t>
            </a:r>
            <a:r>
              <a:rPr lang="en-US" sz="2400" dirty="0">
                <a:solidFill>
                  <a:srgbClr val="000000"/>
                </a:solidFill>
                <a:latin typeface="Calibri"/>
              </a:rPr>
              <a:t>, if they have made an effective choice. </a:t>
            </a:r>
            <a:endParaRPr sz="2400"/>
          </a:p>
          <a:p>
            <a:pPr>
              <a:buSzPct val="45000"/>
              <a:buFont typeface="Arial"/>
              <a:buChar char="•"/>
            </a:pPr>
            <a:r>
              <a:rPr lang="en-US" sz="2400" dirty="0">
                <a:solidFill>
                  <a:srgbClr val="000000"/>
                </a:solidFill>
                <a:latin typeface="Calibri"/>
              </a:rPr>
              <a:t>Otherwise, these questions are determined by the law which has the closest connection to the contract as determined by application of the rule of section 188.</a:t>
            </a:r>
            <a:endParaRPr sz="2400"/>
          </a:p>
          <a:p>
            <a:pPr>
              <a:buSzPct val="45000"/>
              <a:buFont typeface="Arial"/>
              <a:buChar char="•"/>
            </a:pPr>
            <a:r>
              <a:rPr lang="en-US" sz="2400" b="1" dirty="0">
                <a:solidFill>
                  <a:srgbClr val="000000"/>
                </a:solidFill>
                <a:latin typeface="Calibri"/>
              </a:rPr>
              <a:t>Rome Convention </a:t>
            </a:r>
            <a:r>
              <a:rPr lang="en-US" sz="2400" dirty="0">
                <a:solidFill>
                  <a:srgbClr val="000000"/>
                </a:solidFill>
                <a:latin typeface="Calibri"/>
              </a:rPr>
              <a:t>Article 8(1) of the provides that the existence and validity of a contract, or of any term of a contract, must be determined by the putative proper law of the contract (the law which would govern the contract under the Convention if the contract or term were valid). This applies both to questions of essential validity and to questions of formation.</a:t>
            </a:r>
            <a:endParaRPr sz="2400"/>
          </a:p>
          <a:p>
            <a:endParaRPr sz="2400"/>
          </a:p>
        </p:txBody>
      </p:sp>
      <p:sp>
        <p:nvSpPr>
          <p:cNvPr id="124"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125"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126" name="TextShape 5"/>
          <p:cNvSpPr txBox="1"/>
          <p:nvPr/>
        </p:nvSpPr>
        <p:spPr>
          <a:xfrm>
            <a:off x="6553080" y="6356520"/>
            <a:ext cx="2133360" cy="364680"/>
          </a:xfrm>
          <a:prstGeom prst="rect">
            <a:avLst/>
          </a:prstGeom>
        </p:spPr>
        <p:txBody>
          <a:bodyPr lIns="90000" tIns="45000" rIns="90000" bIns="45000"/>
          <a:lstStyle/>
          <a:p>
            <a:fld id="{F1F1C131-7141-4121-A1F1-C161B1819181}" type="slidenum">
              <a:rPr lang="en-US" sz="1200">
                <a:solidFill>
                  <a:srgbClr val="8B8B8B"/>
                </a:solidFill>
                <a:latin typeface="Calibri"/>
              </a:rPr>
              <a:pPr/>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extShape 1"/>
          <p:cNvSpPr txBox="1"/>
          <p:nvPr/>
        </p:nvSpPr>
        <p:spPr>
          <a:xfrm>
            <a:off x="457200" y="274680"/>
            <a:ext cx="8229240" cy="1142640"/>
          </a:xfrm>
          <a:prstGeom prst="rect">
            <a:avLst/>
          </a:prstGeom>
        </p:spPr>
      </p:sp>
      <p:sp>
        <p:nvSpPr>
          <p:cNvPr id="128" name="TextShape 2"/>
          <p:cNvSpPr txBox="1"/>
          <p:nvPr/>
        </p:nvSpPr>
        <p:spPr>
          <a:xfrm>
            <a:off x="457200" y="228600"/>
            <a:ext cx="8229240" cy="632460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2400" dirty="0">
                <a:solidFill>
                  <a:srgbClr val="000000"/>
                </a:solidFill>
                <a:latin typeface="Calibri"/>
              </a:rPr>
              <a:t>Under the Draft Federal Conflict of Laws proclamation ( Art.80(1))</a:t>
            </a:r>
            <a:endParaRPr sz="2400"/>
          </a:p>
          <a:p>
            <a:pPr lvl="1">
              <a:buSzPct val="45000"/>
              <a:buFont typeface="Arial"/>
              <a:buChar char="–"/>
            </a:pPr>
            <a:r>
              <a:rPr lang="en-US" sz="2400" dirty="0">
                <a:solidFill>
                  <a:srgbClr val="000000"/>
                </a:solidFill>
                <a:latin typeface="Calibri"/>
              </a:rPr>
              <a:t>In case of choice by the parties as to the governing law on substantial maters, the same law the formal requirements.</a:t>
            </a:r>
            <a:endParaRPr sz="2400"/>
          </a:p>
          <a:p>
            <a:pPr lvl="1">
              <a:buSzPct val="45000"/>
              <a:buFont typeface="Arial"/>
              <a:buChar char="–"/>
            </a:pPr>
            <a:r>
              <a:rPr lang="en-US" sz="2400" dirty="0">
                <a:solidFill>
                  <a:srgbClr val="000000"/>
                </a:solidFill>
                <a:latin typeface="Calibri"/>
              </a:rPr>
              <a:t> In the absence of choice of the governing law by the parties, the law of the place where the contract is concluded will be the best candidate when it comes to formal requirements.</a:t>
            </a:r>
            <a:endParaRPr sz="2400"/>
          </a:p>
          <a:p>
            <a:pPr lvl="1">
              <a:buSzPct val="45000"/>
              <a:buFont typeface="Arial"/>
              <a:buChar char="–"/>
            </a:pPr>
            <a:r>
              <a:rPr lang="en-US" sz="2400" dirty="0">
                <a:solidFill>
                  <a:srgbClr val="000000"/>
                </a:solidFill>
                <a:latin typeface="Calibri"/>
              </a:rPr>
              <a:t>In case contract between absent parties the contract will be valid if it conforms to the law of any one of the countries involved. ( Art80(2))</a:t>
            </a:r>
            <a:endParaRPr sz="2400"/>
          </a:p>
          <a:p>
            <a:pPr>
              <a:buSzPct val="45000"/>
              <a:buFont typeface="Arial"/>
              <a:buChar char="•"/>
            </a:pPr>
            <a:r>
              <a:rPr lang="en-US" sz="2400" dirty="0">
                <a:solidFill>
                  <a:srgbClr val="000000"/>
                </a:solidFill>
                <a:latin typeface="Calibri"/>
              </a:rPr>
              <a:t>Exception ( Art.80(3): For  consumer contracts, employment contacts  etc. if special form is provided under the rule governing them then that special form must be respected.</a:t>
            </a:r>
            <a:endParaRPr sz="2400"/>
          </a:p>
          <a:p>
            <a:endParaRPr sz="2400"/>
          </a:p>
        </p:txBody>
      </p:sp>
      <p:sp>
        <p:nvSpPr>
          <p:cNvPr id="129"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130"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131" name="TextShape 5"/>
          <p:cNvSpPr txBox="1"/>
          <p:nvPr/>
        </p:nvSpPr>
        <p:spPr>
          <a:xfrm>
            <a:off x="6553080" y="6356520"/>
            <a:ext cx="2133360" cy="364680"/>
          </a:xfrm>
          <a:prstGeom prst="rect">
            <a:avLst/>
          </a:prstGeom>
        </p:spPr>
        <p:txBody>
          <a:bodyPr lIns="90000" tIns="45000" rIns="90000" bIns="45000"/>
          <a:lstStyle/>
          <a:p>
            <a:fld id="{214151D1-9181-4101-8161-D181B191B191}" type="slidenum">
              <a:rPr lang="en-US" sz="1200">
                <a:solidFill>
                  <a:srgbClr val="8B8B8B"/>
                </a:solidFill>
                <a:latin typeface="Calibri"/>
              </a:rPr>
              <a:pPr/>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extShape 1"/>
          <p:cNvSpPr txBox="1"/>
          <p:nvPr/>
        </p:nvSpPr>
        <p:spPr>
          <a:xfrm>
            <a:off x="457200" y="274680"/>
            <a:ext cx="8229240" cy="1142640"/>
          </a:xfrm>
          <a:prstGeom prst="rect">
            <a:avLst/>
          </a:prstGeom>
        </p:spPr>
      </p:sp>
      <p:sp>
        <p:nvSpPr>
          <p:cNvPr id="133" name="TextShape 2"/>
          <p:cNvSpPr txBox="1"/>
          <p:nvPr/>
        </p:nvSpPr>
        <p:spPr>
          <a:xfrm>
            <a:off x="381000" y="0"/>
            <a:ext cx="8229240" cy="662940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2400" b="1" dirty="0">
                <a:solidFill>
                  <a:srgbClr val="000000"/>
                </a:solidFill>
                <a:latin typeface="Calibri"/>
              </a:rPr>
              <a:t>3</a:t>
            </a:r>
            <a:r>
              <a:rPr lang="en-US" sz="2400" b="1" dirty="0">
                <a:solidFill>
                  <a:srgbClr val="FF0000"/>
                </a:solidFill>
                <a:latin typeface="Calibri"/>
              </a:rPr>
              <a:t>.  Illegality of the Object of the Contract</a:t>
            </a:r>
            <a:endParaRPr sz="2400">
              <a:solidFill>
                <a:srgbClr val="FF0000"/>
              </a:solidFill>
            </a:endParaRPr>
          </a:p>
          <a:p>
            <a:pPr>
              <a:buSzPct val="45000"/>
              <a:buFont typeface="Arial"/>
              <a:buChar char="•"/>
            </a:pPr>
            <a:r>
              <a:rPr lang="en-US" sz="2400" dirty="0">
                <a:solidFill>
                  <a:srgbClr val="000000"/>
                </a:solidFill>
                <a:latin typeface="Calibri"/>
              </a:rPr>
              <a:t>The second Restatement of conflict of laws in US section 202,effect of illegality shall be governed by the law chosen by the parties  if they have made one.</a:t>
            </a:r>
            <a:endParaRPr sz="2400"/>
          </a:p>
          <a:p>
            <a:pPr>
              <a:buSzPct val="45000"/>
              <a:buFont typeface="Arial"/>
              <a:buChar char="•"/>
            </a:pPr>
            <a:r>
              <a:rPr lang="en-US" sz="2400" dirty="0">
                <a:solidFill>
                  <a:srgbClr val="000000"/>
                </a:solidFill>
                <a:latin typeface="Calibri"/>
              </a:rPr>
              <a:t> But in the absence of effective choice by the parties the law that has the most significant relation ship with the contract. </a:t>
            </a:r>
            <a:endParaRPr sz="2400"/>
          </a:p>
          <a:p>
            <a:pPr>
              <a:buSzPct val="45000"/>
              <a:buFont typeface="Arial"/>
              <a:buChar char="•"/>
            </a:pPr>
            <a:r>
              <a:rPr lang="en-US" sz="2400" dirty="0">
                <a:solidFill>
                  <a:srgbClr val="000000"/>
                </a:solidFill>
                <a:latin typeface="Calibri"/>
              </a:rPr>
              <a:t>under the English conflict of laws, it is not possible exclusively to refer to the proper law. It is believed to be necessary to take account of other legal systems. </a:t>
            </a:r>
            <a:endParaRPr sz="2400"/>
          </a:p>
          <a:p>
            <a:pPr>
              <a:buSzPct val="45000"/>
              <a:buFont typeface="Arial"/>
              <a:buChar char="•"/>
            </a:pPr>
            <a:r>
              <a:rPr lang="en-US" sz="2400" dirty="0">
                <a:solidFill>
                  <a:srgbClr val="000000"/>
                </a:solidFill>
                <a:latin typeface="Calibri"/>
              </a:rPr>
              <a:t>The contract which is illegal by its proper law cannot be enforced in England. </a:t>
            </a:r>
            <a:endParaRPr sz="2400"/>
          </a:p>
          <a:p>
            <a:pPr>
              <a:buSzPct val="45000"/>
              <a:buFont typeface="Arial"/>
              <a:buChar char="•"/>
            </a:pPr>
            <a:r>
              <a:rPr lang="en-US" sz="2400" dirty="0">
                <a:solidFill>
                  <a:srgbClr val="000000"/>
                </a:solidFill>
                <a:latin typeface="Calibri"/>
              </a:rPr>
              <a:t>Secondly, no action lies in England upon a contract which infringes the distinctive public policy of English law. </a:t>
            </a:r>
            <a:endParaRPr sz="2400"/>
          </a:p>
          <a:p>
            <a:pPr>
              <a:buSzPct val="45000"/>
              <a:buFont typeface="Arial"/>
              <a:buChar char="•"/>
            </a:pPr>
            <a:r>
              <a:rPr lang="en-US" sz="2400" dirty="0">
                <a:solidFill>
                  <a:srgbClr val="000000"/>
                </a:solidFill>
                <a:latin typeface="Calibri"/>
              </a:rPr>
              <a:t>Thirdly, a contract which is valid by its proper law does not become unenforceable in England merely because it is illegal according to the </a:t>
            </a:r>
            <a:r>
              <a:rPr lang="en-US" sz="2400" i="1" dirty="0" err="1">
                <a:solidFill>
                  <a:srgbClr val="000000"/>
                </a:solidFill>
                <a:latin typeface="Calibri"/>
              </a:rPr>
              <a:t>lex</a:t>
            </a:r>
            <a:r>
              <a:rPr lang="en-US" sz="2400" i="1" dirty="0">
                <a:solidFill>
                  <a:srgbClr val="000000"/>
                </a:solidFill>
                <a:latin typeface="Calibri"/>
              </a:rPr>
              <a:t> loci </a:t>
            </a:r>
            <a:r>
              <a:rPr lang="en-US" sz="2400" i="1" dirty="0" err="1">
                <a:solidFill>
                  <a:srgbClr val="000000"/>
                </a:solidFill>
                <a:latin typeface="Calibri"/>
              </a:rPr>
              <a:t>contractus</a:t>
            </a:r>
            <a:r>
              <a:rPr lang="en-US" sz="2400" dirty="0">
                <a:solidFill>
                  <a:srgbClr val="000000"/>
                </a:solidFill>
                <a:latin typeface="Calibri"/>
              </a:rPr>
              <a:t>. </a:t>
            </a:r>
            <a:endParaRPr sz="2400"/>
          </a:p>
        </p:txBody>
      </p:sp>
      <p:sp>
        <p:nvSpPr>
          <p:cNvPr id="134"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135"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136" name="TextShape 5"/>
          <p:cNvSpPr txBox="1"/>
          <p:nvPr/>
        </p:nvSpPr>
        <p:spPr>
          <a:xfrm>
            <a:off x="6553080" y="6356520"/>
            <a:ext cx="2133360" cy="364680"/>
          </a:xfrm>
          <a:prstGeom prst="rect">
            <a:avLst/>
          </a:prstGeom>
        </p:spPr>
        <p:txBody>
          <a:bodyPr lIns="90000" tIns="45000" rIns="90000" bIns="45000"/>
          <a:lstStyle/>
          <a:p>
            <a:fld id="{61819101-B1A1-4131-9141-A1D181C171D1}" type="slidenum">
              <a:rPr lang="en-US" sz="1200">
                <a:solidFill>
                  <a:srgbClr val="8B8B8B"/>
                </a:solidFill>
                <a:latin typeface="Calibri"/>
              </a:rPr>
              <a:pPr/>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extShape 1"/>
          <p:cNvSpPr txBox="1"/>
          <p:nvPr/>
        </p:nvSpPr>
        <p:spPr>
          <a:xfrm>
            <a:off x="457200" y="274680"/>
            <a:ext cx="8229240" cy="1142640"/>
          </a:xfrm>
          <a:prstGeom prst="rect">
            <a:avLst/>
          </a:prstGeom>
        </p:spPr>
        <p:txBody>
          <a:bodyPr lIns="90000" tIns="45000" rIns="90000" bIns="45000"/>
          <a:lstStyle/>
          <a:p>
            <a:pPr algn="ctr"/>
            <a:r>
              <a:rPr lang="en-US" sz="4400" b="1" dirty="0">
                <a:solidFill>
                  <a:srgbClr val="FF0000"/>
                </a:solidFill>
                <a:latin typeface="Calibri"/>
              </a:rPr>
              <a:t>5.3. Protected Contracts</a:t>
            </a:r>
            <a:endParaRPr>
              <a:solidFill>
                <a:srgbClr val="FF0000"/>
              </a:solidFill>
            </a:endParaRPr>
          </a:p>
        </p:txBody>
      </p:sp>
      <p:sp>
        <p:nvSpPr>
          <p:cNvPr id="138" name="TextShape 2"/>
          <p:cNvSpPr txBox="1"/>
          <p:nvPr/>
        </p:nvSpPr>
        <p:spPr>
          <a:xfrm>
            <a:off x="381000" y="1143000"/>
            <a:ext cx="8229240" cy="4267200"/>
          </a:xfrm>
          <a:prstGeom prst="rect">
            <a:avLst/>
          </a:prstGeom>
          <a:solidFill>
            <a:srgbClr val="00B050"/>
          </a:solidFill>
          <a:ln>
            <a:solidFill>
              <a:srgbClr val="FF0000"/>
            </a:solidFill>
          </a:ln>
        </p:spPr>
        <p:txBody>
          <a:bodyPr lIns="90000" tIns="45000" rIns="90000" bIns="45000"/>
          <a:lstStyle/>
          <a:p>
            <a:endParaRPr/>
          </a:p>
          <a:p>
            <a:pPr>
              <a:buSzPct val="45000"/>
              <a:buFont typeface="Arial"/>
              <a:buChar char="•"/>
            </a:pPr>
            <a:r>
              <a:rPr lang="en-US" sz="3200" dirty="0">
                <a:solidFill>
                  <a:srgbClr val="000000"/>
                </a:solidFill>
                <a:latin typeface="Calibri"/>
              </a:rPr>
              <a:t>What are protected Contracts?</a:t>
            </a:r>
            <a:endParaRPr/>
          </a:p>
          <a:p>
            <a:pPr>
              <a:buSzPct val="45000"/>
              <a:buFont typeface="Arial"/>
              <a:buChar char="•"/>
            </a:pPr>
            <a:r>
              <a:rPr lang="en-US" sz="3200" dirty="0">
                <a:solidFill>
                  <a:srgbClr val="000000"/>
                </a:solidFill>
                <a:latin typeface="Calibri"/>
              </a:rPr>
              <a:t>In some contracts no equal bargaining power between parties and requires some protection for the weak. Such contracts are called protected contracts.</a:t>
            </a:r>
            <a:endParaRPr/>
          </a:p>
          <a:p>
            <a:pPr>
              <a:buSzPct val="45000"/>
              <a:buFont typeface="Arial"/>
              <a:buChar char="•"/>
            </a:pPr>
            <a:r>
              <a:rPr lang="en-US" sz="3200" dirty="0" err="1">
                <a:solidFill>
                  <a:srgbClr val="000000"/>
                </a:solidFill>
                <a:latin typeface="Calibri"/>
              </a:rPr>
              <a:t>Eg</a:t>
            </a:r>
            <a:r>
              <a:rPr lang="en-US" sz="3200" dirty="0">
                <a:solidFill>
                  <a:srgbClr val="000000"/>
                </a:solidFill>
                <a:latin typeface="Calibri"/>
              </a:rPr>
              <a:t>. Employment, and consumer contracts.</a:t>
            </a:r>
            <a:endParaRPr/>
          </a:p>
        </p:txBody>
      </p:sp>
      <p:sp>
        <p:nvSpPr>
          <p:cNvPr id="139"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140"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141" name="TextShape 5"/>
          <p:cNvSpPr txBox="1"/>
          <p:nvPr/>
        </p:nvSpPr>
        <p:spPr>
          <a:xfrm>
            <a:off x="6553080" y="6356520"/>
            <a:ext cx="2133360" cy="364680"/>
          </a:xfrm>
          <a:prstGeom prst="rect">
            <a:avLst/>
          </a:prstGeom>
        </p:spPr>
        <p:txBody>
          <a:bodyPr lIns="90000" tIns="45000" rIns="90000" bIns="45000"/>
          <a:lstStyle/>
          <a:p>
            <a:fld id="{B18141D1-B141-4131-A181-C1C1418181B1}" type="slidenum">
              <a:rPr lang="en-US" sz="1200">
                <a:solidFill>
                  <a:srgbClr val="8B8B8B"/>
                </a:solidFill>
                <a:latin typeface="Calibri"/>
              </a:rPr>
              <a:pPr/>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extShape 1"/>
          <p:cNvSpPr txBox="1"/>
          <p:nvPr/>
        </p:nvSpPr>
        <p:spPr>
          <a:xfrm>
            <a:off x="457200" y="274680"/>
            <a:ext cx="8229240" cy="1142640"/>
          </a:xfrm>
          <a:prstGeom prst="rect">
            <a:avLst/>
          </a:prstGeom>
        </p:spPr>
      </p:sp>
      <p:sp>
        <p:nvSpPr>
          <p:cNvPr id="143" name="TextShape 2"/>
          <p:cNvSpPr txBox="1"/>
          <p:nvPr/>
        </p:nvSpPr>
        <p:spPr>
          <a:xfrm>
            <a:off x="533400" y="0"/>
            <a:ext cx="8229240" cy="662940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2400" b="1" dirty="0">
                <a:solidFill>
                  <a:srgbClr val="FF0000"/>
                </a:solidFill>
                <a:latin typeface="Calibri"/>
              </a:rPr>
              <a:t>Consumer Contracts</a:t>
            </a:r>
            <a:endParaRPr sz="2400">
              <a:solidFill>
                <a:srgbClr val="FF0000"/>
              </a:solidFill>
            </a:endParaRPr>
          </a:p>
          <a:p>
            <a:pPr>
              <a:buSzPct val="45000"/>
              <a:buFont typeface="Arial"/>
              <a:buChar char="•"/>
            </a:pPr>
            <a:r>
              <a:rPr lang="en-US" sz="2400" b="1" dirty="0">
                <a:solidFill>
                  <a:srgbClr val="000000"/>
                </a:solidFill>
                <a:latin typeface="Calibri"/>
              </a:rPr>
              <a:t> Under Rome Convention </a:t>
            </a:r>
            <a:r>
              <a:rPr lang="en-US" sz="2400" dirty="0">
                <a:solidFill>
                  <a:srgbClr val="000000"/>
                </a:solidFill>
                <a:latin typeface="Calibri"/>
              </a:rPr>
              <a:t>protected consumer contract (within the scope of Article 5), three  special choice-of-law rules apply. </a:t>
            </a:r>
            <a:endParaRPr sz="2400"/>
          </a:p>
          <a:p>
            <a:pPr lvl="1">
              <a:buSzPct val="45000"/>
              <a:buFont typeface="Arial"/>
              <a:buChar char="–"/>
            </a:pPr>
            <a:r>
              <a:rPr lang="en-US" sz="2400" dirty="0">
                <a:solidFill>
                  <a:srgbClr val="000000"/>
                </a:solidFill>
                <a:latin typeface="Calibri"/>
              </a:rPr>
              <a:t>Firstly, by Article 5(3), in the absence of an express or implied choice of law by the parties in accordance with Article 3, the law of the consumer’s habitual residence becomes the proper law.</a:t>
            </a:r>
            <a:endParaRPr sz="2400"/>
          </a:p>
          <a:p>
            <a:pPr lvl="1">
              <a:buSzPct val="45000"/>
              <a:buFont typeface="Arial"/>
              <a:buChar char="–"/>
            </a:pPr>
            <a:r>
              <a:rPr lang="en-US" sz="2400" dirty="0">
                <a:solidFill>
                  <a:srgbClr val="000000"/>
                </a:solidFill>
                <a:latin typeface="Calibri"/>
              </a:rPr>
              <a:t>Secondly, by Article 5(2), if there is an express or implied choice of law by the parties in accordance with Article 3, the choice remains effective to designate the proper law, but the proper law operates subject to the mandatory rules for the protection of the consumer as a weaker party contained in the law of his habitual residence. </a:t>
            </a:r>
            <a:endParaRPr sz="2400"/>
          </a:p>
          <a:p>
            <a:pPr lvl="1">
              <a:buSzPct val="45000"/>
              <a:buFont typeface="Arial"/>
              <a:buChar char="–"/>
            </a:pPr>
            <a:r>
              <a:rPr lang="en-US" sz="2400" dirty="0">
                <a:solidFill>
                  <a:srgbClr val="000000"/>
                </a:solidFill>
                <a:latin typeface="Calibri"/>
              </a:rPr>
              <a:t>Thirdly, by Article 9(5), the formal validity of a protected consumer contract is governed exclusively by the law of the consumer’s habitual residence. </a:t>
            </a:r>
            <a:endParaRPr sz="2400"/>
          </a:p>
          <a:p>
            <a:endParaRPr sz="2400"/>
          </a:p>
        </p:txBody>
      </p:sp>
      <p:sp>
        <p:nvSpPr>
          <p:cNvPr id="144"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145"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146" name="TextShape 5"/>
          <p:cNvSpPr txBox="1"/>
          <p:nvPr/>
        </p:nvSpPr>
        <p:spPr>
          <a:xfrm>
            <a:off x="6553080" y="6356520"/>
            <a:ext cx="2133360" cy="364680"/>
          </a:xfrm>
          <a:prstGeom prst="rect">
            <a:avLst/>
          </a:prstGeom>
        </p:spPr>
        <p:txBody>
          <a:bodyPr lIns="90000" tIns="45000" rIns="90000" bIns="45000"/>
          <a:lstStyle/>
          <a:p>
            <a:fld id="{017131B1-5131-4191-8141-C1C161719121}" type="slidenum">
              <a:rPr lang="en-US" sz="1200">
                <a:solidFill>
                  <a:srgbClr val="8B8B8B"/>
                </a:solidFill>
                <a:latin typeface="Calibri"/>
              </a:rPr>
              <a:pPr/>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TextShape 1"/>
          <p:cNvSpPr txBox="1"/>
          <p:nvPr/>
        </p:nvSpPr>
        <p:spPr>
          <a:xfrm>
            <a:off x="457200" y="274680"/>
            <a:ext cx="8229240" cy="1142640"/>
          </a:xfrm>
          <a:prstGeom prst="rect">
            <a:avLst/>
          </a:prstGeom>
        </p:spPr>
      </p:sp>
      <p:sp>
        <p:nvSpPr>
          <p:cNvPr id="148" name="TextShape 2"/>
          <p:cNvSpPr txBox="1"/>
          <p:nvPr/>
        </p:nvSpPr>
        <p:spPr>
          <a:xfrm>
            <a:off x="381000" y="0"/>
            <a:ext cx="8229240" cy="655320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2800" b="1" dirty="0">
                <a:solidFill>
                  <a:srgbClr val="FF0000"/>
                </a:solidFill>
                <a:latin typeface="Calibri"/>
              </a:rPr>
              <a:t>Individual Contracts of Employment</a:t>
            </a:r>
            <a:endParaRPr sz="2800">
              <a:solidFill>
                <a:srgbClr val="FF0000"/>
              </a:solidFill>
            </a:endParaRPr>
          </a:p>
          <a:p>
            <a:pPr>
              <a:buSzPct val="45000"/>
              <a:buFont typeface="Arial"/>
              <a:buChar char="•"/>
            </a:pPr>
            <a:r>
              <a:rPr lang="en-US" sz="2800" b="1" dirty="0">
                <a:solidFill>
                  <a:srgbClr val="000000"/>
                </a:solidFill>
                <a:latin typeface="Calibri"/>
              </a:rPr>
              <a:t>Rome convention</a:t>
            </a:r>
            <a:r>
              <a:rPr lang="en-US" sz="2800" dirty="0">
                <a:solidFill>
                  <a:srgbClr val="000000"/>
                </a:solidFill>
                <a:latin typeface="Calibri"/>
              </a:rPr>
              <a:t> under Article 6(2) determines the proper law of an employment contract in the absence of a choice of law made by the parties in accordance with Article 3. </a:t>
            </a:r>
            <a:endParaRPr sz="2800"/>
          </a:p>
          <a:p>
            <a:pPr>
              <a:buSzPct val="45000"/>
              <a:buFont typeface="Arial"/>
              <a:buChar char="•"/>
            </a:pPr>
            <a:r>
              <a:rPr lang="en-US" sz="2800" dirty="0">
                <a:solidFill>
                  <a:srgbClr val="000000"/>
                </a:solidFill>
                <a:latin typeface="Calibri"/>
              </a:rPr>
              <a:t>The primary rule, laid down by Article 6(2)(a), is that the proper law is that of the country in which the employee habitually carries out his work in performance of the contract, even if he is temporarily employed in another country. </a:t>
            </a:r>
            <a:endParaRPr sz="2800"/>
          </a:p>
          <a:p>
            <a:pPr>
              <a:buSzPct val="45000"/>
              <a:buFont typeface="Arial"/>
              <a:buChar char="•"/>
            </a:pPr>
            <a:r>
              <a:rPr lang="en-US" sz="2800" dirty="0">
                <a:solidFill>
                  <a:srgbClr val="000000"/>
                </a:solidFill>
                <a:latin typeface="Calibri"/>
              </a:rPr>
              <a:t>But if the employee does not habitually carry out his work in any one country, Article 6(2)(b) refers instead to the law of the country in which the place of business through which he was engaged is situated. </a:t>
            </a:r>
            <a:endParaRPr sz="2800"/>
          </a:p>
        </p:txBody>
      </p:sp>
      <p:sp>
        <p:nvSpPr>
          <p:cNvPr id="149"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150"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151" name="TextShape 5"/>
          <p:cNvSpPr txBox="1"/>
          <p:nvPr/>
        </p:nvSpPr>
        <p:spPr>
          <a:xfrm>
            <a:off x="6553080" y="6356520"/>
            <a:ext cx="2133360" cy="364680"/>
          </a:xfrm>
          <a:prstGeom prst="rect">
            <a:avLst/>
          </a:prstGeom>
        </p:spPr>
        <p:txBody>
          <a:bodyPr lIns="90000" tIns="45000" rIns="90000" bIns="45000"/>
          <a:lstStyle/>
          <a:p>
            <a:fld id="{91219151-9141-41F1-B1E1-316151E19151}" type="slidenum">
              <a:rPr lang="en-US" sz="1200">
                <a:solidFill>
                  <a:srgbClr val="8B8B8B"/>
                </a:solidFill>
                <a:latin typeface="Calibri"/>
              </a:rPr>
              <a:pPr/>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TextShape 1"/>
          <p:cNvSpPr txBox="1"/>
          <p:nvPr/>
        </p:nvSpPr>
        <p:spPr>
          <a:xfrm>
            <a:off x="457200" y="274680"/>
            <a:ext cx="8229240" cy="1142640"/>
          </a:xfrm>
          <a:prstGeom prst="rect">
            <a:avLst/>
          </a:prstGeom>
        </p:spPr>
      </p:sp>
      <p:sp>
        <p:nvSpPr>
          <p:cNvPr id="153" name="TextShape 2"/>
          <p:cNvSpPr txBox="1"/>
          <p:nvPr/>
        </p:nvSpPr>
        <p:spPr>
          <a:xfrm>
            <a:off x="381000" y="228600"/>
            <a:ext cx="8229240" cy="632460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2400" b="1" dirty="0">
                <a:solidFill>
                  <a:srgbClr val="FF0000"/>
                </a:solidFill>
                <a:latin typeface="Calibri"/>
              </a:rPr>
              <a:t>Rules governing protected contracts  Under the Federal Draft Conflict of Laws</a:t>
            </a:r>
            <a:endParaRPr sz="2400">
              <a:solidFill>
                <a:srgbClr val="FF0000"/>
              </a:solidFill>
            </a:endParaRPr>
          </a:p>
          <a:p>
            <a:pPr>
              <a:buSzPct val="45000"/>
              <a:buFont typeface="Arial"/>
              <a:buChar char="•"/>
            </a:pPr>
            <a:r>
              <a:rPr lang="en-US" sz="2400" b="1" dirty="0">
                <a:solidFill>
                  <a:srgbClr val="FF0000"/>
                </a:solidFill>
                <a:latin typeface="Calibri"/>
              </a:rPr>
              <a:t>A. Consumer contracts</a:t>
            </a:r>
            <a:endParaRPr sz="2400">
              <a:solidFill>
                <a:srgbClr val="FF0000"/>
              </a:solidFill>
            </a:endParaRPr>
          </a:p>
          <a:p>
            <a:pPr>
              <a:buSzPct val="45000"/>
              <a:buFont typeface="Arial"/>
              <a:buChar char="•"/>
            </a:pPr>
            <a:r>
              <a:rPr lang="en-US" sz="2400" dirty="0">
                <a:solidFill>
                  <a:srgbClr val="000000"/>
                </a:solidFill>
                <a:latin typeface="Calibri"/>
              </a:rPr>
              <a:t>Definition  consumer contracts Art. 76</a:t>
            </a:r>
            <a:endParaRPr sz="2400"/>
          </a:p>
          <a:p>
            <a:pPr>
              <a:buSzPct val="45000"/>
              <a:buFont typeface="Arial"/>
              <a:buChar char="•"/>
            </a:pPr>
            <a:r>
              <a:rPr lang="en-US" sz="2400" b="1" dirty="0">
                <a:solidFill>
                  <a:srgbClr val="000000"/>
                </a:solidFill>
                <a:latin typeface="Calibri"/>
              </a:rPr>
              <a:t>Consumer contracts </a:t>
            </a:r>
            <a:r>
              <a:rPr lang="en-US" sz="2400" dirty="0">
                <a:solidFill>
                  <a:srgbClr val="000000"/>
                </a:solidFill>
                <a:latin typeface="Calibri"/>
              </a:rPr>
              <a:t>are contracts for goods and service which are for the current personal or family consumption or use of a consumer and which are not connected with the professional or business activity of the consumer</a:t>
            </a:r>
            <a:endParaRPr sz="2400"/>
          </a:p>
          <a:p>
            <a:pPr>
              <a:buSzPct val="45000"/>
              <a:buFont typeface="Arial"/>
              <a:buChar char="•"/>
            </a:pPr>
            <a:r>
              <a:rPr lang="en-US" sz="2400" b="1" dirty="0">
                <a:solidFill>
                  <a:srgbClr val="000000"/>
                </a:solidFill>
                <a:latin typeface="Calibri"/>
              </a:rPr>
              <a:t>Applicable law</a:t>
            </a:r>
            <a:r>
              <a:rPr lang="en-US" sz="2400" dirty="0">
                <a:solidFill>
                  <a:srgbClr val="000000"/>
                </a:solidFill>
                <a:latin typeface="Calibri"/>
              </a:rPr>
              <a:t>, Law of the consumers domicile.</a:t>
            </a:r>
            <a:endParaRPr sz="2400"/>
          </a:p>
          <a:p>
            <a:pPr>
              <a:buSzPct val="45000"/>
              <a:buFont typeface="Arial"/>
              <a:buChar char="•"/>
            </a:pPr>
            <a:r>
              <a:rPr lang="en-US" sz="2400" dirty="0">
                <a:solidFill>
                  <a:srgbClr val="000000"/>
                </a:solidFill>
                <a:latin typeface="Calibri"/>
              </a:rPr>
              <a:t>The draft proclamation prohibits any agreement that makes a governing law other than the law of domicile. This is what is provided under Art.76 (2) of the draft conflict of law proclamation.</a:t>
            </a:r>
            <a:endParaRPr sz="2400"/>
          </a:p>
          <a:p>
            <a:endParaRPr sz="2400"/>
          </a:p>
          <a:p>
            <a:endParaRPr sz="2400"/>
          </a:p>
        </p:txBody>
      </p:sp>
      <p:sp>
        <p:nvSpPr>
          <p:cNvPr id="154"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155"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156" name="TextShape 5"/>
          <p:cNvSpPr txBox="1"/>
          <p:nvPr/>
        </p:nvSpPr>
        <p:spPr>
          <a:xfrm>
            <a:off x="6553080" y="6356520"/>
            <a:ext cx="2133360" cy="364680"/>
          </a:xfrm>
          <a:prstGeom prst="rect">
            <a:avLst/>
          </a:prstGeom>
        </p:spPr>
        <p:txBody>
          <a:bodyPr lIns="90000" tIns="45000" rIns="90000" bIns="45000"/>
          <a:lstStyle/>
          <a:p>
            <a:fld id="{9161B181-A1D1-4111-B101-E17111F1E1D1}" type="slidenum">
              <a:rPr lang="en-US" sz="1200">
                <a:solidFill>
                  <a:srgbClr val="8B8B8B"/>
                </a:solidFill>
                <a:latin typeface="Calibri"/>
              </a:rPr>
              <a:pPr/>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TextShape 1"/>
          <p:cNvSpPr txBox="1"/>
          <p:nvPr/>
        </p:nvSpPr>
        <p:spPr>
          <a:xfrm>
            <a:off x="457200" y="274680"/>
            <a:ext cx="8229240" cy="1142640"/>
          </a:xfrm>
          <a:prstGeom prst="rect">
            <a:avLst/>
          </a:prstGeom>
        </p:spPr>
      </p:sp>
      <p:sp>
        <p:nvSpPr>
          <p:cNvPr id="158" name="TextShape 2"/>
          <p:cNvSpPr txBox="1"/>
          <p:nvPr/>
        </p:nvSpPr>
        <p:spPr>
          <a:xfrm>
            <a:off x="457200" y="990600"/>
            <a:ext cx="8229240" cy="5135160"/>
          </a:xfrm>
          <a:prstGeom prst="rect">
            <a:avLst/>
          </a:prstGeom>
          <a:solidFill>
            <a:srgbClr val="00B050"/>
          </a:solidFill>
          <a:ln>
            <a:solidFill>
              <a:srgbClr val="FF0000"/>
            </a:solidFill>
          </a:ln>
        </p:spPr>
        <p:txBody>
          <a:bodyPr lIns="90000" tIns="45000" rIns="90000" bIns="45000"/>
          <a:lstStyle/>
          <a:p>
            <a:pPr>
              <a:buSzPct val="45000"/>
              <a:buFont typeface="Arial"/>
              <a:buChar char="•"/>
            </a:pPr>
            <a:r>
              <a:rPr lang="en-US" sz="3200" b="1" dirty="0">
                <a:solidFill>
                  <a:srgbClr val="000000"/>
                </a:solidFill>
                <a:latin typeface="Calibri"/>
              </a:rPr>
              <a:t>B. </a:t>
            </a:r>
            <a:r>
              <a:rPr lang="en-US" sz="3200" b="1" dirty="0">
                <a:solidFill>
                  <a:srgbClr val="FF0000"/>
                </a:solidFill>
                <a:latin typeface="Calibri"/>
              </a:rPr>
              <a:t>employment Contracts </a:t>
            </a:r>
            <a:r>
              <a:rPr lang="en-US" sz="3200" b="1" dirty="0">
                <a:solidFill>
                  <a:srgbClr val="000000"/>
                </a:solidFill>
                <a:latin typeface="Calibri"/>
              </a:rPr>
              <a:t>, </a:t>
            </a:r>
            <a:r>
              <a:rPr lang="en-US" sz="3200" dirty="0">
                <a:solidFill>
                  <a:srgbClr val="000000"/>
                </a:solidFill>
                <a:latin typeface="Calibri"/>
              </a:rPr>
              <a:t>Art.77. </a:t>
            </a:r>
            <a:endParaRPr/>
          </a:p>
          <a:p>
            <a:pPr>
              <a:buSzPct val="45000"/>
              <a:buFont typeface="Arial"/>
              <a:buChar char="•"/>
            </a:pPr>
            <a:r>
              <a:rPr lang="en-US" sz="3200" dirty="0">
                <a:solidFill>
                  <a:srgbClr val="000000"/>
                </a:solidFill>
                <a:latin typeface="Calibri"/>
              </a:rPr>
              <a:t>In similar way the Rome Convention, the draft law gives priority to </a:t>
            </a:r>
            <a:r>
              <a:rPr lang="en-US" sz="3200" b="1" dirty="0">
                <a:solidFill>
                  <a:srgbClr val="000000"/>
                </a:solidFill>
                <a:latin typeface="Calibri"/>
              </a:rPr>
              <a:t>the habitual place of work of the employee.</a:t>
            </a:r>
            <a:r>
              <a:rPr lang="en-US" sz="3200" dirty="0">
                <a:solidFill>
                  <a:srgbClr val="000000"/>
                </a:solidFill>
                <a:latin typeface="Calibri"/>
              </a:rPr>
              <a:t> This provision seems to have been inspired by the policy of protection to the weaker party in the contract, </a:t>
            </a:r>
            <a:r>
              <a:rPr lang="en-US" sz="3200" dirty="0" err="1">
                <a:solidFill>
                  <a:srgbClr val="000000"/>
                </a:solidFill>
                <a:latin typeface="Calibri"/>
              </a:rPr>
              <a:t>i.e</a:t>
            </a:r>
            <a:r>
              <a:rPr lang="en-US" sz="3200" dirty="0">
                <a:solidFill>
                  <a:srgbClr val="000000"/>
                </a:solidFill>
                <a:latin typeface="Calibri"/>
              </a:rPr>
              <a:t>, and the employee.</a:t>
            </a:r>
            <a:endParaRPr/>
          </a:p>
        </p:txBody>
      </p:sp>
      <p:sp>
        <p:nvSpPr>
          <p:cNvPr id="159" name="TextShape 3"/>
          <p:cNvSpPr txBox="1"/>
          <p:nvPr/>
        </p:nvSpPr>
        <p:spPr>
          <a:xfrm>
            <a:off x="457200" y="6356520"/>
            <a:ext cx="2133360" cy="364680"/>
          </a:xfrm>
          <a:prstGeom prst="rect">
            <a:avLst/>
          </a:prstGeom>
        </p:spPr>
        <p:txBody>
          <a:bodyPr lIns="90000" tIns="45000" rIns="90000" bIns="45000"/>
          <a:lstStyle/>
          <a:p>
            <a:r>
              <a:rPr lang="en-US" sz="1200">
                <a:solidFill>
                  <a:srgbClr val="8B8B8B"/>
                </a:solidFill>
                <a:latin typeface="Calibri"/>
              </a:rPr>
              <a:t>5/13/12</a:t>
            </a:r>
            <a:endParaRPr/>
          </a:p>
        </p:txBody>
      </p:sp>
      <p:sp>
        <p:nvSpPr>
          <p:cNvPr id="160" name="TextShape 4"/>
          <p:cNvSpPr txBox="1"/>
          <p:nvPr/>
        </p:nvSpPr>
        <p:spPr>
          <a:xfrm>
            <a:off x="3124080" y="6356520"/>
            <a:ext cx="2895120" cy="364680"/>
          </a:xfrm>
          <a:prstGeom prst="rect">
            <a:avLst/>
          </a:prstGeom>
        </p:spPr>
        <p:txBody>
          <a:bodyPr lIns="90000" tIns="45000" rIns="90000" bIns="45000"/>
          <a:lstStyle/>
          <a:p>
            <a:r>
              <a:rPr lang="en-US" sz="1200">
                <a:solidFill>
                  <a:srgbClr val="8B8B8B"/>
                </a:solidFill>
                <a:latin typeface="Calibri"/>
              </a:rPr>
              <a:t>Conflict PPT Part II , Sultan Kassim,  HU COL</a:t>
            </a:r>
            <a:endParaRPr/>
          </a:p>
        </p:txBody>
      </p:sp>
      <p:sp>
        <p:nvSpPr>
          <p:cNvPr id="161" name="TextShape 5"/>
          <p:cNvSpPr txBox="1"/>
          <p:nvPr/>
        </p:nvSpPr>
        <p:spPr>
          <a:xfrm>
            <a:off x="6553080" y="6356520"/>
            <a:ext cx="2133360" cy="364680"/>
          </a:xfrm>
          <a:prstGeom prst="rect">
            <a:avLst/>
          </a:prstGeom>
        </p:spPr>
        <p:txBody>
          <a:bodyPr lIns="90000" tIns="45000" rIns="90000" bIns="45000"/>
          <a:lstStyle/>
          <a:p>
            <a:fld id="{81F13161-2151-41A1-B191-01C12111C191}" type="slidenum">
              <a:rPr lang="en-US" sz="1200">
                <a:solidFill>
                  <a:srgbClr val="8B8B8B"/>
                </a:solidFill>
                <a:latin typeface="Calibri"/>
              </a:rPr>
              <a:pPr/>
              <a:t>31</a:t>
            </a:f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3391</Words>
  <Application>Microsoft Office PowerPoint</Application>
  <PresentationFormat>On-screen Show (4:3)</PresentationFormat>
  <Paragraphs>250</Paragraphs>
  <Slides>31</Slides>
  <Notes>0</Notes>
  <HiddenSlides>0</HiddenSlides>
  <MMClips>0</MMClips>
  <ScaleCrop>false</ScaleCrop>
  <HeadingPairs>
    <vt:vector size="4" baseType="variant">
      <vt:variant>
        <vt:lpstr>Theme</vt:lpstr>
      </vt:variant>
      <vt:variant>
        <vt:i4>2</vt:i4>
      </vt:variant>
      <vt:variant>
        <vt:lpstr>Slide Titles</vt:lpstr>
      </vt:variant>
      <vt:variant>
        <vt:i4>31</vt:i4>
      </vt:variant>
    </vt:vector>
  </HeadingPairs>
  <TitlesOfParts>
    <vt:vector size="33" baseType="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Students Union</dc:creator>
  <cp:lastModifiedBy>Students Union</cp:lastModifiedBy>
  <cp:revision>7</cp:revision>
  <dcterms:modified xsi:type="dcterms:W3CDTF">2017-12-07T17:39:24Z</dcterms:modified>
</cp:coreProperties>
</file>