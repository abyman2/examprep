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9" r:id="rId12"/>
    <p:sldId id="280" r:id="rId13"/>
    <p:sldId id="270" r:id="rId14"/>
    <p:sldId id="271" r:id="rId15"/>
    <p:sldId id="272" r:id="rId16"/>
    <p:sldId id="273" r:id="rId17"/>
    <p:sldId id="274" r:id="rId18"/>
    <p:sldId id="266" r:id="rId19"/>
    <p:sldId id="267" r:id="rId20"/>
    <p:sldId id="268" r:id="rId21"/>
    <p:sldId id="275" r:id="rId22"/>
    <p:sldId id="276" r:id="rId23"/>
    <p:sldId id="277" r:id="rId24"/>
    <p:sldId id="278" r:id="rId25"/>
    <p:sldId id="279"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D810A4-0006-43C8-8570-921FB36520AE}" type="datetimeFigureOut">
              <a:rPr lang="en-US" smtClean="0"/>
              <a:pPr/>
              <a:t>12/7/2017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8B371D-51E7-4255-9FCF-6B6A6B667F65}" type="slidenum">
              <a:rPr lang="en-US" smtClean="0"/>
              <a:pPr/>
              <a:t>‹#›</a:t>
            </a:fld>
            <a:endParaRPr lang="en-US" dirty="0"/>
          </a:p>
        </p:txBody>
      </p:sp>
    </p:spTree>
    <p:extLst>
      <p:ext uri="{BB962C8B-B14F-4D97-AF65-F5344CB8AC3E}">
        <p14:creationId xmlns:p14="http://schemas.microsoft.com/office/powerpoint/2010/main" val="1683404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28B371D-51E7-4255-9FCF-6B6A6B667F65}" type="slidenum">
              <a:rPr lang="en-US" smtClean="0"/>
              <a:pPr/>
              <a:t>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372519C-932C-4BB2-88CC-1D3F2BABBD97}"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F05BAB-2767-4618-BA5C-6A43C2899824}"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B2B1A44-7992-416F-BCA6-A39446A275F4}" type="datetime1">
              <a:rPr lang="en-US" smtClean="0"/>
              <a:pPr/>
              <a:t>12/7/2017</a:t>
            </a:fld>
            <a:endParaRPr lang="en-US" dirty="0"/>
          </a:p>
        </p:txBody>
      </p:sp>
      <p:sp>
        <p:nvSpPr>
          <p:cNvPr id="6" name="Footer Placeholder 5"/>
          <p:cNvSpPr>
            <a:spLocks noGrp="1"/>
          </p:cNvSpPr>
          <p:nvPr>
            <p:ph type="ftr" sz="quarter" idx="11"/>
          </p:nvPr>
        </p:nvSpPr>
        <p:spPr/>
        <p:txBody>
          <a:bodyPr/>
          <a:lstStyle/>
          <a:p>
            <a:r>
              <a:rPr lang="en-US" dirty="0" smtClean="0"/>
              <a:t>Conflict of Laws PPT Chapter Four  Sultan Kassim HU COL</a:t>
            </a:r>
            <a:endParaRPr lang="en-US" dirty="0"/>
          </a:p>
        </p:txBody>
      </p:sp>
      <p:sp>
        <p:nvSpPr>
          <p:cNvPr id="7" name="Slide Number Placeholder 6"/>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2A0F08-D339-439F-A4F0-813BD50C279A}" type="datetime1">
              <a:rPr lang="en-US" smtClean="0"/>
              <a:pPr/>
              <a:t>12/7/2017</a:t>
            </a:fld>
            <a:endParaRPr lang="en-US" dirty="0"/>
          </a:p>
        </p:txBody>
      </p:sp>
      <p:sp>
        <p:nvSpPr>
          <p:cNvPr id="8" name="Footer Placeholder 7"/>
          <p:cNvSpPr>
            <a:spLocks noGrp="1"/>
          </p:cNvSpPr>
          <p:nvPr>
            <p:ph type="ftr" sz="quarter" idx="11"/>
          </p:nvPr>
        </p:nvSpPr>
        <p:spPr/>
        <p:txBody>
          <a:bodyPr/>
          <a:lstStyle/>
          <a:p>
            <a:r>
              <a:rPr lang="en-US" dirty="0" smtClean="0"/>
              <a:t>Conflict of Laws PPT Chapter Four  Sultan Kassim HU COL</a:t>
            </a:r>
            <a:endParaRPr lang="en-US" dirty="0"/>
          </a:p>
        </p:txBody>
      </p:sp>
      <p:sp>
        <p:nvSpPr>
          <p:cNvPr id="9" name="Slide Number Placeholder 8"/>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E696C6-D2D3-4312-98BE-75E11881A0B5}" type="datetime1">
              <a:rPr lang="en-US" smtClean="0"/>
              <a:pPr/>
              <a:t>12/7/2017</a:t>
            </a:fld>
            <a:endParaRPr lang="en-US" dirty="0"/>
          </a:p>
        </p:txBody>
      </p:sp>
      <p:sp>
        <p:nvSpPr>
          <p:cNvPr id="4" name="Footer Placeholder 3"/>
          <p:cNvSpPr>
            <a:spLocks noGrp="1"/>
          </p:cNvSpPr>
          <p:nvPr>
            <p:ph type="ftr" sz="quarter" idx="11"/>
          </p:nvPr>
        </p:nvSpPr>
        <p:spPr/>
        <p:txBody>
          <a:bodyPr/>
          <a:lstStyle/>
          <a:p>
            <a:r>
              <a:rPr lang="en-US" dirty="0" smtClean="0"/>
              <a:t>Conflict of Laws PPT Chapter Four  Sultan Kassim HU COL</a:t>
            </a:r>
            <a:endParaRPr lang="en-US" dirty="0"/>
          </a:p>
        </p:txBody>
      </p:sp>
      <p:sp>
        <p:nvSpPr>
          <p:cNvPr id="5" name="Slide Number Placeholder 4"/>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2F99ED-43DA-4815-8376-00146C082698}" type="datetime1">
              <a:rPr lang="en-US" smtClean="0"/>
              <a:pPr/>
              <a:t>12/7/2017</a:t>
            </a:fld>
            <a:endParaRPr lang="en-US" dirty="0"/>
          </a:p>
        </p:txBody>
      </p:sp>
      <p:sp>
        <p:nvSpPr>
          <p:cNvPr id="3" name="Footer Placeholder 2"/>
          <p:cNvSpPr>
            <a:spLocks noGrp="1"/>
          </p:cNvSpPr>
          <p:nvPr>
            <p:ph type="ftr" sz="quarter" idx="11"/>
          </p:nvPr>
        </p:nvSpPr>
        <p:spPr/>
        <p:txBody>
          <a:bodyPr/>
          <a:lstStyle/>
          <a:p>
            <a:r>
              <a:rPr lang="en-US" dirty="0" smtClean="0"/>
              <a:t>Conflict of Laws PPT Chapter Four  Sultan Kassim HU COL</a:t>
            </a:r>
            <a:endParaRPr lang="en-US" dirty="0"/>
          </a:p>
        </p:txBody>
      </p:sp>
      <p:sp>
        <p:nvSpPr>
          <p:cNvPr id="4" name="Slide Number Placeholder 3"/>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281591-6595-4C33-A905-46613598CF5B}" type="datetime1">
              <a:rPr lang="en-US" smtClean="0"/>
              <a:pPr/>
              <a:t>12/7/2017</a:t>
            </a:fld>
            <a:endParaRPr lang="en-US" dirty="0"/>
          </a:p>
        </p:txBody>
      </p:sp>
      <p:sp>
        <p:nvSpPr>
          <p:cNvPr id="6" name="Footer Placeholder 5"/>
          <p:cNvSpPr>
            <a:spLocks noGrp="1"/>
          </p:cNvSpPr>
          <p:nvPr>
            <p:ph type="ftr" sz="quarter" idx="11"/>
          </p:nvPr>
        </p:nvSpPr>
        <p:spPr/>
        <p:txBody>
          <a:bodyPr/>
          <a:lstStyle/>
          <a:p>
            <a:r>
              <a:rPr lang="en-US" dirty="0" smtClean="0"/>
              <a:t>Conflict of Laws PPT Chapter Four  Sultan Kassim HU COL</a:t>
            </a:r>
            <a:endParaRPr lang="en-US" dirty="0"/>
          </a:p>
        </p:txBody>
      </p:sp>
      <p:sp>
        <p:nvSpPr>
          <p:cNvPr id="7" name="Slide Number Placeholder 6"/>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8A5F8B-E236-42EB-B2FC-0DB19A3CBEFB}" type="datetime1">
              <a:rPr lang="en-US" smtClean="0"/>
              <a:pPr/>
              <a:t>12/7/2017</a:t>
            </a:fld>
            <a:endParaRPr lang="en-US" dirty="0"/>
          </a:p>
        </p:txBody>
      </p:sp>
      <p:sp>
        <p:nvSpPr>
          <p:cNvPr id="6" name="Footer Placeholder 5"/>
          <p:cNvSpPr>
            <a:spLocks noGrp="1"/>
          </p:cNvSpPr>
          <p:nvPr>
            <p:ph type="ftr" sz="quarter" idx="11"/>
          </p:nvPr>
        </p:nvSpPr>
        <p:spPr/>
        <p:txBody>
          <a:bodyPr/>
          <a:lstStyle/>
          <a:p>
            <a:r>
              <a:rPr lang="en-US" dirty="0" smtClean="0"/>
              <a:t>Conflict of Laws PPT Chapter Four  Sultan Kassim HU COL</a:t>
            </a:r>
            <a:endParaRPr lang="en-US" dirty="0"/>
          </a:p>
        </p:txBody>
      </p:sp>
      <p:sp>
        <p:nvSpPr>
          <p:cNvPr id="7" name="Slide Number Placeholder 6"/>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8C5AF3-270B-4470-8D1E-9211C80E415D}"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576D21-1F2B-437B-A8E8-593F979EDB0F}"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6212D-2998-49FE-BF24-868E86076081}" type="datetime1">
              <a:rPr lang="en-US" smtClean="0"/>
              <a:pPr/>
              <a:t>12/7/2017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Conflict of Laws PPT Chapter Four  Sultan Kassim HU COL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471039-8419-46AE-9CDD-41B7699EFAD3}"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289175"/>
          </a:xfrm>
          <a:ln>
            <a:solidFill>
              <a:srgbClr val="FF0000"/>
            </a:solidFill>
          </a:ln>
        </p:spPr>
        <p:txBody>
          <a:bodyPr>
            <a:normAutofit fontScale="90000"/>
          </a:bodyPr>
          <a:lstStyle/>
          <a:p>
            <a:r>
              <a:rPr lang="en-US" dirty="0" smtClean="0">
                <a:solidFill>
                  <a:srgbClr val="00B0F0"/>
                </a:solidFill>
              </a:rPr>
              <a:t>Chapter Four</a:t>
            </a:r>
            <a:br>
              <a:rPr lang="en-US" dirty="0" smtClean="0">
                <a:solidFill>
                  <a:srgbClr val="00B0F0"/>
                </a:solidFill>
              </a:rPr>
            </a:br>
            <a:r>
              <a:rPr lang="en-US" dirty="0" smtClean="0">
                <a:solidFill>
                  <a:srgbClr val="00B0F0"/>
                </a:solidFill>
              </a:rPr>
              <a:t>Recognition and Enforcement of Foreign Judgments and Arbitral Awards </a:t>
            </a:r>
            <a:endParaRPr lang="en-US" dirty="0">
              <a:solidFill>
                <a:srgbClr val="00B0F0"/>
              </a:solidFill>
            </a:endParaRPr>
          </a:p>
        </p:txBody>
      </p:sp>
      <p:sp>
        <p:nvSpPr>
          <p:cNvPr id="3" name="Subtitle 2"/>
          <p:cNvSpPr>
            <a:spLocks noGrp="1"/>
          </p:cNvSpPr>
          <p:nvPr>
            <p:ph type="subTitle" idx="1"/>
          </p:nvPr>
        </p:nvSpPr>
        <p:spPr>
          <a:xfrm>
            <a:off x="1371600" y="4495800"/>
            <a:ext cx="6400800" cy="1143000"/>
          </a:xfrm>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normAutofit fontScale="90000"/>
          </a:bodyPr>
          <a:lstStyle/>
          <a:p>
            <a:r>
              <a:rPr lang="en-US" dirty="0" smtClean="0"/>
              <a:t/>
            </a:r>
            <a:br>
              <a:rPr lang="en-US" dirty="0" smtClean="0"/>
            </a:br>
            <a:r>
              <a:rPr lang="en-US" dirty="0" smtClean="0">
                <a:solidFill>
                  <a:srgbClr val="FF0000"/>
                </a:solidFill>
              </a:rPr>
              <a:t>Introduction</a:t>
            </a:r>
            <a:endParaRPr lang="en-US" dirty="0">
              <a:solidFill>
                <a:srgbClr val="FF0000"/>
              </a:solidFill>
            </a:endParaRPr>
          </a:p>
        </p:txBody>
      </p:sp>
      <p:sp>
        <p:nvSpPr>
          <p:cNvPr id="3" name="Content Placeholder 2"/>
          <p:cNvSpPr>
            <a:spLocks noGrp="1"/>
          </p:cNvSpPr>
          <p:nvPr>
            <p:ph idx="1"/>
          </p:nvPr>
        </p:nvSpPr>
        <p:spPr>
          <a:xfrm>
            <a:off x="457200" y="990600"/>
            <a:ext cx="8229600" cy="4876800"/>
          </a:xfrm>
          <a:solidFill>
            <a:srgbClr val="00B050"/>
          </a:solidFill>
          <a:ln>
            <a:solidFill>
              <a:srgbClr val="FF0000"/>
            </a:solidFill>
          </a:ln>
        </p:spPr>
        <p:txBody>
          <a:bodyPr>
            <a:normAutofit/>
          </a:bodyPr>
          <a:lstStyle/>
          <a:p>
            <a:r>
              <a:rPr lang="en-US" dirty="0" smtClean="0"/>
              <a:t>The third and the last division  of conflict of laws is Recognition and Enforcement of Foreign Judgments and arbitral awards.</a:t>
            </a:r>
          </a:p>
          <a:p>
            <a:r>
              <a:rPr lang="en-US" dirty="0" smtClean="0"/>
              <a:t>The </a:t>
            </a:r>
            <a:r>
              <a:rPr lang="en-US" dirty="0"/>
              <a:t>powers of a court are territorially limited; their judgments have no </a:t>
            </a:r>
            <a:r>
              <a:rPr lang="en-US" dirty="0" smtClean="0"/>
              <a:t>effect beyond </a:t>
            </a:r>
            <a:r>
              <a:rPr lang="en-US" dirty="0"/>
              <a:t>the jurisdiction in which they are given unless other countries agree </a:t>
            </a:r>
            <a:r>
              <a:rPr lang="en-US" dirty="0" smtClean="0"/>
              <a:t>to accept </a:t>
            </a:r>
            <a:r>
              <a:rPr lang="en-US" dirty="0"/>
              <a:t>them.</a:t>
            </a:r>
            <a:endParaRPr lang="en-US" dirty="0" smtClean="0"/>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F9DEB5E8-5028-4FB3-9816-221BDC176B48}" type="datetime1">
              <a:rPr lang="en-US" smtClean="0"/>
              <a:pPr/>
              <a:t>12/7/2017</a:t>
            </a:fld>
            <a:endParaRPr lang="en-US" dirty="0"/>
          </a:p>
        </p:txBody>
      </p:sp>
      <p:sp>
        <p:nvSpPr>
          <p:cNvPr id="5" name="Slide Number Placeholder 4"/>
          <p:cNvSpPr>
            <a:spLocks noGrp="1"/>
          </p:cNvSpPr>
          <p:nvPr>
            <p:ph type="sldNum" sz="quarter" idx="12"/>
          </p:nvPr>
        </p:nvSpPr>
        <p:spPr/>
        <p:txBody>
          <a:bodyPr/>
          <a:lstStyle/>
          <a:p>
            <a:fld id="{98471039-8419-46AE-9CDD-41B7699EFAD3}" type="slidenum">
              <a:rPr lang="en-US" smtClean="0"/>
              <a:pPr/>
              <a:t>2</a:t>
            </a:fld>
            <a:endParaRPr lang="en-US" dirty="0"/>
          </a:p>
        </p:txBody>
      </p:sp>
      <p:sp>
        <p:nvSpPr>
          <p:cNvPr id="6" name="Footer Placeholder 5"/>
          <p:cNvSpPr>
            <a:spLocks noGrp="1"/>
          </p:cNvSpPr>
          <p:nvPr>
            <p:ph type="ftr" sz="quarter" idx="11"/>
          </p:nvPr>
        </p:nvSpPr>
        <p:spPr/>
        <p:txBody>
          <a:bodyPr/>
          <a:lstStyle/>
          <a:p>
            <a:r>
              <a:rPr lang="en-US" dirty="0" smtClean="0"/>
              <a:t>Conflict of Laws PPT Chapter Four  Sultan Kassim HU COL</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a:xfrm>
            <a:off x="533400" y="0"/>
            <a:ext cx="8229600" cy="6172200"/>
          </a:xfrm>
          <a:solidFill>
            <a:srgbClr val="00B050"/>
          </a:solidFill>
          <a:ln>
            <a:solidFill>
              <a:srgbClr val="FF0000"/>
            </a:solidFill>
          </a:ln>
        </p:spPr>
        <p:txBody>
          <a:bodyPr>
            <a:noAutofit/>
          </a:bodyPr>
          <a:lstStyle/>
          <a:p>
            <a:r>
              <a:rPr lang="en-US" sz="2800" dirty="0" smtClean="0"/>
              <a:t>For a case decided in domestic courts, normally, no conditions are expected of such judgment to full fill or to pass for its execution. </a:t>
            </a:r>
          </a:p>
          <a:p>
            <a:r>
              <a:rPr lang="en-US" sz="2800" dirty="0" smtClean="0"/>
              <a:t>On the contrary, no country will simply welcome a judgment rendered abroad and execute without any condition. That, definitely, has to be checked for, for example, its due process and whether it affects any national value or not.</a:t>
            </a:r>
          </a:p>
          <a:p>
            <a:r>
              <a:rPr lang="en-US" sz="2800" dirty="0" smtClean="0"/>
              <a:t>Certain types of judgment, by their nature, only require recognition. These include foreign divorce and nullity decrees. Other judgments may need both recognition and enforcement .But the court may be asked to enforce a foreign judgment, such as a maintenance order, or any judgment for damages.</a:t>
            </a:r>
          </a:p>
          <a:p>
            <a:endParaRPr lang="en-US" sz="2800" dirty="0"/>
          </a:p>
        </p:txBody>
      </p:sp>
      <p:sp>
        <p:nvSpPr>
          <p:cNvPr id="4" name="Date Placeholder 3"/>
          <p:cNvSpPr>
            <a:spLocks noGrp="1"/>
          </p:cNvSpPr>
          <p:nvPr>
            <p:ph type="dt" sz="half" idx="10"/>
          </p:nvPr>
        </p:nvSpPr>
        <p:spPr>
          <a:xfrm>
            <a:off x="762000" y="6172200"/>
            <a:ext cx="2133600" cy="365125"/>
          </a:xfrm>
        </p:spPr>
        <p:txBody>
          <a:bodyPr/>
          <a:lstStyle/>
          <a:p>
            <a:fld id="{17D9D431-4BE9-44F1-854E-114F0A4686F8}"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a:t>
            </a:r>
            <a:r>
              <a:rPr lang="en-US" dirty="0" err="1" smtClean="0"/>
              <a:t>Kassim</a:t>
            </a:r>
            <a:r>
              <a:rPr lang="en-US" dirty="0" smtClean="0"/>
              <a:t>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a:xfrm>
            <a:off x="457200" y="304800"/>
            <a:ext cx="8229600" cy="4724401"/>
          </a:xfrm>
          <a:solidFill>
            <a:srgbClr val="00B050"/>
          </a:solidFill>
          <a:ln>
            <a:solidFill>
              <a:srgbClr val="FF0000"/>
            </a:solidFill>
          </a:ln>
        </p:spPr>
        <p:txBody>
          <a:bodyPr/>
          <a:lstStyle/>
          <a:p>
            <a:r>
              <a:rPr lang="en-US" dirty="0" smtClean="0"/>
              <a:t>Unlike those of choice of juridical jurisdiction and choice of law rules, Ethiopia has got some rules of execution of foreign judgments ad arbitral awards.</a:t>
            </a:r>
          </a:p>
          <a:p>
            <a:r>
              <a:rPr lang="en-US" dirty="0" smtClean="0"/>
              <a:t> Note that there is no single provision dealing with the recognition of judgments under </a:t>
            </a:r>
            <a:r>
              <a:rPr lang="en-US" dirty="0"/>
              <a:t>E</a:t>
            </a:r>
            <a:r>
              <a:rPr lang="en-US" dirty="0" smtClean="0"/>
              <a:t>thiopian law.</a:t>
            </a:r>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66800"/>
          </a:xfrm>
        </p:spPr>
        <p:txBody>
          <a:bodyPr>
            <a:noAutofit/>
          </a:bodyPr>
          <a:lstStyle/>
          <a:p>
            <a:r>
              <a:rPr lang="en-US" sz="2400" dirty="0" smtClean="0"/>
              <a:t/>
            </a:r>
            <a:br>
              <a:rPr lang="en-US" sz="2400" dirty="0" smtClean="0"/>
            </a:br>
            <a:r>
              <a:rPr lang="en-US" sz="2400" dirty="0" smtClean="0">
                <a:solidFill>
                  <a:srgbClr val="FF0000"/>
                </a:solidFill>
              </a:rPr>
              <a:t>The Rationale Behind </a:t>
            </a:r>
            <a:r>
              <a:rPr lang="en-US" sz="2400" dirty="0">
                <a:solidFill>
                  <a:srgbClr val="FF0000"/>
                </a:solidFill>
              </a:rPr>
              <a:t>R</a:t>
            </a:r>
            <a:r>
              <a:rPr lang="en-US" sz="2400" dirty="0" smtClean="0">
                <a:solidFill>
                  <a:srgbClr val="FF0000"/>
                </a:solidFill>
              </a:rPr>
              <a:t>ecognition and Execution of Foreign Judgments</a:t>
            </a:r>
            <a:endParaRPr lang="en-US" sz="2400" dirty="0">
              <a:solidFill>
                <a:srgbClr val="FF0000"/>
              </a:solidFill>
            </a:endParaRPr>
          </a:p>
        </p:txBody>
      </p:sp>
      <p:sp>
        <p:nvSpPr>
          <p:cNvPr id="3" name="Content Placeholder 2"/>
          <p:cNvSpPr>
            <a:spLocks noGrp="1"/>
          </p:cNvSpPr>
          <p:nvPr>
            <p:ph idx="1"/>
          </p:nvPr>
        </p:nvSpPr>
        <p:spPr>
          <a:xfrm>
            <a:off x="457200" y="609600"/>
            <a:ext cx="8229600" cy="5638800"/>
          </a:xfrm>
          <a:solidFill>
            <a:srgbClr val="00B050"/>
          </a:solidFill>
          <a:ln>
            <a:solidFill>
              <a:srgbClr val="FF0000"/>
            </a:solidFill>
          </a:ln>
        </p:spPr>
        <p:txBody>
          <a:bodyPr>
            <a:normAutofit fontScale="85000" lnSpcReduction="10000"/>
          </a:bodyPr>
          <a:lstStyle/>
          <a:p>
            <a:r>
              <a:rPr lang="en-US" dirty="0"/>
              <a:t>The world today </a:t>
            </a:r>
            <a:r>
              <a:rPr lang="en-US" dirty="0" smtClean="0"/>
              <a:t>we have </a:t>
            </a:r>
            <a:r>
              <a:rPr lang="en-US" b="1" dirty="0" smtClean="0"/>
              <a:t>diverse </a:t>
            </a:r>
            <a:r>
              <a:rPr lang="en-US" b="1" dirty="0"/>
              <a:t>states </a:t>
            </a:r>
            <a:r>
              <a:rPr lang="en-US" dirty="0" smtClean="0"/>
              <a:t>g the </a:t>
            </a:r>
            <a:r>
              <a:rPr lang="en-US" b="1" dirty="0"/>
              <a:t>interactions</a:t>
            </a:r>
            <a:r>
              <a:rPr lang="en-US" dirty="0"/>
              <a:t> of which in different spheres of life often results in conflicting international legal situations</a:t>
            </a:r>
            <a:r>
              <a:rPr lang="en-US" dirty="0" smtClean="0"/>
              <a:t>.</a:t>
            </a:r>
          </a:p>
          <a:p>
            <a:r>
              <a:rPr lang="en-US" dirty="0" smtClean="0"/>
              <a:t>Such interactions may give rise to court decisions  that requires to be enforced out side its territory.</a:t>
            </a:r>
          </a:p>
          <a:p>
            <a:r>
              <a:rPr lang="en-US" dirty="0" smtClean="0"/>
              <a:t>As states are sovereign they will not readily enforce judgments by foreign courts. Therefore unless certain mechanisms are created to allow recognition and enforcement of foreign judgments in a  certain country:</a:t>
            </a:r>
          </a:p>
          <a:p>
            <a:pPr lvl="1"/>
            <a:r>
              <a:rPr lang="en-US" dirty="0" smtClean="0"/>
              <a:t> legitimate rights and status obtained under a foreign law may be lost, </a:t>
            </a:r>
          </a:p>
          <a:p>
            <a:pPr lvl="1"/>
            <a:r>
              <a:rPr lang="en-US" dirty="0" smtClean="0"/>
              <a:t>Parties to the dispute will be subject to additional costs and trouble as they may be required to bring a new suit or claim in this court</a:t>
            </a:r>
          </a:p>
          <a:p>
            <a:pPr lvl="1">
              <a:buNone/>
            </a:pPr>
            <a:endParaRPr lang="en-US" dirty="0" smtClean="0"/>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dirty="0" smtClean="0"/>
              <a:t>Conflict of Laws PPT Chapter Four  Sultan </a:t>
            </a:r>
            <a:r>
              <a:rPr lang="en-US" dirty="0" err="1" smtClean="0"/>
              <a:t>Kassim</a:t>
            </a:r>
            <a:r>
              <a:rPr lang="en-US" dirty="0" smtClean="0"/>
              <a:t>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3600"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92500" lnSpcReduction="10000"/>
          </a:bodyPr>
          <a:lstStyle/>
          <a:p>
            <a:r>
              <a:rPr lang="en-US" dirty="0" smtClean="0"/>
              <a:t>To avoid the prejudice that may arise up on parties and to facilitate business transactions  countries allow recognition and enforcement of foreign judgments and arbitral awards in their territory.</a:t>
            </a:r>
          </a:p>
          <a:p>
            <a:r>
              <a:rPr lang="en-US" dirty="0" smtClean="0"/>
              <a:t>Countries have entered to agreements between themselves to recognize  and enforce judgments of each other.</a:t>
            </a:r>
          </a:p>
          <a:p>
            <a:r>
              <a:rPr lang="en-US" dirty="0" smtClean="0"/>
              <a:t>In the absence of treaties, </a:t>
            </a:r>
            <a:r>
              <a:rPr lang="en-US" dirty="0"/>
              <a:t>h</a:t>
            </a:r>
            <a:r>
              <a:rPr lang="en-US" dirty="0" smtClean="0"/>
              <a:t>owever, as some foreign judgments may not be in line with our understanding of justice, morality, and public policy certain pre requisites are provided before allowing recognition and  enforcement. </a:t>
            </a:r>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19"/>
          </a:xfrm>
        </p:spPr>
        <p:txBody>
          <a:bodyPr>
            <a:noAutofit/>
          </a:bodyPr>
          <a:lstStyle/>
          <a:p>
            <a:r>
              <a:rPr lang="en-US" sz="2800" dirty="0" smtClean="0"/>
              <a:t/>
            </a:r>
            <a:br>
              <a:rPr lang="en-US" sz="2800" dirty="0" smtClean="0"/>
            </a:br>
            <a:r>
              <a:rPr lang="en-US" sz="2800" dirty="0" smtClean="0">
                <a:solidFill>
                  <a:srgbClr val="FF0000"/>
                </a:solidFill>
              </a:rPr>
              <a:t>Theoretical Basis for Recognition and </a:t>
            </a:r>
            <a:r>
              <a:rPr lang="en-US" sz="2800" dirty="0">
                <a:solidFill>
                  <a:srgbClr val="FF0000"/>
                </a:solidFill>
              </a:rPr>
              <a:t>E</a:t>
            </a:r>
            <a:r>
              <a:rPr lang="en-US" sz="2800" dirty="0" smtClean="0">
                <a:solidFill>
                  <a:srgbClr val="FF0000"/>
                </a:solidFill>
              </a:rPr>
              <a:t>nforcement</a:t>
            </a:r>
            <a:endParaRPr lang="en-US" sz="2800" dirty="0">
              <a:solidFill>
                <a:srgbClr val="FF0000"/>
              </a:solidFill>
            </a:endParaRPr>
          </a:p>
        </p:txBody>
      </p:sp>
      <p:sp>
        <p:nvSpPr>
          <p:cNvPr id="3" name="Content Placeholder 2"/>
          <p:cNvSpPr>
            <a:spLocks noGrp="1"/>
          </p:cNvSpPr>
          <p:nvPr>
            <p:ph idx="1"/>
          </p:nvPr>
        </p:nvSpPr>
        <p:spPr>
          <a:xfrm>
            <a:off x="457200" y="609600"/>
            <a:ext cx="8229600" cy="5638800"/>
          </a:xfrm>
          <a:solidFill>
            <a:srgbClr val="00B050"/>
          </a:solidFill>
          <a:ln>
            <a:solidFill>
              <a:srgbClr val="FF0000"/>
            </a:solidFill>
          </a:ln>
        </p:spPr>
        <p:txBody>
          <a:bodyPr>
            <a:normAutofit fontScale="92500" lnSpcReduction="20000"/>
          </a:bodyPr>
          <a:lstStyle/>
          <a:p>
            <a:r>
              <a:rPr lang="en-US" b="1" dirty="0" smtClean="0"/>
              <a:t>Why should a court of one country recognize and enforce a judgment of another?</a:t>
            </a:r>
          </a:p>
          <a:p>
            <a:r>
              <a:rPr lang="en-US" dirty="0"/>
              <a:t>In </a:t>
            </a:r>
            <a:r>
              <a:rPr lang="en-US" dirty="0" smtClean="0"/>
              <a:t>general terms</a:t>
            </a:r>
            <a:r>
              <a:rPr lang="en-US" dirty="0"/>
              <a:t>, two theoretical justifications have been advanced for the recognition </a:t>
            </a:r>
            <a:r>
              <a:rPr lang="en-US" dirty="0" smtClean="0"/>
              <a:t>of foreign judgments:</a:t>
            </a:r>
          </a:p>
          <a:p>
            <a:pPr lvl="1"/>
            <a:r>
              <a:rPr lang="en-US" dirty="0" smtClean="0"/>
              <a:t>Based on the idea of comity and Reciprocity</a:t>
            </a:r>
          </a:p>
          <a:p>
            <a:pPr lvl="1"/>
            <a:r>
              <a:rPr lang="en-US" dirty="0" smtClean="0"/>
              <a:t>Based on the doctrine of obligation</a:t>
            </a:r>
          </a:p>
          <a:p>
            <a:r>
              <a:rPr lang="en-US" dirty="0"/>
              <a:t>comity is a rather vague concept and is </a:t>
            </a:r>
            <a:r>
              <a:rPr lang="en-US" dirty="0" smtClean="0"/>
              <a:t>more appropriate to the relations between sovereigns</a:t>
            </a:r>
          </a:p>
          <a:p>
            <a:r>
              <a:rPr lang="en-US" dirty="0" smtClean="0"/>
              <a:t>the </a:t>
            </a:r>
            <a:r>
              <a:rPr lang="en-US" dirty="0"/>
              <a:t>doctrine of reciprocity </a:t>
            </a:r>
            <a:r>
              <a:rPr lang="en-US" dirty="0" smtClean="0"/>
              <a:t>holds that </a:t>
            </a:r>
            <a:r>
              <a:rPr lang="en-US" dirty="0"/>
              <a:t>the courts of country A should </a:t>
            </a:r>
            <a:r>
              <a:rPr lang="en-US" dirty="0" smtClean="0"/>
              <a:t>recognize </a:t>
            </a:r>
            <a:r>
              <a:rPr lang="en-US" dirty="0"/>
              <a:t>and enforce the judgments </a:t>
            </a:r>
            <a:r>
              <a:rPr lang="en-US" dirty="0" smtClean="0"/>
              <a:t>of country </a:t>
            </a:r>
            <a:r>
              <a:rPr lang="en-US" dirty="0"/>
              <a:t>B if country B is prepared to offer like treatment</a:t>
            </a:r>
            <a:r>
              <a:rPr lang="en-US" dirty="0" smtClean="0"/>
              <a:t>.</a:t>
            </a:r>
          </a:p>
          <a:p>
            <a:pPr>
              <a:buNone/>
            </a:pPr>
            <a:endParaRPr lang="en-US" dirty="0" smtClean="0"/>
          </a:p>
          <a:p>
            <a:endParaRPr lang="en-US" dirty="0" smtClean="0"/>
          </a:p>
          <a:p>
            <a:pPr lvl="1">
              <a:buNone/>
            </a:pPr>
            <a:endParaRPr lang="en-US" b="1" dirty="0" smtClean="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a:bodyPr>
          <a:lstStyle/>
          <a:p>
            <a:r>
              <a:rPr lang="en-US" b="1" dirty="0" smtClean="0"/>
              <a:t>The doctrine of Obligation</a:t>
            </a:r>
          </a:p>
          <a:p>
            <a:r>
              <a:rPr lang="en-US" dirty="0" smtClean="0"/>
              <a:t>The </a:t>
            </a:r>
            <a:r>
              <a:rPr lang="en-US" dirty="0"/>
              <a:t>doctrine held that, if the courts of country A have </a:t>
            </a:r>
            <a:r>
              <a:rPr lang="en-US" dirty="0" smtClean="0"/>
              <a:t>properly assumed </a:t>
            </a:r>
            <a:r>
              <a:rPr lang="en-US" dirty="0"/>
              <a:t>jurisdiction, then the resulting judgment should be regarded </a:t>
            </a:r>
            <a:r>
              <a:rPr lang="en-US" dirty="0" smtClean="0"/>
              <a:t>as creating </a:t>
            </a:r>
            <a:r>
              <a:rPr lang="en-US" dirty="0"/>
              <a:t>an obligation between the parties which </a:t>
            </a:r>
            <a:r>
              <a:rPr lang="en-US" dirty="0" smtClean="0"/>
              <a:t>a </a:t>
            </a:r>
            <a:r>
              <a:rPr lang="en-US" dirty="0"/>
              <a:t>court ought </a:t>
            </a:r>
            <a:r>
              <a:rPr lang="en-US" dirty="0" smtClean="0"/>
              <a:t>to recognize. </a:t>
            </a:r>
            <a:r>
              <a:rPr lang="en-US" dirty="0"/>
              <a:t>Thus, if a foreign court orders X to pay damages to Y, then it </a:t>
            </a:r>
            <a:r>
              <a:rPr lang="en-US" dirty="0" smtClean="0"/>
              <a:t>is argued </a:t>
            </a:r>
            <a:r>
              <a:rPr lang="en-US" dirty="0"/>
              <a:t>that this creates a legal obligation that may be enforced by Y as </a:t>
            </a:r>
            <a:r>
              <a:rPr lang="en-US" dirty="0" smtClean="0"/>
              <a:t>an action </a:t>
            </a:r>
            <a:r>
              <a:rPr lang="en-US" dirty="0"/>
              <a:t>for debt.</a:t>
            </a:r>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sz="3200" b="1" dirty="0">
                <a:solidFill>
                  <a:srgbClr val="FF0000"/>
                </a:solidFill>
              </a:rPr>
              <a:t>Modes of Execution of Foreign Judgments</a:t>
            </a:r>
            <a:endParaRPr lang="en-US" sz="3200" dirty="0">
              <a:solidFill>
                <a:srgbClr val="FF0000"/>
              </a:solidFill>
            </a:endParaRPr>
          </a:p>
        </p:txBody>
      </p:sp>
      <p:sp>
        <p:nvSpPr>
          <p:cNvPr id="3" name="Content Placeholder 2"/>
          <p:cNvSpPr>
            <a:spLocks noGrp="1"/>
          </p:cNvSpPr>
          <p:nvPr>
            <p:ph idx="1"/>
          </p:nvPr>
        </p:nvSpPr>
        <p:spPr>
          <a:xfrm>
            <a:off x="457200" y="457200"/>
            <a:ext cx="8229600" cy="6019800"/>
          </a:xfrm>
          <a:solidFill>
            <a:srgbClr val="00B050"/>
          </a:solidFill>
          <a:ln>
            <a:solidFill>
              <a:srgbClr val="FF0000"/>
            </a:solidFill>
          </a:ln>
        </p:spPr>
        <p:txBody>
          <a:bodyPr>
            <a:noAutofit/>
          </a:bodyPr>
          <a:lstStyle/>
          <a:p>
            <a:r>
              <a:rPr lang="en-US" sz="2000" dirty="0" smtClean="0"/>
              <a:t>Under </a:t>
            </a:r>
            <a:r>
              <a:rPr lang="en-US" sz="2000" dirty="0"/>
              <a:t>international law there are two widely accepted modes concerning the execution of foreign judgments</a:t>
            </a:r>
            <a:r>
              <a:rPr lang="en-US" sz="2000" dirty="0" smtClean="0"/>
              <a:t>.</a:t>
            </a:r>
          </a:p>
          <a:p>
            <a:r>
              <a:rPr lang="en-US" sz="2000" dirty="0" smtClean="0"/>
              <a:t> </a:t>
            </a:r>
            <a:r>
              <a:rPr lang="en-US" sz="2000" dirty="0"/>
              <a:t>The first is exemplified by the laws of the Continental Europe and Latin American countries. According to the laws of these countries, foreign judgments are accorded enforcement only after the satisfaction of prescribed conditions and after an </a:t>
            </a:r>
            <a:r>
              <a:rPr lang="en-US" sz="2000" i="1" dirty="0"/>
              <a:t>exequatur</a:t>
            </a:r>
            <a:r>
              <a:rPr lang="en-US" sz="2000" dirty="0"/>
              <a:t> (a form of proceeding which means a retrial of the foreign judgment) is written and authorized recognition has been granted. In the laws of these countries, or foreign judgment, until supported by a formal decision of   enforcement passed by a tribunal  of the  country  in which  it is desired  to be enforced, will have no effect in that country. In the laws of such country, a foreign judgment is, therefore, not regarded as conclusive</a:t>
            </a:r>
            <a:r>
              <a:rPr lang="en-US" sz="2000" dirty="0" smtClean="0"/>
              <a:t>.</a:t>
            </a:r>
          </a:p>
          <a:p>
            <a:r>
              <a:rPr lang="en-US" sz="2000" dirty="0"/>
              <a:t> </a:t>
            </a:r>
            <a:r>
              <a:rPr lang="en-US" sz="2000" dirty="0" smtClean="0"/>
              <a:t>The </a:t>
            </a:r>
            <a:r>
              <a:rPr lang="en-US" sz="2000" dirty="0"/>
              <a:t>other mode is characteristic of the laws of the Anglo-American countries. Pursuant to the laws of these countries, foreign judgments are not executed as such but, are endorsed by domestic judgments, i.e. judgment by judgment. Foreign judgments are accepted as conclusive provided that certain conditions provided in the laws of the country in which the judgment is sought to be enforced are satisfied.     </a:t>
            </a:r>
          </a:p>
          <a:p>
            <a:pPr>
              <a:buNone/>
            </a:pPr>
            <a:endParaRPr lang="en-US" sz="2000"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noAutofit/>
          </a:bodyPr>
          <a:lstStyle/>
          <a:p>
            <a:r>
              <a:rPr lang="en-US" sz="3200" b="1" dirty="0" smtClean="0">
                <a:solidFill>
                  <a:srgbClr val="FF0000"/>
                </a:solidFill>
              </a:rPr>
              <a:t>Conditions for recognition and  enforcement</a:t>
            </a:r>
            <a:endParaRPr lang="en-US" sz="3200" b="1" dirty="0">
              <a:solidFill>
                <a:srgbClr val="FF0000"/>
              </a:solidFill>
            </a:endParaRPr>
          </a:p>
        </p:txBody>
      </p:sp>
      <p:sp>
        <p:nvSpPr>
          <p:cNvPr id="3" name="Content Placeholder 2"/>
          <p:cNvSpPr>
            <a:spLocks noGrp="1"/>
          </p:cNvSpPr>
          <p:nvPr>
            <p:ph idx="1"/>
          </p:nvPr>
        </p:nvSpPr>
        <p:spPr>
          <a:xfrm>
            <a:off x="533400" y="457200"/>
            <a:ext cx="8229600" cy="6172200"/>
          </a:xfrm>
          <a:solidFill>
            <a:srgbClr val="00B050"/>
          </a:solidFill>
          <a:ln>
            <a:solidFill>
              <a:srgbClr val="FF0000"/>
            </a:solidFill>
          </a:ln>
        </p:spPr>
        <p:txBody>
          <a:bodyPr>
            <a:noAutofit/>
          </a:bodyPr>
          <a:lstStyle/>
          <a:p>
            <a:r>
              <a:rPr lang="en-US" sz="2000" dirty="0"/>
              <a:t>There are about seven conditions the US stipulated for the purpose of recognition  and execution of foreign  judgments .These are the results of judge-made law. (Hilton V. Guyot, 159 U.S. 113 </a:t>
            </a:r>
            <a:r>
              <a:rPr lang="en-US" sz="2000" dirty="0" smtClean="0"/>
              <a:t>(1895)) The (US) forum court should check whether:</a:t>
            </a:r>
          </a:p>
          <a:p>
            <a:pPr>
              <a:buNone/>
            </a:pPr>
            <a:endParaRPr lang="en-US" sz="2000" dirty="0" smtClean="0"/>
          </a:p>
          <a:p>
            <a:pPr>
              <a:buNone/>
            </a:pPr>
            <a:r>
              <a:rPr lang="en-US" sz="2000" dirty="0" smtClean="0"/>
              <a:t>1.</a:t>
            </a:r>
            <a:r>
              <a:rPr lang="en-US" sz="2000" dirty="0"/>
              <a:t> </a:t>
            </a:r>
            <a:r>
              <a:rPr lang="en-US" sz="2000" dirty="0" smtClean="0"/>
              <a:t>There </a:t>
            </a:r>
            <a:r>
              <a:rPr lang="en-US" sz="2000" dirty="0"/>
              <a:t>was a full and fair trial conducted by the foreign court;</a:t>
            </a:r>
          </a:p>
          <a:p>
            <a:pPr lvl="0">
              <a:buNone/>
            </a:pPr>
            <a:r>
              <a:rPr lang="en-US" sz="2000" dirty="0" smtClean="0"/>
              <a:t>2.The </a:t>
            </a:r>
            <a:r>
              <a:rPr lang="en-US" sz="2000" dirty="0"/>
              <a:t>foreign court was of a competent jurisdiction;</a:t>
            </a:r>
          </a:p>
          <a:p>
            <a:pPr lvl="0">
              <a:buNone/>
            </a:pPr>
            <a:r>
              <a:rPr lang="en-US" sz="2000" dirty="0" smtClean="0"/>
              <a:t>3.The </a:t>
            </a:r>
            <a:r>
              <a:rPr lang="en-US" sz="2000" dirty="0"/>
              <a:t>foreign court had conducted the trial upon regular proceedings;</a:t>
            </a:r>
          </a:p>
          <a:p>
            <a:pPr lvl="0">
              <a:buNone/>
            </a:pPr>
            <a:r>
              <a:rPr lang="en-US" sz="2000" dirty="0" smtClean="0"/>
              <a:t>4.The </a:t>
            </a:r>
            <a:r>
              <a:rPr lang="en-US" sz="2000" dirty="0"/>
              <a:t>defendant has been given due service or voluntary appeared before the court;</a:t>
            </a:r>
          </a:p>
          <a:p>
            <a:pPr lvl="0">
              <a:buNone/>
            </a:pPr>
            <a:r>
              <a:rPr lang="en-US" sz="2000" dirty="0" smtClean="0"/>
              <a:t>5.There </a:t>
            </a:r>
            <a:r>
              <a:rPr lang="en-US" sz="2000" dirty="0"/>
              <a:t>is a system in the country of the foreign courts likely to secure an impartial administration of justice between the citizens of its own country and those of other countries;</a:t>
            </a:r>
          </a:p>
          <a:p>
            <a:pPr>
              <a:buNone/>
            </a:pPr>
            <a:r>
              <a:rPr lang="en-US" sz="2000" dirty="0" smtClean="0"/>
              <a:t>6.</a:t>
            </a:r>
            <a:r>
              <a:rPr lang="en-US" sz="2000" dirty="0"/>
              <a:t> </a:t>
            </a:r>
            <a:r>
              <a:rPr lang="en-US" sz="2000" dirty="0" smtClean="0"/>
              <a:t>There  </a:t>
            </a:r>
            <a:r>
              <a:rPr lang="en-US" sz="2000" dirty="0"/>
              <a:t>is nothing  to  show  either  a prejudice in the court, in the system of the </a:t>
            </a:r>
            <a:r>
              <a:rPr lang="en-US" sz="2000" dirty="0" smtClean="0"/>
              <a:t>laws under </a:t>
            </a:r>
            <a:r>
              <a:rPr lang="en-US" sz="2000" dirty="0"/>
              <a:t>which it was sitting or fraud in procuring  the judgment, or any other special  reason why the comity of the United State  should not allow its full effect ,and </a:t>
            </a:r>
          </a:p>
          <a:p>
            <a:pPr lvl="0">
              <a:buNone/>
            </a:pPr>
            <a:r>
              <a:rPr lang="en-US" sz="2000" dirty="0" smtClean="0"/>
              <a:t>7.The </a:t>
            </a:r>
            <a:r>
              <a:rPr lang="en-US" sz="2000" dirty="0"/>
              <a:t>requirement of reciprocity is met</a:t>
            </a:r>
            <a:r>
              <a:rPr lang="en-US" sz="2000" dirty="0" smtClean="0"/>
              <a:t>.</a:t>
            </a:r>
            <a:endParaRPr lang="en-US" sz="2000"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1"/>
            <a:ext cx="8229600" cy="5181600"/>
          </a:xfrm>
          <a:solidFill>
            <a:srgbClr val="00B050"/>
          </a:solidFill>
          <a:ln>
            <a:solidFill>
              <a:srgbClr val="FF0000"/>
            </a:solidFill>
          </a:ln>
        </p:spPr>
        <p:txBody>
          <a:bodyPr>
            <a:normAutofit/>
          </a:bodyPr>
          <a:lstStyle/>
          <a:p>
            <a:r>
              <a:rPr lang="en-US" dirty="0" smtClean="0"/>
              <a:t>Under English Common Law, three </a:t>
            </a:r>
            <a:r>
              <a:rPr lang="en-US" dirty="0"/>
              <a:t>main grounds need to be established. In broad terms, these are:</a:t>
            </a:r>
          </a:p>
          <a:p>
            <a:r>
              <a:rPr lang="en-US" dirty="0"/>
              <a:t>(a) that the foreign court must have been a competent court of jurisdiction;</a:t>
            </a:r>
          </a:p>
          <a:p>
            <a:r>
              <a:rPr lang="en-US" dirty="0"/>
              <a:t>(b) that the judgment must be final and conclusive; and</a:t>
            </a:r>
          </a:p>
          <a:p>
            <a:r>
              <a:rPr lang="en-US" dirty="0"/>
              <a:t>(c) that the judgment must be for a fixed sum not itself a tax or penalty</a:t>
            </a:r>
            <a:r>
              <a:rPr lang="en-US" dirty="0" smtClean="0"/>
              <a:t>.</a:t>
            </a:r>
          </a:p>
          <a:p>
            <a:pPr>
              <a:buNone/>
            </a:pPr>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FF0000"/>
                </a:solidFill>
              </a:rPr>
              <a:t>Defenses to recognition and enforcement</a:t>
            </a:r>
            <a:endParaRPr lang="en-US" sz="3600" dirty="0">
              <a:solidFill>
                <a:srgbClr val="FF0000"/>
              </a:solidFill>
            </a:endParaRPr>
          </a:p>
        </p:txBody>
      </p:sp>
      <p:sp>
        <p:nvSpPr>
          <p:cNvPr id="3" name="Content Placeholder 2"/>
          <p:cNvSpPr>
            <a:spLocks noGrp="1"/>
          </p:cNvSpPr>
          <p:nvPr>
            <p:ph idx="1"/>
          </p:nvPr>
        </p:nvSpPr>
        <p:spPr>
          <a:solidFill>
            <a:srgbClr val="00B050"/>
          </a:solidFill>
          <a:ln>
            <a:solidFill>
              <a:srgbClr val="FF0000"/>
            </a:solidFill>
          </a:ln>
        </p:spPr>
        <p:txBody>
          <a:bodyPr/>
          <a:lstStyle/>
          <a:p>
            <a:r>
              <a:rPr lang="en-US" b="1" dirty="0" smtClean="0"/>
              <a:t>Judgment given in a way contrary to natural justice</a:t>
            </a:r>
          </a:p>
          <a:p>
            <a:r>
              <a:rPr lang="en-US" b="1" dirty="0" smtClean="0"/>
              <a:t>Judgment obtained by Fraud</a:t>
            </a:r>
          </a:p>
          <a:p>
            <a:r>
              <a:rPr lang="en-US" b="1" dirty="0"/>
              <a:t>Recognition contrary to public </a:t>
            </a:r>
            <a:r>
              <a:rPr lang="en-US" b="1" dirty="0" smtClean="0"/>
              <a:t>policy</a:t>
            </a:r>
          </a:p>
          <a:p>
            <a:r>
              <a:rPr lang="en-US" b="1" dirty="0"/>
              <a:t>Conflicting </a:t>
            </a:r>
            <a:r>
              <a:rPr lang="en-US" b="1" dirty="0" smtClean="0"/>
              <a:t>judgments</a:t>
            </a:r>
          </a:p>
          <a:p>
            <a:r>
              <a:rPr lang="en-US" b="1" dirty="0"/>
              <a:t>A foreign judgment given in breach of an arbitration </a:t>
            </a:r>
            <a:r>
              <a:rPr lang="en-US" b="1" dirty="0" smtClean="0"/>
              <a:t>or jurisdiction </a:t>
            </a:r>
            <a:r>
              <a:rPr lang="en-US" b="1" dirty="0"/>
              <a:t>clause</a:t>
            </a:r>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Autofit/>
          </a:bodyPr>
          <a:lstStyle/>
          <a:p>
            <a:r>
              <a:rPr lang="en-US" sz="3200" dirty="0" smtClean="0">
                <a:solidFill>
                  <a:srgbClr val="FF0000"/>
                </a:solidFill>
              </a:rPr>
              <a:t>Execution of foreign judgments in Ethiopia</a:t>
            </a:r>
            <a:endParaRPr lang="en-US" sz="3200" dirty="0">
              <a:solidFill>
                <a:srgbClr val="FF0000"/>
              </a:solidFill>
            </a:endParaRPr>
          </a:p>
        </p:txBody>
      </p:sp>
      <p:sp>
        <p:nvSpPr>
          <p:cNvPr id="3" name="Content Placeholder 2"/>
          <p:cNvSpPr>
            <a:spLocks noGrp="1"/>
          </p:cNvSpPr>
          <p:nvPr>
            <p:ph idx="1"/>
          </p:nvPr>
        </p:nvSpPr>
        <p:spPr>
          <a:xfrm>
            <a:off x="457200" y="990600"/>
            <a:ext cx="8229600" cy="5135563"/>
          </a:xfrm>
          <a:solidFill>
            <a:srgbClr val="00B050"/>
          </a:solidFill>
          <a:ln>
            <a:solidFill>
              <a:srgbClr val="FF0000"/>
            </a:solidFill>
          </a:ln>
        </p:spPr>
        <p:txBody>
          <a:bodyPr>
            <a:normAutofit fontScale="92500" lnSpcReduction="10000"/>
          </a:bodyPr>
          <a:lstStyle/>
          <a:p>
            <a:r>
              <a:rPr lang="en-US" dirty="0" smtClean="0"/>
              <a:t>We have two methods:</a:t>
            </a:r>
          </a:p>
          <a:p>
            <a:pPr lvl="1"/>
            <a:r>
              <a:rPr lang="en-US" dirty="0" smtClean="0"/>
              <a:t>On the basis of International treaty( agreement)</a:t>
            </a:r>
          </a:p>
          <a:p>
            <a:pPr lvl="1"/>
            <a:r>
              <a:rPr lang="en-US" dirty="0" smtClean="0"/>
              <a:t>On the basis of on fulfillment of conditions under civil procedure code provisions </a:t>
            </a:r>
          </a:p>
          <a:p>
            <a:r>
              <a:rPr lang="en-US" dirty="0"/>
              <a:t> </a:t>
            </a:r>
            <a:r>
              <a:rPr lang="en-US" dirty="0" smtClean="0"/>
              <a:t>If there is any treaty that was entered between Ethiopia and other country for recognition and enforcement of judgments of each other based on that treaty Ethiopian courts will recognize and enforce judgments obtained in that country. (Art.456)</a:t>
            </a:r>
          </a:p>
          <a:p>
            <a:r>
              <a:rPr lang="en-US" dirty="0" smtClean="0"/>
              <a:t>E.g. Treaty between Ethiopia and Djibouti.</a:t>
            </a:r>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92500" lnSpcReduction="20000"/>
          </a:bodyPr>
          <a:lstStyle/>
          <a:p>
            <a:r>
              <a:rPr lang="en-US" dirty="0" smtClean="0"/>
              <a:t>In the absence of treaty, then the conditions under Art.458 must be full filled. These are:</a:t>
            </a:r>
          </a:p>
          <a:p>
            <a:r>
              <a:rPr lang="en-US" dirty="0" smtClean="0"/>
              <a:t> </a:t>
            </a:r>
            <a:r>
              <a:rPr lang="en-US" i="1" dirty="0" smtClean="0"/>
              <a:t>a</a:t>
            </a:r>
            <a:r>
              <a:rPr lang="en-US" i="1" dirty="0"/>
              <a:t>) the execution of Ethiopian judgments is allowed in the country in which the    judgment to be executed was </a:t>
            </a:r>
            <a:r>
              <a:rPr lang="en-US" i="1" dirty="0" smtClean="0"/>
              <a:t>given(</a:t>
            </a:r>
            <a:r>
              <a:rPr lang="en-US" b="1" i="1" dirty="0" smtClean="0"/>
              <a:t>Reciprocity)</a:t>
            </a:r>
            <a:r>
              <a:rPr lang="en-US" i="1" dirty="0" smtClean="0"/>
              <a:t>;</a:t>
            </a:r>
            <a:endParaRPr lang="en-US" dirty="0"/>
          </a:p>
          <a:p>
            <a:r>
              <a:rPr lang="en-US" i="1" dirty="0"/>
              <a:t>  b) The judgment was given by a court duly established and constituted;</a:t>
            </a:r>
            <a:endParaRPr lang="en-US" dirty="0"/>
          </a:p>
          <a:p>
            <a:r>
              <a:rPr lang="en-US" i="1" dirty="0"/>
              <a:t>  c) The judgment-debtor was given the opportunity to appear and present his defense;</a:t>
            </a:r>
            <a:endParaRPr lang="en-US" dirty="0"/>
          </a:p>
          <a:p>
            <a:r>
              <a:rPr lang="en-US" i="1" dirty="0"/>
              <a:t>  d) The judgment to be executed is final and enforceable; and</a:t>
            </a:r>
            <a:endParaRPr lang="en-US" dirty="0"/>
          </a:p>
          <a:p>
            <a:r>
              <a:rPr lang="en-US" i="1" dirty="0"/>
              <a:t>  e) Execution is not contrary to public order or morals.”</a:t>
            </a:r>
            <a:endParaRPr lang="en-US" dirty="0"/>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85000" lnSpcReduction="10000"/>
          </a:bodyPr>
          <a:lstStyle/>
          <a:p>
            <a:pPr>
              <a:buNone/>
            </a:pPr>
            <a:r>
              <a:rPr lang="en-US" b="1" dirty="0" smtClean="0">
                <a:solidFill>
                  <a:srgbClr val="FF0000"/>
                </a:solidFill>
              </a:rPr>
              <a:t>1. Reciprocity</a:t>
            </a:r>
          </a:p>
          <a:p>
            <a:r>
              <a:rPr lang="en-US" dirty="0"/>
              <a:t>In upholding this </a:t>
            </a:r>
            <a:r>
              <a:rPr lang="en-US" dirty="0" smtClean="0"/>
              <a:t>principle Ethiopia to </a:t>
            </a:r>
            <a:r>
              <a:rPr lang="en-US" dirty="0"/>
              <a:t>ensure, inter alia, that the foreign state recognizes the judgments rendered by their courts</a:t>
            </a:r>
            <a:r>
              <a:rPr lang="en-US" dirty="0" smtClean="0"/>
              <a:t>.</a:t>
            </a:r>
          </a:p>
          <a:p>
            <a:r>
              <a:rPr lang="en-US" dirty="0" smtClean="0"/>
              <a:t>Defendant needs to show that Ethiopian judgment would not be enforced in that foreign country.</a:t>
            </a:r>
          </a:p>
          <a:p>
            <a:r>
              <a:rPr lang="en-US" dirty="0"/>
              <a:t>The doctrine of reciprocity which has relation against a state as its basis, but which may simultaneously victimize innocent individuals</a:t>
            </a:r>
            <a:r>
              <a:rPr lang="en-US" dirty="0" smtClean="0"/>
              <a:t>,</a:t>
            </a:r>
          </a:p>
          <a:p>
            <a:r>
              <a:rPr lang="en-US" dirty="0"/>
              <a:t>Interestingly, many states do not include reciprocity as a prerequisite for the execution of foreign judgment. </a:t>
            </a:r>
            <a:r>
              <a:rPr lang="en-US" dirty="0" smtClean="0"/>
              <a:t>E.g. Argentina and Brazil, in USA New York and California states rejected reciprocity as condition.</a:t>
            </a:r>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67400"/>
          </a:xfrm>
          <a:solidFill>
            <a:srgbClr val="00B050"/>
          </a:solidFill>
          <a:ln>
            <a:solidFill>
              <a:srgbClr val="FF0000"/>
            </a:solidFill>
          </a:ln>
        </p:spPr>
        <p:txBody>
          <a:bodyPr>
            <a:noAutofit/>
          </a:bodyPr>
          <a:lstStyle/>
          <a:p>
            <a:pPr>
              <a:buNone/>
            </a:pPr>
            <a:r>
              <a:rPr lang="en-US" sz="2400" b="1" dirty="0" smtClean="0">
                <a:solidFill>
                  <a:srgbClr val="FF0000"/>
                </a:solidFill>
              </a:rPr>
              <a:t>2.A </a:t>
            </a:r>
            <a:r>
              <a:rPr lang="en-US" sz="2400" b="1" dirty="0">
                <a:solidFill>
                  <a:srgbClr val="FF0000"/>
                </a:solidFill>
              </a:rPr>
              <a:t>Court Duly Established and </a:t>
            </a:r>
            <a:r>
              <a:rPr lang="en-US" sz="2400" b="1" dirty="0" smtClean="0">
                <a:solidFill>
                  <a:srgbClr val="FF0000"/>
                </a:solidFill>
              </a:rPr>
              <a:t>Constituted</a:t>
            </a:r>
          </a:p>
          <a:p>
            <a:r>
              <a:rPr lang="en-US" sz="2400" dirty="0" smtClean="0"/>
              <a:t>Should </a:t>
            </a:r>
            <a:r>
              <a:rPr lang="en-US" sz="2400" dirty="0"/>
              <a:t>such matters be determined on the basis of Ethiopian law? Or the foreign law? Or international law? No guidance is given by the Code, thus rendering the application of the criteria very difficult</a:t>
            </a:r>
            <a:r>
              <a:rPr lang="en-US" sz="2400" dirty="0" smtClean="0"/>
              <a:t>.</a:t>
            </a:r>
          </a:p>
          <a:p>
            <a:r>
              <a:rPr lang="en-US" sz="2400" dirty="0"/>
              <a:t>A certain type of tribunal established in one state may be known in other state. In view of this fact, it would, therefore, be absurd to test the status of a court of one state by the law of another state which may not have an identical or even a similar court in its territory</a:t>
            </a:r>
            <a:r>
              <a:rPr lang="en-US" sz="2400" dirty="0" smtClean="0"/>
              <a:t>.</a:t>
            </a:r>
          </a:p>
          <a:p>
            <a:r>
              <a:rPr lang="en-US" sz="2400" dirty="0" smtClean="0"/>
              <a:t> </a:t>
            </a:r>
            <a:r>
              <a:rPr lang="en-US" sz="2400" dirty="0"/>
              <a:t>In the opinion of this </a:t>
            </a:r>
            <a:r>
              <a:rPr lang="en-US" sz="2400" dirty="0" smtClean="0"/>
              <a:t>Ibrahim Idris, </a:t>
            </a:r>
            <a:r>
              <a:rPr lang="en-US" sz="2400" dirty="0"/>
              <a:t>it suffice for the Ethiopian court to resort to the law of foreign country concerned to determine whether or not the tribunal rendering the judgment sought to be executed is on duly established.</a:t>
            </a:r>
          </a:p>
          <a:p>
            <a:endParaRPr lang="en-US" sz="2400" dirty="0"/>
          </a:p>
          <a:p>
            <a:endParaRPr lang="en-US" sz="2400"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dirty="0" smtClean="0"/>
              <a:t>Conflict of Laws PPT Chapter Four  Sultan </a:t>
            </a:r>
            <a:r>
              <a:rPr lang="en-US" dirty="0" err="1" smtClean="0"/>
              <a:t>Kassim</a:t>
            </a:r>
            <a:r>
              <a:rPr lang="en-US" dirty="0" smtClean="0"/>
              <a:t>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92500" lnSpcReduction="20000"/>
          </a:bodyPr>
          <a:lstStyle/>
          <a:p>
            <a:r>
              <a:rPr lang="en-US" dirty="0" smtClean="0"/>
              <a:t>In determining whether the court giving judgment has jurisdiction or not: Two methods</a:t>
            </a:r>
          </a:p>
          <a:p>
            <a:r>
              <a:rPr lang="en-US" dirty="0" smtClean="0"/>
              <a:t>In </a:t>
            </a:r>
            <a:r>
              <a:rPr lang="en-US" dirty="0"/>
              <a:t>In the Anglo-American legal systems and also in the laws of many Latin American countries</a:t>
            </a:r>
            <a:r>
              <a:rPr lang="en-US" i="1" dirty="0"/>
              <a:t>, </a:t>
            </a:r>
            <a:r>
              <a:rPr lang="en-US" dirty="0" smtClean="0"/>
              <a:t>jurisdiction </a:t>
            </a:r>
            <a:r>
              <a:rPr lang="en-US" dirty="0"/>
              <a:t>is defined by the law of the rendition forum. I.e. the law of the country whose court has pronounced the judgment. </a:t>
            </a:r>
          </a:p>
          <a:p>
            <a:r>
              <a:rPr lang="en-US" dirty="0"/>
              <a:t> </a:t>
            </a:r>
            <a:r>
              <a:rPr lang="en-US" dirty="0" smtClean="0"/>
              <a:t>In </a:t>
            </a:r>
            <a:r>
              <a:rPr lang="en-US" dirty="0"/>
              <a:t>the legal system of such continental law countries as Greece, Turkey and Austria, on the other hand, the jurisdiction of a court is ascertained on the basis of the law of the recognition forum, i.e. the law of the country in which execution</a:t>
            </a:r>
            <a:r>
              <a:rPr lang="en-US" baseline="30000" dirty="0"/>
              <a:t> </a:t>
            </a:r>
            <a:r>
              <a:rPr lang="en-US" dirty="0"/>
              <a:t>of foreign judgment is sought. </a:t>
            </a:r>
            <a:endParaRPr lang="en-US" dirty="0" smtClean="0"/>
          </a:p>
          <a:p>
            <a:r>
              <a:rPr lang="en-US" dirty="0" smtClean="0"/>
              <a:t>Each method  has its own weaknesses.</a:t>
            </a:r>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6324600"/>
          </a:xfrm>
          <a:solidFill>
            <a:srgbClr val="00B050"/>
          </a:solidFill>
          <a:ln>
            <a:solidFill>
              <a:srgbClr val="FF0000"/>
            </a:solidFill>
          </a:ln>
        </p:spPr>
        <p:txBody>
          <a:bodyPr>
            <a:normAutofit fontScale="77500" lnSpcReduction="20000"/>
          </a:bodyPr>
          <a:lstStyle/>
          <a:p>
            <a:r>
              <a:rPr lang="en-US" b="1" dirty="0" smtClean="0">
                <a:solidFill>
                  <a:srgbClr val="FF0000"/>
                </a:solidFill>
              </a:rPr>
              <a:t>Recommendation</a:t>
            </a:r>
          </a:p>
          <a:p>
            <a:r>
              <a:rPr lang="en-US" dirty="0" smtClean="0"/>
              <a:t>In </a:t>
            </a:r>
            <a:r>
              <a:rPr lang="en-US" dirty="0"/>
              <a:t>so far as the Ethiopian choice is concerned, it would be advisable to adhere to a method of definition of jurisdiction in which a compromise solution is attained: </a:t>
            </a:r>
            <a:endParaRPr lang="en-US" dirty="0" smtClean="0"/>
          </a:p>
          <a:p>
            <a:r>
              <a:rPr lang="en-US" dirty="0" smtClean="0"/>
              <a:t>Ethiopian </a:t>
            </a:r>
            <a:r>
              <a:rPr lang="en-US" dirty="0"/>
              <a:t>law may accept the law of rendition forum in appropriate circumstances. Consequently, care must be taken so that Ethiopian courts in matters pertaining for instance, to land situated in Ethiopia or to a patent recognized and registered by the government of Ethiopia are not outside of the jurisdiction they acquire under Ethiopian law. </a:t>
            </a:r>
            <a:endParaRPr lang="en-US" dirty="0" smtClean="0"/>
          </a:p>
          <a:p>
            <a:r>
              <a:rPr lang="en-US" dirty="0" smtClean="0"/>
              <a:t>The </a:t>
            </a:r>
            <a:r>
              <a:rPr lang="en-US" dirty="0"/>
              <a:t>assumption of jurisdiction by a foreign court must also not be incompatible with the general principles of international law. </a:t>
            </a:r>
            <a:endParaRPr lang="en-US" dirty="0" smtClean="0"/>
          </a:p>
          <a:p>
            <a:r>
              <a:rPr lang="en-US" dirty="0" smtClean="0"/>
              <a:t>In </a:t>
            </a:r>
            <a:r>
              <a:rPr lang="en-US" dirty="0"/>
              <a:t>cases where the jurisdiction assumed\by the foreign court rendering the judgment is found to be repugnant to the Ethiopian interests, or that the jurisdiction is considered to be of Ethiopian courts exclusively the foreign judgments should not be executed in Ethiopia.</a:t>
            </a:r>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943600"/>
          </a:xfrm>
          <a:solidFill>
            <a:srgbClr val="00B050"/>
          </a:solidFill>
          <a:ln>
            <a:solidFill>
              <a:srgbClr val="FF0000"/>
            </a:solidFill>
          </a:ln>
        </p:spPr>
        <p:txBody>
          <a:bodyPr>
            <a:normAutofit fontScale="92500"/>
          </a:bodyPr>
          <a:lstStyle/>
          <a:p>
            <a:pPr>
              <a:buNone/>
            </a:pPr>
            <a:r>
              <a:rPr lang="en-US" dirty="0" smtClean="0"/>
              <a:t>3.</a:t>
            </a:r>
            <a:r>
              <a:rPr lang="en-US" b="1" dirty="0"/>
              <a:t> </a:t>
            </a:r>
            <a:r>
              <a:rPr lang="en-US" b="1" dirty="0">
                <a:solidFill>
                  <a:srgbClr val="FF0000"/>
                </a:solidFill>
              </a:rPr>
              <a:t>Opportunity by the Judgment-Debtor to Present and Defend his </a:t>
            </a:r>
            <a:r>
              <a:rPr lang="en-US" b="1" dirty="0" smtClean="0">
                <a:solidFill>
                  <a:srgbClr val="FF0000"/>
                </a:solidFill>
              </a:rPr>
              <a:t>Case</a:t>
            </a:r>
          </a:p>
          <a:p>
            <a:r>
              <a:rPr lang="en-US" dirty="0" smtClean="0"/>
              <a:t>The </a:t>
            </a:r>
            <a:r>
              <a:rPr lang="en-US" dirty="0"/>
              <a:t>judgment-debtor must have been served with a summons in due time, so that he could avail himself of the opportunity to defend the case</a:t>
            </a:r>
            <a:r>
              <a:rPr lang="en-US" dirty="0" smtClean="0"/>
              <a:t>.</a:t>
            </a:r>
          </a:p>
          <a:p>
            <a:r>
              <a:rPr lang="en-US" dirty="0" smtClean="0"/>
              <a:t> </a:t>
            </a:r>
            <a:r>
              <a:rPr lang="en-US" dirty="0"/>
              <a:t>If the debtor of a foreign judgment has not received a legally sufficient notice, because ineffective means were used when effective means were readily available, so that in consequence the debtor failed to appear in court, the foreign judgment cannot be executed</a:t>
            </a:r>
            <a:r>
              <a:rPr lang="en-US" i="1" dirty="0"/>
              <a:t>. </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0"/>
            <a:ext cx="8229600" cy="6858000"/>
          </a:xfrm>
          <a:solidFill>
            <a:srgbClr val="00B050"/>
          </a:solidFill>
          <a:ln>
            <a:solidFill>
              <a:srgbClr val="FF0000"/>
            </a:solidFill>
          </a:ln>
        </p:spPr>
        <p:txBody>
          <a:bodyPr>
            <a:noAutofit/>
          </a:bodyPr>
          <a:lstStyle/>
          <a:p>
            <a:pPr>
              <a:buNone/>
            </a:pPr>
            <a:r>
              <a:rPr lang="en-US" sz="2400" dirty="0" smtClean="0">
                <a:solidFill>
                  <a:srgbClr val="FF0000"/>
                </a:solidFill>
              </a:rPr>
              <a:t>4.</a:t>
            </a:r>
            <a:r>
              <a:rPr lang="en-US" sz="2400" b="1" dirty="0">
                <a:solidFill>
                  <a:srgbClr val="FF0000"/>
                </a:solidFill>
              </a:rPr>
              <a:t> Finality and Enforceability of a Foreign </a:t>
            </a:r>
            <a:r>
              <a:rPr lang="en-US" sz="2400" b="1" dirty="0" smtClean="0">
                <a:solidFill>
                  <a:srgbClr val="FF0000"/>
                </a:solidFill>
              </a:rPr>
              <a:t>Judgment</a:t>
            </a:r>
          </a:p>
          <a:p>
            <a:r>
              <a:rPr lang="en-US" sz="2400" dirty="0" smtClean="0"/>
              <a:t>What </a:t>
            </a:r>
            <a:r>
              <a:rPr lang="en-US" sz="2400" dirty="0"/>
              <a:t>do finality and enforceability mean? </a:t>
            </a:r>
            <a:endParaRPr lang="en-US" sz="2400" dirty="0" smtClean="0"/>
          </a:p>
          <a:p>
            <a:r>
              <a:rPr lang="en-US" sz="2400" dirty="0" smtClean="0"/>
              <a:t>What </a:t>
            </a:r>
            <a:r>
              <a:rPr lang="en-US" sz="2400" dirty="0"/>
              <a:t>sort of foreign judgments are deemed to be final and enforceable? </a:t>
            </a:r>
            <a:endParaRPr lang="en-US" sz="2400" dirty="0" smtClean="0"/>
          </a:p>
          <a:p>
            <a:r>
              <a:rPr lang="en-US" sz="2400" dirty="0" smtClean="0"/>
              <a:t>Which </a:t>
            </a:r>
            <a:r>
              <a:rPr lang="en-US" sz="2400" dirty="0"/>
              <a:t>country’s law should be consulted to determine the finality and enforceability of a foreign judgment? </a:t>
            </a:r>
            <a:endParaRPr lang="en-US" sz="2400" dirty="0" smtClean="0"/>
          </a:p>
          <a:p>
            <a:r>
              <a:rPr lang="en-US" sz="2400" dirty="0"/>
              <a:t>Ethiopian law does not include provisions which could help find solutions to these </a:t>
            </a:r>
            <a:r>
              <a:rPr lang="en-US" sz="2400" dirty="0" smtClean="0"/>
              <a:t>questions</a:t>
            </a:r>
          </a:p>
          <a:p>
            <a:r>
              <a:rPr lang="en-US" sz="2400" dirty="0"/>
              <a:t>The concept of finality and enforceability implies that the foreign judgment sought to be executed is not liable to review, modification or to be set aside by another judgment. </a:t>
            </a:r>
            <a:r>
              <a:rPr lang="en-US" sz="2400" dirty="0" smtClean="0"/>
              <a:t>It implies </a:t>
            </a:r>
            <a:r>
              <a:rPr lang="en-US" sz="2400" dirty="0"/>
              <a:t>that the judgments pronounced is conclusive, final and for ever established the existence of rights of which it is made to be conclusive evidence in a country. </a:t>
            </a:r>
          </a:p>
          <a:p>
            <a:r>
              <a:rPr lang="en-US" sz="2400" dirty="0" smtClean="0"/>
              <a:t>A </a:t>
            </a:r>
            <a:r>
              <a:rPr lang="en-US" sz="2400" dirty="0"/>
              <a:t>judgment deemed final and enforceable is said to obtain a status of res judicata, and is, therefore, binding upon the parties to the suit</a:t>
            </a:r>
            <a:r>
              <a:rPr lang="en-US" sz="2400" i="1" dirty="0" smtClean="0"/>
              <a:t>.</a:t>
            </a:r>
          </a:p>
          <a:p>
            <a:endParaRPr lang="en-US" sz="2400"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a:solidFill>
            <a:srgbClr val="00B050"/>
          </a:solidFill>
          <a:ln>
            <a:solidFill>
              <a:srgbClr val="FF0000"/>
            </a:solidFill>
          </a:ln>
        </p:spPr>
        <p:txBody>
          <a:bodyPr>
            <a:normAutofit fontScale="77500" lnSpcReduction="20000"/>
          </a:bodyPr>
          <a:lstStyle/>
          <a:p>
            <a:r>
              <a:rPr lang="en-US" dirty="0"/>
              <a:t>With regard to the appropriate law of country by which the issue of finality and enforceability of a foreign judgment might be tested, two practices are recognized world wide.</a:t>
            </a:r>
            <a:r>
              <a:rPr lang="en-US" baseline="30000" dirty="0"/>
              <a:t>73</a:t>
            </a:r>
            <a:r>
              <a:rPr lang="en-US" dirty="0"/>
              <a:t> </a:t>
            </a:r>
            <a:endParaRPr lang="en-US" dirty="0" smtClean="0"/>
          </a:p>
          <a:p>
            <a:r>
              <a:rPr lang="en-US" dirty="0" smtClean="0"/>
              <a:t>According </a:t>
            </a:r>
            <a:r>
              <a:rPr lang="en-US" dirty="0"/>
              <a:t>to the first practice, to determine whether or not a certain judgment is final and enforceable, it is necessary to refer to the law of the country whose court pronounces the judgment or the rendition forum. </a:t>
            </a:r>
            <a:endParaRPr lang="en-US" dirty="0" smtClean="0"/>
          </a:p>
          <a:p>
            <a:r>
              <a:rPr lang="en-US" dirty="0" smtClean="0"/>
              <a:t>The </a:t>
            </a:r>
            <a:r>
              <a:rPr lang="en-US" dirty="0"/>
              <a:t>second practice argues in favor of the law of the court to whose jurisdiction the judgment has been referred for execution or the recognition forum. </a:t>
            </a:r>
            <a:endParaRPr lang="en-US" dirty="0" smtClean="0"/>
          </a:p>
          <a:p>
            <a:r>
              <a:rPr lang="en-US" dirty="0" smtClean="0"/>
              <a:t>Though </a:t>
            </a:r>
            <a:r>
              <a:rPr lang="en-US" dirty="0"/>
              <a:t>no express provision is available to this effect in Ethiopian law, the requirement embodied in the Civil Procedure Code that the foreign judgment must be accompanied by a certificate signed by the president or the registrar of the rendition forum to the effect that such judgment is final and enforceable, may imply that Ethiopian law has favored the former practice.</a:t>
            </a:r>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a:p>
        </p:txBody>
      </p:sp>
      <p:sp>
        <p:nvSpPr>
          <p:cNvPr id="6" name="Slide Number Placeholder 5"/>
          <p:cNvSpPr>
            <a:spLocks noGrp="1"/>
          </p:cNvSpPr>
          <p:nvPr>
            <p:ph type="sldNum" sz="quarter" idx="12"/>
          </p:nvPr>
        </p:nvSpPr>
        <p:spPr/>
        <p:txBody>
          <a:bodyPr/>
          <a:lstStyle/>
          <a:p>
            <a:fld id="{98471039-8419-46AE-9CDD-41B7699EFAD3}"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0"/>
            <a:ext cx="8229600" cy="6553200"/>
          </a:xfrm>
          <a:solidFill>
            <a:srgbClr val="00B050"/>
          </a:solidFill>
          <a:ln>
            <a:solidFill>
              <a:srgbClr val="FF0000"/>
            </a:solidFill>
          </a:ln>
        </p:spPr>
        <p:txBody>
          <a:bodyPr>
            <a:normAutofit fontScale="70000" lnSpcReduction="20000"/>
          </a:bodyPr>
          <a:lstStyle/>
          <a:p>
            <a:pPr>
              <a:buNone/>
            </a:pPr>
            <a:r>
              <a:rPr lang="en-US" b="1" dirty="0" smtClean="0">
                <a:solidFill>
                  <a:srgbClr val="FF0000"/>
                </a:solidFill>
              </a:rPr>
              <a:t>5.Public </a:t>
            </a:r>
            <a:r>
              <a:rPr lang="en-US" b="1" dirty="0">
                <a:solidFill>
                  <a:srgbClr val="FF0000"/>
                </a:solidFill>
              </a:rPr>
              <a:t>Order and </a:t>
            </a:r>
            <a:r>
              <a:rPr lang="en-US" b="1" dirty="0" smtClean="0">
                <a:solidFill>
                  <a:srgbClr val="FF0000"/>
                </a:solidFill>
              </a:rPr>
              <a:t>Morality</a:t>
            </a:r>
          </a:p>
          <a:p>
            <a:r>
              <a:rPr lang="en-US" dirty="0" smtClean="0"/>
              <a:t>Public </a:t>
            </a:r>
            <a:r>
              <a:rPr lang="en-US" dirty="0"/>
              <a:t>order is a doctrine which serves as a safety valve for a country to enable its courts to deny effect to foreign [laws and] judgments which, for one reason or another, should not be enforced. </a:t>
            </a:r>
            <a:endParaRPr lang="en-US" dirty="0" smtClean="0"/>
          </a:p>
          <a:p>
            <a:r>
              <a:rPr lang="en-US" dirty="0"/>
              <a:t>The concept of morality also refers to the fact that those foreign judgments appearing repugnant to the conduct, customs or accepted practices of the society of the recognition forum would not be carried out. </a:t>
            </a:r>
          </a:p>
          <a:p>
            <a:r>
              <a:rPr lang="en-US" dirty="0" smtClean="0"/>
              <a:t> A </a:t>
            </a:r>
            <a:r>
              <a:rPr lang="en-US" dirty="0"/>
              <a:t>foreign judgment contrary to the morals of a society also implies violation of the public </a:t>
            </a:r>
            <a:r>
              <a:rPr lang="en-US" dirty="0" smtClean="0"/>
              <a:t>order.</a:t>
            </a:r>
          </a:p>
          <a:p>
            <a:r>
              <a:rPr lang="en-US" i="1" dirty="0"/>
              <a:t>Ethiopian courts to deny execution of foreign judgments for ‘public order’ reasons. These include:</a:t>
            </a:r>
            <a:endParaRPr lang="en-US" dirty="0"/>
          </a:p>
          <a:p>
            <a:r>
              <a:rPr lang="en-US" i="1" dirty="0"/>
              <a:t> </a:t>
            </a:r>
            <a:r>
              <a:rPr lang="en-US" i="1" dirty="0" smtClean="0"/>
              <a:t>First</a:t>
            </a:r>
            <a:r>
              <a:rPr lang="en-US" i="1" dirty="0"/>
              <a:t>, a foreign judgment obtained by fraudulent means</a:t>
            </a:r>
            <a:r>
              <a:rPr lang="en-US" i="1" dirty="0" smtClean="0"/>
              <a:t>,</a:t>
            </a:r>
            <a:r>
              <a:rPr lang="en-US" i="1" dirty="0"/>
              <a:t> public order may be invoked when foreign judgment is proved to have been procured by false </a:t>
            </a:r>
            <a:r>
              <a:rPr lang="en-US" i="1" dirty="0" smtClean="0"/>
              <a:t>evidence.</a:t>
            </a:r>
          </a:p>
          <a:p>
            <a:r>
              <a:rPr lang="en-US" i="1" dirty="0"/>
              <a:t>Second, a foreign judgment rendered by a court of a state the government of which Ethiopia opposes, for instance, a judgment from a state whose government is outlawed by the International Community for its grave violations of fundamental rights and human freedoms, is unlikely to be executed in Ethiopia</a:t>
            </a:r>
            <a:endParaRPr lang="en-US" dirty="0" smtClean="0"/>
          </a:p>
          <a:p>
            <a:endParaRPr lang="en-US" dirty="0"/>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304800"/>
            <a:ext cx="8229600" cy="6096000"/>
          </a:xfrm>
          <a:solidFill>
            <a:srgbClr val="00B050"/>
          </a:solidFill>
          <a:ln>
            <a:solidFill>
              <a:srgbClr val="FF0000"/>
            </a:solidFill>
          </a:ln>
        </p:spPr>
        <p:txBody>
          <a:bodyPr>
            <a:normAutofit fontScale="70000" lnSpcReduction="20000"/>
          </a:bodyPr>
          <a:lstStyle/>
          <a:p>
            <a:endParaRPr lang="en-US" dirty="0" smtClean="0"/>
          </a:p>
          <a:p>
            <a:pPr>
              <a:buNone/>
            </a:pPr>
            <a:r>
              <a:rPr lang="en-US" sz="3600" b="1" dirty="0" smtClean="0">
                <a:solidFill>
                  <a:srgbClr val="FF0000"/>
                </a:solidFill>
              </a:rPr>
              <a:t>Examples in which public order may be invoked to deny execution of judgment</a:t>
            </a:r>
            <a:r>
              <a:rPr lang="en-US" sz="3600" dirty="0" smtClean="0">
                <a:solidFill>
                  <a:srgbClr val="FF0000"/>
                </a:solidFill>
              </a:rPr>
              <a:t> </a:t>
            </a:r>
          </a:p>
          <a:p>
            <a:r>
              <a:rPr lang="en-US" dirty="0" smtClean="0"/>
              <a:t> First, a foreign judgment obtained </a:t>
            </a:r>
            <a:r>
              <a:rPr lang="en-US" b="1" dirty="0" smtClean="0"/>
              <a:t>by fraudulent means</a:t>
            </a:r>
            <a:r>
              <a:rPr lang="en-US" dirty="0" smtClean="0"/>
              <a:t>, public order may be invoked when foreign judgment is proved to have been procured by false evidence.</a:t>
            </a:r>
          </a:p>
          <a:p>
            <a:r>
              <a:rPr lang="en-US" dirty="0" smtClean="0"/>
              <a:t>Second, a foreign judgment rendered by a court of a state the government of </a:t>
            </a:r>
            <a:r>
              <a:rPr lang="en-US" b="1" dirty="0" smtClean="0"/>
              <a:t>which Ethiopia opposes</a:t>
            </a:r>
            <a:r>
              <a:rPr lang="en-US" dirty="0" smtClean="0"/>
              <a:t>, for instance, a judgment from a state whose government is outlawed by the International Community for its grave violations of fundamental rights and human freedoms, is unlikely to be executed in Ethiopia</a:t>
            </a:r>
          </a:p>
          <a:p>
            <a:r>
              <a:rPr lang="en-US" dirty="0" smtClean="0"/>
              <a:t>Third</a:t>
            </a:r>
            <a:r>
              <a:rPr lang="en-US" dirty="0"/>
              <a:t>, a foreign judgment which </a:t>
            </a:r>
            <a:r>
              <a:rPr lang="en-US" b="1" dirty="0"/>
              <a:t>precludes an opposing judgment of an Ethiopian court</a:t>
            </a:r>
            <a:r>
              <a:rPr lang="en-US" dirty="0"/>
              <a:t> rendered on the same cause of action, even if the Ethiopian judgment is given later is not executed. As is expressly provided in its Civil Procedure Code, Ethiopia never attributes effect to a foreign judgment contradicting an Ethiopian judgment, even if the later is not yet finalized.</a:t>
            </a:r>
          </a:p>
          <a:p>
            <a:r>
              <a:rPr lang="en-US" dirty="0" smtClean="0"/>
              <a:t> </a:t>
            </a:r>
            <a:r>
              <a:rPr lang="en-US" dirty="0"/>
              <a:t>fourth, foreign judgments which are of a public nature, such as administrative, tax and criminal judgments are denied execution</a:t>
            </a:r>
            <a:r>
              <a:rPr lang="en-US" i="1" dirty="0"/>
              <a:t>. </a:t>
            </a:r>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b="1" i="1" dirty="0" smtClean="0">
                <a:solidFill>
                  <a:srgbClr val="FF0000"/>
                </a:solidFill>
              </a:rPr>
              <a:t/>
            </a:r>
            <a:br>
              <a:rPr lang="en-US" b="1" i="1" dirty="0" smtClean="0">
                <a:solidFill>
                  <a:srgbClr val="FF0000"/>
                </a:solidFill>
              </a:rPr>
            </a:br>
            <a:r>
              <a:rPr lang="en-US" sz="3100" b="1" i="1" dirty="0" smtClean="0">
                <a:solidFill>
                  <a:srgbClr val="FF0000"/>
                </a:solidFill>
              </a:rPr>
              <a:t>Procedures for the Execution of Foreign Judgment</a:t>
            </a:r>
            <a:r>
              <a:rPr lang="en-US" sz="3600" dirty="0" smtClean="0">
                <a:solidFill>
                  <a:srgbClr val="FF0000"/>
                </a:solidFill>
              </a:rPr>
              <a:t/>
            </a:r>
            <a:br>
              <a:rPr lang="en-US" sz="3600" dirty="0" smtClean="0">
                <a:solidFill>
                  <a:srgbClr val="FF0000"/>
                </a:solidFill>
              </a:rPr>
            </a:br>
            <a:endParaRPr lang="en-US" sz="3600" dirty="0">
              <a:solidFill>
                <a:srgbClr val="FF0000"/>
              </a:solidFill>
            </a:endParaRPr>
          </a:p>
        </p:txBody>
      </p:sp>
      <p:sp>
        <p:nvSpPr>
          <p:cNvPr id="3" name="Content Placeholder 2"/>
          <p:cNvSpPr>
            <a:spLocks noGrp="1"/>
          </p:cNvSpPr>
          <p:nvPr>
            <p:ph idx="1"/>
          </p:nvPr>
        </p:nvSpPr>
        <p:spPr>
          <a:xfrm>
            <a:off x="457200" y="533400"/>
            <a:ext cx="8229600" cy="5943600"/>
          </a:xfrm>
          <a:solidFill>
            <a:srgbClr val="00B050"/>
          </a:solidFill>
          <a:ln>
            <a:solidFill>
              <a:srgbClr val="FF0000"/>
            </a:solidFill>
          </a:ln>
        </p:spPr>
        <p:txBody>
          <a:bodyPr>
            <a:normAutofit fontScale="62500" lnSpcReduction="20000"/>
          </a:bodyPr>
          <a:lstStyle/>
          <a:p>
            <a:r>
              <a:rPr lang="en-US" i="1" dirty="0"/>
              <a:t> </a:t>
            </a:r>
            <a:r>
              <a:rPr lang="en-US" dirty="0" smtClean="0"/>
              <a:t>Under </a:t>
            </a:r>
            <a:r>
              <a:rPr lang="en-US" dirty="0"/>
              <a:t>Ethiopian law, no foreign judgment may be executed with out the filing of an application to a court to that effect. </a:t>
            </a:r>
            <a:r>
              <a:rPr lang="en-US" dirty="0" smtClean="0"/>
              <a:t>The </a:t>
            </a:r>
            <a:r>
              <a:rPr lang="en-US" dirty="0"/>
              <a:t>appropriate court to which an application should be made is the Federal High Court of Ethiopia</a:t>
            </a:r>
            <a:r>
              <a:rPr lang="en-US" dirty="0" smtClean="0"/>
              <a:t>.</a:t>
            </a:r>
          </a:p>
          <a:p>
            <a:r>
              <a:rPr lang="en-US" dirty="0" smtClean="0"/>
              <a:t> </a:t>
            </a:r>
            <a:r>
              <a:rPr lang="en-US" dirty="0"/>
              <a:t>Any application for the execution of a foreign judgment must be made in writing and accompanied by certified copy the judgment to be executed</a:t>
            </a:r>
            <a:r>
              <a:rPr lang="en-US" baseline="30000" dirty="0"/>
              <a:t> </a:t>
            </a:r>
            <a:r>
              <a:rPr lang="en-US" dirty="0"/>
              <a:t>and a certificate signed by the president of the registrar of the foreign court rendering the judgment which states that judgment is final and enforceable.</a:t>
            </a:r>
          </a:p>
          <a:p>
            <a:r>
              <a:rPr lang="en-US" baseline="30000" dirty="0"/>
              <a:t> </a:t>
            </a:r>
            <a:r>
              <a:rPr lang="en-US" dirty="0" smtClean="0"/>
              <a:t>Regarding </a:t>
            </a:r>
            <a:r>
              <a:rPr lang="en-US" dirty="0"/>
              <a:t>the copy of the judgment, two questions may be asked. Should the copy of the foreign judgment be translated into Amharic which is the working language of the federal High Court from whatever language it was pronounced in? </a:t>
            </a:r>
            <a:endParaRPr lang="en-US" dirty="0" smtClean="0"/>
          </a:p>
          <a:p>
            <a:r>
              <a:rPr lang="en-US" dirty="0"/>
              <a:t>When turning our attention towards Ethiopian law, we find that no express provision in the code requires the translation of foreign judgment desired to be executed in Ethiopia into Amharic, nor is there one requiring an authentication of that judgment by the appropriate Ethiopian consulate. </a:t>
            </a:r>
            <a:r>
              <a:rPr lang="en-US" dirty="0" smtClean="0"/>
              <a:t>( Art457)</a:t>
            </a:r>
          </a:p>
          <a:p>
            <a:r>
              <a:rPr lang="en-US" dirty="0" smtClean="0"/>
              <a:t>But, </a:t>
            </a:r>
            <a:r>
              <a:rPr lang="en-US" dirty="0"/>
              <a:t>one cannot ignore the judicial practice that has started to develop over the years, and according to which a foreign judgment submitted to an Ethiopian court for execution is required to be translated into Amharic and be authenticated by the Ethiopian consulate in the country in which the judgment was pronounced. </a:t>
            </a:r>
          </a:p>
          <a:p>
            <a:endParaRPr lang="en-US" dirty="0"/>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dirty="0"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6172200"/>
          </a:xfrm>
          <a:solidFill>
            <a:srgbClr val="00B050"/>
          </a:solidFill>
          <a:ln>
            <a:solidFill>
              <a:srgbClr val="FF0000"/>
            </a:solidFill>
          </a:ln>
        </p:spPr>
        <p:txBody>
          <a:bodyPr>
            <a:normAutofit fontScale="77500" lnSpcReduction="20000"/>
          </a:bodyPr>
          <a:lstStyle/>
          <a:p>
            <a:r>
              <a:rPr lang="en-US" dirty="0"/>
              <a:t>An Ethiopian court to which an application for execution of a foreign judgment is filed is required to enable the party against whom the judgment is liable to be executed to present his observation within such time as the court shall fix. </a:t>
            </a:r>
            <a:endParaRPr lang="en-US" dirty="0" smtClean="0"/>
          </a:p>
          <a:p>
            <a:r>
              <a:rPr lang="en-US" dirty="0" smtClean="0"/>
              <a:t>The </a:t>
            </a:r>
            <a:r>
              <a:rPr lang="en-US" dirty="0"/>
              <a:t>court is empowered to decide whether or not pleadings may be submitted. Where it believes that there are doubts as to certain points, the court may suspend its decision, pending the certification of the doubtful points.</a:t>
            </a:r>
            <a:r>
              <a:rPr lang="en-US" baseline="30000" dirty="0"/>
              <a:t> </a:t>
            </a:r>
            <a:r>
              <a:rPr lang="en-US" dirty="0"/>
              <a:t>In principle, the court decided on the basis of the application submitted to it. </a:t>
            </a:r>
            <a:endParaRPr lang="en-US" dirty="0" smtClean="0"/>
          </a:p>
          <a:p>
            <a:r>
              <a:rPr lang="en-US" dirty="0" smtClean="0"/>
              <a:t>However</a:t>
            </a:r>
            <a:r>
              <a:rPr lang="en-US" dirty="0"/>
              <a:t>, in case of special reasons which the court records, as, for example, when a judgment debtor objects to the execution of foreign judgments in Ethiopia, the court may order that a hearing attended by both parties be held. </a:t>
            </a:r>
            <a:endParaRPr lang="en-US" dirty="0" smtClean="0"/>
          </a:p>
          <a:p>
            <a:r>
              <a:rPr lang="en-US" dirty="0" smtClean="0"/>
              <a:t>Where </a:t>
            </a:r>
            <a:r>
              <a:rPr lang="en-US" dirty="0"/>
              <a:t>the application is allowed and the application to have it executed is granted, the foreign judgment is executed as though it were given by the Ethiopian court, and a decision on costs in Ethiopia may also be rendered.</a:t>
            </a:r>
          </a:p>
          <a:p>
            <a:endParaRPr lang="en-US" dirty="0"/>
          </a:p>
        </p:txBody>
      </p:sp>
      <p:sp>
        <p:nvSpPr>
          <p:cNvPr id="4" name="Date Placeholder 3"/>
          <p:cNvSpPr>
            <a:spLocks noGrp="1"/>
          </p:cNvSpPr>
          <p:nvPr>
            <p:ph type="dt" sz="half" idx="10"/>
          </p:nvPr>
        </p:nvSpPr>
        <p:spPr/>
        <p:txBody>
          <a:bodyPr/>
          <a:lstStyle/>
          <a:p>
            <a:fld id="{17D9D431-4BE9-44F1-854E-114F0A4686F8}" type="datetime1">
              <a:rPr lang="en-US" smtClean="0"/>
              <a:pPr/>
              <a:t>12/7/2017</a:t>
            </a:fld>
            <a:endParaRPr lang="en-US" dirty="0"/>
          </a:p>
        </p:txBody>
      </p:sp>
      <p:sp>
        <p:nvSpPr>
          <p:cNvPr id="5" name="Footer Placeholder 4"/>
          <p:cNvSpPr>
            <a:spLocks noGrp="1"/>
          </p:cNvSpPr>
          <p:nvPr>
            <p:ph type="ftr" sz="quarter" idx="11"/>
          </p:nvPr>
        </p:nvSpPr>
        <p:spPr/>
        <p:txBody>
          <a:bodyPr/>
          <a:lstStyle/>
          <a:p>
            <a:r>
              <a:rPr lang="en-US" smtClean="0"/>
              <a:t>Conflict of Laws PPT Chapter Four  Sultan Kassim HU COL</a:t>
            </a:r>
            <a:endParaRPr lang="en-US" dirty="0"/>
          </a:p>
        </p:txBody>
      </p:sp>
      <p:sp>
        <p:nvSpPr>
          <p:cNvPr id="6" name="Slide Number Placeholder 5"/>
          <p:cNvSpPr>
            <a:spLocks noGrp="1"/>
          </p:cNvSpPr>
          <p:nvPr>
            <p:ph type="sldNum" sz="quarter" idx="12"/>
          </p:nvPr>
        </p:nvSpPr>
        <p:spPr/>
        <p:txBody>
          <a:bodyPr/>
          <a:lstStyle/>
          <a:p>
            <a:fld id="{98471039-8419-46AE-9CDD-41B7699EFAD3}" type="slidenum">
              <a:rPr lang="en-US" smtClean="0"/>
              <a:pPr/>
              <a:t>25</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TotalTime>
  <Words>2551</Words>
  <Application>Microsoft Office PowerPoint</Application>
  <PresentationFormat>On-screen Show (4:3)</PresentationFormat>
  <Paragraphs>193</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Chapter Four Recognition and Enforcement of Foreign Judgments and Arbitral Awards </vt:lpstr>
      <vt:lpstr> Introduction</vt:lpstr>
      <vt:lpstr>PowerPoint Presentation</vt:lpstr>
      <vt:lpstr>PowerPoint Presentation</vt:lpstr>
      <vt:lpstr> The Rationale Behind Recognition and Execution of Foreign Judgments</vt:lpstr>
      <vt:lpstr>PowerPoint Presentation</vt:lpstr>
      <vt:lpstr> Theoretical Basis for Recognition and Enforcement</vt:lpstr>
      <vt:lpstr>PowerPoint Presentation</vt:lpstr>
      <vt:lpstr>Modes of Execution of Foreign Judgments</vt:lpstr>
      <vt:lpstr>Conditions for recognition and  enforcement</vt:lpstr>
      <vt:lpstr>PowerPoint Presentation</vt:lpstr>
      <vt:lpstr>Defenses to recognition and enforcement</vt:lpstr>
      <vt:lpstr>Execution of foreign judgments in Ethiopia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Procedures for the Execution of Foreign Judgment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Four Recognition and Enforcement of Foreign Judgments and Arbitral Awards</dc:title>
  <dc:creator>user</dc:creator>
  <cp:lastModifiedBy>Students Union</cp:lastModifiedBy>
  <cp:revision>54</cp:revision>
  <dcterms:created xsi:type="dcterms:W3CDTF">2011-03-08T00:10:54Z</dcterms:created>
  <dcterms:modified xsi:type="dcterms:W3CDTF">2017-12-07T17:39:27Z</dcterms:modified>
</cp:coreProperties>
</file>