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67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217CF6-2264-4F00-9F27-C60C65BC2DA0}" type="datetimeFigureOut">
              <a:rPr lang="en-US" smtClean="0"/>
              <a:pPr/>
              <a:t>16-May-12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49BC9E-E283-4CD2-B8EB-3CA68D2363A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1393D3-731C-4D3D-9E53-2657FF4BD914}" type="datetime1">
              <a:rPr lang="en-US" smtClean="0"/>
              <a:pPr/>
              <a:t>16-May-12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
        <p:nvSpPr>
          <p:cNvPr id="6" name="Slide Number Placeholder 5"/>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F2A8A6-1232-4534-B81C-FA19D4818116}" type="datetime1">
              <a:rPr lang="en-US" smtClean="0"/>
              <a:pPr/>
              <a:t>16-May-12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
        <p:nvSpPr>
          <p:cNvPr id="6" name="Slide Number Placeholder 5"/>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15BCB2-1B2C-40A4-8F12-360A2D70DE99}" type="datetime1">
              <a:rPr lang="en-US" smtClean="0"/>
              <a:pPr/>
              <a:t>16-May-12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
        <p:nvSpPr>
          <p:cNvPr id="6" name="Slide Number Placeholder 5"/>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13B8AFA-5161-481E-ACCA-B5EB83DBC143}" type="datetime1">
              <a:rPr lang="en-US" smtClean="0"/>
              <a:pPr/>
              <a:t>16-May-12</a:t>
            </a:fld>
            <a:endParaRPr lang="en-US"/>
          </a:p>
        </p:txBody>
      </p:sp>
      <p:sp>
        <p:nvSpPr>
          <p:cNvPr id="6" name="Footer Placeholder 5"/>
          <p:cNvSpPr>
            <a:spLocks noGrp="1"/>
          </p:cNvSpPr>
          <p:nvPr>
            <p:ph type="ftr" sz="quarter" idx="11"/>
          </p:nvPr>
        </p:nvSpPr>
        <p:spPr/>
        <p:txBody>
          <a:bodyPr/>
          <a:lstStyle/>
          <a:p>
            <a:r>
              <a:rPr lang="en-US" smtClean="0"/>
              <a:t>Conflict P II PPT Chapter Six Tort     Sultan Kassim HU COL</a:t>
            </a:r>
            <a:endParaRPr lang="en-US"/>
          </a:p>
        </p:txBody>
      </p:sp>
      <p:sp>
        <p:nvSpPr>
          <p:cNvPr id="7" name="Slide Number Placeholder 6"/>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A3E39C-BA3B-4B24-AE6D-BCCD675FFBF2}" type="datetime1">
              <a:rPr lang="en-US" smtClean="0"/>
              <a:pPr/>
              <a:t>16-May-12</a:t>
            </a:fld>
            <a:endParaRPr lang="en-US"/>
          </a:p>
        </p:txBody>
      </p:sp>
      <p:sp>
        <p:nvSpPr>
          <p:cNvPr id="8" name="Footer Placeholder 7"/>
          <p:cNvSpPr>
            <a:spLocks noGrp="1"/>
          </p:cNvSpPr>
          <p:nvPr>
            <p:ph type="ftr" sz="quarter" idx="11"/>
          </p:nvPr>
        </p:nvSpPr>
        <p:spPr/>
        <p:txBody>
          <a:bodyPr/>
          <a:lstStyle/>
          <a:p>
            <a:r>
              <a:rPr lang="en-US" smtClean="0"/>
              <a:t>Conflict P II PPT Chapter Six Tort     Sultan Kassim HU COL</a:t>
            </a:r>
            <a:endParaRPr lang="en-US"/>
          </a:p>
        </p:txBody>
      </p:sp>
      <p:sp>
        <p:nvSpPr>
          <p:cNvPr id="9" name="Slide Number Placeholder 8"/>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E43A4DB-8B6E-4062-9197-DD369C04F027}" type="datetime1">
              <a:rPr lang="en-US" smtClean="0"/>
              <a:pPr/>
              <a:t>16-May-12</a:t>
            </a:fld>
            <a:endParaRPr lang="en-US"/>
          </a:p>
        </p:txBody>
      </p:sp>
      <p:sp>
        <p:nvSpPr>
          <p:cNvPr id="4" name="Footer Placeholder 3"/>
          <p:cNvSpPr>
            <a:spLocks noGrp="1"/>
          </p:cNvSpPr>
          <p:nvPr>
            <p:ph type="ftr" sz="quarter" idx="11"/>
          </p:nvPr>
        </p:nvSpPr>
        <p:spPr/>
        <p:txBody>
          <a:bodyPr/>
          <a:lstStyle/>
          <a:p>
            <a:r>
              <a:rPr lang="en-US" smtClean="0"/>
              <a:t>Conflict P II PPT Chapter Six Tort     Sultan Kassim HU COL</a:t>
            </a:r>
            <a:endParaRPr lang="en-US"/>
          </a:p>
        </p:txBody>
      </p:sp>
      <p:sp>
        <p:nvSpPr>
          <p:cNvPr id="5" name="Slide Number Placeholder 4"/>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4E74A4-8A2D-483F-8FA7-C08A6811E24E}" type="datetime1">
              <a:rPr lang="en-US" smtClean="0"/>
              <a:pPr/>
              <a:t>16-May-12</a:t>
            </a:fld>
            <a:endParaRPr lang="en-US"/>
          </a:p>
        </p:txBody>
      </p:sp>
      <p:sp>
        <p:nvSpPr>
          <p:cNvPr id="3" name="Footer Placeholder 2"/>
          <p:cNvSpPr>
            <a:spLocks noGrp="1"/>
          </p:cNvSpPr>
          <p:nvPr>
            <p:ph type="ftr" sz="quarter" idx="11"/>
          </p:nvPr>
        </p:nvSpPr>
        <p:spPr/>
        <p:txBody>
          <a:bodyPr/>
          <a:lstStyle/>
          <a:p>
            <a:r>
              <a:rPr lang="en-US" smtClean="0"/>
              <a:t>Conflict P II PPT Chapter Six Tort     Sultan Kassim HU COL</a:t>
            </a:r>
            <a:endParaRPr lang="en-US"/>
          </a:p>
        </p:txBody>
      </p:sp>
      <p:sp>
        <p:nvSpPr>
          <p:cNvPr id="4" name="Slide Number Placeholder 3"/>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4CA848-6D84-435C-B28F-D4B576342398}" type="datetime1">
              <a:rPr lang="en-US" smtClean="0"/>
              <a:pPr/>
              <a:t>16-May-12</a:t>
            </a:fld>
            <a:endParaRPr lang="en-US"/>
          </a:p>
        </p:txBody>
      </p:sp>
      <p:sp>
        <p:nvSpPr>
          <p:cNvPr id="6" name="Footer Placeholder 5"/>
          <p:cNvSpPr>
            <a:spLocks noGrp="1"/>
          </p:cNvSpPr>
          <p:nvPr>
            <p:ph type="ftr" sz="quarter" idx="11"/>
          </p:nvPr>
        </p:nvSpPr>
        <p:spPr/>
        <p:txBody>
          <a:bodyPr/>
          <a:lstStyle/>
          <a:p>
            <a:r>
              <a:rPr lang="en-US" smtClean="0"/>
              <a:t>Conflict P II PPT Chapter Six Tort     Sultan Kassim HU COL</a:t>
            </a:r>
            <a:endParaRPr lang="en-US"/>
          </a:p>
        </p:txBody>
      </p:sp>
      <p:sp>
        <p:nvSpPr>
          <p:cNvPr id="7" name="Slide Number Placeholder 6"/>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7F94DE-6CB7-4CE1-A7E0-AD27BF221949}" type="datetime1">
              <a:rPr lang="en-US" smtClean="0"/>
              <a:pPr/>
              <a:t>16-May-12</a:t>
            </a:fld>
            <a:endParaRPr lang="en-US"/>
          </a:p>
        </p:txBody>
      </p:sp>
      <p:sp>
        <p:nvSpPr>
          <p:cNvPr id="6" name="Footer Placeholder 5"/>
          <p:cNvSpPr>
            <a:spLocks noGrp="1"/>
          </p:cNvSpPr>
          <p:nvPr>
            <p:ph type="ftr" sz="quarter" idx="11"/>
          </p:nvPr>
        </p:nvSpPr>
        <p:spPr/>
        <p:txBody>
          <a:bodyPr/>
          <a:lstStyle/>
          <a:p>
            <a:r>
              <a:rPr lang="en-US" smtClean="0"/>
              <a:t>Conflict P II PPT Chapter Six Tort     Sultan Kassim HU COL</a:t>
            </a:r>
            <a:endParaRPr lang="en-US"/>
          </a:p>
        </p:txBody>
      </p:sp>
      <p:sp>
        <p:nvSpPr>
          <p:cNvPr id="7" name="Slide Number Placeholder 6"/>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0BF823-E91D-4477-95A5-AF7489F8B366}" type="datetime1">
              <a:rPr lang="en-US" smtClean="0"/>
              <a:pPr/>
              <a:t>16-May-12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
        <p:nvSpPr>
          <p:cNvPr id="6" name="Slide Number Placeholder 5"/>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29E38E-AAD3-4405-BCC5-33FDFEC91AA2}" type="datetime1">
              <a:rPr lang="en-US" smtClean="0"/>
              <a:pPr/>
              <a:t>16-May-12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
        <p:nvSpPr>
          <p:cNvPr id="6" name="Slide Number Placeholder 5"/>
          <p:cNvSpPr>
            <a:spLocks noGrp="1"/>
          </p:cNvSpPr>
          <p:nvPr>
            <p:ph type="sldNum" sz="quarter" idx="12"/>
          </p:nvPr>
        </p:nvSpPr>
        <p:spPr/>
        <p:txBody>
          <a:bodyPr/>
          <a:lstStyle/>
          <a:p>
            <a:fld id="{9EF0F647-55F2-42AD-A691-CAA9CEF3B69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DC22C-E9F0-42EA-A235-40AB19664F1F}" type="datetime1">
              <a:rPr lang="en-US" smtClean="0"/>
              <a:pPr/>
              <a:t>16-May-12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P II PPT Chapter Six Tort     Sultan Kassim HU COL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F0F647-55F2-42AD-A691-CAA9CEF3B69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517775"/>
          </a:xfrm>
        </p:spPr>
        <p:txBody>
          <a:bodyPr/>
          <a:lstStyle/>
          <a:p>
            <a:r>
              <a:rPr lang="en-US" dirty="0" smtClean="0">
                <a:solidFill>
                  <a:srgbClr val="00B0F0"/>
                </a:solidFill>
              </a:rPr>
              <a:t>Chapter six</a:t>
            </a:r>
            <a:br>
              <a:rPr lang="en-US" dirty="0" smtClean="0">
                <a:solidFill>
                  <a:srgbClr val="00B0F0"/>
                </a:solidFill>
              </a:rPr>
            </a:br>
            <a:r>
              <a:rPr lang="en-US" dirty="0" smtClean="0">
                <a:solidFill>
                  <a:srgbClr val="00B0F0"/>
                </a:solidFill>
              </a:rPr>
              <a:t>Non-contractual Obligations</a:t>
            </a:r>
            <a:endParaRPr lang="en-US" dirty="0">
              <a:solidFill>
                <a:srgbClr val="00B0F0"/>
              </a:solidFill>
            </a:endParaRPr>
          </a:p>
        </p:txBody>
      </p:sp>
      <p:sp>
        <p:nvSpPr>
          <p:cNvPr id="3" name="Subtitle 2"/>
          <p:cNvSpPr>
            <a:spLocks noGrp="1"/>
          </p:cNvSpPr>
          <p:nvPr>
            <p:ph type="subTitle" idx="1"/>
          </p:nvPr>
        </p:nvSpPr>
        <p:spPr>
          <a:xfrm>
            <a:off x="1371600" y="5181600"/>
            <a:ext cx="6400800" cy="457200"/>
          </a:xfrm>
        </p:spPr>
        <p:txBody>
          <a:bodyPr>
            <a:normAutofit fontScale="92500" lnSpcReduction="20000"/>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400" b="1" dirty="0" smtClean="0">
                <a:solidFill>
                  <a:srgbClr val="FF0000"/>
                </a:solidFill>
              </a:rPr>
              <a:t/>
            </a:r>
            <a:br>
              <a:rPr lang="en-US" sz="2400" b="1" dirty="0" smtClean="0">
                <a:solidFill>
                  <a:srgbClr val="FF0000"/>
                </a:solidFill>
              </a:rPr>
            </a:br>
            <a:r>
              <a:rPr lang="en-US" sz="2400" b="1" dirty="0" smtClean="0">
                <a:solidFill>
                  <a:srgbClr val="FF0000"/>
                </a:solidFill>
              </a:rPr>
              <a:t>6.1. The Main Rules Governing Choice of Law in Tort</a:t>
            </a:r>
            <a:r>
              <a:rPr lang="en-US" sz="2400" dirty="0" smtClean="0">
                <a:solidFill>
                  <a:srgbClr val="FF0000"/>
                </a:solidFill>
              </a:rPr>
              <a:t/>
            </a:r>
            <a:br>
              <a:rPr lang="en-US" sz="2400" dirty="0" smtClean="0">
                <a:solidFill>
                  <a:srgbClr val="FF0000"/>
                </a:solidFill>
              </a:rPr>
            </a:br>
            <a:endParaRPr lang="en-US" sz="2400" dirty="0">
              <a:solidFill>
                <a:srgbClr val="FF0000"/>
              </a:solidFill>
            </a:endParaRPr>
          </a:p>
        </p:txBody>
      </p:sp>
      <p:sp>
        <p:nvSpPr>
          <p:cNvPr id="3" name="Content Placeholder 2"/>
          <p:cNvSpPr>
            <a:spLocks noGrp="1"/>
          </p:cNvSpPr>
          <p:nvPr>
            <p:ph idx="1"/>
          </p:nvPr>
        </p:nvSpPr>
        <p:spPr>
          <a:xfrm>
            <a:off x="533400" y="762000"/>
            <a:ext cx="8229600" cy="5135563"/>
          </a:xfrm>
          <a:solidFill>
            <a:srgbClr val="00B050"/>
          </a:solidFill>
          <a:ln>
            <a:solidFill>
              <a:srgbClr val="FF0000"/>
            </a:solidFill>
          </a:ln>
        </p:spPr>
        <p:txBody>
          <a:bodyPr>
            <a:normAutofit fontScale="92500" lnSpcReduction="10000"/>
          </a:bodyPr>
          <a:lstStyle/>
          <a:p>
            <a:r>
              <a:rPr lang="en-US" dirty="0" smtClean="0"/>
              <a:t>The traditional rule for choice of law in multi state tort cases have always been the </a:t>
            </a:r>
            <a:r>
              <a:rPr lang="en-US" i="1" dirty="0" err="1" smtClean="0"/>
              <a:t>lex</a:t>
            </a:r>
            <a:r>
              <a:rPr lang="en-US" i="1" dirty="0" smtClean="0"/>
              <a:t> loci </a:t>
            </a:r>
            <a:r>
              <a:rPr lang="en-US" i="1" dirty="0" err="1" smtClean="0"/>
              <a:t>delicti</a:t>
            </a:r>
            <a:r>
              <a:rPr lang="en-US" i="1" dirty="0" smtClean="0"/>
              <a:t> </a:t>
            </a:r>
            <a:r>
              <a:rPr lang="en-US" dirty="0" smtClean="0"/>
              <a:t>.i.e., the law of the place of wrong. </a:t>
            </a:r>
          </a:p>
          <a:p>
            <a:r>
              <a:rPr lang="en-US" dirty="0" smtClean="0"/>
              <a:t>Place of wrong full act and place of harmful result could be different and difficult to ascertain. </a:t>
            </a:r>
          </a:p>
          <a:p>
            <a:r>
              <a:rPr lang="en-US" dirty="0" smtClean="0"/>
              <a:t>E.g. Mr. Armanda a Kenyan resident in Ethiopia sends to Mrs. Selena in Zimbabwe a package of poisoned chocolate. Mrs. Selena receives the package and boards the Saudi Arabian Air </a:t>
            </a:r>
            <a:r>
              <a:rPr lang="en-US" dirty="0" err="1" smtClean="0"/>
              <a:t>ways.In</a:t>
            </a:r>
            <a:r>
              <a:rPr lang="en-US" dirty="0" smtClean="0"/>
              <a:t> the plane, she ate the chocolate and got sick and died in a hospital in Dubai.</a:t>
            </a:r>
          </a:p>
        </p:txBody>
      </p:sp>
      <p:sp>
        <p:nvSpPr>
          <p:cNvPr id="4" name="Slide Number Placeholder 3"/>
          <p:cNvSpPr>
            <a:spLocks noGrp="1"/>
          </p:cNvSpPr>
          <p:nvPr>
            <p:ph type="sldNum" sz="quarter" idx="12"/>
          </p:nvPr>
        </p:nvSpPr>
        <p:spPr/>
        <p:txBody>
          <a:bodyPr/>
          <a:lstStyle/>
          <a:p>
            <a:fld id="{9EF0F647-55F2-42AD-A691-CAA9CEF3B693}"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endParaRPr lang="en-US" sz="3200" dirty="0"/>
          </a:p>
        </p:txBody>
      </p:sp>
      <p:sp>
        <p:nvSpPr>
          <p:cNvPr id="3" name="Content Placeholder 2"/>
          <p:cNvSpPr>
            <a:spLocks noGrp="1"/>
          </p:cNvSpPr>
          <p:nvPr>
            <p:ph idx="1"/>
          </p:nvPr>
        </p:nvSpPr>
        <p:spPr>
          <a:xfrm>
            <a:off x="457200" y="304800"/>
            <a:ext cx="8229600" cy="6096000"/>
          </a:xfrm>
          <a:solidFill>
            <a:srgbClr val="00B050"/>
          </a:solidFill>
          <a:ln>
            <a:solidFill>
              <a:srgbClr val="FF0000"/>
            </a:solidFill>
          </a:ln>
        </p:spPr>
        <p:txBody>
          <a:bodyPr>
            <a:normAutofit fontScale="92500" lnSpcReduction="20000"/>
          </a:bodyPr>
          <a:lstStyle/>
          <a:p>
            <a:r>
              <a:rPr lang="en-US" dirty="0" smtClean="0"/>
              <a:t>Countries differ  in the meaning they attach to the phrase “place of wrong”. </a:t>
            </a:r>
          </a:p>
          <a:p>
            <a:r>
              <a:rPr lang="en-US" dirty="0" smtClean="0"/>
              <a:t>Some legal systems defined it as the place where the wrong full act necessary to make the </a:t>
            </a:r>
            <a:r>
              <a:rPr lang="en-US" dirty="0" err="1" smtClean="0"/>
              <a:t>tortfeasore</a:t>
            </a:r>
            <a:r>
              <a:rPr lang="en-US" dirty="0" smtClean="0"/>
              <a:t> liable took place. </a:t>
            </a:r>
          </a:p>
          <a:p>
            <a:r>
              <a:rPr lang="en-US" dirty="0" smtClean="0"/>
              <a:t>Some others define it as the place where the damage occurred. </a:t>
            </a:r>
          </a:p>
          <a:p>
            <a:r>
              <a:rPr lang="en-US" dirty="0" smtClean="0"/>
              <a:t>Still others hold </a:t>
            </a:r>
            <a:r>
              <a:rPr lang="en-US" i="1" dirty="0" err="1" smtClean="0"/>
              <a:t>lex</a:t>
            </a:r>
            <a:r>
              <a:rPr lang="en-US" i="1" dirty="0" smtClean="0"/>
              <a:t> loci </a:t>
            </a:r>
            <a:r>
              <a:rPr lang="en-US" i="1" dirty="0" err="1" smtClean="0"/>
              <a:t>delicti</a:t>
            </a:r>
            <a:r>
              <a:rPr lang="en-US" dirty="0" smtClean="0"/>
              <a:t> to mean the place of the act or the place of injury and, in case of conflict ,the plaintiff is given the right to choose the one more favorable to him. </a:t>
            </a:r>
          </a:p>
          <a:p>
            <a:r>
              <a:rPr lang="en-US" dirty="0" smtClean="0"/>
              <a:t>Even though the Europe has always placed a great emphasis on the control of the </a:t>
            </a:r>
            <a:r>
              <a:rPr lang="en-US" i="1" dirty="0" err="1" smtClean="0"/>
              <a:t>lex</a:t>
            </a:r>
            <a:r>
              <a:rPr lang="en-US" i="1" dirty="0" smtClean="0"/>
              <a:t> loci </a:t>
            </a:r>
            <a:r>
              <a:rPr lang="en-US" i="1" dirty="0" err="1" smtClean="0"/>
              <a:t>delicti</a:t>
            </a:r>
            <a:r>
              <a:rPr lang="en-US" dirty="0" smtClean="0"/>
              <a:t>, recent developments indicate countries are looking for more flexible connections.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dirty="0" smtClean="0">
                <a:solidFill>
                  <a:srgbClr val="FF0000"/>
                </a:solidFill>
              </a:rPr>
              <a:t>Choice of law in Tort</a:t>
            </a:r>
            <a:endParaRPr lang="en-US" dirty="0">
              <a:solidFill>
                <a:srgbClr val="FF0000"/>
              </a:solidFill>
            </a:endParaRPr>
          </a:p>
        </p:txBody>
      </p:sp>
      <p:sp>
        <p:nvSpPr>
          <p:cNvPr id="3" name="Content Placeholder 2"/>
          <p:cNvSpPr>
            <a:spLocks noGrp="1"/>
          </p:cNvSpPr>
          <p:nvPr>
            <p:ph idx="1"/>
          </p:nvPr>
        </p:nvSpPr>
        <p:spPr>
          <a:xfrm>
            <a:off x="457200" y="533400"/>
            <a:ext cx="8229600" cy="5638800"/>
          </a:xfrm>
          <a:solidFill>
            <a:srgbClr val="00B050"/>
          </a:solidFill>
          <a:ln>
            <a:solidFill>
              <a:srgbClr val="FF0000"/>
            </a:solidFill>
          </a:ln>
        </p:spPr>
        <p:txBody>
          <a:bodyPr>
            <a:normAutofit fontScale="55000" lnSpcReduction="20000"/>
          </a:bodyPr>
          <a:lstStyle/>
          <a:p>
            <a:pPr algn="just">
              <a:buNone/>
            </a:pPr>
            <a:r>
              <a:rPr lang="en-US" sz="5100" b="1" dirty="0" smtClean="0"/>
              <a:t>   1. </a:t>
            </a:r>
            <a:r>
              <a:rPr lang="en-US" sz="5100" b="1" dirty="0" smtClean="0">
                <a:solidFill>
                  <a:srgbClr val="FF0000"/>
                </a:solidFill>
              </a:rPr>
              <a:t>The US Approach Under the Second Restatement</a:t>
            </a:r>
          </a:p>
          <a:p>
            <a:pPr algn="just"/>
            <a:endParaRPr lang="en-US" dirty="0" smtClean="0"/>
          </a:p>
          <a:p>
            <a:pPr algn="just"/>
            <a:r>
              <a:rPr lang="en-US" dirty="0" smtClean="0"/>
              <a:t>The rights and liabilities of the parties with respect to an issue in tort are determined by the local law of the state which, with respect to that issue, has the </a:t>
            </a:r>
            <a:r>
              <a:rPr lang="en-US" b="1" i="1" dirty="0" smtClean="0"/>
              <a:t>most significant relationship</a:t>
            </a:r>
            <a:r>
              <a:rPr lang="en-US" b="1" dirty="0" smtClean="0"/>
              <a:t> </a:t>
            </a:r>
            <a:r>
              <a:rPr lang="en-US" dirty="0" smtClean="0"/>
              <a:t>to the occurrence and the parties. These  contacts would be ascertained based on :</a:t>
            </a:r>
            <a:r>
              <a:rPr lang="en-US" i="1" dirty="0" smtClean="0"/>
              <a:t> </a:t>
            </a:r>
          </a:p>
          <a:p>
            <a:pPr algn="just"/>
            <a:r>
              <a:rPr lang="en-US" i="1" dirty="0" smtClean="0"/>
              <a:t>The place where injury occurred</a:t>
            </a:r>
            <a:r>
              <a:rPr lang="en-US" dirty="0" smtClean="0"/>
              <a:t>: </a:t>
            </a:r>
          </a:p>
          <a:p>
            <a:pPr algn="just"/>
            <a:r>
              <a:rPr lang="en-US" dirty="0" smtClean="0"/>
              <a:t> e.g. In the case of personal injuries or of injuries to tangible things except where place of injury is purely fortuitous.</a:t>
            </a:r>
            <a:endParaRPr lang="en-US" i="1" dirty="0" smtClean="0"/>
          </a:p>
          <a:p>
            <a:pPr algn="just"/>
            <a:r>
              <a:rPr lang="en-US" i="1" dirty="0" smtClean="0"/>
              <a:t>The place where conduct occurred</a:t>
            </a:r>
          </a:p>
          <a:p>
            <a:pPr algn="just"/>
            <a:r>
              <a:rPr lang="en-US" i="1" dirty="0" smtClean="0"/>
              <a:t>E.g. </a:t>
            </a:r>
            <a:r>
              <a:rPr lang="en-US" dirty="0" smtClean="0"/>
              <a:t>the place where the conduct occurred is given particular weight in the case of torts involving interference with a marriage relationship or unfair competition , </a:t>
            </a:r>
            <a:endParaRPr lang="en-US" i="1" dirty="0" smtClean="0"/>
          </a:p>
          <a:p>
            <a:pPr algn="just"/>
            <a:r>
              <a:rPr lang="en-US" i="1" dirty="0" smtClean="0"/>
              <a:t>The domicile, residence, nationality, place of incorporation and place of business of the parties</a:t>
            </a:r>
            <a:r>
              <a:rPr lang="en-US" dirty="0" smtClean="0"/>
              <a:t>:</a:t>
            </a:r>
          </a:p>
          <a:p>
            <a:pPr algn="just"/>
            <a:r>
              <a:rPr lang="en-US" dirty="0" smtClean="0"/>
              <a:t>E.g.. When the interest affected is a personal one such as a person's interest in his reputation, or in his right of privacy  etc.</a:t>
            </a:r>
          </a:p>
          <a:p>
            <a:pPr algn="just"/>
            <a:r>
              <a:rPr lang="en-US" i="1" dirty="0" smtClean="0"/>
              <a:t>The place where the relationship, if any, between the parties is centered</a:t>
            </a:r>
            <a:r>
              <a:rPr lang="en-US" dirty="0" smtClean="0"/>
              <a:t> (E.g. When there is a relationship between the plaintiff and the defendant and when the injury was caused by an act done in the course of the relationship)</a:t>
            </a:r>
            <a:endParaRPr lang="en-US" b="1" dirty="0" smtClean="0"/>
          </a:p>
        </p:txBody>
      </p:sp>
      <p:sp>
        <p:nvSpPr>
          <p:cNvPr id="4" name="Slide Number Placeholder 3"/>
          <p:cNvSpPr>
            <a:spLocks noGrp="1"/>
          </p:cNvSpPr>
          <p:nvPr>
            <p:ph type="sldNum" sz="quarter" idx="12"/>
          </p:nvPr>
        </p:nvSpPr>
        <p:spPr/>
        <p:txBody>
          <a:bodyPr/>
          <a:lstStyle/>
          <a:p>
            <a:fld id="{9EF0F647-55F2-42AD-A691-CAA9CEF3B693}"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3200"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77500" lnSpcReduction="20000"/>
          </a:bodyPr>
          <a:lstStyle/>
          <a:p>
            <a:pPr>
              <a:buNone/>
            </a:pPr>
            <a:r>
              <a:rPr lang="en-US" sz="4600" b="1" dirty="0" smtClean="0"/>
              <a:t>  2. </a:t>
            </a:r>
            <a:r>
              <a:rPr lang="en-US" sz="3600" b="1" dirty="0" smtClean="0">
                <a:solidFill>
                  <a:srgbClr val="FF0000"/>
                </a:solidFill>
              </a:rPr>
              <a:t>The Approach Under the Rome II Proposal</a:t>
            </a:r>
          </a:p>
          <a:p>
            <a:r>
              <a:rPr lang="en-US" dirty="0" smtClean="0"/>
              <a:t>"Regulation on the Law Applicable to Non-Contractual Obligations" known as "Rome II.“  which come in to effect in 2009.</a:t>
            </a:r>
          </a:p>
          <a:p>
            <a:r>
              <a:rPr lang="en-US" dirty="0" smtClean="0"/>
              <a:t>Rome II will have "universal application," in the sense that it will cover torts occurring both within and outside the Union, and it may lead to the application of the law of a non-Member State.</a:t>
            </a:r>
            <a:r>
              <a:rPr lang="en-US" b="1" dirty="0" smtClean="0"/>
              <a:t> </a:t>
            </a:r>
          </a:p>
          <a:p>
            <a:r>
              <a:rPr lang="en-US" b="1" dirty="0" smtClean="0"/>
              <a:t>The Main Rule Under the Proposal</a:t>
            </a:r>
          </a:p>
          <a:p>
            <a:r>
              <a:rPr lang="en-US" dirty="0" smtClean="0"/>
              <a:t>Rome II's central provision is Article 4, which contains the general and residual rules and the applicable law shall be the law of the country in which "the damage   occurs" (</a:t>
            </a:r>
            <a:r>
              <a:rPr lang="en-US" i="1" dirty="0" err="1" smtClean="0"/>
              <a:t>lex</a:t>
            </a:r>
            <a:r>
              <a:rPr lang="en-US" i="1" dirty="0" smtClean="0"/>
              <a:t> loci </a:t>
            </a:r>
            <a:r>
              <a:rPr lang="en-US" i="1" dirty="0" err="1" smtClean="0"/>
              <a:t>damni</a:t>
            </a:r>
            <a:r>
              <a:rPr lang="en-US" dirty="0" smtClean="0"/>
              <a:t>). </a:t>
            </a:r>
            <a:r>
              <a:rPr lang="en-US" dirty="0" err="1" smtClean="0"/>
              <a:t>i.e</a:t>
            </a:r>
            <a:r>
              <a:rPr lang="en-US" dirty="0" smtClean="0"/>
              <a:t> place of harm.</a:t>
            </a:r>
          </a:p>
          <a:p>
            <a:r>
              <a:rPr lang="en-US" dirty="0" smtClean="0"/>
              <a:t> Thus the general rule of Rome II is nothing but a restatement of the traditional </a:t>
            </a:r>
            <a:r>
              <a:rPr lang="en-US" i="1" dirty="0" err="1" smtClean="0"/>
              <a:t>lex</a:t>
            </a:r>
            <a:r>
              <a:rPr lang="en-US" i="1" dirty="0" smtClean="0"/>
              <a:t> loci </a:t>
            </a:r>
            <a:r>
              <a:rPr lang="en-US" i="1" dirty="0" err="1" smtClean="0"/>
              <a:t>delicti</a:t>
            </a:r>
            <a:r>
              <a:rPr lang="en-US" i="1" dirty="0" smtClean="0"/>
              <a:t>  </a:t>
            </a:r>
            <a:r>
              <a:rPr lang="en-US" i="1" dirty="0" err="1" smtClean="0"/>
              <a:t>commissi</a:t>
            </a:r>
            <a:r>
              <a:rPr lang="en-US" i="1" dirty="0" smtClean="0"/>
              <a:t> </a:t>
            </a:r>
            <a:r>
              <a:rPr lang="en-US" dirty="0" smtClean="0"/>
              <a:t>rule.</a:t>
            </a:r>
          </a:p>
          <a:p>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55000" lnSpcReduction="20000"/>
          </a:bodyPr>
          <a:lstStyle/>
          <a:p>
            <a:r>
              <a:rPr lang="en-US" sz="3800" b="1" dirty="0" smtClean="0"/>
              <a:t>The Exceptions where </a:t>
            </a:r>
            <a:r>
              <a:rPr lang="en-US" sz="3800" b="1" dirty="0" err="1" smtClean="0"/>
              <a:t>lex</a:t>
            </a:r>
            <a:r>
              <a:rPr lang="en-US" sz="3800" b="1" dirty="0" smtClean="0"/>
              <a:t> loci </a:t>
            </a:r>
            <a:r>
              <a:rPr lang="en-US" sz="3800" b="1" dirty="0" err="1" smtClean="0"/>
              <a:t>damni</a:t>
            </a:r>
            <a:r>
              <a:rPr lang="en-US" sz="3800" b="1" dirty="0" smtClean="0"/>
              <a:t> may not apply</a:t>
            </a:r>
            <a:endParaRPr lang="en-US" sz="3800" dirty="0" smtClean="0"/>
          </a:p>
          <a:p>
            <a:r>
              <a:rPr lang="en-US" dirty="0" smtClean="0"/>
              <a:t>The general exceptions include the following:</a:t>
            </a:r>
          </a:p>
          <a:p>
            <a:r>
              <a:rPr lang="en-US" dirty="0" smtClean="0"/>
              <a:t>(1)  the application of the law of the parties' common habitual residence, under Article 4(2); </a:t>
            </a:r>
          </a:p>
          <a:p>
            <a:r>
              <a:rPr lang="en-US" dirty="0" smtClean="0"/>
              <a:t>If both the </a:t>
            </a:r>
            <a:r>
              <a:rPr lang="en-US" dirty="0" err="1" smtClean="0"/>
              <a:t>tortfissor</a:t>
            </a:r>
            <a:r>
              <a:rPr lang="en-US" dirty="0" smtClean="0"/>
              <a:t> and the victim are domiciled in the same place their common domicile law  has legitimate claim for application.</a:t>
            </a:r>
          </a:p>
          <a:p>
            <a:r>
              <a:rPr lang="en-US" dirty="0" smtClean="0"/>
              <a:t>(2) the application of the law of a state that has a "manifestly closer connection," under the escape clause of Article 4(3) </a:t>
            </a:r>
          </a:p>
          <a:p>
            <a:r>
              <a:rPr lang="en-US" dirty="0" smtClean="0"/>
              <a:t>E.g. a manifestly closer connection  based on a "pre-existing relationship between the parties, such as a contract, that is closely connected with the tort/</a:t>
            </a:r>
            <a:r>
              <a:rPr lang="en-US" dirty="0" err="1" smtClean="0"/>
              <a:t>delict</a:t>
            </a:r>
            <a:r>
              <a:rPr lang="en-US" dirty="0" smtClean="0"/>
              <a:t> in question."</a:t>
            </a:r>
          </a:p>
          <a:p>
            <a:r>
              <a:rPr lang="en-US" dirty="0" smtClean="0"/>
              <a:t>(3) the application of the mandatory rules of the forum state, under Article 16;</a:t>
            </a:r>
          </a:p>
          <a:p>
            <a:r>
              <a:rPr lang="en-US" dirty="0" smtClean="0"/>
              <a:t>(4) the "taking into account" (and possible application) of the "safety and conduct" rules of the state of conduct, under Article 17;</a:t>
            </a:r>
          </a:p>
          <a:p>
            <a:r>
              <a:rPr lang="en-US" dirty="0" smtClean="0"/>
              <a:t>(5) the application of the law chosen by the parties before or after the occurrence of the tort, under Article 14;</a:t>
            </a:r>
          </a:p>
          <a:p>
            <a:pPr lvl="1"/>
            <a:r>
              <a:rPr lang="en-US" dirty="0" smtClean="0"/>
              <a:t> It allows post-tort agreements between all parties and allows pre-tort agreements only if all the parties are "pursuing a commercial activity."  In the latter case, the agreement must be "freely negotiated." </a:t>
            </a:r>
          </a:p>
          <a:p>
            <a:r>
              <a:rPr lang="en-US" dirty="0" smtClean="0"/>
              <a:t>(6) the non-application of the </a:t>
            </a:r>
            <a:r>
              <a:rPr lang="en-US" dirty="0" err="1" smtClean="0"/>
              <a:t>lex</a:t>
            </a:r>
            <a:r>
              <a:rPr lang="en-US" dirty="0" smtClean="0"/>
              <a:t> loci (or any other law) when it is manifestly incompatible with the </a:t>
            </a:r>
            <a:r>
              <a:rPr lang="en-US" dirty="0" err="1" smtClean="0"/>
              <a:t>ordre</a:t>
            </a:r>
            <a:r>
              <a:rPr lang="en-US" dirty="0" smtClean="0"/>
              <a:t> public of the forum, under Article 26.</a:t>
            </a:r>
          </a:p>
          <a:p>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
            </a:r>
            <a:br>
              <a:rPr lang="en-US" b="1" dirty="0" smtClean="0">
                <a:solidFill>
                  <a:srgbClr val="FF0000"/>
                </a:solidFill>
              </a:rPr>
            </a:br>
            <a:r>
              <a:rPr lang="en-US" sz="3600" b="1" dirty="0" smtClean="0">
                <a:solidFill>
                  <a:srgbClr val="FF0000"/>
                </a:solidFill>
              </a:rPr>
              <a:t>6.2.Choice of Law in Tort Under the Federal Draft Conflict of Laws </a:t>
            </a:r>
            <a:br>
              <a:rPr lang="en-US" sz="3600" b="1" dirty="0" smtClean="0">
                <a:solidFill>
                  <a:srgbClr val="FF0000"/>
                </a:solidFill>
              </a:rPr>
            </a:br>
            <a:r>
              <a:rPr lang="en-US" sz="4000" b="1" dirty="0" smtClean="0">
                <a:solidFill>
                  <a:srgbClr val="FF0000"/>
                </a:solidFill>
              </a:rPr>
              <a:t/>
            </a:r>
            <a:br>
              <a:rPr lang="en-US" sz="4000" b="1" dirty="0" smtClean="0">
                <a:solidFill>
                  <a:srgbClr val="FF0000"/>
                </a:solidFill>
              </a:rPr>
            </a:br>
            <a:endParaRPr lang="en-US" sz="4000" dirty="0">
              <a:solidFill>
                <a:srgbClr val="FF0000"/>
              </a:solidFill>
            </a:endParaRPr>
          </a:p>
        </p:txBody>
      </p:sp>
      <p:sp>
        <p:nvSpPr>
          <p:cNvPr id="3" name="Content Placeholder 2"/>
          <p:cNvSpPr>
            <a:spLocks noGrp="1"/>
          </p:cNvSpPr>
          <p:nvPr>
            <p:ph idx="1"/>
          </p:nvPr>
        </p:nvSpPr>
        <p:spPr>
          <a:solidFill>
            <a:srgbClr val="00B050"/>
          </a:solidFill>
          <a:ln>
            <a:solidFill>
              <a:srgbClr val="FF0000"/>
            </a:solidFill>
          </a:ln>
        </p:spPr>
        <p:txBody>
          <a:bodyPr>
            <a:normAutofit/>
          </a:bodyPr>
          <a:lstStyle/>
          <a:p>
            <a:r>
              <a:rPr lang="en-US" dirty="0" smtClean="0"/>
              <a:t>The main rules are provided under Art.82 and 83.</a:t>
            </a:r>
          </a:p>
          <a:p>
            <a:r>
              <a:rPr lang="en-US" dirty="0" smtClean="0"/>
              <a:t>Distinction made between tort issues that arise in fault or non fault liabilities ( Art82) and</a:t>
            </a:r>
          </a:p>
          <a:p>
            <a:r>
              <a:rPr lang="en-US" dirty="0" smtClean="0"/>
              <a:t> Other extra contractual liabilities arising from unlawful enrichment, unauthorized agency, and undue payment.(Art 83)</a:t>
            </a:r>
          </a:p>
          <a:p>
            <a:pPr>
              <a:buNone/>
            </a:pP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7</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2800"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92500" lnSpcReduction="20000"/>
          </a:bodyPr>
          <a:lstStyle/>
          <a:p>
            <a:r>
              <a:rPr lang="en-US" dirty="0" smtClean="0"/>
              <a:t>Concerning the first category the provision of Art.82 extra- contractual liability is governed by the law of the place where the damaging act occurred. </a:t>
            </a:r>
            <a:r>
              <a:rPr lang="en-US" dirty="0" err="1" smtClean="0"/>
              <a:t>Lex</a:t>
            </a:r>
            <a:r>
              <a:rPr lang="en-US" dirty="0" smtClean="0"/>
              <a:t> loci </a:t>
            </a:r>
            <a:r>
              <a:rPr lang="en-US" dirty="0" err="1" smtClean="0"/>
              <a:t>delicti</a:t>
            </a:r>
            <a:endParaRPr lang="en-US" dirty="0" smtClean="0"/>
          </a:p>
          <a:p>
            <a:r>
              <a:rPr lang="en-US" dirty="0" smtClean="0"/>
              <a:t>No exceptions like common domicile etc here which are recognized in other systems.</a:t>
            </a:r>
          </a:p>
          <a:p>
            <a:r>
              <a:rPr lang="en-US" dirty="0" smtClean="0"/>
              <a:t> Generally this  governs all issues arising in relation to tort liabilities like Defamation, Personal injury , Unfair Competition, Strict liabilities. No specific rules for specific torts as recognized in other systems.</a:t>
            </a:r>
          </a:p>
          <a:p>
            <a:r>
              <a:rPr lang="en-US" dirty="0" smtClean="0"/>
              <a:t>Specific rules could be developed through interpretation. But  it would have been better to state clearly in the law.</a:t>
            </a:r>
          </a:p>
        </p:txBody>
      </p:sp>
      <p:sp>
        <p:nvSpPr>
          <p:cNvPr id="4" name="Slide Number Placeholder 3"/>
          <p:cNvSpPr>
            <a:spLocks noGrp="1"/>
          </p:cNvSpPr>
          <p:nvPr>
            <p:ph type="sldNum" sz="quarter" idx="12"/>
          </p:nvPr>
        </p:nvSpPr>
        <p:spPr/>
        <p:txBody>
          <a:bodyPr/>
          <a:lstStyle/>
          <a:p>
            <a:fld id="{9EF0F647-55F2-42AD-A691-CAA9CEF3B693}"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2800"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a:bodyPr>
          <a:lstStyle/>
          <a:p>
            <a:r>
              <a:rPr lang="en-US" dirty="0" smtClean="0"/>
              <a:t>Even though, the </a:t>
            </a:r>
            <a:r>
              <a:rPr lang="en-US" dirty="0" err="1" smtClean="0"/>
              <a:t>lex</a:t>
            </a:r>
            <a:r>
              <a:rPr lang="en-US" dirty="0" smtClean="0"/>
              <a:t> loci </a:t>
            </a:r>
            <a:r>
              <a:rPr lang="en-US" dirty="0" err="1" smtClean="0"/>
              <a:t>delicti</a:t>
            </a:r>
            <a:r>
              <a:rPr lang="en-US" dirty="0" smtClean="0"/>
              <a:t> is said to be the governing law, this provision does not clearly indicate the position taken when the place of the happening of the facts and the place of harm fall under different jurisdictions. </a:t>
            </a:r>
          </a:p>
          <a:p>
            <a:r>
              <a:rPr lang="en-US" dirty="0" smtClean="0"/>
              <a:t>However, the wording of the provision seems to indicate that the ‘</a:t>
            </a:r>
            <a:r>
              <a:rPr lang="en-US" i="1" dirty="0" smtClean="0"/>
              <a:t>law of the place where the damaging act occurred</a:t>
            </a:r>
            <a:r>
              <a:rPr lang="en-US" dirty="0" smtClean="0"/>
              <a:t>’ refers to the law of the place where the final wrong (harm) occurred or suffered by the victim.</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9</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2800"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lstStyle/>
          <a:p>
            <a:r>
              <a:rPr lang="en-US" dirty="0" smtClean="0"/>
              <a:t>In liabilities arising  from unlawful enrichment , unauthorized agency , and the payment of that which was not due, it seems the law of the place where the decisive facts that gave rise to the final harm occurred is given priority than the final place of harm.</a:t>
            </a:r>
          </a:p>
          <a:p>
            <a:r>
              <a:rPr lang="en-US" dirty="0" smtClean="0"/>
              <a:t>Why different rules for these tort liabilities is not clear.</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10</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457200" y="228600"/>
            <a:ext cx="7162800" cy="228600"/>
          </a:xfrm>
        </p:spPr>
        <p:txBody>
          <a:bodyPr>
            <a:normAutofit fontScale="90000"/>
          </a:bodyPr>
          <a:lstStyle/>
          <a:p>
            <a:r>
              <a:rPr lang="en-US" b="1" dirty="0" smtClean="0"/>
              <a:t/>
            </a:r>
            <a:br>
              <a:rPr lang="en-US" b="1" dirty="0" smtClean="0"/>
            </a:br>
            <a:r>
              <a:rPr lang="en-US" sz="4000" b="1" dirty="0" smtClean="0">
                <a:solidFill>
                  <a:srgbClr val="FF0000"/>
                </a:solidFill>
              </a:rPr>
              <a:t>6.3. Particular Torts</a:t>
            </a:r>
            <a:r>
              <a:rPr lang="en-US" dirty="0" smtClean="0"/>
              <a:t/>
            </a:r>
            <a:br>
              <a:rPr lang="en-US" dirty="0" smtClean="0"/>
            </a:br>
            <a:endParaRPr lang="en-US" dirty="0"/>
          </a:p>
        </p:txBody>
      </p:sp>
      <p:sp>
        <p:nvSpPr>
          <p:cNvPr id="3" name="Content Placeholder 2"/>
          <p:cNvSpPr>
            <a:spLocks noGrp="1"/>
          </p:cNvSpPr>
          <p:nvPr>
            <p:ph idx="1"/>
          </p:nvPr>
        </p:nvSpPr>
        <p:spPr>
          <a:xfrm>
            <a:off x="457200" y="609600"/>
            <a:ext cx="8229600" cy="5516563"/>
          </a:xfrm>
          <a:solidFill>
            <a:srgbClr val="00B050"/>
          </a:solidFill>
          <a:ln>
            <a:solidFill>
              <a:srgbClr val="FF0000"/>
            </a:solidFill>
          </a:ln>
        </p:spPr>
        <p:txBody>
          <a:bodyPr>
            <a:normAutofit fontScale="85000" lnSpcReduction="20000"/>
          </a:bodyPr>
          <a:lstStyle/>
          <a:p>
            <a:r>
              <a:rPr lang="en-US" dirty="0" smtClean="0"/>
              <a:t>No particular rules governing particular torts like Unfair Competition, Personal injury, Defamation, and product liability under the Ethiopian draft. </a:t>
            </a:r>
          </a:p>
          <a:p>
            <a:r>
              <a:rPr lang="en-US" b="1" dirty="0" smtClean="0"/>
              <a:t>1.Personal Injuries and Damage to Property</a:t>
            </a:r>
          </a:p>
          <a:p>
            <a:r>
              <a:rPr lang="en-US" b="1" dirty="0" smtClean="0"/>
              <a:t>Meaning </a:t>
            </a:r>
          </a:p>
          <a:p>
            <a:r>
              <a:rPr lang="en-US" b="1" dirty="0" smtClean="0"/>
              <a:t>Personal injury means</a:t>
            </a:r>
            <a:r>
              <a:rPr lang="en-US" dirty="0" smtClean="0"/>
              <a:t>, either physical harm or mental disturbance, such as fright and shock, resulting from physical harm or from threatened physical harm . On the other hand, injuries to a person's reputation or the violation of a person's right of privacy are not "personal injuries" in the sense here used. Fall under Defamation.</a:t>
            </a:r>
          </a:p>
          <a:p>
            <a:r>
              <a:rPr lang="en-US" b="1" dirty="0" smtClean="0"/>
              <a:t>Damage to property  </a:t>
            </a:r>
            <a:r>
              <a:rPr lang="en-US" dirty="0" smtClean="0"/>
              <a:t>means, physical injury to the thing and all other sorts of physical interference with the thing, including trespass and conversion.</a:t>
            </a:r>
          </a:p>
          <a:p>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smtClean="0">
                <a:solidFill>
                  <a:srgbClr val="FF0000"/>
                </a:solidFill>
              </a:rPr>
              <a:t/>
            </a:r>
            <a:br>
              <a:rPr lang="en-US" b="1" dirty="0" smtClean="0">
                <a:solidFill>
                  <a:srgbClr val="FF0000"/>
                </a:solidFill>
              </a:rPr>
            </a:br>
            <a:r>
              <a:rPr lang="en-US" sz="3100" b="1" dirty="0" smtClean="0">
                <a:solidFill>
                  <a:srgbClr val="FF0000"/>
                </a:solidFill>
              </a:rPr>
              <a:t>1.Rules Governing Choice of Law in Personal Injuries</a:t>
            </a:r>
            <a:r>
              <a:rPr lang="en-US" dirty="0" smtClean="0">
                <a:solidFill>
                  <a:srgbClr val="FF0000"/>
                </a:solidFill>
              </a:rPr>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762000"/>
            <a:ext cx="8229600" cy="5364163"/>
          </a:xfrm>
          <a:solidFill>
            <a:srgbClr val="00B050"/>
          </a:solidFill>
          <a:ln>
            <a:solidFill>
              <a:srgbClr val="FF0000"/>
            </a:solidFill>
          </a:ln>
        </p:spPr>
        <p:txBody>
          <a:bodyPr>
            <a:normAutofit fontScale="92500" lnSpcReduction="20000"/>
          </a:bodyPr>
          <a:lstStyle/>
          <a:p>
            <a:r>
              <a:rPr lang="en-US" dirty="0" smtClean="0"/>
              <a:t>The basic rule the local law of the state where the injury occurred ( </a:t>
            </a:r>
            <a:r>
              <a:rPr lang="en-US" i="1" dirty="0" err="1" smtClean="0"/>
              <a:t>lex</a:t>
            </a:r>
            <a:r>
              <a:rPr lang="en-US" i="1" dirty="0" smtClean="0"/>
              <a:t> loci </a:t>
            </a:r>
            <a:r>
              <a:rPr lang="en-US" i="1" dirty="0" err="1" smtClean="0"/>
              <a:t>delicti</a:t>
            </a:r>
            <a:r>
              <a:rPr lang="en-US" dirty="0" smtClean="0"/>
              <a:t>) unless, with respect to the particular issue, some other state has a more significant relationship to the occurrence and the parties. </a:t>
            </a:r>
          </a:p>
          <a:p>
            <a:r>
              <a:rPr lang="en-US" dirty="0" smtClean="0"/>
              <a:t>The two principal elements of the tort, namely, conduct and injury occurred within one  its territory the law of that territory has significant relationship.</a:t>
            </a:r>
          </a:p>
          <a:p>
            <a:r>
              <a:rPr lang="en-US" dirty="0" smtClean="0"/>
              <a:t>But if conduct and personal injury occur in different states , the local law of the </a:t>
            </a:r>
            <a:r>
              <a:rPr lang="en-US" b="1" dirty="0" smtClean="0"/>
              <a:t>state of injury </a:t>
            </a:r>
            <a:r>
              <a:rPr lang="en-US" dirty="0" smtClean="0"/>
              <a:t>will usually be applied to determine most issues involving the tort</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12</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92500" lnSpcReduction="10000"/>
          </a:bodyPr>
          <a:lstStyle/>
          <a:p>
            <a:r>
              <a:rPr lang="en-US" dirty="0" smtClean="0"/>
              <a:t>In determining which is the state of most significant relationship  we need to consider the purpose sought to be achieved by the rule of tort law involved.</a:t>
            </a:r>
          </a:p>
          <a:p>
            <a:r>
              <a:rPr lang="en-US" dirty="0" smtClean="0"/>
              <a:t>If this purpose is to punish the </a:t>
            </a:r>
            <a:r>
              <a:rPr lang="en-US" dirty="0" err="1" smtClean="0"/>
              <a:t>tortfeasor</a:t>
            </a:r>
            <a:r>
              <a:rPr lang="en-US" dirty="0" smtClean="0"/>
              <a:t> and thus to deter others from following his example, there is better reason to say that the state where the conduct occurred is the state of dominant interest</a:t>
            </a:r>
          </a:p>
          <a:p>
            <a:r>
              <a:rPr lang="en-US" dirty="0" smtClean="0"/>
              <a:t>if the tort rule is designed primarily to compensate the victim for his injuries the state where the injury occurred would seem to have a greater interest than the state of conduct. </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13</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b="1" dirty="0" smtClean="0">
                <a:solidFill>
                  <a:srgbClr val="FF0000"/>
                </a:solidFill>
              </a:rPr>
              <a:t/>
            </a:r>
            <a:br>
              <a:rPr lang="en-US" b="1" dirty="0" smtClean="0">
                <a:solidFill>
                  <a:srgbClr val="FF0000"/>
                </a:solidFill>
              </a:rPr>
            </a:br>
            <a:r>
              <a:rPr lang="en-US" sz="3100" b="1" dirty="0" smtClean="0">
                <a:solidFill>
                  <a:srgbClr val="FF0000"/>
                </a:solidFill>
              </a:rPr>
              <a:t>2. Choice  of law Governing Damage To Property</a:t>
            </a:r>
            <a:r>
              <a:rPr lang="en-US" dirty="0" smtClean="0">
                <a:solidFill>
                  <a:srgbClr val="FF0000"/>
                </a:solidFill>
              </a:rPr>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solidFill>
            <a:srgbClr val="00B050"/>
          </a:solidFill>
          <a:ln>
            <a:solidFill>
              <a:srgbClr val="FF0000"/>
            </a:solidFill>
          </a:ln>
        </p:spPr>
        <p:txBody>
          <a:bodyPr>
            <a:normAutofit/>
          </a:bodyPr>
          <a:lstStyle/>
          <a:p>
            <a:r>
              <a:rPr lang="en-US" sz="3600" dirty="0" smtClean="0"/>
              <a:t>The local law of the state where the injury occurred  governs unless, with respect to the particular issue, some other state has a more significant relationship to the occurrence and the parties. </a:t>
            </a:r>
          </a:p>
          <a:p>
            <a:endParaRPr lang="en-US" sz="3600"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14</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200" b="1" dirty="0" smtClean="0">
                <a:solidFill>
                  <a:srgbClr val="FF0000"/>
                </a:solidFill>
              </a:rPr>
              <a:t>3. Unfair Competition</a:t>
            </a:r>
            <a:endParaRPr lang="en-US" sz="3200" dirty="0">
              <a:solidFill>
                <a:srgbClr val="FF0000"/>
              </a:solidFill>
            </a:endParaRPr>
          </a:p>
        </p:txBody>
      </p:sp>
      <p:sp>
        <p:nvSpPr>
          <p:cNvPr id="3" name="Content Placeholder 2"/>
          <p:cNvSpPr>
            <a:spLocks noGrp="1"/>
          </p:cNvSpPr>
          <p:nvPr>
            <p:ph idx="1"/>
          </p:nvPr>
        </p:nvSpPr>
        <p:spPr>
          <a:xfrm>
            <a:off x="457200" y="838200"/>
            <a:ext cx="8229600" cy="5287963"/>
          </a:xfrm>
          <a:solidFill>
            <a:srgbClr val="00B050"/>
          </a:solidFill>
          <a:ln>
            <a:solidFill>
              <a:srgbClr val="FF0000"/>
            </a:solidFill>
          </a:ln>
        </p:spPr>
        <p:txBody>
          <a:bodyPr>
            <a:normAutofit fontScale="92500" lnSpcReduction="10000"/>
          </a:bodyPr>
          <a:lstStyle/>
          <a:p>
            <a:r>
              <a:rPr lang="en-US" dirty="0" smtClean="0"/>
              <a:t>By Article 5(1) of the Rome II, the law applicable to a tort arising out of an act of unfair competition is that of the country where competitive relations or the collective interests of consumers are, or are likely to be, directly and substantially affected.</a:t>
            </a:r>
          </a:p>
          <a:p>
            <a:r>
              <a:rPr lang="en-US" dirty="0" smtClean="0"/>
              <a:t> Then Article 5(2) makes an exception where an act of unfair competition affects exclusively the interests of a specific competitor. In such a cases: the law of </a:t>
            </a:r>
          </a:p>
          <a:p>
            <a:pPr lvl="1"/>
            <a:r>
              <a:rPr lang="en-US" dirty="0" smtClean="0"/>
              <a:t>a common habitual residence, and of </a:t>
            </a:r>
          </a:p>
          <a:p>
            <a:pPr lvl="1"/>
            <a:r>
              <a:rPr lang="en-US" dirty="0" smtClean="0"/>
              <a:t>a manifestly closer connection, apply.</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Autofit/>
          </a:bodyPr>
          <a:lstStyle/>
          <a:p>
            <a:r>
              <a:rPr lang="en-US" sz="3600" dirty="0" smtClean="0">
                <a:solidFill>
                  <a:srgbClr val="FF0000"/>
                </a:solidFill>
              </a:rPr>
              <a:t/>
            </a:r>
            <a:br>
              <a:rPr lang="en-US" sz="3600" dirty="0" smtClean="0">
                <a:solidFill>
                  <a:srgbClr val="FF0000"/>
                </a:solidFill>
              </a:rPr>
            </a:br>
            <a:r>
              <a:rPr lang="en-US" sz="3600" dirty="0" smtClean="0">
                <a:solidFill>
                  <a:srgbClr val="FF0000"/>
                </a:solidFill>
              </a:rPr>
              <a:t>4.</a:t>
            </a:r>
            <a:r>
              <a:rPr lang="en-US" sz="3600" b="1" dirty="0" smtClean="0">
                <a:solidFill>
                  <a:srgbClr val="FF0000"/>
                </a:solidFill>
              </a:rPr>
              <a:t> Product Liability</a:t>
            </a:r>
            <a:r>
              <a:rPr lang="en-US" sz="3600" dirty="0" smtClean="0">
                <a:solidFill>
                  <a:srgbClr val="FF0000"/>
                </a:solidFill>
              </a:rPr>
              <a:t/>
            </a:r>
            <a:br>
              <a:rPr lang="en-US" sz="3600" dirty="0" smtClean="0">
                <a:solidFill>
                  <a:srgbClr val="FF0000"/>
                </a:solidFill>
              </a:rPr>
            </a:br>
            <a:endParaRPr lang="en-US" sz="3600" dirty="0">
              <a:solidFill>
                <a:srgbClr val="FF0000"/>
              </a:solidFill>
            </a:endParaRPr>
          </a:p>
        </p:txBody>
      </p:sp>
      <p:sp>
        <p:nvSpPr>
          <p:cNvPr id="3" name="Content Placeholder 2"/>
          <p:cNvSpPr>
            <a:spLocks noGrp="1"/>
          </p:cNvSpPr>
          <p:nvPr>
            <p:ph idx="1"/>
          </p:nvPr>
        </p:nvSpPr>
        <p:spPr>
          <a:xfrm>
            <a:off x="457200" y="609600"/>
            <a:ext cx="8229600" cy="5867400"/>
          </a:xfrm>
          <a:solidFill>
            <a:srgbClr val="00B050"/>
          </a:solidFill>
          <a:ln>
            <a:solidFill>
              <a:srgbClr val="FF0000"/>
            </a:solidFill>
          </a:ln>
        </p:spPr>
        <p:txBody>
          <a:bodyPr>
            <a:noAutofit/>
          </a:bodyPr>
          <a:lstStyle/>
          <a:p>
            <a:r>
              <a:rPr lang="en-US" sz="1600" dirty="0" smtClean="0"/>
              <a:t>Article 5  of Rome II provides a special rule for non-contractual obligations arising from an injury caused by a product. </a:t>
            </a:r>
          </a:p>
          <a:p>
            <a:r>
              <a:rPr lang="en-US" sz="1600" dirty="0" smtClean="0"/>
              <a:t>Paragraph 1 of the article designates, </a:t>
            </a:r>
            <a:r>
              <a:rPr lang="en-US" sz="1600" b="1" dirty="0" smtClean="0"/>
              <a:t>in successive order</a:t>
            </a:r>
            <a:r>
              <a:rPr lang="en-US" sz="1600" dirty="0" smtClean="0"/>
              <a:t>, three countries whose law may govern:</a:t>
            </a:r>
          </a:p>
          <a:p>
            <a:pPr lvl="1"/>
            <a:r>
              <a:rPr lang="en-US" sz="1600" dirty="0" smtClean="0"/>
              <a:t> (a) the country of the victim's habitual residence;</a:t>
            </a:r>
          </a:p>
          <a:p>
            <a:pPr lvl="1"/>
            <a:r>
              <a:rPr lang="en-US" sz="1600" dirty="0" smtClean="0"/>
              <a:t> (b) the country in which the product was acquired; and </a:t>
            </a:r>
          </a:p>
          <a:p>
            <a:pPr lvl="1"/>
            <a:r>
              <a:rPr lang="en-US" sz="1600" dirty="0" smtClean="0"/>
              <a:t>(c) the country in which the injury occurred.  </a:t>
            </a:r>
          </a:p>
          <a:p>
            <a:r>
              <a:rPr lang="en-US" sz="1600" dirty="0" smtClean="0"/>
              <a:t> The application of each country's law depends on whether the product was "marketed in that country."  </a:t>
            </a:r>
          </a:p>
          <a:p>
            <a:r>
              <a:rPr lang="en-US" sz="1600" dirty="0" smtClean="0"/>
              <a:t> For example, if a German plaintiff is injured in India by a product acquired in Egypt, the applicable law will be that of Germany, if the product was marketed there; or, if not, Egypt, if the product was marketed there; or, if not, India, if the product was marketed there.</a:t>
            </a:r>
          </a:p>
          <a:p>
            <a:endParaRPr lang="en-US" sz="1600" dirty="0" smtClean="0"/>
          </a:p>
          <a:p>
            <a:r>
              <a:rPr lang="en-US" sz="1600" b="1" dirty="0" smtClean="0"/>
              <a:t>Exception</a:t>
            </a:r>
            <a:r>
              <a:rPr lang="en-US" sz="1600" dirty="0" smtClean="0"/>
              <a:t>: if the parties have their </a:t>
            </a:r>
            <a:r>
              <a:rPr lang="en-US" sz="1600" b="1" dirty="0" smtClean="0"/>
              <a:t>habitual residence in the same country</a:t>
            </a:r>
            <a:r>
              <a:rPr lang="en-US" sz="1600" dirty="0" smtClean="0"/>
              <a:t>, its law applies to the exclusion of all others, even if the product was not marketed in that country.</a:t>
            </a:r>
          </a:p>
          <a:p>
            <a:r>
              <a:rPr lang="en-US" sz="1600" dirty="0" smtClean="0"/>
              <a:t>If another country other than the above stated is shown to have </a:t>
            </a:r>
            <a:r>
              <a:rPr lang="en-US" sz="1600" b="1" dirty="0" smtClean="0"/>
              <a:t>manifestly closer connection </a:t>
            </a:r>
            <a:r>
              <a:rPr lang="en-US" sz="1600" dirty="0" smtClean="0"/>
              <a:t>the law of this country governs.</a:t>
            </a:r>
          </a:p>
          <a:p>
            <a:endParaRPr lang="en-US" sz="1600" dirty="0" smtClean="0"/>
          </a:p>
          <a:p>
            <a:r>
              <a:rPr lang="en-US" sz="1600" dirty="0" smtClean="0"/>
              <a:t>The burden of proving that the product was marketed in the particular country would rest with the plaintiff, although the defendant may also have an incentive, and should be allowed to either disprove or prove that fact. </a:t>
            </a:r>
            <a:endParaRPr lang="en-US" sz="1600"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16</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5. Defamation</a:t>
            </a:r>
            <a:endParaRPr lang="en-US" dirty="0">
              <a:solidFill>
                <a:srgbClr val="FF0000"/>
              </a:solidFill>
            </a:endParaRPr>
          </a:p>
        </p:txBody>
      </p:sp>
      <p:sp>
        <p:nvSpPr>
          <p:cNvPr id="3" name="Content Placeholder 2"/>
          <p:cNvSpPr>
            <a:spLocks noGrp="1"/>
          </p:cNvSpPr>
          <p:nvPr>
            <p:ph idx="1"/>
          </p:nvPr>
        </p:nvSpPr>
        <p:spPr>
          <a:solidFill>
            <a:srgbClr val="00B050"/>
          </a:solidFill>
          <a:ln>
            <a:solidFill>
              <a:srgbClr val="FF0000"/>
            </a:solidFill>
          </a:ln>
        </p:spPr>
        <p:txBody>
          <a:bodyPr>
            <a:normAutofit fontScale="92500" lnSpcReduction="20000"/>
          </a:bodyPr>
          <a:lstStyle/>
          <a:p>
            <a:r>
              <a:rPr lang="en-US" dirty="0" smtClean="0"/>
              <a:t>In systems that require damages for defamation, the tort "occurs" where the victim's reputation suffers, and, therefore, the conflicts analysis should focus on the victim.</a:t>
            </a:r>
          </a:p>
          <a:p>
            <a:r>
              <a:rPr lang="en-US" dirty="0" smtClean="0"/>
              <a:t>  Many scholars advocate applying the law of the place of injury because that is where the legal right was infringed. </a:t>
            </a:r>
          </a:p>
          <a:p>
            <a:r>
              <a:rPr lang="en-US" dirty="0" smtClean="0"/>
              <a:t>Current American law focuses on the plaintiff's place of domicile as the most likely place of injury where the defamatory act publicized causes damage  </a:t>
            </a:r>
          </a:p>
          <a:p>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17</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rgbClr val="FF0000"/>
                </a:solidFill>
              </a:rPr>
              <a:t>Ethiopian Draft on Specific Torts</a:t>
            </a:r>
            <a:endParaRPr lang="en-US" sz="4000" dirty="0">
              <a:solidFill>
                <a:srgbClr val="FF0000"/>
              </a:solidFill>
            </a:endParaRPr>
          </a:p>
        </p:txBody>
      </p:sp>
      <p:sp>
        <p:nvSpPr>
          <p:cNvPr id="3" name="Content Placeholder 2"/>
          <p:cNvSpPr>
            <a:spLocks noGrp="1"/>
          </p:cNvSpPr>
          <p:nvPr>
            <p:ph idx="1"/>
          </p:nvPr>
        </p:nvSpPr>
        <p:spPr>
          <a:solidFill>
            <a:srgbClr val="00B050"/>
          </a:solidFill>
          <a:ln>
            <a:solidFill>
              <a:srgbClr val="FF0000"/>
            </a:solidFill>
          </a:ln>
        </p:spPr>
        <p:txBody>
          <a:bodyPr/>
          <a:lstStyle/>
          <a:p>
            <a:r>
              <a:rPr lang="en-US" dirty="0" smtClean="0"/>
              <a:t>Ethiopian Draft is silent on the various specific torts and provides a very general and crude provision governing all types.</a:t>
            </a:r>
          </a:p>
          <a:p>
            <a:r>
              <a:rPr lang="en-US" dirty="0" smtClean="0"/>
              <a:t>Better to provide specific rules for various specific torts because each has its peculiar nature that requires different places as places of wrong occurred.</a:t>
            </a:r>
            <a:endParaRPr lang="en-US" dirty="0"/>
          </a:p>
        </p:txBody>
      </p:sp>
      <p:sp>
        <p:nvSpPr>
          <p:cNvPr id="4" name="Slide Number Placeholder 3"/>
          <p:cNvSpPr>
            <a:spLocks noGrp="1"/>
          </p:cNvSpPr>
          <p:nvPr>
            <p:ph type="sldNum" sz="quarter" idx="12"/>
          </p:nvPr>
        </p:nvSpPr>
        <p:spPr/>
        <p:txBody>
          <a:bodyPr/>
          <a:lstStyle/>
          <a:p>
            <a:fld id="{9EF0F647-55F2-42AD-A691-CAA9CEF3B693}"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Conflict P II PPT Chapter Six Tort     Sultan Kassim HU COL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2179</Words>
  <Application>Microsoft Office PowerPoint</Application>
  <PresentationFormat>On-screen Show (4:3)</PresentationFormat>
  <Paragraphs>126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Chapter six Non-contractual Obligations</vt:lpstr>
      <vt:lpstr> 6.1. The Main Rules Governing Choice of Law in Tort </vt:lpstr>
      <vt:lpstr>Slide 3</vt:lpstr>
      <vt:lpstr>Choice of law in Tort</vt:lpstr>
      <vt:lpstr>Slide 5</vt:lpstr>
      <vt:lpstr>Slide 6</vt:lpstr>
      <vt:lpstr>  6.2.Choice of Law in Tort Under the Federal Draft Conflict of Laws   </vt:lpstr>
      <vt:lpstr>Slide 8</vt:lpstr>
      <vt:lpstr>Slide 9</vt:lpstr>
      <vt:lpstr>Slide 10</vt:lpstr>
      <vt:lpstr> 6.3. Particular Torts </vt:lpstr>
      <vt:lpstr> 1.Rules Governing Choice of Law in Personal Injuries </vt:lpstr>
      <vt:lpstr>Slide 13</vt:lpstr>
      <vt:lpstr> 2. Choice  of law Governing Damage To Property </vt:lpstr>
      <vt:lpstr>3. Unfair Competition</vt:lpstr>
      <vt:lpstr> 4. Product Liability </vt:lpstr>
      <vt:lpstr>5. Defamation</vt:lpstr>
      <vt:lpstr>Ethiopian Draft on Specific Torts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six Non-contractual Obligations</dc:title>
  <dc:creator>user</dc:creator>
  <cp:lastModifiedBy>search</cp:lastModifiedBy>
  <cp:revision>56</cp:revision>
  <dcterms:created xsi:type="dcterms:W3CDTF">2011-03-09T19:22:11Z</dcterms:created>
  <dcterms:modified xsi:type="dcterms:W3CDTF">2012-05-16T12:11:57Z</dcterms:modified>
</cp:coreProperties>
</file>