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Layouts/slideLayout7.xml" ContentType="application/vnd.openxmlformats-officedocument.presentationml.slideLayout+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4"/>
  </p:notesMasterIdLst>
  <p:sldIdLst>
    <p:sldId id="256" r:id="rId2"/>
    <p:sldId id="314" r:id="rId3"/>
    <p:sldId id="315" r:id="rId4"/>
    <p:sldId id="316" r:id="rId5"/>
    <p:sldId id="317" r:id="rId6"/>
    <p:sldId id="318" r:id="rId7"/>
    <p:sldId id="319" r:id="rId8"/>
    <p:sldId id="263" r:id="rId9"/>
    <p:sldId id="257" r:id="rId10"/>
    <p:sldId id="258" r:id="rId11"/>
    <p:sldId id="259" r:id="rId12"/>
    <p:sldId id="260" r:id="rId13"/>
    <p:sldId id="261" r:id="rId14"/>
    <p:sldId id="262" r:id="rId15"/>
    <p:sldId id="265" r:id="rId16"/>
    <p:sldId id="266" r:id="rId17"/>
    <p:sldId id="267" r:id="rId18"/>
    <p:sldId id="343" r:id="rId19"/>
    <p:sldId id="268" r:id="rId20"/>
    <p:sldId id="269" r:id="rId21"/>
    <p:sldId id="272" r:id="rId22"/>
    <p:sldId id="275" r:id="rId23"/>
    <p:sldId id="274" r:id="rId24"/>
    <p:sldId id="273" r:id="rId25"/>
    <p:sldId id="344" r:id="rId26"/>
    <p:sldId id="345" r:id="rId27"/>
    <p:sldId id="276" r:id="rId28"/>
    <p:sldId id="279" r:id="rId29"/>
    <p:sldId id="281" r:id="rId30"/>
    <p:sldId id="278" r:id="rId31"/>
    <p:sldId id="277" r:id="rId32"/>
    <p:sldId id="280" r:id="rId33"/>
    <p:sldId id="282" r:id="rId34"/>
    <p:sldId id="283" r:id="rId35"/>
    <p:sldId id="284" r:id="rId36"/>
    <p:sldId id="285" r:id="rId37"/>
    <p:sldId id="288" r:id="rId38"/>
    <p:sldId id="286" r:id="rId39"/>
    <p:sldId id="287"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81" r:id="rId64"/>
    <p:sldId id="321" r:id="rId65"/>
    <p:sldId id="378" r:id="rId66"/>
    <p:sldId id="379" r:id="rId67"/>
    <p:sldId id="377" r:id="rId68"/>
    <p:sldId id="322" r:id="rId69"/>
    <p:sldId id="380" r:id="rId70"/>
    <p:sldId id="312" r:id="rId71"/>
    <p:sldId id="320" r:id="rId72"/>
    <p:sldId id="313" r:id="rId73"/>
    <p:sldId id="384" r:id="rId74"/>
    <p:sldId id="382" r:id="rId75"/>
    <p:sldId id="323" r:id="rId76"/>
    <p:sldId id="383" r:id="rId77"/>
    <p:sldId id="324" r:id="rId78"/>
    <p:sldId id="325" r:id="rId79"/>
    <p:sldId id="326" r:id="rId80"/>
    <p:sldId id="327" r:id="rId81"/>
    <p:sldId id="328" r:id="rId82"/>
    <p:sldId id="329" r:id="rId83"/>
    <p:sldId id="330" r:id="rId84"/>
    <p:sldId id="331" r:id="rId85"/>
    <p:sldId id="332" r:id="rId86"/>
    <p:sldId id="333" r:id="rId87"/>
    <p:sldId id="335" r:id="rId88"/>
    <p:sldId id="334" r:id="rId89"/>
    <p:sldId id="395" r:id="rId90"/>
    <p:sldId id="336" r:id="rId91"/>
    <p:sldId id="337" r:id="rId92"/>
    <p:sldId id="338" r:id="rId93"/>
    <p:sldId id="339" r:id="rId94"/>
    <p:sldId id="340" r:id="rId95"/>
    <p:sldId id="341" r:id="rId96"/>
    <p:sldId id="342" r:id="rId97"/>
    <p:sldId id="346" r:id="rId98"/>
    <p:sldId id="391" r:id="rId99"/>
    <p:sldId id="347" r:id="rId100"/>
    <p:sldId id="348" r:id="rId101"/>
    <p:sldId id="349" r:id="rId102"/>
    <p:sldId id="353" r:id="rId103"/>
    <p:sldId id="392" r:id="rId104"/>
    <p:sldId id="393" r:id="rId105"/>
    <p:sldId id="354" r:id="rId106"/>
    <p:sldId id="355" r:id="rId107"/>
    <p:sldId id="356" r:id="rId108"/>
    <p:sldId id="350" r:id="rId109"/>
    <p:sldId id="351" r:id="rId110"/>
    <p:sldId id="352" r:id="rId111"/>
    <p:sldId id="397" r:id="rId112"/>
    <p:sldId id="358" r:id="rId113"/>
    <p:sldId id="359" r:id="rId114"/>
    <p:sldId id="360" r:id="rId115"/>
    <p:sldId id="361" r:id="rId116"/>
    <p:sldId id="363" r:id="rId117"/>
    <p:sldId id="364" r:id="rId118"/>
    <p:sldId id="365" r:id="rId119"/>
    <p:sldId id="366" r:id="rId120"/>
    <p:sldId id="367" r:id="rId121"/>
    <p:sldId id="368" r:id="rId122"/>
    <p:sldId id="369" r:id="rId123"/>
    <p:sldId id="370" r:id="rId124"/>
    <p:sldId id="371" r:id="rId125"/>
    <p:sldId id="372" r:id="rId126"/>
    <p:sldId id="374" r:id="rId127"/>
    <p:sldId id="375" r:id="rId128"/>
    <p:sldId id="376" r:id="rId129"/>
    <p:sldId id="387" r:id="rId130"/>
    <p:sldId id="388" r:id="rId131"/>
    <p:sldId id="389" r:id="rId132"/>
    <p:sldId id="390" r:id="rId1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p:cViewPr varScale="1">
        <p:scale>
          <a:sx n="71" d="100"/>
          <a:sy n="71" d="100"/>
        </p:scale>
        <p:origin x="-414"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1732E9-F094-4861-944C-1C3041416BFA}" type="datetimeFigureOut">
              <a:rPr lang="en-US" smtClean="0"/>
              <a:pPr/>
              <a:t>12/16/2017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20C4B7-7F03-4922-B618-29D0A819793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D20C4B7-7F03-4922-B618-29D0A8197936}"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A5D417-9848-46C7-BF49-F6A686B55387}" type="datetimeFigureOut">
              <a:rPr lang="en-US" smtClean="0"/>
              <a:pPr/>
              <a:t>12/16/2017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7DC7A0-426B-4328-B8B7-D7DE9D5809E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A5D417-9848-46C7-BF49-F6A686B55387}" type="datetimeFigureOut">
              <a:rPr lang="en-US" smtClean="0"/>
              <a:pPr/>
              <a:t>12/16/2017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7DC7A0-426B-4328-B8B7-D7DE9D5809E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newadvent.org/cathen/01115a.htm" TargetMode="External"/><Relationship Id="rId2" Type="http://schemas.openxmlformats.org/officeDocument/2006/relationships/hyperlink" Target="http://www.newadvent.org/cathen/13598b.ht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iep.utm.edu/anim-eth" TargetMode="External"/><Relationship Id="rId7" Type="http://schemas.openxmlformats.org/officeDocument/2006/relationships/hyperlink" Target="http://www.iep.utm.edu/war" TargetMode="External"/><Relationship Id="rId2" Type="http://schemas.openxmlformats.org/officeDocument/2006/relationships/hyperlink" Target="http://www.iep.utm.edu/abortion" TargetMode="External"/><Relationship Id="rId1" Type="http://schemas.openxmlformats.org/officeDocument/2006/relationships/slideLayout" Target="../slideLayouts/slideLayout2.xml"/><Relationship Id="rId6" Type="http://schemas.openxmlformats.org/officeDocument/2006/relationships/hyperlink" Target="http://www.iep.utm.edu/punishme" TargetMode="External"/><Relationship Id="rId5" Type="http://schemas.openxmlformats.org/officeDocument/2006/relationships/hyperlink" Target="http://www.iep.utm.edu/sexualit" TargetMode="External"/><Relationship Id="rId4" Type="http://schemas.openxmlformats.org/officeDocument/2006/relationships/hyperlink" Target="http://www.iep.utm.edu/envi-eth"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americanbar.org/content/aba/groups/professional_responsibility/publications/model_code_of_judicial_conduct/model_code_of_judicial_conduct_canon_2.html" TargetMode="External"/><Relationship Id="rId2" Type="http://schemas.openxmlformats.org/officeDocument/2006/relationships/hyperlink" Target="https://www.americanbar.org/content/aba/groups/professional_responsibility/publications/model_code_of_judicial_conduct/mcjc_canon_1.html" TargetMode="External"/><Relationship Id="rId1" Type="http://schemas.openxmlformats.org/officeDocument/2006/relationships/slideLayout" Target="../slideLayouts/slideLayout2.xml"/><Relationship Id="rId5" Type="http://schemas.openxmlformats.org/officeDocument/2006/relationships/hyperlink" Target="https://www.americanbar.org/content/aba/groups/professional_responsibility/publications/model_code_of_judicial_conduct/model_code_of_judicial_conduct_canon_4.html" TargetMode="External"/><Relationship Id="rId4" Type="http://schemas.openxmlformats.org/officeDocument/2006/relationships/hyperlink" Target="https://www.americanbar.org/content/aba/groups/professional_responsibility/publications/model_code_of_judicial_conduct/model_code_of_judicial_conduct_canon_3.html"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2133599"/>
          </a:xfrm>
        </p:spPr>
        <p:txBody>
          <a:bodyPr/>
          <a:lstStyle/>
          <a:p>
            <a:r>
              <a:rPr lang="en-US" b="1" dirty="0"/>
              <a:t>LEGAL PROFESSION AND </a:t>
            </a:r>
            <a:r>
              <a:rPr lang="en-US" b="1" dirty="0" smtClean="0"/>
              <a:t>ETHICS</a:t>
            </a:r>
            <a:br>
              <a:rPr lang="en-US" b="1" dirty="0" smtClean="0"/>
            </a:br>
            <a:r>
              <a:rPr lang="en-US" sz="2800" b="1" dirty="0" smtClean="0"/>
              <a:t>for Law 5</a:t>
            </a:r>
            <a:r>
              <a:rPr lang="en-US" sz="2800" b="1" baseline="30000" dirty="0" smtClean="0"/>
              <a:t>th</a:t>
            </a:r>
            <a:r>
              <a:rPr lang="en-US" sz="2800" b="1" dirty="0" smtClean="0"/>
              <a:t> Students of </a:t>
            </a:r>
            <a:r>
              <a:rPr lang="en-US" sz="2800" b="1" dirty="0" err="1" smtClean="0"/>
              <a:t>Mekelle</a:t>
            </a:r>
            <a:r>
              <a:rPr lang="en-US" sz="2800" b="1" dirty="0" smtClean="0"/>
              <a:t> University </a:t>
            </a:r>
            <a:endParaRPr lang="en-US" dirty="0"/>
          </a:p>
        </p:txBody>
      </p:sp>
      <p:sp>
        <p:nvSpPr>
          <p:cNvPr id="3" name="Subtitle 2"/>
          <p:cNvSpPr>
            <a:spLocks noGrp="1"/>
          </p:cNvSpPr>
          <p:nvPr>
            <p:ph type="subTitle" idx="1"/>
          </p:nvPr>
        </p:nvSpPr>
        <p:spPr>
          <a:xfrm>
            <a:off x="1295400" y="3429000"/>
            <a:ext cx="6400800" cy="1752600"/>
          </a:xfrm>
        </p:spPr>
        <p:txBody>
          <a:bodyPr>
            <a:normAutofit fontScale="70000" lnSpcReduction="20000"/>
          </a:bodyPr>
          <a:lstStyle/>
          <a:p>
            <a:r>
              <a:rPr lang="en-US" dirty="0" smtClean="0"/>
              <a:t>By: </a:t>
            </a:r>
            <a:r>
              <a:rPr lang="en-US" dirty="0" err="1" smtClean="0"/>
              <a:t>Awet</a:t>
            </a:r>
            <a:r>
              <a:rPr lang="en-US" dirty="0" smtClean="0"/>
              <a:t> </a:t>
            </a:r>
            <a:r>
              <a:rPr lang="en-US" dirty="0" err="1" smtClean="0"/>
              <a:t>Lijalem</a:t>
            </a:r>
            <a:endParaRPr lang="en-US" dirty="0" smtClean="0"/>
          </a:p>
          <a:p>
            <a:r>
              <a:rPr lang="en-US" dirty="0" smtClean="0"/>
              <a:t>(LLB,LLM, Judge at Supreme Court of </a:t>
            </a:r>
            <a:r>
              <a:rPr lang="en-US" dirty="0" err="1" smtClean="0"/>
              <a:t>Tigray</a:t>
            </a:r>
            <a:r>
              <a:rPr lang="en-US" smtClean="0"/>
              <a:t>,</a:t>
            </a:r>
            <a:endParaRPr lang="en-US" dirty="0" smtClean="0"/>
          </a:p>
          <a:p>
            <a:r>
              <a:rPr lang="en-US" dirty="0" smtClean="0"/>
              <a:t>Part-Time Lecturer of Law at </a:t>
            </a:r>
            <a:r>
              <a:rPr lang="en-US" dirty="0" err="1" smtClean="0"/>
              <a:t>Mekelle</a:t>
            </a:r>
            <a:r>
              <a:rPr lang="en-US" dirty="0" smtClean="0"/>
              <a:t> University, School Of Law </a:t>
            </a:r>
            <a:r>
              <a:rPr lang="en-US" dirty="0" smtClean="0"/>
              <a:t>)</a:t>
            </a:r>
            <a:endParaRPr lang="en-US" dirty="0" smtClean="0"/>
          </a:p>
          <a:p>
            <a:r>
              <a:rPr lang="en-US" dirty="0" smtClean="0"/>
              <a:t>October 2017, </a:t>
            </a:r>
            <a:r>
              <a:rPr lang="en-US" dirty="0" err="1" smtClean="0"/>
              <a:t>Mekelle</a:t>
            </a:r>
            <a:endParaRPr lang="en-US" dirty="0" smtClean="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pPr algn="ctr">
              <a:buNone/>
            </a:pPr>
            <a:r>
              <a:rPr lang="en-US" sz="6600" dirty="0" smtClean="0">
                <a:latin typeface="Brush Script MT" pitchFamily="66" charset="0"/>
              </a:rPr>
              <a:t>I’m grateful for having the opportunity </a:t>
            </a:r>
          </a:p>
          <a:p>
            <a:pPr algn="ctr">
              <a:buNone/>
            </a:pPr>
            <a:r>
              <a:rPr lang="en-US" sz="6600" dirty="0" smtClean="0">
                <a:latin typeface="Brush Script MT" pitchFamily="66" charset="0"/>
              </a:rPr>
              <a:t>of lecturing law at </a:t>
            </a:r>
          </a:p>
          <a:p>
            <a:pPr algn="ctr">
              <a:buNone/>
            </a:pPr>
            <a:r>
              <a:rPr lang="en-US" sz="6600" dirty="0" err="1" smtClean="0">
                <a:latin typeface="Brush Script MT" pitchFamily="66" charset="0"/>
              </a:rPr>
              <a:t>Mekelle</a:t>
            </a:r>
            <a:r>
              <a:rPr lang="en-US" sz="6600" dirty="0" smtClean="0">
                <a:latin typeface="Brush Script MT" pitchFamily="66" charset="0"/>
              </a:rPr>
              <a:t> University  </a:t>
            </a:r>
            <a:endParaRPr lang="en-US" sz="6600" dirty="0">
              <a:latin typeface="Brush Script MT" pitchFamily="66"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smtClean="0"/>
              <a:t>Introductory Matters </a:t>
            </a:r>
            <a:endParaRPr lang="en-US" sz="3600" b="1" dirty="0"/>
          </a:p>
        </p:txBody>
      </p:sp>
      <p:sp>
        <p:nvSpPr>
          <p:cNvPr id="3" name="Content Placeholder 2"/>
          <p:cNvSpPr>
            <a:spLocks noGrp="1"/>
          </p:cNvSpPr>
          <p:nvPr>
            <p:ph idx="1"/>
          </p:nvPr>
        </p:nvSpPr>
        <p:spPr>
          <a:xfrm>
            <a:off x="381000" y="1447800"/>
            <a:ext cx="8229600" cy="4678363"/>
          </a:xfrm>
        </p:spPr>
        <p:txBody>
          <a:bodyPr>
            <a:normAutofit/>
          </a:bodyPr>
          <a:lstStyle/>
          <a:p>
            <a:pPr algn="just">
              <a:buFont typeface="Wingdings" pitchFamily="2" charset="2"/>
              <a:buChar char="v"/>
            </a:pPr>
            <a:r>
              <a:rPr lang="en-US" sz="4400" dirty="0" smtClean="0"/>
              <a:t>Do we need Legal Ethics? Isn’t the law itself enough? </a:t>
            </a:r>
          </a:p>
          <a:p>
            <a:pPr lvl="3" algn="just">
              <a:buFont typeface="Wingdings" pitchFamily="2" charset="2"/>
              <a:buChar char="v"/>
            </a:pPr>
            <a:r>
              <a:rPr lang="en-US" sz="2800" dirty="0" smtClean="0"/>
              <a:t>To protect abuse: public duty vs. individual interest </a:t>
            </a:r>
          </a:p>
          <a:p>
            <a:pPr lvl="3" algn="just">
              <a:buFont typeface="Wingdings" pitchFamily="2" charset="2"/>
              <a:buChar char="v"/>
            </a:pPr>
            <a:r>
              <a:rPr lang="en-US" sz="2800" dirty="0" smtClean="0"/>
              <a:t>To put guidance for lawyers </a:t>
            </a:r>
          </a:p>
          <a:p>
            <a:pPr lvl="3" algn="just">
              <a:buFont typeface="Wingdings" pitchFamily="2" charset="2"/>
              <a:buChar char="v"/>
            </a:pPr>
            <a:r>
              <a:rPr lang="en-US" sz="2800" dirty="0" smtClean="0"/>
              <a:t>To preserve its reputation; if lawyers do not adhere to ethical principles people will lose confidence and resort to an other alternative </a:t>
            </a:r>
            <a:endParaRPr lang="en-US" sz="4400" dirty="0" smtClean="0"/>
          </a:p>
          <a:p>
            <a:pPr algn="just">
              <a:buFont typeface="Wingdings" pitchFamily="2" charset="2"/>
              <a:buChar char="v"/>
            </a:pPr>
            <a:endParaRPr lang="en-US" sz="4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200" b="1" dirty="0" smtClean="0"/>
              <a:t>Introductory Matters . . . Continued  </a:t>
            </a:r>
            <a:endParaRPr lang="en-US" sz="3200" b="1" dirty="0"/>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pPr algn="ctr">
              <a:buNone/>
            </a:pPr>
            <a:r>
              <a:rPr lang="en-US" i="1" dirty="0" smtClean="0"/>
              <a:t>Benjamin J </a:t>
            </a:r>
            <a:r>
              <a:rPr lang="en-US" i="1" dirty="0" err="1" smtClean="0"/>
              <a:t>Odoki</a:t>
            </a:r>
            <a:r>
              <a:rPr lang="en-US" i="1" dirty="0" smtClean="0"/>
              <a:t>, Chief Justice of Uganda on the benefit of Legal Ethics:</a:t>
            </a:r>
            <a:endParaRPr lang="en-US" dirty="0" smtClean="0"/>
          </a:p>
          <a:p>
            <a:pPr algn="ctr">
              <a:buNone/>
            </a:pPr>
            <a:r>
              <a:rPr lang="en-US" dirty="0" smtClean="0"/>
              <a:t>Why do we need to learn Legal Ethics?</a:t>
            </a:r>
          </a:p>
          <a:p>
            <a:pPr algn="ctr">
              <a:buNone/>
            </a:pPr>
            <a:r>
              <a:rPr lang="en-US" dirty="0" smtClean="0"/>
              <a:t>Can we teach a person to be good?</a:t>
            </a:r>
          </a:p>
          <a:p>
            <a:pPr>
              <a:buFont typeface="Wingdings" pitchFamily="2" charset="2"/>
              <a:buChar char="v"/>
            </a:pPr>
            <a:r>
              <a:rPr lang="en-US" dirty="0" smtClean="0"/>
              <a:t>Benefits of teaching legal ethics:</a:t>
            </a:r>
          </a:p>
          <a:p>
            <a:pPr lvl="1"/>
            <a:r>
              <a:rPr lang="en-US" dirty="0" smtClean="0"/>
              <a:t>Awareness of the rules of the game</a:t>
            </a:r>
          </a:p>
          <a:p>
            <a:pPr lvl="1"/>
            <a:r>
              <a:rPr lang="en-US" dirty="0" smtClean="0"/>
              <a:t>awareness of ethical issues</a:t>
            </a:r>
          </a:p>
          <a:p>
            <a:pPr lvl="1"/>
            <a:r>
              <a:rPr lang="en-US" dirty="0" smtClean="0"/>
              <a:t>capacity to navigate ethical and professional challenges</a:t>
            </a:r>
          </a:p>
          <a:p>
            <a:pPr lvl="1"/>
            <a:r>
              <a:rPr lang="en-US" dirty="0" smtClean="0"/>
              <a:t>Inspiring to be good professionals </a:t>
            </a:r>
          </a:p>
          <a:p>
            <a:pPr lvl="1"/>
            <a:r>
              <a:rPr lang="en-US" dirty="0" smtClean="0"/>
              <a:t>Preparing law students for the existing and emerging legal professions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t>Introductory Matters . . . Continued </a:t>
            </a:r>
            <a:endParaRPr lang="en-US" sz="3200" dirty="0"/>
          </a:p>
        </p:txBody>
      </p:sp>
      <p:sp>
        <p:nvSpPr>
          <p:cNvPr id="3" name="Content Placeholder 2"/>
          <p:cNvSpPr>
            <a:spLocks noGrp="1"/>
          </p:cNvSpPr>
          <p:nvPr>
            <p:ph idx="1"/>
          </p:nvPr>
        </p:nvSpPr>
        <p:spPr/>
        <p:txBody>
          <a:bodyPr>
            <a:normAutofit fontScale="92500" lnSpcReduction="20000"/>
          </a:bodyPr>
          <a:lstStyle/>
          <a:p>
            <a:pPr algn="just"/>
            <a:r>
              <a:rPr lang="en-US" i="1" dirty="0" smtClean="0"/>
              <a:t>Chief Justice </a:t>
            </a:r>
            <a:r>
              <a:rPr lang="en-US" i="1" dirty="0" err="1" smtClean="0"/>
              <a:t>Odoki</a:t>
            </a:r>
            <a:r>
              <a:rPr lang="en-US" i="1" dirty="0" smtClean="0"/>
              <a:t> continues: </a:t>
            </a:r>
            <a:endParaRPr lang="en-US" dirty="0" smtClean="0"/>
          </a:p>
          <a:p>
            <a:pPr algn="just"/>
            <a:r>
              <a:rPr lang="en-US" dirty="0" smtClean="0"/>
              <a:t>But mere understanding of legal ethics is not enough</a:t>
            </a:r>
            <a:endParaRPr lang="en-US" sz="4400" dirty="0" smtClean="0"/>
          </a:p>
          <a:p>
            <a:pPr algn="just"/>
            <a:r>
              <a:rPr lang="en-US" dirty="0" smtClean="0"/>
              <a:t>A student enrolled in a legal ethics course should engage with bigger questions such as:</a:t>
            </a:r>
          </a:p>
          <a:p>
            <a:pPr lvl="1" algn="just"/>
            <a:r>
              <a:rPr lang="en-US" dirty="0" smtClean="0"/>
              <a:t>“Who am I?” </a:t>
            </a:r>
          </a:p>
          <a:p>
            <a:pPr lvl="1" algn="just"/>
            <a:r>
              <a:rPr lang="en-US" dirty="0" smtClean="0"/>
              <a:t>“What do I believe in?” </a:t>
            </a:r>
          </a:p>
          <a:p>
            <a:pPr lvl="1" algn="just"/>
            <a:r>
              <a:rPr lang="en-US" dirty="0" smtClean="0"/>
              <a:t>“What is important to me?” </a:t>
            </a:r>
          </a:p>
          <a:p>
            <a:pPr lvl="1" algn="just"/>
            <a:r>
              <a:rPr lang="en-US" dirty="0" smtClean="0"/>
              <a:t>“What will I do to make this world and my nation a better place?” </a:t>
            </a:r>
          </a:p>
          <a:p>
            <a:pPr lvl="1" algn="just"/>
            <a:r>
              <a:rPr lang="en-US" dirty="0" smtClean="0"/>
              <a:t>“How will I be remembered?”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2800" b="1" dirty="0" smtClean="0"/>
              <a:t>Introductory Matters . . . Continued </a:t>
            </a:r>
            <a:endParaRPr lang="en-US" sz="2800" dirty="0"/>
          </a:p>
        </p:txBody>
      </p:sp>
      <p:sp>
        <p:nvSpPr>
          <p:cNvPr id="3" name="Content Placeholder 2"/>
          <p:cNvSpPr>
            <a:spLocks noGrp="1"/>
          </p:cNvSpPr>
          <p:nvPr>
            <p:ph idx="1"/>
          </p:nvPr>
        </p:nvSpPr>
        <p:spPr>
          <a:xfrm>
            <a:off x="457200" y="1295400"/>
            <a:ext cx="8229600" cy="4830763"/>
          </a:xfrm>
        </p:spPr>
        <p:txBody>
          <a:bodyPr>
            <a:normAutofit fontScale="25000" lnSpcReduction="20000"/>
          </a:bodyPr>
          <a:lstStyle/>
          <a:p>
            <a:pPr algn="just">
              <a:buFont typeface="Wingdings" pitchFamily="2" charset="2"/>
              <a:buChar char="v"/>
            </a:pPr>
            <a:r>
              <a:rPr lang="en-US" sz="11200" b="1" dirty="0" smtClean="0"/>
              <a:t>Nigel Duncan on the goals of legal ethics</a:t>
            </a:r>
            <a:r>
              <a:rPr lang="en-US" sz="11200" dirty="0" smtClean="0"/>
              <a:t>:</a:t>
            </a:r>
          </a:p>
          <a:p>
            <a:pPr lvl="1" algn="just"/>
            <a:r>
              <a:rPr lang="en-US" sz="10800" dirty="0" smtClean="0"/>
              <a:t>developing a contextual approach to the study of law: a mechanism for challenging a narrow black-letter approach;</a:t>
            </a:r>
          </a:p>
          <a:p>
            <a:pPr lvl="1" algn="just"/>
            <a:r>
              <a:rPr lang="en-US" sz="10800" dirty="0" smtClean="0"/>
              <a:t>developing good citizenship: </a:t>
            </a:r>
            <a:r>
              <a:rPr lang="en-US" sz="8000" dirty="0" smtClean="0">
                <a:solidFill>
                  <a:schemeClr val="tx2"/>
                </a:solidFill>
              </a:rPr>
              <a:t>good citizen vs. good lawyer</a:t>
            </a:r>
            <a:endParaRPr lang="en-US" sz="10800" dirty="0" smtClean="0">
              <a:solidFill>
                <a:schemeClr val="tx2"/>
              </a:solidFill>
            </a:endParaRPr>
          </a:p>
          <a:p>
            <a:pPr lvl="1" algn="just"/>
            <a:r>
              <a:rPr lang="en-US" sz="10800" dirty="0" smtClean="0"/>
              <a:t>providing a vector for critical analysis as an intellectual development;</a:t>
            </a:r>
          </a:p>
          <a:p>
            <a:pPr lvl="1" algn="just"/>
            <a:r>
              <a:rPr lang="en-US" sz="10800" dirty="0" smtClean="0"/>
              <a:t>introducing a relevant focus for the study of moral and ethical principles; or</a:t>
            </a:r>
          </a:p>
          <a:p>
            <a:pPr lvl="1" algn="just"/>
            <a:r>
              <a:rPr lang="en-US" sz="10800" dirty="0" smtClean="0"/>
              <a:t>providing a focus for socio-legal analysis.</a:t>
            </a:r>
          </a:p>
          <a:p>
            <a:pPr algn="just">
              <a:buFont typeface="Wingdings" pitchFamily="2" charset="2"/>
              <a:buChar char="v"/>
            </a:pPr>
            <a:r>
              <a:rPr lang="en-US" sz="10800" dirty="0" smtClean="0"/>
              <a:t>According to ROBERT P. BURNS: responsible practice is the goal of learning and teaching legal ethics in law school.</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Introductory Matters . . . Continued </a:t>
            </a:r>
            <a:endParaRPr lang="en-US" dirty="0"/>
          </a:p>
        </p:txBody>
      </p:sp>
      <p:sp>
        <p:nvSpPr>
          <p:cNvPr id="3" name="Content Placeholder 2"/>
          <p:cNvSpPr>
            <a:spLocks noGrp="1"/>
          </p:cNvSpPr>
          <p:nvPr>
            <p:ph idx="1"/>
          </p:nvPr>
        </p:nvSpPr>
        <p:spPr>
          <a:xfrm>
            <a:off x="457200" y="1066800"/>
            <a:ext cx="8229600" cy="5486400"/>
          </a:xfrm>
        </p:spPr>
        <p:txBody>
          <a:bodyPr>
            <a:normAutofit fontScale="25000" lnSpcReduction="20000"/>
          </a:bodyPr>
          <a:lstStyle/>
          <a:p>
            <a:pPr marL="342900" lvl="3" indent="-342900" algn="just">
              <a:buFont typeface="Arial" pitchFamily="34" charset="0"/>
              <a:buChar char="•"/>
            </a:pPr>
            <a:endParaRPr lang="en-US" sz="9600" dirty="0" smtClean="0"/>
          </a:p>
          <a:p>
            <a:pPr marL="342900" lvl="3" indent="-342900" algn="just">
              <a:buFont typeface="Arial" pitchFamily="34" charset="0"/>
              <a:buChar char="•"/>
            </a:pPr>
            <a:r>
              <a:rPr lang="en-US" sz="10400" dirty="0" smtClean="0"/>
              <a:t>What do we learn in Legal Ethics? Rules, morality or philosophy?</a:t>
            </a:r>
          </a:p>
          <a:p>
            <a:pPr lvl="1" algn="just"/>
            <a:r>
              <a:rPr lang="en-US" sz="9600" dirty="0" smtClean="0"/>
              <a:t>Ethical rules and principles </a:t>
            </a:r>
          </a:p>
          <a:p>
            <a:pPr lvl="1" algn="just"/>
            <a:r>
              <a:rPr lang="en-US" sz="9600" dirty="0" smtClean="0"/>
              <a:t>Moral philosophy: to handle moral dilemmas </a:t>
            </a:r>
          </a:p>
          <a:p>
            <a:pPr lvl="1" algn="just"/>
            <a:r>
              <a:rPr lang="en-US" sz="9600" dirty="0" smtClean="0"/>
              <a:t>The legal profession</a:t>
            </a:r>
          </a:p>
          <a:p>
            <a:pPr lvl="1" algn="just"/>
            <a:r>
              <a:rPr lang="en-US" sz="9600" dirty="0" smtClean="0"/>
              <a:t>Responsibility of a lawyer in a society </a:t>
            </a:r>
          </a:p>
          <a:p>
            <a:r>
              <a:rPr lang="en-US" sz="12800" dirty="0" smtClean="0"/>
              <a:t>Philosophy  </a:t>
            </a:r>
            <a:r>
              <a:rPr lang="en-US" sz="11200" dirty="0" smtClean="0">
                <a:latin typeface="Nyala"/>
              </a:rPr>
              <a:t>&gt; </a:t>
            </a:r>
            <a:r>
              <a:rPr lang="en-US" sz="11200" dirty="0" smtClean="0"/>
              <a:t>Ethics  </a:t>
            </a:r>
            <a:r>
              <a:rPr lang="en-US" sz="11200" dirty="0" smtClean="0">
                <a:latin typeface="Nyala"/>
              </a:rPr>
              <a:t>&gt;</a:t>
            </a:r>
            <a:r>
              <a:rPr lang="en-US" sz="11200" dirty="0" smtClean="0"/>
              <a:t> </a:t>
            </a:r>
            <a:r>
              <a:rPr lang="en-US" sz="9600" dirty="0" smtClean="0"/>
              <a:t>Applied ethics </a:t>
            </a:r>
            <a:r>
              <a:rPr lang="en-US" sz="11200" dirty="0" smtClean="0"/>
              <a:t> </a:t>
            </a:r>
            <a:r>
              <a:rPr lang="en-US" sz="11200" dirty="0" smtClean="0">
                <a:latin typeface="Nyala"/>
              </a:rPr>
              <a:t>&gt;</a:t>
            </a:r>
            <a:r>
              <a:rPr lang="en-US" sz="11200" dirty="0" smtClean="0"/>
              <a:t> </a:t>
            </a:r>
            <a:r>
              <a:rPr lang="en-US" sz="8800" dirty="0" smtClean="0"/>
              <a:t>Professional ethics </a:t>
            </a:r>
            <a:r>
              <a:rPr lang="en-US" sz="11200" dirty="0" smtClean="0"/>
              <a:t> </a:t>
            </a:r>
            <a:r>
              <a:rPr lang="en-US" sz="11200" dirty="0" smtClean="0">
                <a:latin typeface="Nyala"/>
              </a:rPr>
              <a:t>&gt;</a:t>
            </a:r>
            <a:r>
              <a:rPr lang="en-US" sz="11200" dirty="0" smtClean="0"/>
              <a:t> </a:t>
            </a:r>
            <a:r>
              <a:rPr lang="en-US" sz="8000" dirty="0" smtClean="0"/>
              <a:t>Legal ethics</a:t>
            </a:r>
          </a:p>
          <a:p>
            <a:pPr algn="just"/>
            <a:r>
              <a:rPr lang="en-US" sz="10400" dirty="0" smtClean="0"/>
              <a:t>A good lawyer:</a:t>
            </a:r>
            <a:r>
              <a:rPr lang="en-US" sz="9600" dirty="0" smtClean="0"/>
              <a:t> knowledge, skill and ethics </a:t>
            </a:r>
          </a:p>
          <a:p>
            <a:pPr algn="just"/>
            <a:r>
              <a:rPr lang="en-US" sz="9600" dirty="0" smtClean="0"/>
              <a:t>Russell G. Pearce argues that </a:t>
            </a:r>
          </a:p>
          <a:p>
            <a:pPr lvl="1" algn="just"/>
            <a:r>
              <a:rPr lang="en-US" sz="9600" dirty="0" smtClean="0"/>
              <a:t>properly taught, ethics courses should provide the lens through which students view what it means to be a lawyer and discover how to find meaning in their work.</a:t>
            </a:r>
          </a:p>
          <a:p>
            <a:pPr marL="742950" lvl="2" indent="-342900" algn="just"/>
            <a:endParaRPr lang="en-US" sz="10800"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200" b="1" u="sng" dirty="0"/>
              <a:t>Table of Contents</a:t>
            </a:r>
            <a:endParaRPr lang="en-US" sz="3200" dirty="0"/>
          </a:p>
        </p:txBody>
      </p:sp>
      <p:sp>
        <p:nvSpPr>
          <p:cNvPr id="3" name="Content Placeholder 2"/>
          <p:cNvSpPr>
            <a:spLocks noGrp="1"/>
          </p:cNvSpPr>
          <p:nvPr>
            <p:ph idx="1"/>
          </p:nvPr>
        </p:nvSpPr>
        <p:spPr>
          <a:xfrm>
            <a:off x="457200" y="1066800"/>
            <a:ext cx="8229600" cy="5059363"/>
          </a:xfrm>
        </p:spPr>
        <p:txBody>
          <a:bodyPr/>
          <a:lstStyle/>
          <a:p>
            <a:endParaRPr lang="en-US" b="1" dirty="0" smtClean="0"/>
          </a:p>
          <a:p>
            <a:r>
              <a:rPr lang="en-US" b="1" dirty="0" smtClean="0"/>
              <a:t>Chapter </a:t>
            </a:r>
            <a:r>
              <a:rPr lang="en-US" b="1" dirty="0"/>
              <a:t>One: Introduction to Legal Profession and </a:t>
            </a:r>
            <a:r>
              <a:rPr lang="en-US" b="1" dirty="0" smtClean="0"/>
              <a:t>Ethics</a:t>
            </a:r>
          </a:p>
          <a:p>
            <a:r>
              <a:rPr lang="en-US" b="1" dirty="0"/>
              <a:t>Chapter Two: The Legal </a:t>
            </a:r>
            <a:r>
              <a:rPr lang="en-US" b="1" dirty="0" smtClean="0"/>
              <a:t>Profession</a:t>
            </a:r>
          </a:p>
          <a:p>
            <a:r>
              <a:rPr lang="en-US" b="1" dirty="0"/>
              <a:t>Chapter Three: Judicial </a:t>
            </a:r>
            <a:r>
              <a:rPr lang="en-US" b="1" dirty="0" smtClean="0"/>
              <a:t>Conduct</a:t>
            </a:r>
          </a:p>
          <a:p>
            <a:r>
              <a:rPr lang="en-US" b="1" dirty="0"/>
              <a:t>Chapter Four: Advocates’ </a:t>
            </a:r>
            <a:r>
              <a:rPr lang="en-US" b="1" dirty="0" smtClean="0"/>
              <a:t>Ethics</a:t>
            </a:r>
          </a:p>
          <a:p>
            <a:r>
              <a:rPr lang="en-US" b="1" dirty="0"/>
              <a:t>Chapter Five: Ethics of the Public Prosecutor</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200" b="1" u="sng" dirty="0" smtClean="0"/>
              <a:t/>
            </a:r>
            <a:br>
              <a:rPr lang="en-US" sz="3200" b="1" u="sng" dirty="0" smtClean="0"/>
            </a:br>
            <a:r>
              <a:rPr lang="en-US" sz="2600" b="1" u="sng" dirty="0" smtClean="0"/>
              <a:t>Chapter One: Introduction to Legal Profession and Ethics</a:t>
            </a:r>
            <a:r>
              <a:rPr lang="en-US" sz="2600" u="sng" dirty="0" smtClean="0"/>
              <a:t/>
            </a:r>
            <a:br>
              <a:rPr lang="en-US" sz="2600" u="sng" dirty="0" smtClean="0"/>
            </a:br>
            <a:r>
              <a:rPr lang="en-US" sz="3200" b="1" u="sng" dirty="0" smtClean="0"/>
              <a:t> </a:t>
            </a:r>
            <a:endParaRPr lang="en-US" sz="3200" b="1" u="sng" dirty="0"/>
          </a:p>
        </p:txBody>
      </p:sp>
      <p:sp>
        <p:nvSpPr>
          <p:cNvPr id="3" name="Content Placeholder 2"/>
          <p:cNvSpPr>
            <a:spLocks noGrp="1"/>
          </p:cNvSpPr>
          <p:nvPr>
            <p:ph idx="1"/>
          </p:nvPr>
        </p:nvSpPr>
        <p:spPr>
          <a:xfrm>
            <a:off x="1143000" y="914400"/>
            <a:ext cx="7543800" cy="5715000"/>
          </a:xfrm>
        </p:spPr>
        <p:txBody>
          <a:bodyPr>
            <a:normAutofit fontScale="55000" lnSpcReduction="20000"/>
          </a:bodyPr>
          <a:lstStyle/>
          <a:p>
            <a:endParaRPr lang="en-US" sz="4400" b="1" dirty="0" smtClean="0"/>
          </a:p>
          <a:p>
            <a:r>
              <a:rPr lang="en-US" sz="4400" b="1" dirty="0" smtClean="0"/>
              <a:t>Introduction</a:t>
            </a:r>
            <a:endParaRPr lang="en-US" sz="4400" dirty="0"/>
          </a:p>
          <a:p>
            <a:r>
              <a:rPr lang="en-US" sz="4400" b="1" dirty="0" smtClean="0"/>
              <a:t>Objectives</a:t>
            </a:r>
            <a:endParaRPr lang="en-US" sz="4400" dirty="0"/>
          </a:p>
          <a:p>
            <a:pPr lvl="1"/>
            <a:r>
              <a:rPr lang="en-US" sz="4400" dirty="0"/>
              <a:t>Historical </a:t>
            </a:r>
            <a:r>
              <a:rPr lang="en-US" sz="4400" dirty="0" smtClean="0"/>
              <a:t>Background</a:t>
            </a:r>
            <a:endParaRPr lang="en-US" sz="4400" dirty="0"/>
          </a:p>
          <a:p>
            <a:pPr lvl="1"/>
            <a:r>
              <a:rPr lang="en-US" sz="4400" dirty="0"/>
              <a:t>Ethics, Profession, Professional Ethics and Legal </a:t>
            </a:r>
            <a:r>
              <a:rPr lang="en-US" sz="4400" dirty="0" smtClean="0"/>
              <a:t>Ethics</a:t>
            </a:r>
            <a:endParaRPr lang="en-US" sz="4400" dirty="0"/>
          </a:p>
          <a:p>
            <a:pPr lvl="1"/>
            <a:r>
              <a:rPr lang="en-US" sz="4400" dirty="0" smtClean="0"/>
              <a:t>Moral </a:t>
            </a:r>
            <a:r>
              <a:rPr lang="en-US" sz="4400" dirty="0"/>
              <a:t>Issues and Moral </a:t>
            </a:r>
            <a:r>
              <a:rPr lang="en-US" sz="4400" dirty="0" smtClean="0"/>
              <a:t>Dilemmas</a:t>
            </a:r>
            <a:endParaRPr lang="en-US" sz="4400" dirty="0"/>
          </a:p>
          <a:p>
            <a:pPr lvl="1"/>
            <a:r>
              <a:rPr lang="en-US" sz="4400" dirty="0"/>
              <a:t>The Theory of Moral </a:t>
            </a:r>
            <a:r>
              <a:rPr lang="en-US" sz="4400" dirty="0" smtClean="0"/>
              <a:t>Obligation</a:t>
            </a:r>
            <a:endParaRPr lang="en-US" sz="4400" dirty="0"/>
          </a:p>
          <a:p>
            <a:pPr lvl="2"/>
            <a:r>
              <a:rPr lang="en-US" sz="4400" dirty="0" smtClean="0"/>
              <a:t>Utilitarianism</a:t>
            </a:r>
            <a:endParaRPr lang="en-US" sz="4400" dirty="0"/>
          </a:p>
          <a:p>
            <a:pPr lvl="3"/>
            <a:r>
              <a:rPr lang="en-US" sz="3600" dirty="0"/>
              <a:t>Act </a:t>
            </a:r>
            <a:r>
              <a:rPr lang="en-US" sz="3600" dirty="0" smtClean="0"/>
              <a:t>Utilitarianism</a:t>
            </a:r>
          </a:p>
          <a:p>
            <a:pPr lvl="3"/>
            <a:r>
              <a:rPr lang="en-US" sz="3600" dirty="0" smtClean="0"/>
              <a:t>Rule Utilitarianism</a:t>
            </a:r>
            <a:endParaRPr lang="en-US" sz="3600" dirty="0"/>
          </a:p>
          <a:p>
            <a:pPr lvl="2"/>
            <a:r>
              <a:rPr lang="en-US" sz="4400" dirty="0"/>
              <a:t>The Golden </a:t>
            </a:r>
            <a:r>
              <a:rPr lang="en-US" sz="4400" dirty="0" smtClean="0"/>
              <a:t>Rule</a:t>
            </a:r>
            <a:endParaRPr lang="en-US" sz="4400" dirty="0"/>
          </a:p>
          <a:p>
            <a:pPr lvl="2"/>
            <a:r>
              <a:rPr lang="en-US" sz="4400" dirty="0"/>
              <a:t>Categorical </a:t>
            </a:r>
            <a:r>
              <a:rPr lang="en-US" sz="4400" dirty="0" smtClean="0"/>
              <a:t>Imperative</a:t>
            </a:r>
            <a:endParaRPr lang="en-US" sz="4400" dirty="0"/>
          </a:p>
          <a:p>
            <a:pPr lvl="3"/>
            <a:r>
              <a:rPr lang="en-US" sz="3600" dirty="0"/>
              <a:t>Using Others as Mere </a:t>
            </a:r>
            <a:r>
              <a:rPr lang="en-US" sz="3600" dirty="0" smtClean="0"/>
              <a:t>Means</a:t>
            </a:r>
            <a:endParaRPr lang="en-US" sz="3600" dirty="0"/>
          </a:p>
          <a:p>
            <a:pPr lvl="3"/>
            <a:r>
              <a:rPr lang="en-US" sz="3600" dirty="0"/>
              <a:t>Treating Others as Ends in </a:t>
            </a:r>
            <a:r>
              <a:rPr lang="en-US" sz="3600" dirty="0" smtClean="0"/>
              <a:t>Themselves</a:t>
            </a:r>
            <a:endParaRPr lang="en-US" sz="4400"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457200"/>
          </a:xfrm>
        </p:spPr>
        <p:txBody>
          <a:bodyPr>
            <a:normAutofit fontScale="90000"/>
          </a:bodyPr>
          <a:lstStyle/>
          <a:p>
            <a:r>
              <a:rPr lang="en-US" sz="3200" b="1" u="sng" dirty="0" smtClean="0"/>
              <a:t/>
            </a:r>
            <a:br>
              <a:rPr lang="en-US" sz="3200" b="1" u="sng" dirty="0" smtClean="0"/>
            </a:br>
            <a:r>
              <a:rPr lang="en-US" sz="3200" b="1" u="sng" dirty="0" smtClean="0"/>
              <a:t>Chapter Two: The Legal Profession</a:t>
            </a:r>
            <a:br>
              <a:rPr lang="en-US" sz="3200" b="1" u="sng" dirty="0" smtClean="0"/>
            </a:br>
            <a:endParaRPr lang="en-US" sz="3200" dirty="0"/>
          </a:p>
        </p:txBody>
      </p:sp>
      <p:sp>
        <p:nvSpPr>
          <p:cNvPr id="3" name="Content Placeholder 2"/>
          <p:cNvSpPr>
            <a:spLocks noGrp="1"/>
          </p:cNvSpPr>
          <p:nvPr>
            <p:ph idx="1"/>
          </p:nvPr>
        </p:nvSpPr>
        <p:spPr>
          <a:xfrm>
            <a:off x="1295400" y="914400"/>
            <a:ext cx="7391400" cy="5638800"/>
          </a:xfrm>
        </p:spPr>
        <p:txBody>
          <a:bodyPr>
            <a:noAutofit/>
          </a:bodyPr>
          <a:lstStyle/>
          <a:p>
            <a:pPr>
              <a:buNone/>
            </a:pPr>
            <a:r>
              <a:rPr lang="en-US" sz="2000" b="1" dirty="0" smtClean="0"/>
              <a:t>Introduction</a:t>
            </a:r>
            <a:endParaRPr lang="en-US" sz="2000" dirty="0"/>
          </a:p>
          <a:p>
            <a:pPr>
              <a:buNone/>
            </a:pPr>
            <a:r>
              <a:rPr lang="en-US" sz="2000" b="1" dirty="0" smtClean="0"/>
              <a:t>Objectives</a:t>
            </a:r>
            <a:endParaRPr lang="en-US" sz="2000" dirty="0"/>
          </a:p>
          <a:p>
            <a:pPr>
              <a:buNone/>
            </a:pPr>
            <a:r>
              <a:rPr lang="en-US" sz="2200" dirty="0"/>
              <a:t>2.1. Meaning and Nature of Legal </a:t>
            </a:r>
            <a:r>
              <a:rPr lang="en-US" sz="2200" dirty="0" smtClean="0"/>
              <a:t>Profession</a:t>
            </a:r>
            <a:endParaRPr lang="en-US" sz="2200" dirty="0"/>
          </a:p>
          <a:p>
            <a:pPr>
              <a:buNone/>
            </a:pPr>
            <a:r>
              <a:rPr lang="en-US" sz="2200" dirty="0"/>
              <a:t>2.2. Admission to the Legal </a:t>
            </a:r>
            <a:r>
              <a:rPr lang="en-US" sz="2200" dirty="0" smtClean="0"/>
              <a:t>Profession</a:t>
            </a:r>
            <a:endParaRPr lang="en-US" sz="2200" dirty="0"/>
          </a:p>
          <a:p>
            <a:pPr>
              <a:buNone/>
            </a:pPr>
            <a:r>
              <a:rPr lang="en-US" sz="2200" dirty="0"/>
              <a:t>	a) </a:t>
            </a:r>
            <a:r>
              <a:rPr lang="en-US" sz="2200" dirty="0" smtClean="0"/>
              <a:t>Canada</a:t>
            </a:r>
            <a:endParaRPr lang="en-US" sz="2200" dirty="0"/>
          </a:p>
          <a:p>
            <a:pPr>
              <a:buNone/>
            </a:pPr>
            <a:r>
              <a:rPr lang="en-US" sz="2200" dirty="0"/>
              <a:t>	b) South </a:t>
            </a:r>
            <a:r>
              <a:rPr lang="en-US" sz="2200" dirty="0" smtClean="0"/>
              <a:t>Africa</a:t>
            </a:r>
            <a:endParaRPr lang="en-US" sz="2200" dirty="0"/>
          </a:p>
          <a:p>
            <a:pPr>
              <a:buNone/>
            </a:pPr>
            <a:r>
              <a:rPr lang="en-US" sz="2200" dirty="0"/>
              <a:t>	c) </a:t>
            </a:r>
            <a:r>
              <a:rPr lang="en-US" sz="2200" dirty="0" smtClean="0"/>
              <a:t>U.S</a:t>
            </a:r>
            <a:endParaRPr lang="en-US" sz="2200" dirty="0"/>
          </a:p>
          <a:p>
            <a:pPr>
              <a:buNone/>
            </a:pPr>
            <a:r>
              <a:rPr lang="en-US" sz="2200" dirty="0"/>
              <a:t>	d) </a:t>
            </a:r>
            <a:r>
              <a:rPr lang="en-US" sz="2200" dirty="0" smtClean="0"/>
              <a:t>Ethiopia</a:t>
            </a:r>
            <a:endParaRPr lang="en-US" sz="2200" dirty="0"/>
          </a:p>
          <a:p>
            <a:pPr>
              <a:buNone/>
            </a:pPr>
            <a:r>
              <a:rPr lang="en-US" sz="2200" dirty="0"/>
              <a:t>2.3. Constitutional Right to Exercise Legal </a:t>
            </a:r>
            <a:r>
              <a:rPr lang="en-US" sz="2200" dirty="0" smtClean="0"/>
              <a:t>Profession</a:t>
            </a:r>
            <a:endParaRPr lang="en-US" sz="2200" dirty="0"/>
          </a:p>
          <a:p>
            <a:pPr>
              <a:buNone/>
            </a:pPr>
            <a:r>
              <a:rPr lang="en-US" sz="2200" dirty="0"/>
              <a:t>2.4. Dissatisfaction with Legal </a:t>
            </a:r>
            <a:r>
              <a:rPr lang="en-US" sz="2200" dirty="0" smtClean="0"/>
              <a:t>Profession</a:t>
            </a:r>
            <a:endParaRPr lang="en-US" sz="2200" dirty="0"/>
          </a:p>
          <a:p>
            <a:pPr>
              <a:buNone/>
            </a:pPr>
            <a:r>
              <a:rPr lang="en-US" sz="2200" dirty="0"/>
              <a:t>2.5. Bar Associations and their Role in Legal </a:t>
            </a:r>
            <a:r>
              <a:rPr lang="en-US" sz="2200" dirty="0" smtClean="0"/>
              <a:t>Profession</a:t>
            </a:r>
            <a:endParaRPr lang="en-US" sz="2200" dirty="0"/>
          </a:p>
          <a:p>
            <a:pPr>
              <a:buNone/>
            </a:pPr>
            <a:r>
              <a:rPr lang="en-US" sz="2200" dirty="0"/>
              <a:t>	a) American Bar </a:t>
            </a:r>
            <a:r>
              <a:rPr lang="en-US" sz="2200" dirty="0" smtClean="0"/>
              <a:t>Association</a:t>
            </a:r>
            <a:endParaRPr lang="en-US" sz="2200" dirty="0"/>
          </a:p>
          <a:p>
            <a:pPr>
              <a:buNone/>
            </a:pPr>
            <a:r>
              <a:rPr lang="en-US" sz="2200" dirty="0"/>
              <a:t>	b) Ethiopian Bar </a:t>
            </a:r>
            <a:r>
              <a:rPr lang="en-US" sz="2200" dirty="0" smtClean="0"/>
              <a:t>Association</a:t>
            </a:r>
            <a:endParaRPr lang="en-US" sz="2200" dirty="0"/>
          </a:p>
          <a:p>
            <a:pPr>
              <a:buNone/>
            </a:pPr>
            <a:r>
              <a:rPr lang="en-US" sz="2200" dirty="0"/>
              <a:t>2.6. Unauthorized Practice in Legal </a:t>
            </a:r>
            <a:r>
              <a:rPr lang="en-US" sz="2200" dirty="0" smtClean="0"/>
              <a:t>Profession</a:t>
            </a:r>
            <a:endParaRPr lang="en-US" sz="2200" dirty="0"/>
          </a:p>
          <a:p>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2800" b="1" u="sng" dirty="0" smtClean="0"/>
              <a:t>Chapter Three</a:t>
            </a:r>
            <a:r>
              <a:rPr lang="en-US" sz="2800" b="1" u="sng" dirty="0"/>
              <a:t>: Judicial </a:t>
            </a:r>
            <a:r>
              <a:rPr lang="en-US" sz="2800" b="1" u="sng" dirty="0" smtClean="0"/>
              <a:t>Ethics</a:t>
            </a:r>
            <a:endParaRPr lang="en-US" sz="2800" u="sng" dirty="0"/>
          </a:p>
        </p:txBody>
      </p:sp>
      <p:sp>
        <p:nvSpPr>
          <p:cNvPr id="3" name="Content Placeholder 2"/>
          <p:cNvSpPr>
            <a:spLocks noGrp="1"/>
          </p:cNvSpPr>
          <p:nvPr>
            <p:ph idx="1"/>
          </p:nvPr>
        </p:nvSpPr>
        <p:spPr>
          <a:xfrm>
            <a:off x="762000" y="838200"/>
            <a:ext cx="7924800" cy="5791200"/>
          </a:xfrm>
        </p:spPr>
        <p:txBody>
          <a:bodyPr>
            <a:normAutofit fontScale="77500" lnSpcReduction="20000"/>
          </a:bodyPr>
          <a:lstStyle/>
          <a:p>
            <a:pPr>
              <a:buNone/>
            </a:pPr>
            <a:r>
              <a:rPr lang="en-US" b="1" dirty="0" smtClean="0"/>
              <a:t>Introduction</a:t>
            </a:r>
            <a:endParaRPr lang="en-US" dirty="0"/>
          </a:p>
          <a:p>
            <a:pPr>
              <a:buNone/>
            </a:pPr>
            <a:r>
              <a:rPr lang="en-US" b="1" dirty="0" smtClean="0"/>
              <a:t>Objectives</a:t>
            </a:r>
            <a:endParaRPr lang="en-US" dirty="0"/>
          </a:p>
          <a:p>
            <a:pPr>
              <a:buNone/>
            </a:pPr>
            <a:r>
              <a:rPr lang="en-US" dirty="0"/>
              <a:t>3.1. Ethical Duties of Judges in Judicial </a:t>
            </a:r>
            <a:r>
              <a:rPr lang="en-US" dirty="0" smtClean="0"/>
              <a:t>Activities</a:t>
            </a:r>
            <a:endParaRPr lang="en-US" dirty="0"/>
          </a:p>
          <a:p>
            <a:pPr>
              <a:buNone/>
            </a:pPr>
            <a:r>
              <a:rPr lang="en-US" dirty="0" smtClean="0"/>
              <a:t>    3.1.1</a:t>
            </a:r>
            <a:r>
              <a:rPr lang="en-US" dirty="0"/>
              <a:t>. </a:t>
            </a:r>
            <a:r>
              <a:rPr lang="en-US" dirty="0" smtClean="0"/>
              <a:t>Independence</a:t>
            </a:r>
            <a:endParaRPr lang="en-US" dirty="0"/>
          </a:p>
          <a:p>
            <a:pPr>
              <a:buNone/>
            </a:pPr>
            <a:r>
              <a:rPr lang="en-US" dirty="0" smtClean="0"/>
              <a:t>    3.1.2</a:t>
            </a:r>
            <a:r>
              <a:rPr lang="en-US" dirty="0"/>
              <a:t>. </a:t>
            </a:r>
            <a:r>
              <a:rPr lang="en-US" dirty="0" smtClean="0"/>
              <a:t>Accountability</a:t>
            </a:r>
            <a:endParaRPr lang="en-US" dirty="0"/>
          </a:p>
          <a:p>
            <a:pPr>
              <a:buNone/>
            </a:pPr>
            <a:r>
              <a:rPr lang="en-US" dirty="0" smtClean="0"/>
              <a:t>    3.1.3</a:t>
            </a:r>
            <a:r>
              <a:rPr lang="en-US" dirty="0"/>
              <a:t>. </a:t>
            </a:r>
            <a:r>
              <a:rPr lang="en-US" dirty="0" smtClean="0"/>
              <a:t>Impartiality</a:t>
            </a:r>
            <a:endParaRPr lang="en-US" dirty="0"/>
          </a:p>
          <a:p>
            <a:pPr>
              <a:buNone/>
            </a:pPr>
            <a:r>
              <a:rPr lang="en-US" dirty="0" smtClean="0"/>
              <a:t>    3.1.4</a:t>
            </a:r>
            <a:r>
              <a:rPr lang="en-US" dirty="0"/>
              <a:t>. Competence and </a:t>
            </a:r>
            <a:r>
              <a:rPr lang="en-US" dirty="0" smtClean="0"/>
              <a:t>Diligence</a:t>
            </a:r>
            <a:endParaRPr lang="en-US" dirty="0"/>
          </a:p>
          <a:p>
            <a:pPr>
              <a:buNone/>
            </a:pPr>
            <a:r>
              <a:rPr lang="en-US" dirty="0" smtClean="0"/>
              <a:t>    3.1.5</a:t>
            </a:r>
            <a:r>
              <a:rPr lang="en-US" dirty="0"/>
              <a:t>. </a:t>
            </a:r>
            <a:r>
              <a:rPr lang="en-US" dirty="0" smtClean="0"/>
              <a:t>Equality</a:t>
            </a:r>
            <a:endParaRPr lang="en-US" dirty="0"/>
          </a:p>
          <a:p>
            <a:pPr>
              <a:buNone/>
            </a:pPr>
            <a:r>
              <a:rPr lang="en-US" dirty="0" smtClean="0"/>
              <a:t>    3.1.6</a:t>
            </a:r>
            <a:r>
              <a:rPr lang="en-US" dirty="0"/>
              <a:t>. Civility among </a:t>
            </a:r>
            <a:r>
              <a:rPr lang="en-US" dirty="0" smtClean="0"/>
              <a:t>Judges</a:t>
            </a:r>
            <a:endParaRPr lang="en-US" dirty="0"/>
          </a:p>
          <a:p>
            <a:pPr>
              <a:buNone/>
            </a:pPr>
            <a:r>
              <a:rPr lang="en-US" dirty="0"/>
              <a:t>3.2. Ethical Requirements of Judges in Extra-Judicial </a:t>
            </a:r>
            <a:r>
              <a:rPr lang="en-US" dirty="0" smtClean="0"/>
              <a:t>Activities</a:t>
            </a:r>
            <a:endParaRPr lang="en-US" dirty="0"/>
          </a:p>
          <a:p>
            <a:pPr>
              <a:buNone/>
            </a:pPr>
            <a:r>
              <a:rPr lang="en-US" dirty="0"/>
              <a:t>3.3. Appointment, Withdrawal, Transfer, Promotion and Removal of </a:t>
            </a:r>
            <a:r>
              <a:rPr lang="en-US" dirty="0" smtClean="0"/>
              <a:t>Judges</a:t>
            </a:r>
            <a:endParaRPr lang="en-US" dirty="0"/>
          </a:p>
          <a:p>
            <a:pPr>
              <a:buNone/>
            </a:pPr>
            <a:r>
              <a:rPr lang="en-US" dirty="0" smtClean="0"/>
              <a:t>    3.3.1</a:t>
            </a:r>
            <a:r>
              <a:rPr lang="en-US" dirty="0"/>
              <a:t>. Judicial </a:t>
            </a:r>
            <a:r>
              <a:rPr lang="en-US" dirty="0" smtClean="0"/>
              <a:t>Appointment</a:t>
            </a:r>
            <a:endParaRPr lang="en-US" dirty="0"/>
          </a:p>
          <a:p>
            <a:pPr>
              <a:buNone/>
            </a:pPr>
            <a:r>
              <a:rPr lang="en-US" dirty="0" smtClean="0"/>
              <a:t>    3.3.2</a:t>
            </a:r>
            <a:r>
              <a:rPr lang="en-US" dirty="0"/>
              <a:t>. Judges’ Tenure and Removal of </a:t>
            </a:r>
            <a:r>
              <a:rPr lang="en-US" dirty="0" smtClean="0"/>
              <a:t>Mechanisms</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2800" b="1" u="sng" dirty="0" smtClean="0"/>
              <a:t>Chapter Three: Judicial Ethics . . . continued</a:t>
            </a:r>
            <a:endParaRPr lang="en-US" sz="2800" dirty="0"/>
          </a:p>
        </p:txBody>
      </p:sp>
      <p:sp>
        <p:nvSpPr>
          <p:cNvPr id="3" name="Content Placeholder 2"/>
          <p:cNvSpPr>
            <a:spLocks noGrp="1"/>
          </p:cNvSpPr>
          <p:nvPr>
            <p:ph idx="1"/>
          </p:nvPr>
        </p:nvSpPr>
        <p:spPr>
          <a:xfrm>
            <a:off x="914400" y="838200"/>
            <a:ext cx="7772400" cy="5287963"/>
          </a:xfrm>
        </p:spPr>
        <p:txBody>
          <a:bodyPr>
            <a:normAutofit fontScale="77500" lnSpcReduction="20000"/>
          </a:bodyPr>
          <a:lstStyle/>
          <a:p>
            <a:pPr algn="just">
              <a:buNone/>
            </a:pPr>
            <a:r>
              <a:rPr lang="en-US" dirty="0"/>
              <a:t>3.3.3. Criteria for </a:t>
            </a:r>
            <a:r>
              <a:rPr lang="en-US" dirty="0" smtClean="0"/>
              <a:t>Appointment</a:t>
            </a:r>
            <a:endParaRPr lang="en-US" dirty="0"/>
          </a:p>
          <a:p>
            <a:pPr algn="just">
              <a:buNone/>
            </a:pPr>
            <a:r>
              <a:rPr lang="en-US" dirty="0"/>
              <a:t>3.3.4. Appointment of Judges in the United </a:t>
            </a:r>
            <a:r>
              <a:rPr lang="en-US" dirty="0" smtClean="0"/>
              <a:t>States</a:t>
            </a:r>
            <a:endParaRPr lang="en-US" dirty="0"/>
          </a:p>
          <a:p>
            <a:pPr algn="just">
              <a:buNone/>
            </a:pPr>
            <a:r>
              <a:rPr lang="en-US" dirty="0"/>
              <a:t>3.3.5. Appointment and Removal of Judges in </a:t>
            </a:r>
            <a:r>
              <a:rPr lang="en-US" dirty="0" smtClean="0"/>
              <a:t>India</a:t>
            </a:r>
            <a:endParaRPr lang="en-US" dirty="0"/>
          </a:p>
          <a:p>
            <a:pPr algn="just">
              <a:buNone/>
            </a:pPr>
            <a:r>
              <a:rPr lang="en-US" dirty="0"/>
              <a:t>3.3.6. </a:t>
            </a:r>
            <a:r>
              <a:rPr lang="en-US" sz="2600" dirty="0"/>
              <a:t>Appointment, Withdrawal and Removal of Judges in </a:t>
            </a:r>
            <a:r>
              <a:rPr lang="en-US" sz="2600" dirty="0" smtClean="0"/>
              <a:t>Ethiopia</a:t>
            </a:r>
            <a:endParaRPr lang="en-US" dirty="0"/>
          </a:p>
          <a:p>
            <a:pPr algn="just">
              <a:buNone/>
            </a:pPr>
            <a:r>
              <a:rPr lang="en-US" dirty="0"/>
              <a:t>	3.3.6.1. Federal Judicial Administration </a:t>
            </a:r>
            <a:r>
              <a:rPr lang="en-US" dirty="0" smtClean="0"/>
              <a:t>Council</a:t>
            </a:r>
            <a:endParaRPr lang="en-US" dirty="0"/>
          </a:p>
          <a:p>
            <a:pPr algn="just">
              <a:buNone/>
            </a:pPr>
            <a:r>
              <a:rPr lang="en-US" dirty="0"/>
              <a:t>	3.3.6.2. Criteria for Judicial </a:t>
            </a:r>
            <a:r>
              <a:rPr lang="en-US" dirty="0" smtClean="0"/>
              <a:t>Appointment</a:t>
            </a:r>
            <a:endParaRPr lang="en-US" dirty="0"/>
          </a:p>
          <a:p>
            <a:pPr algn="just">
              <a:buNone/>
            </a:pPr>
            <a:r>
              <a:rPr lang="en-US" dirty="0"/>
              <a:t>	3.3.6.3. Procedure of </a:t>
            </a:r>
            <a:r>
              <a:rPr lang="en-US" dirty="0" smtClean="0"/>
              <a:t>Appointments</a:t>
            </a:r>
            <a:endParaRPr lang="en-US" dirty="0"/>
          </a:p>
          <a:p>
            <a:pPr algn="just">
              <a:buNone/>
            </a:pPr>
            <a:r>
              <a:rPr lang="en-US" dirty="0"/>
              <a:t>	3.3.6.4. Withdrawal and Removal of </a:t>
            </a:r>
            <a:r>
              <a:rPr lang="en-US" dirty="0" smtClean="0"/>
              <a:t>Judges</a:t>
            </a:r>
            <a:endParaRPr lang="en-US" dirty="0"/>
          </a:p>
          <a:p>
            <a:pPr algn="just">
              <a:buNone/>
            </a:pPr>
            <a:r>
              <a:rPr lang="en-US" dirty="0"/>
              <a:t>3.4. Factors that Influence Ethical Requirement of </a:t>
            </a:r>
            <a:r>
              <a:rPr lang="en-US" dirty="0" smtClean="0"/>
              <a:t>Judges</a:t>
            </a:r>
            <a:endParaRPr lang="en-US" dirty="0"/>
          </a:p>
          <a:p>
            <a:pPr algn="just">
              <a:buNone/>
            </a:pPr>
            <a:r>
              <a:rPr lang="en-US" dirty="0"/>
              <a:t>3.5. Liability (Responsibility) for Breach of Rules of </a:t>
            </a:r>
            <a:r>
              <a:rPr lang="en-US" dirty="0" smtClean="0"/>
              <a:t>Conduct</a:t>
            </a:r>
            <a:endParaRPr lang="en-US" dirty="0"/>
          </a:p>
          <a:p>
            <a:pPr algn="just">
              <a:buNone/>
            </a:pPr>
            <a:r>
              <a:rPr lang="en-US" dirty="0"/>
              <a:t>3.5.1. Disciplinary </a:t>
            </a:r>
            <a:r>
              <a:rPr lang="en-US" dirty="0" smtClean="0"/>
              <a:t>Agency</a:t>
            </a:r>
            <a:endParaRPr lang="en-US" dirty="0"/>
          </a:p>
          <a:p>
            <a:pPr algn="just">
              <a:buNone/>
            </a:pPr>
            <a:r>
              <a:rPr lang="en-US" dirty="0"/>
              <a:t>3.5.2. Disciplinary </a:t>
            </a:r>
            <a:r>
              <a:rPr lang="en-US" dirty="0" smtClean="0"/>
              <a:t>Measures</a:t>
            </a:r>
            <a:endParaRPr lang="en-US" dirty="0"/>
          </a:p>
          <a:p>
            <a:pPr algn="just">
              <a:buNone/>
            </a:pPr>
            <a:r>
              <a:rPr lang="en-US" dirty="0"/>
              <a:t>3.5.3. Procedures of Disciplinary </a:t>
            </a:r>
            <a:r>
              <a:rPr lang="en-US" dirty="0" smtClean="0"/>
              <a:t>Proceedings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2800" b="1" u="sng" dirty="0" smtClean="0"/>
              <a:t>Chapter</a:t>
            </a:r>
            <a:r>
              <a:rPr lang="en-US" sz="2800" b="1" u="sng" dirty="0"/>
              <a:t> Four: Advocates’ Ethics</a:t>
            </a:r>
            <a:endParaRPr lang="en-US" sz="2800" u="sng" dirty="0"/>
          </a:p>
        </p:txBody>
      </p:sp>
      <p:sp>
        <p:nvSpPr>
          <p:cNvPr id="3" name="Content Placeholder 2"/>
          <p:cNvSpPr>
            <a:spLocks noGrp="1"/>
          </p:cNvSpPr>
          <p:nvPr>
            <p:ph idx="1"/>
          </p:nvPr>
        </p:nvSpPr>
        <p:spPr>
          <a:xfrm>
            <a:off x="990600" y="762000"/>
            <a:ext cx="7696200" cy="5364163"/>
          </a:xfrm>
        </p:spPr>
        <p:txBody>
          <a:bodyPr>
            <a:normAutofit fontScale="85000" lnSpcReduction="20000"/>
          </a:bodyPr>
          <a:lstStyle/>
          <a:p>
            <a:pPr>
              <a:buNone/>
            </a:pPr>
            <a:endParaRPr lang="en-US" b="1" dirty="0" smtClean="0"/>
          </a:p>
          <a:p>
            <a:pPr algn="just">
              <a:buNone/>
            </a:pPr>
            <a:r>
              <a:rPr lang="en-US" b="1" dirty="0" smtClean="0"/>
              <a:t>Objectives</a:t>
            </a:r>
            <a:endParaRPr lang="en-US" dirty="0"/>
          </a:p>
          <a:p>
            <a:pPr algn="just">
              <a:buNone/>
            </a:pPr>
            <a:r>
              <a:rPr lang="en-US" dirty="0"/>
              <a:t>4.1. The Profession, the Justice System, Court and the </a:t>
            </a:r>
            <a:r>
              <a:rPr lang="en-US" dirty="0" smtClean="0"/>
              <a:t>Country</a:t>
            </a:r>
            <a:endParaRPr lang="en-US" dirty="0"/>
          </a:p>
          <a:p>
            <a:pPr algn="just">
              <a:buNone/>
            </a:pPr>
            <a:r>
              <a:rPr lang="en-US" dirty="0"/>
              <a:t>4.2. Ethical Requirements of Advocates in Relation to their </a:t>
            </a:r>
            <a:r>
              <a:rPr lang="en-US" dirty="0" smtClean="0"/>
              <a:t>Clients</a:t>
            </a:r>
            <a:endParaRPr lang="en-US" dirty="0"/>
          </a:p>
          <a:p>
            <a:pPr lvl="1" algn="just">
              <a:buNone/>
            </a:pPr>
            <a:r>
              <a:rPr lang="en-US" dirty="0"/>
              <a:t>4.2.1. Diligent and Competent </a:t>
            </a:r>
            <a:r>
              <a:rPr lang="en-US" dirty="0" smtClean="0"/>
              <a:t>Representation</a:t>
            </a:r>
          </a:p>
          <a:p>
            <a:pPr lvl="1" algn="just">
              <a:buNone/>
            </a:pPr>
            <a:r>
              <a:rPr lang="en-US" dirty="0" smtClean="0"/>
              <a:t>4.2.2</a:t>
            </a:r>
            <a:r>
              <a:rPr lang="en-US" dirty="0"/>
              <a:t>. Duty of </a:t>
            </a:r>
            <a:r>
              <a:rPr lang="en-US" dirty="0" smtClean="0"/>
              <a:t>Confidentiality</a:t>
            </a:r>
          </a:p>
          <a:p>
            <a:pPr lvl="1" algn="just">
              <a:buNone/>
            </a:pPr>
            <a:r>
              <a:rPr lang="en-US" dirty="0" smtClean="0"/>
              <a:t>4.2.3</a:t>
            </a:r>
            <a:r>
              <a:rPr lang="en-US" dirty="0"/>
              <a:t>. Contract of </a:t>
            </a:r>
            <a:r>
              <a:rPr lang="en-US" dirty="0" smtClean="0"/>
              <a:t>Advocacy</a:t>
            </a:r>
          </a:p>
          <a:p>
            <a:pPr lvl="1" algn="just">
              <a:buNone/>
            </a:pPr>
            <a:r>
              <a:rPr lang="en-US" dirty="0" smtClean="0"/>
              <a:t>4.2.4</a:t>
            </a:r>
            <a:r>
              <a:rPr lang="en-US" dirty="0"/>
              <a:t>. Conflict of </a:t>
            </a:r>
            <a:r>
              <a:rPr lang="en-US" dirty="0" smtClean="0"/>
              <a:t>Interest</a:t>
            </a:r>
          </a:p>
          <a:p>
            <a:pPr algn="just">
              <a:buNone/>
            </a:pPr>
            <a:r>
              <a:rPr lang="en-US" dirty="0" smtClean="0"/>
              <a:t>4.3. Ethical Requirements of Advocates in Relation to the Court</a:t>
            </a:r>
          </a:p>
          <a:p>
            <a:pPr algn="just">
              <a:buNone/>
            </a:pPr>
            <a:r>
              <a:rPr lang="en-US" dirty="0" smtClean="0"/>
              <a:t>4.4. </a:t>
            </a:r>
            <a:r>
              <a:rPr lang="en-US" dirty="0"/>
              <a:t>Non Professional Subsidiary </a:t>
            </a:r>
            <a:r>
              <a:rPr lang="en-US" dirty="0" smtClean="0"/>
              <a:t>Activities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800" b="1" dirty="0"/>
              <a:t>Chapter Five: Ethics of the Public Prosecutor</a:t>
            </a:r>
            <a:endParaRPr lang="en-US" sz="2800" dirty="0"/>
          </a:p>
        </p:txBody>
      </p:sp>
      <p:sp>
        <p:nvSpPr>
          <p:cNvPr id="3" name="Content Placeholder 2"/>
          <p:cNvSpPr>
            <a:spLocks noGrp="1"/>
          </p:cNvSpPr>
          <p:nvPr>
            <p:ph idx="1"/>
          </p:nvPr>
        </p:nvSpPr>
        <p:spPr>
          <a:xfrm>
            <a:off x="533400" y="762000"/>
            <a:ext cx="8153400" cy="5715000"/>
          </a:xfrm>
        </p:spPr>
        <p:txBody>
          <a:bodyPr>
            <a:normAutofit fontScale="77500" lnSpcReduction="20000"/>
          </a:bodyPr>
          <a:lstStyle/>
          <a:p>
            <a:pPr algn="just">
              <a:buNone/>
            </a:pPr>
            <a:r>
              <a:rPr lang="en-US" b="1" dirty="0" smtClean="0"/>
              <a:t>Objectives </a:t>
            </a:r>
            <a:endParaRPr lang="en-US" dirty="0"/>
          </a:p>
          <a:p>
            <a:pPr algn="just">
              <a:buNone/>
            </a:pPr>
            <a:r>
              <a:rPr lang="en-US" dirty="0"/>
              <a:t>5.1. </a:t>
            </a:r>
            <a:r>
              <a:rPr lang="en-US" dirty="0" smtClean="0"/>
              <a:t>Eligibility</a:t>
            </a:r>
            <a:endParaRPr lang="en-US" dirty="0"/>
          </a:p>
          <a:p>
            <a:pPr algn="just">
              <a:buNone/>
            </a:pPr>
            <a:r>
              <a:rPr lang="en-US" dirty="0"/>
              <a:t>5.2. Legal Basis and Basic Ethical Principles for the Functions of Public </a:t>
            </a:r>
            <a:r>
              <a:rPr lang="en-US" dirty="0" smtClean="0"/>
              <a:t>Prosecutor</a:t>
            </a:r>
            <a:endParaRPr lang="en-US" dirty="0"/>
          </a:p>
          <a:p>
            <a:pPr lvl="1" algn="just">
              <a:buNone/>
            </a:pPr>
            <a:r>
              <a:rPr lang="en-US" dirty="0"/>
              <a:t>5.2.1. Independence, Impartiality and </a:t>
            </a:r>
            <a:r>
              <a:rPr lang="en-US" dirty="0" smtClean="0"/>
              <a:t>Immunity</a:t>
            </a:r>
          </a:p>
          <a:p>
            <a:pPr lvl="1" algn="just">
              <a:buNone/>
            </a:pPr>
            <a:r>
              <a:rPr lang="en-US" dirty="0" smtClean="0"/>
              <a:t>5.2.2</a:t>
            </a:r>
            <a:r>
              <a:rPr lang="en-US" dirty="0"/>
              <a:t>. </a:t>
            </a:r>
            <a:r>
              <a:rPr lang="en-US" dirty="0" smtClean="0"/>
              <a:t>Confidentiality</a:t>
            </a:r>
          </a:p>
          <a:p>
            <a:pPr lvl="1" algn="just">
              <a:buNone/>
            </a:pPr>
            <a:r>
              <a:rPr lang="en-US" dirty="0" smtClean="0"/>
              <a:t>5.2.3</a:t>
            </a:r>
            <a:r>
              <a:rPr lang="en-US" dirty="0"/>
              <a:t>. Competence and </a:t>
            </a:r>
            <a:r>
              <a:rPr lang="en-US" dirty="0" smtClean="0"/>
              <a:t>Diligence</a:t>
            </a:r>
          </a:p>
          <a:p>
            <a:pPr lvl="1" algn="just">
              <a:buNone/>
            </a:pPr>
            <a:r>
              <a:rPr lang="en-US" dirty="0" smtClean="0"/>
              <a:t>5.2.4</a:t>
            </a:r>
            <a:r>
              <a:rPr lang="en-US" dirty="0"/>
              <a:t>. Loyalty and Avoidance of Conflict of </a:t>
            </a:r>
            <a:r>
              <a:rPr lang="en-US" dirty="0" smtClean="0"/>
              <a:t>Interest</a:t>
            </a:r>
            <a:endParaRPr lang="en-US" dirty="0"/>
          </a:p>
          <a:p>
            <a:pPr algn="just">
              <a:buNone/>
            </a:pPr>
            <a:r>
              <a:rPr lang="en-US" dirty="0"/>
              <a:t>5.3. In Relation to the Accused, the Court and Other </a:t>
            </a:r>
            <a:r>
              <a:rPr lang="en-US" dirty="0" smtClean="0"/>
              <a:t>Institutions</a:t>
            </a:r>
            <a:endParaRPr lang="en-US" dirty="0"/>
          </a:p>
          <a:p>
            <a:pPr algn="just">
              <a:buNone/>
            </a:pPr>
            <a:r>
              <a:rPr lang="en-US" dirty="0"/>
              <a:t>5.4. Engaging in Activities Outside Official </a:t>
            </a:r>
            <a:r>
              <a:rPr lang="en-US" dirty="0" smtClean="0"/>
              <a:t>Duties</a:t>
            </a:r>
            <a:endParaRPr lang="en-US" dirty="0"/>
          </a:p>
          <a:p>
            <a:pPr algn="just">
              <a:buNone/>
            </a:pPr>
            <a:r>
              <a:rPr lang="en-US" dirty="0"/>
              <a:t>5.5. Other Ethical </a:t>
            </a:r>
            <a:r>
              <a:rPr lang="en-US" dirty="0" smtClean="0"/>
              <a:t>Considerations</a:t>
            </a:r>
            <a:endParaRPr lang="en-US" dirty="0"/>
          </a:p>
          <a:p>
            <a:pPr algn="just">
              <a:buNone/>
            </a:pPr>
            <a:r>
              <a:rPr lang="en-US" dirty="0"/>
              <a:t>5.6. Liability for Violation of Codes of Conduct for </a:t>
            </a:r>
            <a:r>
              <a:rPr lang="en-US" dirty="0" smtClean="0"/>
              <a:t>Prosecutors</a:t>
            </a:r>
          </a:p>
          <a:p>
            <a:pPr lvl="1" algn="just">
              <a:buNone/>
            </a:pPr>
            <a:r>
              <a:rPr lang="en-US" dirty="0" smtClean="0"/>
              <a:t>5.6.1</a:t>
            </a:r>
            <a:r>
              <a:rPr lang="en-US" dirty="0"/>
              <a:t>. Administrative (Disciplinary) </a:t>
            </a:r>
            <a:r>
              <a:rPr lang="en-US" dirty="0" smtClean="0"/>
              <a:t>Liabilities</a:t>
            </a:r>
          </a:p>
          <a:p>
            <a:pPr lvl="1" algn="just">
              <a:buNone/>
            </a:pPr>
            <a:r>
              <a:rPr lang="en-US" dirty="0" smtClean="0"/>
              <a:t>5.6.2</a:t>
            </a:r>
            <a:r>
              <a:rPr lang="en-US" dirty="0"/>
              <a:t>. Criminal </a:t>
            </a:r>
            <a:r>
              <a:rPr lang="en-US" dirty="0" smtClean="0"/>
              <a:t>Liabilities</a:t>
            </a:r>
          </a:p>
          <a:p>
            <a:pPr lvl="1" algn="just">
              <a:buNone/>
            </a:pPr>
            <a:r>
              <a:rPr lang="en-US" dirty="0" smtClean="0"/>
              <a:t>5.6.3</a:t>
            </a:r>
            <a:r>
              <a:rPr lang="en-US" dirty="0"/>
              <a:t>. Civil </a:t>
            </a:r>
            <a:r>
              <a:rPr lang="en-US" dirty="0" smtClean="0"/>
              <a:t>Liabilities</a:t>
            </a:r>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2800" b="1" dirty="0" smtClean="0"/>
              <a:t>Chapter One: </a:t>
            </a:r>
            <a:br>
              <a:rPr lang="en-US" sz="2800" b="1" dirty="0" smtClean="0"/>
            </a:br>
            <a:r>
              <a:rPr lang="en-US" sz="2800" b="1" dirty="0" smtClean="0"/>
              <a:t>Introduction to Legal Profession and Ethics </a:t>
            </a:r>
            <a:endParaRPr lang="en-US" sz="2800" dirty="0"/>
          </a:p>
        </p:txBody>
      </p:sp>
      <p:sp>
        <p:nvSpPr>
          <p:cNvPr id="3" name="Content Placeholder 2"/>
          <p:cNvSpPr>
            <a:spLocks noGrp="1"/>
          </p:cNvSpPr>
          <p:nvPr>
            <p:ph idx="1"/>
          </p:nvPr>
        </p:nvSpPr>
        <p:spPr>
          <a:xfrm>
            <a:off x="1066800" y="1295400"/>
            <a:ext cx="7620000" cy="5181600"/>
          </a:xfrm>
        </p:spPr>
        <p:txBody>
          <a:bodyPr>
            <a:noAutofit/>
          </a:bodyPr>
          <a:lstStyle/>
          <a:p>
            <a:pPr algn="ctr">
              <a:buNone/>
            </a:pPr>
            <a:r>
              <a:rPr lang="en-US" sz="2400" b="1" dirty="0" smtClean="0"/>
              <a:t>Points of discussion of this chapter:</a:t>
            </a:r>
          </a:p>
          <a:p>
            <a:pPr>
              <a:buNone/>
            </a:pPr>
            <a:r>
              <a:rPr lang="en-US" sz="2400" dirty="0" smtClean="0"/>
              <a:t>1.1. Historical Background</a:t>
            </a:r>
          </a:p>
          <a:p>
            <a:pPr>
              <a:buNone/>
            </a:pPr>
            <a:r>
              <a:rPr lang="en-US" sz="2400" dirty="0" smtClean="0"/>
              <a:t>1.2. Important concepts:</a:t>
            </a:r>
          </a:p>
          <a:p>
            <a:pPr lvl="2"/>
            <a:r>
              <a:rPr lang="en-US" sz="2000" dirty="0" smtClean="0"/>
              <a:t>Ethics</a:t>
            </a:r>
          </a:p>
          <a:p>
            <a:pPr lvl="2"/>
            <a:r>
              <a:rPr lang="en-US" sz="2000" dirty="0" smtClean="0"/>
              <a:t>Profession</a:t>
            </a:r>
          </a:p>
          <a:p>
            <a:pPr lvl="2"/>
            <a:r>
              <a:rPr lang="en-US" sz="2000" dirty="0" smtClean="0"/>
              <a:t>Professional Ethics</a:t>
            </a:r>
          </a:p>
          <a:p>
            <a:pPr lvl="2"/>
            <a:r>
              <a:rPr lang="en-US" sz="2000" dirty="0" smtClean="0"/>
              <a:t>Legal Ethics</a:t>
            </a:r>
          </a:p>
          <a:p>
            <a:pPr>
              <a:buNone/>
            </a:pPr>
            <a:r>
              <a:rPr lang="en-US" sz="2400" dirty="0" smtClean="0"/>
              <a:t>1.3. Moral Issues and Moral Dilemmas</a:t>
            </a:r>
          </a:p>
          <a:p>
            <a:pPr>
              <a:buNone/>
            </a:pPr>
            <a:r>
              <a:rPr lang="en-US" sz="2400" dirty="0" smtClean="0"/>
              <a:t>1.4. The Theory of Moral Obligation</a:t>
            </a:r>
            <a:endParaRPr lang="en-US" sz="2800" dirty="0" smtClean="0"/>
          </a:p>
          <a:p>
            <a:pPr lvl="2"/>
            <a:r>
              <a:rPr lang="en-US" sz="2000" dirty="0" smtClean="0"/>
              <a:t>Utilitarianism</a:t>
            </a:r>
          </a:p>
          <a:p>
            <a:pPr lvl="2"/>
            <a:r>
              <a:rPr lang="en-US" sz="2000" dirty="0" smtClean="0"/>
              <a:t>The Golden Rule</a:t>
            </a:r>
          </a:p>
          <a:p>
            <a:pPr lvl="2"/>
            <a:r>
              <a:rPr lang="en-US" sz="2000" dirty="0" smtClean="0"/>
              <a:t>Categorical Imperative</a:t>
            </a:r>
          </a:p>
          <a:p>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447800"/>
            <a:ext cx="8229600" cy="4678363"/>
          </a:xfrm>
        </p:spPr>
        <p:txBody>
          <a:bodyPr>
            <a:normAutofit lnSpcReduction="10000"/>
          </a:bodyPr>
          <a:lstStyle/>
          <a:p>
            <a:pPr marL="342900" lvl="1" indent="-342900" algn="ctr">
              <a:buNone/>
            </a:pPr>
            <a:r>
              <a:rPr lang="en-US" b="1" dirty="0" smtClean="0"/>
              <a:t>1.1. Historical Background</a:t>
            </a:r>
            <a:endParaRPr lang="en-US" dirty="0" smtClean="0"/>
          </a:p>
          <a:p>
            <a:pPr algn="just"/>
            <a:r>
              <a:rPr lang="en-US" sz="2400" b="1" u="sng" dirty="0" smtClean="0"/>
              <a:t>Ancient Greece and Rome </a:t>
            </a:r>
          </a:p>
          <a:p>
            <a:pPr lvl="1" algn="just"/>
            <a:r>
              <a:rPr lang="en-US" dirty="0" smtClean="0"/>
              <a:t>Early Greeks : orators without fee</a:t>
            </a:r>
          </a:p>
          <a:p>
            <a:pPr lvl="1" algn="just"/>
            <a:r>
              <a:rPr lang="en-US" dirty="0" smtClean="0"/>
              <a:t>Can we say Greeks contributed to the development of legal profession? </a:t>
            </a:r>
          </a:p>
          <a:p>
            <a:pPr lvl="1" algn="just"/>
            <a:r>
              <a:rPr lang="en-US" dirty="0" smtClean="0"/>
              <a:t>Romans: </a:t>
            </a:r>
          </a:p>
          <a:p>
            <a:pPr lvl="2" algn="just"/>
            <a:r>
              <a:rPr lang="en-US" dirty="0" smtClean="0"/>
              <a:t>Advocates and </a:t>
            </a:r>
            <a:r>
              <a:rPr lang="en-US" i="1" dirty="0" err="1" smtClean="0"/>
              <a:t>juris</a:t>
            </a:r>
            <a:r>
              <a:rPr lang="en-US" i="1" dirty="0" smtClean="0"/>
              <a:t> consults</a:t>
            </a:r>
          </a:p>
          <a:p>
            <a:pPr lvl="2" algn="just"/>
            <a:r>
              <a:rPr lang="en-US" dirty="0" smtClean="0"/>
              <a:t>There was no regulation until Claudius legalized advocacy as a profession</a:t>
            </a:r>
          </a:p>
          <a:p>
            <a:pPr lvl="2" algn="just"/>
            <a:r>
              <a:rPr lang="en-US" dirty="0" smtClean="0"/>
              <a:t>By the 6</a:t>
            </a:r>
            <a:r>
              <a:rPr lang="en-US" baseline="30000" dirty="0" smtClean="0"/>
              <a:t>th</a:t>
            </a:r>
            <a:r>
              <a:rPr lang="en-US" dirty="0" smtClean="0"/>
              <a:t> c a regular course of legal study was required for admission to advocacy</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92500" lnSpcReduction="20000"/>
          </a:bodyPr>
          <a:lstStyle/>
          <a:p>
            <a:pPr marL="342900" lvl="1" indent="-342900" algn="ctr">
              <a:buNone/>
            </a:pPr>
            <a:r>
              <a:rPr lang="en-US" sz="2600" b="1" dirty="0" smtClean="0"/>
              <a:t>1.1. Historical Background . . . Continued </a:t>
            </a:r>
            <a:endParaRPr lang="en-US" dirty="0" smtClean="0"/>
          </a:p>
          <a:p>
            <a:pPr algn="just"/>
            <a:r>
              <a:rPr lang="en-US" sz="2600" b="1" dirty="0" smtClean="0"/>
              <a:t>Middle Ages</a:t>
            </a:r>
          </a:p>
          <a:p>
            <a:pPr lvl="2" algn="just"/>
            <a:r>
              <a:rPr lang="en-US" dirty="0" smtClean="0"/>
              <a:t>In 1190-1230 some men began to practice law as lifelong profession in itself</a:t>
            </a:r>
          </a:p>
          <a:p>
            <a:pPr lvl="2" algn="just"/>
            <a:r>
              <a:rPr lang="en-US" dirty="0" smtClean="0"/>
              <a:t>In 1230s </a:t>
            </a:r>
            <a:r>
              <a:rPr lang="en-US" sz="2600" dirty="0" smtClean="0">
                <a:solidFill>
                  <a:schemeClr val="tx2"/>
                </a:solidFill>
              </a:rPr>
              <a:t>taking oath</a:t>
            </a:r>
            <a:r>
              <a:rPr lang="en-US" dirty="0" smtClean="0"/>
              <a:t> for admission was introduced  in Europe</a:t>
            </a:r>
          </a:p>
          <a:p>
            <a:pPr lvl="3" algn="just"/>
            <a:r>
              <a:rPr lang="en-US" dirty="0" smtClean="0"/>
              <a:t>Latin </a:t>
            </a:r>
            <a:r>
              <a:rPr lang="en-US" i="1" dirty="0" err="1" smtClean="0"/>
              <a:t>professio</a:t>
            </a:r>
            <a:r>
              <a:rPr lang="en-US" dirty="0" smtClean="0"/>
              <a:t> that comes in turn from the Greek verb </a:t>
            </a:r>
            <a:r>
              <a:rPr lang="en-US" i="1" dirty="0" err="1" smtClean="0"/>
              <a:t>prophaino</a:t>
            </a:r>
            <a:r>
              <a:rPr lang="en-US" i="1" dirty="0" smtClean="0"/>
              <a:t>, </a:t>
            </a:r>
            <a:r>
              <a:rPr lang="en-US" dirty="0" smtClean="0"/>
              <a:t>to declare publicly</a:t>
            </a:r>
          </a:p>
          <a:p>
            <a:pPr lvl="2" algn="just"/>
            <a:r>
              <a:rPr lang="en-US" dirty="0" smtClean="0"/>
              <a:t>In England, Admission of lawyers has been regulated since the middle of the 13</a:t>
            </a:r>
            <a:r>
              <a:rPr lang="en-US" baseline="30000" dirty="0" smtClean="0"/>
              <a:t>th</a:t>
            </a:r>
            <a:r>
              <a:rPr lang="en-US" dirty="0" smtClean="0"/>
              <a:t> C</a:t>
            </a:r>
          </a:p>
          <a:p>
            <a:pPr lvl="2" algn="just"/>
            <a:r>
              <a:rPr lang="en-US" dirty="0" smtClean="0"/>
              <a:t>In 1739, attorneys formed a professional group called “Society of Gentleman </a:t>
            </a:r>
            <a:r>
              <a:rPr lang="en-US" dirty="0" err="1" smtClean="0"/>
              <a:t>Practicers</a:t>
            </a:r>
            <a:r>
              <a:rPr lang="en-US" dirty="0" smtClean="0"/>
              <a:t> in the Courts of Law and Equity”- Later developed in to Law Society</a:t>
            </a:r>
          </a:p>
          <a:p>
            <a:pPr lvl="1" algn="just"/>
            <a:r>
              <a:rPr lang="en-US" dirty="0" smtClean="0"/>
              <a:t>The first written code of conduct for advocates in USA by ABA- 1906; for Judges in 1919.</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5105400"/>
          </a:xfrm>
        </p:spPr>
        <p:txBody>
          <a:bodyPr>
            <a:normAutofit fontScale="85000" lnSpcReduction="10000"/>
          </a:bodyPr>
          <a:lstStyle/>
          <a:p>
            <a:pPr marL="342900" lvl="1" indent="-342900" algn="ctr">
              <a:buNone/>
            </a:pPr>
            <a:r>
              <a:rPr lang="en-US" sz="2400" b="1" dirty="0" smtClean="0"/>
              <a:t>1.1. Historical Background . . . Continued </a:t>
            </a:r>
            <a:endParaRPr lang="en-US" sz="2400" dirty="0" smtClean="0"/>
          </a:p>
          <a:p>
            <a:pPr algn="just">
              <a:buNone/>
            </a:pPr>
            <a:r>
              <a:rPr lang="en-US" sz="2600" b="1" dirty="0" smtClean="0"/>
              <a:t>   France </a:t>
            </a:r>
            <a:r>
              <a:rPr lang="en-US" sz="2400" b="1" dirty="0" smtClean="0"/>
              <a:t>(</a:t>
            </a:r>
            <a:r>
              <a:rPr lang="en-US" sz="2400" dirty="0" smtClean="0"/>
              <a:t>John </a:t>
            </a:r>
            <a:r>
              <a:rPr lang="en-US" sz="2400" dirty="0" err="1" smtClean="0"/>
              <a:t>Leubsdorf</a:t>
            </a:r>
            <a:r>
              <a:rPr lang="en-US" sz="2400" dirty="0" smtClean="0"/>
              <a:t>, On the History of French Legal Ethics</a:t>
            </a:r>
            <a:r>
              <a:rPr lang="en-US" sz="2400" b="1" dirty="0" smtClean="0"/>
              <a:t>)</a:t>
            </a:r>
            <a:endParaRPr lang="en-US" sz="2600" b="1" dirty="0" smtClean="0"/>
          </a:p>
          <a:p>
            <a:pPr algn="just"/>
            <a:r>
              <a:rPr lang="en-US" sz="2400" dirty="0" smtClean="0"/>
              <a:t>Since the eighteenth century, France's local bars (there are now 180 of them) have admitted and disciplined </a:t>
            </a:r>
            <a:r>
              <a:rPr lang="en-US" sz="2400" i="1" dirty="0" err="1" smtClean="0"/>
              <a:t>avocats</a:t>
            </a:r>
            <a:endParaRPr lang="en-US" sz="2400" i="1" dirty="0" smtClean="0"/>
          </a:p>
          <a:p>
            <a:pPr algn="just"/>
            <a:r>
              <a:rPr lang="en-US" sz="2400" dirty="0" err="1" smtClean="0"/>
              <a:t>Avocats</a:t>
            </a:r>
            <a:r>
              <a:rPr lang="en-US" sz="2400" dirty="0" smtClean="0"/>
              <a:t> vs. magistrates (judges, prosecutors and investigating magistrates </a:t>
            </a:r>
          </a:p>
          <a:p>
            <a:pPr algn="just"/>
            <a:r>
              <a:rPr lang="en-US" sz="2400" dirty="0" smtClean="0"/>
              <a:t>Traditionally the </a:t>
            </a:r>
            <a:r>
              <a:rPr lang="en-US" sz="2400" i="1" dirty="0" err="1" smtClean="0"/>
              <a:t>avocat</a:t>
            </a:r>
            <a:r>
              <a:rPr lang="en-US" sz="2400" i="1" dirty="0" smtClean="0"/>
              <a:t> was not considered the agent of his client</a:t>
            </a:r>
          </a:p>
          <a:p>
            <a:pPr algn="just"/>
            <a:r>
              <a:rPr lang="en-US" sz="2400" dirty="0" smtClean="0"/>
              <a:t>Following Roman precedent more than reality, an </a:t>
            </a:r>
            <a:r>
              <a:rPr lang="en-US" sz="2400" i="1" dirty="0" err="1" smtClean="0"/>
              <a:t>avocats</a:t>
            </a:r>
            <a:r>
              <a:rPr lang="en-US" sz="2400" i="1" dirty="0" smtClean="0"/>
              <a:t> fee </a:t>
            </a:r>
            <a:r>
              <a:rPr lang="en-US" sz="2400" dirty="0" smtClean="0"/>
              <a:t>was considered the gift of a grateful client</a:t>
            </a:r>
          </a:p>
          <a:p>
            <a:pPr algn="just"/>
            <a:r>
              <a:rPr lang="en-US" sz="2400" i="1" dirty="0" smtClean="0"/>
              <a:t>Through time, </a:t>
            </a:r>
            <a:r>
              <a:rPr lang="en-US" sz="2400" i="1" dirty="0" err="1" smtClean="0"/>
              <a:t>Avocats</a:t>
            </a:r>
            <a:r>
              <a:rPr lang="en-US" sz="2400" i="1" dirty="0" smtClean="0"/>
              <a:t> won the right to sue clients for fees and to </a:t>
            </a:r>
            <a:r>
              <a:rPr lang="en-US" sz="2400" dirty="0" smtClean="0"/>
              <a:t>enter fee contracts with them.</a:t>
            </a:r>
          </a:p>
          <a:p>
            <a:pPr algn="just"/>
            <a:r>
              <a:rPr lang="en-US" sz="2400" dirty="0" smtClean="0"/>
              <a:t>Advertisement was prohibited- The bar was supposed to be dedicated to the pursuit of justice and glory, not clients or money</a:t>
            </a:r>
          </a:p>
          <a:p>
            <a:pPr algn="just"/>
            <a:r>
              <a:rPr lang="en-US" sz="2400" dirty="0" smtClean="0"/>
              <a:t>Traditionally every </a:t>
            </a:r>
            <a:r>
              <a:rPr lang="en-US" sz="2400" i="1" dirty="0" err="1" smtClean="0"/>
              <a:t>avocat</a:t>
            </a:r>
            <a:r>
              <a:rPr lang="en-US" sz="2400" i="1" dirty="0" smtClean="0"/>
              <a:t> </a:t>
            </a:r>
            <a:r>
              <a:rPr lang="en-US" sz="2400" dirty="0" smtClean="0"/>
              <a:t>was a sole practitioner.</a:t>
            </a:r>
          </a:p>
          <a:p>
            <a:pPr algn="just"/>
            <a:r>
              <a:rPr lang="en-US" sz="2000" dirty="0" smtClean="0"/>
              <a:t>Paris bar's rule: an </a:t>
            </a:r>
            <a:r>
              <a:rPr lang="en-US" sz="2000" i="1" dirty="0" err="1" smtClean="0"/>
              <a:t>avocatis</a:t>
            </a:r>
            <a:r>
              <a:rPr lang="en-US" sz="2000" i="1" dirty="0" smtClean="0"/>
              <a:t> obliged</a:t>
            </a:r>
            <a:r>
              <a:rPr lang="en-US" sz="2000" dirty="0" smtClean="0"/>
              <a:t> to manifest "dignity, conscience, independence, probity and humanity, honor, uprightness, delicacy, moderation, courtesy, disinterestedness, confraternity and tact.'</a:t>
            </a:r>
            <a:endParaRPr lang="en-US" sz="2400" dirty="0" smtClean="0"/>
          </a:p>
          <a:p>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marL="342900" lvl="1" indent="-342900" algn="ctr">
              <a:buNone/>
            </a:pPr>
            <a:endParaRPr lang="en-US" sz="2400" b="1" dirty="0" smtClean="0"/>
          </a:p>
          <a:p>
            <a:pPr marL="342900" lvl="1" indent="-342900" algn="ctr">
              <a:buNone/>
            </a:pPr>
            <a:r>
              <a:rPr lang="en-US" sz="2400" b="1" dirty="0" smtClean="0"/>
              <a:t>1.1. Historical Background . . . Continued </a:t>
            </a:r>
            <a:endParaRPr lang="en-US" sz="2400" dirty="0" smtClean="0"/>
          </a:p>
          <a:p>
            <a:pPr algn="just"/>
            <a:r>
              <a:rPr lang="en-US" dirty="0" smtClean="0"/>
              <a:t>In Ethiopia </a:t>
            </a:r>
          </a:p>
          <a:p>
            <a:pPr lvl="1" algn="just"/>
            <a:r>
              <a:rPr lang="en-US" dirty="0" smtClean="0"/>
              <a:t>legal profession existed in the customary law of different ethnic groups, </a:t>
            </a:r>
            <a:r>
              <a:rPr lang="en-US" dirty="0" err="1" smtClean="0"/>
              <a:t>eg</a:t>
            </a:r>
            <a:r>
              <a:rPr lang="en-US" dirty="0" smtClean="0"/>
              <a:t>, </a:t>
            </a:r>
            <a:r>
              <a:rPr lang="en-US" i="1" dirty="0" err="1" smtClean="0"/>
              <a:t>aba</a:t>
            </a:r>
            <a:r>
              <a:rPr lang="en-US" i="1" dirty="0" smtClean="0"/>
              <a:t> </a:t>
            </a:r>
            <a:r>
              <a:rPr lang="en-US" i="1" dirty="0" err="1" smtClean="0"/>
              <a:t>alenga</a:t>
            </a:r>
            <a:endParaRPr lang="en-US" dirty="0" smtClean="0"/>
          </a:p>
          <a:p>
            <a:pPr lvl="1" algn="just"/>
            <a:r>
              <a:rPr lang="en-US" dirty="0" smtClean="0"/>
              <a:t>It was only after 1934 E.C. that persons were required to have permission to represent others </a:t>
            </a:r>
          </a:p>
          <a:p>
            <a:pPr lvl="1" algn="just"/>
            <a:r>
              <a:rPr lang="en-US" dirty="0" smtClean="0"/>
              <a:t>It was unregulated until the promulgation of Regulation No. 57/1999</a:t>
            </a:r>
          </a:p>
          <a:p>
            <a:pPr lvl="1" algn="just"/>
            <a:endParaRPr lang="en-US" dirty="0" smtClean="0"/>
          </a:p>
          <a:p>
            <a:pPr algn="just"/>
            <a:r>
              <a:rPr lang="en-US" dirty="0" smtClean="0"/>
              <a:t>Self-regulation vs. Co-regulation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lstStyle/>
          <a:p>
            <a:pPr algn="ctr">
              <a:buNone/>
            </a:pPr>
            <a:r>
              <a:rPr lang="en-US" sz="2400" b="1" u="sng" dirty="0" smtClean="0"/>
              <a:t>1.2. Some Important Concepts</a:t>
            </a:r>
            <a:endParaRPr lang="en-US" b="1" u="sng" dirty="0" smtClean="0"/>
          </a:p>
          <a:p>
            <a:r>
              <a:rPr lang="en-US" dirty="0" smtClean="0"/>
              <a:t>1.2.1. Ethics </a:t>
            </a:r>
          </a:p>
          <a:p>
            <a:pPr algn="ctr">
              <a:buNone/>
            </a:pPr>
            <a:endParaRPr lang="en-US" sz="5400" dirty="0" smtClean="0"/>
          </a:p>
          <a:p>
            <a:pPr algn="ctr">
              <a:buNone/>
            </a:pPr>
            <a:r>
              <a:rPr lang="en-US" sz="5400" dirty="0" smtClean="0"/>
              <a:t>What is Ethics?</a:t>
            </a:r>
            <a:endParaRPr lang="en-US" sz="5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5135563"/>
          </a:xfrm>
        </p:spPr>
        <p:txBody>
          <a:bodyPr>
            <a:noAutofit/>
          </a:bodyPr>
          <a:lstStyle/>
          <a:p>
            <a:pPr algn="ctr">
              <a:buNone/>
            </a:pPr>
            <a:r>
              <a:rPr lang="en-US" sz="2400" b="1" u="sng" dirty="0" smtClean="0"/>
              <a:t>1.2. Some Important Concepts . . . Continued</a:t>
            </a:r>
          </a:p>
          <a:p>
            <a:pPr algn="ctr">
              <a:buNone/>
            </a:pPr>
            <a:r>
              <a:rPr lang="en-US" sz="2400" b="1" u="sng" dirty="0" smtClean="0"/>
              <a:t>1.2.1. What is Ethics?</a:t>
            </a:r>
          </a:p>
          <a:p>
            <a:pPr algn="just"/>
            <a:r>
              <a:rPr lang="en-US" sz="2200" dirty="0" smtClean="0"/>
              <a:t>The word ethics is derived from the  Greek word </a:t>
            </a:r>
            <a:r>
              <a:rPr lang="en-US" sz="2200" dirty="0" smtClean="0">
                <a:solidFill>
                  <a:schemeClr val="tx2"/>
                </a:solidFill>
              </a:rPr>
              <a:t>ethos</a:t>
            </a:r>
            <a:r>
              <a:rPr lang="en-US" sz="2200" dirty="0" smtClean="0"/>
              <a:t> (character), and from the Latin word </a:t>
            </a:r>
            <a:r>
              <a:rPr lang="en-US" sz="2200" dirty="0" smtClean="0">
                <a:solidFill>
                  <a:schemeClr val="tx2"/>
                </a:solidFill>
              </a:rPr>
              <a:t>mores</a:t>
            </a:r>
            <a:r>
              <a:rPr lang="en-US" sz="2200" dirty="0" smtClean="0"/>
              <a:t> (customs). Together they combine to define how individuals choose to interact with one another.</a:t>
            </a:r>
          </a:p>
          <a:p>
            <a:pPr algn="just"/>
            <a:r>
              <a:rPr lang="en-US" sz="2200" dirty="0" smtClean="0"/>
              <a:t>Oxford Dictionary (9</a:t>
            </a:r>
            <a:r>
              <a:rPr lang="en-US" sz="2200" baseline="30000" dirty="0" smtClean="0"/>
              <a:t>th</a:t>
            </a:r>
            <a:r>
              <a:rPr lang="en-US" sz="2200" dirty="0" smtClean="0"/>
              <a:t> Ed) </a:t>
            </a:r>
            <a:r>
              <a:rPr lang="en-US" sz="2200" i="1" dirty="0" smtClean="0"/>
              <a:t>moral principles that control or influence a person’s behavior</a:t>
            </a:r>
          </a:p>
          <a:p>
            <a:pPr algn="just"/>
            <a:r>
              <a:rPr lang="en-US" sz="2200" dirty="0" smtClean="0"/>
              <a:t>The branch of knowledge that deals with moral principles  </a:t>
            </a:r>
          </a:p>
          <a:p>
            <a:pPr algn="just"/>
            <a:r>
              <a:rPr lang="en-US" sz="2200" dirty="0" smtClean="0"/>
              <a:t>Encyclopedia Britannica- ethics, also called moral philosophy, is the discipline concerned with what is morally good and bad, right and wrong.</a:t>
            </a:r>
          </a:p>
          <a:p>
            <a:pPr algn="just"/>
            <a:r>
              <a:rPr lang="en-US" sz="2200" dirty="0" smtClean="0"/>
              <a:t>Catholic Encyclopedia: ethics may be defined as the </a:t>
            </a:r>
            <a:r>
              <a:rPr lang="en-US" sz="2200" dirty="0" smtClean="0">
                <a:hlinkClick r:id="rId2"/>
              </a:rPr>
              <a:t>science</a:t>
            </a:r>
            <a:r>
              <a:rPr lang="en-US" sz="2200" dirty="0" smtClean="0"/>
              <a:t> of the moral rectitude of </a:t>
            </a:r>
            <a:r>
              <a:rPr lang="en-US" sz="2200" dirty="0" smtClean="0">
                <a:hlinkClick r:id="rId3"/>
              </a:rPr>
              <a:t>human acts</a:t>
            </a:r>
            <a:r>
              <a:rPr lang="en-US" sz="2200" dirty="0" smtClean="0"/>
              <a:t> in accordance with the first principles of natural reason. (Do good and avoid evil)</a:t>
            </a:r>
          </a:p>
          <a:p>
            <a:pPr algn="just"/>
            <a:endParaRPr lang="en-US" sz="2200" dirty="0" smtClean="0"/>
          </a:p>
          <a:p>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5257800"/>
          </a:xfrm>
        </p:spPr>
        <p:txBody>
          <a:bodyPr>
            <a:normAutofit fontScale="70000" lnSpcReduction="20000"/>
          </a:bodyPr>
          <a:lstStyle/>
          <a:p>
            <a:pPr algn="ctr">
              <a:buNone/>
            </a:pPr>
            <a:r>
              <a:rPr lang="en-US" sz="2800" b="1" u="sng" dirty="0" smtClean="0"/>
              <a:t>1.2. Some Important Concepts . . . Continued</a:t>
            </a:r>
          </a:p>
          <a:p>
            <a:pPr algn="ctr">
              <a:buNone/>
            </a:pPr>
            <a:r>
              <a:rPr lang="en-US" sz="2800" b="1" u="sng" dirty="0" smtClean="0"/>
              <a:t>1.2.1. What is Ethics?. . . continued</a:t>
            </a:r>
            <a:endParaRPr lang="en-US" sz="2000" u="sng" dirty="0" smtClean="0"/>
          </a:p>
          <a:p>
            <a:endParaRPr lang="en-US" dirty="0" smtClean="0"/>
          </a:p>
          <a:p>
            <a:r>
              <a:rPr lang="en-US" dirty="0" smtClean="0"/>
              <a:t>Ethics is defined as the practical science of morality of human conduct. </a:t>
            </a:r>
            <a:r>
              <a:rPr lang="en-US" b="1" dirty="0" smtClean="0"/>
              <a:t>GOZON</a:t>
            </a:r>
          </a:p>
          <a:p>
            <a:pPr algn="just"/>
            <a:r>
              <a:rPr lang="en-US" dirty="0" smtClean="0"/>
              <a:t>Wow.com- </a:t>
            </a:r>
            <a:r>
              <a:rPr lang="en-US" i="1" dirty="0" smtClean="0"/>
              <a:t>Ethics or moral philosophy is a branch of philosophy that involves systematizing, defining and recommending concepts of right and wrong conduct</a:t>
            </a:r>
            <a:r>
              <a:rPr lang="en-US" dirty="0" smtClean="0"/>
              <a:t>.</a:t>
            </a:r>
          </a:p>
          <a:p>
            <a:pPr algn="just"/>
            <a:r>
              <a:rPr lang="en-US" dirty="0" err="1" smtClean="0"/>
              <a:t>Rushworth</a:t>
            </a:r>
            <a:r>
              <a:rPr lang="en-US" dirty="0" smtClean="0"/>
              <a:t> Kidder- ethics have typically included such phrases as the science of the ideal human character or the science of moral duty</a:t>
            </a:r>
          </a:p>
          <a:p>
            <a:pPr algn="just"/>
            <a:r>
              <a:rPr lang="en-US" dirty="0" smtClean="0"/>
              <a:t>Richard William Paul and Linda Elder- ethics is a set of concepts and principles that guide us in determining what behavior helps or harms sentient creatures.</a:t>
            </a:r>
          </a:p>
          <a:p>
            <a:pPr algn="just"/>
            <a:r>
              <a:rPr lang="en-US" dirty="0" smtClean="0"/>
              <a:t>Internet Encyclopedia of Philosophy: The field of ethics (or moral philosophy) involves systematizing, defending, and recommending concepts of right and wrong behavior.</a:t>
            </a:r>
          </a:p>
          <a:p>
            <a:pPr algn="just"/>
            <a:endParaRPr lang="en-US" dirty="0" smtClean="0"/>
          </a:p>
          <a:p>
            <a:endParaRPr lang="en-US" dirty="0" smtClean="0"/>
          </a:p>
          <a:p>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92500" lnSpcReduction="20000"/>
          </a:bodyPr>
          <a:lstStyle/>
          <a:p>
            <a:pPr algn="ctr">
              <a:buNone/>
            </a:pPr>
            <a:r>
              <a:rPr lang="en-US" sz="2600" b="1" u="sng" dirty="0" smtClean="0"/>
              <a:t>1.2. Some Important Concepts . . . Continued</a:t>
            </a:r>
          </a:p>
          <a:p>
            <a:pPr algn="ctr">
              <a:buNone/>
            </a:pPr>
            <a:r>
              <a:rPr lang="en-US" sz="2600" b="1" u="sng" dirty="0" smtClean="0"/>
              <a:t>1.2.1. What is Ethics?. . . continued</a:t>
            </a:r>
          </a:p>
          <a:p>
            <a:r>
              <a:rPr lang="en-US" dirty="0" smtClean="0"/>
              <a:t>So, ethics can be seen in two senses:</a:t>
            </a:r>
          </a:p>
          <a:p>
            <a:pPr lvl="1"/>
            <a:r>
              <a:rPr lang="en-US" dirty="0" smtClean="0"/>
              <a:t>As practical science of human conduct- </a:t>
            </a:r>
            <a:r>
              <a:rPr lang="en-US" sz="2400" dirty="0" smtClean="0"/>
              <a:t>it prescribes norms and rules of human conduct</a:t>
            </a:r>
            <a:endParaRPr lang="en-US" dirty="0" smtClean="0"/>
          </a:p>
          <a:p>
            <a:pPr lvl="1"/>
            <a:r>
              <a:rPr lang="en-US" dirty="0" smtClean="0"/>
              <a:t>As philosophical field of study- what is good and right.</a:t>
            </a:r>
          </a:p>
          <a:p>
            <a:pPr algn="just"/>
            <a:r>
              <a:rPr lang="en-US" sz="2600" dirty="0" smtClean="0"/>
              <a:t>It is a branch of philosophy</a:t>
            </a:r>
          </a:p>
          <a:p>
            <a:pPr lvl="1" algn="just"/>
            <a:r>
              <a:rPr lang="en-US" sz="1700" dirty="0" smtClean="0"/>
              <a:t>Philosophy is the attempt to think rationally and critically about the most important questions, Miller</a:t>
            </a:r>
          </a:p>
          <a:p>
            <a:pPr algn="just"/>
            <a:r>
              <a:rPr lang="en-US" sz="2600" dirty="0" smtClean="0"/>
              <a:t>Branches of philosophy: </a:t>
            </a:r>
          </a:p>
          <a:p>
            <a:pPr lvl="1" algn="just"/>
            <a:r>
              <a:rPr lang="en-US" sz="2300" dirty="0" smtClean="0"/>
              <a:t>Metaphysics, Epistemology, Axiology, and Logic. </a:t>
            </a:r>
          </a:p>
          <a:p>
            <a:pPr lvl="1" algn="just"/>
            <a:r>
              <a:rPr lang="en-US" sz="2300" dirty="0" smtClean="0"/>
              <a:t>Axiology comprises the sub-branches of </a:t>
            </a:r>
            <a:r>
              <a:rPr lang="en-US" sz="2300" u="sng" dirty="0" smtClean="0"/>
              <a:t>ethics</a:t>
            </a:r>
            <a:r>
              <a:rPr lang="en-US" sz="2300" dirty="0" smtClean="0"/>
              <a:t> and </a:t>
            </a:r>
            <a:r>
              <a:rPr lang="en-US" sz="2300" u="sng" dirty="0" smtClean="0"/>
              <a:t>aesthetics</a:t>
            </a:r>
            <a:r>
              <a:rPr lang="en-US" sz="2300" dirty="0" smtClean="0"/>
              <a:t>, each concerned with values.</a:t>
            </a:r>
          </a:p>
          <a:p>
            <a:r>
              <a:rPr lang="en-US" sz="2400" dirty="0" smtClean="0"/>
              <a:t>As a branch of philosophy it attempts to define what is good?</a:t>
            </a:r>
            <a:endParaRPr lang="en-US"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1800" b="1" dirty="0" smtClean="0"/>
              <a:t>Chapter One: </a:t>
            </a:r>
            <a:br>
              <a:rPr lang="en-US" sz="1800" b="1" dirty="0" smtClean="0"/>
            </a:br>
            <a:r>
              <a:rPr lang="en-US" sz="1600" b="1" dirty="0" smtClean="0"/>
              <a:t>Introduction to Legal Profession and Ethics . . . Continued</a:t>
            </a:r>
            <a:endParaRPr lang="en-US" sz="1600" dirty="0"/>
          </a:p>
        </p:txBody>
      </p:sp>
      <p:sp>
        <p:nvSpPr>
          <p:cNvPr id="3" name="Content Placeholder 2"/>
          <p:cNvSpPr>
            <a:spLocks noGrp="1"/>
          </p:cNvSpPr>
          <p:nvPr>
            <p:ph idx="1"/>
          </p:nvPr>
        </p:nvSpPr>
        <p:spPr>
          <a:xfrm>
            <a:off x="457200" y="762000"/>
            <a:ext cx="8229600" cy="5867400"/>
          </a:xfrm>
        </p:spPr>
        <p:txBody>
          <a:bodyPr>
            <a:noAutofit/>
          </a:bodyPr>
          <a:lstStyle/>
          <a:p>
            <a:pPr algn="ctr">
              <a:buNone/>
            </a:pPr>
            <a:r>
              <a:rPr lang="en-US" sz="1600" b="1" u="sng" dirty="0" smtClean="0"/>
              <a:t>1.2. Some Important Concepts . . . Continued</a:t>
            </a:r>
          </a:p>
          <a:p>
            <a:pPr algn="ctr">
              <a:buNone/>
            </a:pPr>
            <a:r>
              <a:rPr lang="en-US" sz="1600" b="1" u="sng" dirty="0" smtClean="0"/>
              <a:t>1.2.1. What is Ethics? . . . Continued</a:t>
            </a:r>
          </a:p>
          <a:p>
            <a:r>
              <a:rPr lang="en-US" sz="2000" dirty="0" smtClean="0"/>
              <a:t>Branches of Ethics: </a:t>
            </a:r>
          </a:p>
          <a:p>
            <a:pPr lvl="1"/>
            <a:r>
              <a:rPr lang="en-US" sz="1600" dirty="0" smtClean="0"/>
              <a:t>Meta-ethics</a:t>
            </a:r>
          </a:p>
          <a:p>
            <a:pPr lvl="1"/>
            <a:r>
              <a:rPr lang="en-US" sz="1600" dirty="0" smtClean="0"/>
              <a:t>Normative ethics </a:t>
            </a:r>
          </a:p>
          <a:p>
            <a:pPr lvl="1"/>
            <a:r>
              <a:rPr lang="en-US" sz="1600" dirty="0" smtClean="0"/>
              <a:t>Applied ethics</a:t>
            </a:r>
          </a:p>
          <a:p>
            <a:pPr algn="just"/>
            <a:r>
              <a:rPr lang="en-US" sz="2000" b="1" dirty="0" smtClean="0"/>
              <a:t>Meta-ethics</a:t>
            </a:r>
            <a:r>
              <a:rPr lang="en-US" sz="2000" dirty="0" smtClean="0"/>
              <a:t>- theoretical foundation of ethics,</a:t>
            </a:r>
          </a:p>
          <a:p>
            <a:pPr lvl="1" algn="just"/>
            <a:r>
              <a:rPr lang="en-US" sz="2000" i="1" dirty="0" err="1" smtClean="0"/>
              <a:t>Metaethics</a:t>
            </a:r>
            <a:r>
              <a:rPr lang="en-US" sz="2000" dirty="0" smtClean="0"/>
              <a:t> investigates where our ethical principles come from, and what they mean. Are they merely social inventions? Do they involve more than expressions of our individual emotions? </a:t>
            </a:r>
            <a:r>
              <a:rPr lang="en-US" sz="2000" dirty="0" err="1" smtClean="0"/>
              <a:t>Metaethical</a:t>
            </a:r>
            <a:r>
              <a:rPr lang="en-US" sz="2000" dirty="0" smtClean="0"/>
              <a:t> answers to these questions focus on the issues of universal truths, the will of God, the role of reason in ethical judgments, and the meaning of ethical terms themselves.</a:t>
            </a:r>
          </a:p>
          <a:p>
            <a:pPr lvl="1" algn="just"/>
            <a:r>
              <a:rPr lang="en-US" sz="2000" dirty="0" smtClean="0"/>
              <a:t>Objectivism vs. Relativism </a:t>
            </a:r>
          </a:p>
          <a:p>
            <a:pPr lvl="1" algn="just"/>
            <a:r>
              <a:rPr lang="en-US" sz="2000" dirty="0" smtClean="0"/>
              <a:t>Psychological Issues in </a:t>
            </a:r>
            <a:r>
              <a:rPr lang="en-US" sz="2000" dirty="0" err="1" smtClean="0"/>
              <a:t>Metaethics</a:t>
            </a:r>
            <a:endParaRPr lang="en-US" sz="2000" dirty="0" smtClean="0"/>
          </a:p>
          <a:p>
            <a:pPr lvl="2" algn="just"/>
            <a:r>
              <a:rPr lang="en-US" sz="1600" dirty="0" smtClean="0"/>
              <a:t>Egoism and Altruism</a:t>
            </a:r>
          </a:p>
          <a:p>
            <a:pPr lvl="2" algn="just"/>
            <a:r>
              <a:rPr lang="en-US" sz="1600" dirty="0" smtClean="0"/>
              <a:t>Emotion and Reason</a:t>
            </a:r>
          </a:p>
          <a:p>
            <a:pPr lvl="2" algn="just"/>
            <a:r>
              <a:rPr lang="en-US" sz="1600" dirty="0" smtClean="0"/>
              <a:t>Male and Female Morality</a:t>
            </a:r>
          </a:p>
          <a:p>
            <a:pPr lvl="2" algn="just"/>
            <a:endParaRPr lang="en-US" sz="16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p:txBody>
          <a:bodyPr>
            <a:normAutofit fontScale="62500" lnSpcReduction="20000"/>
          </a:bodyPr>
          <a:lstStyle/>
          <a:p>
            <a:pPr algn="ctr">
              <a:buNone/>
            </a:pPr>
            <a:r>
              <a:rPr lang="en-US" b="1" u="sng" dirty="0" smtClean="0"/>
              <a:t>1.2. Some Important Concepts . . . Continued</a:t>
            </a:r>
          </a:p>
          <a:p>
            <a:pPr algn="ctr">
              <a:buNone/>
            </a:pPr>
            <a:r>
              <a:rPr lang="en-US" b="1" u="sng" dirty="0" smtClean="0"/>
              <a:t>1.2.1. What is Ethics? . . . Continued</a:t>
            </a:r>
          </a:p>
          <a:p>
            <a:pPr algn="just"/>
            <a:r>
              <a:rPr lang="en-US" b="1" dirty="0" smtClean="0"/>
              <a:t>Normative ethics</a:t>
            </a:r>
            <a:r>
              <a:rPr lang="en-US" dirty="0" smtClean="0"/>
              <a:t>- the practical means of determining moral course of action, </a:t>
            </a:r>
          </a:p>
          <a:p>
            <a:pPr algn="just"/>
            <a:r>
              <a:rPr lang="en-US" i="1" dirty="0" smtClean="0"/>
              <a:t>Normative ethics</a:t>
            </a:r>
            <a:r>
              <a:rPr lang="en-US" dirty="0" smtClean="0"/>
              <a:t> takes on a more practical task, which is to arrive at moral standards that regulate right and wrong conduct. This may involve articulating the good habits that we should acquire, the duties that we should follow, or the consequences of our behavior on others. </a:t>
            </a:r>
          </a:p>
          <a:p>
            <a:pPr algn="just"/>
            <a:r>
              <a:rPr lang="en-US" dirty="0" smtClean="0"/>
              <a:t>The Golden Rule is a classic example of a normative principle: We should do to others what we would want others to do to us. </a:t>
            </a:r>
          </a:p>
          <a:p>
            <a:r>
              <a:rPr lang="en-US" dirty="0" smtClean="0"/>
              <a:t>Theories of normative ethics:</a:t>
            </a:r>
          </a:p>
          <a:p>
            <a:pPr lvl="1"/>
            <a:r>
              <a:rPr lang="en-US" b="1" dirty="0" smtClean="0"/>
              <a:t>Virtue Theories- </a:t>
            </a:r>
            <a:r>
              <a:rPr lang="en-US" dirty="0" smtClean="0"/>
              <a:t>focuses on good behavior rather than rules of conduct, e.g., benevolence, courage, wisdom, wisdom, courage, temperance and justice. </a:t>
            </a:r>
          </a:p>
          <a:p>
            <a:pPr lvl="1"/>
            <a:r>
              <a:rPr lang="en-US" b="1" dirty="0" smtClean="0"/>
              <a:t>Duty Theories- </a:t>
            </a:r>
            <a:r>
              <a:rPr lang="en-US" dirty="0" smtClean="0"/>
              <a:t>base morality on specific, foundational principles of obligation. Is there a duty towards oneself? </a:t>
            </a:r>
          </a:p>
          <a:p>
            <a:pPr lvl="1"/>
            <a:r>
              <a:rPr lang="en-US" b="1" dirty="0" err="1" smtClean="0"/>
              <a:t>Consequentialist</a:t>
            </a:r>
            <a:r>
              <a:rPr lang="en-US" b="1" dirty="0" smtClean="0"/>
              <a:t> Theories</a:t>
            </a:r>
          </a:p>
          <a:p>
            <a:pPr lvl="1"/>
            <a:endParaRPr lang="en-US" b="1" dirty="0" smtClean="0"/>
          </a:p>
          <a:p>
            <a:pPr lvl="1"/>
            <a:endParaRPr lang="en-US" dirty="0" smtClean="0"/>
          </a:p>
          <a:p>
            <a:pPr lvl="1"/>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p:txBody>
          <a:bodyPr>
            <a:normAutofit lnSpcReduction="10000"/>
          </a:bodyPr>
          <a:lstStyle/>
          <a:p>
            <a:pPr algn="ctr">
              <a:buNone/>
            </a:pPr>
            <a:r>
              <a:rPr lang="en-US" sz="2600" b="1" u="sng" dirty="0" smtClean="0"/>
              <a:t>1.2. Some Important Concepts . . . Continued</a:t>
            </a:r>
          </a:p>
          <a:p>
            <a:pPr algn="ctr">
              <a:buNone/>
            </a:pPr>
            <a:r>
              <a:rPr lang="en-US" sz="2600" b="1" u="sng" dirty="0" smtClean="0"/>
              <a:t>1.2.1. What is Ethics? . . . Continued</a:t>
            </a:r>
          </a:p>
          <a:p>
            <a:pPr algn="just"/>
            <a:r>
              <a:rPr lang="en-US" b="1" dirty="0" smtClean="0"/>
              <a:t>Applied ethics</a:t>
            </a:r>
            <a:r>
              <a:rPr lang="en-US" dirty="0" smtClean="0"/>
              <a:t>- what a person should do in a particular situation or domain of action. </a:t>
            </a:r>
          </a:p>
          <a:p>
            <a:pPr algn="just"/>
            <a:r>
              <a:rPr lang="en-US" i="1" dirty="0" smtClean="0"/>
              <a:t>applied ethics</a:t>
            </a:r>
            <a:r>
              <a:rPr lang="en-US" dirty="0" smtClean="0"/>
              <a:t> involves examining specific controversial issues, such as </a:t>
            </a:r>
            <a:r>
              <a:rPr lang="en-US" dirty="0" smtClean="0">
                <a:hlinkClick r:id="rId2"/>
              </a:rPr>
              <a:t>abortion</a:t>
            </a:r>
            <a:r>
              <a:rPr lang="en-US" dirty="0" smtClean="0"/>
              <a:t>, infanticide, </a:t>
            </a:r>
            <a:r>
              <a:rPr lang="en-US" dirty="0" smtClean="0">
                <a:hlinkClick r:id="rId3"/>
              </a:rPr>
              <a:t>animal rights</a:t>
            </a:r>
            <a:r>
              <a:rPr lang="en-US" dirty="0" smtClean="0"/>
              <a:t>, </a:t>
            </a:r>
            <a:r>
              <a:rPr lang="en-US" dirty="0" smtClean="0">
                <a:hlinkClick r:id="rId4"/>
              </a:rPr>
              <a:t>environmental concerns</a:t>
            </a:r>
            <a:r>
              <a:rPr lang="en-US" dirty="0" smtClean="0"/>
              <a:t>, </a:t>
            </a:r>
            <a:r>
              <a:rPr lang="en-US" dirty="0" smtClean="0">
                <a:hlinkClick r:id="rId5"/>
              </a:rPr>
              <a:t>homosexuality</a:t>
            </a:r>
            <a:r>
              <a:rPr lang="en-US" dirty="0" smtClean="0"/>
              <a:t>, </a:t>
            </a:r>
            <a:r>
              <a:rPr lang="en-US" dirty="0" smtClean="0">
                <a:hlinkClick r:id="rId6"/>
              </a:rPr>
              <a:t>capital punishment</a:t>
            </a:r>
            <a:r>
              <a:rPr lang="en-US" dirty="0" smtClean="0"/>
              <a:t>, or nuclear </a:t>
            </a:r>
            <a:r>
              <a:rPr lang="en-US" dirty="0" smtClean="0">
                <a:hlinkClick r:id="rId7"/>
              </a:rPr>
              <a:t>war</a:t>
            </a:r>
            <a:r>
              <a:rPr lang="en-US" dirty="0" smtClean="0"/>
              <a:t>. </a:t>
            </a:r>
          </a:p>
          <a:p>
            <a:pPr algn="just"/>
            <a:endParaRPr lang="en-US"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pPr algn="ctr">
              <a:buNone/>
            </a:pPr>
            <a:r>
              <a:rPr lang="en-US" sz="2400" b="1" u="sng" dirty="0" smtClean="0"/>
              <a:t>1.2. Some Important Concepts . . . Continued</a:t>
            </a:r>
          </a:p>
          <a:p>
            <a:pPr algn="ctr">
              <a:buNone/>
            </a:pPr>
            <a:r>
              <a:rPr lang="en-US" sz="2400" b="1" u="sng" dirty="0" smtClean="0"/>
              <a:t>1.2.2. What is Profession?</a:t>
            </a:r>
            <a:endParaRPr lang="en-US" sz="2400" dirty="0" smtClean="0"/>
          </a:p>
          <a:p>
            <a:pPr algn="just"/>
            <a:r>
              <a:rPr lang="en-US" dirty="0" smtClean="0"/>
              <a:t>Is philosophy a profession? Is teaching a profession? Is barberry a profession?</a:t>
            </a:r>
          </a:p>
          <a:p>
            <a:pPr algn="just"/>
            <a:r>
              <a:rPr lang="en-US" dirty="0" smtClean="0"/>
              <a:t>Origin of profession: Latin </a:t>
            </a:r>
            <a:r>
              <a:rPr lang="en-US" i="1" dirty="0" err="1" smtClean="0"/>
              <a:t>professio</a:t>
            </a:r>
            <a:r>
              <a:rPr lang="en-US" dirty="0" smtClean="0"/>
              <a:t> that comes in turn from the Greek verb </a:t>
            </a:r>
            <a:r>
              <a:rPr lang="en-US" i="1" dirty="0" err="1" smtClean="0"/>
              <a:t>prophaino</a:t>
            </a:r>
            <a:r>
              <a:rPr lang="en-US" dirty="0" smtClean="0"/>
              <a:t>, “to declare publicly.” </a:t>
            </a:r>
          </a:p>
          <a:p>
            <a:pPr algn="just"/>
            <a:r>
              <a:rPr lang="en-US" dirty="0" smtClean="0"/>
              <a:t>Oxford: a type of job that needs a special training or skill, specially one that needs a high level of education </a:t>
            </a:r>
          </a:p>
          <a:p>
            <a:pPr algn="just"/>
            <a:r>
              <a:rPr lang="en-US" dirty="0" smtClean="0"/>
              <a:t>Merriam Webster's Dictionary: a calling requiring specialized knowledge and often long and intensive academic preparation </a:t>
            </a:r>
          </a:p>
          <a:p>
            <a:pPr algn="just"/>
            <a:endParaRPr lang="en-US"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ctr">
              <a:buNone/>
            </a:pPr>
            <a:r>
              <a:rPr lang="en-US" sz="3100" b="1" u="sng" dirty="0" smtClean="0"/>
              <a:t>1.2. Some Important Concepts . . . Continued</a:t>
            </a:r>
          </a:p>
          <a:p>
            <a:pPr algn="ctr">
              <a:buNone/>
            </a:pPr>
            <a:r>
              <a:rPr lang="en-US" sz="3100" b="1" u="sng" dirty="0" smtClean="0"/>
              <a:t>1.2.2. What is Profession?</a:t>
            </a:r>
            <a:endParaRPr lang="en-US" sz="3100" b="1" dirty="0" smtClean="0"/>
          </a:p>
          <a:p>
            <a:pPr algn="ctr">
              <a:buNone/>
            </a:pPr>
            <a:endParaRPr lang="en-US" dirty="0" smtClean="0"/>
          </a:p>
          <a:p>
            <a:pPr algn="just"/>
            <a:r>
              <a:rPr lang="en-US" dirty="0" smtClean="0"/>
              <a:t>Wow.com: a profession is a vocation founded upon specialized educational training, the purpose of which is to supply disinterested objective counsel and service to others, for a direct and definite compensation, wholly apart from expectation of other business gain.</a:t>
            </a:r>
          </a:p>
          <a:p>
            <a:pPr algn="just"/>
            <a:endParaRPr lang="en-US" dirty="0" smtClean="0"/>
          </a:p>
          <a:p>
            <a:pPr algn="just"/>
            <a:r>
              <a:rPr lang="en-US" dirty="0" smtClean="0"/>
              <a:t>Blacks Law Dictionary (9</a:t>
            </a:r>
            <a:r>
              <a:rPr lang="en-US" baseline="30000" dirty="0" smtClean="0"/>
              <a:t>th</a:t>
            </a:r>
            <a:r>
              <a:rPr lang="en-US" dirty="0" smtClean="0"/>
              <a:t> Ed): </a:t>
            </a:r>
          </a:p>
          <a:p>
            <a:pPr lvl="1" algn="just"/>
            <a:r>
              <a:rPr lang="en-US" dirty="0" smtClean="0"/>
              <a:t>1. A vocation requiring advanced education and training; esp., one of the three traditional learned professions - law, medicine, and the ministry. </a:t>
            </a:r>
          </a:p>
          <a:p>
            <a:pPr lvl="1" algn="just"/>
            <a:r>
              <a:rPr lang="en-US" dirty="0" smtClean="0"/>
              <a:t>2. Collectively, the members of such a vocation. </a:t>
            </a:r>
          </a:p>
          <a:p>
            <a:pPr lvl="1" algn="just"/>
            <a:endParaRPr lang="en-US"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algn="ctr">
              <a:buNone/>
            </a:pPr>
            <a:r>
              <a:rPr lang="en-US" sz="2400" b="1" u="sng" dirty="0" smtClean="0"/>
              <a:t>1.2. Some Important Concepts . . . Continued</a:t>
            </a:r>
          </a:p>
          <a:p>
            <a:pPr algn="ctr">
              <a:buNone/>
            </a:pPr>
            <a:r>
              <a:rPr lang="en-US" sz="2400" b="1" u="sng" dirty="0" smtClean="0"/>
              <a:t>1.2.2. What is Profession?</a:t>
            </a:r>
          </a:p>
          <a:p>
            <a:pPr algn="ctr">
              <a:buNone/>
            </a:pPr>
            <a:endParaRPr lang="en-US" dirty="0" smtClean="0"/>
          </a:p>
          <a:p>
            <a:pPr algn="just"/>
            <a:r>
              <a:rPr lang="en-US" dirty="0" smtClean="0"/>
              <a:t>Encyclopedia.com has identified the following as key features of a profession:</a:t>
            </a:r>
          </a:p>
          <a:p>
            <a:pPr lvl="1" algn="just"/>
            <a:r>
              <a:rPr lang="en-US" dirty="0" smtClean="0"/>
              <a:t>Important and exclusive expertise </a:t>
            </a:r>
          </a:p>
          <a:p>
            <a:pPr lvl="1" algn="just"/>
            <a:r>
              <a:rPr lang="en-US" dirty="0" smtClean="0"/>
              <a:t>Internal and external recognition </a:t>
            </a:r>
          </a:p>
          <a:p>
            <a:pPr lvl="1" algn="just"/>
            <a:r>
              <a:rPr lang="en-US" dirty="0" smtClean="0"/>
              <a:t>Autonomy in matters of expert practice </a:t>
            </a:r>
          </a:p>
          <a:p>
            <a:pPr lvl="1" algn="just"/>
            <a:r>
              <a:rPr lang="en-US" dirty="0" smtClean="0"/>
              <a:t>Obligation of professions and professionals-  professional ethics </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ctr">
              <a:buNone/>
            </a:pPr>
            <a:r>
              <a:rPr lang="en-US" sz="3000" b="1" u="sng" dirty="0" smtClean="0"/>
              <a:t>1.2. Some Important Concepts . . . Continued</a:t>
            </a:r>
          </a:p>
          <a:p>
            <a:pPr algn="ctr">
              <a:buNone/>
            </a:pPr>
            <a:r>
              <a:rPr lang="en-US" sz="3000" b="1" u="sng" dirty="0" smtClean="0"/>
              <a:t>1.2.2. What is Profession?</a:t>
            </a:r>
          </a:p>
          <a:p>
            <a:endParaRPr lang="en-US" dirty="0" smtClean="0"/>
          </a:p>
          <a:p>
            <a:r>
              <a:rPr lang="en-US" dirty="0" smtClean="0"/>
              <a:t>A teaching material prepared by the Justice and Legal System Research (MJLSR)identified the following features of a profession:</a:t>
            </a:r>
          </a:p>
          <a:p>
            <a:pPr lvl="1"/>
            <a:endParaRPr lang="en-US" dirty="0" smtClean="0"/>
          </a:p>
          <a:p>
            <a:pPr lvl="1"/>
            <a:r>
              <a:rPr lang="en-US" dirty="0" smtClean="0"/>
              <a:t>Extensive training in particular field</a:t>
            </a:r>
          </a:p>
          <a:p>
            <a:pPr lvl="1"/>
            <a:r>
              <a:rPr lang="en-US" dirty="0" smtClean="0"/>
              <a:t>Intellectual component in the training </a:t>
            </a:r>
          </a:p>
          <a:p>
            <a:pPr lvl="1"/>
            <a:r>
              <a:rPr lang="en-US" dirty="0" smtClean="0"/>
              <a:t>Community service </a:t>
            </a:r>
          </a:p>
          <a:p>
            <a:endParaRPr lang="en-US" dirty="0" smtClean="0"/>
          </a:p>
          <a:p>
            <a:r>
              <a:rPr lang="en-US" dirty="0" smtClean="0"/>
              <a:t>The practice of a specialized expertise and the special moral commitment associated with it is what most differentiate a profession from other occupations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pPr algn="ctr">
              <a:buNone/>
            </a:pPr>
            <a:r>
              <a:rPr lang="en-US" sz="2600" b="1" u="sng" dirty="0" smtClean="0"/>
              <a:t>1.2. Some Important Concepts . . . Continued</a:t>
            </a:r>
          </a:p>
          <a:p>
            <a:pPr algn="ctr">
              <a:buNone/>
            </a:pPr>
            <a:r>
              <a:rPr lang="en-US" sz="2600" b="1" u="sng" dirty="0" smtClean="0"/>
              <a:t>1.2.2. What is Profession?</a:t>
            </a:r>
            <a:endParaRPr lang="en-US" dirty="0" smtClean="0"/>
          </a:p>
          <a:p>
            <a:pPr algn="ctr">
              <a:buNone/>
            </a:pPr>
            <a:endParaRPr lang="en-US" dirty="0" smtClean="0"/>
          </a:p>
          <a:p>
            <a:r>
              <a:rPr lang="en-US" dirty="0" smtClean="0"/>
              <a:t>Designprofessionalism.com has identified the following fundamental characteristics of a profession:</a:t>
            </a:r>
          </a:p>
          <a:p>
            <a:pPr lvl="1"/>
            <a:r>
              <a:rPr lang="en-US" dirty="0" smtClean="0"/>
              <a:t>Great responsibility </a:t>
            </a:r>
          </a:p>
          <a:p>
            <a:pPr lvl="1"/>
            <a:r>
              <a:rPr lang="en-US" dirty="0" smtClean="0"/>
              <a:t>Accountability</a:t>
            </a:r>
          </a:p>
          <a:p>
            <a:pPr lvl="1"/>
            <a:r>
              <a:rPr lang="en-US" dirty="0" smtClean="0"/>
              <a:t>Based on specialized, theoretical, knowledge</a:t>
            </a:r>
          </a:p>
          <a:p>
            <a:pPr lvl="1"/>
            <a:r>
              <a:rPr lang="en-US" dirty="0" smtClean="0"/>
              <a:t>Institutional preparation</a:t>
            </a:r>
          </a:p>
          <a:p>
            <a:pPr lvl="1"/>
            <a:r>
              <a:rPr lang="en-US" dirty="0" smtClean="0"/>
              <a:t>Autonomy</a:t>
            </a:r>
          </a:p>
          <a:p>
            <a:pPr lvl="1"/>
            <a:r>
              <a:rPr lang="en-US" dirty="0" smtClean="0"/>
              <a:t>Clients rather than customers </a:t>
            </a:r>
          </a:p>
          <a:p>
            <a:pPr lvl="1"/>
            <a:r>
              <a:rPr lang="en-US" dirty="0" smtClean="0"/>
              <a:t>Direct working relationships </a:t>
            </a:r>
          </a:p>
          <a:p>
            <a:pPr lvl="1"/>
            <a:r>
              <a:rPr lang="en-US" dirty="0" smtClean="0"/>
              <a:t>Ethical constraints </a:t>
            </a:r>
          </a:p>
          <a:p>
            <a:pPr lvl="1"/>
            <a:r>
              <a:rPr lang="en-US" dirty="0" smtClean="0"/>
              <a:t>Merit-based </a:t>
            </a:r>
          </a:p>
          <a:p>
            <a:pPr lvl="1"/>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normAutofit fontScale="70000" lnSpcReduction="20000"/>
          </a:bodyPr>
          <a:lstStyle/>
          <a:p>
            <a:pPr algn="ctr">
              <a:buNone/>
            </a:pPr>
            <a:r>
              <a:rPr lang="en-US" sz="2900" b="1" u="sng" dirty="0" smtClean="0"/>
              <a:t>1.2. Some Important Concepts . . . Continued</a:t>
            </a:r>
          </a:p>
          <a:p>
            <a:pPr algn="ctr">
              <a:buNone/>
            </a:pPr>
            <a:r>
              <a:rPr lang="en-US" sz="2900" b="1" u="sng" dirty="0" smtClean="0"/>
              <a:t>1.2.3. Professional Ethics</a:t>
            </a:r>
            <a:endParaRPr lang="en-US" sz="2900" dirty="0" smtClean="0"/>
          </a:p>
          <a:p>
            <a:pPr algn="ctr">
              <a:buNone/>
            </a:pPr>
            <a:endParaRPr lang="en-US" dirty="0" smtClean="0"/>
          </a:p>
          <a:p>
            <a:r>
              <a:rPr lang="en-US" dirty="0" smtClean="0"/>
              <a:t>If profession is an occupation that requires a specialized education and  training a professional is one who belongs to a given profession. </a:t>
            </a:r>
          </a:p>
          <a:p>
            <a:r>
              <a:rPr lang="en-US" dirty="0" smtClean="0"/>
              <a:t>Blacks Law Dictionary (9</a:t>
            </a:r>
            <a:r>
              <a:rPr lang="en-US" baseline="30000" dirty="0" smtClean="0"/>
              <a:t>th</a:t>
            </a:r>
            <a:r>
              <a:rPr lang="en-US" dirty="0" smtClean="0"/>
              <a:t> Ed)</a:t>
            </a:r>
          </a:p>
          <a:p>
            <a:pPr lvl="1"/>
            <a:r>
              <a:rPr lang="en-US" dirty="0" smtClean="0"/>
              <a:t>professional, </a:t>
            </a:r>
            <a:r>
              <a:rPr lang="en-US" i="1" dirty="0" smtClean="0"/>
              <a:t>n. (1846) A person who belongs to a learned profession or whose occupation requires a high level of training and proficiency. </a:t>
            </a:r>
          </a:p>
          <a:p>
            <a:r>
              <a:rPr lang="en-US" dirty="0" smtClean="0"/>
              <a:t>Professional Ethics is the personal and corporate rules that govern behavior within the context of a particular profession. Your Dictionary </a:t>
            </a:r>
          </a:p>
          <a:p>
            <a:r>
              <a:rPr lang="en-US" dirty="0" smtClean="0"/>
              <a:t>Professional Ethics encompass the personal, organizational and corporate standards of behavior expected by professionals. Wikipedia </a:t>
            </a:r>
          </a:p>
          <a:p>
            <a:r>
              <a:rPr lang="en-US" dirty="0" smtClean="0"/>
              <a:t>Why do we need professional ethics?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25000" lnSpcReduction="20000"/>
          </a:bodyPr>
          <a:lstStyle/>
          <a:p>
            <a:pPr algn="ctr">
              <a:buNone/>
            </a:pPr>
            <a:r>
              <a:rPr lang="en-US" sz="9600" b="1" u="sng" dirty="0" smtClean="0"/>
              <a:t>1.2. Some Important Concepts . . . Continued</a:t>
            </a:r>
          </a:p>
          <a:p>
            <a:pPr algn="ctr">
              <a:buNone/>
            </a:pPr>
            <a:r>
              <a:rPr lang="en-US" sz="9600" b="1" u="sng" dirty="0" smtClean="0"/>
              <a:t>1.2.4. Legal Ethics</a:t>
            </a:r>
            <a:endParaRPr lang="en-US" sz="16000" dirty="0" smtClean="0"/>
          </a:p>
          <a:p>
            <a:pPr algn="just"/>
            <a:endParaRPr lang="en-US" sz="2800" dirty="0" smtClean="0"/>
          </a:p>
          <a:p>
            <a:pPr algn="just"/>
            <a:r>
              <a:rPr lang="en-US" sz="9600" dirty="0" smtClean="0"/>
              <a:t>Legal ethics is the professional ethics for lawyers </a:t>
            </a:r>
          </a:p>
          <a:p>
            <a:pPr algn="just"/>
            <a:r>
              <a:rPr lang="en-US" sz="9600" dirty="0" smtClean="0"/>
              <a:t>Definition of Legal Ethics by Blacks Law Dictionary (9</a:t>
            </a:r>
            <a:r>
              <a:rPr lang="en-US" sz="9600" baseline="30000" dirty="0" smtClean="0"/>
              <a:t>th</a:t>
            </a:r>
            <a:r>
              <a:rPr lang="en-US" sz="9600" dirty="0" smtClean="0"/>
              <a:t> Ed)</a:t>
            </a:r>
          </a:p>
          <a:p>
            <a:pPr lvl="1" algn="just"/>
            <a:r>
              <a:rPr lang="en-US" sz="9600" dirty="0" smtClean="0"/>
              <a:t>1. </a:t>
            </a:r>
            <a:r>
              <a:rPr lang="en-US" sz="8000" dirty="0" smtClean="0"/>
              <a:t>Standards of professional conduct applicable to members of the legal profession. </a:t>
            </a:r>
          </a:p>
          <a:p>
            <a:pPr lvl="1" algn="just"/>
            <a:r>
              <a:rPr lang="en-US" sz="8000" dirty="0" smtClean="0"/>
              <a:t>2. The study of such standards. </a:t>
            </a:r>
          </a:p>
          <a:p>
            <a:pPr lvl="1" algn="just"/>
            <a:r>
              <a:rPr lang="en-US" sz="8000" dirty="0" smtClean="0"/>
              <a:t>3. A lawyer's practical observance of or conformity to established standards of professional conduct</a:t>
            </a:r>
            <a:r>
              <a:rPr lang="en-US" sz="9600" dirty="0" smtClean="0"/>
              <a:t>. </a:t>
            </a:r>
          </a:p>
          <a:p>
            <a:pPr algn="just"/>
            <a:r>
              <a:rPr lang="en-US" sz="9600" dirty="0" smtClean="0"/>
              <a:t>Legal Ethics denotes that body of principles by which the conduct of members of the legal profession is controlled.</a:t>
            </a:r>
          </a:p>
          <a:p>
            <a:pPr algn="just"/>
            <a:r>
              <a:rPr lang="en-US" sz="9600" dirty="0" smtClean="0"/>
              <a:t>It is that branch of moral science which treats of the duties which an attorney at law owes to his clients, to the courts, to the bar and to the public. (G.A. Malcolm, Legal and Judicial Ethics 8 (1949))</a:t>
            </a:r>
          </a:p>
          <a:p>
            <a:pPr lvl="1"/>
            <a:endParaRPr lang="en-US" dirty="0" smtClean="0"/>
          </a:p>
          <a:p>
            <a:pPr lvl="2"/>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pPr algn="ctr">
              <a:buNone/>
            </a:pPr>
            <a:r>
              <a:rPr lang="en-US" sz="2800" b="1" u="sng" dirty="0" smtClean="0"/>
              <a:t>1.2. Some Important Concepts . . . Continued</a:t>
            </a:r>
          </a:p>
          <a:p>
            <a:pPr algn="ctr">
              <a:buNone/>
            </a:pPr>
            <a:r>
              <a:rPr lang="en-US" sz="2800" b="1" u="sng" dirty="0" smtClean="0"/>
              <a:t>1.2.4. Legal Ethics</a:t>
            </a:r>
            <a:endParaRPr lang="en-US" sz="2800" dirty="0" smtClean="0"/>
          </a:p>
          <a:p>
            <a:endParaRPr lang="en-US" dirty="0" smtClean="0"/>
          </a:p>
          <a:p>
            <a:r>
              <a:rPr lang="en-US" dirty="0" smtClean="0"/>
              <a:t>A note cited on Black’s Law Dictionary:</a:t>
            </a:r>
          </a:p>
          <a:p>
            <a:pPr algn="just">
              <a:buNone/>
            </a:pPr>
            <a:r>
              <a:rPr lang="en-US" dirty="0" smtClean="0"/>
              <a:t> "In one sense, the term 'legal ethics' refers narrowly to the system of </a:t>
            </a:r>
            <a:r>
              <a:rPr lang="en-US" u="sng" dirty="0" smtClean="0"/>
              <a:t>professional regulations governing the conduct of lawyers</a:t>
            </a:r>
            <a:r>
              <a:rPr lang="en-US" dirty="0" smtClean="0"/>
              <a:t>. In a broader sense, however, legal ethics is simply a special case of ethics in general, as ethics is understood in the central traditions of philosophy and religion. From this broader perspective, legal ethics cuts more deeply than legal regulation: it concerns </a:t>
            </a:r>
            <a:r>
              <a:rPr lang="en-US" u="sng" dirty="0" smtClean="0"/>
              <a:t>the fundamentals of our moral lives as lawyers</a:t>
            </a:r>
            <a:r>
              <a:rPr lang="en-US" dirty="0" smtClean="0"/>
              <a:t>." Deborah L. Rhode &amp; David </a:t>
            </a:r>
            <a:r>
              <a:rPr lang="en-US" dirty="0" err="1" smtClean="0"/>
              <a:t>Luban</a:t>
            </a:r>
            <a:r>
              <a:rPr lang="en-US" dirty="0" smtClean="0"/>
              <a:t>, </a:t>
            </a:r>
            <a:r>
              <a:rPr lang="en-US" i="1" dirty="0" smtClean="0"/>
              <a:t>Legal Ethics 3 (1992). </a:t>
            </a:r>
            <a:r>
              <a:rPr lang="en-US" dirty="0" smtClean="0"/>
              <a:t>[Emphasis added]</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normAutofit fontScale="70000" lnSpcReduction="20000"/>
          </a:bodyPr>
          <a:lstStyle/>
          <a:p>
            <a:pPr algn="ctr">
              <a:buNone/>
            </a:pPr>
            <a:r>
              <a:rPr lang="en-US" sz="3100" b="1" u="sng" dirty="0" smtClean="0"/>
              <a:t>1.2. Some Important Concepts . . . Continued</a:t>
            </a:r>
          </a:p>
          <a:p>
            <a:pPr algn="ctr">
              <a:buNone/>
            </a:pPr>
            <a:r>
              <a:rPr lang="en-US" sz="3100" b="1" u="sng" dirty="0" smtClean="0"/>
              <a:t>1.2.4. Legal Ethics</a:t>
            </a:r>
            <a:endParaRPr lang="en-US" sz="3100" dirty="0" smtClean="0"/>
          </a:p>
          <a:p>
            <a:pPr algn="ctr">
              <a:buNone/>
            </a:pPr>
            <a:endParaRPr lang="en-US" dirty="0" smtClean="0"/>
          </a:p>
          <a:p>
            <a:pPr algn="just"/>
            <a:r>
              <a:rPr lang="en-US" sz="3400" dirty="0" smtClean="0"/>
              <a:t>Wow.com: Legal ethics, principles of conduct that members of the legal profession are expected to observe in their practice. They are an outgrowth of the development of the legal profession itself. </a:t>
            </a:r>
          </a:p>
          <a:p>
            <a:pPr algn="just"/>
            <a:r>
              <a:rPr lang="en-US" sz="3400" dirty="0" smtClean="0"/>
              <a:t>Uslegal.com: legal ethics is the minimum standards of appropriate conduct within the legal profession. It is the behavioral norms and morals which govern judges and lawyers. </a:t>
            </a:r>
          </a:p>
          <a:p>
            <a:pPr algn="just"/>
            <a:r>
              <a:rPr lang="en-US" sz="3400" dirty="0" smtClean="0"/>
              <a:t>Cleverism.com: Legal ethics refers to the code of conduct regulating and instructing behavior of persons within the legal profession.   </a:t>
            </a:r>
          </a:p>
          <a:p>
            <a:pPr algn="just"/>
            <a:r>
              <a:rPr lang="en-US" sz="3400" dirty="0" smtClean="0"/>
              <a:t>Legal ethics, law and morality </a:t>
            </a:r>
            <a:endParaRPr lang="en-US" sz="3400" dirty="0"/>
          </a:p>
        </p:txBody>
      </p:sp>
      <p:sp>
        <p:nvSpPr>
          <p:cNvPr id="4"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95400"/>
            <a:ext cx="8229600" cy="5257800"/>
          </a:xfrm>
        </p:spPr>
        <p:txBody>
          <a:bodyPr>
            <a:normAutofit fontScale="77500" lnSpcReduction="20000"/>
          </a:bodyPr>
          <a:lstStyle/>
          <a:p>
            <a:pPr marL="342900" lvl="1" indent="-342900" algn="ctr">
              <a:buNone/>
            </a:pPr>
            <a:r>
              <a:rPr lang="en-US" sz="3100" b="1" u="sng" dirty="0" smtClean="0"/>
              <a:t>1.3. Moral Issues and Moral Dilemmas</a:t>
            </a:r>
            <a:endParaRPr lang="en-US" sz="3100" u="sng" dirty="0" smtClean="0"/>
          </a:p>
          <a:p>
            <a:pPr algn="ctr">
              <a:buNone/>
            </a:pPr>
            <a:endParaRPr lang="en-US" dirty="0" smtClean="0"/>
          </a:p>
          <a:p>
            <a:pPr algn="just"/>
            <a:r>
              <a:rPr lang="en-US" dirty="0" smtClean="0"/>
              <a:t>A lot of moral issues and dilemmas are encountered by legal professionals </a:t>
            </a:r>
          </a:p>
          <a:p>
            <a:pPr algn="just"/>
            <a:r>
              <a:rPr lang="en-US" dirty="0" smtClean="0"/>
              <a:t>Issues of fact and issues of value</a:t>
            </a:r>
          </a:p>
          <a:p>
            <a:pPr algn="just"/>
            <a:r>
              <a:rPr lang="en-US" dirty="0" smtClean="0"/>
              <a:t>Can we escape deciding moral dilemmas?</a:t>
            </a:r>
          </a:p>
          <a:p>
            <a:pPr lvl="1" algn="just"/>
            <a:r>
              <a:rPr lang="en-US" i="1" dirty="0" smtClean="0"/>
              <a:t>“Moral dilemmas involve situations in which one cannot escape deciding in which not to decide is to decide and in which doing nothing has the moral status of doing something.” </a:t>
            </a:r>
            <a:r>
              <a:rPr lang="en-US" dirty="0" smtClean="0"/>
              <a:t>Callahan</a:t>
            </a:r>
          </a:p>
          <a:p>
            <a:pPr algn="just"/>
            <a:r>
              <a:rPr lang="en-US" dirty="0" smtClean="0"/>
              <a:t>E.g., A lawyer may face to decide between integrity and confidentiality when he knows her client has committed a crime; A judge facing the difficult choice between the competing values of freedom of expression and impartiality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95400"/>
            <a:ext cx="8229600" cy="5181600"/>
          </a:xfrm>
        </p:spPr>
        <p:txBody>
          <a:bodyPr>
            <a:normAutofit fontScale="70000" lnSpcReduction="20000"/>
          </a:bodyPr>
          <a:lstStyle/>
          <a:p>
            <a:pPr algn="ctr">
              <a:buNone/>
            </a:pPr>
            <a:r>
              <a:rPr lang="en-US" sz="2400" b="1" u="sng" dirty="0" smtClean="0"/>
              <a:t>1.3. Moral Issues and Moral Dilemmas . . . continued</a:t>
            </a:r>
            <a:endParaRPr lang="en-US" sz="2400" dirty="0" smtClean="0"/>
          </a:p>
          <a:p>
            <a:pPr algn="just"/>
            <a:r>
              <a:rPr lang="en-US" b="1" dirty="0" smtClean="0"/>
              <a:t>SERENA STIER:</a:t>
            </a:r>
          </a:p>
          <a:p>
            <a:pPr algn="just"/>
            <a:r>
              <a:rPr lang="en-US" b="1" dirty="0" smtClean="0"/>
              <a:t> </a:t>
            </a:r>
            <a:r>
              <a:rPr lang="en-US" dirty="0" err="1" smtClean="0"/>
              <a:t>Lawyering</a:t>
            </a:r>
            <a:r>
              <a:rPr lang="en-US" dirty="0" smtClean="0"/>
              <a:t>, like living, often requires making difficult choices among important, competing values. </a:t>
            </a:r>
          </a:p>
          <a:p>
            <a:pPr algn="just"/>
            <a:r>
              <a:rPr lang="en-US" dirty="0" smtClean="0"/>
              <a:t>Lawyers cannot be persons of integrity because they must choose between either being a good person or a good lawyer. </a:t>
            </a:r>
            <a:endParaRPr lang="en-US" b="1" dirty="0" smtClean="0"/>
          </a:p>
          <a:p>
            <a:pPr algn="just"/>
            <a:r>
              <a:rPr lang="en-US" dirty="0" smtClean="0"/>
              <a:t>Role-differentiation critics characterize lawyers as mere legal technicians who assist clients to achieve their goals regardless of the content of those goals and using whatever lawful means are required.</a:t>
            </a:r>
          </a:p>
          <a:p>
            <a:pPr algn="just"/>
            <a:r>
              <a:rPr lang="en-US" dirty="0" smtClean="0"/>
              <a:t>Lawyers have to divide themselves into separate beings. One is a person who is guided by the requirements of common morality. The other is a lawyer who is guided solely by role morality.</a:t>
            </a:r>
          </a:p>
          <a:p>
            <a:pPr algn="just"/>
            <a:r>
              <a:rPr lang="en-US" dirty="0" smtClean="0"/>
              <a:t>Legal agents vs. moral agents </a:t>
            </a:r>
          </a:p>
          <a:p>
            <a:r>
              <a:rPr lang="en-US" dirty="0" smtClean="0"/>
              <a:t>The role-differentiation thesis implies that it is not possible to be both a good person and a good lawyer because the moral standards for personhood and </a:t>
            </a:r>
            <a:r>
              <a:rPr lang="en-US" dirty="0" err="1" smtClean="0"/>
              <a:t>lawyerhood</a:t>
            </a:r>
            <a:r>
              <a:rPr lang="en-US" dirty="0" smtClean="0"/>
              <a:t> are different.</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pPr algn="ctr">
              <a:buNone/>
            </a:pPr>
            <a:r>
              <a:rPr lang="en-US" sz="3300" b="1" u="sng" dirty="0" smtClean="0"/>
              <a:t>1.4. The Theory of Moral Obligation</a:t>
            </a:r>
            <a:r>
              <a:rPr lang="en-US" sz="3800" b="1" dirty="0" smtClean="0"/>
              <a:t> </a:t>
            </a:r>
            <a:endParaRPr lang="en-US" sz="3800" dirty="0" smtClean="0"/>
          </a:p>
          <a:p>
            <a:endParaRPr lang="en-US" dirty="0" smtClean="0"/>
          </a:p>
          <a:p>
            <a:r>
              <a:rPr lang="en-US" dirty="0" smtClean="0"/>
              <a:t>Why should I obey the law?</a:t>
            </a:r>
          </a:p>
          <a:p>
            <a:endParaRPr lang="en-US" dirty="0" smtClean="0"/>
          </a:p>
          <a:p>
            <a:r>
              <a:rPr lang="en-US" dirty="0" smtClean="0"/>
              <a:t>Do moral obligations exist?</a:t>
            </a:r>
          </a:p>
          <a:p>
            <a:endParaRPr lang="en-US" dirty="0" smtClean="0"/>
          </a:p>
          <a:p>
            <a:r>
              <a:rPr lang="en-US" dirty="0" smtClean="0"/>
              <a:t>Why do we study theory of moral obligations?</a:t>
            </a:r>
          </a:p>
          <a:p>
            <a:endParaRPr lang="en-US" dirty="0" smtClean="0"/>
          </a:p>
          <a:p>
            <a:r>
              <a:rPr lang="en-US" dirty="0" smtClean="0"/>
              <a:t>Theories of moral obligations:</a:t>
            </a:r>
          </a:p>
          <a:p>
            <a:pPr lvl="1"/>
            <a:r>
              <a:rPr lang="en-US" dirty="0" smtClean="0"/>
              <a:t> Utilitarianism, </a:t>
            </a:r>
          </a:p>
          <a:p>
            <a:pPr lvl="1"/>
            <a:r>
              <a:rPr lang="en-US" dirty="0" smtClean="0"/>
              <a:t>Categorical Imperatives, and </a:t>
            </a:r>
          </a:p>
          <a:p>
            <a:pPr lvl="1"/>
            <a:r>
              <a:rPr lang="en-US" dirty="0" smtClean="0"/>
              <a:t>Golden Rule</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lgn="ctr">
              <a:buNone/>
            </a:pPr>
            <a:r>
              <a:rPr lang="en-US" sz="2600" b="1" u="sng" dirty="0" smtClean="0"/>
              <a:t>1.4. The Theory of Moral Obligation</a:t>
            </a:r>
          </a:p>
          <a:p>
            <a:pPr algn="ctr">
              <a:buNone/>
            </a:pPr>
            <a:r>
              <a:rPr lang="en-US" sz="2400" b="1" u="sng" dirty="0" smtClean="0"/>
              <a:t>1.4.1. Utilitarianism</a:t>
            </a:r>
            <a:endParaRPr lang="en-US" sz="2400" u="sng" dirty="0" smtClean="0"/>
          </a:p>
          <a:p>
            <a:pPr algn="just"/>
            <a:r>
              <a:rPr lang="en-US" dirty="0" smtClean="0"/>
              <a:t>According to Jeremy Bentham and John Stuart Mill, an action that promotes happiness is right and the reverse is wrong.  </a:t>
            </a:r>
          </a:p>
          <a:p>
            <a:pPr algn="just"/>
            <a:r>
              <a:rPr lang="en-US" dirty="0" smtClean="0"/>
              <a:t>According to utilitarian theory, right and wrong actions are determined based on their consequence- </a:t>
            </a:r>
            <a:r>
              <a:rPr lang="en-US" dirty="0" err="1" smtClean="0"/>
              <a:t>consequentialism</a:t>
            </a:r>
            <a:endParaRPr lang="en-US" dirty="0" smtClean="0"/>
          </a:p>
          <a:p>
            <a:pPr algn="just"/>
            <a:r>
              <a:rPr lang="en-US" dirty="0" smtClean="0"/>
              <a:t>Utilitarianism:</a:t>
            </a:r>
          </a:p>
          <a:p>
            <a:pPr lvl="1" algn="just"/>
            <a:r>
              <a:rPr lang="en-US" dirty="0" smtClean="0"/>
              <a:t>Act Utilitarianism-</a:t>
            </a:r>
          </a:p>
          <a:p>
            <a:pPr lvl="1" algn="just"/>
            <a:r>
              <a:rPr lang="en-US" dirty="0" smtClean="0"/>
              <a:t>Rule utilitarianism- </a:t>
            </a:r>
          </a:p>
          <a:p>
            <a:pPr lvl="1" algn="just"/>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5257800"/>
          </a:xfrm>
        </p:spPr>
        <p:txBody>
          <a:bodyPr>
            <a:normAutofit fontScale="70000" lnSpcReduction="20000"/>
          </a:bodyPr>
          <a:lstStyle/>
          <a:p>
            <a:pPr algn="ctr">
              <a:buNone/>
            </a:pPr>
            <a:r>
              <a:rPr lang="en-US" b="1" u="sng" dirty="0" smtClean="0"/>
              <a:t>1.4. The Theory of Moral Obligation . . . continued</a:t>
            </a:r>
          </a:p>
          <a:p>
            <a:pPr algn="ctr">
              <a:buNone/>
            </a:pPr>
            <a:r>
              <a:rPr lang="en-US" sz="2800" b="1" u="sng" dirty="0" smtClean="0"/>
              <a:t>1.4.1. Utilitarianism . . . continued</a:t>
            </a:r>
            <a:endParaRPr lang="en-US" sz="2800" u="sng" dirty="0" smtClean="0"/>
          </a:p>
          <a:p>
            <a:pPr marL="342900" lvl="1" indent="-342900">
              <a:buNone/>
            </a:pPr>
            <a:r>
              <a:rPr lang="en-US" sz="3100" b="1" dirty="0" smtClean="0"/>
              <a:t>A- Act Utilitarianism</a:t>
            </a:r>
            <a:r>
              <a:rPr lang="en-US" dirty="0" smtClean="0"/>
              <a:t>- holds that </a:t>
            </a:r>
            <a:r>
              <a:rPr lang="en-US" i="1" dirty="0" smtClean="0"/>
              <a:t>an action is right if and only if it produces the best consequences</a:t>
            </a:r>
            <a:endParaRPr lang="en-US" dirty="0" smtClean="0"/>
          </a:p>
          <a:p>
            <a:pPr algn="just"/>
            <a:r>
              <a:rPr lang="en-US" dirty="0" smtClean="0"/>
              <a:t>James </a:t>
            </a:r>
            <a:r>
              <a:rPr lang="en-US" dirty="0" err="1" smtClean="0"/>
              <a:t>Rachels</a:t>
            </a:r>
            <a:r>
              <a:rPr lang="en-US" dirty="0" smtClean="0"/>
              <a:t> summarizes act utilitarianism in the following terms:</a:t>
            </a:r>
          </a:p>
          <a:p>
            <a:pPr lvl="1" algn="just"/>
            <a:r>
              <a:rPr lang="en-US" dirty="0" smtClean="0"/>
              <a:t>First, actions are to be judged right or wrong solely in virtue of their consequences. Nothing else matters. Right actions are, simply, those that have the best consequences. </a:t>
            </a:r>
          </a:p>
          <a:p>
            <a:pPr lvl="1" algn="just"/>
            <a:r>
              <a:rPr lang="en-US" dirty="0" smtClean="0"/>
              <a:t>Second, in assessing consequences, the only thing that matters is amount of happiness or unhappiness that is caused. Every thing else is irrelevant. Thus, right actions are those that produce the greatest balance of happiness over unhappiness.</a:t>
            </a:r>
          </a:p>
          <a:p>
            <a:pPr lvl="1" algn="just"/>
            <a:r>
              <a:rPr lang="en-US" dirty="0" smtClean="0"/>
              <a:t>Third, in calculating the happiness over unhappiness that will be caused, no one’s happiness is to be counted as more important than anyone else’s. Each person’s welfare is equally important (Schwartz 10).</a:t>
            </a:r>
          </a:p>
          <a:p>
            <a:pPr algn="just"/>
            <a:r>
              <a:rPr lang="en-US" dirty="0" smtClean="0"/>
              <a:t>Torture of a terrorist would be morally right accordingly?</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lgn="ctr">
              <a:buNone/>
            </a:pPr>
            <a:r>
              <a:rPr lang="en-US" sz="2400" b="1" u="sng" dirty="0" smtClean="0"/>
              <a:t>1.4. The Theory of Moral Obligation . . . continued</a:t>
            </a:r>
          </a:p>
          <a:p>
            <a:pPr algn="ctr">
              <a:buNone/>
            </a:pPr>
            <a:r>
              <a:rPr lang="en-US" sz="2000" b="1" u="sng" dirty="0" smtClean="0"/>
              <a:t>1.4.1. Utilitarianism . . . continued</a:t>
            </a:r>
            <a:endParaRPr lang="en-US" sz="2000" u="sng" dirty="0" smtClean="0"/>
          </a:p>
          <a:p>
            <a:pPr algn="just">
              <a:buNone/>
            </a:pPr>
            <a:r>
              <a:rPr lang="en-US" b="1" dirty="0" smtClean="0"/>
              <a:t>B- Rule Utilitarianism- </a:t>
            </a:r>
            <a:r>
              <a:rPr lang="en-US" dirty="0" smtClean="0"/>
              <a:t>an action is right if and only if it is in accordance with a set of rules conformity which produces the best consequences</a:t>
            </a:r>
            <a:r>
              <a:rPr lang="en-US" b="1" dirty="0" smtClean="0"/>
              <a:t>.</a:t>
            </a:r>
            <a:endParaRPr lang="en-US" dirty="0" smtClean="0"/>
          </a:p>
          <a:p>
            <a:pPr lvl="1" algn="just"/>
            <a:r>
              <a:rPr lang="en-US" dirty="0" smtClean="0"/>
              <a:t>The set of rules are rules of general conformity that produce the best consequences </a:t>
            </a:r>
          </a:p>
          <a:p>
            <a:pPr lvl="1" algn="just"/>
            <a:r>
              <a:rPr lang="en-US" dirty="0" smtClean="0"/>
              <a:t>Rule Utilitarianism implies that an action is wrong if it is in accordance with a rule which, if everyone followed it, would have bad consequences.</a:t>
            </a:r>
          </a:p>
          <a:p>
            <a:pPr lvl="1" algn="just"/>
            <a:r>
              <a:rPr lang="en-US" dirty="0" err="1" smtClean="0"/>
              <a:t>Eg</a:t>
            </a:r>
            <a:r>
              <a:rPr lang="en-US" dirty="0" smtClean="0"/>
              <a:t>- stealing few from a rich person may not be wrong but it would if every one follows that</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normAutofit lnSpcReduction="10000"/>
          </a:bodyPr>
          <a:lstStyle/>
          <a:p>
            <a:pPr algn="ctr">
              <a:buNone/>
            </a:pPr>
            <a:r>
              <a:rPr lang="en-US" sz="2400" b="1" u="sng" dirty="0" smtClean="0"/>
              <a:t>1.4. The Theory of Moral Obligation . . . continued</a:t>
            </a:r>
          </a:p>
          <a:p>
            <a:pPr algn="ctr">
              <a:buNone/>
            </a:pPr>
            <a:r>
              <a:rPr lang="en-US" sz="2000" b="1" u="sng" dirty="0" smtClean="0"/>
              <a:t>1.4.2. The Golden Rule</a:t>
            </a:r>
            <a:endParaRPr lang="en-US" u="sng" dirty="0" smtClean="0"/>
          </a:p>
          <a:p>
            <a:pPr algn="just"/>
            <a:r>
              <a:rPr lang="en-US" dirty="0" smtClean="0"/>
              <a:t>The golden rule is also called ethic of reciprocity.</a:t>
            </a:r>
          </a:p>
          <a:p>
            <a:pPr algn="just"/>
            <a:r>
              <a:rPr lang="en-US" dirty="0" smtClean="0"/>
              <a:t>Treat others as you want to be treated</a:t>
            </a:r>
          </a:p>
          <a:p>
            <a:pPr algn="just"/>
            <a:r>
              <a:rPr lang="en-US" dirty="0" smtClean="0"/>
              <a:t>This is putting oneself at the shoes of the other person </a:t>
            </a:r>
          </a:p>
          <a:p>
            <a:pPr lvl="1" algn="just"/>
            <a:r>
              <a:rPr lang="en-US" dirty="0" smtClean="0"/>
              <a:t>E.g. since we don’t want to be discriminated based on color we don’t have to discriminate people on this basis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95400"/>
            <a:ext cx="8229600" cy="5257800"/>
          </a:xfrm>
        </p:spPr>
        <p:txBody>
          <a:bodyPr>
            <a:normAutofit fontScale="70000" lnSpcReduction="20000"/>
          </a:bodyPr>
          <a:lstStyle/>
          <a:p>
            <a:pPr algn="ctr">
              <a:buNone/>
            </a:pPr>
            <a:r>
              <a:rPr lang="en-US" sz="2800" b="1" u="sng" dirty="0" smtClean="0"/>
              <a:t>1.4. The Theory of Moral Obligation . . . continued</a:t>
            </a:r>
          </a:p>
          <a:p>
            <a:pPr algn="ctr">
              <a:buNone/>
            </a:pPr>
            <a:r>
              <a:rPr lang="en-US" sz="2900" b="1" u="sng" dirty="0" smtClean="0"/>
              <a:t>1.4.3. Categorical Imperative </a:t>
            </a:r>
            <a:endParaRPr lang="en-US" sz="4000" dirty="0" smtClean="0"/>
          </a:p>
          <a:p>
            <a:pPr algn="just"/>
            <a:r>
              <a:rPr lang="en-US" dirty="0" smtClean="0"/>
              <a:t>Immanuel Kant defined imperative as any proposition that declares a certain action (or inaction) to be necessary. </a:t>
            </a:r>
          </a:p>
          <a:p>
            <a:pPr algn="just"/>
            <a:r>
              <a:rPr lang="en-US" dirty="0" smtClean="0"/>
              <a:t>Imperatives: hypothetical and categorical</a:t>
            </a:r>
          </a:p>
          <a:p>
            <a:pPr algn="just"/>
            <a:r>
              <a:rPr lang="en-US" dirty="0" smtClean="0"/>
              <a:t>Hypothetical Imperatives- applies to someone who wishes to attain certain ends. If I wish to pass this exam, I must study</a:t>
            </a:r>
          </a:p>
          <a:p>
            <a:pPr algn="just"/>
            <a:r>
              <a:rPr lang="en-US" dirty="0" smtClean="0"/>
              <a:t>Categorical Imperatives- absolute imperative and an end in itself. First formulation </a:t>
            </a:r>
          </a:p>
          <a:p>
            <a:pPr algn="just"/>
            <a:r>
              <a:rPr lang="en-US" dirty="0" smtClean="0"/>
              <a:t>Encyclopedia Britannica: categorical imperative in the ethics of Immanuel Kant is, a moral law that is unconditional or absolute for all agents, the validity or claim of which doesn’t depend on any ulterior motive or end.</a:t>
            </a:r>
          </a:p>
          <a:p>
            <a:pPr lvl="1" algn="just"/>
            <a:r>
              <a:rPr lang="en-US" dirty="0" smtClean="0"/>
              <a:t>Act only according to that maxim by which you can at the same time will that it should become a universal law</a:t>
            </a:r>
          </a:p>
          <a:p>
            <a:pPr lvl="1" algn="just"/>
            <a:r>
              <a:rPr lang="en-US" dirty="0" smtClean="0"/>
              <a:t>Act as to treat humanity, whether in your own person or in another, always as an end, and never as only a means.</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dirty="0" smtClean="0"/>
              <a:t>Chapter One: </a:t>
            </a:r>
            <a:br>
              <a:rPr lang="en-US" sz="2800" b="1" dirty="0" smtClean="0"/>
            </a:br>
            <a:r>
              <a:rPr lang="en-US" sz="2400" b="1" dirty="0" smtClean="0"/>
              <a:t>Introduction to Legal Profession and Ethics . . . Continued</a:t>
            </a:r>
            <a:endParaRPr lang="en-US" sz="2400" dirty="0"/>
          </a:p>
        </p:txBody>
      </p:sp>
      <p:sp>
        <p:nvSpPr>
          <p:cNvPr id="3" name="Content Placeholder 2"/>
          <p:cNvSpPr>
            <a:spLocks noGrp="1"/>
          </p:cNvSpPr>
          <p:nvPr>
            <p:ph idx="1"/>
          </p:nvPr>
        </p:nvSpPr>
        <p:spPr>
          <a:xfrm>
            <a:off x="457200" y="1219200"/>
            <a:ext cx="8229600" cy="4906963"/>
          </a:xfrm>
        </p:spPr>
        <p:txBody>
          <a:bodyPr/>
          <a:lstStyle/>
          <a:p>
            <a:pPr algn="ctr">
              <a:buNone/>
            </a:pPr>
            <a:r>
              <a:rPr lang="en-US" sz="2400" b="1" u="sng" dirty="0" smtClean="0"/>
              <a:t>1.4. The Theory of Moral Obligation . . . continued</a:t>
            </a:r>
          </a:p>
          <a:p>
            <a:pPr algn="ctr">
              <a:buNone/>
            </a:pPr>
            <a:r>
              <a:rPr lang="en-US" sz="2000" b="1" u="sng" dirty="0" smtClean="0"/>
              <a:t>1.4.3. Categorical Imperative</a:t>
            </a:r>
            <a:r>
              <a:rPr lang="en-US" sz="1800" b="1" u="sng" dirty="0" smtClean="0"/>
              <a:t> </a:t>
            </a:r>
            <a:r>
              <a:rPr lang="en-US" sz="2000" b="1" u="sng" dirty="0" smtClean="0"/>
              <a:t>. . . continued</a:t>
            </a:r>
            <a:endParaRPr lang="en-US" sz="2000" dirty="0" smtClean="0"/>
          </a:p>
          <a:p>
            <a:pPr marL="514350" indent="-514350">
              <a:buAutoNum type="alphaUcPeriod"/>
            </a:pPr>
            <a:r>
              <a:rPr lang="en-US" b="1" dirty="0" smtClean="0"/>
              <a:t>Using others as means – </a:t>
            </a:r>
            <a:r>
              <a:rPr lang="en-US" dirty="0" smtClean="0"/>
              <a:t>using others as means is okay but using others as mere means is against the moral principle of Kant e.g. deception, coercion </a:t>
            </a:r>
          </a:p>
          <a:p>
            <a:pPr marL="514350" indent="-514350">
              <a:buAutoNum type="alphaUcPeriod"/>
            </a:pPr>
            <a:r>
              <a:rPr lang="en-US" b="1" dirty="0" smtClean="0"/>
              <a:t>Treating Others as Ends in Themselves- </a:t>
            </a:r>
            <a:r>
              <a:rPr lang="en-US" dirty="0" smtClean="0"/>
              <a:t>treating others as rational and autonomous beings with their own maxims.</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3200" b="1" u="sng" dirty="0" smtClean="0"/>
              <a:t>CHAPTER TWO</a:t>
            </a:r>
            <a:r>
              <a:rPr lang="en-US" sz="3200" dirty="0" smtClean="0"/>
              <a:t/>
            </a:r>
            <a:br>
              <a:rPr lang="en-US" sz="3200" dirty="0" smtClean="0"/>
            </a:br>
            <a:r>
              <a:rPr lang="en-US" sz="3200" b="1" u="sng" dirty="0" smtClean="0"/>
              <a:t>THE LEGAL PROFESSION</a:t>
            </a:r>
            <a:endParaRPr lang="en-US" sz="3200" dirty="0"/>
          </a:p>
        </p:txBody>
      </p:sp>
      <p:sp>
        <p:nvSpPr>
          <p:cNvPr id="3" name="Content Placeholder 2"/>
          <p:cNvSpPr>
            <a:spLocks noGrp="1"/>
          </p:cNvSpPr>
          <p:nvPr>
            <p:ph idx="1"/>
          </p:nvPr>
        </p:nvSpPr>
        <p:spPr>
          <a:xfrm>
            <a:off x="990600" y="1447800"/>
            <a:ext cx="7696200" cy="4678363"/>
          </a:xfrm>
        </p:spPr>
        <p:txBody>
          <a:bodyPr>
            <a:normAutofit fontScale="70000" lnSpcReduction="20000"/>
          </a:bodyPr>
          <a:lstStyle/>
          <a:p>
            <a:pPr>
              <a:buNone/>
            </a:pPr>
            <a:r>
              <a:rPr lang="en-US" b="1" dirty="0" smtClean="0"/>
              <a:t>Matters of discussion: </a:t>
            </a:r>
            <a:endParaRPr lang="en-US" dirty="0" smtClean="0"/>
          </a:p>
          <a:p>
            <a:pPr>
              <a:buNone/>
            </a:pPr>
            <a:r>
              <a:rPr lang="en-US" dirty="0" smtClean="0"/>
              <a:t>2.1. Meaning and Nature of Legal Profession</a:t>
            </a:r>
          </a:p>
          <a:p>
            <a:pPr>
              <a:buNone/>
            </a:pPr>
            <a:r>
              <a:rPr lang="en-US" dirty="0" smtClean="0"/>
              <a:t>2.2. Admission to the Legal Profession</a:t>
            </a:r>
          </a:p>
          <a:p>
            <a:pPr>
              <a:buNone/>
            </a:pPr>
            <a:r>
              <a:rPr lang="en-US" dirty="0" smtClean="0"/>
              <a:t>	a) Canada</a:t>
            </a:r>
          </a:p>
          <a:p>
            <a:pPr>
              <a:buNone/>
            </a:pPr>
            <a:r>
              <a:rPr lang="en-US" dirty="0" smtClean="0"/>
              <a:t>	b) South Africa</a:t>
            </a:r>
          </a:p>
          <a:p>
            <a:pPr>
              <a:buNone/>
            </a:pPr>
            <a:r>
              <a:rPr lang="en-US" dirty="0" smtClean="0"/>
              <a:t>	c) U.S</a:t>
            </a:r>
          </a:p>
          <a:p>
            <a:pPr>
              <a:buNone/>
            </a:pPr>
            <a:r>
              <a:rPr lang="en-US" dirty="0" smtClean="0"/>
              <a:t>	d) Ethiopia</a:t>
            </a:r>
          </a:p>
          <a:p>
            <a:pPr>
              <a:buNone/>
            </a:pPr>
            <a:r>
              <a:rPr lang="en-US" dirty="0" smtClean="0"/>
              <a:t>2.3. Constitutional Right to Exercise Legal Profession</a:t>
            </a:r>
          </a:p>
          <a:p>
            <a:pPr>
              <a:buNone/>
            </a:pPr>
            <a:r>
              <a:rPr lang="en-US" dirty="0" smtClean="0"/>
              <a:t>2.4. Dissatisfaction with Legal Profession</a:t>
            </a:r>
          </a:p>
          <a:p>
            <a:pPr>
              <a:buNone/>
            </a:pPr>
            <a:r>
              <a:rPr lang="en-US" dirty="0" smtClean="0"/>
              <a:t>2.5. Bar Associations and their Role in Legal Profession</a:t>
            </a:r>
          </a:p>
          <a:p>
            <a:pPr>
              <a:buNone/>
            </a:pPr>
            <a:r>
              <a:rPr lang="en-US" dirty="0" smtClean="0"/>
              <a:t>	a) American Bar Association</a:t>
            </a:r>
          </a:p>
          <a:p>
            <a:pPr>
              <a:buNone/>
            </a:pPr>
            <a:r>
              <a:rPr lang="en-US" dirty="0" smtClean="0"/>
              <a:t>	b) Ethiopian Bar Association</a:t>
            </a:r>
          </a:p>
          <a:p>
            <a:pPr>
              <a:buNone/>
            </a:pPr>
            <a:r>
              <a:rPr lang="en-US" dirty="0" smtClean="0"/>
              <a:t>2.6. Unauthorized Practice in Legal Profession</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CHAPTER TWO</a:t>
            </a:r>
            <a:r>
              <a:rPr lang="en-US" sz="2800" dirty="0" smtClean="0"/>
              <a:t/>
            </a:r>
            <a:br>
              <a:rPr lang="en-US" sz="2800" dirty="0" smtClean="0"/>
            </a:br>
            <a:r>
              <a:rPr lang="en-US" sz="2800" b="1" u="sng" dirty="0" smtClean="0"/>
              <a:t>THE LEGAL PROFESSION . . . Continued </a:t>
            </a:r>
            <a:endParaRPr lang="en-US" sz="2800" dirty="0"/>
          </a:p>
        </p:txBody>
      </p:sp>
      <p:sp>
        <p:nvSpPr>
          <p:cNvPr id="3" name="Content Placeholder 2"/>
          <p:cNvSpPr>
            <a:spLocks noGrp="1"/>
          </p:cNvSpPr>
          <p:nvPr>
            <p:ph idx="1"/>
          </p:nvPr>
        </p:nvSpPr>
        <p:spPr/>
        <p:txBody>
          <a:bodyPr>
            <a:normAutofit fontScale="92500" lnSpcReduction="20000"/>
          </a:bodyPr>
          <a:lstStyle/>
          <a:p>
            <a:pPr algn="just"/>
            <a:r>
              <a:rPr lang="en-US" b="1" dirty="0" smtClean="0"/>
              <a:t>Objectives:</a:t>
            </a:r>
            <a:endParaRPr lang="en-US" dirty="0" smtClean="0"/>
          </a:p>
          <a:p>
            <a:pPr lvl="1" algn="just"/>
            <a:r>
              <a:rPr lang="en-US" dirty="0" smtClean="0"/>
              <a:t>Distinguish legal profession from other professions</a:t>
            </a:r>
          </a:p>
          <a:p>
            <a:pPr lvl="1" algn="just"/>
            <a:r>
              <a:rPr lang="en-US" dirty="0" smtClean="0"/>
              <a:t>List requirements for admission to the legal profession</a:t>
            </a:r>
          </a:p>
          <a:p>
            <a:pPr lvl="1" algn="just"/>
            <a:r>
              <a:rPr lang="en-US" dirty="0" smtClean="0"/>
              <a:t>Analyze Constitutional right to choose and exercise legal profession</a:t>
            </a:r>
          </a:p>
          <a:p>
            <a:pPr lvl="1" algn="just"/>
            <a:r>
              <a:rPr lang="en-US" dirty="0" smtClean="0"/>
              <a:t>Explain the attitudes of the members of the society towards legal profession</a:t>
            </a:r>
          </a:p>
          <a:p>
            <a:pPr lvl="1" algn="just"/>
            <a:r>
              <a:rPr lang="en-US" dirty="0" smtClean="0"/>
              <a:t>Discuss the role of bar associations in the legal profession</a:t>
            </a:r>
          </a:p>
          <a:p>
            <a:pPr lvl="1" algn="just"/>
            <a:r>
              <a:rPr lang="en-US" dirty="0" smtClean="0"/>
              <a:t>Explain the meaning and effects of unauthorized practice of law</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CHAPTER TWO</a:t>
            </a:r>
            <a:r>
              <a:rPr lang="en-US" sz="2800" dirty="0" smtClean="0"/>
              <a:t/>
            </a:r>
            <a:br>
              <a:rPr lang="en-US" sz="2800" dirty="0" smtClean="0"/>
            </a:br>
            <a:r>
              <a:rPr lang="en-US" sz="2800" b="1" u="sng" dirty="0" smtClean="0"/>
              <a:t>THE LEGAL PROFESSION . . . Continued </a:t>
            </a:r>
            <a:endParaRPr lang="en-US" sz="2800" dirty="0"/>
          </a:p>
        </p:txBody>
      </p:sp>
      <p:sp>
        <p:nvSpPr>
          <p:cNvPr id="3" name="Content Placeholder 2"/>
          <p:cNvSpPr>
            <a:spLocks noGrp="1"/>
          </p:cNvSpPr>
          <p:nvPr>
            <p:ph idx="1"/>
          </p:nvPr>
        </p:nvSpPr>
        <p:spPr>
          <a:xfrm>
            <a:off x="457200" y="1600200"/>
            <a:ext cx="8229600" cy="4876800"/>
          </a:xfrm>
        </p:spPr>
        <p:txBody>
          <a:bodyPr>
            <a:noAutofit/>
          </a:bodyPr>
          <a:lstStyle/>
          <a:p>
            <a:pPr algn="ctr">
              <a:buNone/>
            </a:pPr>
            <a:r>
              <a:rPr lang="en-US" sz="2400" b="1" u="sng" dirty="0" smtClean="0"/>
              <a:t>2.1. Meaning and Nature of Legal Profession</a:t>
            </a:r>
          </a:p>
          <a:p>
            <a:pPr algn="ctr">
              <a:buNone/>
            </a:pPr>
            <a:endParaRPr lang="en-US" sz="2400" dirty="0" smtClean="0"/>
          </a:p>
          <a:p>
            <a:pPr algn="just"/>
            <a:r>
              <a:rPr lang="en-US" sz="2400" dirty="0" smtClean="0"/>
              <a:t>What is legal profession? Does it include all persons trained in law? </a:t>
            </a:r>
          </a:p>
          <a:p>
            <a:pPr algn="just"/>
            <a:r>
              <a:rPr lang="en-US" sz="2400" dirty="0" smtClean="0"/>
              <a:t>The legal profession is sometimes restricted to apply only to attorneys. But broadly speaking it may include public prosecutors, judges, lawyers, court registrars . . .</a:t>
            </a:r>
          </a:p>
          <a:p>
            <a:pPr algn="just"/>
            <a:r>
              <a:rPr lang="en-US" sz="2400" dirty="0" smtClean="0"/>
              <a:t>Encyclopedia Britannica: legal profession is a vocation that is based on expertise in the law and in its applications.</a:t>
            </a:r>
          </a:p>
          <a:p>
            <a:pPr algn="just"/>
            <a:r>
              <a:rPr lang="en-US" sz="2400" dirty="0" smtClean="0"/>
              <a:t>Legal profession is the collective name given to lawyers.</a:t>
            </a:r>
          </a:p>
          <a:p>
            <a:pPr algn="just"/>
            <a:r>
              <a:rPr lang="en-US" sz="2400" dirty="0" smtClean="0"/>
              <a:t>Legal profession encompasses lawyers, judges, counselors, as well as experts of legal education and scholarship. </a:t>
            </a:r>
            <a:r>
              <a:rPr lang="en-US" sz="2400" dirty="0" err="1" smtClean="0"/>
              <a:t>Deflen</a:t>
            </a:r>
            <a:endParaRPr lang="en-US" sz="2400"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990600"/>
            <a:ext cx="8229600" cy="5486400"/>
          </a:xfrm>
        </p:spPr>
        <p:txBody>
          <a:bodyPr>
            <a:normAutofit fontScale="25000" lnSpcReduction="20000"/>
          </a:bodyPr>
          <a:lstStyle/>
          <a:p>
            <a:pPr algn="ctr">
              <a:buNone/>
            </a:pPr>
            <a:r>
              <a:rPr lang="en-US" sz="9600" b="1" u="sng" dirty="0" smtClean="0"/>
              <a:t>2.1. Meaning and Nature of Legal Profession . . . Continued</a:t>
            </a:r>
          </a:p>
          <a:p>
            <a:pPr algn="just"/>
            <a:r>
              <a:rPr lang="en-US" sz="9600" dirty="0" smtClean="0"/>
              <a:t>the legal profession vs. Business: </a:t>
            </a:r>
          </a:p>
          <a:p>
            <a:pPr lvl="1" algn="just"/>
            <a:r>
              <a:rPr lang="en-US" sz="9600" dirty="0" smtClean="0"/>
              <a:t>Profession of law is essential in a complex society- </a:t>
            </a:r>
            <a:r>
              <a:rPr lang="en-US" sz="5600" dirty="0" smtClean="0"/>
              <a:t>the alternative to the reign of law is the chaos of the jungle</a:t>
            </a:r>
            <a:endParaRPr lang="en-US" sz="9600" dirty="0" smtClean="0"/>
          </a:p>
          <a:p>
            <a:pPr lvl="1" algn="just"/>
            <a:r>
              <a:rPr lang="en-US" sz="9600" dirty="0" smtClean="0"/>
              <a:t>Legal profession is an occupation that requires advanced training in law- </a:t>
            </a:r>
            <a:r>
              <a:rPr lang="en-US" sz="5600" dirty="0" smtClean="0"/>
              <a:t>it is not just business </a:t>
            </a:r>
            <a:endParaRPr lang="en-US" sz="9600" dirty="0" smtClean="0"/>
          </a:p>
          <a:p>
            <a:pPr lvl="1" algn="just"/>
            <a:r>
              <a:rPr lang="en-US" sz="9600" dirty="0" smtClean="0"/>
              <a:t>Legal profession is related to administration of justice- </a:t>
            </a:r>
            <a:r>
              <a:rPr lang="en-US" sz="5600" dirty="0" smtClean="0"/>
              <a:t>fees are just incidental</a:t>
            </a:r>
            <a:endParaRPr lang="en-US" sz="9600" dirty="0" smtClean="0"/>
          </a:p>
          <a:p>
            <a:pPr lvl="1" algn="just"/>
            <a:r>
              <a:rPr lang="en-US" sz="9600" dirty="0" smtClean="0"/>
              <a:t>Legal professionals work for the welfare of the society- </a:t>
            </a:r>
            <a:r>
              <a:rPr lang="en-US" sz="5600" dirty="0" smtClean="0"/>
              <a:t>they protect order, justice and liberty.</a:t>
            </a:r>
          </a:p>
          <a:p>
            <a:pPr lvl="1" algn="just"/>
            <a:r>
              <a:rPr lang="en-US" sz="9600" dirty="0" smtClean="0"/>
              <a:t>Cooperation instead of competition- </a:t>
            </a:r>
            <a:r>
              <a:rPr lang="en-US" sz="5600" dirty="0" smtClean="0"/>
              <a:t>justice and liberty instead of commodity </a:t>
            </a:r>
            <a:r>
              <a:rPr lang="en-US" sz="9600" dirty="0" smtClean="0"/>
              <a:t> </a:t>
            </a:r>
          </a:p>
          <a:p>
            <a:r>
              <a:rPr lang="en-US" sz="8000" dirty="0" smtClean="0"/>
              <a:t>the primary consideration in the practice of the law profession is the rendition of service to the public, service to humanity, i.e., to help those who seek justice so that every one is given his due.</a:t>
            </a:r>
            <a:r>
              <a:rPr lang="en-US" sz="2400" b="1" dirty="0" smtClean="0"/>
              <a:t> </a:t>
            </a:r>
            <a:r>
              <a:rPr lang="en-US" sz="5600" b="1" dirty="0" smtClean="0"/>
              <a:t>GOZON</a:t>
            </a:r>
            <a:r>
              <a:rPr lang="en-US" sz="2400" b="1" dirty="0" smtClean="0"/>
              <a:t>,</a:t>
            </a:r>
          </a:p>
          <a:p>
            <a:r>
              <a:rPr lang="en-US" sz="7200" dirty="0" smtClean="0"/>
              <a:t>The ethics does not cultivate the mind, the ethics seeks to cultivate the heart of the members of the profession.</a:t>
            </a:r>
            <a:r>
              <a:rPr lang="en-US" sz="12800" b="1" dirty="0" smtClean="0"/>
              <a:t> </a:t>
            </a:r>
            <a:r>
              <a:rPr lang="en-US" sz="6400" b="1" dirty="0" smtClean="0"/>
              <a:t>GOZON</a:t>
            </a:r>
            <a:endParaRPr lang="en-US" sz="19200" dirty="0" smtClean="0"/>
          </a:p>
          <a:p>
            <a:pPr lvl="1" algn="just"/>
            <a:endParaRPr lang="en-US" sz="9600" dirty="0" smtClean="0"/>
          </a:p>
          <a:p>
            <a:pPr lvl="2" algn="just"/>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CHAPTER TWO</a:t>
            </a:r>
            <a:r>
              <a:rPr lang="en-US" sz="2800" dirty="0" smtClean="0"/>
              <a:t/>
            </a:r>
            <a:br>
              <a:rPr lang="en-US" sz="2800" dirty="0" smtClean="0"/>
            </a:br>
            <a:r>
              <a:rPr lang="en-US" sz="2800" b="1" u="sng" dirty="0" smtClean="0"/>
              <a:t>THE LEGAL PROFESSION . . . Continued </a:t>
            </a:r>
            <a:endParaRPr lang="en-US" sz="2800" dirty="0"/>
          </a:p>
        </p:txBody>
      </p:sp>
      <p:sp>
        <p:nvSpPr>
          <p:cNvPr id="3" name="Content Placeholder 2"/>
          <p:cNvSpPr>
            <a:spLocks noGrp="1"/>
          </p:cNvSpPr>
          <p:nvPr>
            <p:ph idx="1"/>
          </p:nvPr>
        </p:nvSpPr>
        <p:spPr>
          <a:xfrm>
            <a:off x="457200" y="1295400"/>
            <a:ext cx="8229600" cy="4830763"/>
          </a:xfrm>
        </p:spPr>
        <p:txBody>
          <a:bodyPr>
            <a:normAutofit fontScale="25000" lnSpcReduction="20000"/>
          </a:bodyPr>
          <a:lstStyle/>
          <a:p>
            <a:pPr marL="342900" lvl="1" indent="-342900" algn="ctr">
              <a:buNone/>
            </a:pPr>
            <a:r>
              <a:rPr lang="en-US" sz="9600" b="1" u="sng" dirty="0" smtClean="0"/>
              <a:t>2.2. Admission to the Legal Profession</a:t>
            </a:r>
            <a:endParaRPr lang="en-US" sz="9600" u="sng" dirty="0" smtClean="0"/>
          </a:p>
          <a:p>
            <a:pPr algn="just"/>
            <a:r>
              <a:rPr lang="en-US" sz="9600" dirty="0" smtClean="0"/>
              <a:t>Admission to the legal profession is usually started with admission to the Bar</a:t>
            </a:r>
          </a:p>
          <a:p>
            <a:pPr marL="514350" indent="-514350">
              <a:buAutoNum type="alphaLcPeriod"/>
            </a:pPr>
            <a:r>
              <a:rPr lang="en-US" sz="9600" b="1" dirty="0" smtClean="0"/>
              <a:t>Canada</a:t>
            </a:r>
            <a:r>
              <a:rPr lang="en-US" sz="9600" dirty="0" smtClean="0"/>
              <a:t> </a:t>
            </a:r>
          </a:p>
          <a:p>
            <a:pPr marL="914400" lvl="1" indent="-514350" algn="just">
              <a:buFont typeface="Arial" pitchFamily="34" charset="0"/>
              <a:buChar char="•"/>
            </a:pPr>
            <a:r>
              <a:rPr lang="en-US" sz="9600" dirty="0" smtClean="0"/>
              <a:t>A person should pass through four distinct stages of legal education to be admitted to the bar in Canada. The stages are: </a:t>
            </a:r>
          </a:p>
          <a:p>
            <a:pPr marL="1314450" lvl="2" indent="-514350" algn="just"/>
            <a:r>
              <a:rPr lang="en-US" sz="8800" dirty="0" smtClean="0"/>
              <a:t>Undergraduate pre-law degree, </a:t>
            </a:r>
          </a:p>
          <a:p>
            <a:pPr marL="1314450" lvl="2" indent="-514350" algn="just"/>
            <a:r>
              <a:rPr lang="en-US" sz="8800" dirty="0" smtClean="0"/>
              <a:t>LSAT (Law School Admission Test),</a:t>
            </a:r>
          </a:p>
          <a:p>
            <a:pPr marL="1314450" lvl="2" indent="-514350" algn="just"/>
            <a:r>
              <a:rPr lang="en-US" sz="8800" dirty="0" smtClean="0"/>
              <a:t>Law School (Bachelor of Laws/ LLB; or </a:t>
            </a:r>
            <a:r>
              <a:rPr lang="en-US" sz="8800" dirty="0" err="1" smtClean="0"/>
              <a:t>Juris</a:t>
            </a:r>
            <a:r>
              <a:rPr lang="en-US" sz="8800" dirty="0" smtClean="0"/>
              <a:t> Doctor, JD), (French Civil Law of Quebec or English Common Law )and </a:t>
            </a:r>
          </a:p>
          <a:p>
            <a:pPr marL="1314450" lvl="2" indent="-514350" algn="just"/>
            <a:r>
              <a:rPr lang="en-US" sz="8800" dirty="0" smtClean="0"/>
              <a:t>Bar Admission Course and Articling- bar admission courses and bar qualification exam (Barristers Exam and Solicitors Exam); practical articles with a licensed lawyer; and then conferred with the degree of Barrister at Law</a:t>
            </a:r>
            <a:r>
              <a:rPr lang="en-US" sz="9600" dirty="0" smtClean="0"/>
              <a:t>.</a:t>
            </a:r>
            <a:endParaRPr lang="en-US" dirty="0" smtClean="0"/>
          </a:p>
          <a:p>
            <a:pPr marL="514350" indent="-514350">
              <a:buAutoNum type="alphaLcPeriod"/>
            </a:pP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u="sng" dirty="0" smtClean="0"/>
              <a:t>CHAPTER TWO</a:t>
            </a:r>
            <a:r>
              <a:rPr lang="en-US" sz="2800" dirty="0" smtClean="0"/>
              <a:t/>
            </a:r>
            <a:br>
              <a:rPr lang="en-US" sz="2800" dirty="0" smtClean="0"/>
            </a:br>
            <a:r>
              <a:rPr lang="en-US" sz="2800" b="1" u="sng" dirty="0" smtClean="0"/>
              <a:t>THE LEGAL PROFESSION . . . Continued </a:t>
            </a:r>
            <a:endParaRPr lang="en-US" sz="2800" dirty="0"/>
          </a:p>
        </p:txBody>
      </p:sp>
      <p:sp>
        <p:nvSpPr>
          <p:cNvPr id="3" name="Content Placeholder 2"/>
          <p:cNvSpPr>
            <a:spLocks noGrp="1"/>
          </p:cNvSpPr>
          <p:nvPr>
            <p:ph idx="1"/>
          </p:nvPr>
        </p:nvSpPr>
        <p:spPr>
          <a:xfrm>
            <a:off x="457200" y="1295400"/>
            <a:ext cx="8229600" cy="4830763"/>
          </a:xfrm>
        </p:spPr>
        <p:txBody>
          <a:bodyPr>
            <a:normAutofit fontScale="32500" lnSpcReduction="20000"/>
          </a:bodyPr>
          <a:lstStyle/>
          <a:p>
            <a:pPr algn="ctr">
              <a:buNone/>
            </a:pPr>
            <a:r>
              <a:rPr lang="en-US" sz="8600" b="1" u="sng" dirty="0" smtClean="0"/>
              <a:t>2.2. Admission to the Legal Profession</a:t>
            </a:r>
            <a:endParaRPr lang="en-US" sz="8600" u="sng" dirty="0" smtClean="0"/>
          </a:p>
          <a:p>
            <a:pPr lvl="0" algn="just">
              <a:buNone/>
            </a:pPr>
            <a:r>
              <a:rPr lang="en-US" sz="7400" b="1" dirty="0" smtClean="0"/>
              <a:t>b. South Africa</a:t>
            </a:r>
          </a:p>
          <a:p>
            <a:pPr lvl="0" algn="just"/>
            <a:r>
              <a:rPr lang="en-US" sz="7400" dirty="0" smtClean="0"/>
              <a:t>In South Africa, a person should pass through five stages of education and qualification to become an attorney. </a:t>
            </a:r>
          </a:p>
          <a:p>
            <a:pPr lvl="0" algn="just"/>
            <a:r>
              <a:rPr lang="en-US" sz="7400" dirty="0" smtClean="0"/>
              <a:t>These stages are: </a:t>
            </a:r>
          </a:p>
          <a:p>
            <a:pPr lvl="1" algn="just"/>
            <a:r>
              <a:rPr lang="en-US" sz="7400" dirty="0" smtClean="0"/>
              <a:t>L.L.B. degree of not less than four years ; </a:t>
            </a:r>
          </a:p>
          <a:p>
            <a:pPr lvl="1" algn="just"/>
            <a:r>
              <a:rPr lang="en-US" sz="7400" dirty="0" smtClean="0"/>
              <a:t>attendance at a practical legal training school; </a:t>
            </a:r>
          </a:p>
          <a:p>
            <a:pPr lvl="1" algn="just"/>
            <a:r>
              <a:rPr lang="en-US" sz="7400" dirty="0" smtClean="0"/>
              <a:t>service under articles of clerkship or service contract;</a:t>
            </a:r>
          </a:p>
          <a:p>
            <a:pPr lvl="1" algn="just"/>
            <a:r>
              <a:rPr lang="en-US" sz="7400" dirty="0" smtClean="0"/>
              <a:t>Appropriate legal practice in a public interest law firm; and </a:t>
            </a:r>
          </a:p>
          <a:p>
            <a:pPr lvl="1" algn="just"/>
            <a:r>
              <a:rPr lang="en-US" sz="7400" dirty="0" smtClean="0"/>
              <a:t>Attorney’s Admission Exam presented by the Law Society.</a:t>
            </a:r>
          </a:p>
          <a:p>
            <a:pPr algn="just"/>
            <a:r>
              <a:rPr lang="en-US" sz="7400" dirty="0" smtClean="0"/>
              <a:t>Personal fitness (moral character)- checked by the Law Society and High Court</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CHAPTER TWO</a:t>
            </a:r>
            <a:r>
              <a:rPr lang="en-US" sz="2800" dirty="0" smtClean="0"/>
              <a:t/>
            </a:r>
            <a:br>
              <a:rPr lang="en-US" sz="2800" dirty="0" smtClean="0"/>
            </a:br>
            <a:r>
              <a:rPr lang="en-US" sz="2800" b="1" u="sng" dirty="0" smtClean="0"/>
              <a:t>THE LEGAL PROFESSION . . . Continued </a:t>
            </a:r>
            <a:endParaRPr lang="en-US" sz="2800" dirty="0"/>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pPr algn="ctr">
              <a:buNone/>
            </a:pPr>
            <a:r>
              <a:rPr lang="en-US" b="1" u="sng" dirty="0" smtClean="0"/>
              <a:t>2.2. Admission to the Legal Profession</a:t>
            </a:r>
            <a:endParaRPr lang="en-US" u="sng" dirty="0" smtClean="0"/>
          </a:p>
          <a:p>
            <a:pPr lvl="0" algn="just">
              <a:buNone/>
            </a:pPr>
            <a:r>
              <a:rPr lang="en-US" sz="2800" b="1" dirty="0" smtClean="0"/>
              <a:t>c. U.S.</a:t>
            </a:r>
          </a:p>
          <a:p>
            <a:pPr lvl="0" algn="just"/>
            <a:r>
              <a:rPr lang="en-US" sz="2800" dirty="0" smtClean="0"/>
              <a:t>Lawyers are admitted to practice in States; Admission to the Bar is state matter  </a:t>
            </a:r>
          </a:p>
          <a:p>
            <a:pPr lvl="0" algn="just"/>
            <a:r>
              <a:rPr lang="en-US" sz="2800" dirty="0" smtClean="0"/>
              <a:t>The steps are:</a:t>
            </a:r>
          </a:p>
          <a:p>
            <a:pPr lvl="1" algn="just"/>
            <a:r>
              <a:rPr lang="en-US" sz="2400" dirty="0" smtClean="0"/>
              <a:t>Bachelor degree;</a:t>
            </a:r>
          </a:p>
          <a:p>
            <a:pPr lvl="1" algn="just"/>
            <a:r>
              <a:rPr lang="en-US" sz="2400" dirty="0" smtClean="0"/>
              <a:t>LSAT (Law School Admission Test);</a:t>
            </a:r>
          </a:p>
          <a:p>
            <a:pPr lvl="1" algn="just"/>
            <a:r>
              <a:rPr lang="en-US" sz="2400" dirty="0" smtClean="0"/>
              <a:t>Law School; </a:t>
            </a:r>
          </a:p>
          <a:p>
            <a:pPr lvl="1" algn="just"/>
            <a:r>
              <a:rPr lang="en-US" sz="2400" dirty="0" smtClean="0"/>
              <a:t>State Bar Exam; </a:t>
            </a:r>
          </a:p>
          <a:p>
            <a:pPr lvl="1" algn="just"/>
            <a:r>
              <a:rPr lang="en-US" sz="2400" dirty="0" smtClean="0"/>
              <a:t>Character and Fitness Review; </a:t>
            </a:r>
          </a:p>
          <a:p>
            <a:pPr lvl="1" algn="just"/>
            <a:r>
              <a:rPr lang="en-US" sz="2400" dirty="0" smtClean="0"/>
              <a:t>Oath;  and </a:t>
            </a:r>
          </a:p>
          <a:p>
            <a:pPr lvl="1" algn="just"/>
            <a:r>
              <a:rPr lang="en-US" sz="2400" dirty="0" smtClean="0"/>
              <a:t>License from State Supreme Court or High Court.</a:t>
            </a:r>
          </a:p>
          <a:p>
            <a:pPr>
              <a:buNone/>
            </a:pP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1219200"/>
            <a:ext cx="8229600" cy="4906963"/>
          </a:xfrm>
        </p:spPr>
        <p:txBody>
          <a:bodyPr>
            <a:normAutofit/>
          </a:bodyPr>
          <a:lstStyle/>
          <a:p>
            <a:pPr algn="ctr">
              <a:buNone/>
            </a:pPr>
            <a:r>
              <a:rPr lang="en-US" b="1" u="sng" dirty="0" smtClean="0"/>
              <a:t>2.2. Admission to the Legal Profession</a:t>
            </a:r>
            <a:endParaRPr lang="en-US" u="sng" dirty="0" smtClean="0"/>
          </a:p>
          <a:p>
            <a:pPr lvl="0" algn="just">
              <a:buNone/>
            </a:pPr>
            <a:r>
              <a:rPr lang="en-US" sz="2800" b="1" dirty="0" smtClean="0"/>
              <a:t>d. Ethiopia </a:t>
            </a:r>
          </a:p>
          <a:p>
            <a:pPr lvl="0" algn="just"/>
            <a:r>
              <a:rPr lang="en-US" sz="2800" dirty="0" smtClean="0"/>
              <a:t>Admission to the legal profession in Ethiopia/ like in the U.S., is left to states. </a:t>
            </a:r>
          </a:p>
          <a:p>
            <a:pPr algn="just"/>
            <a:r>
              <a:rPr lang="en-US" dirty="0" smtClean="0"/>
              <a:t>According to Article 3 and 7 of FCALRP No. 199/2000 there are three types of licenses:</a:t>
            </a:r>
          </a:p>
          <a:p>
            <a:pPr lvl="1" algn="just"/>
            <a:r>
              <a:rPr lang="en-US" dirty="0" smtClean="0"/>
              <a:t> federal first instance court advocacy license;</a:t>
            </a:r>
          </a:p>
          <a:p>
            <a:pPr lvl="1" algn="just"/>
            <a:r>
              <a:rPr lang="en-US" dirty="0" smtClean="0"/>
              <a:t>federal courts advocacy license; and </a:t>
            </a:r>
          </a:p>
          <a:p>
            <a:pPr lvl="1" algn="just"/>
            <a:r>
              <a:rPr lang="en-US" dirty="0" smtClean="0"/>
              <a:t>federal court special advocacy license.</a:t>
            </a:r>
          </a:p>
          <a:p>
            <a:pPr lvl="0" algn="just"/>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914400"/>
            <a:ext cx="8229600" cy="5638800"/>
          </a:xfrm>
        </p:spPr>
        <p:txBody>
          <a:bodyPr>
            <a:normAutofit fontScale="77500" lnSpcReduction="20000"/>
          </a:bodyPr>
          <a:lstStyle/>
          <a:p>
            <a:pPr algn="ctr">
              <a:buNone/>
            </a:pPr>
            <a:r>
              <a:rPr lang="en-US" b="1" u="sng" dirty="0" smtClean="0"/>
              <a:t>2.2. Admission to the Legal Profession</a:t>
            </a:r>
            <a:endParaRPr lang="en-US" u="sng" dirty="0" smtClean="0"/>
          </a:p>
          <a:p>
            <a:pPr lvl="0" algn="just">
              <a:buNone/>
            </a:pPr>
            <a:r>
              <a:rPr lang="en-US" sz="2800" b="1" dirty="0" smtClean="0"/>
              <a:t>d. Ethiopia . . .continued </a:t>
            </a:r>
            <a:endParaRPr lang="en-US" dirty="0" smtClean="0"/>
          </a:p>
          <a:p>
            <a:pPr algn="just"/>
            <a:r>
              <a:rPr lang="en-US" dirty="0" smtClean="0"/>
              <a:t>The followings are some common requirements to obtain these licenses.</a:t>
            </a:r>
          </a:p>
          <a:p>
            <a:pPr lvl="1" algn="just"/>
            <a:r>
              <a:rPr lang="en-US" dirty="0" smtClean="0"/>
              <a:t>Graduation from legally recognized institution; </a:t>
            </a:r>
          </a:p>
          <a:p>
            <a:pPr lvl="1" algn="just"/>
            <a:r>
              <a:rPr lang="en-US" dirty="0" smtClean="0"/>
              <a:t>Relevant experience; </a:t>
            </a:r>
          </a:p>
          <a:p>
            <a:pPr lvl="1" algn="just"/>
            <a:r>
              <a:rPr lang="en-US" dirty="0" smtClean="0"/>
              <a:t>suitable code of conduct for assisting in the proper administration of justice;</a:t>
            </a:r>
          </a:p>
          <a:p>
            <a:pPr lvl="1" algn="just"/>
            <a:r>
              <a:rPr lang="en-US" dirty="0" smtClean="0"/>
              <a:t>pass mark in  the advocacy entrance examination;</a:t>
            </a:r>
          </a:p>
          <a:p>
            <a:pPr lvl="1" algn="just"/>
            <a:r>
              <a:rPr lang="en-US" dirty="0" smtClean="0"/>
              <a:t>no conviction and sentence  in an offense showing an improper conduct;</a:t>
            </a:r>
          </a:p>
          <a:p>
            <a:pPr lvl="1" algn="just"/>
            <a:r>
              <a:rPr lang="en-US" dirty="0" smtClean="0"/>
              <a:t>documents evidencing entrance into  a professional Indemnity Insurance Policy; and </a:t>
            </a:r>
          </a:p>
          <a:p>
            <a:pPr lvl="1" algn="just"/>
            <a:r>
              <a:rPr lang="en-US" dirty="0" smtClean="0"/>
              <a:t>Taking an Oath.</a:t>
            </a:r>
          </a:p>
          <a:p>
            <a:pPr algn="just"/>
            <a:r>
              <a:rPr lang="en-US" dirty="0" smtClean="0"/>
              <a:t>What difference can you observe in the admission from the other jurisdictions? The role of Bars and Law Societies?</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1143000"/>
            <a:ext cx="8229600" cy="4983163"/>
          </a:xfrm>
        </p:spPr>
        <p:txBody>
          <a:bodyPr>
            <a:normAutofit lnSpcReduction="10000"/>
          </a:bodyPr>
          <a:lstStyle/>
          <a:p>
            <a:pPr marL="342900" lvl="1" indent="-342900" algn="ctr">
              <a:buNone/>
            </a:pPr>
            <a:r>
              <a:rPr lang="en-US" sz="2400" b="1" dirty="0" smtClean="0"/>
              <a:t>2.3. Constitutional Right to Exercise Legal Profession</a:t>
            </a:r>
          </a:p>
          <a:p>
            <a:pPr marL="342900" lvl="1" indent="-342900" algn="just">
              <a:buFont typeface="Arial" pitchFamily="34" charset="0"/>
              <a:buChar char="•"/>
            </a:pPr>
            <a:r>
              <a:rPr lang="en-US" sz="2400" dirty="0" smtClean="0"/>
              <a:t>Choosing one’s means of livelihood, occupation or profession is a constitutional right [FDRE Constitution: Art, 41(2)]</a:t>
            </a:r>
          </a:p>
          <a:p>
            <a:pPr marL="342900" lvl="1" indent="-342900" algn="just">
              <a:buFont typeface="Arial" pitchFamily="34" charset="0"/>
              <a:buChar char="•"/>
            </a:pPr>
            <a:r>
              <a:rPr lang="en-US" sz="2400" dirty="0" smtClean="0"/>
              <a:t>So, every Ethiopian can choose to be a lawyer.</a:t>
            </a:r>
          </a:p>
          <a:p>
            <a:pPr marL="342900" lvl="1" indent="-342900" algn="just">
              <a:buFont typeface="Arial" pitchFamily="34" charset="0"/>
              <a:buChar char="•"/>
            </a:pPr>
            <a:r>
              <a:rPr lang="en-US" sz="2400" dirty="0" smtClean="0"/>
              <a:t>Do you think the requirements under the Advocates Proclamation are limitations to this right?</a:t>
            </a:r>
          </a:p>
          <a:p>
            <a:pPr marL="342900" lvl="1" indent="-342900" algn="ctr">
              <a:buNone/>
            </a:pPr>
            <a:r>
              <a:rPr lang="en-US" sz="2400" b="1" dirty="0" smtClean="0"/>
              <a:t>2.4. Dissatisfaction with Legal Profession</a:t>
            </a:r>
            <a:endParaRPr lang="en-US" sz="2400" dirty="0" smtClean="0"/>
          </a:p>
          <a:p>
            <a:pPr marL="342900" lvl="1" indent="-342900" algn="just">
              <a:buFont typeface="Arial" pitchFamily="34" charset="0"/>
              <a:buChar char="•"/>
            </a:pPr>
            <a:r>
              <a:rPr lang="en-US" sz="2400" dirty="0" smtClean="0"/>
              <a:t>Dissatisfaction with the legal profession is as old as the profession itself. </a:t>
            </a:r>
          </a:p>
          <a:p>
            <a:pPr marL="342900" lvl="1" indent="-342900" algn="just">
              <a:buFont typeface="Arial" pitchFamily="34" charset="0"/>
              <a:buChar char="•"/>
            </a:pPr>
            <a:r>
              <a:rPr lang="en-US" sz="2400" dirty="0" smtClean="0"/>
              <a:t>Causes of dissatisfaction: </a:t>
            </a:r>
          </a:p>
          <a:p>
            <a:pPr marL="742950" lvl="2" indent="-342900" algn="just">
              <a:buFont typeface="Wingdings" pitchFamily="2" charset="2"/>
              <a:buChar char="§"/>
            </a:pPr>
            <a:r>
              <a:rPr lang="en-US" sz="2000" dirty="0" smtClean="0"/>
              <a:t>abuse of adversary system- legal education, incivility among advocates</a:t>
            </a:r>
          </a:p>
          <a:p>
            <a:pPr marL="742950" lvl="2" indent="-342900" algn="just">
              <a:buFont typeface="Wingdings" pitchFamily="2" charset="2"/>
              <a:buChar char="§"/>
            </a:pPr>
            <a:r>
              <a:rPr lang="en-US" sz="2000" dirty="0" smtClean="0"/>
              <a:t>Commercialization of the legal profession- business instead of service and high charge </a:t>
            </a:r>
          </a:p>
          <a:p>
            <a:pPr marL="742950" lvl="2" indent="-342900" algn="just">
              <a:buFont typeface="Wingdings" pitchFamily="2" charset="2"/>
              <a:buChar char="§"/>
            </a:pPr>
            <a:endParaRPr lang="en-US" sz="2000" dirty="0" smtClean="0"/>
          </a:p>
          <a:p>
            <a:pPr marL="742950" lvl="2" indent="-342900" algn="just">
              <a:buFont typeface="Wingdings" pitchFamily="2" charset="2"/>
              <a:buChar char="§"/>
            </a:pPr>
            <a:endParaRPr lang="en-US" sz="2000" dirty="0" smtClean="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1143000"/>
            <a:ext cx="8229600" cy="4983163"/>
          </a:xfrm>
        </p:spPr>
        <p:txBody>
          <a:bodyPr>
            <a:noAutofit/>
          </a:bodyPr>
          <a:lstStyle/>
          <a:p>
            <a:pPr marL="342900" lvl="1" indent="-342900" algn="ctr">
              <a:buNone/>
            </a:pPr>
            <a:r>
              <a:rPr lang="en-US" sz="2600" b="1" dirty="0" smtClean="0"/>
              <a:t>2.5. Bar Associations and their role in Legal Profession</a:t>
            </a:r>
            <a:endParaRPr lang="en-US" sz="2600" dirty="0" smtClean="0"/>
          </a:p>
          <a:p>
            <a:pPr algn="just"/>
            <a:r>
              <a:rPr lang="en-US" sz="2400" dirty="0" smtClean="0"/>
              <a:t>Bar associations play a very crucial role in shaping the legal profession in the right way though their role differ in their strength</a:t>
            </a:r>
          </a:p>
          <a:p>
            <a:pPr lvl="0" algn="ctr">
              <a:buNone/>
            </a:pPr>
            <a:r>
              <a:rPr lang="en-US" sz="2400" b="1" dirty="0" smtClean="0"/>
              <a:t>A. American Bar Association (ABA)</a:t>
            </a:r>
            <a:endParaRPr lang="en-US" sz="2400" dirty="0" smtClean="0"/>
          </a:p>
          <a:p>
            <a:pPr algn="just"/>
            <a:r>
              <a:rPr lang="en-US" sz="2400" dirty="0" smtClean="0"/>
              <a:t>Founded in 1878, the ABA is committed to: </a:t>
            </a:r>
          </a:p>
          <a:p>
            <a:pPr lvl="1" algn="just"/>
            <a:r>
              <a:rPr lang="en-US" sz="2000" dirty="0" smtClean="0"/>
              <a:t>supporting the legal profession with </a:t>
            </a:r>
            <a:r>
              <a:rPr lang="en-US" sz="2400" dirty="0" smtClean="0">
                <a:solidFill>
                  <a:schemeClr val="tx2"/>
                </a:solidFill>
              </a:rPr>
              <a:t>practical resources </a:t>
            </a:r>
            <a:r>
              <a:rPr lang="en-US" sz="2000" dirty="0" smtClean="0"/>
              <a:t>for legal professionals while improving the administration of justice, </a:t>
            </a:r>
          </a:p>
          <a:p>
            <a:pPr lvl="1" algn="just"/>
            <a:r>
              <a:rPr lang="en-US" sz="2000" dirty="0" smtClean="0"/>
              <a:t>accrediting law schools, </a:t>
            </a:r>
          </a:p>
          <a:p>
            <a:pPr lvl="1" algn="just"/>
            <a:r>
              <a:rPr lang="en-US" sz="2000" dirty="0" smtClean="0"/>
              <a:t>establishing model ethical codes, and more.  </a:t>
            </a:r>
          </a:p>
          <a:p>
            <a:pPr algn="just"/>
            <a:r>
              <a:rPr lang="en-US" sz="2000" dirty="0" smtClean="0"/>
              <a:t>The American Bar Association is one of the world’s largest voluntary professional organizations, with over 400,000 members and more than 3,500 entities.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685800"/>
            <a:ext cx="8229600" cy="5943600"/>
          </a:xfrm>
        </p:spPr>
        <p:txBody>
          <a:bodyPr>
            <a:normAutofit fontScale="25000" lnSpcReduction="20000"/>
          </a:bodyPr>
          <a:lstStyle/>
          <a:p>
            <a:pPr marL="342900" lvl="1" indent="-342900" algn="ctr">
              <a:buNone/>
            </a:pPr>
            <a:r>
              <a:rPr lang="en-US" sz="9600" b="1" dirty="0" smtClean="0"/>
              <a:t>2.4. Bar Associations and their role in Legal Profession</a:t>
            </a:r>
            <a:endParaRPr lang="en-US" sz="9600" dirty="0" smtClean="0"/>
          </a:p>
          <a:p>
            <a:pPr lvl="0" algn="ctr">
              <a:buNone/>
            </a:pPr>
            <a:r>
              <a:rPr lang="en-US" sz="9600" b="1" dirty="0" smtClean="0"/>
              <a:t>A. American Bar Association (ABA) . . . Continued </a:t>
            </a:r>
            <a:endParaRPr lang="en-US" sz="9600" dirty="0" smtClean="0"/>
          </a:p>
          <a:p>
            <a:pPr algn="just"/>
            <a:r>
              <a:rPr lang="en-US" sz="9600" dirty="0" smtClean="0"/>
              <a:t>ABA has four goals: </a:t>
            </a:r>
          </a:p>
          <a:p>
            <a:pPr lvl="1" algn="just"/>
            <a:r>
              <a:rPr lang="en-US" sz="8800" b="1" dirty="0" smtClean="0"/>
              <a:t>serving members- </a:t>
            </a:r>
            <a:r>
              <a:rPr lang="en-US" sz="8800" dirty="0" smtClean="0"/>
              <a:t>professional growth and quality of life</a:t>
            </a:r>
          </a:p>
          <a:p>
            <a:pPr lvl="1" algn="just"/>
            <a:r>
              <a:rPr lang="en-US" sz="8800" b="1" dirty="0" smtClean="0"/>
              <a:t>improving the legal profession- </a:t>
            </a:r>
            <a:r>
              <a:rPr lang="en-US" sz="8800" dirty="0" smtClean="0"/>
              <a:t>legal education and ethical standards </a:t>
            </a:r>
          </a:p>
          <a:p>
            <a:pPr lvl="1" algn="just"/>
            <a:r>
              <a:rPr lang="en-US" sz="8800" b="1" dirty="0" smtClean="0"/>
              <a:t>eliminating bias and enhancing diversity- </a:t>
            </a:r>
            <a:r>
              <a:rPr lang="en-US" sz="8800" dirty="0" smtClean="0"/>
              <a:t>in the legal profession and the justice system </a:t>
            </a:r>
          </a:p>
          <a:p>
            <a:pPr lvl="1" algn="just"/>
            <a:r>
              <a:rPr lang="en-US" sz="8800" b="1" dirty="0" smtClean="0"/>
              <a:t>advancing the rule of law:</a:t>
            </a:r>
          </a:p>
          <a:p>
            <a:pPr lvl="2" algn="just"/>
            <a:r>
              <a:rPr lang="en-US" sz="8800" dirty="0" smtClean="0"/>
              <a:t>Increase public understanding of and respect for the rule of law</a:t>
            </a:r>
          </a:p>
          <a:p>
            <a:pPr lvl="2" algn="just"/>
            <a:r>
              <a:rPr lang="en-US" sz="8800" dirty="0" smtClean="0"/>
              <a:t>Hold governments accountable under law</a:t>
            </a:r>
          </a:p>
          <a:p>
            <a:pPr lvl="2" algn="just"/>
            <a:r>
              <a:rPr lang="en-US" sz="8800" dirty="0" smtClean="0"/>
              <a:t>Work for just laws, including human rights, and a fair legal process</a:t>
            </a:r>
          </a:p>
          <a:p>
            <a:pPr lvl="2" algn="just"/>
            <a:r>
              <a:rPr lang="en-US" sz="8800" dirty="0" smtClean="0"/>
              <a:t>Assure meaningful access to justice for all persons</a:t>
            </a:r>
          </a:p>
          <a:p>
            <a:pPr lvl="2" algn="just"/>
            <a:r>
              <a:rPr lang="en-US" sz="8800" dirty="0" smtClean="0"/>
              <a:t>Preserve the independence of the legal profession and the judiciary.</a:t>
            </a:r>
          </a:p>
          <a:p>
            <a:pPr algn="just"/>
            <a:r>
              <a:rPr lang="en-US" sz="8000" dirty="0" smtClean="0"/>
              <a:t>Since that first meeting, the ABA has played a formative role in the development of the profession of law in the United States. </a:t>
            </a:r>
          </a:p>
          <a:p>
            <a:pPr algn="just"/>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838200"/>
            <a:ext cx="8229600" cy="5715000"/>
          </a:xfrm>
        </p:spPr>
        <p:txBody>
          <a:bodyPr>
            <a:noAutofit/>
          </a:bodyPr>
          <a:lstStyle/>
          <a:p>
            <a:pPr marL="342900" lvl="1" indent="-342900" algn="ctr">
              <a:buNone/>
            </a:pPr>
            <a:r>
              <a:rPr lang="en-US" sz="2400" b="1" dirty="0" smtClean="0"/>
              <a:t>2.5. Bar Associations and their role in Legal Profession</a:t>
            </a:r>
            <a:endParaRPr lang="en-US" sz="2400" dirty="0" smtClean="0"/>
          </a:p>
          <a:p>
            <a:pPr lvl="0" algn="ctr">
              <a:buNone/>
            </a:pPr>
            <a:r>
              <a:rPr lang="en-US" sz="2400" b="1" dirty="0" smtClean="0"/>
              <a:t>B. Ethiopian Bar Association (EBA)</a:t>
            </a:r>
          </a:p>
          <a:p>
            <a:pPr lvl="0" algn="just"/>
            <a:r>
              <a:rPr lang="en-US" sz="2000" dirty="0" smtClean="0"/>
              <a:t>The Ethiopian Lawyers' Association (ELA) is a professional association of attorneys established with the aim of </a:t>
            </a:r>
            <a:r>
              <a:rPr lang="en-US" sz="2000" dirty="0" smtClean="0">
                <a:solidFill>
                  <a:schemeClr val="tx2"/>
                </a:solidFill>
              </a:rPr>
              <a:t>promoting the interest of its members </a:t>
            </a:r>
            <a:r>
              <a:rPr lang="en-US" sz="2000" dirty="0" smtClean="0"/>
              <a:t>and </a:t>
            </a:r>
            <a:r>
              <a:rPr lang="en-US" sz="2000" dirty="0" smtClean="0">
                <a:solidFill>
                  <a:schemeClr val="tx2"/>
                </a:solidFill>
              </a:rPr>
              <a:t>the development of the legal profession.</a:t>
            </a:r>
          </a:p>
          <a:p>
            <a:pPr lvl="0" algn="just"/>
            <a:r>
              <a:rPr lang="en-US" sz="2000" dirty="0" smtClean="0"/>
              <a:t>It also upholds rule of law, the independence of the judiciary, good governance and human rights.</a:t>
            </a:r>
          </a:p>
          <a:p>
            <a:pPr lvl="0" algn="just"/>
            <a:r>
              <a:rPr lang="en-US" sz="2000" dirty="0" smtClean="0"/>
              <a:t>Advocates' Welfare Association in 1965- Advocates' Association in 1966- Ethiopian Bar Association in 1967</a:t>
            </a:r>
          </a:p>
          <a:p>
            <a:pPr lvl="0" algn="just"/>
            <a:r>
              <a:rPr lang="en-US" sz="2000" b="1" dirty="0" smtClean="0"/>
              <a:t>Immediate Objectives:</a:t>
            </a:r>
          </a:p>
          <a:p>
            <a:pPr lvl="1" algn="just"/>
            <a:r>
              <a:rPr lang="en-US" sz="1800" dirty="0" smtClean="0"/>
              <a:t>Promote the participation of its members and activate the various organs of the Association</a:t>
            </a:r>
          </a:p>
          <a:p>
            <a:pPr lvl="1" algn="just"/>
            <a:r>
              <a:rPr lang="en-US" sz="1800" dirty="0" smtClean="0"/>
              <a:t>Provide legal assistance for those who are needy.</a:t>
            </a:r>
          </a:p>
          <a:p>
            <a:pPr lvl="1" algn="just"/>
            <a:r>
              <a:rPr lang="en-US" sz="1800" dirty="0" smtClean="0"/>
              <a:t>Perform sustained activities to create public awareness about the Association, law and human rights.</a:t>
            </a:r>
          </a:p>
          <a:p>
            <a:pPr lvl="1" algn="just"/>
            <a:r>
              <a:rPr lang="en-US" sz="1800" dirty="0" smtClean="0"/>
              <a:t>Make the necessary preparations for the construction of the future office of the Association.</a:t>
            </a:r>
          </a:p>
          <a:p>
            <a:pPr lvl="0" algn="just"/>
            <a:endParaRPr lang="en-US" sz="2000" dirty="0" smtClean="0"/>
          </a:p>
          <a:p>
            <a:pPr lvl="0" algn="just"/>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800" b="1" u="sng" dirty="0" smtClean="0"/>
              <a:t>CHAPTER TWO</a:t>
            </a:r>
            <a:r>
              <a:rPr lang="en-US" sz="2800" dirty="0" smtClean="0"/>
              <a:t/>
            </a:r>
            <a:br>
              <a:rPr lang="en-US" sz="2800" dirty="0" smtClean="0"/>
            </a:br>
            <a:r>
              <a:rPr lang="en-US" sz="2800" b="1" u="sng" dirty="0" smtClean="0"/>
              <a:t>THE LEGAL PROFESSION . . . Continued </a:t>
            </a:r>
            <a:endParaRPr lang="en-US" sz="2800" dirty="0"/>
          </a:p>
        </p:txBody>
      </p:sp>
      <p:sp>
        <p:nvSpPr>
          <p:cNvPr id="3" name="Content Placeholder 2"/>
          <p:cNvSpPr>
            <a:spLocks noGrp="1"/>
          </p:cNvSpPr>
          <p:nvPr>
            <p:ph idx="1"/>
          </p:nvPr>
        </p:nvSpPr>
        <p:spPr>
          <a:xfrm>
            <a:off x="457200" y="1295400"/>
            <a:ext cx="8229600" cy="4830763"/>
          </a:xfrm>
        </p:spPr>
        <p:txBody>
          <a:bodyPr>
            <a:normAutofit lnSpcReduction="10000"/>
          </a:bodyPr>
          <a:lstStyle/>
          <a:p>
            <a:pPr marL="342900" lvl="1" indent="-342900" algn="ctr">
              <a:buNone/>
            </a:pPr>
            <a:r>
              <a:rPr lang="en-US" sz="2400" b="1" dirty="0" smtClean="0"/>
              <a:t>2.5. Bar Associations and their role in Legal Profession</a:t>
            </a:r>
            <a:endParaRPr lang="en-US" sz="2400" dirty="0" smtClean="0"/>
          </a:p>
          <a:p>
            <a:pPr lvl="0" algn="ctr">
              <a:buNone/>
            </a:pPr>
            <a:r>
              <a:rPr lang="en-US" sz="2400" b="1" dirty="0" smtClean="0"/>
              <a:t>B. Ethiopian Bar Association (EBA)</a:t>
            </a:r>
          </a:p>
          <a:p>
            <a:pPr lvl="0" algn="just"/>
            <a:r>
              <a:rPr lang="en-US" sz="2000" dirty="0" smtClean="0"/>
              <a:t>The Ethiopian Bar Association (EBA) conducts three activities: </a:t>
            </a:r>
          </a:p>
          <a:p>
            <a:pPr lvl="1" algn="just"/>
            <a:r>
              <a:rPr lang="en-US" sz="2000" dirty="0" smtClean="0"/>
              <a:t>Continuing Legal Education (CLE), </a:t>
            </a:r>
          </a:p>
          <a:p>
            <a:pPr lvl="1" algn="just"/>
            <a:r>
              <a:rPr lang="en-US" sz="2000" dirty="0" smtClean="0"/>
              <a:t>Law Reform and Advocacy, and </a:t>
            </a:r>
          </a:p>
          <a:p>
            <a:pPr lvl="1" algn="just"/>
            <a:r>
              <a:rPr lang="en-US" sz="2000" dirty="0" smtClean="0"/>
              <a:t>Legal Aid Services.</a:t>
            </a:r>
          </a:p>
          <a:p>
            <a:pPr algn="just"/>
            <a:r>
              <a:rPr lang="en-US" sz="2400" dirty="0" smtClean="0"/>
              <a:t>EBA has about 533 members out of which only 24 are women lawyers.</a:t>
            </a:r>
          </a:p>
          <a:p>
            <a:pPr algn="just"/>
            <a:r>
              <a:rPr lang="en-US" sz="2400" dirty="0" smtClean="0"/>
              <a:t>It participates in different governmental committees </a:t>
            </a:r>
          </a:p>
          <a:p>
            <a:pPr algn="just"/>
            <a:r>
              <a:rPr lang="en-US" sz="2400" dirty="0" smtClean="0"/>
              <a:t>The role of EBA is insignificant when compared with the role ABA plays.</a:t>
            </a:r>
          </a:p>
          <a:p>
            <a:pPr algn="just"/>
            <a:r>
              <a:rPr lang="en-US" sz="2400" dirty="0" smtClean="0"/>
              <a:t>EBA does not control conducts of advocates independently</a:t>
            </a:r>
            <a:endParaRPr lang="en-US" sz="24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CHAPTER TWO</a:t>
            </a:r>
            <a:r>
              <a:rPr lang="en-US" sz="2400" dirty="0" smtClean="0"/>
              <a:t/>
            </a:r>
            <a:br>
              <a:rPr lang="en-US" sz="2400" dirty="0" smtClean="0"/>
            </a:br>
            <a:r>
              <a:rPr lang="en-US" sz="2400" b="1" u="sng" dirty="0" smtClean="0"/>
              <a:t>THE LEGAL PROFESSION . . . Continued </a:t>
            </a:r>
            <a:endParaRPr lang="en-US" sz="2400" dirty="0"/>
          </a:p>
        </p:txBody>
      </p:sp>
      <p:sp>
        <p:nvSpPr>
          <p:cNvPr id="3" name="Content Placeholder 2"/>
          <p:cNvSpPr>
            <a:spLocks noGrp="1"/>
          </p:cNvSpPr>
          <p:nvPr>
            <p:ph idx="1"/>
          </p:nvPr>
        </p:nvSpPr>
        <p:spPr>
          <a:xfrm>
            <a:off x="457200" y="1066800"/>
            <a:ext cx="8229600" cy="5059363"/>
          </a:xfrm>
        </p:spPr>
        <p:txBody>
          <a:bodyPr>
            <a:noAutofit/>
          </a:bodyPr>
          <a:lstStyle/>
          <a:p>
            <a:pPr algn="ctr">
              <a:buNone/>
            </a:pPr>
            <a:r>
              <a:rPr lang="en-US" sz="2400" b="1" dirty="0" smtClean="0"/>
              <a:t>2.6. Unauthorized Practice in  Legal Profession</a:t>
            </a:r>
          </a:p>
          <a:p>
            <a:pPr algn="just"/>
            <a:r>
              <a:rPr lang="en-US" sz="2000" dirty="0" smtClean="0"/>
              <a:t>The common practice of law includes counseling, drafting legal documents and representation.</a:t>
            </a:r>
          </a:p>
          <a:p>
            <a:pPr algn="just"/>
            <a:r>
              <a:rPr lang="en-US" sz="2000" dirty="0" smtClean="0"/>
              <a:t>According to Garner unauthorized practice of law is “the practice of law by a person, typically a non lawyer, who has not been licensed or admitted to practice law in a given jurisdiction”</a:t>
            </a:r>
          </a:p>
          <a:p>
            <a:pPr algn="just"/>
            <a:r>
              <a:rPr lang="en-US" sz="2000" dirty="0" smtClean="0"/>
              <a:t>Uslegal.com: the unauthorized practice of law is the practice of law by persons or entities not authorized to practice law pursuant to state law</a:t>
            </a:r>
          </a:p>
          <a:p>
            <a:pPr algn="just"/>
            <a:r>
              <a:rPr lang="en-US" sz="2000" dirty="0" smtClean="0"/>
              <a:t>unauthorized practice of law vs. legal malpractice</a:t>
            </a:r>
          </a:p>
          <a:p>
            <a:pPr algn="just"/>
            <a:r>
              <a:rPr lang="en-US" sz="2000" dirty="0" smtClean="0"/>
              <a:t>Art 3(1) of  the FCALRP No. 199/2000 requires any Ethiopian who wishes to render advocacy services to hold a license. </a:t>
            </a:r>
          </a:p>
          <a:p>
            <a:pPr algn="just"/>
            <a:r>
              <a:rPr lang="en-US" sz="2000" dirty="0" smtClean="0"/>
              <a:t>Art 31 of this proc makes unauthorized practice of law a criminal act punishable with fine or imprisonment of 6 months – 2 years</a:t>
            </a:r>
          </a:p>
          <a:p>
            <a:pPr algn="just"/>
            <a:r>
              <a:rPr lang="en-US" sz="2000" dirty="0" smtClean="0"/>
              <a:t>Is the legal advice and preparing pleading claims and defenses by persons without license (</a:t>
            </a:r>
            <a:r>
              <a:rPr lang="en-US" sz="2000" dirty="0" err="1" smtClean="0"/>
              <a:t>የህዝብ</a:t>
            </a:r>
            <a:r>
              <a:rPr lang="en-US" sz="2000" dirty="0" smtClean="0"/>
              <a:t> </a:t>
            </a:r>
            <a:r>
              <a:rPr lang="en-US" sz="2000" dirty="0" err="1" smtClean="0"/>
              <a:t>ጉዳዮች</a:t>
            </a:r>
            <a:r>
              <a:rPr lang="en-US" sz="2000" dirty="0" smtClean="0"/>
              <a:t> </a:t>
            </a:r>
            <a:r>
              <a:rPr lang="en-US" sz="2000" dirty="0" err="1" smtClean="0"/>
              <a:t>ፀሓፊዎች</a:t>
            </a:r>
            <a:r>
              <a:rPr lang="en-US" sz="2000" dirty="0" smtClean="0"/>
              <a:t>) unauthorized practice of law? </a:t>
            </a:r>
            <a:endParaRPr lang="en-US" sz="20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a:t>
            </a:r>
            <a:r>
              <a:rPr lang="en-US" sz="2800" dirty="0" smtClean="0"/>
              <a:t/>
            </a:r>
            <a:br>
              <a:rPr lang="en-US" sz="2800" dirty="0" smtClean="0"/>
            </a:br>
            <a:endParaRPr lang="en-US" sz="2800" dirty="0"/>
          </a:p>
        </p:txBody>
      </p:sp>
      <p:sp>
        <p:nvSpPr>
          <p:cNvPr id="3" name="Content Placeholder 2"/>
          <p:cNvSpPr>
            <a:spLocks noGrp="1"/>
          </p:cNvSpPr>
          <p:nvPr>
            <p:ph idx="1"/>
          </p:nvPr>
        </p:nvSpPr>
        <p:spPr>
          <a:xfrm>
            <a:off x="762000" y="1295400"/>
            <a:ext cx="7924800" cy="5105400"/>
          </a:xfrm>
        </p:spPr>
        <p:txBody>
          <a:bodyPr>
            <a:noAutofit/>
          </a:bodyPr>
          <a:lstStyle/>
          <a:p>
            <a:pPr algn="just">
              <a:buNone/>
            </a:pPr>
            <a:r>
              <a:rPr lang="en-US" sz="2400" b="1" dirty="0" smtClean="0"/>
              <a:t>Matters of Discussion:</a:t>
            </a:r>
          </a:p>
          <a:p>
            <a:pPr algn="just">
              <a:buNone/>
            </a:pPr>
            <a:r>
              <a:rPr lang="en-US" sz="2400" dirty="0" smtClean="0"/>
              <a:t>3.1. Ethical Duties of Judges in Judicial Activities:</a:t>
            </a:r>
          </a:p>
          <a:p>
            <a:pPr lvl="1" algn="just">
              <a:buFont typeface="Wingdings" pitchFamily="2" charset="2"/>
              <a:buChar char="ü"/>
            </a:pPr>
            <a:r>
              <a:rPr lang="en-US" sz="2400" dirty="0" smtClean="0">
                <a:solidFill>
                  <a:schemeClr val="tx2"/>
                </a:solidFill>
              </a:rPr>
              <a:t>Independence, Accountability, Impartiality, Competence and Diligence, Equality, Civility among Judges, propriety </a:t>
            </a:r>
          </a:p>
          <a:p>
            <a:pPr algn="just">
              <a:buNone/>
            </a:pPr>
            <a:r>
              <a:rPr lang="en-US" sz="2400" dirty="0" smtClean="0"/>
              <a:t>3.2. Ethical Requirements of Judges in Extra-Judicial Activities</a:t>
            </a:r>
          </a:p>
          <a:p>
            <a:pPr algn="just">
              <a:buNone/>
            </a:pPr>
            <a:r>
              <a:rPr lang="en-US" sz="2400" dirty="0" smtClean="0"/>
              <a:t>3.3. Appointment, Withdrawal, Transfer, Promotion and Removal of Judges: </a:t>
            </a:r>
          </a:p>
          <a:p>
            <a:pPr lvl="1" algn="just">
              <a:buFont typeface="Wingdings" pitchFamily="2" charset="2"/>
              <a:buChar char="ü"/>
            </a:pPr>
            <a:r>
              <a:rPr lang="en-US" sz="2400" dirty="0" smtClean="0">
                <a:solidFill>
                  <a:schemeClr val="tx2"/>
                </a:solidFill>
              </a:rPr>
              <a:t>cases of US, India and Ethiopia </a:t>
            </a:r>
          </a:p>
          <a:p>
            <a:pPr algn="just">
              <a:buNone/>
            </a:pPr>
            <a:r>
              <a:rPr lang="en-US" sz="2400" dirty="0" smtClean="0"/>
              <a:t>3.4. Factors that Influence Ethical Requirement of Judges</a:t>
            </a:r>
          </a:p>
          <a:p>
            <a:pPr algn="just">
              <a:buNone/>
            </a:pPr>
            <a:r>
              <a:rPr lang="en-US" sz="2400" dirty="0" smtClean="0"/>
              <a:t>3.5. Liability (Responsibility) for Breach of Rules of Conduct:</a:t>
            </a:r>
          </a:p>
          <a:p>
            <a:pPr lvl="1" algn="just">
              <a:buFont typeface="Wingdings" pitchFamily="2" charset="2"/>
              <a:buChar char="ü"/>
            </a:pPr>
            <a:r>
              <a:rPr lang="en-US" sz="2400" dirty="0" smtClean="0">
                <a:solidFill>
                  <a:schemeClr val="tx2"/>
                </a:solidFill>
              </a:rPr>
              <a:t>Disciplinary Agency, Disciplinary Measures, and Proceedings</a:t>
            </a:r>
          </a:p>
          <a:p>
            <a:pPr algn="just"/>
            <a:endParaRPr lang="en-US" sz="2400" dirty="0" smtClean="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219200"/>
            <a:ext cx="8229600" cy="4906963"/>
          </a:xfrm>
        </p:spPr>
        <p:txBody>
          <a:bodyPr>
            <a:normAutofit fontScale="85000" lnSpcReduction="20000"/>
          </a:bodyPr>
          <a:lstStyle/>
          <a:p>
            <a:pPr lvl="0" algn="ctr">
              <a:buFont typeface="Wingdings" pitchFamily="2" charset="2"/>
              <a:buChar char="v"/>
            </a:pPr>
            <a:r>
              <a:rPr lang="en-US" b="1" dirty="0" smtClean="0"/>
              <a:t>Unit objectives:</a:t>
            </a:r>
          </a:p>
          <a:p>
            <a:pPr lvl="0" algn="just"/>
            <a:r>
              <a:rPr lang="en-US" dirty="0" smtClean="0"/>
              <a:t>Discuss ethical duty of judges in and out of court</a:t>
            </a:r>
          </a:p>
          <a:p>
            <a:pPr lvl="0" algn="just"/>
            <a:r>
              <a:rPr lang="en-US" dirty="0" smtClean="0"/>
              <a:t>Explain the process of judicial appointment, withdrawal and removal. </a:t>
            </a:r>
          </a:p>
          <a:p>
            <a:pPr lvl="0" algn="just"/>
            <a:r>
              <a:rPr lang="en-US" dirty="0" smtClean="0"/>
              <a:t>Identify factors that affect ethical duties of judges</a:t>
            </a:r>
          </a:p>
          <a:p>
            <a:pPr lvl="0" algn="just"/>
            <a:r>
              <a:rPr lang="en-US" dirty="0" smtClean="0"/>
              <a:t>Analyze Rules of Judicial Ethics to identify their violations</a:t>
            </a:r>
          </a:p>
          <a:p>
            <a:pPr lvl="0" algn="just"/>
            <a:r>
              <a:rPr lang="en-US" dirty="0" smtClean="0"/>
              <a:t>Identify rationales behind Rules of Judicial Ethics</a:t>
            </a:r>
          </a:p>
          <a:p>
            <a:pPr lvl="0" algn="just"/>
            <a:r>
              <a:rPr lang="en-US" dirty="0" smtClean="0"/>
              <a:t>Identify purposes that Rules of Judicial Ethics serve</a:t>
            </a:r>
          </a:p>
          <a:p>
            <a:pPr lvl="0" algn="just"/>
            <a:r>
              <a:rPr lang="en-US" dirty="0" smtClean="0"/>
              <a:t>Determine liability for judges who violate Rules of Judicial Ethics</a:t>
            </a:r>
          </a:p>
          <a:p>
            <a:pPr lvl="0" algn="just"/>
            <a:r>
              <a:rPr lang="en-US" dirty="0" smtClean="0">
                <a:solidFill>
                  <a:schemeClr val="tx2"/>
                </a:solidFill>
              </a:rPr>
              <a:t>Respect Rules  and Principles of Judicial Ethics</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990600"/>
            <a:ext cx="8229600" cy="5486400"/>
          </a:xfrm>
        </p:spPr>
        <p:txBody>
          <a:bodyPr>
            <a:noAutofit/>
          </a:bodyPr>
          <a:lstStyle/>
          <a:p>
            <a:pPr algn="ctr">
              <a:buNone/>
            </a:pPr>
            <a:r>
              <a:rPr lang="en-US" sz="2400" b="1" dirty="0" smtClean="0"/>
              <a:t>3.1. Ethical Duties of Judges in Judicial Activities</a:t>
            </a:r>
          </a:p>
          <a:p>
            <a:pPr algn="just"/>
            <a:r>
              <a:rPr lang="en-US" sz="2300" dirty="0" smtClean="0"/>
              <a:t>Judges are charged with the ultimate decision over life, freedoms, rights, duties and property of citizens </a:t>
            </a:r>
            <a:r>
              <a:rPr lang="en-US" sz="2000" dirty="0" smtClean="0"/>
              <a:t>[preamble to the Basic Principles on the Independence of the Judiciary 1985(Milan Principles)]</a:t>
            </a:r>
            <a:endParaRPr lang="en-US" sz="2300" dirty="0" smtClean="0"/>
          </a:p>
          <a:p>
            <a:pPr algn="just"/>
            <a:endParaRPr lang="en-US" sz="2300" dirty="0" smtClean="0"/>
          </a:p>
          <a:p>
            <a:pPr algn="just"/>
            <a:r>
              <a:rPr lang="en-US" sz="2300" dirty="0" smtClean="0"/>
              <a:t>A competent, independent and impartial judiciary is essential </a:t>
            </a:r>
          </a:p>
          <a:p>
            <a:pPr lvl="1" algn="just"/>
            <a:r>
              <a:rPr lang="en-US" sz="2400" dirty="0" smtClean="0"/>
              <a:t>to fulfill its role in upholding constitutionalism and the rule of law. </a:t>
            </a:r>
            <a:r>
              <a:rPr lang="en-US" sz="1800" dirty="0" smtClean="0"/>
              <a:t>[THE BANGALORE PRINCIPLES OF JUDICIAL CONDUCT 2002 (Bangalore Principles)]</a:t>
            </a:r>
            <a:endParaRPr lang="en-US" sz="2400" dirty="0" smtClean="0"/>
          </a:p>
          <a:p>
            <a:pPr lvl="1" algn="just"/>
            <a:r>
              <a:rPr lang="en-US" sz="2400" dirty="0" smtClean="0"/>
              <a:t>To enhance economic growth </a:t>
            </a:r>
            <a:r>
              <a:rPr lang="en-US" sz="2000" dirty="0" smtClean="0"/>
              <a:t>[World Bank Group, 2001]</a:t>
            </a:r>
            <a:endParaRPr lang="en-US" sz="2400" dirty="0" smtClean="0"/>
          </a:p>
          <a:p>
            <a:pPr algn="just"/>
            <a:endParaRPr lang="en-US" sz="2300" dirty="0" smtClean="0"/>
          </a:p>
          <a:p>
            <a:pPr algn="just"/>
            <a:r>
              <a:rPr lang="en-US" sz="2300" dirty="0" smtClean="0"/>
              <a:t>Do judges have ethical duties with regard to their activities?</a:t>
            </a:r>
          </a:p>
          <a:p>
            <a:pPr algn="just">
              <a:buNone/>
            </a:pPr>
            <a:r>
              <a:rPr lang="en-US" sz="2000" b="1" dirty="0" smtClean="0"/>
              <a:t> </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066800"/>
            <a:ext cx="8382000" cy="5638800"/>
          </a:xfrm>
        </p:spPr>
        <p:txBody>
          <a:bodyPr>
            <a:normAutofit fontScale="47500" lnSpcReduction="20000"/>
          </a:bodyPr>
          <a:lstStyle/>
          <a:p>
            <a:pPr algn="ctr">
              <a:buNone/>
            </a:pPr>
            <a:r>
              <a:rPr lang="en-US" sz="4200" b="1" dirty="0" smtClean="0"/>
              <a:t>3.1. Ethical Duties of Judges in Judicial Activities</a:t>
            </a:r>
          </a:p>
          <a:p>
            <a:pPr algn="just">
              <a:buFont typeface="Wingdings" pitchFamily="2" charset="2"/>
              <a:buChar char="v"/>
            </a:pPr>
            <a:r>
              <a:rPr lang="en-US" sz="4200" dirty="0" smtClean="0"/>
              <a:t>Bangalore Principles has identified six core principles of judicial conduct:</a:t>
            </a:r>
          </a:p>
          <a:p>
            <a:pPr lvl="1" algn="just"/>
            <a:r>
              <a:rPr lang="en-US" sz="4200" dirty="0" smtClean="0"/>
              <a:t>Independence, Impartiality, Integrity, Propriety, Equality, Competence and Diligence </a:t>
            </a:r>
          </a:p>
          <a:p>
            <a:pPr>
              <a:buNone/>
            </a:pPr>
            <a:r>
              <a:rPr lang="en-US" sz="4200" b="1" dirty="0" smtClean="0"/>
              <a:t>ABA Model Code of Judicial Conduct:</a:t>
            </a:r>
          </a:p>
          <a:p>
            <a:r>
              <a:rPr lang="en-US" sz="4200" b="1" dirty="0" smtClean="0">
                <a:hlinkClick r:id="rId2"/>
              </a:rPr>
              <a:t>CANON 1</a:t>
            </a:r>
            <a:r>
              <a:rPr lang="en-US" sz="4200" dirty="0" smtClean="0"/>
              <a:t/>
            </a:r>
            <a:br>
              <a:rPr lang="en-US" sz="4200" dirty="0" smtClean="0"/>
            </a:br>
            <a:r>
              <a:rPr lang="en-US" sz="4200" dirty="0" smtClean="0"/>
              <a:t>A judge shall uphold and promote the independence, integrity, and impartiality of the judiciary, and shall avoid impropriety and the appearance of impropriety.</a:t>
            </a:r>
          </a:p>
          <a:p>
            <a:r>
              <a:rPr lang="en-US" sz="4200" b="1" dirty="0" smtClean="0">
                <a:hlinkClick r:id="rId3"/>
              </a:rPr>
              <a:t>CANON 2</a:t>
            </a:r>
            <a:r>
              <a:rPr lang="en-US" sz="4200" dirty="0" smtClean="0">
                <a:hlinkClick r:id="rId3"/>
              </a:rPr>
              <a:t> </a:t>
            </a:r>
            <a:r>
              <a:rPr lang="en-US" sz="4200" dirty="0" smtClean="0"/>
              <a:t/>
            </a:r>
            <a:br>
              <a:rPr lang="en-US" sz="4200" dirty="0" smtClean="0"/>
            </a:br>
            <a:r>
              <a:rPr lang="en-US" sz="4200" dirty="0" smtClean="0"/>
              <a:t>A judge shall perform the duties of judicial office impartially, competently, and diligently.</a:t>
            </a:r>
          </a:p>
          <a:p>
            <a:r>
              <a:rPr lang="en-US" sz="4200" b="1" dirty="0" smtClean="0">
                <a:hlinkClick r:id="rId4"/>
              </a:rPr>
              <a:t>CANON 3</a:t>
            </a:r>
            <a:r>
              <a:rPr lang="en-US" sz="4200" dirty="0" smtClean="0">
                <a:hlinkClick r:id="rId4"/>
              </a:rPr>
              <a:t> </a:t>
            </a:r>
            <a:r>
              <a:rPr lang="en-US" sz="4200" dirty="0" smtClean="0"/>
              <a:t/>
            </a:r>
            <a:br>
              <a:rPr lang="en-US" sz="4200" dirty="0" smtClean="0"/>
            </a:br>
            <a:r>
              <a:rPr lang="en-US" sz="4200" dirty="0" smtClean="0"/>
              <a:t>A judge shall conduct the judge’s personal and extrajudicial activities to minimize the risk of conflict with the obligations of judicial office.</a:t>
            </a:r>
          </a:p>
          <a:p>
            <a:r>
              <a:rPr lang="en-US" sz="4200" b="1" dirty="0" smtClean="0">
                <a:hlinkClick r:id="rId5"/>
              </a:rPr>
              <a:t>CANON 4</a:t>
            </a:r>
            <a:r>
              <a:rPr lang="en-US" sz="4200" dirty="0" smtClean="0">
                <a:hlinkClick r:id="rId5"/>
              </a:rPr>
              <a:t> </a:t>
            </a:r>
            <a:r>
              <a:rPr lang="en-US" sz="4200" dirty="0" smtClean="0"/>
              <a:t/>
            </a:r>
            <a:br>
              <a:rPr lang="en-US" sz="4200" dirty="0" smtClean="0"/>
            </a:br>
            <a:r>
              <a:rPr lang="en-US" sz="4200" dirty="0" smtClean="0"/>
              <a:t>A judge or candidate for judicial office shall not engage in political or campaign activity that is inconsistent with the independence, integrity, or impartiality of the judiciary.</a:t>
            </a:r>
            <a:endParaRPr lang="en-US" sz="3800" dirty="0" smtClean="0"/>
          </a:p>
          <a:p>
            <a:pPr>
              <a:buFont typeface="Wingdings" pitchFamily="2" charset="2"/>
              <a:buChar char="v"/>
            </a:pPr>
            <a:r>
              <a:rPr lang="en-US" sz="4200" dirty="0" smtClean="0"/>
              <a:t>Accountability not identified in both Bangalore Principles and in ABA Rules? </a:t>
            </a:r>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914400"/>
            <a:ext cx="8229600" cy="5715000"/>
          </a:xfrm>
        </p:spPr>
        <p:txBody>
          <a:bodyPr>
            <a:normAutofit fontScale="32500" lnSpcReduction="20000"/>
          </a:bodyPr>
          <a:lstStyle/>
          <a:p>
            <a:pPr algn="ctr">
              <a:buNone/>
            </a:pPr>
            <a:r>
              <a:rPr lang="en-US" sz="7400" b="1" dirty="0" smtClean="0"/>
              <a:t>3.1. Ethical Duties of Judges in Judicial Activities</a:t>
            </a:r>
          </a:p>
          <a:p>
            <a:pPr algn="ctr">
              <a:buNone/>
            </a:pPr>
            <a:r>
              <a:rPr lang="en-US" sz="7400" b="1" dirty="0" smtClean="0"/>
              <a:t>3.1.1. Independence</a:t>
            </a:r>
            <a:endParaRPr lang="en-US" sz="9800" dirty="0" smtClean="0"/>
          </a:p>
          <a:p>
            <a:pPr algn="just"/>
            <a:r>
              <a:rPr lang="en-US" sz="7400" dirty="0" smtClean="0"/>
              <a:t>What is judicial independence?</a:t>
            </a:r>
            <a:endParaRPr lang="en-US" sz="3100" dirty="0" smtClean="0"/>
          </a:p>
          <a:p>
            <a:pPr algn="just"/>
            <a:r>
              <a:rPr lang="en-US" sz="7400" dirty="0" smtClean="0"/>
              <a:t>Judicial Independence means independence of the judiciary from the other branches of government and independence of judges in performing their judicial activities. </a:t>
            </a:r>
          </a:p>
          <a:p>
            <a:pPr algn="just"/>
            <a:r>
              <a:rPr lang="en-US" sz="7400" dirty="0" smtClean="0"/>
              <a:t>Aspects of Judicial Independence </a:t>
            </a:r>
            <a:r>
              <a:rPr lang="en-US" sz="4300" dirty="0" smtClean="0"/>
              <a:t>[JOHN FEREJOHN]:</a:t>
            </a:r>
            <a:endParaRPr lang="en-US" sz="7400" dirty="0" smtClean="0"/>
          </a:p>
          <a:p>
            <a:pPr lvl="1" algn="just"/>
            <a:r>
              <a:rPr lang="en-US" sz="7400" dirty="0" smtClean="0"/>
              <a:t>internal (or normative) aspect-</a:t>
            </a:r>
          </a:p>
          <a:p>
            <a:pPr lvl="2" algn="just"/>
            <a:r>
              <a:rPr lang="en-US" sz="4900" dirty="0" smtClean="0"/>
              <a:t> </a:t>
            </a:r>
            <a:r>
              <a:rPr lang="en-US" sz="6200" dirty="0" smtClean="0"/>
              <a:t>judges should be autonomous moral agents to carry out their public duties independent of venal or ideological considerations. Character of judges </a:t>
            </a:r>
            <a:endParaRPr lang="en-US" sz="4900" dirty="0" smtClean="0"/>
          </a:p>
          <a:p>
            <a:pPr lvl="1" algn="just"/>
            <a:r>
              <a:rPr lang="en-US" sz="7400" dirty="0" smtClean="0"/>
              <a:t>and external (or institutional) aspect- </a:t>
            </a:r>
          </a:p>
          <a:p>
            <a:pPr lvl="2" algn="just"/>
            <a:r>
              <a:rPr lang="en-US" sz="6200" dirty="0" smtClean="0"/>
              <a:t>Providing institutional shields against the threats or temptations that might come their way. </a:t>
            </a:r>
            <a:endParaRPr lang="en-US" sz="14800" dirty="0" smtClean="0">
              <a:solidFill>
                <a:schemeClr val="tx2"/>
              </a:solidFill>
            </a:endParaRPr>
          </a:p>
          <a:p>
            <a:pPr lvl="3" algn="just"/>
            <a:r>
              <a:rPr lang="en-US" sz="6200" dirty="0" smtClean="0">
                <a:solidFill>
                  <a:schemeClr val="tx2"/>
                </a:solidFill>
              </a:rPr>
              <a:t>Institutional Independence </a:t>
            </a:r>
            <a:r>
              <a:rPr lang="en-US" sz="6200" dirty="0" smtClean="0"/>
              <a:t>– freedom from the other branches </a:t>
            </a:r>
          </a:p>
          <a:p>
            <a:pPr lvl="3" algn="just"/>
            <a:r>
              <a:rPr lang="en-US" sz="6200" dirty="0" smtClean="0">
                <a:solidFill>
                  <a:schemeClr val="tx2"/>
                </a:solidFill>
              </a:rPr>
              <a:t>Individual Independence-</a:t>
            </a:r>
            <a:r>
              <a:rPr lang="en-US" sz="6200" dirty="0" smtClean="0"/>
              <a:t> Security of tenure and financial security guarantee decisional independence</a:t>
            </a:r>
            <a:endParaRPr lang="en-US" sz="5500" dirty="0" smtClean="0"/>
          </a:p>
          <a:p>
            <a:pPr algn="just"/>
            <a:endParaRPr lang="en-US" sz="2800" dirty="0" smtClean="0"/>
          </a:p>
          <a:p>
            <a:pPr algn="just"/>
            <a:endParaRPr lang="en-US" sz="2400" dirty="0" smtClean="0"/>
          </a:p>
          <a:p>
            <a:pPr algn="just"/>
            <a:endParaRPr lang="en-US"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371600"/>
            <a:ext cx="8229600" cy="4754563"/>
          </a:xfrm>
        </p:spPr>
        <p:txBody>
          <a:bodyPr>
            <a:normAutofit fontScale="92500" lnSpcReduction="10000"/>
          </a:bodyPr>
          <a:lstStyle/>
          <a:p>
            <a:pPr algn="ctr">
              <a:buNone/>
            </a:pPr>
            <a:r>
              <a:rPr lang="en-US" sz="2800" b="1" dirty="0" smtClean="0"/>
              <a:t>3.1. Ethical Duties of Judges in Judicial Activities</a:t>
            </a:r>
          </a:p>
          <a:p>
            <a:pPr algn="ctr">
              <a:buNone/>
            </a:pPr>
            <a:r>
              <a:rPr lang="en-US" sz="2800" b="1" dirty="0" smtClean="0"/>
              <a:t>3.1.1. Independence . . . Continued </a:t>
            </a:r>
          </a:p>
          <a:p>
            <a:pPr algn="just"/>
            <a:r>
              <a:rPr lang="en-US" sz="2800" dirty="0" smtClean="0"/>
              <a:t>Three characteristics of a truly independent judiciary:</a:t>
            </a:r>
          </a:p>
          <a:p>
            <a:pPr lvl="1" algn="just"/>
            <a:endParaRPr lang="en-US" sz="2400" dirty="0" smtClean="0"/>
          </a:p>
          <a:p>
            <a:pPr lvl="1" algn="just"/>
            <a:r>
              <a:rPr lang="en-US" sz="2600" dirty="0" smtClean="0"/>
              <a:t>First, it is impartial. Judicial decisions are not influenced by a judge’s personal interest in the outcome of a case.</a:t>
            </a:r>
          </a:p>
          <a:p>
            <a:pPr lvl="1" algn="just"/>
            <a:endParaRPr lang="en-US" sz="2600" dirty="0" smtClean="0"/>
          </a:p>
          <a:p>
            <a:pPr lvl="1" algn="just"/>
            <a:r>
              <a:rPr lang="en-US" sz="2600" dirty="0" smtClean="0"/>
              <a:t>Second, judicial decisions, once rendered are respected.</a:t>
            </a:r>
          </a:p>
          <a:p>
            <a:pPr lvl="1" algn="just"/>
            <a:endParaRPr lang="en-US" sz="2600" dirty="0" smtClean="0"/>
          </a:p>
          <a:p>
            <a:pPr lvl="1" algn="just"/>
            <a:r>
              <a:rPr lang="en-US" sz="2600" dirty="0" smtClean="0"/>
              <a:t>Third, the judiciary is free from interference. Parties to a case, or others with an interest in its outcome, cannot influence the judge’s decision. </a:t>
            </a:r>
            <a:r>
              <a:rPr lang="en-US" sz="1900" dirty="0" smtClean="0"/>
              <a:t>[World Bank Group, 2001]</a:t>
            </a:r>
            <a:endParaRPr lang="en-US" sz="2600" dirty="0" smtClean="0"/>
          </a:p>
          <a:p>
            <a:pPr algn="just"/>
            <a:endParaRPr lang="en-US" sz="2800" dirty="0" smtClean="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066800"/>
            <a:ext cx="8229600" cy="5486400"/>
          </a:xfrm>
        </p:spPr>
        <p:txBody>
          <a:bodyPr>
            <a:normAutofit/>
          </a:bodyPr>
          <a:lstStyle/>
          <a:p>
            <a:pPr algn="ctr">
              <a:buNone/>
            </a:pPr>
            <a:r>
              <a:rPr lang="en-US" sz="2400" b="1" dirty="0" smtClean="0"/>
              <a:t>3.1. Ethical Duties of Judges in Judicial Activities</a:t>
            </a:r>
          </a:p>
          <a:p>
            <a:pPr algn="ctr">
              <a:buNone/>
            </a:pPr>
            <a:r>
              <a:rPr lang="en-US" sz="2400" b="1" dirty="0" smtClean="0"/>
              <a:t>3.1.1. Independence . . . Continued </a:t>
            </a:r>
            <a:endParaRPr lang="en-US" sz="1200" b="1" dirty="0" smtClean="0"/>
          </a:p>
          <a:p>
            <a:pPr algn="just"/>
            <a:r>
              <a:rPr lang="en-US" sz="2800" dirty="0" smtClean="0"/>
              <a:t>Independence from whom?</a:t>
            </a:r>
          </a:p>
          <a:p>
            <a:pPr lvl="1" algn="just"/>
            <a:r>
              <a:rPr lang="en-US" sz="2400" dirty="0" smtClean="0"/>
              <a:t>Insulating judges from officials of other branches of government is often taken to be the most important aspect of judicial independence</a:t>
            </a:r>
            <a:r>
              <a:rPr lang="en-US" sz="2000" dirty="0" smtClean="0"/>
              <a:t>. </a:t>
            </a:r>
            <a:r>
              <a:rPr lang="en-US" sz="1900" dirty="0" smtClean="0"/>
              <a:t>[World Bank Group, 2001]:</a:t>
            </a:r>
            <a:endParaRPr lang="en-US" sz="2000" dirty="0" smtClean="0"/>
          </a:p>
          <a:p>
            <a:pPr algn="just"/>
            <a:r>
              <a:rPr lang="en-US" sz="2400" dirty="0" smtClean="0"/>
              <a:t>Why?</a:t>
            </a:r>
          </a:p>
          <a:p>
            <a:pPr lvl="1" algn="just"/>
            <a:r>
              <a:rPr lang="en-US" sz="2200" dirty="0" smtClean="0"/>
              <a:t>Government poses perhaps the most serious threat to judicial independence for two reasons: </a:t>
            </a:r>
          </a:p>
          <a:p>
            <a:pPr lvl="2" algn="just"/>
            <a:r>
              <a:rPr lang="en-US" sz="2200" dirty="0" smtClean="0"/>
              <a:t>it has a potential interest in the outcome of myriad cases, and </a:t>
            </a:r>
          </a:p>
          <a:p>
            <a:pPr lvl="2" algn="just"/>
            <a:r>
              <a:rPr lang="en-US" sz="2200" dirty="0" smtClean="0"/>
              <a:t>it has so much potential power over judges.</a:t>
            </a:r>
            <a:r>
              <a:rPr lang="en-US" dirty="0" smtClean="0"/>
              <a:t> </a:t>
            </a:r>
            <a:r>
              <a:rPr lang="en-US" sz="1600" dirty="0" smtClean="0"/>
              <a:t>[World Bank Group, 2001]:</a:t>
            </a:r>
            <a:endParaRPr lang="en-US" sz="2800" dirty="0" smtClean="0"/>
          </a:p>
          <a:p>
            <a:endParaRPr lang="en-US" dirty="0" smtClean="0"/>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000" b="1" u="sng" dirty="0" smtClean="0"/>
              <a:t/>
            </a:r>
            <a:br>
              <a:rPr lang="en-US" sz="2000" b="1" u="sng" dirty="0" smtClean="0"/>
            </a:br>
            <a:r>
              <a:rPr lang="en-US" sz="2000" b="1" u="sng" dirty="0" smtClean="0"/>
              <a:t>CHAPTER THREE</a:t>
            </a:r>
            <a:r>
              <a:rPr lang="en-US" sz="2000" dirty="0" smtClean="0"/>
              <a:t/>
            </a:r>
            <a:br>
              <a:rPr lang="en-US" sz="2000" dirty="0" smtClean="0"/>
            </a:br>
            <a:r>
              <a:rPr lang="en-US" sz="2000" b="1" u="sng" dirty="0" smtClean="0"/>
              <a:t>JUDICIAL ETHICS . . . Continued </a:t>
            </a:r>
            <a:r>
              <a:rPr lang="en-US" sz="2000" dirty="0" smtClean="0"/>
              <a:t/>
            </a:r>
            <a:br>
              <a:rPr lang="en-US" sz="2000" dirty="0" smtClean="0"/>
            </a:br>
            <a:endParaRPr lang="en-US" sz="2000" dirty="0"/>
          </a:p>
        </p:txBody>
      </p:sp>
      <p:sp>
        <p:nvSpPr>
          <p:cNvPr id="3" name="Content Placeholder 2"/>
          <p:cNvSpPr>
            <a:spLocks noGrp="1"/>
          </p:cNvSpPr>
          <p:nvPr>
            <p:ph idx="1"/>
          </p:nvPr>
        </p:nvSpPr>
        <p:spPr>
          <a:xfrm>
            <a:off x="228600" y="990600"/>
            <a:ext cx="8610600" cy="5715000"/>
          </a:xfrm>
        </p:spPr>
        <p:txBody>
          <a:bodyPr>
            <a:normAutofit fontScale="70000" lnSpcReduction="20000"/>
          </a:bodyPr>
          <a:lstStyle/>
          <a:p>
            <a:pPr algn="ctr">
              <a:buNone/>
            </a:pPr>
            <a:r>
              <a:rPr lang="en-US" sz="3400" b="1" dirty="0" smtClean="0"/>
              <a:t>3.1. Ethical Duties of Judges in Judicial Activities</a:t>
            </a:r>
          </a:p>
          <a:p>
            <a:pPr algn="ctr">
              <a:buNone/>
            </a:pPr>
            <a:r>
              <a:rPr lang="en-US" sz="3400" b="1" dirty="0" smtClean="0"/>
              <a:t>3.1.1. Independence . . . Continued </a:t>
            </a:r>
            <a:endParaRPr lang="en-US" b="1" dirty="0" smtClean="0"/>
          </a:p>
          <a:p>
            <a:pPr algn="just"/>
            <a:r>
              <a:rPr lang="en-US" sz="3400" dirty="0" smtClean="0"/>
              <a:t>Is judicial independence </a:t>
            </a:r>
            <a:r>
              <a:rPr lang="en-US" sz="3400" dirty="0" smtClean="0">
                <a:solidFill>
                  <a:schemeClr val="accent1"/>
                </a:solidFill>
              </a:rPr>
              <a:t>a means or an end</a:t>
            </a:r>
            <a:r>
              <a:rPr lang="en-US" sz="3400" dirty="0" smtClean="0"/>
              <a:t>?</a:t>
            </a:r>
          </a:p>
          <a:p>
            <a:pPr algn="just"/>
            <a:r>
              <a:rPr lang="en-US" sz="3400" dirty="0" smtClean="0"/>
              <a:t>It’s a means not an end by itself; it has no intrinsic value </a:t>
            </a:r>
          </a:p>
          <a:p>
            <a:pPr algn="just"/>
            <a:r>
              <a:rPr lang="en-US" sz="3400" dirty="0" smtClean="0"/>
              <a:t>End: </a:t>
            </a:r>
          </a:p>
          <a:p>
            <a:pPr lvl="1" algn="just"/>
            <a:r>
              <a:rPr lang="en-US" sz="3400" dirty="0" smtClean="0"/>
              <a:t>Right of fair and public hearing by </a:t>
            </a:r>
            <a:r>
              <a:rPr lang="en-US" sz="3400" u="sng" dirty="0" smtClean="0"/>
              <a:t>a competent, independent and impartial tribunal</a:t>
            </a:r>
            <a:r>
              <a:rPr lang="en-US" sz="3400" dirty="0" smtClean="0"/>
              <a:t> established by law. </a:t>
            </a:r>
            <a:r>
              <a:rPr lang="en-US" sz="2900" dirty="0" smtClean="0"/>
              <a:t>[ICCPR 14(1)]</a:t>
            </a:r>
            <a:endParaRPr lang="en-US" sz="3400" dirty="0" smtClean="0"/>
          </a:p>
          <a:p>
            <a:pPr lvl="1" algn="just"/>
            <a:r>
              <a:rPr lang="en-US" sz="3400" dirty="0" smtClean="0"/>
              <a:t>“the right to be tried by an </a:t>
            </a:r>
            <a:r>
              <a:rPr lang="en-US" sz="3400" u="sng" dirty="0" smtClean="0"/>
              <a:t>independent and impartial tribunal</a:t>
            </a:r>
            <a:r>
              <a:rPr lang="en-US" sz="3400" dirty="0" smtClean="0"/>
              <a:t> is an absolute right that may suffer no exception” </a:t>
            </a:r>
            <a:r>
              <a:rPr lang="en-US" sz="2900" dirty="0" smtClean="0"/>
              <a:t>[The Human Rights Committee]</a:t>
            </a:r>
            <a:endParaRPr lang="en-US" sz="3400" dirty="0" smtClean="0"/>
          </a:p>
          <a:p>
            <a:pPr lvl="1" algn="just"/>
            <a:r>
              <a:rPr lang="en-US" sz="3400" dirty="0" smtClean="0"/>
              <a:t>Judicial independence is a pre-requisite to the rule of law and a fundamental guarantee of a fair trial. </a:t>
            </a:r>
            <a:r>
              <a:rPr lang="en-US" sz="2600" dirty="0" smtClean="0"/>
              <a:t>[Value 1 of Bangalore Principles]</a:t>
            </a:r>
            <a:endParaRPr lang="en-US" sz="3400" dirty="0" smtClean="0"/>
          </a:p>
          <a:p>
            <a:pPr lvl="1" algn="just"/>
            <a:r>
              <a:rPr lang="en-US" sz="3400" dirty="0" smtClean="0"/>
              <a:t>Shielding decision making in individual cases from undue external influences and providing for a genuinely impartial arbiter. </a:t>
            </a:r>
            <a:r>
              <a:rPr lang="en-US" sz="2900" dirty="0" smtClean="0"/>
              <a:t>Michal </a:t>
            </a:r>
            <a:r>
              <a:rPr lang="en-US" sz="2900" dirty="0" err="1" smtClean="0"/>
              <a:t>Bobek</a:t>
            </a:r>
            <a:endParaRPr lang="en-US" sz="3400" dirty="0" smtClean="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143000"/>
            <a:ext cx="8229600" cy="4983163"/>
          </a:xfrm>
        </p:spPr>
        <p:txBody>
          <a:bodyPr>
            <a:normAutofit fontScale="32500" lnSpcReduction="20000"/>
          </a:bodyPr>
          <a:lstStyle/>
          <a:p>
            <a:pPr algn="ctr">
              <a:buNone/>
            </a:pPr>
            <a:r>
              <a:rPr lang="en-US" sz="5500" b="1" dirty="0" smtClean="0"/>
              <a:t>3.1. Ethical Duties of Judges in Judicial Activities</a:t>
            </a:r>
          </a:p>
          <a:p>
            <a:pPr algn="ctr">
              <a:buNone/>
            </a:pPr>
            <a:r>
              <a:rPr lang="en-US" sz="7400" b="1" dirty="0" smtClean="0"/>
              <a:t>3.1.1. Independence</a:t>
            </a:r>
            <a:r>
              <a:rPr lang="en-US" sz="5500" b="1" dirty="0" smtClean="0"/>
              <a:t> . . . Continued </a:t>
            </a:r>
            <a:endParaRPr lang="en-US" sz="5500" dirty="0" smtClean="0"/>
          </a:p>
          <a:p>
            <a:pPr algn="just"/>
            <a:r>
              <a:rPr lang="en-US" sz="6200" dirty="0" smtClean="0"/>
              <a:t>“A judge must have the freedom to decide cases based on the facts and the law—not based on </a:t>
            </a:r>
            <a:r>
              <a:rPr lang="en-US" sz="6200" dirty="0" smtClean="0">
                <a:solidFill>
                  <a:srgbClr val="FF0000"/>
                </a:solidFill>
              </a:rPr>
              <a:t>public opinion, the views of special interest groups or even a judge’s own personal beliefs.</a:t>
            </a:r>
            <a:r>
              <a:rPr lang="en-US" sz="6200" dirty="0" smtClean="0"/>
              <a:t> The </a:t>
            </a:r>
            <a:r>
              <a:rPr lang="en-US" sz="6200" dirty="0" smtClean="0">
                <a:solidFill>
                  <a:schemeClr val="accent1"/>
                </a:solidFill>
              </a:rPr>
              <a:t>right of every citizen to a fair trial</a:t>
            </a:r>
            <a:r>
              <a:rPr lang="en-US" sz="6200" dirty="0" smtClean="0"/>
              <a:t> is a cornerstone of our democracy. Without judicial independence and impartiality, this right would be compromised.”</a:t>
            </a:r>
            <a:r>
              <a:rPr lang="en-US" sz="4500" dirty="0" smtClean="0"/>
              <a:t> </a:t>
            </a:r>
            <a:r>
              <a:rPr lang="en-US" sz="5500" dirty="0" smtClean="0"/>
              <a:t>[</a:t>
            </a:r>
            <a:r>
              <a:rPr lang="en-US" sz="4900" dirty="0" smtClean="0"/>
              <a:t>League of Women Voters of Ohio]</a:t>
            </a:r>
            <a:endParaRPr lang="en-US" sz="6200" dirty="0" smtClean="0"/>
          </a:p>
          <a:p>
            <a:pPr algn="just">
              <a:buFont typeface="Wingdings" pitchFamily="2" charset="2"/>
              <a:buChar char="v"/>
            </a:pPr>
            <a:endParaRPr lang="en-US" sz="4400" b="1" dirty="0" smtClean="0">
              <a:solidFill>
                <a:srgbClr val="00B050"/>
              </a:solidFill>
            </a:endParaRPr>
          </a:p>
          <a:p>
            <a:pPr algn="just">
              <a:buFont typeface="Wingdings" pitchFamily="2" charset="2"/>
              <a:buChar char="v"/>
            </a:pPr>
            <a:r>
              <a:rPr lang="en-US" sz="6200" b="1" dirty="0" smtClean="0">
                <a:solidFill>
                  <a:srgbClr val="00B050"/>
                </a:solidFill>
              </a:rPr>
              <a:t>Ultimate end: Fair trial and Rule of Law </a:t>
            </a:r>
          </a:p>
          <a:p>
            <a:pPr algn="just"/>
            <a:endParaRPr lang="en-US" sz="3600" dirty="0" smtClean="0"/>
          </a:p>
          <a:p>
            <a:pPr algn="just"/>
            <a:r>
              <a:rPr lang="en-US" sz="6200" dirty="0" smtClean="0"/>
              <a:t>Is judicial independence right or duty?</a:t>
            </a:r>
          </a:p>
          <a:p>
            <a:pPr lvl="1" algn="just"/>
            <a:r>
              <a:rPr lang="en-US" sz="6200" dirty="0" smtClean="0"/>
              <a:t>A judge shall uphold and exemplify judicial independence in both its individual and institutional aspects. </a:t>
            </a:r>
            <a:r>
              <a:rPr lang="en-US" sz="5500" dirty="0" smtClean="0"/>
              <a:t>[Value One of Bangalore Principles]</a:t>
            </a:r>
            <a:endParaRPr lang="en-US" sz="6200" dirty="0" smtClean="0"/>
          </a:p>
          <a:p>
            <a:pPr lvl="2" algn="just"/>
            <a:r>
              <a:rPr lang="en-US" sz="6200" dirty="0" smtClean="0"/>
              <a:t>See for the application in Bangalore Principles and Milan Principles.</a:t>
            </a:r>
          </a:p>
          <a:p>
            <a:pPr lvl="1" algn="just"/>
            <a:r>
              <a:rPr lang="en-US" sz="6200" dirty="0" smtClean="0"/>
              <a:t>The judiciary, and the judge, has the duty to maintain judicial independence</a:t>
            </a:r>
            <a:endParaRPr lang="en-US" sz="5000" dirty="0" smtClean="0"/>
          </a:p>
          <a:p>
            <a:pPr algn="just"/>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066800"/>
            <a:ext cx="8229600" cy="5562600"/>
          </a:xfrm>
        </p:spPr>
        <p:txBody>
          <a:bodyPr>
            <a:normAutofit fontScale="92500" lnSpcReduction="10000"/>
          </a:bodyPr>
          <a:lstStyle/>
          <a:p>
            <a:pPr algn="ctr">
              <a:buNone/>
            </a:pPr>
            <a:r>
              <a:rPr lang="en-US" sz="2400" b="1" dirty="0" smtClean="0"/>
              <a:t>3.1. Ethical Duties of Judges in Judicial Activities</a:t>
            </a:r>
          </a:p>
          <a:p>
            <a:pPr algn="ctr">
              <a:buNone/>
            </a:pPr>
            <a:r>
              <a:rPr lang="en-US" sz="2400" b="1" dirty="0" smtClean="0"/>
              <a:t>3.1.1. Independence . . . Continued</a:t>
            </a:r>
            <a:r>
              <a:rPr lang="en-US" sz="3600" b="1" dirty="0" smtClean="0"/>
              <a:t> </a:t>
            </a:r>
            <a:endParaRPr lang="en-US" sz="3600" dirty="0" smtClean="0"/>
          </a:p>
          <a:p>
            <a:r>
              <a:rPr lang="en-US" sz="2600" dirty="0" smtClean="0"/>
              <a:t>Judicial independence under the FDRE Constitution:</a:t>
            </a:r>
          </a:p>
          <a:p>
            <a:pPr lvl="1" algn="just"/>
            <a:r>
              <a:rPr lang="en-US" sz="2000" dirty="0" smtClean="0"/>
              <a:t>Art. 78 (1) “An independent judiciary is established by this Constitution.”</a:t>
            </a:r>
          </a:p>
          <a:p>
            <a:pPr lvl="1" algn="just"/>
            <a:r>
              <a:rPr lang="en-US" sz="2000" dirty="0" smtClean="0"/>
              <a:t>Art 79: </a:t>
            </a:r>
          </a:p>
          <a:p>
            <a:pPr lvl="2" algn="just"/>
            <a:r>
              <a:rPr lang="en-US" sz="2000" dirty="0" smtClean="0"/>
              <a:t>(2) Courts of any level shall be free from any interference of influence of any </a:t>
            </a:r>
            <a:r>
              <a:rPr lang="en-US" sz="2000" dirty="0" smtClean="0">
                <a:solidFill>
                  <a:srgbClr val="FF0000"/>
                </a:solidFill>
              </a:rPr>
              <a:t>governmental body,</a:t>
            </a:r>
            <a:r>
              <a:rPr lang="en-US" sz="2000" dirty="0" smtClean="0"/>
              <a:t> </a:t>
            </a:r>
            <a:r>
              <a:rPr lang="en-US" sz="2000" dirty="0" smtClean="0">
                <a:solidFill>
                  <a:srgbClr val="FF0000"/>
                </a:solidFill>
              </a:rPr>
              <a:t>government official</a:t>
            </a:r>
            <a:r>
              <a:rPr lang="en-US" sz="2000" dirty="0" smtClean="0"/>
              <a:t> or from </a:t>
            </a:r>
            <a:r>
              <a:rPr lang="en-US" sz="2000" dirty="0" smtClean="0">
                <a:solidFill>
                  <a:srgbClr val="FF0000"/>
                </a:solidFill>
              </a:rPr>
              <a:t>any other source</a:t>
            </a:r>
            <a:r>
              <a:rPr lang="en-US" sz="2000" dirty="0" smtClean="0"/>
              <a:t>. </a:t>
            </a:r>
          </a:p>
          <a:p>
            <a:pPr lvl="3" algn="just"/>
            <a:r>
              <a:rPr lang="en-US" sz="1900" dirty="0" err="1" smtClean="0"/>
              <a:t>በየተኛውም</a:t>
            </a:r>
            <a:r>
              <a:rPr lang="en-US" sz="1900" dirty="0" smtClean="0"/>
              <a:t> </a:t>
            </a:r>
            <a:r>
              <a:rPr lang="en-US" sz="1900" dirty="0" err="1" smtClean="0"/>
              <a:t>ደረጃ</a:t>
            </a:r>
            <a:r>
              <a:rPr lang="en-US" sz="1900" dirty="0" smtClean="0"/>
              <a:t> </a:t>
            </a:r>
            <a:r>
              <a:rPr lang="en-US" sz="1900" dirty="0" err="1" smtClean="0"/>
              <a:t>የሚገኝ</a:t>
            </a:r>
            <a:r>
              <a:rPr lang="en-US" sz="1900" dirty="0" smtClean="0"/>
              <a:t> </a:t>
            </a:r>
            <a:r>
              <a:rPr lang="en-US" sz="1900" dirty="0" err="1" smtClean="0"/>
              <a:t>የዳኝነት</a:t>
            </a:r>
            <a:r>
              <a:rPr lang="en-US" sz="1900" dirty="0" smtClean="0"/>
              <a:t> </a:t>
            </a:r>
            <a:r>
              <a:rPr lang="en-US" sz="1900" dirty="0" err="1" smtClean="0"/>
              <a:t>አካል</a:t>
            </a:r>
            <a:r>
              <a:rPr lang="en-US" sz="1900" dirty="0" smtClean="0"/>
              <a:t> </a:t>
            </a:r>
            <a:r>
              <a:rPr lang="en-US" sz="1900" dirty="0" err="1" smtClean="0"/>
              <a:t>ከማንኛውም</a:t>
            </a:r>
            <a:r>
              <a:rPr lang="en-US" sz="1900" dirty="0" smtClean="0"/>
              <a:t> </a:t>
            </a:r>
            <a:r>
              <a:rPr lang="en-US" sz="1900" dirty="0" err="1" smtClean="0"/>
              <a:t>የመንግስት</a:t>
            </a:r>
            <a:r>
              <a:rPr lang="en-US" sz="1900" dirty="0" smtClean="0"/>
              <a:t> </a:t>
            </a:r>
            <a:r>
              <a:rPr lang="en-US" sz="1900" dirty="0" err="1" smtClean="0"/>
              <a:t>አካል</a:t>
            </a:r>
            <a:r>
              <a:rPr lang="en-US" sz="1900" dirty="0" smtClean="0"/>
              <a:t>፣ </a:t>
            </a:r>
            <a:r>
              <a:rPr lang="en-US" sz="1900" dirty="0" err="1" smtClean="0"/>
              <a:t>ከማንኛውም</a:t>
            </a:r>
            <a:r>
              <a:rPr lang="en-US" sz="1900" dirty="0" smtClean="0"/>
              <a:t> </a:t>
            </a:r>
            <a:r>
              <a:rPr lang="en-US" sz="1900" dirty="0" err="1" smtClean="0"/>
              <a:t>ባለስልጣንም</a:t>
            </a:r>
            <a:r>
              <a:rPr lang="en-US" sz="1900" dirty="0" smtClean="0"/>
              <a:t> </a:t>
            </a:r>
            <a:r>
              <a:rPr lang="en-US" sz="1900" dirty="0" err="1" smtClean="0"/>
              <a:t>ሆነ</a:t>
            </a:r>
            <a:r>
              <a:rPr lang="en-US" sz="1900" dirty="0" smtClean="0"/>
              <a:t> </a:t>
            </a:r>
            <a:r>
              <a:rPr lang="en-US" sz="1900" dirty="0" err="1" smtClean="0"/>
              <a:t>ከማንኛውም</a:t>
            </a:r>
            <a:r>
              <a:rPr lang="en-US" sz="1900" dirty="0" smtClean="0"/>
              <a:t> </a:t>
            </a:r>
            <a:r>
              <a:rPr lang="en-US" sz="1900" dirty="0" err="1" smtClean="0"/>
              <a:t>ሌላ</a:t>
            </a:r>
            <a:r>
              <a:rPr lang="en-US" sz="1900" dirty="0" smtClean="0"/>
              <a:t> </a:t>
            </a:r>
            <a:r>
              <a:rPr lang="en-US" sz="1900" dirty="0" err="1" smtClean="0"/>
              <a:t>ተፅዕኖ</a:t>
            </a:r>
            <a:r>
              <a:rPr lang="en-US" sz="1900" dirty="0" smtClean="0"/>
              <a:t> </a:t>
            </a:r>
            <a:r>
              <a:rPr lang="en-US" sz="1900" dirty="0" err="1" smtClean="0"/>
              <a:t>ነፃ</a:t>
            </a:r>
            <a:r>
              <a:rPr lang="en-US" sz="1900" dirty="0" smtClean="0"/>
              <a:t> </a:t>
            </a:r>
            <a:r>
              <a:rPr lang="en-US" sz="1900" dirty="0" err="1" smtClean="0"/>
              <a:t>ነው</a:t>
            </a:r>
            <a:r>
              <a:rPr lang="en-US" sz="1900" dirty="0" smtClean="0"/>
              <a:t>፡፡</a:t>
            </a:r>
          </a:p>
          <a:p>
            <a:pPr lvl="2" algn="just"/>
            <a:r>
              <a:rPr lang="en-US" sz="2000" dirty="0" smtClean="0"/>
              <a:t>(3) Judges shall exercise their functions in full independence and shall be directed solely by the law. </a:t>
            </a:r>
          </a:p>
          <a:p>
            <a:pPr lvl="3" algn="just"/>
            <a:r>
              <a:rPr lang="en-US" sz="1900" dirty="0" err="1" smtClean="0"/>
              <a:t>ዳኞች</a:t>
            </a:r>
            <a:r>
              <a:rPr lang="en-US" sz="1900" dirty="0" smtClean="0"/>
              <a:t> </a:t>
            </a:r>
            <a:r>
              <a:rPr lang="en-US" sz="1900" dirty="0" err="1" smtClean="0"/>
              <a:t>የዳኝነት</a:t>
            </a:r>
            <a:r>
              <a:rPr lang="en-US" sz="1900" dirty="0" smtClean="0"/>
              <a:t> </a:t>
            </a:r>
            <a:r>
              <a:rPr lang="en-US" sz="1900" dirty="0" err="1" smtClean="0"/>
              <a:t>ተግባራቸውን</a:t>
            </a:r>
            <a:r>
              <a:rPr lang="en-US" sz="1900" dirty="0" smtClean="0"/>
              <a:t> </a:t>
            </a:r>
            <a:r>
              <a:rPr lang="en-US" sz="1900" dirty="0" err="1" smtClean="0"/>
              <a:t>በሙሉ</a:t>
            </a:r>
            <a:r>
              <a:rPr lang="en-US" sz="1900" dirty="0" smtClean="0"/>
              <a:t> </a:t>
            </a:r>
            <a:r>
              <a:rPr lang="en-US" sz="1900" dirty="0" err="1" smtClean="0"/>
              <a:t>ነፃነት</a:t>
            </a:r>
            <a:r>
              <a:rPr lang="en-US" sz="1900" dirty="0" smtClean="0"/>
              <a:t> </a:t>
            </a:r>
            <a:r>
              <a:rPr lang="en-US" sz="1900" dirty="0" err="1" smtClean="0"/>
              <a:t>ያከናውናሉ</a:t>
            </a:r>
            <a:r>
              <a:rPr lang="en-US" sz="1900" dirty="0" smtClean="0"/>
              <a:t>፡፡ </a:t>
            </a:r>
            <a:r>
              <a:rPr lang="en-US" sz="1900" dirty="0" err="1" smtClean="0"/>
              <a:t>ከህግ</a:t>
            </a:r>
            <a:r>
              <a:rPr lang="en-US" sz="1900" dirty="0" smtClean="0"/>
              <a:t> </a:t>
            </a:r>
            <a:r>
              <a:rPr lang="en-US" sz="1900" dirty="0" err="1" smtClean="0"/>
              <a:t>በስተቀር</a:t>
            </a:r>
            <a:r>
              <a:rPr lang="en-US" sz="1900" dirty="0" smtClean="0"/>
              <a:t> </a:t>
            </a:r>
            <a:r>
              <a:rPr lang="en-US" sz="1900" dirty="0" err="1" smtClean="0"/>
              <a:t>በሌላ</a:t>
            </a:r>
            <a:r>
              <a:rPr lang="en-US" sz="1900" dirty="0" smtClean="0"/>
              <a:t> </a:t>
            </a:r>
            <a:r>
              <a:rPr lang="en-US" sz="1900" dirty="0" err="1" smtClean="0"/>
              <a:t>ሁኔታ</a:t>
            </a:r>
            <a:r>
              <a:rPr lang="en-US" sz="1900" dirty="0" smtClean="0"/>
              <a:t> </a:t>
            </a:r>
            <a:r>
              <a:rPr lang="en-US" sz="1900" dirty="0" err="1" smtClean="0"/>
              <a:t>አይመሩም</a:t>
            </a:r>
            <a:r>
              <a:rPr lang="en-US" sz="1900" dirty="0" smtClean="0"/>
              <a:t>፡፡</a:t>
            </a:r>
          </a:p>
          <a:p>
            <a:pPr lvl="2" algn="just"/>
            <a:r>
              <a:rPr lang="en-US" sz="2300" dirty="0" smtClean="0"/>
              <a:t>(4)Security of tenure- JACs decision to remove a judge on the grounds of </a:t>
            </a:r>
            <a:r>
              <a:rPr lang="en-US" sz="2300" dirty="0" smtClean="0">
                <a:solidFill>
                  <a:schemeClr val="accent5">
                    <a:lumMod val="75000"/>
                  </a:schemeClr>
                </a:solidFill>
              </a:rPr>
              <a:t>disciplinary measure</a:t>
            </a:r>
            <a:r>
              <a:rPr lang="en-US" sz="2300" dirty="0" smtClean="0"/>
              <a:t> or </a:t>
            </a:r>
            <a:r>
              <a:rPr lang="en-US" sz="2300" dirty="0" smtClean="0">
                <a:solidFill>
                  <a:schemeClr val="tx2">
                    <a:lumMod val="60000"/>
                    <a:lumOff val="40000"/>
                  </a:schemeClr>
                </a:solidFill>
              </a:rPr>
              <a:t>gross incompetence or inefficiency </a:t>
            </a:r>
            <a:r>
              <a:rPr lang="en-US" sz="2300" dirty="0" smtClean="0"/>
              <a:t>or </a:t>
            </a:r>
            <a:r>
              <a:rPr lang="en-US" sz="2300" dirty="0" smtClean="0">
                <a:solidFill>
                  <a:srgbClr val="7030A0"/>
                </a:solidFill>
              </a:rPr>
              <a:t>illness </a:t>
            </a:r>
            <a:r>
              <a:rPr lang="en-US" sz="2300" dirty="0" smtClean="0"/>
              <a:t>+ </a:t>
            </a:r>
            <a:r>
              <a:rPr lang="en-US" sz="2300" dirty="0" smtClean="0">
                <a:solidFill>
                  <a:srgbClr val="C00000"/>
                </a:solidFill>
              </a:rPr>
              <a:t>HPRs approval.</a:t>
            </a:r>
            <a:r>
              <a:rPr lang="en-US" sz="2300" dirty="0" smtClean="0"/>
              <a:t> </a:t>
            </a:r>
          </a:p>
          <a:p>
            <a:pPr lvl="3" algn="just"/>
            <a:endParaRPr lang="en-US" sz="1900" dirty="0" smtClean="0"/>
          </a:p>
          <a:p>
            <a:pPr algn="just"/>
            <a:endParaRPr lang="en-US" sz="2800" dirty="0" smtClean="0"/>
          </a:p>
          <a:p>
            <a:pPr lvl="1" algn="just"/>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371600"/>
            <a:ext cx="8229600" cy="5105400"/>
          </a:xfrm>
        </p:spPr>
        <p:txBody>
          <a:bodyPr>
            <a:normAutofit fontScale="92500" lnSpcReduction="10000"/>
          </a:bodyPr>
          <a:lstStyle/>
          <a:p>
            <a:pPr algn="ctr">
              <a:buNone/>
            </a:pPr>
            <a:r>
              <a:rPr lang="en-US" sz="2400" b="1" dirty="0" smtClean="0"/>
              <a:t>3.1. Ethical Duties of Judges in Judicial Activities</a:t>
            </a:r>
          </a:p>
          <a:p>
            <a:pPr algn="ctr">
              <a:buNone/>
            </a:pPr>
            <a:r>
              <a:rPr lang="en-US" sz="2400" b="1" dirty="0" smtClean="0"/>
              <a:t>3.1.2. Accountability </a:t>
            </a:r>
            <a:endParaRPr lang="en-US" sz="2400" dirty="0" smtClean="0"/>
          </a:p>
          <a:p>
            <a:pPr algn="just"/>
            <a:r>
              <a:rPr lang="en-US" sz="2400" dirty="0" smtClean="0"/>
              <a:t>Is accountability a duty?</a:t>
            </a:r>
          </a:p>
          <a:p>
            <a:pPr algn="just"/>
            <a:r>
              <a:rPr lang="en-US" sz="2400" dirty="0" smtClean="0"/>
              <a:t>Why the FDRE Constitution talks about Judicial Independence instead of Judicial Independence and Accountability?</a:t>
            </a:r>
          </a:p>
          <a:p>
            <a:pPr algn="just"/>
            <a:r>
              <a:rPr lang="en-US" sz="2400" dirty="0" smtClean="0"/>
              <a:t>Accountability of any public official has been declared under Art. 12 of FDRE Constitution </a:t>
            </a:r>
          </a:p>
          <a:p>
            <a:pPr lvl="1"/>
            <a:r>
              <a:rPr lang="en-US" sz="2200" dirty="0" smtClean="0"/>
              <a:t>Art 12 (2) “Any public official or an elected representative is accountable for any failure in official duties.”</a:t>
            </a:r>
          </a:p>
          <a:p>
            <a:pPr algn="just"/>
            <a:r>
              <a:rPr lang="en-US" sz="2400" dirty="0" smtClean="0"/>
              <a:t>Are judges accountable? How?</a:t>
            </a:r>
          </a:p>
          <a:p>
            <a:pPr algn="just"/>
            <a:r>
              <a:rPr lang="en-US" sz="2400" dirty="0" smtClean="0"/>
              <a:t>English Justice Learned Hand. Donaldson says:</a:t>
            </a:r>
          </a:p>
          <a:p>
            <a:pPr lvl="1" algn="just"/>
            <a:r>
              <a:rPr lang="en-US" sz="2400" dirty="0" smtClean="0"/>
              <a:t>“Judges are without constituency and answerable to no one except </a:t>
            </a:r>
            <a:r>
              <a:rPr lang="en-US" sz="2400" dirty="0" smtClean="0">
                <a:solidFill>
                  <a:schemeClr val="tx2"/>
                </a:solidFill>
              </a:rPr>
              <a:t>to their consciences and the law”</a:t>
            </a:r>
          </a:p>
          <a:p>
            <a:pPr algn="just">
              <a:buFont typeface="Wingdings" pitchFamily="2" charset="2"/>
              <a:buChar char="v"/>
            </a:pPr>
            <a:r>
              <a:rPr lang="en-US" sz="2600" dirty="0" smtClean="0"/>
              <a:t>How do you see this statement?</a:t>
            </a:r>
          </a:p>
          <a:p>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295400"/>
            <a:ext cx="8229600" cy="5181600"/>
          </a:xfrm>
        </p:spPr>
        <p:txBody>
          <a:bodyPr>
            <a:normAutofit fontScale="92500"/>
          </a:bodyPr>
          <a:lstStyle/>
          <a:p>
            <a:pPr algn="ctr">
              <a:buNone/>
            </a:pPr>
            <a:r>
              <a:rPr lang="en-US" sz="2400" b="1" dirty="0" smtClean="0"/>
              <a:t>3.1. Ethical Duties of Judges in Judicial Activities</a:t>
            </a:r>
          </a:p>
          <a:p>
            <a:pPr algn="ctr">
              <a:buNone/>
            </a:pPr>
            <a:r>
              <a:rPr lang="en-US" sz="2400" b="1" dirty="0" smtClean="0"/>
              <a:t>3.1.2. Accountability . . . Continued  </a:t>
            </a:r>
          </a:p>
          <a:p>
            <a:r>
              <a:rPr lang="en-US" sz="2400" dirty="0" smtClean="0"/>
              <a:t>According to Michael Kirby, Judges are accountable on three grounds:</a:t>
            </a:r>
          </a:p>
          <a:p>
            <a:pPr lvl="1" algn="just"/>
            <a:r>
              <a:rPr lang="en-US" sz="2400" dirty="0" smtClean="0"/>
              <a:t>First, judges render decision in public. </a:t>
            </a:r>
          </a:p>
          <a:p>
            <a:pPr lvl="1" algn="just"/>
            <a:r>
              <a:rPr lang="en-US" sz="2400" dirty="0" smtClean="0"/>
              <a:t>Second, decision of judges is reviewed by the appellate court. </a:t>
            </a:r>
          </a:p>
          <a:p>
            <a:pPr lvl="1" algn="just"/>
            <a:r>
              <a:rPr lang="en-US" sz="2400" dirty="0" smtClean="0"/>
              <a:t>Finally, Judges are appointed by executives or legislature who is accountable to the people.</a:t>
            </a:r>
          </a:p>
          <a:p>
            <a:pPr algn="just"/>
            <a:r>
              <a:rPr lang="en-US" sz="2400" dirty="0" smtClean="0"/>
              <a:t>Michael Kirby also identified criticism and comment on judgments as accountability mechanisms.</a:t>
            </a:r>
          </a:p>
          <a:p>
            <a:pPr algn="just"/>
            <a:r>
              <a:rPr lang="en-US" sz="2400" dirty="0" err="1" smtClean="0"/>
              <a:t>ግምገማ</a:t>
            </a:r>
            <a:r>
              <a:rPr lang="en-US" sz="2400" dirty="0" smtClean="0"/>
              <a:t>  as a means of accountability? </a:t>
            </a:r>
          </a:p>
          <a:p>
            <a:pPr algn="just"/>
            <a:r>
              <a:rPr lang="en-US" sz="2400" dirty="0" smtClean="0"/>
              <a:t>Disciplinary measures FDRE Cons (Article 79(4)(a))</a:t>
            </a:r>
          </a:p>
          <a:p>
            <a:pPr algn="just"/>
            <a:r>
              <a:rPr lang="en-US" sz="2400" dirty="0" smtClean="0"/>
              <a:t>Legal error as ground of accountability?</a:t>
            </a:r>
          </a:p>
          <a:p>
            <a:endParaRPr lang="en-US" sz="2000" dirty="0" smtClean="0"/>
          </a:p>
          <a:p>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066800"/>
            <a:ext cx="8229600" cy="5562600"/>
          </a:xfrm>
        </p:spPr>
        <p:txBody>
          <a:bodyPr>
            <a:noAutofit/>
          </a:bodyPr>
          <a:lstStyle/>
          <a:p>
            <a:pPr algn="ctr">
              <a:buNone/>
            </a:pPr>
            <a:r>
              <a:rPr lang="en-US" sz="2400" b="1" dirty="0" smtClean="0"/>
              <a:t>3.1. Ethical Duties of Judges in Judicial Activities</a:t>
            </a:r>
          </a:p>
          <a:p>
            <a:pPr algn="ctr">
              <a:buNone/>
            </a:pPr>
            <a:r>
              <a:rPr lang="en-US" sz="2200" b="1" dirty="0" smtClean="0"/>
              <a:t>3.1.3. Impartiality</a:t>
            </a:r>
            <a:r>
              <a:rPr lang="en-US" sz="2400" b="1" dirty="0" smtClean="0"/>
              <a:t> </a:t>
            </a:r>
          </a:p>
          <a:p>
            <a:pPr algn="just"/>
            <a:r>
              <a:rPr lang="en-US" sz="2200" dirty="0" smtClean="0"/>
              <a:t>In the 17th century, Sir Matthew Hale devised a code of judicial conduct for his own use, which included a rule that stated: </a:t>
            </a:r>
          </a:p>
          <a:p>
            <a:pPr lvl="1" algn="just"/>
            <a:r>
              <a:rPr lang="en-US" sz="2000" dirty="0" smtClean="0"/>
              <a:t>“I never engage myself in the beginning of any cause, but reserve myself unprejudiced till the whole be heard.”</a:t>
            </a:r>
            <a:r>
              <a:rPr lang="en-US" sz="1800" dirty="0" smtClean="0"/>
              <a:t>  </a:t>
            </a:r>
            <a:r>
              <a:rPr lang="en-US" sz="1800" b="1" dirty="0" smtClean="0"/>
              <a:t>Charles Gardner </a:t>
            </a:r>
            <a:r>
              <a:rPr lang="en-US" sz="1800" b="1" dirty="0" err="1" smtClean="0"/>
              <a:t>Geyh</a:t>
            </a:r>
            <a:r>
              <a:rPr lang="en-US" sz="2000" b="1" dirty="0" smtClean="0"/>
              <a:t> </a:t>
            </a:r>
            <a:endParaRPr lang="en-US" sz="2000" dirty="0" smtClean="0"/>
          </a:p>
          <a:p>
            <a:pPr algn="just"/>
            <a:r>
              <a:rPr lang="en-US" sz="2200" dirty="0" smtClean="0"/>
              <a:t>“Impartiality means the judge has no personal stake in the outcome.”[ </a:t>
            </a:r>
            <a:r>
              <a:rPr lang="en-US" sz="2200" i="1" dirty="0" err="1" smtClean="0"/>
              <a:t>Aharon</a:t>
            </a:r>
            <a:r>
              <a:rPr lang="en-US" sz="2200" i="1" dirty="0" smtClean="0"/>
              <a:t> </a:t>
            </a:r>
            <a:r>
              <a:rPr lang="en-US" sz="2200" i="1" dirty="0" err="1" smtClean="0"/>
              <a:t>Baraḳ</a:t>
            </a:r>
            <a:r>
              <a:rPr lang="en-US" sz="2200" i="1" dirty="0" smtClean="0"/>
              <a:t>]</a:t>
            </a:r>
            <a:endParaRPr lang="en-US" sz="2200" dirty="0" smtClean="0"/>
          </a:p>
          <a:p>
            <a:pPr algn="just"/>
            <a:r>
              <a:rPr lang="en-US" sz="2200" dirty="0" smtClean="0"/>
              <a:t>Absence of bias is essential to the judicial process – this is why when you see a statue of justice in the United States, she is blindfolded.”[ibid]</a:t>
            </a:r>
          </a:p>
          <a:p>
            <a:pPr algn="just"/>
            <a:r>
              <a:rPr lang="en-US" sz="2200" dirty="0" smtClean="0"/>
              <a:t>Impartiality of a judge implies performing his or her judicial duties without favor, bias or prejudice.</a:t>
            </a:r>
          </a:p>
          <a:p>
            <a:pPr algn="just"/>
            <a:endParaRPr lang="en-US" sz="2000" dirty="0" smtClean="0"/>
          </a:p>
          <a:p>
            <a:endParaRPr lang="en-US" sz="28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Autofit/>
          </a:bodyPr>
          <a:lstStyle/>
          <a:p>
            <a:r>
              <a:rPr lang="en-US" sz="1800" b="1" u="sng" dirty="0" smtClean="0"/>
              <a:t/>
            </a:r>
            <a:br>
              <a:rPr lang="en-US" sz="1800" b="1" u="sng" dirty="0" smtClean="0"/>
            </a:br>
            <a:r>
              <a:rPr lang="en-US" sz="1800" b="1" u="sng" dirty="0" smtClean="0"/>
              <a:t>CHAPTER THREE</a:t>
            </a:r>
            <a:r>
              <a:rPr lang="en-US" sz="1800" dirty="0" smtClean="0"/>
              <a:t/>
            </a:r>
            <a:br>
              <a:rPr lang="en-US" sz="1800" dirty="0" smtClean="0"/>
            </a:br>
            <a:r>
              <a:rPr lang="en-US" sz="1800" b="1" u="sng" dirty="0" smtClean="0"/>
              <a:t>JUDICIAL ETHICS . . . Continued </a:t>
            </a:r>
            <a:r>
              <a:rPr lang="en-US" sz="1800" dirty="0" smtClean="0"/>
              <a:t/>
            </a:r>
            <a:br>
              <a:rPr lang="en-US" sz="1800" dirty="0" smtClean="0"/>
            </a:br>
            <a:endParaRPr lang="en-US" sz="1800" dirty="0"/>
          </a:p>
        </p:txBody>
      </p:sp>
      <p:sp>
        <p:nvSpPr>
          <p:cNvPr id="5" name="Rectangle 4"/>
          <p:cNvSpPr/>
          <p:nvPr/>
        </p:nvSpPr>
        <p:spPr>
          <a:xfrm>
            <a:off x="1219200" y="838200"/>
            <a:ext cx="70866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b="1" dirty="0" smtClean="0">
                <a:solidFill>
                  <a:schemeClr val="tx1"/>
                </a:solidFill>
              </a:rPr>
              <a:t>3.1. Ethical Duties of Judges in Judicial Activities</a:t>
            </a:r>
          </a:p>
          <a:p>
            <a:pPr algn="ctr">
              <a:buNone/>
            </a:pPr>
            <a:r>
              <a:rPr lang="en-US" b="1" dirty="0" smtClean="0">
                <a:solidFill>
                  <a:schemeClr val="tx1"/>
                </a:solidFill>
              </a:rPr>
              <a:t>3.1.3. Impartiality . . . Continued </a:t>
            </a:r>
            <a:r>
              <a:rPr lang="en-US" sz="1400" b="1" dirty="0" smtClean="0">
                <a:solidFill>
                  <a:schemeClr val="tx1"/>
                </a:solidFill>
              </a:rPr>
              <a:t> </a:t>
            </a:r>
            <a:endParaRPr lang="en-US" sz="2000" dirty="0" smtClean="0">
              <a:solidFill>
                <a:schemeClr val="tx1"/>
              </a:solidFill>
            </a:endParaRPr>
          </a:p>
        </p:txBody>
      </p:sp>
      <p:pic>
        <p:nvPicPr>
          <p:cNvPr id="4" name="Picture 2" descr="C:\Users\TOSHIBA-\Downloads\HK_Central_Statue_Square_Legislative_Council_Building_n_Themis_s.jpg"/>
          <p:cNvPicPr>
            <a:picLocks noGrp="1" noChangeAspect="1" noChangeArrowheads="1"/>
          </p:cNvPicPr>
          <p:nvPr>
            <p:ph idx="1"/>
          </p:nvPr>
        </p:nvPicPr>
        <p:blipFill>
          <a:blip r:embed="rId2"/>
          <a:srcRect/>
          <a:stretch>
            <a:fillRect/>
          </a:stretch>
        </p:blipFill>
        <p:spPr>
          <a:xfrm>
            <a:off x="3200400" y="1905000"/>
            <a:ext cx="2784561" cy="4525963"/>
          </a:xfrm>
        </p:spPr>
      </p:pic>
      <p:sp>
        <p:nvSpPr>
          <p:cNvPr id="12" name="Rectangle 11"/>
          <p:cNvSpPr/>
          <p:nvPr/>
        </p:nvSpPr>
        <p:spPr>
          <a:xfrm>
            <a:off x="152400" y="2286000"/>
            <a:ext cx="2895600" cy="365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3200" b="1" dirty="0" smtClean="0">
                <a:solidFill>
                  <a:schemeClr val="tx1"/>
                </a:solidFill>
              </a:rPr>
              <a:t>The </a:t>
            </a:r>
          </a:p>
          <a:p>
            <a:pPr algn="ctr">
              <a:buNone/>
            </a:pPr>
            <a:r>
              <a:rPr lang="en-US" sz="3200" b="1" dirty="0" smtClean="0">
                <a:solidFill>
                  <a:schemeClr val="tx1"/>
                </a:solidFill>
              </a:rPr>
              <a:t>Lady Justice</a:t>
            </a:r>
          </a:p>
          <a:p>
            <a:pPr algn="ctr">
              <a:buNone/>
            </a:pPr>
            <a:endParaRPr lang="en-US" sz="2400" b="1" dirty="0" smtClean="0">
              <a:solidFill>
                <a:schemeClr val="tx1"/>
              </a:solidFill>
            </a:endParaRPr>
          </a:p>
          <a:p>
            <a:pPr algn="ctr">
              <a:buNone/>
            </a:pPr>
            <a:r>
              <a:rPr lang="en-US" sz="2400" b="1" dirty="0" smtClean="0">
                <a:solidFill>
                  <a:schemeClr val="tx1"/>
                </a:solidFill>
              </a:rPr>
              <a:t>She is the allegorical personification of the moral force in judicial system. </a:t>
            </a:r>
          </a:p>
          <a:p>
            <a:pPr algn="ctr">
              <a:buNone/>
            </a:pPr>
            <a:endParaRPr lang="en-US" sz="2000" dirty="0" smtClean="0">
              <a:solidFill>
                <a:schemeClr val="tx1"/>
              </a:solidFill>
            </a:endParaRPr>
          </a:p>
        </p:txBody>
      </p:sp>
      <p:sp>
        <p:nvSpPr>
          <p:cNvPr id="13" name="Rectangle 12"/>
          <p:cNvSpPr/>
          <p:nvPr/>
        </p:nvSpPr>
        <p:spPr>
          <a:xfrm>
            <a:off x="6172200" y="2209800"/>
            <a:ext cx="2743200" cy="365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sz="3200" b="1" dirty="0" smtClean="0">
                <a:solidFill>
                  <a:schemeClr val="tx1"/>
                </a:solidFill>
              </a:rPr>
              <a:t>Here attributes </a:t>
            </a:r>
            <a:r>
              <a:rPr lang="en-US" sz="2800" b="1" dirty="0" smtClean="0">
                <a:solidFill>
                  <a:schemeClr val="tx1"/>
                </a:solidFill>
              </a:rPr>
              <a:t>are:</a:t>
            </a:r>
          </a:p>
          <a:p>
            <a:pPr algn="ctr">
              <a:buNone/>
            </a:pPr>
            <a:r>
              <a:rPr lang="en-US" sz="3200" b="1" dirty="0" smtClean="0">
                <a:solidFill>
                  <a:schemeClr val="tx1"/>
                </a:solidFill>
              </a:rPr>
              <a:t>A blindfold,</a:t>
            </a:r>
          </a:p>
          <a:p>
            <a:pPr algn="ctr">
              <a:buNone/>
            </a:pPr>
            <a:r>
              <a:rPr lang="en-US" sz="3200" b="1" dirty="0" smtClean="0">
                <a:solidFill>
                  <a:schemeClr val="tx1"/>
                </a:solidFill>
              </a:rPr>
              <a:t>A balance, </a:t>
            </a:r>
            <a:r>
              <a:rPr lang="en-US" sz="2400" b="1" dirty="0" smtClean="0">
                <a:solidFill>
                  <a:schemeClr val="tx1"/>
                </a:solidFill>
              </a:rPr>
              <a:t>and </a:t>
            </a:r>
            <a:endParaRPr lang="en-US" sz="3200" b="1" dirty="0" smtClean="0">
              <a:solidFill>
                <a:schemeClr val="tx1"/>
              </a:solidFill>
            </a:endParaRPr>
          </a:p>
          <a:p>
            <a:pPr algn="ctr">
              <a:buNone/>
            </a:pPr>
            <a:r>
              <a:rPr lang="en-US" sz="3200" b="1" dirty="0" smtClean="0">
                <a:solidFill>
                  <a:schemeClr val="tx1"/>
                </a:solidFill>
              </a:rPr>
              <a:t> A sword.</a:t>
            </a:r>
            <a:endParaRPr lang="en-US" sz="3200" dirty="0" smtClean="0">
              <a:solidFill>
                <a:schemeClr val="tx1"/>
              </a:solidFill>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p:txBody>
          <a:bodyPr>
            <a:normAutofit fontScale="92500" lnSpcReduction="10000"/>
          </a:bodyPr>
          <a:lstStyle/>
          <a:p>
            <a:pPr algn="ctr">
              <a:buNone/>
            </a:pPr>
            <a:r>
              <a:rPr lang="en-US" sz="2400" b="1" dirty="0" smtClean="0"/>
              <a:t>3.1. Ethical Duties of Judges in Judicial Activities</a:t>
            </a:r>
          </a:p>
          <a:p>
            <a:pPr algn="ctr">
              <a:buNone/>
            </a:pPr>
            <a:r>
              <a:rPr lang="en-US" sz="2400" b="1" dirty="0" smtClean="0"/>
              <a:t>3.1.3. Impartiality . . . Continued </a:t>
            </a:r>
            <a:r>
              <a:rPr lang="en-US" sz="1800" b="1" dirty="0" smtClean="0"/>
              <a:t> </a:t>
            </a:r>
            <a:endParaRPr lang="en-US" sz="2800" dirty="0" smtClean="0"/>
          </a:p>
          <a:p>
            <a:pPr algn="just"/>
            <a:r>
              <a:rPr lang="en-US" sz="2800" dirty="0" smtClean="0"/>
              <a:t>"Four things belong to a judge: to hear courteously, to answer wisely, to consider soberly, and to decide impartially.” </a:t>
            </a:r>
            <a:r>
              <a:rPr lang="en-US" sz="2200" dirty="0" smtClean="0"/>
              <a:t>[Socrates] </a:t>
            </a:r>
            <a:endParaRPr lang="en-US" sz="2800" dirty="0" smtClean="0"/>
          </a:p>
          <a:p>
            <a:pPr algn="just"/>
            <a:r>
              <a:rPr lang="en-US" sz="2600" dirty="0" smtClean="0"/>
              <a:t>Impartiality is the internal aspect of judicial independence:</a:t>
            </a:r>
          </a:p>
          <a:p>
            <a:pPr lvl="1" algn="just"/>
            <a:r>
              <a:rPr lang="en-US" sz="2600" dirty="0" smtClean="0"/>
              <a:t> </a:t>
            </a:r>
            <a:r>
              <a:rPr lang="en-US" sz="2200" dirty="0" smtClean="0"/>
              <a:t>judges should be autonomous moral agents to carry out their public duties independent of venal or ideological considerations. </a:t>
            </a:r>
            <a:r>
              <a:rPr lang="en-US" sz="1700" dirty="0" smtClean="0"/>
              <a:t>[JOHN FEREJOHN]</a:t>
            </a:r>
            <a:endParaRPr lang="en-US" sz="2600" dirty="0" smtClean="0"/>
          </a:p>
          <a:p>
            <a:pPr algn="just"/>
            <a:r>
              <a:rPr lang="en-US" sz="2400" dirty="0" smtClean="0"/>
              <a:t>Is perfect impartiality attainable? </a:t>
            </a:r>
          </a:p>
          <a:p>
            <a:pPr algn="just"/>
            <a:r>
              <a:rPr lang="en-US" sz="2400" dirty="0" smtClean="0"/>
              <a:t>No, it’s not. A judge can not be perfectly impartial, but she can be impartial enough to fulfill her role as a judge </a:t>
            </a:r>
            <a:endParaRPr lang="en-US" sz="2400"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066800"/>
            <a:ext cx="8229600" cy="5486400"/>
          </a:xfrm>
        </p:spPr>
        <p:txBody>
          <a:bodyPr>
            <a:normAutofit fontScale="85000" lnSpcReduction="20000"/>
          </a:bodyPr>
          <a:lstStyle/>
          <a:p>
            <a:pPr algn="ctr">
              <a:buNone/>
            </a:pPr>
            <a:r>
              <a:rPr lang="en-US" sz="3400" b="1" dirty="0" smtClean="0"/>
              <a:t>3.1. Ethical Duties of Judges in Judicial Activities</a:t>
            </a:r>
          </a:p>
          <a:p>
            <a:pPr algn="ctr">
              <a:buNone/>
            </a:pPr>
            <a:r>
              <a:rPr lang="en-US" sz="3400" b="1" dirty="0" smtClean="0"/>
              <a:t>3.1.3. Impartiality . . . Continued </a:t>
            </a:r>
            <a:r>
              <a:rPr lang="en-US" sz="2600" b="1" dirty="0" smtClean="0"/>
              <a:t> </a:t>
            </a:r>
            <a:endParaRPr lang="en-US" sz="4000" dirty="0" smtClean="0"/>
          </a:p>
          <a:p>
            <a:pPr algn="just"/>
            <a:r>
              <a:rPr lang="en-US" dirty="0" smtClean="0"/>
              <a:t>Impartiality is essential to the proper discharge of the judicial office. It applies to a decision and to its process. </a:t>
            </a:r>
            <a:r>
              <a:rPr lang="en-US" sz="2400" dirty="0" smtClean="0"/>
              <a:t>[Value 2 of Bangalore Principles]</a:t>
            </a:r>
            <a:endParaRPr lang="en-US" dirty="0" smtClean="0"/>
          </a:p>
          <a:p>
            <a:pPr algn="just"/>
            <a:r>
              <a:rPr lang="en-US" dirty="0" smtClean="0"/>
              <a:t>impartial administration of justice is the goal of independent judiciary. </a:t>
            </a:r>
          </a:p>
          <a:p>
            <a:pPr algn="just"/>
            <a:r>
              <a:rPr lang="en-US" dirty="0" smtClean="0"/>
              <a:t>No one can be a judge in his own case</a:t>
            </a:r>
          </a:p>
          <a:p>
            <a:pPr algn="just"/>
            <a:r>
              <a:rPr lang="en-US" dirty="0" smtClean="0"/>
              <a:t>Impartiality: </a:t>
            </a:r>
          </a:p>
          <a:p>
            <a:pPr lvl="1" algn="just"/>
            <a:r>
              <a:rPr lang="en-US" dirty="0" smtClean="0"/>
              <a:t>Subjective- a judge shows prejudice or bias in his conduct or utterance , e.g., unjustified reprimands of advocate, offensive remarks about litigants, ex parte communication, </a:t>
            </a:r>
          </a:p>
          <a:p>
            <a:pPr lvl="1" algn="just"/>
            <a:r>
              <a:rPr lang="en-US" dirty="0" smtClean="0"/>
              <a:t>Objective impartiality- when a reasonable observer has no doubt in the impartiality of the judge, e.g., one party is her husband; she has been a witness to the matter  </a:t>
            </a:r>
          </a:p>
          <a:p>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143000"/>
            <a:ext cx="8229600" cy="5257800"/>
          </a:xfrm>
        </p:spPr>
        <p:txBody>
          <a:bodyPr>
            <a:normAutofit fontScale="25000" lnSpcReduction="20000"/>
          </a:bodyPr>
          <a:lstStyle/>
          <a:p>
            <a:pPr algn="ctr">
              <a:buNone/>
            </a:pPr>
            <a:r>
              <a:rPr lang="en-US" sz="8800" b="1" dirty="0" smtClean="0"/>
              <a:t>3.1. Ethical Duties of Judges in Judicial Activities</a:t>
            </a:r>
          </a:p>
          <a:p>
            <a:pPr algn="ctr">
              <a:buNone/>
            </a:pPr>
            <a:r>
              <a:rPr lang="en-US" sz="8800" b="1" dirty="0" smtClean="0"/>
              <a:t>3.1.3. Impartiality . . . Continued  </a:t>
            </a:r>
            <a:endParaRPr lang="en-US" sz="8800" dirty="0" smtClean="0"/>
          </a:p>
          <a:p>
            <a:pPr algn="just"/>
            <a:r>
              <a:rPr lang="en-US" sz="8800" dirty="0" smtClean="0"/>
              <a:t>Categories of partiality [</a:t>
            </a:r>
            <a:r>
              <a:rPr lang="en-US" sz="8800" b="1" dirty="0" smtClean="0"/>
              <a:t>Charles Gardner </a:t>
            </a:r>
            <a:r>
              <a:rPr lang="en-US" sz="8800" b="1" dirty="0" err="1" smtClean="0"/>
              <a:t>Geyh</a:t>
            </a:r>
            <a:r>
              <a:rPr lang="en-US" sz="8800" b="1" dirty="0" smtClean="0"/>
              <a:t>]:</a:t>
            </a:r>
            <a:endParaRPr lang="en-US" sz="8800" dirty="0" smtClean="0"/>
          </a:p>
          <a:p>
            <a:pPr lvl="1" algn="just"/>
            <a:r>
              <a:rPr lang="en-US" sz="8800" dirty="0" smtClean="0"/>
              <a:t>A. judges who have personal interests in case outcomes; </a:t>
            </a:r>
          </a:p>
          <a:p>
            <a:pPr lvl="1" algn="just"/>
            <a:r>
              <a:rPr lang="en-US" sz="8800" dirty="0" smtClean="0"/>
              <a:t>B. judges who have relational interests in case outcomes; </a:t>
            </a:r>
            <a:r>
              <a:rPr lang="en-US" sz="8000" dirty="0" smtClean="0">
                <a:solidFill>
                  <a:schemeClr val="tx2"/>
                </a:solidFill>
              </a:rPr>
              <a:t>[“A good lawyer knows the law; a great lawyer knows the judge.” ]</a:t>
            </a:r>
            <a:endParaRPr lang="en-US" sz="8800" dirty="0" smtClean="0">
              <a:solidFill>
                <a:schemeClr val="tx2"/>
              </a:solidFill>
            </a:endParaRPr>
          </a:p>
          <a:p>
            <a:pPr lvl="1" algn="just"/>
            <a:r>
              <a:rPr lang="en-US" sz="8800" dirty="0" smtClean="0"/>
              <a:t>C. judges who have political interests in case outcomes; and </a:t>
            </a:r>
          </a:p>
          <a:p>
            <a:pPr lvl="1" algn="just"/>
            <a:r>
              <a:rPr lang="en-US" sz="8800" dirty="0" smtClean="0"/>
              <a:t>D. judges who have personal biases for or against case participants. Based on race, ethnicity, class, gender, sexual orientation . . . </a:t>
            </a:r>
            <a:r>
              <a:rPr lang="en-US" sz="8800" dirty="0" smtClean="0">
                <a:solidFill>
                  <a:schemeClr val="accent1"/>
                </a:solidFill>
              </a:rPr>
              <a:t>Compassion to the poor or favor to the rich </a:t>
            </a:r>
          </a:p>
          <a:p>
            <a:pPr algn="just"/>
            <a:r>
              <a:rPr lang="en-US" sz="8800" dirty="0" smtClean="0"/>
              <a:t>Recusal: connection with the parties or their advocates, with the case or other similar ground [</a:t>
            </a:r>
            <a:r>
              <a:rPr lang="en-US" sz="7200" dirty="0" smtClean="0"/>
              <a:t>Article 27(1) of Federal Courts Proclamation No. 25/1996; Principle 2.5 of Bangalore Principles ] </a:t>
            </a:r>
            <a:endParaRPr lang="en-US" sz="8800" dirty="0" smtClean="0"/>
          </a:p>
          <a:p>
            <a:pPr algn="just"/>
            <a:r>
              <a:rPr lang="en-US" sz="8800" dirty="0" smtClean="0"/>
              <a:t>Ungrounded request for recusal </a:t>
            </a:r>
          </a:p>
          <a:p>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95400"/>
            <a:ext cx="8229600" cy="4830763"/>
          </a:xfrm>
        </p:spPr>
        <p:txBody>
          <a:bodyPr>
            <a:noAutofit/>
          </a:bodyPr>
          <a:lstStyle/>
          <a:p>
            <a:pPr algn="ctr">
              <a:buNone/>
            </a:pPr>
            <a:r>
              <a:rPr lang="en-US" sz="2400" b="1" dirty="0" smtClean="0"/>
              <a:t>3.1. Ethical Duties of Judges in Judicial Activities</a:t>
            </a:r>
          </a:p>
          <a:p>
            <a:pPr algn="ctr">
              <a:buNone/>
            </a:pPr>
            <a:r>
              <a:rPr lang="en-US" sz="2400" b="1" dirty="0" smtClean="0"/>
              <a:t>3.1.4 Competence and Diligence</a:t>
            </a:r>
          </a:p>
          <a:p>
            <a:pPr algn="just"/>
            <a:r>
              <a:rPr lang="en-US" sz="2400" dirty="0" smtClean="0"/>
              <a:t>Competence and diligence are prerequisites to the due performance of judicial office. </a:t>
            </a:r>
            <a:r>
              <a:rPr lang="en-US" sz="2000" dirty="0" smtClean="0"/>
              <a:t>[Value 6 of Bangalore Principles]</a:t>
            </a:r>
            <a:endParaRPr lang="en-US" sz="2400" dirty="0" smtClean="0"/>
          </a:p>
          <a:p>
            <a:pPr algn="just"/>
            <a:r>
              <a:rPr lang="en-US" sz="2400" dirty="0" smtClean="0"/>
              <a:t>The judicial duties of a judge take precedence over all other activities. </a:t>
            </a:r>
            <a:r>
              <a:rPr lang="en-US" sz="2000" dirty="0" smtClean="0"/>
              <a:t>[Principle 6.1 of Bangalore Principles]</a:t>
            </a:r>
            <a:endParaRPr lang="en-US" sz="2400" dirty="0" smtClean="0"/>
          </a:p>
          <a:p>
            <a:pPr algn="just"/>
            <a:r>
              <a:rPr lang="en-US" sz="2400" dirty="0" smtClean="0"/>
              <a:t>The ethical duty of competence requires “legal knowledge, skill, thoroughness and   preparation” </a:t>
            </a:r>
            <a:r>
              <a:rPr lang="en-US" sz="1800" dirty="0" smtClean="0"/>
              <a:t>(United Nations Office on Drugs and Crime 129).</a:t>
            </a:r>
            <a:endParaRPr lang="en-US" sz="2400" dirty="0" smtClean="0"/>
          </a:p>
          <a:p>
            <a:pPr algn="just"/>
            <a:r>
              <a:rPr lang="en-US" sz="2400" dirty="0" smtClean="0"/>
              <a:t>A judge is diligent when she “considers soberly, decides impartially and acts expeditiously” (Ibid).</a:t>
            </a:r>
          </a:p>
          <a:p>
            <a:pPr algn="just"/>
            <a:endParaRPr lang="en-US" sz="20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371600"/>
            <a:ext cx="8229600" cy="4953000"/>
          </a:xfrm>
        </p:spPr>
        <p:txBody>
          <a:bodyPr>
            <a:normAutofit fontScale="92500" lnSpcReduction="20000"/>
          </a:bodyPr>
          <a:lstStyle/>
          <a:p>
            <a:pPr algn="ctr">
              <a:buNone/>
            </a:pPr>
            <a:r>
              <a:rPr lang="en-US" sz="2800" b="1" dirty="0" smtClean="0"/>
              <a:t>3.1. Ethical Duties of Judges in Judicial Activities</a:t>
            </a:r>
          </a:p>
          <a:p>
            <a:pPr algn="ctr">
              <a:buNone/>
            </a:pPr>
            <a:r>
              <a:rPr lang="en-US" sz="2800" b="1" dirty="0" smtClean="0"/>
              <a:t>3.1.4. Competence and Diligence . . . Continued</a:t>
            </a:r>
          </a:p>
          <a:p>
            <a:pPr algn="just"/>
            <a:r>
              <a:rPr lang="en-US" sz="2800" dirty="0" smtClean="0"/>
              <a:t>Diligence can be affected: </a:t>
            </a:r>
          </a:p>
          <a:p>
            <a:pPr lvl="1" algn="just"/>
            <a:r>
              <a:rPr lang="en-US" sz="2400" dirty="0" smtClean="0"/>
              <a:t>by the burden of work, adequacy of resources, time for research, deliberation and writing, and judicial duties other than sitting in courts (Ibid).</a:t>
            </a:r>
          </a:p>
          <a:p>
            <a:pPr algn="just"/>
            <a:r>
              <a:rPr lang="en-US" sz="2800" dirty="0" smtClean="0"/>
              <a:t>Can a judge raise ignorance of the law for her incompetence?</a:t>
            </a:r>
          </a:p>
          <a:p>
            <a:pPr algn="just"/>
            <a:r>
              <a:rPr lang="en-US" sz="2800" dirty="0" smtClean="0"/>
              <a:t>A judge shall take reasonable steps to maintain and enhance the judge’s knowledge, skills and personal qualities necessary for the proper performance of judicial duties </a:t>
            </a:r>
            <a:r>
              <a:rPr lang="en-US" sz="2200" dirty="0" smtClean="0"/>
              <a:t>[Principle 6.3 of Bangalore Principles]</a:t>
            </a:r>
            <a:endParaRPr lang="en-US" sz="2800" dirty="0" smtClean="0"/>
          </a:p>
          <a:p>
            <a:pPr algn="just"/>
            <a:r>
              <a:rPr lang="en-US" sz="2800" dirty="0" smtClean="0"/>
              <a:t>Gross incompetence or inefficiency is a ground of removing a judge [Art 79(4)(a)]</a:t>
            </a:r>
          </a:p>
          <a:p>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143000"/>
            <a:ext cx="8229600" cy="5486400"/>
          </a:xfrm>
        </p:spPr>
        <p:txBody>
          <a:bodyPr>
            <a:normAutofit fontScale="70000" lnSpcReduction="20000"/>
          </a:bodyPr>
          <a:lstStyle/>
          <a:p>
            <a:pPr algn="ctr">
              <a:buNone/>
            </a:pPr>
            <a:r>
              <a:rPr lang="en-US" sz="3400" b="1" dirty="0" smtClean="0"/>
              <a:t>3.1. Ethical Duties of Judges in Judicial Activities</a:t>
            </a:r>
          </a:p>
          <a:p>
            <a:pPr algn="ctr">
              <a:buNone/>
            </a:pPr>
            <a:r>
              <a:rPr lang="en-US" sz="3400" b="1" dirty="0" smtClean="0"/>
              <a:t>3.1.5. Equality</a:t>
            </a:r>
          </a:p>
          <a:p>
            <a:pPr algn="just"/>
            <a:r>
              <a:rPr lang="en-US" sz="3400" dirty="0" smtClean="0"/>
              <a:t>“All persons are equal before the law and are entitled without any discrimination to the equal protection of the law.” </a:t>
            </a:r>
            <a:r>
              <a:rPr lang="en-US" sz="2900" dirty="0" smtClean="0"/>
              <a:t>[Art 25 of FDRE Cons]</a:t>
            </a:r>
            <a:endParaRPr lang="en-US" sz="3400" dirty="0" smtClean="0"/>
          </a:p>
          <a:p>
            <a:pPr algn="just"/>
            <a:r>
              <a:rPr lang="en-US" sz="3400" dirty="0" smtClean="0"/>
              <a:t>Almost similar provisions are found in almost all international human rights instruments.</a:t>
            </a:r>
          </a:p>
          <a:p>
            <a:pPr algn="just"/>
            <a:r>
              <a:rPr lang="en-US" sz="3400" dirty="0" smtClean="0"/>
              <a:t>Ensuring equality of treatment to all before the courts is essential to the due performance of the judicial office. </a:t>
            </a:r>
            <a:r>
              <a:rPr lang="en-US" sz="2900" dirty="0" smtClean="0"/>
              <a:t>[Value 5 of Bangalore Principles]</a:t>
            </a:r>
            <a:endParaRPr lang="en-US" sz="3400" dirty="0" smtClean="0"/>
          </a:p>
          <a:p>
            <a:pPr algn="just"/>
            <a:r>
              <a:rPr lang="en-US" sz="3400" dirty="0" smtClean="0"/>
              <a:t>a judge shall equally treat all litigants before the courts and protect their right. </a:t>
            </a:r>
            <a:r>
              <a:rPr lang="en-US" sz="2900" dirty="0" smtClean="0"/>
              <a:t>[Art. 5 of Federal Judges Code of Conduct]</a:t>
            </a:r>
            <a:endParaRPr lang="en-US" sz="3400" dirty="0" smtClean="0"/>
          </a:p>
          <a:p>
            <a:pPr algn="just"/>
            <a:r>
              <a:rPr lang="en-US" sz="3400" dirty="0" smtClean="0"/>
              <a:t>A judge shall not, in the performance of judicial duties, by words or conduct, manifest bias or prejudice towards any person or group on irrelevant grounds. </a:t>
            </a:r>
            <a:r>
              <a:rPr lang="en-US" sz="2900" dirty="0" smtClean="0"/>
              <a:t>[5.2 of Bangalore Principles]</a:t>
            </a:r>
          </a:p>
          <a:p>
            <a:pPr algn="just">
              <a:buFont typeface="Wingdings" pitchFamily="2" charset="2"/>
              <a:buChar char="v"/>
            </a:pPr>
            <a:r>
              <a:rPr lang="en-US" sz="3400" dirty="0" smtClean="0"/>
              <a:t>Equality vs. Impartiality?</a:t>
            </a:r>
            <a:endParaRPr lang="en-US" sz="40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066800"/>
            <a:ext cx="8229600" cy="5059363"/>
          </a:xfrm>
        </p:spPr>
        <p:txBody>
          <a:bodyPr>
            <a:normAutofit fontScale="85000" lnSpcReduction="20000"/>
          </a:bodyPr>
          <a:lstStyle/>
          <a:p>
            <a:pPr algn="ctr">
              <a:buNone/>
            </a:pPr>
            <a:r>
              <a:rPr lang="en-US" sz="2800" b="1" dirty="0" smtClean="0"/>
              <a:t>3.1. Ethical Duties of Judges in Judicial Activities</a:t>
            </a:r>
          </a:p>
          <a:p>
            <a:pPr algn="ctr">
              <a:buNone/>
            </a:pPr>
            <a:r>
              <a:rPr lang="en-US" sz="2800" b="1" dirty="0" smtClean="0"/>
              <a:t>3.1.6. Civility among Judges</a:t>
            </a:r>
            <a:endParaRPr lang="en-US" sz="2800" dirty="0" smtClean="0"/>
          </a:p>
          <a:p>
            <a:pPr algn="just"/>
            <a:r>
              <a:rPr lang="en-US" dirty="0" smtClean="0"/>
              <a:t>Article 9 of Code of Judicial Conduct requires federal court judges to carry out their judicial duties in cooperation with their colleague.  It requires judges to respect one another.</a:t>
            </a:r>
          </a:p>
          <a:p>
            <a:pPr algn="just"/>
            <a:r>
              <a:rPr lang="en-US" dirty="0" smtClean="0"/>
              <a:t>Civility among judges is one of the hallmarks of judicial temperament (Ross 958). </a:t>
            </a:r>
          </a:p>
          <a:p>
            <a:pPr algn="just"/>
            <a:r>
              <a:rPr lang="en-US" dirty="0" smtClean="0"/>
              <a:t>Judges should avoid making personal attack of fellow judges when they write majority opinions, concurring opinions or dissenting opinions. </a:t>
            </a:r>
          </a:p>
          <a:p>
            <a:pPr algn="just"/>
            <a:r>
              <a:rPr lang="en-US" dirty="0" smtClean="0"/>
              <a:t>Judges should bear in mind that they are sitting “in judgment of cases, not fellow judges” (Ross 959).</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990600"/>
            <a:ext cx="8229600" cy="5638800"/>
          </a:xfrm>
        </p:spPr>
        <p:txBody>
          <a:bodyPr>
            <a:noAutofit/>
          </a:bodyPr>
          <a:lstStyle/>
          <a:p>
            <a:pPr algn="ctr">
              <a:buNone/>
            </a:pPr>
            <a:r>
              <a:rPr lang="en-US" sz="2400" b="1" dirty="0" smtClean="0"/>
              <a:t>3.1. Ethical Duties of Judges in Judicial Activities</a:t>
            </a:r>
          </a:p>
          <a:p>
            <a:pPr algn="ctr">
              <a:buNone/>
            </a:pPr>
            <a:r>
              <a:rPr lang="en-US" sz="2400" b="1" dirty="0" smtClean="0"/>
              <a:t>3.1.7. Propriety </a:t>
            </a:r>
          </a:p>
          <a:p>
            <a:pPr algn="just"/>
            <a:r>
              <a:rPr lang="en-US" sz="2200" dirty="0" smtClean="0"/>
              <a:t>Propriety, and the appearance of propriety, are essential to the performance of all of the activities of a judge. </a:t>
            </a:r>
            <a:r>
              <a:rPr lang="en-US" sz="1800" dirty="0" smtClean="0"/>
              <a:t>[Value 4 of Bangalore Principles]</a:t>
            </a:r>
            <a:endParaRPr lang="en-US" sz="2200" dirty="0" smtClean="0"/>
          </a:p>
          <a:p>
            <a:pPr algn="just"/>
            <a:r>
              <a:rPr lang="en-US" sz="2200" dirty="0" smtClean="0"/>
              <a:t>A judge shall avoid impropriety and the appearance of impropriety in all of the judge’s activities. </a:t>
            </a:r>
            <a:r>
              <a:rPr lang="en-US" sz="1800" dirty="0" smtClean="0"/>
              <a:t>[4.1 of Bangalore Principles]</a:t>
            </a:r>
            <a:endParaRPr lang="en-US" sz="2200" dirty="0" smtClean="0"/>
          </a:p>
          <a:p>
            <a:pPr algn="just"/>
            <a:r>
              <a:rPr lang="en-US" sz="2200" dirty="0" smtClean="0"/>
              <a:t>A judge’s individual freedom vs. the dignity of the judicial office?</a:t>
            </a:r>
          </a:p>
          <a:p>
            <a:pPr lvl="1" algn="just"/>
            <a:r>
              <a:rPr lang="en-US" sz="2000" dirty="0" smtClean="0"/>
              <a:t>“Judicial ethics, where it counts, is often hidden from view, and no rule can possibly ensure ethical judicial conduct. Ultimately, there is no choice but to trust the judges. To my mind, we'd all be better off in a world with fewer rules and a more clear-cut understanding that </a:t>
            </a:r>
            <a:r>
              <a:rPr lang="en-US" sz="2400" dirty="0" smtClean="0">
                <a:solidFill>
                  <a:srgbClr val="7030A0"/>
                </a:solidFill>
              </a:rPr>
              <a:t>impartiality and diligence</a:t>
            </a:r>
            <a:r>
              <a:rPr lang="en-US" sz="2000" dirty="0" smtClean="0"/>
              <a:t> are obligations that permeate every aspect of judicial life—obligations that each judge has the unflagging responsibility to police for himself.” Judge </a:t>
            </a:r>
            <a:r>
              <a:rPr lang="en-US" sz="2400" b="1" i="1" dirty="0" smtClean="0"/>
              <a:t>Alex </a:t>
            </a:r>
            <a:r>
              <a:rPr lang="en-US" sz="2400" b="1" i="1" dirty="0" err="1" smtClean="0"/>
              <a:t>Kozinski</a:t>
            </a:r>
            <a:r>
              <a:rPr lang="en-US" sz="2400" i="1" dirty="0" smtClean="0"/>
              <a:t> </a:t>
            </a:r>
            <a:endParaRPr lang="en-US" sz="2000" dirty="0" smtClean="0"/>
          </a:p>
          <a:p>
            <a:endParaRPr lang="en-US" sz="2000"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pPr algn="ctr">
              <a:buNone/>
            </a:pPr>
            <a:r>
              <a:rPr lang="en-US" sz="3100" b="1" dirty="0" smtClean="0"/>
              <a:t>3.2. Ethical Requirements of Judges in</a:t>
            </a:r>
            <a:r>
              <a:rPr lang="en-US" sz="3100" dirty="0" smtClean="0"/>
              <a:t> </a:t>
            </a:r>
            <a:r>
              <a:rPr lang="en-US" sz="3100" b="1" dirty="0" smtClean="0"/>
              <a:t>Extra Judicial Activities</a:t>
            </a:r>
            <a:endParaRPr lang="en-US" sz="3100" dirty="0" smtClean="0"/>
          </a:p>
          <a:p>
            <a:pPr algn="just"/>
            <a:endParaRPr lang="en-US" dirty="0" smtClean="0"/>
          </a:p>
          <a:p>
            <a:pPr algn="just"/>
            <a:r>
              <a:rPr lang="en-US" dirty="0" smtClean="0"/>
              <a:t>Needless to say, judges have live off the bench.</a:t>
            </a:r>
          </a:p>
          <a:p>
            <a:pPr algn="just"/>
            <a:endParaRPr lang="en-US" sz="2800" dirty="0" smtClean="0"/>
          </a:p>
          <a:p>
            <a:pPr algn="just"/>
            <a:r>
              <a:rPr lang="en-US" sz="2800" dirty="0" smtClean="0"/>
              <a:t>Art 27&amp;28 of the Federal Code of Judicial Conduct</a:t>
            </a:r>
            <a:r>
              <a:rPr lang="en-US" dirty="0" smtClean="0"/>
              <a:t> prohibit, in general term, activities which are inconsistent with judicial duties and using the office for advancing personal interest. </a:t>
            </a:r>
          </a:p>
          <a:p>
            <a:pPr algn="just"/>
            <a:endParaRPr lang="en-US" dirty="0" smtClean="0"/>
          </a:p>
          <a:p>
            <a:pPr algn="just"/>
            <a:r>
              <a:rPr lang="en-US" dirty="0" smtClean="0"/>
              <a:t>A judge shall not use or lend the prestige of the judicial office to advance the private interests of the judge, a member of the judge’s family or of anyone else. </a:t>
            </a:r>
            <a:r>
              <a:rPr lang="en-US" sz="2400" dirty="0" smtClean="0"/>
              <a:t>[4.9 of Bangalore Principles]</a:t>
            </a:r>
            <a:endParaRPr lang="en-US" dirty="0" smtClean="0"/>
          </a:p>
          <a:p>
            <a:pPr algn="just"/>
            <a:endParaRPr lang="en-US" dirty="0" smtClean="0"/>
          </a:p>
          <a:p>
            <a:pPr algn="just"/>
            <a:r>
              <a:rPr lang="en-US" dirty="0" smtClean="0"/>
              <a:t>Allowed and prohibited extra-judicial activities: see </a:t>
            </a:r>
            <a:r>
              <a:rPr lang="en-US" sz="2800" dirty="0" smtClean="0"/>
              <a:t>4.11- 4.16 of Bangalore Principles</a:t>
            </a:r>
            <a:endParaRPr lang="en-US" dirty="0" smtClean="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143000"/>
            <a:ext cx="8229600" cy="4983163"/>
          </a:xfrm>
        </p:spPr>
        <p:txBody>
          <a:bodyPr>
            <a:noAutofit/>
          </a:bodyPr>
          <a:lstStyle/>
          <a:p>
            <a:pPr algn="ctr">
              <a:buNone/>
            </a:pPr>
            <a:r>
              <a:rPr lang="en-US" sz="2400" b="1" dirty="0" smtClean="0"/>
              <a:t>3.2. Ethical Requirements of Judges in</a:t>
            </a:r>
            <a:r>
              <a:rPr lang="en-US" sz="2400" dirty="0" smtClean="0"/>
              <a:t> </a:t>
            </a:r>
            <a:r>
              <a:rPr lang="en-US" sz="2400" b="1" dirty="0" smtClean="0"/>
              <a:t>Extra Judicial Activities</a:t>
            </a:r>
            <a:endParaRPr lang="en-US" sz="2400" dirty="0" smtClean="0"/>
          </a:p>
          <a:p>
            <a:pPr algn="just"/>
            <a:r>
              <a:rPr lang="en-US" sz="2400" dirty="0" smtClean="0"/>
              <a:t>Examples: </a:t>
            </a:r>
          </a:p>
          <a:p>
            <a:pPr lvl="1" algn="just"/>
            <a:r>
              <a:rPr lang="en-US" sz="2000" dirty="0" smtClean="0"/>
              <a:t>Passive investment</a:t>
            </a:r>
          </a:p>
          <a:p>
            <a:pPr lvl="1" algn="just"/>
            <a:r>
              <a:rPr lang="en-US" sz="2000" dirty="0" smtClean="0"/>
              <a:t>Active Management and Involvement in Business</a:t>
            </a:r>
          </a:p>
          <a:p>
            <a:pPr lvl="1" algn="just"/>
            <a:r>
              <a:rPr lang="en-US" sz="2000" dirty="0" smtClean="0"/>
              <a:t>Practice of law </a:t>
            </a:r>
          </a:p>
          <a:p>
            <a:pPr lvl="1" algn="just"/>
            <a:r>
              <a:rPr lang="en-US" sz="2000" dirty="0" smtClean="0"/>
              <a:t>Arbitration and mediation </a:t>
            </a:r>
          </a:p>
          <a:p>
            <a:pPr lvl="1" algn="just"/>
            <a:r>
              <a:rPr lang="en-US" sz="2000" dirty="0" smtClean="0"/>
              <a:t>Legal education </a:t>
            </a:r>
          </a:p>
          <a:p>
            <a:pPr lvl="1" algn="just"/>
            <a:r>
              <a:rPr lang="en-US" sz="2000" dirty="0" smtClean="0"/>
              <a:t>Political activities-</a:t>
            </a:r>
            <a:r>
              <a:rPr lang="en-US" sz="2400" dirty="0" smtClean="0"/>
              <a:t> </a:t>
            </a:r>
            <a:r>
              <a:rPr lang="en-US" sz="1800" b="1" dirty="0" smtClean="0"/>
              <a:t>“</a:t>
            </a:r>
            <a:r>
              <a:rPr lang="en-US" sz="1800" dirty="0" smtClean="0"/>
              <a:t>No person may simultaneously assume judgeship while serving in the legislative or executive branches of government or while a member of any political organization.” PROCLAMATION NO. 684/2010 AFJACEP Art 11(2)</a:t>
            </a:r>
          </a:p>
          <a:p>
            <a:pPr lvl="1" algn="just"/>
            <a:r>
              <a:rPr lang="en-US" sz="2000" dirty="0" smtClean="0"/>
              <a:t>Membership in organizations- </a:t>
            </a:r>
            <a:r>
              <a:rPr lang="en-US" sz="1800" dirty="0" smtClean="0"/>
              <a:t>freedom of expression, belief, association and assembly vs. preserving the dignity of the judicial office and the impartiality and independence of the judiciary. </a:t>
            </a:r>
            <a:r>
              <a:rPr lang="en-US" sz="1600" dirty="0" smtClean="0"/>
              <a:t>[4.6 of Bangalore Principles]</a:t>
            </a:r>
            <a:endParaRPr lang="en-US" sz="5400"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371600"/>
            <a:ext cx="8229600" cy="4754563"/>
          </a:xfrm>
        </p:spPr>
        <p:txBody>
          <a:bodyPr>
            <a:normAutofit fontScale="92500"/>
          </a:bodyPr>
          <a:lstStyle/>
          <a:p>
            <a:pPr algn="ctr">
              <a:buNone/>
            </a:pPr>
            <a:r>
              <a:rPr lang="en-US" sz="2400" b="1" dirty="0" smtClean="0"/>
              <a:t>3.3. Appointment and Tenure of Judges</a:t>
            </a:r>
            <a:endParaRPr lang="en-US" sz="2400" dirty="0" smtClean="0"/>
          </a:p>
          <a:p>
            <a:pPr algn="ctr">
              <a:buNone/>
            </a:pPr>
            <a:r>
              <a:rPr lang="en-US" sz="2400" b="1" dirty="0" smtClean="0"/>
              <a:t>3.3.1. Judicial Appointment</a:t>
            </a:r>
            <a:endParaRPr lang="en-US" sz="2400" dirty="0" smtClean="0"/>
          </a:p>
          <a:p>
            <a:pPr algn="just"/>
            <a:r>
              <a:rPr lang="en-US" sz="2400" dirty="0" smtClean="0"/>
              <a:t>The selection, appointment, and promotion procedures, as well as the transparency of those procedures are important for both </a:t>
            </a:r>
          </a:p>
          <a:p>
            <a:pPr lvl="1" algn="just"/>
            <a:r>
              <a:rPr lang="en-US" sz="2000" dirty="0" smtClean="0"/>
              <a:t>securing judicial independence and </a:t>
            </a:r>
          </a:p>
          <a:p>
            <a:pPr lvl="1" algn="just"/>
            <a:r>
              <a:rPr lang="en-US" sz="2000" dirty="0" smtClean="0"/>
              <a:t>promoting public understanding and confidence in the courts. </a:t>
            </a:r>
          </a:p>
          <a:p>
            <a:pPr algn="just"/>
            <a:r>
              <a:rPr lang="en-US" sz="2400" dirty="0" smtClean="0"/>
              <a:t>Models of judicial appointment: Career vs. recognition models </a:t>
            </a:r>
          </a:p>
          <a:p>
            <a:pPr lvl="1" algn="just"/>
            <a:r>
              <a:rPr lang="en-US" sz="2400" dirty="0" smtClean="0"/>
              <a:t>Career judiciaries- judges join the judiciary at a young age and remain there for their entire careers </a:t>
            </a:r>
            <a:r>
              <a:rPr lang="en-US" sz="1800" dirty="0" smtClean="0"/>
              <a:t>(civil law tradition) </a:t>
            </a:r>
            <a:endParaRPr lang="en-US" sz="2400" dirty="0" smtClean="0"/>
          </a:p>
          <a:p>
            <a:pPr lvl="1"/>
            <a:r>
              <a:rPr lang="en-US" sz="2400" dirty="0" smtClean="0"/>
              <a:t>Recognition judiciaries - judges are appointed later in life in recognition of other </a:t>
            </a:r>
            <a:r>
              <a:rPr lang="en-US" sz="2200" dirty="0" smtClean="0"/>
              <a:t>career achievements</a:t>
            </a:r>
            <a:r>
              <a:rPr lang="en-US" sz="1800" dirty="0" smtClean="0"/>
              <a:t> (common law traditions)</a:t>
            </a:r>
          </a:p>
          <a:p>
            <a:pPr algn="just"/>
            <a:r>
              <a:rPr lang="en-US" sz="2400" dirty="0" smtClean="0"/>
              <a:t>How about the Ethiopian one?</a:t>
            </a:r>
          </a:p>
          <a:p>
            <a:pPr algn="just"/>
            <a:endParaRPr lang="en-US" sz="2400"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066800"/>
            <a:ext cx="8229600" cy="5059363"/>
          </a:xfrm>
        </p:spPr>
        <p:txBody>
          <a:bodyPr>
            <a:normAutofit lnSpcReduction="10000"/>
          </a:bodyPr>
          <a:lstStyle/>
          <a:p>
            <a:pPr algn="ctr">
              <a:buNone/>
            </a:pPr>
            <a:r>
              <a:rPr lang="en-US" sz="2800" b="1" dirty="0" smtClean="0"/>
              <a:t>3.3. Appointment and Tenure of Judges</a:t>
            </a:r>
            <a:endParaRPr lang="en-US" sz="2800" dirty="0" smtClean="0"/>
          </a:p>
          <a:p>
            <a:pPr algn="ctr">
              <a:buNone/>
            </a:pPr>
            <a:r>
              <a:rPr lang="en-US" sz="2400" b="1" dirty="0" smtClean="0"/>
              <a:t>3.3.2. Judges’ Tenure and Removal Mechanisms</a:t>
            </a:r>
            <a:endParaRPr lang="en-US" sz="2400" dirty="0" smtClean="0"/>
          </a:p>
          <a:p>
            <a:pPr algn="just"/>
            <a:r>
              <a:rPr lang="en-US" sz="2400" dirty="0" smtClean="0"/>
              <a:t>What has judicial tenure and removal to do with judicial independence? Should judges be appointed for life? </a:t>
            </a:r>
          </a:p>
          <a:p>
            <a:pPr algn="just"/>
            <a:r>
              <a:rPr lang="en-US" sz="2400" dirty="0" smtClean="0"/>
              <a:t>Mechanisms of judicial tenure and removal are important for securing judicial independence </a:t>
            </a:r>
          </a:p>
          <a:p>
            <a:pPr algn="just"/>
            <a:r>
              <a:rPr lang="en-US" sz="2400" dirty="0" smtClean="0"/>
              <a:t>How about transfer, promotion and disciplining of judges?</a:t>
            </a:r>
          </a:p>
          <a:p>
            <a:pPr algn="ctr">
              <a:buNone/>
            </a:pPr>
            <a:r>
              <a:rPr lang="en-US" sz="2400" b="1" dirty="0" smtClean="0"/>
              <a:t>3.3.3 Criteria for Appointment of Judges</a:t>
            </a:r>
            <a:endParaRPr lang="en-US" sz="2400" dirty="0" smtClean="0"/>
          </a:p>
          <a:p>
            <a:pPr lvl="3"/>
            <a:r>
              <a:rPr lang="en-US" sz="2400" dirty="0" smtClean="0"/>
              <a:t>Legal knowledge and Skill </a:t>
            </a:r>
          </a:p>
          <a:p>
            <a:pPr lvl="3"/>
            <a:r>
              <a:rPr lang="en-US" sz="2400" dirty="0" smtClean="0"/>
              <a:t>Personal Qualities</a:t>
            </a:r>
          </a:p>
          <a:p>
            <a:pPr lvl="3"/>
            <a:r>
              <a:rPr lang="en-US" sz="2400" dirty="0" smtClean="0"/>
              <a:t>Specialization </a:t>
            </a:r>
          </a:p>
          <a:p>
            <a:pPr lvl="3"/>
            <a:r>
              <a:rPr lang="en-US" sz="2400" dirty="0" smtClean="0"/>
              <a:t>Any other else?</a:t>
            </a:r>
          </a:p>
          <a:p>
            <a:pPr lvl="3"/>
            <a:endParaRPr lang="en-US" sz="2400"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914400"/>
            <a:ext cx="8229600" cy="5638800"/>
          </a:xfrm>
        </p:spPr>
        <p:txBody>
          <a:bodyPr>
            <a:noAutofit/>
          </a:bodyPr>
          <a:lstStyle/>
          <a:p>
            <a:pPr algn="ctr">
              <a:buNone/>
            </a:pPr>
            <a:r>
              <a:rPr lang="en-US" sz="2200" b="1" dirty="0" smtClean="0"/>
              <a:t>3.3. Appointment and Tenure of Judges</a:t>
            </a:r>
            <a:endParaRPr lang="en-US" sz="2200" dirty="0" smtClean="0"/>
          </a:p>
          <a:p>
            <a:pPr algn="ctr">
              <a:buNone/>
            </a:pPr>
            <a:r>
              <a:rPr lang="en-US" sz="2200" b="1" dirty="0" smtClean="0"/>
              <a:t>3.3.4 Appointment of Judges in different Countries </a:t>
            </a:r>
          </a:p>
          <a:p>
            <a:pPr algn="ctr">
              <a:buNone/>
            </a:pPr>
            <a:r>
              <a:rPr lang="en-US" sz="2200" b="1" dirty="0" smtClean="0"/>
              <a:t>A. United States</a:t>
            </a:r>
            <a:endParaRPr lang="en-US" sz="2200" dirty="0" smtClean="0"/>
          </a:p>
          <a:p>
            <a:pPr algn="just"/>
            <a:r>
              <a:rPr lang="en-US" sz="2100" dirty="0" smtClean="0"/>
              <a:t>Justices of the Supreme Court, judges of the courts of appeals and the district courts are nominated and appointed by the President of the United States and must be confirmed by the Senate.</a:t>
            </a:r>
          </a:p>
          <a:p>
            <a:pPr algn="just"/>
            <a:r>
              <a:rPr lang="en-US" sz="2100" dirty="0" smtClean="0"/>
              <a:t>Article III of the Constitution states that these judicial officers are appointed for a life term. For life? During good behavior?</a:t>
            </a:r>
          </a:p>
          <a:p>
            <a:pPr lvl="1" algn="just"/>
            <a:r>
              <a:rPr lang="en-US" sz="1800" dirty="0" smtClean="0"/>
              <a:t>For life means they work until they resign, die, or are removed by impeachment.</a:t>
            </a:r>
            <a:r>
              <a:rPr lang="en-US" sz="1700" dirty="0" smtClean="0"/>
              <a:t> </a:t>
            </a:r>
          </a:p>
          <a:p>
            <a:pPr algn="just"/>
            <a:r>
              <a:rPr lang="en-US" sz="2100" dirty="0" smtClean="0"/>
              <a:t>One judge has ever been impeached but aborted following its consideration as purely political </a:t>
            </a:r>
            <a:r>
              <a:rPr lang="en-US" sz="1800" dirty="0" smtClean="0"/>
              <a:t>(Samuel, 1805)</a:t>
            </a:r>
            <a:endParaRPr lang="en-US" sz="2100" dirty="0" smtClean="0"/>
          </a:p>
          <a:p>
            <a:pPr algn="just"/>
            <a:r>
              <a:rPr lang="en-US" sz="2100" dirty="0" smtClean="0"/>
              <a:t>Appointment for life secures justices against retribution </a:t>
            </a:r>
          </a:p>
          <a:p>
            <a:pPr algn="just"/>
            <a:r>
              <a:rPr lang="en-US" sz="2100" dirty="0" smtClean="0"/>
              <a:t>The judiciary plays no role in the nomination or confirmation process</a:t>
            </a:r>
          </a:p>
          <a:p>
            <a:pPr algn="just"/>
            <a:r>
              <a:rPr lang="en-US" sz="2100" dirty="0" smtClean="0"/>
              <a:t>The judiciary plays no role? Why are the other two branches involved?</a:t>
            </a:r>
          </a:p>
          <a:p>
            <a:endParaRPr lang="en-US" sz="24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000" b="1" u="sng" dirty="0" smtClean="0"/>
              <a:t/>
            </a:r>
            <a:br>
              <a:rPr lang="en-US" sz="2000" b="1" u="sng" dirty="0" smtClean="0"/>
            </a:br>
            <a:r>
              <a:rPr lang="en-US" sz="2000" b="1" u="sng" dirty="0" smtClean="0"/>
              <a:t>CHAPTER THREE</a:t>
            </a:r>
            <a:r>
              <a:rPr lang="en-US" sz="2000" dirty="0" smtClean="0"/>
              <a:t/>
            </a:r>
            <a:br>
              <a:rPr lang="en-US" sz="2000" dirty="0" smtClean="0"/>
            </a:br>
            <a:r>
              <a:rPr lang="en-US" sz="2000" b="1" u="sng" dirty="0" smtClean="0"/>
              <a:t>JUDICIAL ETHICS . . . Continued </a:t>
            </a:r>
            <a:r>
              <a:rPr lang="en-US" sz="2000" dirty="0" smtClean="0"/>
              <a:t/>
            </a:r>
            <a:br>
              <a:rPr lang="en-US" sz="2000" dirty="0" smtClean="0"/>
            </a:br>
            <a:endParaRPr lang="en-US" sz="2000" dirty="0"/>
          </a:p>
        </p:txBody>
      </p:sp>
      <p:sp>
        <p:nvSpPr>
          <p:cNvPr id="3" name="Content Placeholder 2"/>
          <p:cNvSpPr>
            <a:spLocks noGrp="1"/>
          </p:cNvSpPr>
          <p:nvPr>
            <p:ph idx="1"/>
          </p:nvPr>
        </p:nvSpPr>
        <p:spPr>
          <a:xfrm>
            <a:off x="457200" y="1219200"/>
            <a:ext cx="8229600" cy="4906963"/>
          </a:xfrm>
        </p:spPr>
        <p:txBody>
          <a:bodyPr/>
          <a:lstStyle/>
          <a:p>
            <a:pPr algn="ctr">
              <a:buNone/>
            </a:pPr>
            <a:r>
              <a:rPr lang="en-US" sz="2400" b="1" dirty="0" smtClean="0"/>
              <a:t>3.3. Appointment and Tenure of Judges</a:t>
            </a:r>
            <a:endParaRPr lang="en-US" sz="2400" dirty="0" smtClean="0"/>
          </a:p>
          <a:p>
            <a:pPr algn="ctr">
              <a:buNone/>
            </a:pPr>
            <a:r>
              <a:rPr lang="en-US" sz="2000" b="1" dirty="0" smtClean="0"/>
              <a:t>3.3.4 Appointment of Judges in different Countries </a:t>
            </a:r>
          </a:p>
          <a:p>
            <a:pPr algn="ctr">
              <a:buNone/>
            </a:pPr>
            <a:r>
              <a:rPr lang="en-US" sz="2000" b="1" dirty="0" smtClean="0"/>
              <a:t>A. United States . . . Continued </a:t>
            </a:r>
            <a:endParaRPr lang="en-US" sz="2400" dirty="0" smtClean="0"/>
          </a:p>
          <a:p>
            <a:r>
              <a:rPr lang="en-US" sz="2400" dirty="0" smtClean="0"/>
              <a:t>Appointment of judges in States:</a:t>
            </a:r>
          </a:p>
          <a:p>
            <a:r>
              <a:rPr lang="en-US" sz="2400" dirty="0" smtClean="0"/>
              <a:t>It differs from state to state</a:t>
            </a:r>
          </a:p>
          <a:p>
            <a:pPr lvl="2"/>
            <a:r>
              <a:rPr lang="en-US" dirty="0" smtClean="0"/>
              <a:t>Partisan election</a:t>
            </a:r>
          </a:p>
          <a:p>
            <a:pPr lvl="2"/>
            <a:r>
              <a:rPr lang="en-US" dirty="0" smtClean="0"/>
              <a:t>Non-partisan election </a:t>
            </a:r>
          </a:p>
          <a:p>
            <a:pPr lvl="2"/>
            <a:r>
              <a:rPr lang="en-US" dirty="0" smtClean="0"/>
              <a:t>Legislative election</a:t>
            </a:r>
          </a:p>
          <a:p>
            <a:pPr lvl="2"/>
            <a:r>
              <a:rPr lang="en-US" dirty="0" smtClean="0"/>
              <a:t>Governor election</a:t>
            </a:r>
          </a:p>
          <a:p>
            <a:pPr lvl="2"/>
            <a:r>
              <a:rPr lang="en-US" dirty="0" smtClean="0"/>
              <a:t>Merit selection  </a:t>
            </a: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5257800"/>
          </a:xfrm>
        </p:spPr>
        <p:txBody>
          <a:bodyPr>
            <a:normAutofit/>
          </a:bodyPr>
          <a:lstStyle/>
          <a:p>
            <a:pPr algn="ctr">
              <a:buNone/>
            </a:pPr>
            <a:r>
              <a:rPr lang="en-US" sz="2400" b="1" dirty="0" smtClean="0"/>
              <a:t>3.3. Appointment and Tenure of Judges</a:t>
            </a:r>
            <a:endParaRPr lang="en-US" sz="2400" dirty="0" smtClean="0"/>
          </a:p>
          <a:p>
            <a:pPr algn="ctr">
              <a:buNone/>
            </a:pPr>
            <a:r>
              <a:rPr lang="en-US" sz="2400" b="1" dirty="0" smtClean="0"/>
              <a:t>B. India</a:t>
            </a:r>
          </a:p>
          <a:p>
            <a:pPr algn="just"/>
            <a:r>
              <a:rPr lang="en-US" sz="2400" dirty="0" smtClean="0"/>
              <a:t>Two main categories of the Indian judiciary: </a:t>
            </a:r>
          </a:p>
          <a:p>
            <a:pPr marL="914400" lvl="1" indent="-457200" algn="just">
              <a:buFont typeface="+mj-lt"/>
              <a:buAutoNum type="arabicPeriod"/>
            </a:pPr>
            <a:r>
              <a:rPr lang="en-US" sz="2200" dirty="0" smtClean="0"/>
              <a:t>higher judiciary (High Courts and Supreme Court); and </a:t>
            </a:r>
          </a:p>
          <a:p>
            <a:pPr marL="914400" lvl="1" indent="-457200" algn="just">
              <a:buFont typeface="+mj-lt"/>
              <a:buAutoNum type="arabicPeriod"/>
            </a:pPr>
            <a:r>
              <a:rPr lang="en-US" sz="2200" dirty="0" smtClean="0"/>
              <a:t>lower judiciary (the rest is lower judiciary).</a:t>
            </a:r>
          </a:p>
          <a:p>
            <a:pPr algn="just"/>
            <a:r>
              <a:rPr lang="en-US" sz="2400" dirty="0" smtClean="0"/>
              <a:t>The process of appointment to lower judiciary is carried out by the state public service commissions or through the high courts.</a:t>
            </a:r>
          </a:p>
          <a:p>
            <a:pPr lvl="1" algn="just"/>
            <a:r>
              <a:rPr lang="en-US" sz="2200" dirty="0" smtClean="0"/>
              <a:t>Examination, less politicized </a:t>
            </a:r>
          </a:p>
          <a:p>
            <a:pPr algn="just"/>
            <a:r>
              <a:rPr lang="en-US" sz="2400" dirty="0" smtClean="0"/>
              <a:t>Process of appointment in the higher judiciary:</a:t>
            </a:r>
          </a:p>
          <a:p>
            <a:pPr lvl="1" algn="just"/>
            <a:r>
              <a:rPr lang="en-US" sz="2000" dirty="0" smtClean="0"/>
              <a:t>Through Promotion from Lower Judiciary</a:t>
            </a:r>
          </a:p>
          <a:p>
            <a:pPr lvl="1" algn="just"/>
            <a:r>
              <a:rPr lang="en-US" sz="2000" dirty="0" smtClean="0"/>
              <a:t> Through direct elevation of practicing lawyers</a:t>
            </a:r>
            <a:endParaRPr lang="en-US" dirty="0" smtClean="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295400"/>
            <a:ext cx="8229600" cy="4830763"/>
          </a:xfrm>
        </p:spPr>
        <p:txBody>
          <a:bodyPr>
            <a:normAutofit fontScale="85000" lnSpcReduction="10000"/>
          </a:bodyPr>
          <a:lstStyle/>
          <a:p>
            <a:pPr algn="ctr">
              <a:buNone/>
            </a:pPr>
            <a:r>
              <a:rPr lang="en-US" sz="2800" b="1" dirty="0" smtClean="0"/>
              <a:t>3.3. Appointment and Tenure of Judges</a:t>
            </a:r>
            <a:endParaRPr lang="en-US" sz="2800" dirty="0" smtClean="0"/>
          </a:p>
          <a:p>
            <a:pPr algn="ctr">
              <a:buNone/>
            </a:pPr>
            <a:r>
              <a:rPr lang="en-US" sz="2700" b="1" dirty="0" smtClean="0"/>
              <a:t>B. India . . . Continued </a:t>
            </a:r>
          </a:p>
          <a:p>
            <a:pPr algn="just"/>
            <a:r>
              <a:rPr lang="en-US" sz="2600" dirty="0" smtClean="0"/>
              <a:t>Judges of the higher judiciary are appointed by the executive and judiciary.</a:t>
            </a:r>
          </a:p>
          <a:p>
            <a:pPr lvl="1" algn="just"/>
            <a:r>
              <a:rPr lang="en-US" sz="2500" dirty="0" smtClean="0"/>
              <a:t>Supreme Court judges- president + consultation with chief justice </a:t>
            </a:r>
          </a:p>
          <a:p>
            <a:pPr lvl="1" algn="just"/>
            <a:r>
              <a:rPr lang="en-US" sz="2500" dirty="0" smtClean="0"/>
              <a:t>High Court judges- president + consultation with state governor </a:t>
            </a:r>
            <a:r>
              <a:rPr lang="en-US" sz="2600" dirty="0" smtClean="0"/>
              <a:t> </a:t>
            </a:r>
          </a:p>
          <a:p>
            <a:pPr algn="just"/>
            <a:r>
              <a:rPr lang="en-US" sz="2600" dirty="0" smtClean="0"/>
              <a:t>The legislature has no role in the appointment of the judges.</a:t>
            </a:r>
          </a:p>
          <a:p>
            <a:pPr algn="just"/>
            <a:r>
              <a:rPr lang="en-US" sz="2600" dirty="0" smtClean="0"/>
              <a:t>But the judges of the Supreme Court cannot be removed from their office without the assent of the legislature.</a:t>
            </a:r>
            <a:endParaRPr lang="en-US" sz="3500" dirty="0" smtClean="0"/>
          </a:p>
          <a:p>
            <a:pPr algn="just"/>
            <a:r>
              <a:rPr lang="en-US" sz="2600" dirty="0" smtClean="0"/>
              <a:t>Removal of judges- by the President + approval by the houses</a:t>
            </a:r>
          </a:p>
          <a:p>
            <a:pPr algn="just"/>
            <a:r>
              <a:rPr lang="en-US" sz="2600" dirty="0" smtClean="0"/>
              <a:t>Indian Judicial Appointment: career or recognition judiciary?</a:t>
            </a:r>
          </a:p>
          <a:p>
            <a:pPr algn="just"/>
            <a:r>
              <a:rPr lang="en-US" sz="2600" dirty="0" smtClean="0"/>
              <a:t>How do you see the Indian Judicial Appointment in upholding judicial independence? </a:t>
            </a:r>
          </a:p>
          <a:p>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143000"/>
            <a:ext cx="8229600" cy="5410200"/>
          </a:xfrm>
        </p:spPr>
        <p:txBody>
          <a:bodyPr>
            <a:normAutofit fontScale="25000" lnSpcReduction="20000"/>
          </a:bodyPr>
          <a:lstStyle/>
          <a:p>
            <a:pPr algn="ctr">
              <a:buNone/>
            </a:pPr>
            <a:r>
              <a:rPr lang="en-US" sz="9600" b="1" dirty="0" smtClean="0"/>
              <a:t>3.3. Appointment and Tenure of Judges</a:t>
            </a:r>
            <a:endParaRPr lang="en-US" sz="9600" dirty="0" smtClean="0"/>
          </a:p>
          <a:p>
            <a:pPr algn="ctr">
              <a:buNone/>
            </a:pPr>
            <a:r>
              <a:rPr lang="en-US" sz="8800" b="1" dirty="0" smtClean="0"/>
              <a:t>C. Ethiopia</a:t>
            </a:r>
            <a:r>
              <a:rPr lang="en-US" sz="9600" b="1" dirty="0" smtClean="0"/>
              <a:t> </a:t>
            </a:r>
          </a:p>
          <a:p>
            <a:pPr algn="just"/>
            <a:r>
              <a:rPr lang="en-US" sz="8800" dirty="0" smtClean="0"/>
              <a:t>The President and Vice-President of the Federal Supreme Court shall, upon recommendation by the Prime Minister, be appointed by the House of Peoples' Representatives </a:t>
            </a:r>
            <a:r>
              <a:rPr lang="en-US" sz="7200" dirty="0" smtClean="0"/>
              <a:t>[Art 81(1) of FDRE Const] </a:t>
            </a:r>
            <a:r>
              <a:rPr lang="en-US" sz="8000" dirty="0" smtClean="0">
                <a:solidFill>
                  <a:schemeClr val="tx2"/>
                </a:solidFill>
              </a:rPr>
              <a:t>[no involvement of the JAC]</a:t>
            </a:r>
            <a:endParaRPr lang="en-US" sz="9600" dirty="0" smtClean="0">
              <a:solidFill>
                <a:schemeClr val="tx2"/>
              </a:solidFill>
            </a:endParaRPr>
          </a:p>
          <a:p>
            <a:pPr algn="just"/>
            <a:r>
              <a:rPr lang="en-US" sz="8800" dirty="0" smtClean="0"/>
              <a:t>Regarding other Federal judges, the Prime Minister shall submit to the House of Peoples’ Representatives for appointment candidates selected by the </a:t>
            </a:r>
            <a:r>
              <a:rPr lang="en-US" sz="8800" dirty="0" smtClean="0">
                <a:solidFill>
                  <a:schemeClr val="tx2"/>
                </a:solidFill>
              </a:rPr>
              <a:t>JAC</a:t>
            </a:r>
            <a:r>
              <a:rPr lang="en-US" sz="8800" dirty="0" smtClean="0"/>
              <a:t>.</a:t>
            </a:r>
            <a:r>
              <a:rPr lang="en-US" sz="9600" dirty="0" smtClean="0"/>
              <a:t> </a:t>
            </a:r>
            <a:r>
              <a:rPr lang="en-US" sz="7200" dirty="0" smtClean="0"/>
              <a:t>[Art 81(2) of FDRE Const]</a:t>
            </a:r>
            <a:endParaRPr lang="en-US" sz="9600" dirty="0" smtClean="0"/>
          </a:p>
          <a:p>
            <a:pPr algn="just"/>
            <a:r>
              <a:rPr lang="en-US" sz="9200" dirty="0" smtClean="0"/>
              <a:t>Is appointment of judges in states the same? </a:t>
            </a:r>
            <a:r>
              <a:rPr lang="en-US" sz="8000" dirty="0" smtClean="0"/>
              <a:t>[Art 81(3,4) of FDRE Const]</a:t>
            </a:r>
            <a:endParaRPr lang="en-US" sz="9600" dirty="0" smtClean="0"/>
          </a:p>
          <a:p>
            <a:pPr algn="just"/>
            <a:r>
              <a:rPr lang="en-US" sz="8800" dirty="0" smtClean="0"/>
              <a:t>Criteria for Judicial Appointment</a:t>
            </a:r>
            <a:r>
              <a:rPr lang="en-US" sz="11200" dirty="0" smtClean="0"/>
              <a:t> </a:t>
            </a:r>
            <a:r>
              <a:rPr lang="en-US" sz="6400" dirty="0" smtClean="0"/>
              <a:t>[Art 11 of Pro 684/2010]</a:t>
            </a:r>
            <a:endParaRPr lang="en-US" sz="11200" dirty="0" smtClean="0"/>
          </a:p>
          <a:p>
            <a:pPr lvl="3" algn="just"/>
            <a:r>
              <a:rPr lang="en-US" sz="8000" dirty="0" smtClean="0"/>
              <a:t>Nationality</a:t>
            </a:r>
          </a:p>
          <a:p>
            <a:pPr lvl="3" algn="just"/>
            <a:r>
              <a:rPr lang="en-US" sz="8000" dirty="0" smtClean="0"/>
              <a:t>Loyalty to the Constitution</a:t>
            </a:r>
          </a:p>
          <a:p>
            <a:pPr lvl="3" algn="just"/>
            <a:r>
              <a:rPr lang="en-US" sz="8000" dirty="0" smtClean="0"/>
              <a:t>Legal Training or Legal Skill</a:t>
            </a:r>
          </a:p>
          <a:p>
            <a:pPr lvl="3" algn="just"/>
            <a:r>
              <a:rPr lang="en-US" sz="8000" dirty="0" smtClean="0"/>
              <a:t>Diligence, Sense of Justice and Good Conduct</a:t>
            </a:r>
          </a:p>
          <a:p>
            <a:pPr lvl="3" algn="just"/>
            <a:r>
              <a:rPr lang="en-US" sz="8000" dirty="0" smtClean="0"/>
              <a:t>Consent</a:t>
            </a:r>
          </a:p>
          <a:p>
            <a:pPr lvl="3" algn="just"/>
            <a:r>
              <a:rPr lang="en-US" sz="8000" dirty="0" smtClean="0"/>
              <a:t>Age</a:t>
            </a:r>
          </a:p>
          <a:p>
            <a:pPr lvl="3" algn="just"/>
            <a:endParaRPr lang="en-US" sz="2800"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ctr">
              <a:buNone/>
            </a:pPr>
            <a:r>
              <a:rPr lang="en-US" sz="3100" b="1" dirty="0" smtClean="0"/>
              <a:t>3.3. Appointment and Tenure of Judges</a:t>
            </a:r>
            <a:endParaRPr lang="en-US" sz="3100" dirty="0" smtClean="0"/>
          </a:p>
          <a:p>
            <a:pPr algn="ctr">
              <a:buNone/>
            </a:pPr>
            <a:r>
              <a:rPr lang="en-US" sz="3000" b="1" dirty="0" smtClean="0"/>
              <a:t>C. Ethiopia . . . Continued </a:t>
            </a:r>
          </a:p>
          <a:p>
            <a:pPr algn="ctr">
              <a:buNone/>
            </a:pPr>
            <a:r>
              <a:rPr lang="en-US" sz="2800" b="1" dirty="0" smtClean="0"/>
              <a:t>Removal of Judges:</a:t>
            </a:r>
          </a:p>
          <a:p>
            <a:pPr lvl="1" algn="just"/>
            <a:r>
              <a:rPr lang="en-US" dirty="0" smtClean="0"/>
              <a:t>Grounds and procedure of removal:</a:t>
            </a:r>
            <a:r>
              <a:rPr lang="en-US" sz="3200" dirty="0" smtClean="0"/>
              <a:t> </a:t>
            </a:r>
            <a:r>
              <a:rPr lang="en-US" sz="2600" dirty="0" smtClean="0"/>
              <a:t>[Art 79(4) of FDRE Const]</a:t>
            </a:r>
            <a:endParaRPr lang="en-US" dirty="0" smtClean="0"/>
          </a:p>
          <a:p>
            <a:pPr lvl="3" algn="just"/>
            <a:r>
              <a:rPr lang="en-US" sz="2600" dirty="0" smtClean="0"/>
              <a:t>Violation of Disciplinary Rules</a:t>
            </a:r>
            <a:endParaRPr lang="en-US" sz="2600" b="1" dirty="0" smtClean="0"/>
          </a:p>
          <a:p>
            <a:pPr lvl="3" algn="just"/>
            <a:r>
              <a:rPr lang="en-US" sz="2600" dirty="0" smtClean="0"/>
              <a:t>Gross incompetence or inefficiency</a:t>
            </a:r>
            <a:endParaRPr lang="en-US" sz="2600" b="1" dirty="0" smtClean="0"/>
          </a:p>
          <a:p>
            <a:pPr lvl="3" algn="just"/>
            <a:r>
              <a:rPr lang="en-US" sz="2600" dirty="0" smtClean="0"/>
              <a:t>Incapacity to carryout judicial duties due to illness</a:t>
            </a:r>
            <a:endParaRPr lang="en-US" sz="2600" b="1" dirty="0" smtClean="0"/>
          </a:p>
          <a:p>
            <a:pPr algn="just"/>
            <a:r>
              <a:rPr lang="en-US" sz="3000" dirty="0" smtClean="0"/>
              <a:t>Decision of the Judicial Administration Council and approval by the legislative organ.</a:t>
            </a:r>
          </a:p>
          <a:p>
            <a:pPr algn="just"/>
            <a:r>
              <a:rPr lang="en-US" sz="3000" dirty="0" smtClean="0"/>
              <a:t>The executive has no role in removal of judges. How do you see this?</a:t>
            </a:r>
          </a:p>
          <a:p>
            <a:pPr algn="just"/>
            <a:r>
              <a:rPr lang="en-US" sz="2800" dirty="0" smtClean="0"/>
              <a:t>Ethiopian Judicial Appointment: career or recognition judiciary?</a:t>
            </a:r>
          </a:p>
          <a:p>
            <a:pPr algn="just"/>
            <a:r>
              <a:rPr lang="en-US" sz="2800" dirty="0" smtClean="0"/>
              <a:t>How do you see the Ethiopian judicial appointment and removal procedure in upholding judicial independence? </a:t>
            </a:r>
          </a:p>
          <a:p>
            <a:endParaRPr lang="en-US" sz="3000" dirty="0" smtClean="0"/>
          </a:p>
          <a:p>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447800"/>
            <a:ext cx="8229600" cy="4678363"/>
          </a:xfrm>
        </p:spPr>
        <p:txBody>
          <a:bodyPr>
            <a:normAutofit fontScale="92500" lnSpcReduction="20000"/>
          </a:bodyPr>
          <a:lstStyle/>
          <a:p>
            <a:pPr algn="ctr">
              <a:buNone/>
            </a:pPr>
            <a:r>
              <a:rPr lang="en-US" sz="2400" b="1" dirty="0" smtClean="0"/>
              <a:t>3.4. Factors that Influence Ethical Requirement of Judges</a:t>
            </a:r>
            <a:r>
              <a:rPr lang="en-US" sz="2400" dirty="0" smtClean="0"/>
              <a:t> </a:t>
            </a:r>
            <a:endParaRPr lang="en-US" sz="2400" b="1" dirty="0" smtClean="0"/>
          </a:p>
          <a:p>
            <a:pPr algn="just"/>
            <a:r>
              <a:rPr lang="en-US" sz="2400" dirty="0" smtClean="0"/>
              <a:t>Among the multitude of factors affecting the ethical conduct of judges: </a:t>
            </a:r>
          </a:p>
          <a:p>
            <a:pPr lvl="1" algn="just"/>
            <a:r>
              <a:rPr lang="en-US" dirty="0" smtClean="0"/>
              <a:t>Remuneration; </a:t>
            </a:r>
          </a:p>
          <a:p>
            <a:pPr lvl="2" algn="just"/>
            <a:r>
              <a:rPr lang="en-US" dirty="0" smtClean="0"/>
              <a:t>The term of office of judges, . . . security, adequate remuneration, conditions of service, pensions . . . shall be adequately secured by law. </a:t>
            </a:r>
            <a:r>
              <a:rPr lang="en-US" sz="1900" dirty="0" smtClean="0"/>
              <a:t>[Art 11 of Milan Principles, 1985]</a:t>
            </a:r>
            <a:endParaRPr lang="en-US" dirty="0" smtClean="0"/>
          </a:p>
          <a:p>
            <a:pPr lvl="1" algn="just"/>
            <a:r>
              <a:rPr lang="en-US" dirty="0" smtClean="0"/>
              <a:t>Resource of the court; </a:t>
            </a:r>
          </a:p>
          <a:p>
            <a:pPr lvl="2" algn="just"/>
            <a:r>
              <a:rPr lang="en-US" dirty="0" smtClean="0"/>
              <a:t>It is the duty of each Member State to provide adequate resources to enable the judiciary to properly perform its functions. </a:t>
            </a:r>
            <a:r>
              <a:rPr lang="en-US" sz="1900" dirty="0" smtClean="0"/>
              <a:t>[Art 7 of Milan Principles, 1985]</a:t>
            </a:r>
            <a:endParaRPr lang="en-US" dirty="0" smtClean="0"/>
          </a:p>
          <a:p>
            <a:pPr lvl="1" algn="just"/>
            <a:r>
              <a:rPr lang="en-US" dirty="0" smtClean="0"/>
              <a:t>Workload; and</a:t>
            </a:r>
          </a:p>
          <a:p>
            <a:pPr lvl="1" algn="just"/>
            <a:r>
              <a:rPr lang="en-US" dirty="0" smtClean="0"/>
              <a:t>Off bench activities.</a:t>
            </a:r>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lnSpcReduction="10000"/>
          </a:bodyPr>
          <a:lstStyle/>
          <a:p>
            <a:pPr algn="ctr">
              <a:buNone/>
            </a:pPr>
            <a:r>
              <a:rPr lang="en-US" sz="2400" b="1" dirty="0" smtClean="0"/>
              <a:t>3.5. Liability for Breach of Rules of Conduct</a:t>
            </a:r>
            <a:endParaRPr lang="en-US" sz="2400" dirty="0" smtClean="0"/>
          </a:p>
          <a:p>
            <a:r>
              <a:rPr lang="en-US" sz="2600" dirty="0" smtClean="0"/>
              <a:t>Violation of ethical rules obviously results in disciplinary measures </a:t>
            </a:r>
          </a:p>
          <a:p>
            <a:r>
              <a:rPr lang="en-US" sz="2600" dirty="0" smtClean="0"/>
              <a:t>It may also result criminal as well as civil liability </a:t>
            </a:r>
          </a:p>
          <a:p>
            <a:r>
              <a:rPr lang="en-US" sz="2600" dirty="0" smtClean="0"/>
              <a:t>Civil liability of judges? Immunity?</a:t>
            </a:r>
          </a:p>
          <a:p>
            <a:pPr lvl="1"/>
            <a:r>
              <a:rPr lang="en-US" sz="2200" dirty="0" smtClean="0"/>
              <a:t>No liability for acts connected with their judicial function </a:t>
            </a:r>
          </a:p>
          <a:p>
            <a:pPr lvl="1"/>
            <a:r>
              <a:rPr lang="en-US" sz="2200" dirty="0" smtClean="0"/>
              <a:t>Civil Code </a:t>
            </a:r>
            <a:r>
              <a:rPr lang="en-US" sz="2000" dirty="0" smtClean="0"/>
              <a:t>Art 2138&amp;2139</a:t>
            </a:r>
            <a:endParaRPr lang="en-US" sz="2200" dirty="0" smtClean="0"/>
          </a:p>
          <a:p>
            <a:pPr algn="ctr">
              <a:buNone/>
            </a:pPr>
            <a:r>
              <a:rPr lang="en-US" sz="2400" b="1" dirty="0" smtClean="0"/>
              <a:t>3.5.1. Disciplining Agency</a:t>
            </a:r>
          </a:p>
          <a:p>
            <a:r>
              <a:rPr lang="en-US" sz="2400" dirty="0" smtClean="0"/>
              <a:t>Federal Judicial Administration Council is vested with the power of disciplining judges </a:t>
            </a:r>
            <a:r>
              <a:rPr lang="en-US" sz="2000" dirty="0" smtClean="0"/>
              <a:t>[FDRE Const: Art 81 (6; Art 9(2)with 13 Proc no 684/2010 )]</a:t>
            </a:r>
          </a:p>
          <a:p>
            <a:endParaRPr lang="en-US" sz="2000"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THREE</a:t>
            </a:r>
            <a:r>
              <a:rPr lang="en-US" sz="2400" dirty="0" smtClean="0"/>
              <a:t/>
            </a:r>
            <a:br>
              <a:rPr lang="en-US" sz="2400" dirty="0" smtClean="0"/>
            </a:br>
            <a:r>
              <a:rPr lang="en-US" sz="2400" b="1" u="sng" dirty="0" smtClean="0"/>
              <a:t>JUDICIAL ETHICS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600200"/>
            <a:ext cx="8229600" cy="4525963"/>
          </a:xfrm>
        </p:spPr>
        <p:txBody>
          <a:bodyPr>
            <a:normAutofit lnSpcReduction="10000"/>
          </a:bodyPr>
          <a:lstStyle/>
          <a:p>
            <a:pPr algn="ctr">
              <a:buNone/>
            </a:pPr>
            <a:r>
              <a:rPr lang="en-US" sz="2800" b="1" dirty="0" smtClean="0"/>
              <a:t>3.5.2. Disciplinary Measures</a:t>
            </a:r>
          </a:p>
          <a:p>
            <a:pPr algn="just"/>
            <a:r>
              <a:rPr lang="en-US" sz="2800" dirty="0" smtClean="0"/>
              <a:t>According to Article 10 of federal judges rules of disciplinary proceeding the Disciplinary Measures are arranged in ascending order from simple to serious penalty. They are:</a:t>
            </a:r>
            <a:endParaRPr lang="en-US" sz="2800" b="1" dirty="0" smtClean="0"/>
          </a:p>
          <a:p>
            <a:pPr lvl="3" algn="just"/>
            <a:r>
              <a:rPr lang="en-US" sz="2400" dirty="0" smtClean="0"/>
              <a:t>Oral warning </a:t>
            </a:r>
            <a:endParaRPr lang="en-US" sz="2400" b="1" dirty="0" smtClean="0"/>
          </a:p>
          <a:p>
            <a:pPr lvl="3" algn="just"/>
            <a:r>
              <a:rPr lang="en-US" sz="2400" dirty="0" smtClean="0"/>
              <a:t>Written warning</a:t>
            </a:r>
            <a:endParaRPr lang="en-US" sz="2400" b="1" dirty="0" smtClean="0"/>
          </a:p>
          <a:p>
            <a:pPr lvl="3" algn="just"/>
            <a:r>
              <a:rPr lang="en-US" sz="2400" dirty="0" smtClean="0"/>
              <a:t>Fine not exceeding three months salary</a:t>
            </a:r>
            <a:endParaRPr lang="en-US" sz="2400" b="1" dirty="0" smtClean="0"/>
          </a:p>
          <a:p>
            <a:pPr lvl="3" algn="just"/>
            <a:r>
              <a:rPr lang="en-US" sz="2400" dirty="0" smtClean="0"/>
              <a:t>Demotion of the post and cut in salary</a:t>
            </a:r>
            <a:endParaRPr lang="en-US" sz="2400" b="1" dirty="0" smtClean="0"/>
          </a:p>
          <a:p>
            <a:pPr lvl="3" algn="just"/>
            <a:r>
              <a:rPr lang="en-US" sz="2400" dirty="0" smtClean="0"/>
              <a:t>Removal from office. (needs approval by the legislature )</a:t>
            </a:r>
            <a:endParaRPr lang="en-US" sz="2400" b="1" dirty="0" smtClean="0"/>
          </a:p>
          <a:p>
            <a:endParaRPr 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THREE</a:t>
            </a:r>
            <a:r>
              <a:rPr lang="en-US" sz="2800" dirty="0" smtClean="0"/>
              <a:t/>
            </a:r>
            <a:br>
              <a:rPr lang="en-US" sz="2800" dirty="0" smtClean="0"/>
            </a:br>
            <a:r>
              <a:rPr lang="en-US" sz="2800" b="1" u="sng" dirty="0" smtClean="0"/>
              <a:t>JUDICIAL ETHICS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p:txBody>
          <a:bodyPr>
            <a:normAutofit lnSpcReduction="10000"/>
          </a:bodyPr>
          <a:lstStyle/>
          <a:p>
            <a:pPr algn="ctr">
              <a:buNone/>
            </a:pPr>
            <a:endParaRPr lang="en-US" sz="2400" b="1" dirty="0" smtClean="0"/>
          </a:p>
          <a:p>
            <a:pPr algn="ctr">
              <a:buNone/>
            </a:pPr>
            <a:r>
              <a:rPr lang="en-US" sz="2800" b="1" dirty="0" smtClean="0"/>
              <a:t>3.5.3 Procedures of Disciplinary Proceedings</a:t>
            </a:r>
            <a:endParaRPr lang="en-US" sz="3600" b="1" dirty="0" smtClean="0"/>
          </a:p>
          <a:p>
            <a:pPr algn="just"/>
            <a:r>
              <a:rPr lang="en-US" sz="2800" dirty="0" smtClean="0"/>
              <a:t>The procedure of disciplining a judge is not an adversarial system. The council both initiates and decides a case </a:t>
            </a:r>
          </a:p>
          <a:p>
            <a:pPr lvl="1" algn="just"/>
            <a:r>
              <a:rPr lang="en-US" sz="2400" b="1" dirty="0" smtClean="0"/>
              <a:t>Initiation- </a:t>
            </a:r>
            <a:r>
              <a:rPr lang="en-US" sz="2400" dirty="0" smtClean="0"/>
              <a:t>no need of vested interest </a:t>
            </a:r>
          </a:p>
          <a:p>
            <a:pPr lvl="1" algn="just"/>
            <a:r>
              <a:rPr lang="en-US" sz="2400" b="1" dirty="0" smtClean="0"/>
              <a:t>Investigation- </a:t>
            </a:r>
            <a:r>
              <a:rPr lang="en-US" sz="2400" dirty="0" smtClean="0"/>
              <a:t>unfounded complaints are rejected </a:t>
            </a:r>
          </a:p>
          <a:p>
            <a:pPr lvl="1" algn="just"/>
            <a:r>
              <a:rPr lang="en-US" sz="2400" b="1" dirty="0" smtClean="0"/>
              <a:t>Hearing- </a:t>
            </a:r>
            <a:r>
              <a:rPr lang="en-US" sz="2400" dirty="0" smtClean="0"/>
              <a:t>continues when proper </a:t>
            </a:r>
          </a:p>
          <a:p>
            <a:pPr lvl="1" algn="just"/>
            <a:r>
              <a:rPr lang="en-US" sz="2400" b="1" dirty="0" smtClean="0"/>
              <a:t>Decision-</a:t>
            </a:r>
            <a:r>
              <a:rPr lang="en-US" sz="2400" dirty="0" smtClean="0"/>
              <a:t> </a:t>
            </a:r>
          </a:p>
          <a:p>
            <a:pPr lvl="1" algn="just"/>
            <a:r>
              <a:rPr lang="en-US" sz="2400" b="1" dirty="0" smtClean="0"/>
              <a:t>Appeal </a:t>
            </a:r>
            <a:endParaRPr lang="en-US" sz="2000" b="1" dirty="0" smtClean="0"/>
          </a:p>
          <a:p>
            <a:pPr lvl="1"/>
            <a:endParaRPr lang="en-US" sz="2000" b="1" dirty="0" smtClean="0"/>
          </a:p>
          <a:p>
            <a:pPr lvl="1"/>
            <a:endParaRPr lang="en-US" sz="2000" dirty="0" smtClean="0"/>
          </a:p>
          <a:p>
            <a:pPr lvl="1"/>
            <a:endParaRPr lang="en-US" sz="2000" dirty="0" smtClean="0"/>
          </a:p>
          <a:p>
            <a:pPr lvl="1"/>
            <a:endParaRPr lang="en-US" sz="2000"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143000"/>
            <a:ext cx="8229600" cy="5257800"/>
          </a:xfrm>
        </p:spPr>
        <p:txBody>
          <a:bodyPr>
            <a:normAutofit fontScale="77500" lnSpcReduction="20000"/>
          </a:bodyPr>
          <a:lstStyle/>
          <a:p>
            <a:pPr algn="ctr">
              <a:buNone/>
            </a:pPr>
            <a:r>
              <a:rPr lang="en-US" b="1" dirty="0" smtClean="0"/>
              <a:t>Matters of discussion:</a:t>
            </a:r>
          </a:p>
          <a:p>
            <a:pPr algn="just"/>
            <a:r>
              <a:rPr lang="en-US" dirty="0" smtClean="0"/>
              <a:t>4.1. Nature and Meaning of Advocacy </a:t>
            </a:r>
          </a:p>
          <a:p>
            <a:pPr algn="just"/>
            <a:r>
              <a:rPr lang="en-US" dirty="0" smtClean="0"/>
              <a:t>4.2. General Duty of Advocates </a:t>
            </a:r>
          </a:p>
          <a:p>
            <a:pPr lvl="1" algn="just"/>
            <a:r>
              <a:rPr lang="en-US" sz="3600" dirty="0" smtClean="0"/>
              <a:t>To the client </a:t>
            </a:r>
          </a:p>
          <a:p>
            <a:pPr lvl="2" algn="just"/>
            <a:r>
              <a:rPr lang="en-US" sz="3200" dirty="0" smtClean="0"/>
              <a:t>Competent and diligent representation</a:t>
            </a:r>
          </a:p>
          <a:p>
            <a:pPr lvl="2" algn="just"/>
            <a:r>
              <a:rPr lang="en-US" sz="3200" dirty="0" smtClean="0"/>
              <a:t>Avoiding conflict of interest </a:t>
            </a:r>
          </a:p>
          <a:p>
            <a:pPr lvl="2" algn="just"/>
            <a:r>
              <a:rPr lang="en-US" sz="3200" dirty="0" smtClean="0"/>
              <a:t>Communication</a:t>
            </a:r>
          </a:p>
          <a:p>
            <a:pPr lvl="2" algn="just"/>
            <a:r>
              <a:rPr lang="en-US" sz="3200" dirty="0" smtClean="0"/>
              <a:t>Confidentiality </a:t>
            </a:r>
          </a:p>
          <a:p>
            <a:pPr lvl="1" algn="just"/>
            <a:r>
              <a:rPr lang="en-US" sz="3600" dirty="0" smtClean="0"/>
              <a:t>To the court </a:t>
            </a:r>
          </a:p>
          <a:p>
            <a:pPr lvl="1" algn="just"/>
            <a:r>
              <a:rPr lang="en-US" sz="3600" dirty="0" smtClean="0"/>
              <a:t>To the opposing party and counsel</a:t>
            </a:r>
          </a:p>
          <a:p>
            <a:pPr lvl="1" algn="just"/>
            <a:r>
              <a:rPr lang="en-US" sz="3600" dirty="0" smtClean="0"/>
              <a:t>To the community</a:t>
            </a:r>
            <a:endParaRPr lang="en-US" dirty="0" smtClean="0"/>
          </a:p>
          <a:p>
            <a:pPr algn="just"/>
            <a:r>
              <a:rPr lang="en-US" dirty="0" smtClean="0"/>
              <a:t>4.3. Contract of Advocacy </a:t>
            </a:r>
          </a:p>
          <a:p>
            <a:pPr algn="just"/>
            <a:r>
              <a:rPr lang="en-US" dirty="0" smtClean="0"/>
              <a:t>4.4. Non Professional Subsidiary Activities</a:t>
            </a:r>
            <a:endParaRPr 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
            </a:r>
            <a:br>
              <a:rPr lang="en-US" sz="2800" b="1" u="sng" dirty="0" smtClean="0"/>
            </a:br>
            <a:r>
              <a:rPr lang="en-US" sz="2800" b="1" u="sng" dirty="0" smtClean="0"/>
              <a:t>CHAPTER FOUR</a:t>
            </a:r>
            <a:r>
              <a:rPr lang="en-US" sz="2800" dirty="0" smtClean="0"/>
              <a:t/>
            </a:r>
            <a:br>
              <a:rPr lang="en-US" sz="2800" dirty="0" smtClean="0"/>
            </a:br>
            <a:r>
              <a:rPr lang="en-US" sz="2800" b="1" u="sng" dirty="0" smtClean="0"/>
              <a:t>ADVOCATES’ ETHICS . . . Continued </a:t>
            </a:r>
            <a:r>
              <a:rPr lang="en-US" sz="2800" dirty="0" smtClean="0"/>
              <a:t/>
            </a:r>
            <a:br>
              <a:rPr lang="en-US" sz="2800" dirty="0" smtClean="0"/>
            </a:br>
            <a:r>
              <a:rPr lang="en-US" sz="2800" dirty="0" smtClean="0"/>
              <a:t> </a:t>
            </a:r>
            <a:endParaRPr lang="en-US" sz="2800" dirty="0"/>
          </a:p>
        </p:txBody>
      </p:sp>
      <p:sp>
        <p:nvSpPr>
          <p:cNvPr id="3" name="Content Placeholder 2"/>
          <p:cNvSpPr>
            <a:spLocks noGrp="1"/>
          </p:cNvSpPr>
          <p:nvPr>
            <p:ph idx="1"/>
          </p:nvPr>
        </p:nvSpPr>
        <p:spPr/>
        <p:txBody>
          <a:bodyPr>
            <a:normAutofit/>
          </a:bodyPr>
          <a:lstStyle/>
          <a:p>
            <a:pPr algn="just">
              <a:buNone/>
            </a:pPr>
            <a:r>
              <a:rPr lang="en-US" b="1" dirty="0" smtClean="0"/>
              <a:t> Unit Objective </a:t>
            </a:r>
            <a:endParaRPr lang="en-US" dirty="0" smtClean="0"/>
          </a:p>
          <a:p>
            <a:pPr lvl="0" algn="just"/>
            <a:r>
              <a:rPr lang="en-US" dirty="0" smtClean="0"/>
              <a:t>discuss the pre conditions to be an advocate </a:t>
            </a:r>
          </a:p>
          <a:p>
            <a:pPr lvl="0" algn="just"/>
            <a:r>
              <a:rPr lang="en-US" dirty="0" smtClean="0"/>
              <a:t>explain the meaning of an advocate and advocacy service </a:t>
            </a:r>
          </a:p>
          <a:p>
            <a:pPr lvl="0" algn="just"/>
            <a:r>
              <a:rPr lang="en-US" dirty="0" smtClean="0"/>
              <a:t>Identify the types of advocacy service</a:t>
            </a:r>
          </a:p>
          <a:p>
            <a:pPr algn="just"/>
            <a:r>
              <a:rPr lang="en-US" dirty="0" smtClean="0"/>
              <a:t>Identify basic ethical principles required of an advocate indifferent relations </a:t>
            </a:r>
            <a:endParaRPr 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ctr">
              <a:buNone/>
            </a:pPr>
            <a:r>
              <a:rPr lang="en-US" b="1" dirty="0" smtClean="0"/>
              <a:t>Introductory Remarks </a:t>
            </a:r>
          </a:p>
          <a:p>
            <a:r>
              <a:rPr lang="en-US" dirty="0" smtClean="0"/>
              <a:t>Moral principles of lawyers </a:t>
            </a:r>
          </a:p>
          <a:p>
            <a:r>
              <a:rPr lang="en-US" dirty="0" smtClean="0"/>
              <a:t>Principle of non-</a:t>
            </a:r>
            <a:r>
              <a:rPr lang="en-US" dirty="0" err="1" smtClean="0"/>
              <a:t>accounatbility</a:t>
            </a:r>
            <a:r>
              <a:rPr lang="en-US" dirty="0" smtClean="0"/>
              <a:t>: </a:t>
            </a:r>
          </a:p>
          <a:p>
            <a:pPr lvl="1" algn="just"/>
            <a:r>
              <a:rPr lang="en-US" dirty="0" smtClean="0"/>
              <a:t>The lawyer, who refuses his professional assistance because in his judgment the case is </a:t>
            </a:r>
            <a:r>
              <a:rPr lang="en-US" u="sng" dirty="0" smtClean="0"/>
              <a:t>unjust and indefensible,</a:t>
            </a:r>
            <a:r>
              <a:rPr lang="en-US" dirty="0" smtClean="0"/>
              <a:t> usurps the functions of both judge and jury</a:t>
            </a:r>
            <a:r>
              <a:rPr lang="en-US" sz="1900" dirty="0" smtClean="0"/>
              <a:t>. [George </a:t>
            </a:r>
            <a:r>
              <a:rPr lang="en-US" sz="1900" dirty="0" err="1" smtClean="0"/>
              <a:t>Sharswood</a:t>
            </a:r>
            <a:r>
              <a:rPr lang="en-US" sz="1900" dirty="0" smtClean="0"/>
              <a:t>]</a:t>
            </a:r>
            <a:endParaRPr lang="en-US" dirty="0" smtClean="0"/>
          </a:p>
          <a:p>
            <a:pPr lvl="1" algn="just"/>
            <a:r>
              <a:rPr lang="en-US" dirty="0" smtClean="0"/>
              <a:t>When acting as an advocate for a client . . . a lawyer is neither legally, professionally, nor morally accountable for the means used or the ends achieved.</a:t>
            </a:r>
          </a:p>
          <a:p>
            <a:pPr lvl="1" algn="just"/>
            <a:r>
              <a:rPr lang="en-US" dirty="0" smtClean="0"/>
              <a:t>Only bounds of the law matters </a:t>
            </a:r>
          </a:p>
          <a:p>
            <a:pPr algn="just"/>
            <a:r>
              <a:rPr lang="en-US" dirty="0" smtClean="0"/>
              <a:t>Principle of Professionalism:</a:t>
            </a:r>
          </a:p>
          <a:p>
            <a:pPr lvl="1" algn="just"/>
            <a:r>
              <a:rPr lang="en-US" dirty="0" smtClean="0"/>
              <a:t>Maximizing the likelihood of prevailing the client is the business of a lawyer</a:t>
            </a:r>
            <a:r>
              <a:rPr lang="en-US" sz="3100" dirty="0" smtClean="0"/>
              <a:t> </a:t>
            </a:r>
          </a:p>
          <a:p>
            <a:pPr algn="just">
              <a:buFont typeface="Wingdings" pitchFamily="2" charset="2"/>
              <a:buChar char="v"/>
            </a:pPr>
            <a:r>
              <a:rPr lang="en-US" dirty="0" smtClean="0"/>
              <a:t>How do you see these principles?</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FOUR</a:t>
            </a:r>
            <a:r>
              <a:rPr lang="en-US" sz="2800" dirty="0" smtClean="0"/>
              <a:t/>
            </a:r>
            <a:br>
              <a:rPr lang="en-US" sz="2800" dirty="0" smtClean="0"/>
            </a:br>
            <a:r>
              <a:rPr lang="en-US" sz="2800" b="1" u="sng" dirty="0" smtClean="0"/>
              <a:t>ADVOCATES’ ETHICS . . . Continued </a:t>
            </a:r>
            <a:r>
              <a:rPr lang="en-US" sz="2800" dirty="0" smtClean="0"/>
              <a:t/>
            </a:r>
            <a:br>
              <a:rPr lang="en-US" sz="2800" dirty="0" smtClean="0"/>
            </a:br>
            <a:r>
              <a:rPr lang="en-US" sz="2800" dirty="0" smtClean="0"/>
              <a:t> </a:t>
            </a:r>
            <a:endParaRPr lang="en-US" sz="2800" dirty="0"/>
          </a:p>
        </p:txBody>
      </p:sp>
      <p:sp>
        <p:nvSpPr>
          <p:cNvPr id="3" name="Content Placeholder 2"/>
          <p:cNvSpPr>
            <a:spLocks noGrp="1"/>
          </p:cNvSpPr>
          <p:nvPr>
            <p:ph idx="1"/>
          </p:nvPr>
        </p:nvSpPr>
        <p:spPr>
          <a:xfrm>
            <a:off x="457200" y="1295400"/>
            <a:ext cx="8229600" cy="5105400"/>
          </a:xfrm>
        </p:spPr>
        <p:txBody>
          <a:bodyPr>
            <a:normAutofit fontScale="77500" lnSpcReduction="20000"/>
          </a:bodyPr>
          <a:lstStyle/>
          <a:p>
            <a:pPr algn="ctr">
              <a:buNone/>
            </a:pPr>
            <a:r>
              <a:rPr lang="en-US" sz="3100" b="1" dirty="0" smtClean="0"/>
              <a:t>4.1. Nature and Meaning of Advocacy </a:t>
            </a:r>
          </a:p>
          <a:p>
            <a:pPr algn="just"/>
            <a:r>
              <a:rPr lang="en-US" sz="3100" dirty="0" smtClean="0"/>
              <a:t>Who is an advocate?</a:t>
            </a:r>
          </a:p>
          <a:p>
            <a:pPr lvl="1" algn="just"/>
            <a:r>
              <a:rPr lang="en-US" dirty="0" smtClean="0"/>
              <a:t>Black’s Law Dictionary (9</a:t>
            </a:r>
            <a:r>
              <a:rPr lang="en-US" baseline="30000" dirty="0" smtClean="0"/>
              <a:t>th</a:t>
            </a:r>
            <a:r>
              <a:rPr lang="en-US" dirty="0" smtClean="0"/>
              <a:t> ed.): </a:t>
            </a:r>
          </a:p>
          <a:p>
            <a:pPr lvl="2" algn="just"/>
            <a:r>
              <a:rPr lang="en-US" sz="2600" dirty="0" smtClean="0"/>
              <a:t>Advocate- </a:t>
            </a:r>
            <a:r>
              <a:rPr lang="en-US" sz="2600" i="1" dirty="0" smtClean="0"/>
              <a:t>A person who assists, defends, pleads, or prosecutes for another. </a:t>
            </a:r>
          </a:p>
          <a:p>
            <a:pPr lvl="1" algn="just"/>
            <a:r>
              <a:rPr lang="en-US" dirty="0" smtClean="0"/>
              <a:t>Advocacy:</a:t>
            </a:r>
          </a:p>
          <a:p>
            <a:pPr lvl="2" algn="just"/>
            <a:r>
              <a:rPr lang="en-US" sz="2600" dirty="0" smtClean="0"/>
              <a:t>1. The work or profession of an advocate.     </a:t>
            </a:r>
          </a:p>
          <a:p>
            <a:pPr lvl="2" algn="just"/>
            <a:r>
              <a:rPr lang="en-US" sz="2600" dirty="0" smtClean="0"/>
              <a:t>2. The act of pleading for or actively supporting a cause or proposal. </a:t>
            </a:r>
          </a:p>
          <a:p>
            <a:pPr lvl="1" algn="just"/>
            <a:r>
              <a:rPr lang="en-US" dirty="0" smtClean="0"/>
              <a:t>Advocate-  [Art 2(3): Proc no. 199/2000] </a:t>
            </a:r>
            <a:r>
              <a:rPr lang="en-US" u="sng" dirty="0" smtClean="0"/>
              <a:t>a lawyer</a:t>
            </a:r>
            <a:r>
              <a:rPr lang="en-US" dirty="0" smtClean="0"/>
              <a:t> whose name is registered in a register in order to render advocacy services.</a:t>
            </a:r>
          </a:p>
          <a:p>
            <a:pPr lvl="1" algn="just"/>
            <a:r>
              <a:rPr lang="en-US" dirty="0" smtClean="0"/>
              <a:t>Draft proc on advocacy service (2010) (Art 2(4)):</a:t>
            </a:r>
          </a:p>
          <a:p>
            <a:pPr lvl="2" algn="just"/>
            <a:r>
              <a:rPr lang="en-US" sz="2600" dirty="0" smtClean="0"/>
              <a:t>advocate means </a:t>
            </a:r>
            <a:r>
              <a:rPr lang="en-US" sz="2600" u="sng" dirty="0" smtClean="0"/>
              <a:t>a person </a:t>
            </a:r>
            <a:r>
              <a:rPr lang="en-US" sz="2600" dirty="0" smtClean="0"/>
              <a:t>who is granted an advocacy license </a:t>
            </a:r>
          </a:p>
          <a:p>
            <a:pPr lvl="1" algn="just"/>
            <a:r>
              <a:rPr lang="en-US" dirty="0" smtClean="0"/>
              <a:t>The Advocates Act of Kenya  defines an advocate to mean </a:t>
            </a:r>
          </a:p>
          <a:p>
            <a:pPr lvl="2" algn="just"/>
            <a:r>
              <a:rPr lang="en-US" sz="2600" dirty="0" smtClean="0"/>
              <a:t>any person whose name is duly entered upon the Roll of Advocates. </a:t>
            </a:r>
          </a:p>
          <a:p>
            <a:pPr lvl="3"/>
            <a:endParaRPr lang="en-US" dirty="0" smtClean="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pPr algn="ctr">
              <a:buNone/>
            </a:pPr>
            <a:r>
              <a:rPr lang="en-US" sz="3300" b="1" dirty="0" smtClean="0"/>
              <a:t>4.1. Nature and Meaning of Advocacy . . . Continued </a:t>
            </a:r>
          </a:p>
          <a:p>
            <a:pPr algn="just"/>
            <a:r>
              <a:rPr lang="en-US" dirty="0" smtClean="0"/>
              <a:t>Advocacy Service [Art 2(2): Proc no. 199/2000] means </a:t>
            </a:r>
          </a:p>
          <a:p>
            <a:pPr lvl="1" algn="just"/>
            <a:r>
              <a:rPr lang="en-US" dirty="0" smtClean="0"/>
              <a:t>the preparation of contracts, memorandum of association, documents of amendment or dissolution, of same, or documents to be adduced in court, litigation before courts on behalf of third parties, and includes rendering any legal consultancy services for consideration or without consideration, or for direct or indirect future consideration.</a:t>
            </a:r>
          </a:p>
          <a:p>
            <a:pPr algn="just"/>
            <a:r>
              <a:rPr lang="en-US" dirty="0" smtClean="0"/>
              <a:t>Any Ethiopian who wishes to render advocacy services shall hold a license. </a:t>
            </a:r>
            <a:r>
              <a:rPr lang="en-US" sz="2400" dirty="0" smtClean="0"/>
              <a:t>[Art 3(1): Proc no. 199/2000] + renewal of license [Art 6]</a:t>
            </a:r>
            <a:endParaRPr lang="en-US" dirty="0" smtClean="0"/>
          </a:p>
          <a:p>
            <a:pPr algn="just"/>
            <a:r>
              <a:rPr lang="en-US" dirty="0" smtClean="0"/>
              <a:t>Persons that may render advocacy service without license </a:t>
            </a:r>
            <a:r>
              <a:rPr lang="en-US" sz="2400" dirty="0" smtClean="0"/>
              <a:t>[Art 3(2): Proc no. 199/2000]</a:t>
            </a:r>
            <a:endParaRPr lang="en-US" dirty="0" smtClean="0"/>
          </a:p>
          <a:p>
            <a:r>
              <a:rPr lang="en-US" dirty="0" smtClean="0"/>
              <a:t>Types of license [Art 7: Proc no. 199/2000]: </a:t>
            </a:r>
          </a:p>
          <a:p>
            <a:pPr lvl="2"/>
            <a:r>
              <a:rPr lang="en-US" sz="2900" dirty="0" smtClean="0"/>
              <a:t>a federal first instance court advocacy license;</a:t>
            </a:r>
          </a:p>
          <a:p>
            <a:pPr lvl="2"/>
            <a:r>
              <a:rPr lang="en-US" sz="2900" dirty="0" smtClean="0"/>
              <a:t>a federal courts advocacy license; and</a:t>
            </a:r>
          </a:p>
          <a:p>
            <a:pPr lvl="2"/>
            <a:r>
              <a:rPr lang="en-US" sz="2900" dirty="0" smtClean="0"/>
              <a:t>a federal court special advocacy license.</a:t>
            </a:r>
          </a:p>
          <a:p>
            <a:r>
              <a:rPr lang="en-US" dirty="0" smtClean="0"/>
              <a:t>Suspension or Revocation of License [Art 15: Proc no. 199/2000]</a:t>
            </a:r>
          </a:p>
          <a:p>
            <a:pPr algn="just"/>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066800"/>
            <a:ext cx="8229600" cy="5562600"/>
          </a:xfrm>
        </p:spPr>
        <p:txBody>
          <a:bodyPr>
            <a:normAutofit fontScale="62500" lnSpcReduction="20000"/>
          </a:bodyPr>
          <a:lstStyle/>
          <a:p>
            <a:pPr algn="ctr">
              <a:buNone/>
            </a:pPr>
            <a:r>
              <a:rPr lang="en-US" sz="4400" b="1" dirty="0" smtClean="0"/>
              <a:t>4.2. Duty of Advocates </a:t>
            </a:r>
          </a:p>
          <a:p>
            <a:pPr algn="just"/>
            <a:r>
              <a:rPr lang="en-US" sz="3800" dirty="0" smtClean="0"/>
              <a:t>Lawyers are essential organs in </a:t>
            </a:r>
            <a:r>
              <a:rPr lang="en-US" sz="3800" dirty="0" smtClean="0">
                <a:solidFill>
                  <a:schemeClr val="tx2"/>
                </a:solidFill>
              </a:rPr>
              <a:t>attaining justice</a:t>
            </a:r>
            <a:r>
              <a:rPr lang="en-US" sz="3800" dirty="0" smtClean="0"/>
              <a:t> and </a:t>
            </a:r>
            <a:r>
              <a:rPr lang="en-US" sz="3800" dirty="0" smtClean="0">
                <a:solidFill>
                  <a:schemeClr val="tx2"/>
                </a:solidFill>
              </a:rPr>
              <a:t>upholding rule of law </a:t>
            </a:r>
          </a:p>
          <a:p>
            <a:pPr algn="just"/>
            <a:r>
              <a:rPr lang="en-US" sz="3800" dirty="0" smtClean="0"/>
              <a:t>Advocate’s general responsibility in the the administration of justice </a:t>
            </a:r>
            <a:r>
              <a:rPr lang="en-US" sz="2600" dirty="0" smtClean="0"/>
              <a:t>[Art 3 of Reg. no 57/99]</a:t>
            </a:r>
            <a:endParaRPr lang="en-US" sz="3800" dirty="0" smtClean="0"/>
          </a:p>
          <a:p>
            <a:pPr algn="just"/>
            <a:r>
              <a:rPr lang="en-US" sz="3800" dirty="0" smtClean="0"/>
              <a:t>Lawyers shall at all times maintain the honor and dignity of their profession as essential agents of the administration of justice. </a:t>
            </a:r>
            <a:r>
              <a:rPr lang="en-US" sz="2600" dirty="0" smtClean="0"/>
              <a:t>[Art 12 of  Basic Principles on the Role of Lawyers 2000]</a:t>
            </a:r>
          </a:p>
          <a:p>
            <a:pPr algn="just"/>
            <a:r>
              <a:rPr lang="en-US" sz="3800" dirty="0" smtClean="0"/>
              <a:t>Claim with no legal ground </a:t>
            </a:r>
            <a:r>
              <a:rPr lang="en-US" sz="3300" dirty="0" smtClean="0"/>
              <a:t>.[Art 4 of Reg. no 57/99]</a:t>
            </a:r>
            <a:endParaRPr lang="en-US" sz="3800" dirty="0" smtClean="0"/>
          </a:p>
          <a:p>
            <a:pPr algn="just"/>
            <a:r>
              <a:rPr lang="en-US" sz="3800" dirty="0" smtClean="0"/>
              <a:t>Declining advocacy service </a:t>
            </a:r>
            <a:r>
              <a:rPr lang="en-US" sz="3300" dirty="0" smtClean="0"/>
              <a:t>.[Art 5 of Reg. no 57/99]</a:t>
            </a:r>
            <a:endParaRPr lang="en-US" sz="3800" dirty="0" smtClean="0"/>
          </a:p>
          <a:p>
            <a:pPr algn="just"/>
            <a:r>
              <a:rPr lang="en-US" sz="3800" dirty="0" smtClean="0"/>
              <a:t>Duty of advocates:</a:t>
            </a:r>
          </a:p>
          <a:p>
            <a:pPr lvl="1" algn="just"/>
            <a:r>
              <a:rPr lang="en-US" sz="3600" dirty="0" smtClean="0"/>
              <a:t>To the client </a:t>
            </a:r>
          </a:p>
          <a:p>
            <a:pPr lvl="1" algn="just"/>
            <a:r>
              <a:rPr lang="en-US" sz="3600" dirty="0" smtClean="0"/>
              <a:t>To the court </a:t>
            </a:r>
          </a:p>
          <a:p>
            <a:pPr lvl="1" algn="just"/>
            <a:r>
              <a:rPr lang="en-US" sz="3600" dirty="0" smtClean="0"/>
              <a:t>To the opposing party and counsel</a:t>
            </a:r>
          </a:p>
          <a:p>
            <a:pPr lvl="1" algn="just"/>
            <a:r>
              <a:rPr lang="en-US" sz="3600" dirty="0" smtClean="0"/>
              <a:t>To the community </a:t>
            </a:r>
            <a:endParaRPr lang="en-US" sz="3600"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143000"/>
            <a:ext cx="8229600" cy="5410200"/>
          </a:xfrm>
        </p:spPr>
        <p:txBody>
          <a:bodyPr>
            <a:normAutofit fontScale="85000" lnSpcReduction="20000"/>
          </a:bodyPr>
          <a:lstStyle/>
          <a:p>
            <a:pPr algn="ctr">
              <a:buNone/>
            </a:pPr>
            <a:r>
              <a:rPr lang="en-US" sz="2600" b="1" dirty="0" smtClean="0"/>
              <a:t>4.2.1. Duty of Advocates to the Client </a:t>
            </a:r>
          </a:p>
          <a:p>
            <a:pPr algn="just"/>
            <a:r>
              <a:rPr lang="en-US" sz="2400" dirty="0" smtClean="0"/>
              <a:t>These duties of </a:t>
            </a:r>
            <a:r>
              <a:rPr lang="en-US" sz="2400" dirty="0" smtClean="0">
                <a:solidFill>
                  <a:srgbClr val="00B050"/>
                </a:solidFill>
              </a:rPr>
              <a:t>zeal, disinterestedness, and confidentiality</a:t>
            </a:r>
            <a:r>
              <a:rPr lang="en-US" sz="2400" dirty="0" smtClean="0"/>
              <a:t> – what might be called the Three Pillars of Advocacy – form the core of an attorney’s professional obligations. David </a:t>
            </a:r>
            <a:r>
              <a:rPr lang="en-US" sz="2400" dirty="0" err="1" smtClean="0"/>
              <a:t>Luban</a:t>
            </a:r>
            <a:r>
              <a:rPr lang="en-US" sz="2400" dirty="0" smtClean="0"/>
              <a:t> </a:t>
            </a:r>
            <a:endParaRPr lang="en-US" sz="2600" b="1" dirty="0" smtClean="0"/>
          </a:p>
          <a:p>
            <a:pPr algn="ctr">
              <a:buNone/>
            </a:pPr>
            <a:r>
              <a:rPr lang="en-US" sz="2400" b="1" dirty="0" smtClean="0"/>
              <a:t>4.2.1.1. Competent and Diligent Representation</a:t>
            </a:r>
          </a:p>
          <a:p>
            <a:pPr algn="just"/>
            <a:r>
              <a:rPr lang="en-US" sz="2400" dirty="0" smtClean="0"/>
              <a:t>One of the duties of an advocate is serving her client with competence and diligence  </a:t>
            </a:r>
          </a:p>
          <a:p>
            <a:pPr algn="just"/>
            <a:r>
              <a:rPr lang="en-US" sz="2800" dirty="0" smtClean="0"/>
              <a:t>Rendering Competent Service [Art 8: Reg. no 57/99]</a:t>
            </a:r>
          </a:p>
          <a:p>
            <a:pPr lvl="1" algn="just"/>
            <a:r>
              <a:rPr lang="en-US" sz="2000" dirty="0" smtClean="0"/>
              <a:t>I) </a:t>
            </a:r>
            <a:r>
              <a:rPr lang="en-US" sz="2200" dirty="0" smtClean="0"/>
              <a:t>Any advocate is expected to show a high level of professional competence and skill in the advocacy service he renders.</a:t>
            </a:r>
          </a:p>
          <a:p>
            <a:pPr lvl="1" algn="just"/>
            <a:r>
              <a:rPr lang="en-US" sz="2200" dirty="0" smtClean="0"/>
              <a:t>2) An advocate shall have professional obligation, within the limits of the law:</a:t>
            </a:r>
          </a:p>
          <a:p>
            <a:pPr lvl="2" algn="just"/>
            <a:r>
              <a:rPr lang="en-US" sz="2200" dirty="0" smtClean="0"/>
              <a:t>(a) to employ his legal knowledge and work experience to protect the rights and interests of his client; </a:t>
            </a:r>
          </a:p>
          <a:p>
            <a:pPr lvl="2" algn="just"/>
            <a:r>
              <a:rPr lang="en-US" sz="2200" dirty="0" smtClean="0"/>
              <a:t>(b) to follow up his client's case diligently and take all the necessary measures carefully and timely so as to obtain a quick and just decision.</a:t>
            </a:r>
          </a:p>
          <a:p>
            <a:pPr algn="just"/>
            <a:r>
              <a:rPr lang="en-US" sz="2400" dirty="0" smtClean="0"/>
              <a:t>Competence- knowledge, skill, preparation- is ignorance a </a:t>
            </a:r>
            <a:r>
              <a:rPr lang="en-US" sz="2400" dirty="0" err="1" smtClean="0"/>
              <a:t>defence</a:t>
            </a:r>
            <a:r>
              <a:rPr lang="en-US" sz="2400" dirty="0" smtClean="0"/>
              <a:t>? </a:t>
            </a:r>
          </a:p>
          <a:p>
            <a:pPr algn="just"/>
            <a:r>
              <a:rPr lang="en-US" sz="2400" dirty="0" smtClean="0"/>
              <a:t>Diligence- carefulness + promptness- lack of negligence + procrastination </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295400"/>
            <a:ext cx="8229600" cy="5029200"/>
          </a:xfrm>
        </p:spPr>
        <p:txBody>
          <a:bodyPr>
            <a:normAutofit fontScale="77500" lnSpcReduction="20000"/>
          </a:bodyPr>
          <a:lstStyle/>
          <a:p>
            <a:pPr algn="ctr">
              <a:buNone/>
            </a:pPr>
            <a:r>
              <a:rPr lang="en-US" sz="3600" b="1" dirty="0" smtClean="0"/>
              <a:t>4.2.1. Duty of Advocates to the Client </a:t>
            </a:r>
          </a:p>
          <a:p>
            <a:pPr algn="ctr">
              <a:buNone/>
            </a:pPr>
            <a:r>
              <a:rPr lang="en-US" sz="3600" b="1" dirty="0" smtClean="0"/>
              <a:t>4.2.1.2. Avoiding</a:t>
            </a:r>
            <a:r>
              <a:rPr lang="en-US" sz="3400" b="1" dirty="0" smtClean="0"/>
              <a:t> Conflict of Interest</a:t>
            </a:r>
            <a:endParaRPr lang="en-US" sz="3400" dirty="0" smtClean="0"/>
          </a:p>
          <a:p>
            <a:pPr algn="just"/>
            <a:r>
              <a:rPr lang="en-US" dirty="0" smtClean="0"/>
              <a:t>Disinterestedness is another duty of an advocate </a:t>
            </a:r>
          </a:p>
          <a:p>
            <a:pPr algn="just"/>
            <a:r>
              <a:rPr lang="en-US" dirty="0" smtClean="0"/>
              <a:t>Black’s Law dictionary: conflict of interest. </a:t>
            </a:r>
          </a:p>
          <a:p>
            <a:pPr lvl="1" algn="just"/>
            <a:r>
              <a:rPr lang="en-US" dirty="0" smtClean="0"/>
              <a:t>1. A real or seeming incompatibility between one's private interests and one's public or fiduciary duties. </a:t>
            </a:r>
          </a:p>
          <a:p>
            <a:pPr lvl="1" algn="just"/>
            <a:r>
              <a:rPr lang="en-US" dirty="0" smtClean="0"/>
              <a:t>2. A real or seeming incompatibility between the interests of two of a lawyer's clients, such that the lawyer is disqualified from representing both clients if the dual representation adversely affects either client or if the clients do not consent. </a:t>
            </a:r>
          </a:p>
          <a:p>
            <a:pPr algn="just"/>
            <a:r>
              <a:rPr lang="en-US" dirty="0" smtClean="0"/>
              <a:t>Loyalty is an essential element in the advocate’s relationship to a client. </a:t>
            </a:r>
          </a:p>
          <a:p>
            <a:pPr algn="just"/>
            <a:r>
              <a:rPr lang="en-US" dirty="0" smtClean="0"/>
              <a:t>What type of conflict of interests could an advocate face? </a:t>
            </a:r>
            <a:r>
              <a:rPr lang="en-US" sz="2600" dirty="0" smtClean="0">
                <a:solidFill>
                  <a:srgbClr val="00B050"/>
                </a:solidFill>
              </a:rPr>
              <a:t>See next slide </a:t>
            </a:r>
            <a:endParaRPr lang="en-US" dirty="0" smtClean="0">
              <a:solidFill>
                <a:srgbClr val="00B050"/>
              </a:solidFill>
            </a:endParaRPr>
          </a:p>
          <a:p>
            <a:pPr algn="just"/>
            <a:endParaRPr lang="en-US" dirty="0" smtClean="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
            </a:r>
            <a:br>
              <a:rPr lang="en-US" sz="2800" b="1" u="sng" dirty="0" smtClean="0"/>
            </a:br>
            <a:r>
              <a:rPr lang="en-US" sz="2800" b="1" u="sng" dirty="0" smtClean="0"/>
              <a:t>CHAPTER FOUR</a:t>
            </a:r>
            <a:r>
              <a:rPr lang="en-US" sz="2800" dirty="0" smtClean="0"/>
              <a:t/>
            </a:r>
            <a:br>
              <a:rPr lang="en-US" sz="2800" dirty="0" smtClean="0"/>
            </a:br>
            <a:r>
              <a:rPr lang="en-US" sz="2800" b="1" u="sng" dirty="0" smtClean="0"/>
              <a:t>ADVOCATES’ ETHICS . . . Continued </a:t>
            </a:r>
            <a:r>
              <a:rPr lang="en-US" sz="2800" dirty="0" smtClean="0"/>
              <a:t/>
            </a:r>
            <a:br>
              <a:rPr lang="en-US" sz="2800" dirty="0" smtClean="0"/>
            </a:br>
            <a:r>
              <a:rPr lang="en-US" sz="2800" dirty="0" smtClean="0"/>
              <a:t> </a:t>
            </a:r>
            <a:endParaRPr lang="en-US" sz="2800" dirty="0"/>
          </a:p>
        </p:txBody>
      </p:sp>
      <p:sp>
        <p:nvSpPr>
          <p:cNvPr id="3" name="Content Placeholder 2"/>
          <p:cNvSpPr>
            <a:spLocks noGrp="1"/>
          </p:cNvSpPr>
          <p:nvPr>
            <p:ph idx="1"/>
          </p:nvPr>
        </p:nvSpPr>
        <p:spPr>
          <a:xfrm>
            <a:off x="457200" y="1295400"/>
            <a:ext cx="8229600" cy="4830763"/>
          </a:xfrm>
        </p:spPr>
        <p:txBody>
          <a:bodyPr>
            <a:normAutofit fontScale="77500" lnSpcReduction="20000"/>
          </a:bodyPr>
          <a:lstStyle/>
          <a:p>
            <a:pPr algn="ctr">
              <a:buNone/>
            </a:pPr>
            <a:r>
              <a:rPr lang="en-US" b="1" dirty="0" smtClean="0"/>
              <a:t>4.2.1. Duty of Advocates to the Client </a:t>
            </a:r>
          </a:p>
          <a:p>
            <a:pPr algn="ctr">
              <a:buNone/>
            </a:pPr>
            <a:r>
              <a:rPr lang="en-US" b="1" dirty="0" smtClean="0"/>
              <a:t>4.2.1.2. Avoiding Conflict of Interest . . . Continued </a:t>
            </a:r>
            <a:endParaRPr lang="en-US" dirty="0" smtClean="0"/>
          </a:p>
          <a:p>
            <a:pPr algn="just"/>
            <a:r>
              <a:rPr lang="en-US" dirty="0" smtClean="0"/>
              <a:t>Any advocate may not enter into a contract to render professional service when she knows that there exists conflict of interests : </a:t>
            </a:r>
            <a:r>
              <a:rPr lang="en-US" sz="2600" dirty="0" smtClean="0"/>
              <a:t>[Art 12: Reg. no 57/99]</a:t>
            </a:r>
            <a:endParaRPr lang="en-US" dirty="0" smtClean="0"/>
          </a:p>
          <a:p>
            <a:pPr lvl="1" algn="just"/>
            <a:r>
              <a:rPr lang="en-US" dirty="0" smtClean="0"/>
              <a:t>between the client and himself, or </a:t>
            </a:r>
          </a:p>
          <a:p>
            <a:pPr lvl="1" algn="just"/>
            <a:r>
              <a:rPr lang="en-US" dirty="0" smtClean="0"/>
              <a:t>between his relatives and his client, or </a:t>
            </a:r>
          </a:p>
          <a:p>
            <a:pPr lvl="1" algn="just"/>
            <a:r>
              <a:rPr lang="en-US" dirty="0" smtClean="0"/>
              <a:t>between his partners and his client, or </a:t>
            </a:r>
          </a:p>
          <a:p>
            <a:pPr lvl="1" algn="just"/>
            <a:r>
              <a:rPr lang="en-US" dirty="0" smtClean="0"/>
              <a:t>between his clients. </a:t>
            </a:r>
          </a:p>
          <a:p>
            <a:pPr algn="just"/>
            <a:r>
              <a:rPr lang="en-US" dirty="0" smtClean="0"/>
              <a:t>Conflict of Interests with Former Client </a:t>
            </a:r>
            <a:r>
              <a:rPr lang="en-US" sz="2600" dirty="0" smtClean="0"/>
              <a:t>[Art 13: Reg. no 57/99]</a:t>
            </a:r>
            <a:endParaRPr lang="en-US" dirty="0" smtClean="0"/>
          </a:p>
          <a:p>
            <a:pPr algn="just"/>
            <a:r>
              <a:rPr lang="en-US" dirty="0" smtClean="0"/>
              <a:t>When the existence of conflict of interests has been discovered after the service had already begun the advocate shall explain the matter to his client and terminate the service.</a:t>
            </a:r>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p:txBody>
          <a:bodyPr>
            <a:normAutofit fontScale="77500" lnSpcReduction="20000"/>
          </a:bodyPr>
          <a:lstStyle/>
          <a:p>
            <a:pPr algn="ctr">
              <a:buNone/>
            </a:pPr>
            <a:r>
              <a:rPr lang="en-US" sz="2800" b="1" dirty="0" smtClean="0"/>
              <a:t>4.2.1. Duty of Advocates to the Client . . . Continued </a:t>
            </a:r>
          </a:p>
          <a:p>
            <a:pPr algn="ctr">
              <a:buNone/>
            </a:pPr>
            <a:r>
              <a:rPr lang="en-US" sz="2600" b="1" dirty="0" smtClean="0"/>
              <a:t>4.2.1.3. Duty of Communication </a:t>
            </a:r>
          </a:p>
          <a:p>
            <a:pPr algn="just"/>
            <a:r>
              <a:rPr lang="en-US" dirty="0" smtClean="0"/>
              <a:t>Transparency is another duty of an advocate </a:t>
            </a:r>
          </a:p>
          <a:p>
            <a:pPr algn="just"/>
            <a:r>
              <a:rPr lang="en-US" dirty="0" smtClean="0"/>
              <a:t>Any advocate shall have the obligation to keep informed his client with the stage the case has reached and its status. The client has the right to get a quick response when he requests for information. </a:t>
            </a:r>
            <a:r>
              <a:rPr lang="en-US" sz="2400" dirty="0" smtClean="0"/>
              <a:t>[Art 9: Reg. no 57/99]</a:t>
            </a:r>
          </a:p>
          <a:p>
            <a:pPr algn="just"/>
            <a:r>
              <a:rPr lang="en-US" dirty="0" smtClean="0"/>
              <a:t>Adequate and prompt information about the case</a:t>
            </a:r>
          </a:p>
          <a:p>
            <a:pPr algn="just"/>
            <a:r>
              <a:rPr lang="en-US" dirty="0" smtClean="0"/>
              <a:t>Obtaining Client's Special Consent  </a:t>
            </a:r>
            <a:r>
              <a:rPr lang="en-US" sz="2400" dirty="0" smtClean="0"/>
              <a:t>[Art 25: Reg. no 57/99]. E.g., declining to raise period of limitation as a </a:t>
            </a:r>
            <a:r>
              <a:rPr lang="en-US" sz="2400" dirty="0" err="1" smtClean="0"/>
              <a:t>defence</a:t>
            </a:r>
            <a:r>
              <a:rPr lang="en-US" sz="2400" dirty="0" smtClean="0"/>
              <a:t> </a:t>
            </a:r>
            <a:endParaRPr lang="en-US" dirty="0" smtClean="0"/>
          </a:p>
          <a:p>
            <a:pPr algn="just"/>
            <a:r>
              <a:rPr lang="en-US" dirty="0" smtClean="0"/>
              <a:t>Withholding Information for the interest of the client </a:t>
            </a:r>
          </a:p>
          <a:p>
            <a:pPr lvl="1" algn="just"/>
            <a:r>
              <a:rPr lang="en-US" dirty="0" smtClean="0"/>
              <a:t>Can you give an example?</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000" b="1" u="sng" dirty="0" smtClean="0"/>
              <a:t/>
            </a:r>
            <a:br>
              <a:rPr lang="en-US" sz="2000" b="1" u="sng" dirty="0" smtClean="0"/>
            </a:br>
            <a:r>
              <a:rPr lang="en-US" sz="2000" b="1" u="sng" dirty="0" smtClean="0"/>
              <a:t>CHAPTER FOUR</a:t>
            </a:r>
            <a:r>
              <a:rPr lang="en-US" sz="2000" dirty="0" smtClean="0"/>
              <a:t/>
            </a:r>
            <a:br>
              <a:rPr lang="en-US" sz="2000" dirty="0" smtClean="0"/>
            </a:br>
            <a:r>
              <a:rPr lang="en-US" sz="2000" b="1" u="sng" dirty="0" smtClean="0"/>
              <a:t>ADVOCATES’ ETHICS . . . Continued </a:t>
            </a:r>
            <a:r>
              <a:rPr lang="en-US" sz="2000" dirty="0" smtClean="0"/>
              <a:t/>
            </a:r>
            <a:br>
              <a:rPr lang="en-US" sz="2000" dirty="0" smtClean="0"/>
            </a:br>
            <a:r>
              <a:rPr lang="en-US" sz="2000" dirty="0" smtClean="0"/>
              <a:t> </a:t>
            </a:r>
            <a:endParaRPr lang="en-US" sz="2000" dirty="0"/>
          </a:p>
        </p:txBody>
      </p:sp>
      <p:sp>
        <p:nvSpPr>
          <p:cNvPr id="3" name="Content Placeholder 2"/>
          <p:cNvSpPr>
            <a:spLocks noGrp="1"/>
          </p:cNvSpPr>
          <p:nvPr>
            <p:ph idx="1"/>
          </p:nvPr>
        </p:nvSpPr>
        <p:spPr>
          <a:xfrm>
            <a:off x="457200" y="1066800"/>
            <a:ext cx="8229600" cy="5334000"/>
          </a:xfrm>
        </p:spPr>
        <p:txBody>
          <a:bodyPr>
            <a:normAutofit fontScale="25000" lnSpcReduction="20000"/>
          </a:bodyPr>
          <a:lstStyle/>
          <a:p>
            <a:pPr algn="ctr">
              <a:buNone/>
            </a:pPr>
            <a:r>
              <a:rPr lang="en-US" sz="9600" b="1" dirty="0" smtClean="0"/>
              <a:t>4.2.1. Duty of Advocates to the Client . . . Continued </a:t>
            </a:r>
          </a:p>
          <a:p>
            <a:pPr algn="ctr">
              <a:buNone/>
            </a:pPr>
            <a:r>
              <a:rPr lang="en-US" sz="9600" b="1" dirty="0" smtClean="0"/>
              <a:t>4.2.1.4. Duty of confidentiality</a:t>
            </a:r>
          </a:p>
          <a:p>
            <a:pPr algn="just"/>
            <a:r>
              <a:rPr lang="en-US" sz="9600" dirty="0" smtClean="0"/>
              <a:t>Black’s Law dictionary: confidentiality: </a:t>
            </a:r>
          </a:p>
          <a:p>
            <a:pPr lvl="1" algn="just"/>
            <a:r>
              <a:rPr lang="en-US" sz="8000" i="1" dirty="0" smtClean="0"/>
              <a:t>1. Secrecy; the state of having the dissemination of certain information restricted. </a:t>
            </a:r>
          </a:p>
          <a:p>
            <a:pPr lvl="1" algn="just"/>
            <a:r>
              <a:rPr lang="en-US" sz="8000" i="1" dirty="0" smtClean="0"/>
              <a:t>2. The relation between lawyer and client or guardian and ward, or between spouses, with regard to the trust that is placed in the one by the other. </a:t>
            </a:r>
          </a:p>
          <a:p>
            <a:pPr algn="just"/>
            <a:r>
              <a:rPr lang="en-US" sz="9600" dirty="0" smtClean="0"/>
              <a:t>Why an advocate is under the duty to be confidential? </a:t>
            </a:r>
          </a:p>
          <a:p>
            <a:pPr algn="just"/>
            <a:r>
              <a:rPr lang="en-US" sz="9600" dirty="0" smtClean="0"/>
              <a:t>Confidentiality is   a key to be transparent.</a:t>
            </a:r>
          </a:p>
          <a:p>
            <a:pPr algn="just"/>
            <a:r>
              <a:rPr lang="en-US" sz="9600" dirty="0" smtClean="0"/>
              <a:t>Confidentiality of Information [Art 10: Reg. no 57/99]</a:t>
            </a:r>
          </a:p>
          <a:p>
            <a:pPr lvl="1" algn="just"/>
            <a:r>
              <a:rPr lang="en-US" sz="9600" dirty="0" smtClean="0"/>
              <a:t>I) </a:t>
            </a:r>
            <a:r>
              <a:rPr lang="en-US" sz="8000" dirty="0" smtClean="0"/>
              <a:t>information obtained in the course of professional service.</a:t>
            </a:r>
          </a:p>
          <a:p>
            <a:pPr lvl="1" algn="just"/>
            <a:r>
              <a:rPr lang="en-US" sz="8000" dirty="0" smtClean="0"/>
              <a:t>2) information relating to his power of representation and any other information. </a:t>
            </a:r>
          </a:p>
          <a:p>
            <a:pPr lvl="1" algn="just"/>
            <a:r>
              <a:rPr lang="en-US" sz="8000" dirty="0" smtClean="0"/>
              <a:t>3) The obligation may not cease because of termination of the contract with the client.</a:t>
            </a:r>
          </a:p>
          <a:p>
            <a:r>
              <a:rPr lang="en-US" sz="9600" dirty="0" smtClean="0"/>
              <a:t>Confidentiality is for life</a:t>
            </a:r>
            <a:endParaRPr lang="en-US" sz="9600"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066800"/>
            <a:ext cx="8229600" cy="5562600"/>
          </a:xfrm>
        </p:spPr>
        <p:txBody>
          <a:bodyPr>
            <a:normAutofit fontScale="92500" lnSpcReduction="20000"/>
          </a:bodyPr>
          <a:lstStyle/>
          <a:p>
            <a:pPr algn="ctr">
              <a:buNone/>
            </a:pPr>
            <a:r>
              <a:rPr lang="en-US" sz="2800" b="1" dirty="0" smtClean="0"/>
              <a:t>4.2.1. Duty of Advocates to the Client . . . Continued </a:t>
            </a:r>
          </a:p>
          <a:p>
            <a:pPr algn="ctr">
              <a:buNone/>
            </a:pPr>
            <a:r>
              <a:rPr lang="en-US" sz="2600" b="1" dirty="0" smtClean="0"/>
              <a:t>4.2.1.4. Duty of confidentiality . . . Continued </a:t>
            </a:r>
          </a:p>
          <a:p>
            <a:pPr algn="just"/>
            <a:r>
              <a:rPr lang="en-US" sz="2400" dirty="0" smtClean="0"/>
              <a:t>Condition of Disclosure [Art 10&amp; 11: Reg. no 57/99]:</a:t>
            </a:r>
          </a:p>
          <a:p>
            <a:pPr lvl="1" algn="just"/>
            <a:r>
              <a:rPr lang="en-US" dirty="0" smtClean="0"/>
              <a:t>When the client consents;</a:t>
            </a:r>
          </a:p>
          <a:p>
            <a:pPr lvl="1" algn="just"/>
            <a:r>
              <a:rPr lang="en-US" dirty="0" smtClean="0"/>
              <a:t>when the information he obtained from the client is necessary for the task he is represented; </a:t>
            </a:r>
          </a:p>
          <a:p>
            <a:pPr lvl="1" algn="just"/>
            <a:r>
              <a:rPr lang="en-US" dirty="0" smtClean="0"/>
              <a:t>to defend himself or claim his interests in a controversy with the client; </a:t>
            </a:r>
          </a:p>
          <a:p>
            <a:pPr lvl="1" algn="just"/>
            <a:r>
              <a:rPr lang="en-US" dirty="0" smtClean="0"/>
              <a:t>when a controversy arises concerning his power of representation; or </a:t>
            </a:r>
          </a:p>
          <a:p>
            <a:pPr lvl="1" algn="just"/>
            <a:r>
              <a:rPr lang="en-US" dirty="0" smtClean="0"/>
              <a:t>to perform his obligations as expressly provided otherwise by law. </a:t>
            </a:r>
            <a:r>
              <a:rPr lang="en-US" sz="2600" dirty="0" smtClean="0"/>
              <a:t>E.g.,</a:t>
            </a:r>
            <a:r>
              <a:rPr lang="en-US" dirty="0" smtClean="0"/>
              <a:t> </a:t>
            </a:r>
          </a:p>
          <a:p>
            <a:pPr lvl="2" algn="just"/>
            <a:r>
              <a:rPr lang="en-US" sz="1900" dirty="0" smtClean="0"/>
              <a:t>Failure to report Crimes Against the Defense Forces and Breaches of Military Obligations. Art 335 (2) </a:t>
            </a:r>
            <a:r>
              <a:rPr lang="en-US" sz="1900" dirty="0" err="1" smtClean="0"/>
              <a:t>CrCo</a:t>
            </a:r>
            <a:r>
              <a:rPr lang="en-US" sz="1900" dirty="0" smtClean="0"/>
              <a:t>; Proc 780/2013 anti-money laundering </a:t>
            </a:r>
            <a:endParaRPr lang="en-US" sz="9500"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800" b="1" u="sng" dirty="0" smtClean="0"/>
              <a:t/>
            </a:r>
            <a:br>
              <a:rPr lang="en-US" sz="2800" b="1" u="sng" dirty="0" smtClean="0"/>
            </a:br>
            <a:r>
              <a:rPr lang="en-US" sz="2800" b="1" u="sng" dirty="0" smtClean="0"/>
              <a:t>CHAPTER FOUR</a:t>
            </a:r>
            <a:r>
              <a:rPr lang="en-US" sz="2800" dirty="0" smtClean="0"/>
              <a:t/>
            </a:r>
            <a:br>
              <a:rPr lang="en-US" sz="2800" dirty="0" smtClean="0"/>
            </a:br>
            <a:r>
              <a:rPr lang="en-US" sz="2800" b="1" u="sng" dirty="0" smtClean="0"/>
              <a:t>ADVOCATES’ ETHICS . . . Continued </a:t>
            </a:r>
            <a:r>
              <a:rPr lang="en-US" sz="2800" dirty="0" smtClean="0"/>
              <a:t/>
            </a:r>
            <a:br>
              <a:rPr lang="en-US" sz="2800" dirty="0" smtClean="0"/>
            </a:br>
            <a:r>
              <a:rPr lang="en-US" sz="2800" dirty="0" smtClean="0"/>
              <a:t> </a:t>
            </a:r>
            <a:endParaRPr lang="en-US" sz="2800" dirty="0"/>
          </a:p>
        </p:txBody>
      </p:sp>
      <p:sp>
        <p:nvSpPr>
          <p:cNvPr id="3" name="Content Placeholder 2"/>
          <p:cNvSpPr>
            <a:spLocks noGrp="1"/>
          </p:cNvSpPr>
          <p:nvPr>
            <p:ph idx="1"/>
          </p:nvPr>
        </p:nvSpPr>
        <p:spPr/>
        <p:txBody>
          <a:bodyPr>
            <a:normAutofit fontScale="85000" lnSpcReduction="20000"/>
          </a:bodyPr>
          <a:lstStyle/>
          <a:p>
            <a:pPr algn="ctr">
              <a:buNone/>
            </a:pPr>
            <a:r>
              <a:rPr lang="en-US" b="1" dirty="0" smtClean="0"/>
              <a:t>4.2.2. Advocates duty to the Court</a:t>
            </a:r>
          </a:p>
          <a:p>
            <a:pPr algn="just"/>
            <a:r>
              <a:rPr lang="en-US" dirty="0" smtClean="0"/>
              <a:t>two maxims : </a:t>
            </a:r>
          </a:p>
          <a:p>
            <a:pPr lvl="1" algn="just"/>
            <a:r>
              <a:rPr lang="en-US" dirty="0" smtClean="0"/>
              <a:t>first, the advocate is an officer of court, and</a:t>
            </a:r>
          </a:p>
          <a:p>
            <a:pPr lvl="1" algn="just"/>
            <a:r>
              <a:rPr lang="en-US" dirty="0" smtClean="0"/>
              <a:t>second, the advocate is not a party to the dispute.</a:t>
            </a:r>
          </a:p>
          <a:p>
            <a:pPr algn="just"/>
            <a:r>
              <a:rPr lang="en-US" dirty="0" smtClean="0"/>
              <a:t>do you agree with these maxims?</a:t>
            </a:r>
          </a:p>
          <a:p>
            <a:pPr lvl="1" algn="just"/>
            <a:endParaRPr lang="en-US" dirty="0" smtClean="0"/>
          </a:p>
          <a:p>
            <a:r>
              <a:rPr lang="en-US" i="1" dirty="0" smtClean="0"/>
              <a:t>The duty not to submit or aid the submission of false evidence in court:</a:t>
            </a:r>
          </a:p>
          <a:p>
            <a:r>
              <a:rPr lang="en-US" i="1" dirty="0" smtClean="0"/>
              <a:t>The duty not to interfere with the due process of court:</a:t>
            </a:r>
          </a:p>
          <a:p>
            <a:r>
              <a:rPr lang="en-US" dirty="0" smtClean="0"/>
              <a:t>Obligations of Advocate in Proceedings </a:t>
            </a:r>
            <a:r>
              <a:rPr lang="en-US" sz="2600" dirty="0" smtClean="0"/>
              <a:t>[Art 56: Reg. no 57/99]</a:t>
            </a:r>
            <a:endParaRPr lang="en-US" i="1" dirty="0" smtClean="0"/>
          </a:p>
          <a:p>
            <a:endParaRPr lang="en-US" b="1" i="1" dirty="0" smtClean="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2800" b="1" u="sng" dirty="0" smtClean="0"/>
              <a:t/>
            </a:r>
            <a:br>
              <a:rPr lang="en-US" sz="2800" b="1" u="sng" dirty="0" smtClean="0"/>
            </a:br>
            <a:r>
              <a:rPr lang="en-US" sz="2800" b="1" u="sng" dirty="0" smtClean="0"/>
              <a:t>CHAPTER FOUR</a:t>
            </a:r>
            <a:r>
              <a:rPr lang="en-US" sz="2800" dirty="0" smtClean="0"/>
              <a:t/>
            </a:r>
            <a:br>
              <a:rPr lang="en-US" sz="2800" dirty="0" smtClean="0"/>
            </a:br>
            <a:r>
              <a:rPr lang="en-US" sz="2800" b="1" u="sng" dirty="0" smtClean="0"/>
              <a:t>ADVOCATES’ ETHICS . . . Continued </a:t>
            </a:r>
            <a:r>
              <a:rPr lang="en-US" sz="2800" dirty="0" smtClean="0"/>
              <a:t/>
            </a:r>
            <a:br>
              <a:rPr lang="en-US" sz="2800" dirty="0" smtClean="0"/>
            </a:br>
            <a:r>
              <a:rPr lang="en-US" sz="2800" dirty="0" smtClean="0"/>
              <a:t> </a:t>
            </a:r>
            <a:endParaRPr lang="en-US" sz="2800" dirty="0"/>
          </a:p>
        </p:txBody>
      </p:sp>
      <p:sp>
        <p:nvSpPr>
          <p:cNvPr id="3" name="Content Placeholder 2"/>
          <p:cNvSpPr>
            <a:spLocks noGrp="1"/>
          </p:cNvSpPr>
          <p:nvPr>
            <p:ph idx="1"/>
          </p:nvPr>
        </p:nvSpPr>
        <p:spPr>
          <a:xfrm>
            <a:off x="533400" y="1600200"/>
            <a:ext cx="8229600" cy="4525963"/>
          </a:xfrm>
        </p:spPr>
        <p:txBody>
          <a:bodyPr>
            <a:normAutofit fontScale="85000" lnSpcReduction="10000"/>
          </a:bodyPr>
          <a:lstStyle/>
          <a:p>
            <a:pPr algn="ctr">
              <a:buNone/>
            </a:pPr>
            <a:r>
              <a:rPr lang="en-US" b="1" dirty="0" smtClean="0"/>
              <a:t>4.2.3. Duty to opposing party and opposing counsel</a:t>
            </a:r>
          </a:p>
          <a:p>
            <a:pPr lvl="1" algn="just"/>
            <a:r>
              <a:rPr lang="en-US" dirty="0" smtClean="0"/>
              <a:t>Best interest of their client vs. duty to opposing party </a:t>
            </a:r>
          </a:p>
          <a:p>
            <a:pPr lvl="1" algn="just"/>
            <a:r>
              <a:rPr lang="en-US" dirty="0" smtClean="0"/>
              <a:t>Any advocate may not bring a case and defend a proceeding merely to harass an opposing party </a:t>
            </a:r>
            <a:r>
              <a:rPr lang="en-US" sz="2200" dirty="0" smtClean="0"/>
              <a:t>[Art 28: Reg. no 57/99]</a:t>
            </a:r>
            <a:endParaRPr lang="en-US" dirty="0" smtClean="0"/>
          </a:p>
          <a:p>
            <a:pPr lvl="1" algn="just"/>
            <a:r>
              <a:rPr lang="en-US" dirty="0" smtClean="0"/>
              <a:t>fair and courteous treatment; refrain from using abusive or threatening language.</a:t>
            </a:r>
          </a:p>
          <a:p>
            <a:pPr lvl="1" algn="just"/>
            <a:r>
              <a:rPr lang="en-US" dirty="0" smtClean="0"/>
              <a:t>Duty of fairness to an opposing party </a:t>
            </a:r>
            <a:r>
              <a:rPr lang="en-US" sz="2200" dirty="0" smtClean="0"/>
              <a:t>[Art 29: Reg. no 57/99]</a:t>
            </a:r>
            <a:endParaRPr lang="en-US" dirty="0" smtClean="0"/>
          </a:p>
          <a:p>
            <a:pPr lvl="1" algn="just"/>
            <a:r>
              <a:rPr lang="en-US" dirty="0" smtClean="0"/>
              <a:t>Advocate’s duty to an unrepresented party </a:t>
            </a:r>
            <a:r>
              <a:rPr lang="en-US" sz="2200" dirty="0" smtClean="0"/>
              <a:t>[Art 30: Reg. no 57/99]</a:t>
            </a:r>
          </a:p>
          <a:p>
            <a:pPr lvl="1" algn="just"/>
            <a:r>
              <a:rPr lang="en-US" dirty="0" smtClean="0"/>
              <a:t>Advocate’s duty to colleagues [Art 55: Reg. no 57/99]</a:t>
            </a:r>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143000"/>
            <a:ext cx="8229600" cy="5334000"/>
          </a:xfrm>
        </p:spPr>
        <p:txBody>
          <a:bodyPr>
            <a:normAutofit fontScale="85000" lnSpcReduction="20000"/>
          </a:bodyPr>
          <a:lstStyle/>
          <a:p>
            <a:pPr algn="ctr">
              <a:buNone/>
            </a:pPr>
            <a:r>
              <a:rPr lang="en-US" sz="2800" b="1" dirty="0" smtClean="0"/>
              <a:t>4.2.4</a:t>
            </a:r>
            <a:r>
              <a:rPr lang="en-US" sz="3400" b="1" dirty="0" smtClean="0"/>
              <a:t>. Duty to the community/nation</a:t>
            </a:r>
          </a:p>
          <a:p>
            <a:pPr algn="just"/>
            <a:r>
              <a:rPr lang="en-US" dirty="0" smtClean="0"/>
              <a:t>Is there any duty to the community?</a:t>
            </a:r>
          </a:p>
          <a:p>
            <a:pPr lvl="1" algn="just"/>
            <a:r>
              <a:rPr lang="en-US" dirty="0" smtClean="0"/>
              <a:t>Duty of building public trust- ‘lawyers are liars’, </a:t>
            </a:r>
          </a:p>
          <a:p>
            <a:pPr lvl="2" algn="just"/>
            <a:r>
              <a:rPr lang="en-US" dirty="0" smtClean="0">
                <a:solidFill>
                  <a:srgbClr val="FF0000"/>
                </a:solidFill>
              </a:rPr>
              <a:t>doctors inhabit the first circle of hell, lawyers the second</a:t>
            </a:r>
          </a:p>
          <a:p>
            <a:pPr lvl="1" algn="just"/>
            <a:r>
              <a:rPr lang="en-US" dirty="0" smtClean="0"/>
              <a:t>Duty of creating awareness of the public about the law and administration of justice – e.g., many people consider bail as absconding method </a:t>
            </a:r>
          </a:p>
          <a:p>
            <a:pPr algn="just"/>
            <a:r>
              <a:rPr lang="en-US" dirty="0" smtClean="0"/>
              <a:t>Pro bono </a:t>
            </a:r>
            <a:r>
              <a:rPr lang="en-US" dirty="0" err="1" smtClean="0"/>
              <a:t>publico</a:t>
            </a:r>
            <a:r>
              <a:rPr lang="en-US" dirty="0" smtClean="0"/>
              <a:t> service [Art 49: Reg. no 57/99] </a:t>
            </a:r>
          </a:p>
          <a:p>
            <a:pPr lvl="1"/>
            <a:r>
              <a:rPr lang="en-US" dirty="0" smtClean="0"/>
              <a:t>Any advocate shall render at least 50 hours of legal service, in a year, free of charge or upon minimum payment, to:</a:t>
            </a:r>
          </a:p>
          <a:p>
            <a:pPr lvl="2" algn="just"/>
            <a:r>
              <a:rPr lang="en-US" dirty="0" smtClean="0"/>
              <a:t>1) Persons who can not afford to pay;</a:t>
            </a:r>
          </a:p>
          <a:p>
            <a:pPr lvl="2" algn="just"/>
            <a:r>
              <a:rPr lang="en-US" dirty="0" smtClean="0"/>
              <a:t>2) Charity organizations, civic organizations, community institutions;</a:t>
            </a:r>
          </a:p>
          <a:p>
            <a:pPr lvl="2" algn="just"/>
            <a:r>
              <a:rPr lang="en-US" dirty="0" smtClean="0"/>
              <a:t>3)  Persons to whom courts requests legal services;</a:t>
            </a:r>
          </a:p>
          <a:p>
            <a:pPr lvl="2" algn="just"/>
            <a:r>
              <a:rPr lang="en-US" dirty="0" smtClean="0"/>
              <a:t>4) Communities and institutions that work for improving the law, the legal profession and the justice system.</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u="sng" dirty="0" smtClean="0"/>
              <a:t/>
            </a:r>
            <a:br>
              <a:rPr lang="en-US" sz="2800" b="1" u="sng" dirty="0" smtClean="0"/>
            </a:br>
            <a:r>
              <a:rPr lang="en-US" sz="2800" b="1" u="sng" dirty="0" smtClean="0"/>
              <a:t>CHAPTER FOUR</a:t>
            </a:r>
            <a:r>
              <a:rPr lang="en-US" sz="2800" dirty="0" smtClean="0"/>
              <a:t/>
            </a:r>
            <a:br>
              <a:rPr lang="en-US" sz="2800" dirty="0" smtClean="0"/>
            </a:br>
            <a:r>
              <a:rPr lang="en-US" sz="2800" b="1" u="sng" dirty="0" smtClean="0"/>
              <a:t>ADVOCATES’ ETHICS . . . Continued </a:t>
            </a:r>
            <a:r>
              <a:rPr lang="en-US" sz="2800" dirty="0" smtClean="0"/>
              <a:t/>
            </a:r>
            <a:br>
              <a:rPr lang="en-US" sz="2800" dirty="0" smtClean="0"/>
            </a:br>
            <a:r>
              <a:rPr lang="en-US" sz="2800" dirty="0" smtClean="0"/>
              <a:t> </a:t>
            </a:r>
            <a:endParaRPr lang="en-US" sz="2800" dirty="0"/>
          </a:p>
        </p:txBody>
      </p:sp>
      <p:sp>
        <p:nvSpPr>
          <p:cNvPr id="3" name="Content Placeholder 2"/>
          <p:cNvSpPr>
            <a:spLocks noGrp="1"/>
          </p:cNvSpPr>
          <p:nvPr>
            <p:ph idx="1"/>
          </p:nvPr>
        </p:nvSpPr>
        <p:spPr/>
        <p:txBody>
          <a:bodyPr>
            <a:normAutofit/>
          </a:bodyPr>
          <a:lstStyle/>
          <a:p>
            <a:pPr algn="ctr">
              <a:buNone/>
            </a:pPr>
            <a:r>
              <a:rPr lang="en-US" sz="2400" b="1" dirty="0" smtClean="0"/>
              <a:t>4.2.4</a:t>
            </a:r>
            <a:r>
              <a:rPr lang="en-US" b="1" dirty="0" smtClean="0"/>
              <a:t>. Duty to the community/nation</a:t>
            </a:r>
            <a:endParaRPr lang="en-US" dirty="0" smtClean="0"/>
          </a:p>
          <a:p>
            <a:pPr algn="just"/>
            <a:r>
              <a:rPr lang="en-US" dirty="0" smtClean="0"/>
              <a:t>Duty of an advocate to oneself?</a:t>
            </a:r>
          </a:p>
          <a:p>
            <a:r>
              <a:rPr lang="en-US" dirty="0" smtClean="0"/>
              <a:t>Communications Concerning Services [Art 50: Reg. no 57/99]  </a:t>
            </a:r>
          </a:p>
          <a:p>
            <a:pPr lvl="1"/>
            <a:r>
              <a:rPr lang="en-US" dirty="0" smtClean="0"/>
              <a:t>Any advocate may not give false or misleading communication about himself or his services.</a:t>
            </a:r>
          </a:p>
          <a:p>
            <a:r>
              <a:rPr lang="en-US" dirty="0" smtClean="0"/>
              <a:t>Advertising legal service [Art 52: Reg. no 57/99] </a:t>
            </a:r>
          </a:p>
          <a:p>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219200"/>
            <a:ext cx="8229600" cy="4906963"/>
          </a:xfrm>
        </p:spPr>
        <p:txBody>
          <a:bodyPr>
            <a:normAutofit fontScale="92500" lnSpcReduction="20000"/>
          </a:bodyPr>
          <a:lstStyle/>
          <a:p>
            <a:pPr algn="ctr">
              <a:buNone/>
            </a:pPr>
            <a:r>
              <a:rPr lang="en-US" b="1" dirty="0" smtClean="0"/>
              <a:t>4.3. Contract of Advocacy</a:t>
            </a:r>
            <a:endParaRPr lang="en-US" dirty="0" smtClean="0"/>
          </a:p>
          <a:p>
            <a:r>
              <a:rPr lang="en-US" dirty="0" smtClean="0"/>
              <a:t>As a contract it is governed by the general principles of contract </a:t>
            </a:r>
          </a:p>
          <a:p>
            <a:r>
              <a:rPr lang="en-US" dirty="0" smtClean="0"/>
              <a:t>But as a contract of professional service, it has its own peculiar features </a:t>
            </a:r>
          </a:p>
          <a:p>
            <a:r>
              <a:rPr lang="en-US" dirty="0" smtClean="0"/>
              <a:t>Freedom of contract in contract of advocacy restricted by ethical constraints </a:t>
            </a:r>
          </a:p>
          <a:p>
            <a:r>
              <a:rPr lang="en-US" dirty="0" smtClean="0">
                <a:solidFill>
                  <a:srgbClr val="FF0000"/>
                </a:solidFill>
              </a:rPr>
              <a:t>Declining advocacy service</a:t>
            </a:r>
            <a:r>
              <a:rPr lang="en-US" sz="2800" dirty="0" smtClean="0">
                <a:solidFill>
                  <a:srgbClr val="FF0000"/>
                </a:solidFill>
              </a:rPr>
              <a:t>:</a:t>
            </a:r>
            <a:endParaRPr lang="en-US" sz="2800" dirty="0" smtClean="0"/>
          </a:p>
          <a:p>
            <a:pPr lvl="1"/>
            <a:r>
              <a:rPr lang="en-US" sz="2400" dirty="0" smtClean="0"/>
              <a:t>Can an advocate say no to render advocacy service on the ground that the case is immoral or  a crime is heinous? </a:t>
            </a:r>
            <a:r>
              <a:rPr lang="en-US" sz="1500" dirty="0" smtClean="0"/>
              <a:t>[Art 5 of Reg. no 57/99]</a:t>
            </a:r>
            <a:endParaRPr lang="en-US" dirty="0" smtClean="0"/>
          </a:p>
          <a:p>
            <a:r>
              <a:rPr lang="en-US" dirty="0" smtClean="0"/>
              <a:t>Object of contract of advocacy:</a:t>
            </a:r>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219200"/>
            <a:ext cx="8229600" cy="4906963"/>
          </a:xfrm>
        </p:spPr>
        <p:txBody>
          <a:bodyPr>
            <a:normAutofit fontScale="85000" lnSpcReduction="20000"/>
          </a:bodyPr>
          <a:lstStyle/>
          <a:p>
            <a:pPr algn="ctr">
              <a:buNone/>
            </a:pPr>
            <a:r>
              <a:rPr lang="en-US" sz="3600" b="1" dirty="0" smtClean="0"/>
              <a:t>4.3. Contract of Advocacy . . . Continued </a:t>
            </a:r>
            <a:endParaRPr lang="en-US" sz="3600" dirty="0" smtClean="0"/>
          </a:p>
          <a:p>
            <a:pPr marL="514350" indent="-514350" algn="ctr">
              <a:buAutoNum type="alphaUcPeriod"/>
            </a:pPr>
            <a:r>
              <a:rPr lang="en-US" sz="3100" b="1" dirty="0" smtClean="0"/>
              <a:t>Scope of Representation</a:t>
            </a:r>
          </a:p>
          <a:p>
            <a:pPr marL="514350" indent="-514350" algn="just">
              <a:buNone/>
            </a:pPr>
            <a:r>
              <a:rPr lang="en-US" dirty="0" smtClean="0"/>
              <a:t>The object of contract of advocacy is rendering legal service for fee </a:t>
            </a:r>
          </a:p>
          <a:p>
            <a:pPr algn="just"/>
            <a:r>
              <a:rPr lang="en-US" dirty="0" smtClean="0"/>
              <a:t>Scope of the legal service is to be determined by the contract </a:t>
            </a:r>
          </a:p>
          <a:p>
            <a:pPr algn="just"/>
            <a:r>
              <a:rPr lang="en-US" dirty="0" smtClean="0"/>
              <a:t>The advocate should respect the clients decisions so long as they are not illicit </a:t>
            </a:r>
          </a:p>
          <a:p>
            <a:pPr lvl="1" algn="just"/>
            <a:r>
              <a:rPr lang="en-US" dirty="0" smtClean="0"/>
              <a:t>When the assistance required or service requested by the client is in violation of these regulations or other law, the advocate shall explain the reason why he can not render service and dismiss the client if the client fails to make corrections based on the advice given. </a:t>
            </a:r>
            <a:r>
              <a:rPr lang="en-US" sz="2600" dirty="0" smtClean="0"/>
              <a:t>[Art 7(3): Reg. no 57/99]</a:t>
            </a:r>
            <a:endParaRPr lang="en-US" dirty="0" smtClean="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143000"/>
            <a:ext cx="8229600" cy="5334000"/>
          </a:xfrm>
        </p:spPr>
        <p:txBody>
          <a:bodyPr>
            <a:normAutofit fontScale="40000" lnSpcReduction="20000"/>
          </a:bodyPr>
          <a:lstStyle/>
          <a:p>
            <a:pPr algn="ctr">
              <a:buNone/>
            </a:pPr>
            <a:r>
              <a:rPr lang="en-US" sz="7400" b="1" dirty="0" smtClean="0"/>
              <a:t>4.3. Contract of Advocacy . . . Continued </a:t>
            </a:r>
            <a:endParaRPr lang="en-US" sz="7400" dirty="0" smtClean="0"/>
          </a:p>
          <a:p>
            <a:pPr marL="514350" indent="-514350" algn="ctr">
              <a:buNone/>
            </a:pPr>
            <a:r>
              <a:rPr lang="en-US" sz="6200" b="1" dirty="0" smtClean="0"/>
              <a:t>B. Fee </a:t>
            </a:r>
          </a:p>
          <a:p>
            <a:pPr marL="514350" indent="-514350" algn="just"/>
            <a:r>
              <a:rPr lang="en-US" sz="6000" dirty="0" smtClean="0"/>
              <a:t>Fee is contractual though it has restrictions </a:t>
            </a:r>
          </a:p>
          <a:p>
            <a:pPr algn="just"/>
            <a:r>
              <a:rPr lang="en-US" sz="5600" dirty="0" smtClean="0"/>
              <a:t>The fee any advocate requires from his client shall be </a:t>
            </a:r>
            <a:r>
              <a:rPr lang="en-US" sz="5600" dirty="0" smtClean="0">
                <a:solidFill>
                  <a:srgbClr val="0070C0"/>
                </a:solidFill>
              </a:rPr>
              <a:t>fair and reasonable.</a:t>
            </a:r>
            <a:r>
              <a:rPr lang="en-US" sz="5600" dirty="0" smtClean="0"/>
              <a:t> The following factors must be considered in determining the amount of the fee:</a:t>
            </a:r>
            <a:r>
              <a:rPr lang="en-US" sz="6000" dirty="0" smtClean="0"/>
              <a:t> </a:t>
            </a:r>
            <a:r>
              <a:rPr lang="en-US" sz="4000" dirty="0" smtClean="0"/>
              <a:t>[Art 42: Reg. no 57/99]</a:t>
            </a:r>
            <a:endParaRPr lang="en-US" sz="5600" dirty="0" smtClean="0"/>
          </a:p>
          <a:p>
            <a:pPr lvl="1" algn="just"/>
            <a:r>
              <a:rPr lang="en-US" sz="5200" dirty="0" smtClean="0"/>
              <a:t>I) the time and labor required of the service given to the client;</a:t>
            </a:r>
          </a:p>
          <a:p>
            <a:pPr lvl="1" algn="just"/>
            <a:r>
              <a:rPr lang="en-US" sz="5200" dirty="0" smtClean="0"/>
              <a:t>2) the skill required to perform the service properly, the novelty and difficulty of the case;</a:t>
            </a:r>
          </a:p>
          <a:p>
            <a:pPr lvl="1" algn="just"/>
            <a:r>
              <a:rPr lang="en-US" sz="5200" dirty="0" smtClean="0"/>
              <a:t>3) the likelihood that the particular agreement with a client will preclude the advocate from dealing with other clients' cases;</a:t>
            </a:r>
          </a:p>
          <a:p>
            <a:pPr lvl="1" algn="just"/>
            <a:r>
              <a:rPr lang="en-US" sz="5200" dirty="0" smtClean="0"/>
              <a:t>4) the fee ,customarily charged for similar legal services;</a:t>
            </a:r>
          </a:p>
          <a:p>
            <a:pPr lvl="1" algn="just"/>
            <a:r>
              <a:rPr lang="en-US" sz="5200" dirty="0" smtClean="0"/>
              <a:t>5) the amount the claim involved and the results obtained;</a:t>
            </a:r>
          </a:p>
          <a:p>
            <a:pPr lvl="1" algn="just"/>
            <a:r>
              <a:rPr lang="en-US" sz="5200" dirty="0" smtClean="0"/>
              <a:t>6) the length of the professional relationship with the client;</a:t>
            </a:r>
          </a:p>
          <a:p>
            <a:pPr lvl="1" algn="just"/>
            <a:r>
              <a:rPr lang="en-US" sz="5200" dirty="0" smtClean="0"/>
              <a:t>7) the experience, reputation and ability of the advocate; and</a:t>
            </a:r>
          </a:p>
          <a:p>
            <a:pPr lvl="1" algn="just"/>
            <a:r>
              <a:rPr lang="en-US" sz="5200" dirty="0" smtClean="0"/>
              <a:t>8) similar other factors.</a:t>
            </a:r>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219200"/>
            <a:ext cx="8229600" cy="4906963"/>
          </a:xfrm>
        </p:spPr>
        <p:txBody>
          <a:bodyPr>
            <a:normAutofit/>
          </a:bodyPr>
          <a:lstStyle/>
          <a:p>
            <a:pPr algn="ctr">
              <a:buNone/>
            </a:pPr>
            <a:r>
              <a:rPr lang="en-US" sz="2400" b="1" dirty="0" smtClean="0"/>
              <a:t>4.3. Contract of Advocacy . . . Continued </a:t>
            </a:r>
            <a:endParaRPr lang="en-US" sz="2400" dirty="0" smtClean="0"/>
          </a:p>
          <a:p>
            <a:pPr marL="514350" indent="-514350" algn="ctr">
              <a:buNone/>
            </a:pPr>
            <a:r>
              <a:rPr lang="en-US" sz="2400" b="1" dirty="0" smtClean="0"/>
              <a:t>B. Fee . . . Continued </a:t>
            </a:r>
          </a:p>
          <a:p>
            <a:r>
              <a:rPr lang="en-US" sz="2400" b="1" dirty="0" smtClean="0"/>
              <a:t>Contingent Fee Agreement</a:t>
            </a:r>
            <a:r>
              <a:rPr lang="en-US" sz="2400" dirty="0" smtClean="0"/>
              <a:t> [Art 44: Reg. no 57/99]</a:t>
            </a:r>
            <a:endParaRPr lang="en-US" sz="2400" b="1" dirty="0" smtClean="0"/>
          </a:p>
          <a:p>
            <a:r>
              <a:rPr lang="en-US" sz="2400" dirty="0" smtClean="0"/>
              <a:t>Contract of advocacy is not a contract of result but a contract  of diligence </a:t>
            </a:r>
          </a:p>
          <a:p>
            <a:r>
              <a:rPr lang="en-US" sz="2400" dirty="0" smtClean="0"/>
              <a:t>But contingent fee agreement is allowed </a:t>
            </a:r>
          </a:p>
          <a:p>
            <a:r>
              <a:rPr lang="en-US" sz="2400" dirty="0" smtClean="0"/>
              <a:t>Contingent fee agreement is not allowed on: </a:t>
            </a:r>
            <a:r>
              <a:rPr lang="en-US" sz="1800" dirty="0" smtClean="0"/>
              <a:t>[Art 45: Reg. no 57/99]</a:t>
            </a:r>
            <a:endParaRPr lang="en-US" sz="2400" dirty="0" smtClean="0"/>
          </a:p>
          <a:p>
            <a:pPr lvl="1"/>
            <a:r>
              <a:rPr lang="en-US" sz="2000" dirty="0" smtClean="0"/>
              <a:t>Divorce and alimony of support </a:t>
            </a:r>
          </a:p>
          <a:p>
            <a:pPr lvl="1"/>
            <a:r>
              <a:rPr lang="en-US" sz="2000" dirty="0" smtClean="0"/>
              <a:t>Criminal decision and penalty </a:t>
            </a:r>
            <a:endParaRPr lang="en-US" sz="2000"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FOUR</a:t>
            </a:r>
            <a:r>
              <a:rPr lang="en-US" sz="2400" dirty="0" smtClean="0"/>
              <a:t/>
            </a:r>
            <a:br>
              <a:rPr lang="en-US" sz="2400" dirty="0" smtClean="0"/>
            </a:br>
            <a:r>
              <a:rPr lang="en-US" sz="2400" b="1" u="sng" dirty="0" smtClean="0"/>
              <a:t>ADVOCATES’ ETHICS . . . Continued </a:t>
            </a:r>
            <a:r>
              <a:rPr lang="en-US" sz="2400" dirty="0" smtClean="0"/>
              <a:t/>
            </a:r>
            <a:br>
              <a:rPr lang="en-US" sz="2400" dirty="0" smtClean="0"/>
            </a:br>
            <a:r>
              <a:rPr lang="en-US" sz="2400" dirty="0" smtClean="0"/>
              <a:t> </a:t>
            </a:r>
            <a:endParaRPr lang="en-US" sz="2400" dirty="0"/>
          </a:p>
        </p:txBody>
      </p:sp>
      <p:sp>
        <p:nvSpPr>
          <p:cNvPr id="3" name="Content Placeholder 2"/>
          <p:cNvSpPr>
            <a:spLocks noGrp="1"/>
          </p:cNvSpPr>
          <p:nvPr>
            <p:ph idx="1"/>
          </p:nvPr>
        </p:nvSpPr>
        <p:spPr>
          <a:xfrm>
            <a:off x="457200" y="1219200"/>
            <a:ext cx="8229600" cy="4906963"/>
          </a:xfrm>
        </p:spPr>
        <p:txBody>
          <a:bodyPr/>
          <a:lstStyle/>
          <a:p>
            <a:pPr algn="ctr">
              <a:buNone/>
            </a:pPr>
            <a:r>
              <a:rPr lang="en-US" sz="2400" b="1" dirty="0" smtClean="0"/>
              <a:t>4.4.  Non-professional Subsidiary Activities</a:t>
            </a:r>
          </a:p>
          <a:p>
            <a:pPr algn="just"/>
            <a:r>
              <a:rPr lang="en-US" sz="2400" dirty="0" smtClean="0"/>
              <a:t>An advocate may engage in subsidiary activities so long as it doesn’t affect the loyalty, independence, competence and honor of his advocacy profession. </a:t>
            </a:r>
            <a:r>
              <a:rPr lang="en-US" sz="1800" dirty="0" smtClean="0"/>
              <a:t>[Art 23(1): Reg. no 57/99]</a:t>
            </a:r>
            <a:endParaRPr lang="en-US" sz="2400" dirty="0" smtClean="0"/>
          </a:p>
          <a:p>
            <a:pPr algn="just"/>
            <a:r>
              <a:rPr lang="en-US" sz="2400" dirty="0" smtClean="0"/>
              <a:t>In this case, the advocate has an obligation to notify her client about the nature and extent of her subsidiary activities </a:t>
            </a:r>
            <a:r>
              <a:rPr lang="en-US" sz="1800" dirty="0" smtClean="0"/>
              <a:t>[Art 23(2): Reg. no 57/99]</a:t>
            </a:r>
          </a:p>
          <a:p>
            <a:pPr algn="just"/>
            <a:r>
              <a:rPr lang="en-US" sz="2400" dirty="0" smtClean="0"/>
              <a:t>Can you mention activities that would affect advocate’s professional duty?</a:t>
            </a:r>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u="sng" dirty="0" smtClean="0"/>
              <a:t/>
            </a:r>
            <a:br>
              <a:rPr lang="en-US" sz="3200" b="1" u="sng" dirty="0" smtClean="0"/>
            </a:br>
            <a:r>
              <a:rPr lang="en-US" sz="3200" b="1" u="sng" dirty="0" smtClean="0"/>
              <a:t>CHAPTER FIVE</a:t>
            </a:r>
            <a:r>
              <a:rPr lang="en-US" sz="3200" dirty="0" smtClean="0"/>
              <a:t/>
            </a:r>
            <a:br>
              <a:rPr lang="en-US" sz="3200" dirty="0" smtClean="0"/>
            </a:br>
            <a:r>
              <a:rPr lang="en-US" sz="3200" b="1" u="sng" dirty="0" smtClean="0"/>
              <a:t>ETHICS OF THE PUBLIC PROSECUTOR</a:t>
            </a:r>
            <a:r>
              <a:rPr lang="en-US" sz="3200" dirty="0" smtClean="0"/>
              <a:t/>
            </a:r>
            <a:br>
              <a:rPr lang="en-US" sz="3200" dirty="0" smtClean="0"/>
            </a:br>
            <a:endParaRPr lang="en-US" sz="3200" dirty="0"/>
          </a:p>
        </p:txBody>
      </p:sp>
      <p:sp>
        <p:nvSpPr>
          <p:cNvPr id="3" name="Content Placeholder 2"/>
          <p:cNvSpPr>
            <a:spLocks noGrp="1"/>
          </p:cNvSpPr>
          <p:nvPr>
            <p:ph idx="1"/>
          </p:nvPr>
        </p:nvSpPr>
        <p:spPr>
          <a:xfrm>
            <a:off x="457200" y="1600200"/>
            <a:ext cx="8229600" cy="4953000"/>
          </a:xfrm>
        </p:spPr>
        <p:txBody>
          <a:bodyPr>
            <a:normAutofit fontScale="62500" lnSpcReduction="20000"/>
          </a:bodyPr>
          <a:lstStyle/>
          <a:p>
            <a:pPr algn="ctr">
              <a:buNone/>
            </a:pPr>
            <a:r>
              <a:rPr lang="en-US" sz="3400" b="1" dirty="0" smtClean="0"/>
              <a:t>Matters of discussion:</a:t>
            </a:r>
          </a:p>
          <a:p>
            <a:r>
              <a:rPr lang="en-US" dirty="0" smtClean="0"/>
              <a:t>5.1. The Concept of Prosecution </a:t>
            </a:r>
          </a:p>
          <a:p>
            <a:r>
              <a:rPr lang="en-US" dirty="0" smtClean="0"/>
              <a:t>5.2.</a:t>
            </a:r>
            <a:r>
              <a:rPr lang="en-US" b="1" dirty="0" smtClean="0"/>
              <a:t> Eligibility</a:t>
            </a:r>
          </a:p>
          <a:p>
            <a:r>
              <a:rPr lang="en-US" dirty="0" smtClean="0"/>
              <a:t>5.3. </a:t>
            </a:r>
            <a:r>
              <a:rPr lang="en-US" b="1" dirty="0" smtClean="0"/>
              <a:t>Ethical Principles for the Functions of Public Prosecutor</a:t>
            </a:r>
          </a:p>
          <a:p>
            <a:r>
              <a:rPr lang="en-US" dirty="0" smtClean="0"/>
              <a:t>5.3.1. Independence, Impartiality and Immunity</a:t>
            </a:r>
          </a:p>
          <a:p>
            <a:r>
              <a:rPr lang="en-US" dirty="0" smtClean="0"/>
              <a:t>5.3.2. Confidentiality</a:t>
            </a:r>
          </a:p>
          <a:p>
            <a:r>
              <a:rPr lang="en-US" dirty="0" smtClean="0"/>
              <a:t>5.3.3. Competence and Diligence</a:t>
            </a:r>
          </a:p>
          <a:p>
            <a:r>
              <a:rPr lang="en-US" dirty="0" smtClean="0"/>
              <a:t>5.3.4. Loyalty and Avoidance of Conflict of Interest</a:t>
            </a:r>
          </a:p>
          <a:p>
            <a:r>
              <a:rPr lang="en-US" dirty="0" smtClean="0"/>
              <a:t>5.4. </a:t>
            </a:r>
            <a:r>
              <a:rPr lang="en-US" b="1" dirty="0" smtClean="0"/>
              <a:t>In Relation to the Accused, the Court and Other Institutions</a:t>
            </a:r>
          </a:p>
          <a:p>
            <a:r>
              <a:rPr lang="en-US" dirty="0" smtClean="0"/>
              <a:t>5.5. </a:t>
            </a:r>
            <a:r>
              <a:rPr lang="en-US" b="1" dirty="0" smtClean="0"/>
              <a:t>Engaging in Activities Outside Official Duties</a:t>
            </a:r>
          </a:p>
          <a:p>
            <a:r>
              <a:rPr lang="en-US" dirty="0" smtClean="0"/>
              <a:t>5.6. </a:t>
            </a:r>
            <a:r>
              <a:rPr lang="en-US" b="1" dirty="0" smtClean="0"/>
              <a:t>Other Ethical Considerations</a:t>
            </a:r>
          </a:p>
          <a:p>
            <a:r>
              <a:rPr lang="en-US" dirty="0" smtClean="0"/>
              <a:t>5.7. </a:t>
            </a:r>
            <a:r>
              <a:rPr lang="en-US" b="1" dirty="0" smtClean="0"/>
              <a:t>Liability for Violation of Codes of Conduct for Prosecutors</a:t>
            </a:r>
          </a:p>
          <a:p>
            <a:r>
              <a:rPr lang="en-US" dirty="0" smtClean="0"/>
              <a:t>5.7.1. Administrative (Disciplinary) Liabilities</a:t>
            </a:r>
          </a:p>
          <a:p>
            <a:r>
              <a:rPr lang="en-US" dirty="0" smtClean="0"/>
              <a:t>5.7.2. Criminal Liabilities</a:t>
            </a:r>
          </a:p>
          <a:p>
            <a:r>
              <a:rPr lang="en-US" dirty="0" smtClean="0"/>
              <a:t>5.7.3. Civil Liabilities</a:t>
            </a:r>
            <a:endParaRPr 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FIVE</a:t>
            </a:r>
            <a:r>
              <a:rPr lang="en-US" sz="2800" dirty="0" smtClean="0"/>
              <a:t/>
            </a:r>
            <a:br>
              <a:rPr lang="en-US" sz="2800" dirty="0" smtClean="0"/>
            </a:br>
            <a:r>
              <a:rPr lang="en-US" sz="2800" b="1" u="sng" dirty="0" smtClean="0"/>
              <a:t>ETHICS OF THE PUBLIC PROSECUTOR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143000"/>
            <a:ext cx="8229600" cy="5410200"/>
          </a:xfrm>
        </p:spPr>
        <p:txBody>
          <a:bodyPr>
            <a:normAutofit fontScale="62500" lnSpcReduction="20000"/>
          </a:bodyPr>
          <a:lstStyle/>
          <a:p>
            <a:pPr algn="ctr">
              <a:buNone/>
            </a:pPr>
            <a:r>
              <a:rPr lang="en-US" sz="3800" b="1" dirty="0" smtClean="0"/>
              <a:t>5.1. The Concept of Prosecution</a:t>
            </a:r>
          </a:p>
          <a:p>
            <a:pPr algn="just"/>
            <a:r>
              <a:rPr lang="en-US" sz="3700" dirty="0" smtClean="0"/>
              <a:t>Black’s Law </a:t>
            </a:r>
            <a:r>
              <a:rPr lang="en-US" sz="3700" dirty="0" err="1" smtClean="0"/>
              <a:t>Dic</a:t>
            </a:r>
            <a:r>
              <a:rPr lang="en-US" sz="3700" dirty="0" smtClean="0"/>
              <a:t>: prosecution. </a:t>
            </a:r>
          </a:p>
          <a:p>
            <a:pPr lvl="2" algn="just"/>
            <a:r>
              <a:rPr lang="en-US" sz="3700" dirty="0" smtClean="0"/>
              <a:t>1. The commencement and carrying out of any action or scheme </a:t>
            </a:r>
          </a:p>
          <a:p>
            <a:pPr lvl="2" algn="just"/>
            <a:r>
              <a:rPr lang="en-US" sz="3700" dirty="0" smtClean="0"/>
              <a:t>2. </a:t>
            </a:r>
            <a:r>
              <a:rPr lang="en-US" sz="3600" dirty="0" smtClean="0">
                <a:solidFill>
                  <a:schemeClr val="tx2"/>
                </a:solidFill>
              </a:rPr>
              <a:t>A criminal proceeding in which an accused person is tried [criminal prosecution]</a:t>
            </a:r>
            <a:endParaRPr lang="en-US" sz="3700" dirty="0" smtClean="0">
              <a:solidFill>
                <a:schemeClr val="tx2"/>
              </a:solidFill>
            </a:endParaRPr>
          </a:p>
          <a:p>
            <a:pPr lvl="1" algn="just"/>
            <a:r>
              <a:rPr lang="en-US" sz="3700" dirty="0" smtClean="0"/>
              <a:t>Until the 19th century, victims often had the burden of directly prosecuting criminals who had harmed them. With the rise of public-prosecution services, the need for private prosecutions declined. Though uncommon, they are still sometimes permitted in England. [Cases: Criminal Law, 1704.] as cited in Black’s Law Dictionary</a:t>
            </a:r>
          </a:p>
          <a:p>
            <a:pPr algn="just"/>
            <a:r>
              <a:rPr lang="en-US" sz="4100" dirty="0" smtClean="0"/>
              <a:t>Prosecutor- </a:t>
            </a:r>
          </a:p>
          <a:p>
            <a:pPr lvl="1" algn="just"/>
            <a:r>
              <a:rPr lang="en-US" sz="3700" dirty="0" smtClean="0"/>
              <a:t>1. A legal officer who represents the state or federal government in criminal proceedings (public prosecutor)</a:t>
            </a:r>
          </a:p>
          <a:p>
            <a:pPr lvl="1" algn="just"/>
            <a:r>
              <a:rPr lang="en-US" sz="3700" dirty="0" smtClean="0"/>
              <a:t>A private person who institutes and carries on a legal action, esp. a criminal action (private prosecutor)</a:t>
            </a:r>
            <a:endParaRPr lang="en-US" sz="3700"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600200"/>
            <a:ext cx="8229600" cy="4724400"/>
          </a:xfrm>
        </p:spPr>
        <p:txBody>
          <a:bodyPr>
            <a:normAutofit lnSpcReduction="10000"/>
          </a:bodyPr>
          <a:lstStyle/>
          <a:p>
            <a:pPr algn="ctr">
              <a:buNone/>
            </a:pPr>
            <a:r>
              <a:rPr lang="en-US" sz="2400" b="1" dirty="0" smtClean="0"/>
              <a:t>5.2. Eligibility</a:t>
            </a:r>
          </a:p>
          <a:p>
            <a:pPr algn="just"/>
            <a:r>
              <a:rPr lang="en-US" sz="2400" dirty="0" smtClean="0"/>
              <a:t>Persons selected as prosecutors shall be individuals of integrity and ability, with appropriate training and qualifications. </a:t>
            </a:r>
            <a:r>
              <a:rPr lang="en-US" sz="2200" dirty="0" smtClean="0"/>
              <a:t>[Art 1 of UN Guidelines on the Role of Prosecutors, 1990]</a:t>
            </a:r>
            <a:endParaRPr lang="en-US" sz="2400" dirty="0" smtClean="0"/>
          </a:p>
          <a:p>
            <a:pPr algn="just"/>
            <a:r>
              <a:rPr lang="en-US" sz="2400" dirty="0" smtClean="0"/>
              <a:t>Art 44 of Regulation No. 44/98 states the following criteria to be appointed as prosecutor:</a:t>
            </a:r>
          </a:p>
          <a:p>
            <a:pPr lvl="3" algn="just"/>
            <a:r>
              <a:rPr lang="en-US" dirty="0" smtClean="0"/>
              <a:t>Age [18 and above] and Nationality, </a:t>
            </a:r>
          </a:p>
          <a:p>
            <a:pPr lvl="3" algn="just"/>
            <a:r>
              <a:rPr lang="en-US" dirty="0" smtClean="0">
                <a:solidFill>
                  <a:schemeClr val="tx2"/>
                </a:solidFill>
              </a:rPr>
              <a:t>loyalty to the FDRE Constitution?</a:t>
            </a:r>
            <a:r>
              <a:rPr lang="en-US" dirty="0" smtClean="0"/>
              <a:t> </a:t>
            </a:r>
          </a:p>
          <a:p>
            <a:pPr lvl="3" algn="just"/>
            <a:r>
              <a:rPr lang="en-US" dirty="0" smtClean="0"/>
              <a:t>knowledge in the field of law, and </a:t>
            </a:r>
          </a:p>
          <a:p>
            <a:pPr lvl="3" algn="just"/>
            <a:r>
              <a:rPr lang="en-US" dirty="0" smtClean="0"/>
              <a:t>personal behavior.</a:t>
            </a:r>
          </a:p>
          <a:p>
            <a:pPr algn="just"/>
            <a:r>
              <a:rPr lang="en-US" sz="2400" dirty="0" smtClean="0"/>
              <a:t>Prosecutors are appointed by the Minister of Justice, how do you see this?</a:t>
            </a:r>
          </a:p>
          <a:p>
            <a:pPr algn="just"/>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4906963"/>
          </a:xfrm>
        </p:spPr>
        <p:txBody>
          <a:bodyPr>
            <a:normAutofit fontScale="92500"/>
          </a:bodyPr>
          <a:lstStyle/>
          <a:p>
            <a:pPr algn="ctr">
              <a:buNone/>
            </a:pPr>
            <a:r>
              <a:rPr lang="en-US" sz="2400" b="1" dirty="0" smtClean="0"/>
              <a:t>5.3</a:t>
            </a:r>
            <a:r>
              <a:rPr lang="en-US" sz="2400" dirty="0" smtClean="0"/>
              <a:t>. </a:t>
            </a:r>
            <a:r>
              <a:rPr lang="en-US" sz="2400" b="1" dirty="0" smtClean="0"/>
              <a:t>Ethical Principles for the Functions of Public Prosecutor</a:t>
            </a:r>
          </a:p>
          <a:p>
            <a:pPr algn="ctr">
              <a:buNone/>
            </a:pPr>
            <a:r>
              <a:rPr lang="en-US" sz="2400" b="1" dirty="0" smtClean="0"/>
              <a:t>5.3.1. Independence of Public Prosecutor </a:t>
            </a:r>
            <a:endParaRPr lang="en-US" sz="2400" dirty="0" smtClean="0"/>
          </a:p>
          <a:p>
            <a:pPr algn="just"/>
            <a:r>
              <a:rPr lang="en-US" sz="2400" dirty="0" smtClean="0"/>
              <a:t>Do you think independence is important for the public prosecutor to </a:t>
            </a:r>
            <a:r>
              <a:rPr lang="en-US" sz="2400" dirty="0" smtClean="0">
                <a:solidFill>
                  <a:srgbClr val="00B050"/>
                </a:solidFill>
              </a:rPr>
              <a:t>properly discharge her duties?</a:t>
            </a:r>
          </a:p>
          <a:p>
            <a:pPr algn="just"/>
            <a:r>
              <a:rPr lang="en-US" sz="2400" dirty="0" smtClean="0"/>
              <a:t>Art 25 of FDRE Constitution says “All persons are equal before the law and are entitled without any discrimination to the equal protection of the law.” </a:t>
            </a:r>
          </a:p>
          <a:p>
            <a:pPr algn="just"/>
            <a:r>
              <a:rPr lang="en-US" sz="2400" dirty="0" smtClean="0"/>
              <a:t>Independent and impartial prosecutorial authority is necessary for the effective maintenance of the rule of law and human rights protection.</a:t>
            </a:r>
          </a:p>
          <a:p>
            <a:r>
              <a:rPr lang="en-US" sz="2400" dirty="0" smtClean="0"/>
              <a:t>Prosecutors shall carry out their functions </a:t>
            </a:r>
            <a:r>
              <a:rPr lang="en-US" sz="2400" dirty="0" smtClean="0">
                <a:solidFill>
                  <a:srgbClr val="00B050"/>
                </a:solidFill>
              </a:rPr>
              <a:t>impartially and avoid</a:t>
            </a:r>
            <a:r>
              <a:rPr lang="en-US" sz="2400" dirty="0" smtClean="0"/>
              <a:t> all political, social, religious, racial, cultural, sexual or any other kind of </a:t>
            </a:r>
            <a:r>
              <a:rPr lang="en-US" sz="2400" dirty="0" smtClean="0">
                <a:solidFill>
                  <a:srgbClr val="00B050"/>
                </a:solidFill>
              </a:rPr>
              <a:t>discrimination</a:t>
            </a:r>
            <a:r>
              <a:rPr lang="en-US" sz="2400" dirty="0" smtClean="0"/>
              <a:t> </a:t>
            </a:r>
            <a:r>
              <a:rPr lang="en-US" sz="2000" dirty="0" smtClean="0"/>
              <a:t>[Art 13(a) of UN Guidelines on the Role of Prosecutors, 1990]</a:t>
            </a:r>
            <a:endParaRPr lang="en-US" sz="2400" dirty="0" smtClean="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95400"/>
            <a:ext cx="8229600" cy="5105400"/>
          </a:xfrm>
        </p:spPr>
        <p:txBody>
          <a:bodyPr>
            <a:normAutofit fontScale="77500" lnSpcReduction="20000"/>
          </a:bodyPr>
          <a:lstStyle/>
          <a:p>
            <a:pPr algn="ctr">
              <a:buNone/>
            </a:pPr>
            <a:r>
              <a:rPr lang="en-US" sz="3100" b="1" dirty="0" smtClean="0"/>
              <a:t>5.3</a:t>
            </a:r>
            <a:r>
              <a:rPr lang="en-US" sz="3100" dirty="0" smtClean="0"/>
              <a:t>. </a:t>
            </a:r>
            <a:r>
              <a:rPr lang="en-US" sz="3100" b="1" dirty="0" smtClean="0"/>
              <a:t>Ethical Principles for the Functions of Public Prosecutor</a:t>
            </a:r>
          </a:p>
          <a:p>
            <a:pPr algn="ctr">
              <a:buNone/>
            </a:pPr>
            <a:r>
              <a:rPr lang="en-US" sz="3100" b="1" dirty="0" smtClean="0"/>
              <a:t>5.3.1. Independence of Public Prosecutor </a:t>
            </a:r>
            <a:r>
              <a:rPr lang="en-US" sz="2600" b="1" dirty="0" smtClean="0"/>
              <a:t>. . . continued  </a:t>
            </a:r>
            <a:endParaRPr lang="en-US" sz="3100" b="1" dirty="0" smtClean="0"/>
          </a:p>
          <a:p>
            <a:pPr algn="just"/>
            <a:r>
              <a:rPr lang="en-US" dirty="0" smtClean="0"/>
              <a:t>In their activities, public prosecutors shall be independent from any influence by any other institution or official of neither legislative nor executive branch and shall obey to laws only.</a:t>
            </a:r>
          </a:p>
          <a:p>
            <a:pPr algn="just"/>
            <a:r>
              <a:rPr lang="en-US" dirty="0" smtClean="0"/>
              <a:t>How practical is this?</a:t>
            </a:r>
          </a:p>
          <a:p>
            <a:pPr algn="just"/>
            <a:r>
              <a:rPr lang="en-US" dirty="0" smtClean="0"/>
              <a:t>But we don’t find specific provision of prosecutor’s professional independence; we drive it from the nature of the profession</a:t>
            </a:r>
          </a:p>
          <a:p>
            <a:pPr algn="just"/>
            <a:r>
              <a:rPr lang="en-US" dirty="0" smtClean="0"/>
              <a:t>On the other hand, the Prosecutors regulation says:</a:t>
            </a:r>
          </a:p>
          <a:p>
            <a:pPr lvl="1" algn="just"/>
            <a:r>
              <a:rPr lang="en-US" dirty="0" smtClean="0"/>
              <a:t>A prosecutor shall obey the orders of his superior unless it is clearly contrary to the law. In all cases the superior is responsible for the legality of his orders. </a:t>
            </a:r>
            <a:r>
              <a:rPr lang="en-US" sz="1800" dirty="0" smtClean="0"/>
              <a:t>[Art 63(2) of Regulation No. 44/98]</a:t>
            </a:r>
            <a:endParaRPr lang="en-US" sz="1600" dirty="0" smtClean="0"/>
          </a:p>
          <a:p>
            <a:pPr algn="just"/>
            <a:r>
              <a:rPr lang="en-US" sz="3100" dirty="0" smtClean="0"/>
              <a:t>Is there any contradiction with prosecutorial independence?</a:t>
            </a:r>
            <a:endParaRPr lang="en-US" sz="4600"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p:txBody>
          <a:bodyPr>
            <a:normAutofit/>
          </a:bodyPr>
          <a:lstStyle/>
          <a:p>
            <a:pPr algn="ctr">
              <a:buNone/>
            </a:pPr>
            <a:r>
              <a:rPr lang="en-US" sz="2400" b="1" dirty="0" smtClean="0"/>
              <a:t>5.3</a:t>
            </a:r>
            <a:r>
              <a:rPr lang="en-US" sz="2400" dirty="0" smtClean="0"/>
              <a:t>. </a:t>
            </a:r>
            <a:r>
              <a:rPr lang="en-US" sz="2400" b="1" dirty="0" smtClean="0"/>
              <a:t>Ethical Principles for the Functions of Public Prosecutor</a:t>
            </a:r>
          </a:p>
          <a:p>
            <a:pPr algn="ctr">
              <a:buNone/>
            </a:pPr>
            <a:r>
              <a:rPr lang="en-US" sz="2400" b="1" dirty="0" smtClean="0"/>
              <a:t>5.3.2. Immunity of Public Prosecutors</a:t>
            </a:r>
          </a:p>
          <a:p>
            <a:pPr algn="just"/>
            <a:r>
              <a:rPr lang="en-US" sz="2800" dirty="0" smtClean="0"/>
              <a:t>States shall ensure that prosecutors are able to perform their professional functions without intimidation, hindrance, harassment, improper interference or unjustified exposure to civil, penal or other liability. </a:t>
            </a:r>
            <a:r>
              <a:rPr lang="en-US" sz="1800" dirty="0" smtClean="0"/>
              <a:t>[Art 4 of UN Guidelines on the Role of Prosecutors, 1990]</a:t>
            </a:r>
            <a:endParaRPr lang="en-US" sz="2800" dirty="0" smtClean="0"/>
          </a:p>
          <a:p>
            <a:pPr algn="just"/>
            <a:r>
              <a:rPr lang="en-US" sz="2800" dirty="0" smtClean="0"/>
              <a:t>Is there any legal immunity prosecutors in Ethiopia?</a:t>
            </a:r>
          </a:p>
          <a:p>
            <a:pPr algn="just"/>
            <a:r>
              <a:rPr lang="en-US" sz="2800" dirty="0" smtClean="0"/>
              <a:t>There is no any specific provision on this matter. </a:t>
            </a:r>
            <a:endParaRPr lang="en-US" sz="2800"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5486400"/>
          </a:xfrm>
        </p:spPr>
        <p:txBody>
          <a:bodyPr>
            <a:noAutofit/>
          </a:bodyPr>
          <a:lstStyle/>
          <a:p>
            <a:pPr algn="ctr">
              <a:buNone/>
            </a:pPr>
            <a:r>
              <a:rPr lang="en-US" sz="2400" b="1" dirty="0" smtClean="0"/>
              <a:t>5.3</a:t>
            </a:r>
            <a:r>
              <a:rPr lang="en-US" sz="2400" dirty="0" smtClean="0"/>
              <a:t>. </a:t>
            </a:r>
            <a:r>
              <a:rPr lang="en-US" sz="2400" b="1" dirty="0" smtClean="0"/>
              <a:t>Ethical Principles for the Functions of Public Prosecutor </a:t>
            </a:r>
          </a:p>
          <a:p>
            <a:pPr algn="ctr">
              <a:buNone/>
            </a:pPr>
            <a:r>
              <a:rPr lang="en-US" sz="2400" b="1" dirty="0" smtClean="0"/>
              <a:t>5.3.3.  Confidentiality </a:t>
            </a:r>
          </a:p>
          <a:p>
            <a:pPr algn="just"/>
            <a:r>
              <a:rPr lang="en-US" sz="2000" dirty="0" smtClean="0"/>
              <a:t>The public prosecutor should respect the principle of confidentiality of information he/she has acquired during the performance of his/her official duties except for legal reason.</a:t>
            </a:r>
          </a:p>
          <a:p>
            <a:pPr algn="just"/>
            <a:r>
              <a:rPr lang="en-US" sz="2000" dirty="0" smtClean="0"/>
              <a:t>According to Art 65 of Reg. No 44/98 a Prosecutor is obliged:</a:t>
            </a:r>
          </a:p>
          <a:p>
            <a:pPr lvl="1" algn="just"/>
            <a:r>
              <a:rPr lang="en-US" sz="2000" dirty="0" smtClean="0"/>
              <a:t>not disclose to any person any information gained in the course of his official duties or otherwise except to the extent that such disclosure is necessary </a:t>
            </a:r>
            <a:r>
              <a:rPr lang="en-US" sz="2000" dirty="0" smtClean="0">
                <a:solidFill>
                  <a:srgbClr val="00B050"/>
                </a:solidFill>
              </a:rPr>
              <a:t>for the discharge of his lawful duty, unless such information is of minor importance or is a public knowledge. </a:t>
            </a:r>
            <a:r>
              <a:rPr lang="en-US" sz="2000" dirty="0" smtClean="0">
                <a:solidFill>
                  <a:schemeClr val="tx2"/>
                </a:solidFill>
              </a:rPr>
              <a:t>Confidentiality</a:t>
            </a:r>
            <a:r>
              <a:rPr lang="en-US" sz="2000" dirty="0" smtClean="0">
                <a:solidFill>
                  <a:srgbClr val="00B050"/>
                </a:solidFill>
              </a:rPr>
              <a:t> </a:t>
            </a:r>
          </a:p>
          <a:p>
            <a:pPr lvl="1" algn="just"/>
            <a:r>
              <a:rPr lang="en-US" sz="2000" dirty="0" smtClean="0"/>
              <a:t>may not disclose in the discharge of his duties or otherwise, information, proceedings, plans or similar classified matters, which, ,in accordance with practice have been declared confidential, to any person except by the order of supreme authority or unless such other person is legally permitted to know such matters. </a:t>
            </a:r>
            <a:r>
              <a:rPr lang="en-US" sz="2000" dirty="0" smtClean="0">
                <a:solidFill>
                  <a:schemeClr val="tx2"/>
                </a:solidFill>
              </a:rPr>
              <a:t>Secrecy </a:t>
            </a:r>
            <a:endParaRPr lang="en-US" sz="2000" dirty="0">
              <a:solidFill>
                <a:schemeClr val="tx2"/>
              </a:solidFill>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800" b="1" u="sng" dirty="0" smtClean="0"/>
              <a:t/>
            </a:r>
            <a:br>
              <a:rPr lang="en-US" sz="2800" b="1" u="sng" dirty="0" smtClean="0"/>
            </a:br>
            <a:r>
              <a:rPr lang="en-US" sz="2800" b="1" u="sng" dirty="0" smtClean="0"/>
              <a:t>CHAPTER FIVE</a:t>
            </a:r>
            <a:r>
              <a:rPr lang="en-US" sz="2800" dirty="0" smtClean="0"/>
              <a:t/>
            </a:r>
            <a:br>
              <a:rPr lang="en-US" sz="2800" dirty="0" smtClean="0"/>
            </a:br>
            <a:r>
              <a:rPr lang="en-US" sz="2800" b="1" u="sng" dirty="0" smtClean="0"/>
              <a:t>ETHICS OF THE PUBLIC PROSECUTOR . . . Continued </a:t>
            </a:r>
            <a:r>
              <a:rPr lang="en-US" sz="2800" dirty="0" smtClean="0"/>
              <a:t/>
            </a:r>
            <a:br>
              <a:rPr lang="en-US" sz="2800" dirty="0" smtClean="0"/>
            </a:br>
            <a:endParaRPr lang="en-US" sz="2800" dirty="0"/>
          </a:p>
        </p:txBody>
      </p:sp>
      <p:sp>
        <p:nvSpPr>
          <p:cNvPr id="3" name="Content Placeholder 2"/>
          <p:cNvSpPr>
            <a:spLocks noGrp="1"/>
          </p:cNvSpPr>
          <p:nvPr>
            <p:ph idx="1"/>
          </p:nvPr>
        </p:nvSpPr>
        <p:spPr>
          <a:xfrm>
            <a:off x="457200" y="1295400"/>
            <a:ext cx="8229600" cy="4830763"/>
          </a:xfrm>
        </p:spPr>
        <p:txBody>
          <a:bodyPr/>
          <a:lstStyle/>
          <a:p>
            <a:pPr algn="ctr">
              <a:buNone/>
            </a:pPr>
            <a:r>
              <a:rPr lang="en-US" sz="2400" b="1" dirty="0" smtClean="0"/>
              <a:t>5.3</a:t>
            </a:r>
            <a:r>
              <a:rPr lang="en-US" sz="2400" dirty="0" smtClean="0"/>
              <a:t>. </a:t>
            </a:r>
            <a:r>
              <a:rPr lang="en-US" sz="2400" b="1" dirty="0" smtClean="0"/>
              <a:t>Ethical Principles for the Functions of Public Prosecutor </a:t>
            </a:r>
          </a:p>
          <a:p>
            <a:pPr algn="ctr">
              <a:buNone/>
            </a:pPr>
            <a:r>
              <a:rPr lang="en-US" sz="2400" b="1" dirty="0" smtClean="0"/>
              <a:t>5.3.3 Competence and Diligence</a:t>
            </a:r>
            <a:endParaRPr lang="en-US" sz="2800" dirty="0" smtClean="0"/>
          </a:p>
          <a:p>
            <a:pPr algn="just"/>
            <a:r>
              <a:rPr lang="en-US" sz="2400" dirty="0" smtClean="0"/>
              <a:t>Public prosecutor should be competent and diligent enough to properly discharge prosecutorial functions </a:t>
            </a:r>
          </a:p>
          <a:p>
            <a:pPr algn="just"/>
            <a:r>
              <a:rPr lang="en-US" sz="2400" dirty="0" smtClean="0"/>
              <a:t>Competence refers to knowledge and skill and diligence refers to carefulness and promptness </a:t>
            </a:r>
          </a:p>
          <a:p>
            <a:pPr algn="just"/>
            <a:r>
              <a:rPr lang="en-US" sz="2400" dirty="0" smtClean="0"/>
              <a:t>Any prosecutor shall perform his duties to his best knowledge and ability. He is required to discharge the usual duties and other related duties of the grade and the position to which he has been appointed and other related duties. </a:t>
            </a:r>
            <a:r>
              <a:rPr lang="en-US" sz="1800" dirty="0" smtClean="0"/>
              <a:t>[Art 63(1) of Reg. No 44/98]</a:t>
            </a:r>
            <a:endParaRPr lang="en-US" sz="2400" dirty="0" smtClean="0"/>
          </a:p>
          <a:p>
            <a:pPr algn="just"/>
            <a:endParaRPr 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algn="ctr">
              <a:buNone/>
            </a:pPr>
            <a:r>
              <a:rPr lang="en-US" sz="2400" b="1" dirty="0" smtClean="0"/>
              <a:t>5.3</a:t>
            </a:r>
            <a:r>
              <a:rPr lang="en-US" sz="2400" dirty="0" smtClean="0"/>
              <a:t>. </a:t>
            </a:r>
            <a:r>
              <a:rPr lang="en-US" sz="2400" b="1" dirty="0" smtClean="0"/>
              <a:t>Ethical Principles for the Functions of Public Prosecutor </a:t>
            </a:r>
          </a:p>
          <a:p>
            <a:pPr algn="ctr">
              <a:buNone/>
            </a:pPr>
            <a:r>
              <a:rPr lang="en-US" sz="2400" b="1" dirty="0" smtClean="0"/>
              <a:t>5.3.4. Conflict of Interest</a:t>
            </a:r>
            <a:endParaRPr lang="en-US" sz="2800" dirty="0" smtClean="0"/>
          </a:p>
          <a:p>
            <a:pPr algn="just"/>
            <a:r>
              <a:rPr lang="en-US" sz="2400" dirty="0" smtClean="0"/>
              <a:t>Needles to say, a prosecutor has private life, and conflict of interest may arise between his private life and prosecutorial responsibility. </a:t>
            </a:r>
          </a:p>
          <a:p>
            <a:pPr algn="just"/>
            <a:r>
              <a:rPr lang="en-US" sz="2400" dirty="0" smtClean="0"/>
              <a:t>The public prosecutor should decline from treating a matter when he/she knows there is conflict of interest.</a:t>
            </a:r>
          </a:p>
          <a:p>
            <a:pPr algn="just"/>
            <a:r>
              <a:rPr lang="en-US" sz="2400" dirty="0" smtClean="0"/>
              <a:t>Conflict of Duty and Private Interest </a:t>
            </a:r>
            <a:r>
              <a:rPr lang="en-US" sz="1800" dirty="0" smtClean="0"/>
              <a:t>[Art 68 of Reg. No 44/98]:</a:t>
            </a:r>
            <a:endParaRPr lang="en-US" sz="2400" dirty="0" smtClean="0"/>
          </a:p>
          <a:p>
            <a:pPr lvl="1" algn="just"/>
            <a:r>
              <a:rPr lang="en-US" sz="2200" dirty="0" smtClean="0"/>
              <a:t>I) Any prosecutor shall forthwith report to his superior a case in which his interest or his relative's or friend's interests conflict with his duties and shall request that the case be handled by another prosecutor.</a:t>
            </a:r>
          </a:p>
          <a:p>
            <a:pPr lvl="1" algn="just"/>
            <a:r>
              <a:rPr lang="en-US" sz="2200" dirty="0" smtClean="0"/>
              <a:t>2) The superior shall give the necessary decision.</a:t>
            </a:r>
            <a:endParaRPr lang="en-US" sz="2200"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5181600"/>
          </a:xfrm>
        </p:spPr>
        <p:txBody>
          <a:bodyPr>
            <a:normAutofit fontScale="92500" lnSpcReduction="10000"/>
          </a:bodyPr>
          <a:lstStyle/>
          <a:p>
            <a:pPr algn="ctr">
              <a:buNone/>
            </a:pPr>
            <a:r>
              <a:rPr lang="en-US" sz="2400" b="1" dirty="0" smtClean="0"/>
              <a:t>5.4. Relations with the Accused and other Organs </a:t>
            </a:r>
          </a:p>
          <a:p>
            <a:pPr algn="just"/>
            <a:r>
              <a:rPr lang="en-US" sz="2400" dirty="0" smtClean="0"/>
              <a:t>Achievement of justice is the effect of the cumulative effort of all branches of government.</a:t>
            </a:r>
          </a:p>
          <a:p>
            <a:pPr algn="just"/>
            <a:r>
              <a:rPr lang="en-US" sz="2400" dirty="0" smtClean="0">
                <a:solidFill>
                  <a:srgbClr val="FF0000"/>
                </a:solidFill>
              </a:rPr>
              <a:t>Of course this may be abused?</a:t>
            </a:r>
          </a:p>
          <a:p>
            <a:pPr algn="ctr">
              <a:buNone/>
            </a:pPr>
            <a:r>
              <a:rPr lang="en-US" sz="2400" b="1" dirty="0" smtClean="0"/>
              <a:t>5.4.1. Public Prosecutor’s Relation with the Accused </a:t>
            </a:r>
          </a:p>
          <a:p>
            <a:pPr algn="just"/>
            <a:r>
              <a:rPr lang="en-US" sz="2400" dirty="0" smtClean="0"/>
              <a:t>The Public Prosecutor should </a:t>
            </a:r>
            <a:r>
              <a:rPr lang="en-US" sz="2400" u="sng" dirty="0" smtClean="0"/>
              <a:t>respect and enforce</a:t>
            </a:r>
            <a:r>
              <a:rPr lang="en-US" sz="2400" dirty="0" smtClean="0"/>
              <a:t> the constitutional and procedural rights of accused persons during investigation and prosecution </a:t>
            </a:r>
            <a:r>
              <a:rPr lang="en-US" sz="1800" dirty="0" smtClean="0"/>
              <a:t>[Art 13(1) of FDRE Constitution]</a:t>
            </a:r>
            <a:endParaRPr lang="en-US" sz="2400" dirty="0" smtClean="0"/>
          </a:p>
          <a:p>
            <a:pPr algn="just"/>
            <a:r>
              <a:rPr lang="en-US" sz="2400" dirty="0" smtClean="0"/>
              <a:t>The public prosecutor should avoid prejudice against the person prosecuted. There is no situation of enmity between the accused and the public prosecutor.</a:t>
            </a:r>
          </a:p>
          <a:p>
            <a:pPr algn="just"/>
            <a:r>
              <a:rPr lang="en-US" sz="2400" dirty="0" smtClean="0"/>
              <a:t>Is getting witnesses rehearse what they say at the police by the prosecutor proper?</a:t>
            </a:r>
          </a:p>
          <a:p>
            <a:pPr algn="just"/>
            <a:r>
              <a:rPr lang="en-US" sz="2400" dirty="0" smtClean="0"/>
              <a:t>Do you think a prosecutor who realized his evidence doesn’t prove the guilt of an accused should suggest acquittal? </a:t>
            </a:r>
          </a:p>
          <a:p>
            <a:pPr algn="just"/>
            <a:endParaRPr lang="en-US" sz="2400"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ctr">
              <a:buNone/>
            </a:pPr>
            <a:r>
              <a:rPr lang="en-US" sz="2400" b="1" dirty="0" smtClean="0"/>
              <a:t>5.4. Relations with the Accused and other Organs </a:t>
            </a:r>
          </a:p>
          <a:p>
            <a:pPr algn="ctr">
              <a:buNone/>
            </a:pPr>
            <a:r>
              <a:rPr lang="en-US" b="1" dirty="0" smtClean="0"/>
              <a:t> </a:t>
            </a:r>
            <a:r>
              <a:rPr lang="en-US" sz="2400" b="1" dirty="0" smtClean="0"/>
              <a:t>5.4.2. Public Prosecutor’s Relation with the Court</a:t>
            </a:r>
          </a:p>
          <a:p>
            <a:pPr algn="just"/>
            <a:r>
              <a:rPr lang="en-US" sz="2400" dirty="0" smtClean="0"/>
              <a:t>The public prosecutor should be exemplary in respecting judicial independence </a:t>
            </a:r>
          </a:p>
          <a:p>
            <a:pPr algn="just"/>
            <a:r>
              <a:rPr lang="en-US" sz="2400" dirty="0" smtClean="0"/>
              <a:t>The public prosecutor should refrain from behaving and doing acts that encroach in the independence of judges</a:t>
            </a:r>
          </a:p>
          <a:p>
            <a:pPr algn="just"/>
            <a:r>
              <a:rPr lang="en-US" sz="2400" dirty="0" err="1" smtClean="0"/>
              <a:t>Eg</a:t>
            </a:r>
            <a:r>
              <a:rPr lang="en-US" sz="2400" dirty="0" smtClean="0"/>
              <a:t> one woman prosecutor bit a woman judge for acquittal </a:t>
            </a:r>
          </a:p>
          <a:p>
            <a:pPr algn="ctr">
              <a:buNone/>
            </a:pPr>
            <a:r>
              <a:rPr lang="en-US" sz="2400" b="1" dirty="0" smtClean="0"/>
              <a:t> 5.4.3. Public Prosecutor’s Relation with the Police </a:t>
            </a:r>
          </a:p>
          <a:p>
            <a:pPr algn="just"/>
            <a:r>
              <a:rPr lang="en-US" sz="2400" dirty="0" smtClean="0"/>
              <a:t>The police and the public prosecutor should work hand in hand for the maintenance of peace and order</a:t>
            </a:r>
          </a:p>
          <a:p>
            <a:pPr algn="just"/>
            <a:r>
              <a:rPr lang="en-US" sz="2400" dirty="0" smtClean="0"/>
              <a:t>the public prosecutor is under duty to supervise police judicial activities</a:t>
            </a:r>
          </a:p>
          <a:p>
            <a:pPr algn="just"/>
            <a:r>
              <a:rPr lang="en-US" sz="2400" dirty="0" smtClean="0"/>
              <a:t>Supervising police activity vs. respecting police authority </a:t>
            </a:r>
            <a:endParaRPr lang="en-US" sz="2400"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5257800"/>
          </a:xfrm>
        </p:spPr>
        <p:txBody>
          <a:bodyPr>
            <a:normAutofit lnSpcReduction="10000"/>
          </a:bodyPr>
          <a:lstStyle/>
          <a:p>
            <a:pPr algn="ctr">
              <a:buNone/>
            </a:pPr>
            <a:r>
              <a:rPr lang="en-US" sz="2400" b="1" dirty="0" smtClean="0"/>
              <a:t> 5.4.4. Public Prosecutor’s Relation with Superiors </a:t>
            </a:r>
          </a:p>
          <a:p>
            <a:pPr algn="just"/>
            <a:r>
              <a:rPr lang="en-US" sz="2400" dirty="0" smtClean="0"/>
              <a:t>Independence vs. Obedience </a:t>
            </a:r>
          </a:p>
          <a:p>
            <a:pPr algn="just"/>
            <a:r>
              <a:rPr lang="en-US" sz="2400" dirty="0" smtClean="0"/>
              <a:t>Should the prosecutor obey superior orders? Independence?</a:t>
            </a:r>
          </a:p>
          <a:p>
            <a:pPr lvl="1" algn="just"/>
            <a:r>
              <a:rPr lang="en-US" sz="2000" dirty="0" smtClean="0"/>
              <a:t>A prosecutor </a:t>
            </a:r>
            <a:r>
              <a:rPr lang="en-US" sz="2000" dirty="0" smtClean="0">
                <a:solidFill>
                  <a:srgbClr val="FF0000"/>
                </a:solidFill>
              </a:rPr>
              <a:t>shall obey</a:t>
            </a:r>
            <a:r>
              <a:rPr lang="en-US" sz="2000" dirty="0" smtClean="0"/>
              <a:t> the orders of his superior </a:t>
            </a:r>
            <a:r>
              <a:rPr lang="en-US" sz="2000" dirty="0" smtClean="0">
                <a:solidFill>
                  <a:srgbClr val="FF0000"/>
                </a:solidFill>
              </a:rPr>
              <a:t>unless it is clearly contrary to the law</a:t>
            </a:r>
            <a:r>
              <a:rPr lang="en-US" sz="2000" dirty="0" smtClean="0"/>
              <a:t>. In all cases the superior is responsible for the legality of his orders. [Art 63(2) of Reg. No 44/98]</a:t>
            </a:r>
          </a:p>
          <a:p>
            <a:pPr algn="ctr">
              <a:buNone/>
            </a:pPr>
            <a:r>
              <a:rPr lang="en-US" sz="2400" b="1" dirty="0" smtClean="0"/>
              <a:t>5.4.5. Public Prosecutor’s Relation with the Public</a:t>
            </a:r>
            <a:endParaRPr lang="en-US" sz="2400" dirty="0" smtClean="0"/>
          </a:p>
          <a:p>
            <a:pPr algn="just"/>
            <a:r>
              <a:rPr lang="en-US" sz="2400" dirty="0" smtClean="0"/>
              <a:t>The public prosecutor should always exhibit good behavior and conduct in the public to win the confidence of the public</a:t>
            </a:r>
          </a:p>
          <a:p>
            <a:pPr lvl="1" algn="just"/>
            <a:r>
              <a:rPr lang="en-US" sz="2000" dirty="0" smtClean="0"/>
              <a:t>Borrowing money- extent? loaners? [Art 66 of Reg. No 44/98]</a:t>
            </a:r>
          </a:p>
          <a:p>
            <a:pPr lvl="1" algn="just"/>
            <a:r>
              <a:rPr lang="en-US" sz="2000" dirty="0" smtClean="0"/>
              <a:t>Gifts- [Art 67 of Reg. No 44/98] </a:t>
            </a:r>
          </a:p>
          <a:p>
            <a:pPr lvl="2" algn="just"/>
            <a:r>
              <a:rPr lang="en-US" sz="2000" dirty="0" smtClean="0"/>
              <a:t>soliciting or taking remuneration or consideration </a:t>
            </a:r>
          </a:p>
          <a:p>
            <a:pPr lvl="2" algn="just"/>
            <a:r>
              <a:rPr lang="en-US" sz="2000" dirty="0" smtClean="0"/>
              <a:t>In whatever form from any person </a:t>
            </a:r>
          </a:p>
          <a:p>
            <a:pPr lvl="2" algn="just"/>
            <a:r>
              <a:rPr lang="en-US" sz="2000" dirty="0" smtClean="0"/>
              <a:t>in relation to a service rendered or to be rendered in the future.</a:t>
            </a:r>
            <a:endParaRPr lang="en-US" sz="2000"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000" b="1" u="sng" dirty="0" smtClean="0"/>
              <a:t/>
            </a:r>
            <a:br>
              <a:rPr lang="en-US" sz="2000" b="1" u="sng" dirty="0" smtClean="0"/>
            </a:br>
            <a:r>
              <a:rPr lang="en-US" sz="2000" b="1" u="sng" dirty="0" smtClean="0"/>
              <a:t>CHAPTER FIVE</a:t>
            </a:r>
            <a:r>
              <a:rPr lang="en-US" sz="2000" dirty="0" smtClean="0"/>
              <a:t/>
            </a:r>
            <a:br>
              <a:rPr lang="en-US" sz="2000" dirty="0" smtClean="0"/>
            </a:br>
            <a:r>
              <a:rPr lang="en-US" sz="2000" b="1" u="sng" dirty="0" smtClean="0"/>
              <a:t>ETHICS OF THE PUBLIC PROSECUTOR . . . Continued </a:t>
            </a:r>
            <a:r>
              <a:rPr lang="en-US" sz="2000" dirty="0" smtClean="0"/>
              <a:t/>
            </a:r>
            <a:br>
              <a:rPr lang="en-US" sz="2000" dirty="0" smtClean="0"/>
            </a:br>
            <a:endParaRPr lang="en-US" sz="2000" dirty="0"/>
          </a:p>
        </p:txBody>
      </p:sp>
      <p:sp>
        <p:nvSpPr>
          <p:cNvPr id="3" name="Content Placeholder 2"/>
          <p:cNvSpPr>
            <a:spLocks noGrp="1"/>
          </p:cNvSpPr>
          <p:nvPr>
            <p:ph idx="1"/>
          </p:nvPr>
        </p:nvSpPr>
        <p:spPr>
          <a:xfrm>
            <a:off x="457200" y="1143000"/>
            <a:ext cx="8229600" cy="4983163"/>
          </a:xfrm>
        </p:spPr>
        <p:txBody>
          <a:bodyPr>
            <a:noAutofit/>
          </a:bodyPr>
          <a:lstStyle/>
          <a:p>
            <a:pPr algn="ctr">
              <a:buNone/>
            </a:pPr>
            <a:r>
              <a:rPr lang="en-US" sz="2800" b="1" dirty="0" smtClean="0"/>
              <a:t>5.5. Engaging in Activities Outside Official Duties</a:t>
            </a:r>
            <a:endParaRPr lang="en-US" sz="3600" dirty="0" smtClean="0"/>
          </a:p>
          <a:p>
            <a:pPr algn="just"/>
            <a:r>
              <a:rPr lang="en-US" sz="2800" dirty="0" smtClean="0"/>
              <a:t>The public prosecutor :</a:t>
            </a:r>
          </a:p>
          <a:p>
            <a:pPr lvl="1" algn="just"/>
            <a:r>
              <a:rPr lang="en-US" sz="2400" dirty="0" smtClean="0"/>
              <a:t>Shall devote his full energy and attention to his career; </a:t>
            </a:r>
          </a:p>
          <a:p>
            <a:pPr lvl="1" algn="just"/>
            <a:r>
              <a:rPr lang="en-US" sz="2400" dirty="0" smtClean="0"/>
              <a:t>May work for other public institutions with permit; </a:t>
            </a:r>
          </a:p>
          <a:p>
            <a:pPr lvl="1" algn="just"/>
            <a:r>
              <a:rPr lang="en-US" sz="2400" dirty="0" smtClean="0"/>
              <a:t>Shall not undertake any activity that may impair his proper service or that may conflict with his duty as prosecutor. </a:t>
            </a:r>
            <a:r>
              <a:rPr lang="en-US" sz="1800" dirty="0" smtClean="0"/>
              <a:t>[Art 71 of Reg. No 44/98]</a:t>
            </a:r>
          </a:p>
          <a:p>
            <a:pPr algn="just">
              <a:buNone/>
            </a:pPr>
            <a:r>
              <a:rPr lang="en-US" sz="2800" b="1" dirty="0" smtClean="0"/>
              <a:t>5.6. Other Ethical Considerations</a:t>
            </a:r>
            <a:endParaRPr lang="en-US" sz="2800" dirty="0" smtClean="0"/>
          </a:p>
          <a:p>
            <a:pPr algn="just"/>
            <a:r>
              <a:rPr lang="en-US" sz="2800" dirty="0" smtClean="0"/>
              <a:t>Can the prosecutor be a member of political party?</a:t>
            </a:r>
          </a:p>
          <a:p>
            <a:pPr algn="just"/>
            <a:r>
              <a:rPr lang="en-US" sz="2400" dirty="0" smtClean="0"/>
              <a:t>Propriety- exhibiting good behavior and conduct at all times inside and outside of office </a:t>
            </a:r>
            <a:r>
              <a:rPr lang="en-US" sz="1600" dirty="0" smtClean="0"/>
              <a:t>[Art 62 of Reg. No 44/98]</a:t>
            </a:r>
            <a:endParaRPr lang="en-US" sz="2800" dirty="0" smtClean="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19200"/>
            <a:ext cx="8229600" cy="5105400"/>
          </a:xfrm>
        </p:spPr>
        <p:txBody>
          <a:bodyPr>
            <a:normAutofit lnSpcReduction="10000"/>
          </a:bodyPr>
          <a:lstStyle/>
          <a:p>
            <a:pPr algn="ctr">
              <a:buNone/>
            </a:pPr>
            <a:r>
              <a:rPr lang="en-US" sz="2400" b="1" dirty="0" smtClean="0"/>
              <a:t>5.7. Liability for Breach of Code of Conduct </a:t>
            </a:r>
          </a:p>
          <a:p>
            <a:pPr algn="just"/>
            <a:r>
              <a:rPr lang="en-US" sz="2400" dirty="0" smtClean="0"/>
              <a:t>Needless to say, breach of code conduct entails accountability for prosecutors </a:t>
            </a:r>
          </a:p>
          <a:p>
            <a:pPr algn="just"/>
            <a:r>
              <a:rPr lang="en-US" sz="2400" dirty="0" smtClean="0"/>
              <a:t>Types of liability: administrative, criminal or civil </a:t>
            </a:r>
          </a:p>
          <a:p>
            <a:pPr algn="ctr">
              <a:buNone/>
            </a:pPr>
            <a:r>
              <a:rPr lang="en-US" sz="2400" b="1" dirty="0" smtClean="0"/>
              <a:t>5.7.1 Administrative (Disciplinary) Liabilities</a:t>
            </a:r>
            <a:endParaRPr lang="en-US" sz="2400" dirty="0" smtClean="0"/>
          </a:p>
          <a:p>
            <a:pPr algn="just"/>
            <a:r>
              <a:rPr lang="en-US" sz="2000" dirty="0" smtClean="0"/>
              <a:t>Procedure for Administrative liability has been provided under Art 81-87 of Reg. No 44/98</a:t>
            </a:r>
          </a:p>
          <a:p>
            <a:pPr algn="just"/>
            <a:r>
              <a:rPr lang="en-US" sz="2000" dirty="0" smtClean="0"/>
              <a:t>The power to hear disciplinary cases of prosecutors is vested with the Disciplinary Commission </a:t>
            </a:r>
          </a:p>
          <a:p>
            <a:pPr algn="just"/>
            <a:r>
              <a:rPr lang="en-US" sz="2000" dirty="0" smtClean="0"/>
              <a:t>Penalties:</a:t>
            </a:r>
          </a:p>
          <a:p>
            <a:pPr lvl="1" algn="just"/>
            <a:r>
              <a:rPr lang="en-US" sz="2000" dirty="0" smtClean="0"/>
              <a:t>simple penalty- warning, fine of </a:t>
            </a:r>
            <a:r>
              <a:rPr lang="en-US" sz="2000" dirty="0" smtClean="0">
                <a:latin typeface="Nyala"/>
              </a:rPr>
              <a:t>&lt; or = one month salary, prohibiting increment </a:t>
            </a:r>
          </a:p>
          <a:p>
            <a:pPr lvl="1" algn="just"/>
            <a:r>
              <a:rPr lang="en-US" sz="2000" dirty="0" smtClean="0"/>
              <a:t>Serious- demotion or dismissal </a:t>
            </a:r>
          </a:p>
          <a:p>
            <a:pPr algn="just"/>
            <a:r>
              <a:rPr lang="en-US" sz="2000" dirty="0" smtClean="0"/>
              <a:t>Right to appeal to the Minister </a:t>
            </a:r>
            <a:r>
              <a:rPr lang="en-US" sz="1600" dirty="0" smtClean="0"/>
              <a:t>Art 85 of Reg. No 44/98</a:t>
            </a:r>
            <a:endParaRPr lang="en-US" sz="2000"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2400" b="1" u="sng" dirty="0" smtClean="0"/>
              <a:t/>
            </a:r>
            <a:br>
              <a:rPr lang="en-US" sz="2400" b="1" u="sng" dirty="0" smtClean="0"/>
            </a:br>
            <a:r>
              <a:rPr lang="en-US" sz="2400" b="1" u="sng" dirty="0" smtClean="0"/>
              <a:t>CHAPTER FIVE</a:t>
            </a:r>
            <a:r>
              <a:rPr lang="en-US" sz="2400" dirty="0" smtClean="0"/>
              <a:t/>
            </a:r>
            <a:br>
              <a:rPr lang="en-US" sz="2400" dirty="0" smtClean="0"/>
            </a:br>
            <a:r>
              <a:rPr lang="en-US" sz="2400" b="1" u="sng" dirty="0" smtClean="0"/>
              <a:t>ETHICS OF THE PUBLIC PROSECUTOR . . . Continued </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295400"/>
            <a:ext cx="8229600" cy="4830763"/>
          </a:xfrm>
        </p:spPr>
        <p:txBody>
          <a:bodyPr>
            <a:normAutofit/>
          </a:bodyPr>
          <a:lstStyle/>
          <a:p>
            <a:pPr algn="ctr">
              <a:buNone/>
            </a:pPr>
            <a:r>
              <a:rPr lang="en-US" sz="2400" b="1" dirty="0" smtClean="0"/>
              <a:t>5.7.2. Criminal Liability</a:t>
            </a:r>
          </a:p>
          <a:p>
            <a:r>
              <a:rPr lang="en-US" sz="2400" dirty="0" smtClean="0"/>
              <a:t>Criminal liability may entail as an official or as a person</a:t>
            </a:r>
          </a:p>
          <a:p>
            <a:pPr algn="ctr">
              <a:buNone/>
            </a:pPr>
            <a:r>
              <a:rPr lang="en-US" sz="2400" b="1" dirty="0" smtClean="0"/>
              <a:t>5.7.3. Civil Liability</a:t>
            </a:r>
          </a:p>
          <a:p>
            <a:r>
              <a:rPr lang="en-US" sz="2400" dirty="0" smtClean="0"/>
              <a:t>Does a prosecutor has tortuous liability for professional misconduct?</a:t>
            </a:r>
            <a:endParaRPr lang="en-US" sz="2400"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lgn="ctr">
              <a:buNone/>
            </a:pPr>
            <a:endParaRPr lang="en-US" sz="5400" dirty="0" smtClean="0"/>
          </a:p>
          <a:p>
            <a:pPr algn="ctr">
              <a:buNone/>
            </a:pPr>
            <a:endParaRPr lang="en-US" sz="5400" dirty="0" smtClean="0"/>
          </a:p>
          <a:p>
            <a:pPr algn="ctr">
              <a:buNone/>
            </a:pPr>
            <a:r>
              <a:rPr lang="en-US" sz="6000" dirty="0" smtClean="0">
                <a:solidFill>
                  <a:srgbClr val="00B050"/>
                </a:solidFill>
                <a:latin typeface="Brush Script Std" pitchFamily="66" charset="0"/>
              </a:rPr>
              <a:t>End of the Whole Class</a:t>
            </a:r>
            <a:r>
              <a:rPr lang="en-US" sz="5400" dirty="0" smtClean="0">
                <a:solidFill>
                  <a:srgbClr val="00B050"/>
                </a:solidFill>
              </a:rPr>
              <a:t> </a:t>
            </a:r>
            <a:endParaRPr lang="en-US" sz="5400" dirty="0">
              <a:solidFill>
                <a:srgbClr val="00B05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5675</TotalTime>
  <Words>13093</Words>
  <Application>Microsoft Office PowerPoint</Application>
  <PresentationFormat>On-screen Show (4:3)</PresentationFormat>
  <Paragraphs>1282</Paragraphs>
  <Slides>132</Slides>
  <Notes>1</Notes>
  <HiddenSlides>0</HiddenSlides>
  <MMClips>0</MMClips>
  <ScaleCrop>false</ScaleCrop>
  <HeadingPairs>
    <vt:vector size="4" baseType="variant">
      <vt:variant>
        <vt:lpstr>Theme</vt:lpstr>
      </vt:variant>
      <vt:variant>
        <vt:i4>1</vt:i4>
      </vt:variant>
      <vt:variant>
        <vt:lpstr>Slide Titles</vt:lpstr>
      </vt:variant>
      <vt:variant>
        <vt:i4>132</vt:i4>
      </vt:variant>
    </vt:vector>
  </HeadingPairs>
  <TitlesOfParts>
    <vt:vector size="133" baseType="lpstr">
      <vt:lpstr>Office Theme</vt:lpstr>
      <vt:lpstr>LEGAL PROFESSION AND ETHICS for Law 5th Students of Mekelle University </vt:lpstr>
      <vt:lpstr>Slide 2</vt:lpstr>
      <vt:lpstr>Introductory Matters </vt:lpstr>
      <vt:lpstr>Introductory Matters . . . Continued  </vt:lpstr>
      <vt:lpstr>Introductory Matters . . . Continued </vt:lpstr>
      <vt:lpstr>Introductory Matters . . . Continued </vt:lpstr>
      <vt:lpstr>Introductory Matters . . . Continued </vt:lpstr>
      <vt:lpstr>Table of Contents</vt:lpstr>
      <vt:lpstr> Chapter One: Introduction to Legal Profession and Ethics  </vt:lpstr>
      <vt:lpstr> Chapter Two: The Legal Profession </vt:lpstr>
      <vt:lpstr>Chapter Three: Judicial Ethics</vt:lpstr>
      <vt:lpstr>Chapter Three: Judicial Ethics . . . continued</vt:lpstr>
      <vt:lpstr>Chapter Four: Advocates’ Ethics</vt:lpstr>
      <vt:lpstr>Chapter Five: Ethics of the Public Prosecutor</vt:lpstr>
      <vt:lpstr>Chapter One:  Introduction to Legal Profession and Ethics </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One:  Introduction to Legal Profession and Ethics . . . Continued</vt:lpstr>
      <vt:lpstr>CHAPTER TWO THE LEGAL PROFESSION</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CHAPTER TWO THE LEGAL PROFESSION . . . Continued </vt:lpstr>
      <vt:lpstr> CHAPTER THREE JUDICIAL ETHICS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THREE JUDICIAL ETHICS . . . Continued  </vt:lpstr>
      <vt:lpstr> CHAPTER FOUR ADVOCATES’ ETHICS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FOUR ADVOCATES’ ETHICS . . . Continued   </vt:lpstr>
      <vt:lpstr> CHAPTER FIVE ETHICS OF THE PUBLIC PROSECUTOR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 CHAPTER FIVE ETHICS OF THE PUBLIC PROSECUTOR . . . Continued  </vt:lpstr>
      <vt:lpstr>Slide 132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LEGAL PROFESSION AND ETHICS</dc:title>
  <dc:creator>Toshiba-User</dc:creator>
  <cp:lastModifiedBy>Toshiba-User</cp:lastModifiedBy>
  <cp:revision>560</cp:revision>
  <dcterms:created xsi:type="dcterms:W3CDTF">2017-10-03T21:54:26Z</dcterms:created>
  <dcterms:modified xsi:type="dcterms:W3CDTF">2017-12-16T18:28:42Z</dcterms:modified>
</cp:coreProperties>
</file>