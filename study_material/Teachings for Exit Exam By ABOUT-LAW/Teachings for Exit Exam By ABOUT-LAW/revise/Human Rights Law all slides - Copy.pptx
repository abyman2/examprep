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Override PartName="/ppt/slides/slide55.xml" ContentType="application/vnd.openxmlformats-officedocument.presentationml.slide+xml"/>
  <Override PartName="/ppt/theme/theme2.xml" ContentType="application/vnd.openxmlformats-officedocument.them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slides/slide191.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s/slide5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6"/>
  </p:notesMasterIdLst>
  <p:handoutMasterIdLst>
    <p:handoutMasterId r:id="rId197"/>
  </p:handoutMasterIdLst>
  <p:sldIdLst>
    <p:sldId id="480" r:id="rId2"/>
    <p:sldId id="479" r:id="rId3"/>
    <p:sldId id="495" r:id="rId4"/>
    <p:sldId id="378" r:id="rId5"/>
    <p:sldId id="379" r:id="rId6"/>
    <p:sldId id="380" r:id="rId7"/>
    <p:sldId id="381" r:id="rId8"/>
    <p:sldId id="382" r:id="rId9"/>
    <p:sldId id="383" r:id="rId10"/>
    <p:sldId id="384" r:id="rId11"/>
    <p:sldId id="385" r:id="rId12"/>
    <p:sldId id="386" r:id="rId13"/>
    <p:sldId id="387" r:id="rId14"/>
    <p:sldId id="388" r:id="rId15"/>
    <p:sldId id="389" r:id="rId16"/>
    <p:sldId id="390" r:id="rId17"/>
    <p:sldId id="391" r:id="rId18"/>
    <p:sldId id="392" r:id="rId19"/>
    <p:sldId id="393" r:id="rId20"/>
    <p:sldId id="394" r:id="rId21"/>
    <p:sldId id="395" r:id="rId22"/>
    <p:sldId id="396" r:id="rId23"/>
    <p:sldId id="397" r:id="rId24"/>
    <p:sldId id="398" r:id="rId25"/>
    <p:sldId id="399" r:id="rId26"/>
    <p:sldId id="400" r:id="rId27"/>
    <p:sldId id="260" r:id="rId28"/>
    <p:sldId id="263" r:id="rId29"/>
    <p:sldId id="264" r:id="rId30"/>
    <p:sldId id="265" r:id="rId31"/>
    <p:sldId id="266" r:id="rId32"/>
    <p:sldId id="258" r:id="rId33"/>
    <p:sldId id="262" r:id="rId34"/>
    <p:sldId id="267" r:id="rId35"/>
    <p:sldId id="268" r:id="rId36"/>
    <p:sldId id="283" r:id="rId37"/>
    <p:sldId id="285" r:id="rId38"/>
    <p:sldId id="287" r:id="rId39"/>
    <p:sldId id="289" r:id="rId40"/>
    <p:sldId id="291" r:id="rId41"/>
    <p:sldId id="293" r:id="rId42"/>
    <p:sldId id="295" r:id="rId43"/>
    <p:sldId id="297" r:id="rId44"/>
    <p:sldId id="299" r:id="rId45"/>
    <p:sldId id="301" r:id="rId46"/>
    <p:sldId id="303" r:id="rId47"/>
    <p:sldId id="305" r:id="rId48"/>
    <p:sldId id="307" r:id="rId49"/>
    <p:sldId id="309" r:id="rId50"/>
    <p:sldId id="372" r:id="rId51"/>
    <p:sldId id="373" r:id="rId52"/>
    <p:sldId id="261" r:id="rId53"/>
    <p:sldId id="270" r:id="rId54"/>
    <p:sldId id="271" r:id="rId55"/>
    <p:sldId id="278" r:id="rId56"/>
    <p:sldId id="272" r:id="rId57"/>
    <p:sldId id="273" r:id="rId58"/>
    <p:sldId id="274" r:id="rId59"/>
    <p:sldId id="275" r:id="rId60"/>
    <p:sldId id="276" r:id="rId61"/>
    <p:sldId id="402" r:id="rId62"/>
    <p:sldId id="403" r:id="rId63"/>
    <p:sldId id="404" r:id="rId64"/>
    <p:sldId id="405" r:id="rId65"/>
    <p:sldId id="406" r:id="rId66"/>
    <p:sldId id="407" r:id="rId67"/>
    <p:sldId id="408" r:id="rId68"/>
    <p:sldId id="409" r:id="rId69"/>
    <p:sldId id="410" r:id="rId70"/>
    <p:sldId id="411" r:id="rId71"/>
    <p:sldId id="412" r:id="rId72"/>
    <p:sldId id="413" r:id="rId73"/>
    <p:sldId id="414" r:id="rId74"/>
    <p:sldId id="415" r:id="rId75"/>
    <p:sldId id="416" r:id="rId76"/>
    <p:sldId id="417" r:id="rId77"/>
    <p:sldId id="418" r:id="rId78"/>
    <p:sldId id="419" r:id="rId79"/>
    <p:sldId id="420" r:id="rId80"/>
    <p:sldId id="421" r:id="rId81"/>
    <p:sldId id="422" r:id="rId82"/>
    <p:sldId id="423" r:id="rId83"/>
    <p:sldId id="424" r:id="rId84"/>
    <p:sldId id="425" r:id="rId85"/>
    <p:sldId id="426" r:id="rId86"/>
    <p:sldId id="427" r:id="rId87"/>
    <p:sldId id="428" r:id="rId88"/>
    <p:sldId id="429" r:id="rId89"/>
    <p:sldId id="430" r:id="rId90"/>
    <p:sldId id="431" r:id="rId91"/>
    <p:sldId id="432" r:id="rId92"/>
    <p:sldId id="433" r:id="rId93"/>
    <p:sldId id="434" r:id="rId94"/>
    <p:sldId id="435" r:id="rId95"/>
    <p:sldId id="277" r:id="rId96"/>
    <p:sldId id="319" r:id="rId97"/>
    <p:sldId id="320" r:id="rId98"/>
    <p:sldId id="321" r:id="rId99"/>
    <p:sldId id="322" r:id="rId100"/>
    <p:sldId id="323" r:id="rId101"/>
    <p:sldId id="324" r:id="rId102"/>
    <p:sldId id="325" r:id="rId103"/>
    <p:sldId id="326" r:id="rId104"/>
    <p:sldId id="327" r:id="rId105"/>
    <p:sldId id="328" r:id="rId106"/>
    <p:sldId id="329" r:id="rId107"/>
    <p:sldId id="330" r:id="rId108"/>
    <p:sldId id="331" r:id="rId109"/>
    <p:sldId id="332" r:id="rId110"/>
    <p:sldId id="333" r:id="rId111"/>
    <p:sldId id="334" r:id="rId112"/>
    <p:sldId id="335" r:id="rId113"/>
    <p:sldId id="336" r:id="rId114"/>
    <p:sldId id="337" r:id="rId115"/>
    <p:sldId id="338" r:id="rId116"/>
    <p:sldId id="339" r:id="rId117"/>
    <p:sldId id="340" r:id="rId118"/>
    <p:sldId id="341" r:id="rId119"/>
    <p:sldId id="342" r:id="rId120"/>
    <p:sldId id="343" r:id="rId121"/>
    <p:sldId id="344" r:id="rId122"/>
    <p:sldId id="345" r:id="rId123"/>
    <p:sldId id="346" r:id="rId124"/>
    <p:sldId id="347" r:id="rId125"/>
    <p:sldId id="348" r:id="rId126"/>
    <p:sldId id="349" r:id="rId127"/>
    <p:sldId id="350" r:id="rId128"/>
    <p:sldId id="351" r:id="rId129"/>
    <p:sldId id="352" r:id="rId130"/>
    <p:sldId id="353" r:id="rId131"/>
    <p:sldId id="354" r:id="rId132"/>
    <p:sldId id="474" r:id="rId133"/>
    <p:sldId id="438" r:id="rId134"/>
    <p:sldId id="439" r:id="rId135"/>
    <p:sldId id="440" r:id="rId136"/>
    <p:sldId id="441" r:id="rId137"/>
    <p:sldId id="442" r:id="rId138"/>
    <p:sldId id="443" r:id="rId139"/>
    <p:sldId id="444" r:id="rId140"/>
    <p:sldId id="445" r:id="rId141"/>
    <p:sldId id="446" r:id="rId142"/>
    <p:sldId id="447" r:id="rId143"/>
    <p:sldId id="448" r:id="rId144"/>
    <p:sldId id="449" r:id="rId145"/>
    <p:sldId id="450" r:id="rId146"/>
    <p:sldId id="451" r:id="rId147"/>
    <p:sldId id="452" r:id="rId148"/>
    <p:sldId id="453" r:id="rId149"/>
    <p:sldId id="454" r:id="rId150"/>
    <p:sldId id="455" r:id="rId151"/>
    <p:sldId id="456" r:id="rId152"/>
    <p:sldId id="457" r:id="rId153"/>
    <p:sldId id="458" r:id="rId154"/>
    <p:sldId id="459" r:id="rId155"/>
    <p:sldId id="460" r:id="rId156"/>
    <p:sldId id="461" r:id="rId157"/>
    <p:sldId id="462" r:id="rId158"/>
    <p:sldId id="463" r:id="rId159"/>
    <p:sldId id="464" r:id="rId160"/>
    <p:sldId id="465" r:id="rId161"/>
    <p:sldId id="466" r:id="rId162"/>
    <p:sldId id="467" r:id="rId163"/>
    <p:sldId id="468" r:id="rId164"/>
    <p:sldId id="469" r:id="rId165"/>
    <p:sldId id="470" r:id="rId166"/>
    <p:sldId id="471" r:id="rId167"/>
    <p:sldId id="472" r:id="rId168"/>
    <p:sldId id="473" r:id="rId169"/>
    <p:sldId id="355" r:id="rId170"/>
    <p:sldId id="356" r:id="rId171"/>
    <p:sldId id="357" r:id="rId172"/>
    <p:sldId id="358" r:id="rId173"/>
    <p:sldId id="359" r:id="rId174"/>
    <p:sldId id="360" r:id="rId175"/>
    <p:sldId id="361" r:id="rId176"/>
    <p:sldId id="362" r:id="rId177"/>
    <p:sldId id="363" r:id="rId178"/>
    <p:sldId id="364" r:id="rId179"/>
    <p:sldId id="365" r:id="rId180"/>
    <p:sldId id="477" r:id="rId181"/>
    <p:sldId id="476" r:id="rId182"/>
    <p:sldId id="475" r:id="rId183"/>
    <p:sldId id="366" r:id="rId184"/>
    <p:sldId id="367" r:id="rId185"/>
    <p:sldId id="368" r:id="rId186"/>
    <p:sldId id="490" r:id="rId187"/>
    <p:sldId id="494" r:id="rId188"/>
    <p:sldId id="493" r:id="rId189"/>
    <p:sldId id="492" r:id="rId190"/>
    <p:sldId id="483" r:id="rId191"/>
    <p:sldId id="485" r:id="rId192"/>
    <p:sldId id="489" r:id="rId193"/>
    <p:sldId id="487" r:id="rId194"/>
    <p:sldId id="491" r:id="rId195"/>
  </p:sldIdLst>
  <p:sldSz cx="9144000" cy="6858000" type="screen4x3"/>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notesMaster" Target="notesMasters/notesMaster1.xml"/><Relationship Id="rId200"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handoutMaster" Target="handoutMasters/handoutMaster1.xml"/><Relationship Id="rId201"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presProps" Target="presProps.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160520" cy="365760"/>
          </a:xfrm>
          <a:prstGeom prst="rect">
            <a:avLst/>
          </a:prstGeom>
        </p:spPr>
        <p:txBody>
          <a:bodyPr vert="horz" lIns="96662" tIns="48331" rIns="96662" bIns="48331" rtlCol="0"/>
          <a:lstStyle>
            <a:lvl1pPr algn="l">
              <a:defRPr sz="1300"/>
            </a:lvl1pPr>
          </a:lstStyle>
          <a:p>
            <a:endParaRPr lang="en-US"/>
          </a:p>
        </p:txBody>
      </p:sp>
      <p:sp>
        <p:nvSpPr>
          <p:cNvPr id="3" name="Date Placeholder 2"/>
          <p:cNvSpPr>
            <a:spLocks noGrp="1"/>
          </p:cNvSpPr>
          <p:nvPr>
            <p:ph type="dt" sz="quarter" idx="1"/>
          </p:nvPr>
        </p:nvSpPr>
        <p:spPr>
          <a:xfrm>
            <a:off x="5438460" y="1"/>
            <a:ext cx="4160520" cy="365760"/>
          </a:xfrm>
          <a:prstGeom prst="rect">
            <a:avLst/>
          </a:prstGeom>
        </p:spPr>
        <p:txBody>
          <a:bodyPr vert="horz" lIns="96662" tIns="48331" rIns="96662" bIns="48331" rtlCol="0"/>
          <a:lstStyle>
            <a:lvl1pPr algn="r">
              <a:defRPr sz="1300"/>
            </a:lvl1pPr>
          </a:lstStyle>
          <a:p>
            <a:fld id="{18D3A263-5BE5-43CA-BE4A-42463E977D9B}" type="datetimeFigureOut">
              <a:rPr lang="en-US" smtClean="0"/>
              <a:pPr/>
              <a:t>1/17/2018</a:t>
            </a:fld>
            <a:endParaRPr lang="en-US"/>
          </a:p>
        </p:txBody>
      </p:sp>
      <p:sp>
        <p:nvSpPr>
          <p:cNvPr id="4" name="Footer Placeholder 3"/>
          <p:cNvSpPr>
            <a:spLocks noGrp="1"/>
          </p:cNvSpPr>
          <p:nvPr>
            <p:ph type="ftr" sz="quarter" idx="2"/>
          </p:nvPr>
        </p:nvSpPr>
        <p:spPr>
          <a:xfrm>
            <a:off x="1" y="6948171"/>
            <a:ext cx="4160520" cy="365760"/>
          </a:xfrm>
          <a:prstGeom prst="rect">
            <a:avLst/>
          </a:prstGeom>
        </p:spPr>
        <p:txBody>
          <a:bodyPr vert="horz" lIns="96662" tIns="48331" rIns="96662"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5438460" y="6948171"/>
            <a:ext cx="4160520" cy="365760"/>
          </a:xfrm>
          <a:prstGeom prst="rect">
            <a:avLst/>
          </a:prstGeom>
        </p:spPr>
        <p:txBody>
          <a:bodyPr vert="horz" lIns="96662" tIns="48331" rIns="96662" bIns="48331" rtlCol="0" anchor="b"/>
          <a:lstStyle>
            <a:lvl1pPr algn="r">
              <a:defRPr sz="1300"/>
            </a:lvl1pPr>
          </a:lstStyle>
          <a:p>
            <a:fld id="{C379EAB6-FD90-4007-A8FB-3A22F3709420}"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161628" cy="366010"/>
          </a:xfrm>
          <a:prstGeom prst="rect">
            <a:avLst/>
          </a:prstGeom>
        </p:spPr>
        <p:txBody>
          <a:bodyPr vert="horz" lIns="95610" tIns="47805" rIns="95610" bIns="47805" rtlCol="0"/>
          <a:lstStyle>
            <a:lvl1pPr algn="l">
              <a:defRPr sz="1300"/>
            </a:lvl1pPr>
          </a:lstStyle>
          <a:p>
            <a:endParaRPr lang="en-US"/>
          </a:p>
        </p:txBody>
      </p:sp>
      <p:sp>
        <p:nvSpPr>
          <p:cNvPr id="3" name="Date Placeholder 2"/>
          <p:cNvSpPr>
            <a:spLocks noGrp="1"/>
          </p:cNvSpPr>
          <p:nvPr>
            <p:ph type="dt" idx="1"/>
          </p:nvPr>
        </p:nvSpPr>
        <p:spPr>
          <a:xfrm>
            <a:off x="5437359" y="0"/>
            <a:ext cx="4161626" cy="366010"/>
          </a:xfrm>
          <a:prstGeom prst="rect">
            <a:avLst/>
          </a:prstGeom>
        </p:spPr>
        <p:txBody>
          <a:bodyPr vert="horz" lIns="95610" tIns="47805" rIns="95610" bIns="47805" rtlCol="0"/>
          <a:lstStyle>
            <a:lvl1pPr algn="r">
              <a:defRPr sz="1300"/>
            </a:lvl1pPr>
          </a:lstStyle>
          <a:p>
            <a:fld id="{A450B7B5-DFE8-48A6-9E8B-AFBF52076B0D}" type="datetimeFigureOut">
              <a:rPr lang="en-US" smtClean="0"/>
              <a:pPr/>
              <a:t>1/17/2018</a:t>
            </a:fld>
            <a:endParaRPr lang="en-US"/>
          </a:p>
        </p:txBody>
      </p:sp>
      <p:sp>
        <p:nvSpPr>
          <p:cNvPr id="4" name="Slide Image Placeholder 3"/>
          <p:cNvSpPr>
            <a:spLocks noGrp="1" noRot="1" noChangeAspect="1"/>
          </p:cNvSpPr>
          <p:nvPr>
            <p:ph type="sldImg" idx="2"/>
          </p:nvPr>
        </p:nvSpPr>
        <p:spPr>
          <a:xfrm>
            <a:off x="2971800" y="547688"/>
            <a:ext cx="3659188" cy="2744787"/>
          </a:xfrm>
          <a:prstGeom prst="rect">
            <a:avLst/>
          </a:prstGeom>
          <a:noFill/>
          <a:ln w="12700">
            <a:solidFill>
              <a:prstClr val="black"/>
            </a:solidFill>
          </a:ln>
        </p:spPr>
        <p:txBody>
          <a:bodyPr vert="horz" lIns="95610" tIns="47805" rIns="95610" bIns="47805" rtlCol="0" anchor="ctr"/>
          <a:lstStyle/>
          <a:p>
            <a:endParaRPr lang="en-US"/>
          </a:p>
        </p:txBody>
      </p:sp>
      <p:sp>
        <p:nvSpPr>
          <p:cNvPr id="5" name="Notes Placeholder 4"/>
          <p:cNvSpPr>
            <a:spLocks noGrp="1"/>
          </p:cNvSpPr>
          <p:nvPr>
            <p:ph type="body" sz="quarter" idx="3"/>
          </p:nvPr>
        </p:nvSpPr>
        <p:spPr>
          <a:xfrm>
            <a:off x="961228" y="3475221"/>
            <a:ext cx="7680959" cy="3291590"/>
          </a:xfrm>
          <a:prstGeom prst="rect">
            <a:avLst/>
          </a:prstGeom>
        </p:spPr>
        <p:txBody>
          <a:bodyPr vert="horz" lIns="95610" tIns="47805" rIns="95610" bIns="4780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6947941"/>
            <a:ext cx="4161628" cy="366010"/>
          </a:xfrm>
          <a:prstGeom prst="rect">
            <a:avLst/>
          </a:prstGeom>
        </p:spPr>
        <p:txBody>
          <a:bodyPr vert="horz" lIns="95610" tIns="47805" rIns="95610" bIns="47805" rtlCol="0" anchor="b"/>
          <a:lstStyle>
            <a:lvl1pPr algn="l">
              <a:defRPr sz="1300"/>
            </a:lvl1pPr>
          </a:lstStyle>
          <a:p>
            <a:endParaRPr lang="en-US"/>
          </a:p>
        </p:txBody>
      </p:sp>
      <p:sp>
        <p:nvSpPr>
          <p:cNvPr id="7" name="Slide Number Placeholder 6"/>
          <p:cNvSpPr>
            <a:spLocks noGrp="1"/>
          </p:cNvSpPr>
          <p:nvPr>
            <p:ph type="sldNum" sz="quarter" idx="5"/>
          </p:nvPr>
        </p:nvSpPr>
        <p:spPr>
          <a:xfrm>
            <a:off x="5437359" y="6947941"/>
            <a:ext cx="4161626" cy="366010"/>
          </a:xfrm>
          <a:prstGeom prst="rect">
            <a:avLst/>
          </a:prstGeom>
        </p:spPr>
        <p:txBody>
          <a:bodyPr vert="horz" lIns="95610" tIns="47805" rIns="95610" bIns="47805" rtlCol="0" anchor="b"/>
          <a:lstStyle>
            <a:lvl1pPr algn="r">
              <a:defRPr sz="1300"/>
            </a:lvl1pPr>
          </a:lstStyle>
          <a:p>
            <a:fld id="{3D3B95DF-C3E2-4CD4-8A9B-B906C1D7D2E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17</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18</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19</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20</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21</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22</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23</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24</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25</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4408D1-FB68-4791-8AAB-58B332A295EC}" type="slidenum">
              <a:rPr lang="en-GB" smtClean="0"/>
              <a:pPr/>
              <a:t>26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61</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62</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63</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64</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65</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66</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67</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68</a:t>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69</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70</a:t>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71</a:t>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72</a:t>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73</a:t>
            </a:fld>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74</a:t>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75</a:t>
            </a:fld>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76</a:t>
            </a:fld>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77</a:t>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78</a:t>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79</a:t>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80</a:t>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81</a:t>
            </a:fld>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82</a:t>
            </a:fld>
            <a:endParaRPr 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83</a:t>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84</a:t>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85</a:t>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86</a:t>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87</a:t>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88</a:t>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89</a:t>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90</a:t>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91</a:t>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92</a:t>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93</a:t>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24408D1-FB68-4791-8AAB-58B332A295EC}" type="slidenum">
              <a:rPr lang="en-GB" smtClean="0"/>
              <a:pPr/>
              <a:t>94</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5F98CEC-FEDA-4874-9E20-5F4DFD704F5C}" type="datetimeFigureOut">
              <a:rPr lang="en-US" smtClean="0"/>
              <a:pPr/>
              <a:t>1/17/2018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F98CEC-FEDA-4874-9E20-5F4DFD704F5C}" type="datetimeFigureOut">
              <a:rPr lang="en-US" smtClean="0"/>
              <a:pPr/>
              <a:t>1/17/2018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5F98CEC-FEDA-4874-9E20-5F4DFD704F5C}" type="datetimeFigureOut">
              <a:rPr lang="en-US" smtClean="0"/>
              <a:pPr/>
              <a:t>1/17/2018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F98CEC-FEDA-4874-9E20-5F4DFD704F5C}" type="datetimeFigureOut">
              <a:rPr lang="en-US" smtClean="0"/>
              <a:pPr/>
              <a:t>1/17/2018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5F98CEC-FEDA-4874-9E20-5F4DFD704F5C}" type="datetimeFigureOut">
              <a:rPr lang="en-US" smtClean="0"/>
              <a:pPr/>
              <a:t>1/17/2018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5F98CEC-FEDA-4874-9E20-5F4DFD704F5C}" type="datetimeFigureOut">
              <a:rPr lang="en-US" smtClean="0"/>
              <a:pPr/>
              <a:t>1/17/2018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98CEC-FEDA-4874-9E20-5F4DFD704F5C}" type="datetimeFigureOut">
              <a:rPr lang="en-US" smtClean="0"/>
              <a:pPr/>
              <a:t>1/17/2018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F98CEC-FEDA-4874-9E20-5F4DFD704F5C}" type="datetimeFigureOut">
              <a:rPr lang="en-US" smtClean="0"/>
              <a:pPr/>
              <a:t>1/17/2018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F98CEC-FEDA-4874-9E20-5F4DFD704F5C}" type="datetimeFigureOut">
              <a:rPr lang="en-US" smtClean="0"/>
              <a:pPr/>
              <a:t>1/17/2018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F98CEC-FEDA-4874-9E20-5F4DFD704F5C}" type="datetimeFigureOut">
              <a:rPr lang="en-US" smtClean="0"/>
              <a:pPr/>
              <a:t>1/17/2018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F98CEC-FEDA-4874-9E20-5F4DFD704F5C}" type="datetimeFigureOut">
              <a:rPr lang="en-US" smtClean="0"/>
              <a:pPr/>
              <a:t>1/17/2018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4D8132-0FCB-4529-9E2B-97263C8625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F98CEC-FEDA-4874-9E20-5F4DFD704F5C}" type="datetimeFigureOut">
              <a:rPr lang="en-US" smtClean="0"/>
              <a:pPr/>
              <a:t>1/17/2018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4D8132-0FCB-4529-9E2B-97263C8625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www2.ohchr.org/english/bodies/chr/special/index.htm"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http://www.ohchr.org/EN/countries/AsiaRegion/Pages/KHIndex.aspx"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www.ohchr.org/EN/countries/AfricaRegion/Pages/CIIndex.aspx"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hyperlink" Target="mailto:CP@ohchr.org"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daccess-ods.un.org/access.nsf/Get?Open&amp;DS=A/RES/60/251&amp;Lang=E"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hyperlink" Target="http://www2.ohchr.org/english/bodies/cat/index.htm" TargetMode="External"/><Relationship Id="rId13" Type="http://schemas.openxmlformats.org/officeDocument/2006/relationships/hyperlink" Target="http://www.ohchr.org/EN/HRBodies/CED/Pages/CEDIndex.aspx" TargetMode="External"/><Relationship Id="rId3" Type="http://schemas.openxmlformats.org/officeDocument/2006/relationships/hyperlink" Target="http://www.ohchr.org/EN/ProfessionalInterest/Pages/InternationalLaw.aspx" TargetMode="External"/><Relationship Id="rId7" Type="http://schemas.openxmlformats.org/officeDocument/2006/relationships/hyperlink" Target="http://www2.ohchr.org/english/bodies/cedaw/index.htm" TargetMode="External"/><Relationship Id="rId12" Type="http://schemas.openxmlformats.org/officeDocument/2006/relationships/hyperlink" Target="http://www.ohchr.org/EN/HRBodies/CRPD/Pages/CRPDIndex.aspx"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www2.ohchr.org/english/bodies/cerd/index.htm" TargetMode="External"/><Relationship Id="rId11" Type="http://schemas.openxmlformats.org/officeDocument/2006/relationships/hyperlink" Target="http://www2.ohchr.org/english/bodies/cmw/index.htm" TargetMode="External"/><Relationship Id="rId5" Type="http://schemas.openxmlformats.org/officeDocument/2006/relationships/hyperlink" Target="http://www2.ohchr.org/english/bodies/cescr/index.htm" TargetMode="External"/><Relationship Id="rId10" Type="http://schemas.openxmlformats.org/officeDocument/2006/relationships/hyperlink" Target="http://www2.ohchr.org/english/bodies/crc/index.htm" TargetMode="External"/><Relationship Id="rId4" Type="http://schemas.openxmlformats.org/officeDocument/2006/relationships/hyperlink" Target="http://www2.ohchr.org/english/bodies/hrc/index.htm" TargetMode="External"/><Relationship Id="rId9" Type="http://schemas.openxmlformats.org/officeDocument/2006/relationships/hyperlink" Target="http://www2.ohchr.org/english/bodies/cat/opcat/index.htm"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www.ohchr.org/EN/HRBodies/Pages/OtherUnitedNationsBodies.aspx"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hyperlink" Target="http://www2.ohchr.org/english/bodies/petitions/index.htm"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www2.ohchr.org/english/law/ccpr.htm"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hyperlink" Target="http://www2.ohchr.org/english/bodies/hrc/members.htm" TargetMode="External"/><Relationship Id="rId5" Type="http://schemas.openxmlformats.org/officeDocument/2006/relationships/hyperlink" Target="http://www2.ohchr.org/english/law/ccpr-death.htm" TargetMode="External"/><Relationship Id="rId4" Type="http://schemas.openxmlformats.org/officeDocument/2006/relationships/hyperlink" Target="http://www2.ohchr.org/english/law/ccpr-one.htm" TargetMode="External"/></Relationships>
</file>

<file path=ppt/slides/_rels/slide77.xml.rels><?xml version="1.0" encoding="UTF-8" standalone="yes"?>
<Relationships xmlns="http://schemas.openxmlformats.org/package/2006/relationships"><Relationship Id="rId3" Type="http://schemas.openxmlformats.org/officeDocument/2006/relationships/hyperlink" Target="http://www2.ohchr.org/english/bodies/petitions/index.htm" TargetMode="External"/><Relationship Id="rId7" Type="http://schemas.openxmlformats.org/officeDocument/2006/relationships/hyperlink" Target="http://www2.ohchr.org/english/bodies/hrc/comments.htm"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hyperlink" Target="http://www2.ohchr.org/english/bodies/hrc/sessions.htm" TargetMode="External"/><Relationship Id="rId5" Type="http://schemas.openxmlformats.org/officeDocument/2006/relationships/hyperlink" Target="http://www2.ohchr.org/english/law/ccpr-death.htm" TargetMode="External"/><Relationship Id="rId4" Type="http://schemas.openxmlformats.org/officeDocument/2006/relationships/hyperlink" Target="http://www2.ohchr.org/english/law/ccpr-one.htm"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www2.ohchr.org/english/law/cescr.htm"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hyperlink" Target="http://www2.ohchr.org/english/bodies/cescr/docs/A-RES-63-117.pdf" TargetMode="External"/><Relationship Id="rId4" Type="http://schemas.openxmlformats.org/officeDocument/2006/relationships/hyperlink" Target="http://www2.ohchr.org/english/law/docs/A.RES.63.117_en.pdf" TargetMode="External"/></Relationships>
</file>

<file path=ppt/slides/_rels/slide79.xml.rels><?xml version="1.0" encoding="UTF-8" standalone="yes"?>
<Relationships xmlns="http://schemas.openxmlformats.org/package/2006/relationships"><Relationship Id="rId3" Type="http://schemas.openxmlformats.org/officeDocument/2006/relationships/hyperlink" Target="http://www2.ohchr.org/english/bodies/complaints.htm"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hyperlink" Target="http://www2.ohchr.org/english/bodies/cescr/sessions.htm" TargetMode="Externa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hyperlink" Target="http://www2.ohchr.org/english/bodies/cerd/early-warning.htm" TargetMode="Externa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hyperlink" Target="http://www2.ohchr.org/english/bodies/cerd/comments.htm" TargetMode="External"/><Relationship Id="rId5" Type="http://schemas.openxmlformats.org/officeDocument/2006/relationships/hyperlink" Target="http://www2.ohchr.org/english/bodies2/cerd/sessions.htm" TargetMode="External"/><Relationship Id="rId4" Type="http://schemas.openxmlformats.org/officeDocument/2006/relationships/hyperlink" Target="http://www2.ohchr.org/english/bodies/petitions/index.htm" TargetMode="Externa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hyperlink" Target="http://www2.ohchr.org/english/law/cedaw.htm" TargetMode="External"/><Relationship Id="rId7" Type="http://schemas.openxmlformats.org/officeDocument/2006/relationships/hyperlink" Target="http://www.un.org/womenwatch/daw/cedaw/protocol/dec-views.htm" TargetMode="Externa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hyperlink" Target="http://www.un.org/womenwatch/daw/cedaw/protocol/" TargetMode="External"/><Relationship Id="rId5" Type="http://schemas.openxmlformats.org/officeDocument/2006/relationships/hyperlink" Target="http://www2.ohchr.org/english/law/cedaw-one.htm" TargetMode="External"/><Relationship Id="rId4" Type="http://schemas.openxmlformats.org/officeDocument/2006/relationships/hyperlink" Target="http://www2.ohchr.org/english/bodies/cedaw/membership.htm"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www2.ohchr.org/english/bodies/cat/index.htm" TargetMode="Externa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hyperlink" Target="http://www2.ohchr.org/english/bodies/cat/members.htm"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hyperlink" Target="http://www2.ohchr.org/english/law/cat.htm" TargetMode="Externa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hyperlink" Target="http://www2.ohchr.org/english/law/cat-one.htm" TargetMode="External"/><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hyperlink" Target="http://www2.ohchr.org/english/bodies/cat/opcat/index.htm" TargetMode="External"/></Relationships>
</file>

<file path=ppt/slides/_rels/slide92.xml.rels><?xml version="1.0" encoding="UTF-8" standalone="yes"?>
<Relationships xmlns="http://schemas.openxmlformats.org/package/2006/relationships"><Relationship Id="rId3" Type="http://schemas.openxmlformats.org/officeDocument/2006/relationships/hyperlink" Target="http://www2.ohchr.org/english/bodies/cmw/index.htm" TargetMode="External"/><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hyperlink" Target="http://www2.ohchr.org/english/bodies/petitions/index.htm" TargetMode="External"/><Relationship Id="rId4" Type="http://schemas.openxmlformats.org/officeDocument/2006/relationships/hyperlink" Target="http://www2.ohchr.org/english/law/index.htm" TargetMode="External"/></Relationships>
</file>

<file path=ppt/slides/_rels/slide93.xml.rels><?xml version="1.0" encoding="UTF-8" standalone="yes"?>
<Relationships xmlns="http://schemas.openxmlformats.org/package/2006/relationships"><Relationship Id="rId3" Type="http://schemas.openxmlformats.org/officeDocument/2006/relationships/hyperlink" Target="http://www2.ohchr.org/english/bodies/crc/index.htm" TargetMode="External"/><Relationship Id="rId7" Type="http://schemas.openxmlformats.org/officeDocument/2006/relationships/hyperlink" Target="http://www2.ohchr.org/english/bodies/petitions/index.htm"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hyperlink" Target="http://www2.ohchr.org/english/law/crc-sale.htm" TargetMode="External"/><Relationship Id="rId5" Type="http://schemas.openxmlformats.org/officeDocument/2006/relationships/hyperlink" Target="http://www2.ohchr.org/english/law/crc-conflict.htm" TargetMode="External"/><Relationship Id="rId4" Type="http://schemas.openxmlformats.org/officeDocument/2006/relationships/hyperlink" Target="http://www2.ohchr.org/english/law/crc.htm" TargetMode="External"/></Relationships>
</file>

<file path=ppt/slides/_rels/slide94.xml.rels><?xml version="1.0" encoding="UTF-8" standalone="yes"?>
<Relationships xmlns="http://schemas.openxmlformats.org/package/2006/relationships"><Relationship Id="rId3" Type="http://schemas.openxmlformats.org/officeDocument/2006/relationships/hyperlink" Target="http://www.ohchr.org/EN/HRBodies/CRPD/Pages/CRPDIndex.aspx"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600450"/>
          </a:xfrm>
        </p:spPr>
        <p:txBody>
          <a:bodyPr>
            <a:normAutofit/>
          </a:bodyPr>
          <a:lstStyle/>
          <a:p>
            <a:r>
              <a:rPr lang="en-US" sz="6600" b="1" dirty="0" smtClean="0">
                <a:latin typeface="Times New Roman" pitchFamily="18" charset="0"/>
                <a:cs typeface="Times New Roman" pitchFamily="18" charset="0"/>
              </a:rPr>
              <a:t>Human Rights Law</a:t>
            </a:r>
            <a:endParaRPr lang="en-US" sz="6600" b="1" dirty="0"/>
          </a:p>
        </p:txBody>
      </p:sp>
      <p:sp>
        <p:nvSpPr>
          <p:cNvPr id="3" name="Subtitle 2"/>
          <p:cNvSpPr>
            <a:spLocks noGrp="1"/>
          </p:cNvSpPr>
          <p:nvPr>
            <p:ph type="subTitle" idx="1"/>
          </p:nvPr>
        </p:nvSpPr>
        <p:spPr>
          <a:xfrm>
            <a:off x="0" y="3886200"/>
            <a:ext cx="9144000" cy="2971800"/>
          </a:xfrm>
        </p:spPr>
        <p:txBody>
          <a:bodyPr>
            <a:normAutofit/>
          </a:bodyPr>
          <a:lstStyle/>
          <a:p>
            <a:pPr algn="l"/>
            <a:r>
              <a:rPr lang="en-US" b="1" i="1" dirty="0" smtClean="0">
                <a:solidFill>
                  <a:schemeClr val="tx1"/>
                </a:solidFill>
                <a:latin typeface="Times New Roman" pitchFamily="18" charset="0"/>
                <a:cs typeface="Times New Roman" pitchFamily="18" charset="0"/>
              </a:rPr>
              <a:t>Prepared by:</a:t>
            </a:r>
          </a:p>
          <a:p>
            <a:pPr algn="l"/>
            <a:r>
              <a:rPr lang="en-US" b="1" i="1" dirty="0" err="1" smtClean="0">
                <a:solidFill>
                  <a:schemeClr val="tx1"/>
                </a:solidFill>
                <a:latin typeface="Times New Roman" pitchFamily="18" charset="0"/>
                <a:cs typeface="Times New Roman" pitchFamily="18" charset="0"/>
              </a:rPr>
              <a:t>Abreha</a:t>
            </a:r>
            <a:r>
              <a:rPr lang="en-US" b="1" i="1" dirty="0" smtClean="0">
                <a:solidFill>
                  <a:schemeClr val="tx1"/>
                </a:solidFill>
                <a:latin typeface="Times New Roman" pitchFamily="18" charset="0"/>
                <a:cs typeface="Times New Roman" pitchFamily="18" charset="0"/>
              </a:rPr>
              <a:t> </a:t>
            </a:r>
            <a:r>
              <a:rPr lang="en-US" b="1" i="1" dirty="0" err="1" smtClean="0">
                <a:solidFill>
                  <a:schemeClr val="tx1"/>
                </a:solidFill>
                <a:latin typeface="Times New Roman" pitchFamily="18" charset="0"/>
                <a:cs typeface="Times New Roman" pitchFamily="18" charset="0"/>
              </a:rPr>
              <a:t>Mesele</a:t>
            </a:r>
            <a:r>
              <a:rPr lang="en-US" b="1" i="1" dirty="0" smtClean="0">
                <a:solidFill>
                  <a:schemeClr val="tx1"/>
                </a:solidFill>
                <a:latin typeface="Times New Roman" pitchFamily="18" charset="0"/>
                <a:cs typeface="Times New Roman" pitchFamily="18" charset="0"/>
              </a:rPr>
              <a:t> (LLB, LLM, Lecturer at </a:t>
            </a:r>
            <a:r>
              <a:rPr lang="en-US" b="1" i="1" dirty="0" err="1" smtClean="0">
                <a:solidFill>
                  <a:schemeClr val="tx1"/>
                </a:solidFill>
                <a:latin typeface="Times New Roman" pitchFamily="18" charset="0"/>
                <a:cs typeface="Times New Roman" pitchFamily="18" charset="0"/>
              </a:rPr>
              <a:t>Mekelle</a:t>
            </a:r>
            <a:r>
              <a:rPr lang="en-US" b="1" i="1" dirty="0" smtClean="0">
                <a:solidFill>
                  <a:schemeClr val="tx1"/>
                </a:solidFill>
                <a:latin typeface="Times New Roman" pitchFamily="18" charset="0"/>
                <a:cs typeface="Times New Roman" pitchFamily="18" charset="0"/>
              </a:rPr>
              <a:t> University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2430447"/>
            <a:ext cx="9144000" cy="707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Title 2"/>
          <p:cNvSpPr>
            <a:spLocks noGrp="1"/>
          </p:cNvSpPr>
          <p:nvPr>
            <p:ph type="title"/>
          </p:nvPr>
        </p:nvSpPr>
        <p:spPr>
          <a:xfrm>
            <a:off x="0" y="0"/>
            <a:ext cx="9144000" cy="762000"/>
          </a:xfrm>
        </p:spPr>
        <p:txBody>
          <a:bodyPr>
            <a:normAutofit/>
          </a:bodyPr>
          <a:lstStyle/>
          <a:p>
            <a:r>
              <a:rPr lang="en-US" b="1" dirty="0" smtClean="0">
                <a:latin typeface="Times New Roman" pitchFamily="18" charset="0"/>
                <a:cs typeface="Times New Roman" pitchFamily="18" charset="0"/>
              </a:rPr>
              <a:t>The Emergence of Rights Language</a:t>
            </a:r>
            <a:endParaRPr lang="en-US" dirty="0">
              <a:latin typeface="Times New Roman" pitchFamily="18" charset="0"/>
              <a:cs typeface="Times New Roman" pitchFamily="18" charset="0"/>
            </a:endParaRPr>
          </a:p>
        </p:txBody>
      </p:sp>
      <p:sp>
        <p:nvSpPr>
          <p:cNvPr id="4" name="Content Placeholder 3"/>
          <p:cNvSpPr>
            <a:spLocks noGrp="1"/>
          </p:cNvSpPr>
          <p:nvPr>
            <p:ph idx="1"/>
          </p:nvPr>
        </p:nvSpPr>
        <p:spPr>
          <a:xfrm>
            <a:off x="0" y="762000"/>
            <a:ext cx="9144000" cy="6096000"/>
          </a:xfrm>
        </p:spPr>
        <p:txBody>
          <a:bodyPr>
            <a:noAutofit/>
          </a:bodyPr>
          <a:lstStyle/>
          <a:p>
            <a:r>
              <a:rPr lang="en-US" b="1" dirty="0" smtClean="0">
                <a:latin typeface="Times New Roman" pitchFamily="18" charset="0"/>
                <a:cs typeface="Times New Roman" pitchFamily="18" charset="0"/>
              </a:rPr>
              <a:t>Natural Law Vs. Enlightenment and Positivism</a:t>
            </a:r>
          </a:p>
          <a:p>
            <a:r>
              <a:rPr lang="en-US" b="1" dirty="0" smtClean="0">
                <a:latin typeface="Times New Roman" pitchFamily="18" charset="0"/>
                <a:cs typeface="Times New Roman" pitchFamily="18" charset="0"/>
              </a:rPr>
              <a:t>The Revolutionary Uses of Human Rights</a:t>
            </a:r>
          </a:p>
          <a:p>
            <a:pPr lvl="1"/>
            <a:r>
              <a:rPr lang="en-US" sz="2400" b="1" i="1" dirty="0" smtClean="0">
                <a:latin typeface="Times New Roman" pitchFamily="18" charset="0"/>
                <a:cs typeface="Times New Roman" pitchFamily="18" charset="0"/>
              </a:rPr>
              <a:t>From the United States Declaration of Independence (1776).</a:t>
            </a:r>
          </a:p>
          <a:p>
            <a:pPr lvl="2" algn="just"/>
            <a:r>
              <a:rPr lang="en-US" sz="2000" i="1" dirty="0" smtClean="0">
                <a:latin typeface="Times New Roman" pitchFamily="18" charset="0"/>
                <a:cs typeface="Times New Roman" pitchFamily="18" charset="0"/>
              </a:rPr>
              <a:t>We hold these truths to be self-evident, that all men are created </a:t>
            </a:r>
            <a:r>
              <a:rPr lang="en-US" sz="2000" b="1" i="1" dirty="0" smtClean="0">
                <a:latin typeface="Times New Roman" pitchFamily="18" charset="0"/>
                <a:cs typeface="Times New Roman" pitchFamily="18" charset="0"/>
              </a:rPr>
              <a:t>equal</a:t>
            </a:r>
            <a:r>
              <a:rPr lang="en-US" sz="2000" i="1" dirty="0" smtClean="0">
                <a:latin typeface="Times New Roman" pitchFamily="18" charset="0"/>
                <a:cs typeface="Times New Roman" pitchFamily="18" charset="0"/>
              </a:rPr>
              <a:t>, that they are endowed by their </a:t>
            </a:r>
            <a:r>
              <a:rPr lang="en-US" sz="2000" b="1" i="1" dirty="0" smtClean="0">
                <a:latin typeface="Times New Roman" pitchFamily="18" charset="0"/>
                <a:cs typeface="Times New Roman" pitchFamily="18" charset="0"/>
              </a:rPr>
              <a:t>Creator</a:t>
            </a:r>
            <a:r>
              <a:rPr lang="en-US" sz="2000" i="1" dirty="0" smtClean="0">
                <a:latin typeface="Times New Roman" pitchFamily="18" charset="0"/>
                <a:cs typeface="Times New Roman" pitchFamily="18" charset="0"/>
              </a:rPr>
              <a:t> with certain </a:t>
            </a:r>
            <a:r>
              <a:rPr lang="en-US" sz="2000" b="1" i="1" dirty="0" smtClean="0">
                <a:latin typeface="Times New Roman" pitchFamily="18" charset="0"/>
                <a:cs typeface="Times New Roman" pitchFamily="18" charset="0"/>
              </a:rPr>
              <a:t>unalienable Rights</a:t>
            </a:r>
            <a:r>
              <a:rPr lang="en-US" sz="2000" i="1" dirty="0" smtClean="0">
                <a:latin typeface="Times New Roman" pitchFamily="18" charset="0"/>
                <a:cs typeface="Times New Roman" pitchFamily="18" charset="0"/>
              </a:rPr>
              <a:t>, that among these are </a:t>
            </a:r>
            <a:r>
              <a:rPr lang="en-US" sz="2000" b="1" i="1" dirty="0" smtClean="0">
                <a:latin typeface="Times New Roman" pitchFamily="18" charset="0"/>
                <a:cs typeface="Times New Roman" pitchFamily="18" charset="0"/>
              </a:rPr>
              <a:t>Life, Liberty and the pursuit of Happiness</a:t>
            </a:r>
            <a:r>
              <a:rPr lang="en-US" sz="2000" i="1" dirty="0" smtClean="0">
                <a:latin typeface="Times New Roman" pitchFamily="18" charset="0"/>
                <a:cs typeface="Times New Roman" pitchFamily="18" charset="0"/>
              </a:rPr>
              <a:t>. . . . That to secure these rights, </a:t>
            </a:r>
            <a:r>
              <a:rPr lang="en-US" sz="2000" b="1" i="1" dirty="0" smtClean="0">
                <a:latin typeface="Times New Roman" pitchFamily="18" charset="0"/>
                <a:cs typeface="Times New Roman" pitchFamily="18" charset="0"/>
              </a:rPr>
              <a:t>Governments</a:t>
            </a:r>
            <a:r>
              <a:rPr lang="en-US" sz="2000" i="1" dirty="0" smtClean="0">
                <a:latin typeface="Times New Roman" pitchFamily="18" charset="0"/>
                <a:cs typeface="Times New Roman" pitchFamily="18" charset="0"/>
              </a:rPr>
              <a:t> are instituted among Men, deriving their just powers from the </a:t>
            </a:r>
            <a:r>
              <a:rPr lang="en-US" sz="2000" b="1" i="1" dirty="0" smtClean="0">
                <a:latin typeface="Times New Roman" pitchFamily="18" charset="0"/>
                <a:cs typeface="Times New Roman" pitchFamily="18" charset="0"/>
              </a:rPr>
              <a:t>consent of the governed,</a:t>
            </a:r>
            <a:r>
              <a:rPr lang="en-US" sz="2000" i="1" dirty="0" smtClean="0">
                <a:latin typeface="Times New Roman" pitchFamily="18" charset="0"/>
                <a:cs typeface="Times New Roman" pitchFamily="18" charset="0"/>
              </a:rPr>
              <a:t> . . . That whenever any Form of Government becomes destructive of these ends, it is the Right of the </a:t>
            </a:r>
            <a:r>
              <a:rPr lang="en-US" sz="2000" b="1" i="1" dirty="0" smtClean="0">
                <a:latin typeface="Times New Roman" pitchFamily="18" charset="0"/>
                <a:cs typeface="Times New Roman" pitchFamily="18" charset="0"/>
              </a:rPr>
              <a:t>People to alter or to abolish it</a:t>
            </a:r>
            <a:r>
              <a:rPr lang="en-US" sz="2000" i="1" dirty="0" smtClean="0">
                <a:latin typeface="Times New Roman" pitchFamily="18" charset="0"/>
                <a:cs typeface="Times New Roman" pitchFamily="18" charset="0"/>
              </a:rPr>
              <a:t>, and to institute new Government, laying its foundation on such principles and organizing its powers in such form, as to them shall seem most likely to effect their </a:t>
            </a:r>
            <a:r>
              <a:rPr lang="en-US" sz="2000" b="1" i="1" dirty="0" smtClean="0">
                <a:latin typeface="Times New Roman" pitchFamily="18" charset="0"/>
                <a:cs typeface="Times New Roman" pitchFamily="18" charset="0"/>
              </a:rPr>
              <a:t>Safety and Happiness. John Locke Theory of Social Contract.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t>Cont’ed</a:t>
            </a:r>
            <a:endParaRPr lang="en-US" dirty="0"/>
          </a:p>
        </p:txBody>
      </p:sp>
      <p:sp>
        <p:nvSpPr>
          <p:cNvPr id="3" name="Content Placeholder 2"/>
          <p:cNvSpPr>
            <a:spLocks noGrp="1"/>
          </p:cNvSpPr>
          <p:nvPr>
            <p:ph idx="1"/>
          </p:nvPr>
        </p:nvSpPr>
        <p:spPr>
          <a:xfrm>
            <a:off x="0" y="685800"/>
            <a:ext cx="9144000" cy="5791200"/>
          </a:xfrm>
        </p:spPr>
        <p:txBody>
          <a:bodyPr/>
          <a:lstStyle/>
          <a:p>
            <a:pPr algn="just"/>
            <a:r>
              <a:rPr lang="en-US" dirty="0" smtClean="0">
                <a:latin typeface="Power Geez Unicode1" pitchFamily="2" charset="0"/>
              </a:rPr>
              <a:t>Jeremy Bentham long to insist, in Anarchical Fallacies, written during 1791–1792, that ‘‘natural rights is simple nonsense: natural and </a:t>
            </a:r>
            <a:r>
              <a:rPr lang="en-US" dirty="0" err="1" smtClean="0">
                <a:latin typeface="Power Geez Unicode1" pitchFamily="2" charset="0"/>
              </a:rPr>
              <a:t>imprescriptible</a:t>
            </a:r>
            <a:r>
              <a:rPr lang="en-US" dirty="0" smtClean="0">
                <a:latin typeface="Power Geez Unicode1" pitchFamily="2" charset="0"/>
              </a:rPr>
              <a:t> rights [an American phrase], rhetorical nonsense, nonsense upon stilts’’ (Bentham, 1792/1843, p. 501). there are many who see the idea of human rights as no more than ‘‘bawling upon paper’’ (to use another of Bentham’s barbed descriptions).</a:t>
            </a:r>
            <a:endParaRPr lang="en-US" dirty="0">
              <a:latin typeface="Power Geez Unicode1"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762000"/>
          </a:xfrm>
        </p:spPr>
        <p:txBody>
          <a:bodyPr>
            <a:normAutofit/>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6172200"/>
          </a:xfrm>
        </p:spPr>
        <p:txBody>
          <a:bodyPr>
            <a:normAutofit/>
          </a:bodyPr>
          <a:lstStyle/>
          <a:p>
            <a:pPr algn="just"/>
            <a:r>
              <a:rPr lang="en-US" b="1" i="1" dirty="0" smtClean="0">
                <a:latin typeface="Times New Roman" pitchFamily="18" charset="0"/>
                <a:cs typeface="Times New Roman" pitchFamily="18" charset="0"/>
              </a:rPr>
              <a:t>From the French Declaration of the Rights of Man and of the Citizen (1789). </a:t>
            </a:r>
            <a:r>
              <a:rPr lang="en-US" sz="2800" dirty="0" smtClean="0">
                <a:latin typeface="Times New Roman" pitchFamily="18" charset="0"/>
                <a:cs typeface="Times New Roman" pitchFamily="18" charset="0"/>
              </a:rPr>
              <a:t>The  representatives of the French people, organized as </a:t>
            </a:r>
            <a:r>
              <a:rPr lang="en-US" sz="2800" b="1" dirty="0" smtClean="0">
                <a:latin typeface="Times New Roman" pitchFamily="18" charset="0"/>
                <a:cs typeface="Times New Roman" pitchFamily="18" charset="0"/>
              </a:rPr>
              <a:t>a National  Assembly.</a:t>
            </a:r>
            <a:endParaRPr lang="en-US" sz="2800" b="1" i="1"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Article 1: Men are born and remain free and equal in rights. Social distinctions may be founded only upon the general good.</a:t>
            </a:r>
          </a:p>
          <a:p>
            <a:pPr lvl="1" algn="just"/>
            <a:r>
              <a:rPr lang="en-US" dirty="0" smtClean="0">
                <a:latin typeface="Times New Roman" pitchFamily="18" charset="0"/>
                <a:cs typeface="Times New Roman" pitchFamily="18" charset="0"/>
              </a:rPr>
              <a:t>Article 2: The aim of all political association is the preservation of the natural and imprescriptibly rights of man. These rights are liberty, property, security, and resistance to oppression.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914400"/>
          </a:xfrm>
        </p:spPr>
        <p:txBody>
          <a:bodyPr/>
          <a:lstStyle/>
          <a:p>
            <a:r>
              <a:rPr lang="en-US" b="1" dirty="0" smtClean="0">
                <a:latin typeface="Times New Roman" pitchFamily="18" charset="0"/>
                <a:cs typeface="Times New Roman" pitchFamily="18" charset="0"/>
              </a:rPr>
              <a:t>Philosophical Foundations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6096000"/>
          </a:xfrm>
        </p:spPr>
        <p:txBody>
          <a:bodyPr>
            <a:normAutofit lnSpcReduction="10000"/>
          </a:bodyPr>
          <a:lstStyle/>
          <a:p>
            <a:pPr algn="just"/>
            <a:r>
              <a:rPr lang="en-US" dirty="0" smtClean="0">
                <a:latin typeface="Times New Roman" pitchFamily="18" charset="0"/>
                <a:cs typeface="Times New Roman" pitchFamily="18" charset="0"/>
              </a:rPr>
              <a:t>The rights described in the Declarations are </a:t>
            </a:r>
            <a:r>
              <a:rPr lang="en-US" b="1" dirty="0" smtClean="0">
                <a:latin typeface="Times New Roman" pitchFamily="18" charset="0"/>
                <a:cs typeface="Times New Roman" pitchFamily="18" charset="0"/>
              </a:rPr>
              <a:t>moral</a:t>
            </a:r>
            <a:r>
              <a:rPr lang="en-US" dirty="0" smtClean="0">
                <a:latin typeface="Times New Roman" pitchFamily="18" charset="0"/>
                <a:cs typeface="Times New Roman" pitchFamily="18" charset="0"/>
              </a:rPr>
              <a:t> ideas known as </a:t>
            </a:r>
            <a:r>
              <a:rPr lang="en-US" b="1" dirty="0" smtClean="0">
                <a:latin typeface="Times New Roman" pitchFamily="18" charset="0"/>
                <a:cs typeface="Times New Roman" pitchFamily="18" charset="0"/>
              </a:rPr>
              <a:t>natural rights, derived from the natural law, which </a:t>
            </a:r>
            <a:r>
              <a:rPr lang="en-US" dirty="0" smtClean="0">
                <a:latin typeface="Times New Roman" pitchFamily="18" charset="0"/>
                <a:cs typeface="Times New Roman" pitchFamily="18" charset="0"/>
              </a:rPr>
              <a:t>in Christian civilization had to do with the </a:t>
            </a:r>
            <a:r>
              <a:rPr lang="en-US" b="1" dirty="0" smtClean="0">
                <a:latin typeface="Times New Roman" pitchFamily="18" charset="0"/>
                <a:cs typeface="Times New Roman" pitchFamily="18" charset="0"/>
              </a:rPr>
              <a:t>moral character given by God </a:t>
            </a:r>
            <a:r>
              <a:rPr lang="en-US" dirty="0" smtClean="0">
                <a:latin typeface="Times New Roman" pitchFamily="18" charset="0"/>
                <a:cs typeface="Times New Roman" pitchFamily="18" charset="0"/>
              </a:rPr>
              <a:t>to his creation</a:t>
            </a:r>
            <a:r>
              <a:rPr lang="en-US" dirty="0" smtClean="0"/>
              <a:t>.</a:t>
            </a:r>
          </a:p>
          <a:p>
            <a:pPr algn="just"/>
            <a:r>
              <a:rPr lang="en-US"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reason</a:t>
            </a:r>
            <a:r>
              <a:rPr lang="en-US" dirty="0" smtClean="0">
                <a:latin typeface="Times New Roman" pitchFamily="18" charset="0"/>
                <a:cs typeface="Times New Roman" pitchFamily="18" charset="0"/>
              </a:rPr>
              <a:t> of man came to replace the word of God as the highest authority, fracturing the logic of natural law and duty that lay behind the Christian natural rights framework. For example jurists like </a:t>
            </a:r>
            <a:r>
              <a:rPr lang="en-US" b="1" dirty="0" smtClean="0">
                <a:latin typeface="Times New Roman" pitchFamily="18" charset="0"/>
                <a:cs typeface="Times New Roman" pitchFamily="18" charset="0"/>
              </a:rPr>
              <a:t>Hugo Grotius (1583–1645) and Thomas Hobbes (1588– 1679)-</a:t>
            </a:r>
            <a:r>
              <a:rPr lang="en-US" dirty="0" smtClean="0">
                <a:latin typeface="Times New Roman" pitchFamily="18" charset="0"/>
                <a:cs typeface="Times New Roman" pitchFamily="18" charset="0"/>
              </a:rPr>
              <a:t>sought to drive rights not from the natural law ordained by God but from our </a:t>
            </a:r>
            <a:r>
              <a:rPr lang="en-US" b="1" dirty="0" smtClean="0">
                <a:latin typeface="Times New Roman" pitchFamily="18" charset="0"/>
                <a:cs typeface="Times New Roman" pitchFamily="18" charset="0"/>
              </a:rPr>
              <a:t>basic humanity</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1371600"/>
          </a:xfrm>
        </p:spPr>
        <p:txBody>
          <a:bodyPr>
            <a:normAutofit fontScale="90000"/>
          </a:bodyPr>
          <a:lstStyle/>
          <a:p>
            <a:pPr lvl="0"/>
            <a:r>
              <a:rPr lang="en-US" b="1" dirty="0" smtClean="0"/>
              <a:t>Evolution of the international human rights law </a:t>
            </a:r>
            <a:r>
              <a:rPr lang="en-GB" b="1" dirty="0" smtClean="0">
                <a:ea typeface="Times New Roman" pitchFamily="18" charset="0"/>
                <a:cs typeface="Arial" pitchFamily="34" charset="0"/>
              </a:rPr>
              <a:t/>
            </a:r>
            <a:br>
              <a:rPr lang="en-GB" b="1" dirty="0" smtClean="0">
                <a:ea typeface="Times New Roman" pitchFamily="18" charset="0"/>
                <a:cs typeface="Arial" pitchFamily="34" charset="0"/>
              </a:rPr>
            </a:br>
            <a:endParaRPr lang="en-US" dirty="0"/>
          </a:p>
        </p:txBody>
      </p:sp>
      <p:sp>
        <p:nvSpPr>
          <p:cNvPr id="3" name="Content Placeholder 2"/>
          <p:cNvSpPr>
            <a:spLocks noGrp="1"/>
          </p:cNvSpPr>
          <p:nvPr>
            <p:ph idx="1"/>
          </p:nvPr>
        </p:nvSpPr>
        <p:spPr>
          <a:xfrm>
            <a:off x="0" y="1066800"/>
            <a:ext cx="9144000" cy="5791200"/>
          </a:xfrm>
        </p:spPr>
        <p:txBody>
          <a:bodyPr/>
          <a:lstStyle/>
          <a:p>
            <a:pPr marL="0" lvl="0" indent="0" algn="just" fontAlgn="base">
              <a:spcBef>
                <a:spcPct val="0"/>
              </a:spcBef>
              <a:spcAft>
                <a:spcPct val="0"/>
              </a:spcAft>
              <a:buNone/>
            </a:pPr>
            <a:endParaRPr lang="en-GB" sz="2000" b="1" dirty="0" smtClean="0">
              <a:latin typeface="Arial" pitchFamily="34" charset="0"/>
              <a:cs typeface="Arial" pitchFamily="34" charset="0"/>
            </a:endParaRPr>
          </a:p>
          <a:p>
            <a:pPr marL="457200" lvl="1" indent="0" algn="just" eaLnBrk="0" fontAlgn="base" hangingPunct="0">
              <a:spcBef>
                <a:spcPct val="0"/>
              </a:spcBef>
              <a:spcAft>
                <a:spcPct val="0"/>
              </a:spcAft>
              <a:buFontTx/>
              <a:buAutoNum type="arabicPeriod"/>
            </a:pPr>
            <a:r>
              <a:rPr lang="en-GB" sz="2000" dirty="0" smtClean="0">
                <a:latin typeface="Arial" pitchFamily="34" charset="0"/>
                <a:ea typeface="Times New Roman" pitchFamily="18" charset="0"/>
                <a:cs typeface="Arial" pitchFamily="34" charset="0"/>
              </a:rPr>
              <a:t> </a:t>
            </a:r>
            <a:r>
              <a:rPr lang="en-GB" b="1" dirty="0" smtClean="0">
                <a:latin typeface="Arial Narrow" pitchFamily="34" charset="0"/>
                <a:ea typeface="Times New Roman" pitchFamily="18" charset="0"/>
                <a:cs typeface="Arial" pitchFamily="34" charset="0"/>
              </a:rPr>
              <a:t>Development from within: rights limiting governments </a:t>
            </a:r>
          </a:p>
          <a:p>
            <a:pPr marL="457200" lvl="1" indent="0" algn="just" eaLnBrk="0" fontAlgn="base" hangingPunct="0">
              <a:spcBef>
                <a:spcPct val="0"/>
              </a:spcBef>
              <a:spcAft>
                <a:spcPct val="0"/>
              </a:spcAft>
              <a:buFontTx/>
              <a:buAutoNum type="arabicPeriod"/>
            </a:pPr>
            <a:r>
              <a:rPr lang="en-GB" b="1" dirty="0" smtClean="0">
                <a:latin typeface="Arial Narrow" pitchFamily="34" charset="0"/>
                <a:ea typeface="Times New Roman" pitchFamily="18" charset="0"/>
                <a:cs typeface="Arial" pitchFamily="34" charset="0"/>
              </a:rPr>
              <a:t> Evolution of the international human rights law</a:t>
            </a:r>
            <a:endParaRPr lang="en-GB" b="1" dirty="0" smtClean="0">
              <a:latin typeface="Arial Narrow" pitchFamily="34" charset="0"/>
              <a:cs typeface="Arial" pitchFamily="34" charset="0"/>
            </a:endParaRPr>
          </a:p>
          <a:p>
            <a:pPr marL="914400" lvl="2" indent="0" algn="just" eaLnBrk="0" fontAlgn="base" hangingPunct="0">
              <a:spcBef>
                <a:spcPct val="0"/>
              </a:spcBef>
              <a:spcAft>
                <a:spcPct val="0"/>
              </a:spcAft>
              <a:buFontTx/>
              <a:buAutoNum type="arabicPeriod"/>
            </a:pPr>
            <a:r>
              <a:rPr lang="en-GB" sz="2800" b="1" dirty="0" smtClean="0">
                <a:latin typeface="Arial Narrow" pitchFamily="34" charset="0"/>
                <a:ea typeface="Times New Roman" pitchFamily="18" charset="0"/>
                <a:cs typeface="Arial" pitchFamily="34" charset="0"/>
              </a:rPr>
              <a:t>Introduction</a:t>
            </a:r>
            <a:endParaRPr lang="en-GB" sz="2800" b="1" dirty="0" smtClean="0">
              <a:latin typeface="Arial Narrow" pitchFamily="34" charset="0"/>
              <a:cs typeface="Arial" pitchFamily="34" charset="0"/>
            </a:endParaRPr>
          </a:p>
          <a:p>
            <a:pPr marL="914400" lvl="2" indent="0" algn="just" eaLnBrk="0" fontAlgn="base" hangingPunct="0">
              <a:spcBef>
                <a:spcPct val="0"/>
              </a:spcBef>
              <a:spcAft>
                <a:spcPct val="0"/>
              </a:spcAft>
              <a:buFontTx/>
              <a:buAutoNum type="arabicPeriod"/>
            </a:pPr>
            <a:r>
              <a:rPr lang="en-GB" sz="2800" b="1" dirty="0" smtClean="0">
                <a:latin typeface="Arial Narrow" pitchFamily="34" charset="0"/>
                <a:ea typeface="Times New Roman" pitchFamily="18" charset="0"/>
                <a:cs typeface="Arial" pitchFamily="34" charset="0"/>
              </a:rPr>
              <a:t>The shift from domestic to the international milieu</a:t>
            </a:r>
            <a:endParaRPr lang="en-GB" sz="2800" b="1" dirty="0" smtClean="0">
              <a:latin typeface="Arial Narrow" pitchFamily="34" charset="0"/>
              <a:cs typeface="Arial" pitchFamily="34" charset="0"/>
            </a:endParaRPr>
          </a:p>
          <a:p>
            <a:pPr marL="914400" lvl="2" indent="0" algn="just" eaLnBrk="0" fontAlgn="base" hangingPunct="0">
              <a:spcBef>
                <a:spcPct val="0"/>
              </a:spcBef>
              <a:spcAft>
                <a:spcPct val="0"/>
              </a:spcAft>
              <a:buFontTx/>
              <a:buAutoNum type="arabicPeriod"/>
            </a:pPr>
            <a:r>
              <a:rPr lang="en-GB" sz="2800" b="1" dirty="0" smtClean="0">
                <a:latin typeface="Arial Narrow" pitchFamily="34" charset="0"/>
                <a:ea typeface="Times New Roman" pitchFamily="18" charset="0"/>
                <a:cs typeface="Arial" pitchFamily="34" charset="0"/>
              </a:rPr>
              <a:t>Period of active normative legislation</a:t>
            </a:r>
            <a:endParaRPr lang="en-GB" sz="2800" b="1" dirty="0" smtClean="0">
              <a:latin typeface="Arial Narrow"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63308"/>
          </a:xfrm>
          <a:prstGeom prst="rect">
            <a:avLst/>
          </a:prstGeom>
        </p:spPr>
        <p:txBody>
          <a:bodyPr wrap="square">
            <a:spAutoFit/>
          </a:bodyPr>
          <a:lstStyle/>
          <a:p>
            <a:pPr lvl="1" algn="just" eaLnBrk="0" fontAlgn="base" hangingPunct="0">
              <a:spcBef>
                <a:spcPct val="0"/>
              </a:spcBef>
              <a:spcAft>
                <a:spcPct val="0"/>
              </a:spcAft>
            </a:pPr>
            <a:r>
              <a:rPr lang="en-GB" sz="2300" b="1" dirty="0" smtClean="0">
                <a:latin typeface="Arial Narrow" pitchFamily="34" charset="0"/>
                <a:ea typeface="Times New Roman" pitchFamily="18" charset="0"/>
                <a:cs typeface="Arial" pitchFamily="34" charset="0"/>
              </a:rPr>
              <a:t>Development from within: rights limiting governments</a:t>
            </a:r>
          </a:p>
          <a:p>
            <a:pPr lvl="1" algn="just" eaLnBrk="0" fontAlgn="base" hangingPunct="0">
              <a:spcBef>
                <a:spcPct val="0"/>
              </a:spcBef>
              <a:spcAft>
                <a:spcPct val="0"/>
              </a:spcAft>
            </a:pPr>
            <a:endParaRPr lang="en-GB" sz="2300" dirty="0" smtClean="0">
              <a:latin typeface="Arial Narrow" pitchFamily="34" charset="0"/>
              <a:ea typeface="Times New Roman" pitchFamily="18" charset="0"/>
              <a:cs typeface="Arial" pitchFamily="34" charset="0"/>
            </a:endParaRPr>
          </a:p>
          <a:p>
            <a:pPr lvl="1"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a:t>
            </a:r>
            <a:r>
              <a:rPr lang="en-GB" sz="2300" b="1" dirty="0" smtClean="0">
                <a:latin typeface="Arial Narrow" pitchFamily="34" charset="0"/>
                <a:ea typeface="Times New Roman" pitchFamily="18" charset="0"/>
                <a:cs typeface="Arial" pitchFamily="34" charset="0"/>
              </a:rPr>
              <a:t>Monopoly of powers</a:t>
            </a:r>
            <a:r>
              <a:rPr lang="en-GB" sz="2300" dirty="0" smtClean="0">
                <a:latin typeface="Arial Narrow" pitchFamily="34" charset="0"/>
                <a:ea typeface="Times New Roman" pitchFamily="18" charset="0"/>
                <a:cs typeface="Arial" pitchFamily="34" charset="0"/>
              </a:rPr>
              <a:t>: State’s power to employ </a:t>
            </a:r>
            <a:r>
              <a:rPr lang="en-GB" sz="2300" b="1" dirty="0" smtClean="0">
                <a:latin typeface="Arial Narrow" pitchFamily="34" charset="0"/>
                <a:ea typeface="Times New Roman" pitchFamily="18" charset="0"/>
                <a:cs typeface="Arial" pitchFamily="34" charset="0"/>
              </a:rPr>
              <a:t>physical force </a:t>
            </a:r>
            <a:r>
              <a:rPr lang="en-GB" sz="2300" dirty="0" smtClean="0">
                <a:latin typeface="Arial Narrow" pitchFamily="34" charset="0"/>
                <a:ea typeface="Times New Roman" pitchFamily="18" charset="0"/>
                <a:cs typeface="Arial" pitchFamily="34" charset="0"/>
              </a:rPr>
              <a:t>through </a:t>
            </a:r>
            <a:r>
              <a:rPr lang="en-GB" sz="2300" b="1" dirty="0" smtClean="0">
                <a:latin typeface="Arial Narrow" pitchFamily="34" charset="0"/>
                <a:ea typeface="Times New Roman" pitchFamily="18" charset="0"/>
                <a:cs typeface="Arial" pitchFamily="34" charset="0"/>
              </a:rPr>
              <a:t>rules and orders</a:t>
            </a:r>
            <a:r>
              <a:rPr lang="en-GB" sz="2300" dirty="0" smtClean="0">
                <a:latin typeface="Arial Narrow" pitchFamily="34" charset="0"/>
                <a:ea typeface="Times New Roman" pitchFamily="18" charset="0"/>
                <a:cs typeface="Arial" pitchFamily="34" charset="0"/>
              </a:rPr>
              <a:t>: </a:t>
            </a:r>
            <a:r>
              <a:rPr lang="en-GB" sz="2300" b="1" dirty="0" smtClean="0">
                <a:latin typeface="Arial Narrow" pitchFamily="34" charset="0"/>
                <a:ea typeface="Times New Roman" pitchFamily="18" charset="0"/>
                <a:cs typeface="Arial" pitchFamily="34" charset="0"/>
              </a:rPr>
              <a:t>almost unilatera</a:t>
            </a:r>
            <a:r>
              <a:rPr lang="en-GB" sz="2300" dirty="0" smtClean="0">
                <a:latin typeface="Arial Narrow" pitchFamily="34" charset="0"/>
                <a:ea typeface="Times New Roman" pitchFamily="18" charset="0"/>
                <a:cs typeface="Arial" pitchFamily="34" charset="0"/>
              </a:rPr>
              <a:t>l</a:t>
            </a:r>
          </a:p>
          <a:p>
            <a:pPr lvl="1"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a:t>
            </a:r>
            <a:r>
              <a:rPr lang="en-GB" sz="2300" b="1" dirty="0" smtClean="0">
                <a:latin typeface="Arial Narrow" pitchFamily="34" charset="0"/>
                <a:ea typeface="Times New Roman" pitchFamily="18" charset="0"/>
                <a:cs typeface="Arial" pitchFamily="34" charset="0"/>
              </a:rPr>
              <a:t>Right of private reprisal very limited </a:t>
            </a:r>
          </a:p>
          <a:p>
            <a:pPr lvl="1"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Concerns: obvious </a:t>
            </a:r>
            <a:r>
              <a:rPr lang="en-GB" sz="2300" b="1" dirty="0" smtClean="0">
                <a:latin typeface="Arial Narrow" pitchFamily="34" charset="0"/>
                <a:ea typeface="Times New Roman" pitchFamily="18" charset="0"/>
                <a:cs typeface="Arial" pitchFamily="34" charset="0"/>
              </a:rPr>
              <a:t>dangers of monopoly of power by the state</a:t>
            </a:r>
          </a:p>
          <a:p>
            <a:pPr lvl="2"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a:t>
            </a:r>
            <a:r>
              <a:rPr lang="en-GB" sz="2300" b="1" dirty="0" smtClean="0">
                <a:latin typeface="Arial Narrow" pitchFamily="34" charset="0"/>
                <a:ea typeface="Times New Roman" pitchFamily="18" charset="0"/>
                <a:cs typeface="Arial" pitchFamily="34" charset="0"/>
              </a:rPr>
              <a:t>Supreme power </a:t>
            </a:r>
            <a:r>
              <a:rPr lang="en-GB" sz="2300" dirty="0" smtClean="0">
                <a:latin typeface="Arial Narrow" pitchFamily="34" charset="0"/>
                <a:ea typeface="Times New Roman" pitchFamily="18" charset="0"/>
                <a:cs typeface="Arial" pitchFamily="34" charset="0"/>
              </a:rPr>
              <a:t>to authorize force may lead to </a:t>
            </a:r>
            <a:r>
              <a:rPr lang="en-GB" sz="2300" b="1" dirty="0" smtClean="0">
                <a:latin typeface="Arial Narrow" pitchFamily="34" charset="0"/>
                <a:ea typeface="Times New Roman" pitchFamily="18" charset="0"/>
                <a:cs typeface="Arial" pitchFamily="34" charset="0"/>
              </a:rPr>
              <a:t>concentrations of powers</a:t>
            </a:r>
          </a:p>
          <a:p>
            <a:pPr lvl="2"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And hence to </a:t>
            </a:r>
            <a:r>
              <a:rPr lang="en-GB" sz="2300" b="1" dirty="0" smtClean="0">
                <a:latin typeface="Arial Narrow" pitchFamily="34" charset="0"/>
                <a:ea typeface="Times New Roman" pitchFamily="18" charset="0"/>
                <a:cs typeface="Arial" pitchFamily="34" charset="0"/>
              </a:rPr>
              <a:t>its cruel, inhuman and unwarranted application</a:t>
            </a:r>
          </a:p>
          <a:p>
            <a:pPr lvl="2"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Raises the question </a:t>
            </a:r>
            <a:r>
              <a:rPr lang="en-GB" sz="2300" b="1" dirty="0" smtClean="0">
                <a:latin typeface="Arial Narrow" pitchFamily="34" charset="0"/>
                <a:ea typeface="Times New Roman" pitchFamily="18" charset="0"/>
                <a:cs typeface="Arial" pitchFamily="34" charset="0"/>
              </a:rPr>
              <a:t>‘what safeguards there are against the guards?’</a:t>
            </a:r>
          </a:p>
          <a:p>
            <a:pPr lvl="2" algn="just" eaLnBrk="0" fontAlgn="base" hangingPunct="0">
              <a:spcBef>
                <a:spcPct val="0"/>
              </a:spcBef>
              <a:spcAft>
                <a:spcPct val="0"/>
              </a:spcAft>
              <a:buFont typeface="Arial" pitchFamily="34" charset="0"/>
              <a:buChar char="•"/>
            </a:pPr>
            <a:endParaRPr lang="en-GB" sz="2300" dirty="0" smtClean="0">
              <a:latin typeface="Arial Narrow" pitchFamily="34" charset="0"/>
              <a:ea typeface="Times New Roman" pitchFamily="18" charset="0"/>
              <a:cs typeface="Arial" pitchFamily="34" charset="0"/>
            </a:endParaRPr>
          </a:p>
          <a:p>
            <a:pPr lvl="1"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The idea is that in any system, there must be a recognition of ‘</a:t>
            </a:r>
            <a:r>
              <a:rPr lang="en-GB" sz="2300" b="1" dirty="0" smtClean="0">
                <a:latin typeface="Arial Narrow" pitchFamily="34" charset="0"/>
                <a:ea typeface="Times New Roman" pitchFamily="18" charset="0"/>
                <a:cs typeface="Arial" pitchFamily="34" charset="0"/>
              </a:rPr>
              <a:t>fundamental rights’ that no government - modern or ancient - can legitimately discard or undermine.</a:t>
            </a:r>
            <a:r>
              <a:rPr lang="en-GB" sz="2300" dirty="0" smtClean="0">
                <a:latin typeface="Arial Narrow" pitchFamily="34" charset="0"/>
                <a:ea typeface="Times New Roman" pitchFamily="18" charset="0"/>
                <a:cs typeface="Arial" pitchFamily="34" charset="0"/>
              </a:rPr>
              <a:t> </a:t>
            </a:r>
          </a:p>
          <a:p>
            <a:pPr lvl="1" algn="just" eaLnBrk="0" fontAlgn="base" hangingPunct="0">
              <a:spcBef>
                <a:spcPct val="0"/>
              </a:spcBef>
              <a:spcAft>
                <a:spcPct val="0"/>
              </a:spcAft>
            </a:pPr>
            <a:endParaRPr lang="en-GB" sz="2300" dirty="0" smtClean="0">
              <a:latin typeface="Arial Narrow" pitchFamily="34" charset="0"/>
              <a:ea typeface="Times New Roman" pitchFamily="18" charset="0"/>
              <a:cs typeface="Arial" pitchFamily="34" charset="0"/>
            </a:endParaRPr>
          </a:p>
          <a:p>
            <a:pPr lvl="2"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a:t>
            </a:r>
            <a:r>
              <a:rPr lang="en-GB" sz="2300" b="1" dirty="0" smtClean="0">
                <a:latin typeface="Arial Narrow" pitchFamily="34" charset="0"/>
                <a:ea typeface="Times New Roman" pitchFamily="18" charset="0"/>
                <a:cs typeface="Arial" pitchFamily="34" charset="0"/>
              </a:rPr>
              <a:t>Rights regarded as possible instruments for limiting state powers</a:t>
            </a:r>
            <a:r>
              <a:rPr lang="en-GB" sz="2300" dirty="0" smtClean="0">
                <a:latin typeface="Arial Narrow" pitchFamily="34" charset="0"/>
                <a:ea typeface="Times New Roman" pitchFamily="18" charset="0"/>
                <a:cs typeface="Arial" pitchFamily="34" charset="0"/>
              </a:rPr>
              <a:t>;</a:t>
            </a:r>
          </a:p>
          <a:p>
            <a:pPr lvl="2" algn="just" eaLnBrk="0" fontAlgn="base" hangingPunct="0">
              <a:spcBef>
                <a:spcPct val="0"/>
              </a:spcBef>
              <a:spcAft>
                <a:spcPct val="0"/>
              </a:spcAft>
              <a:buFont typeface="Arial" pitchFamily="34" charset="0"/>
              <a:buChar char="•"/>
            </a:pPr>
            <a:r>
              <a:rPr lang="en-GB" sz="2300" dirty="0" smtClean="0">
                <a:latin typeface="Arial Narrow" pitchFamily="34" charset="0"/>
                <a:ea typeface="Times New Roman" pitchFamily="18" charset="0"/>
                <a:cs typeface="Arial" pitchFamily="34" charset="0"/>
              </a:rPr>
              <a:t> Gained prominence as the result of contemporary developments in </a:t>
            </a:r>
            <a:r>
              <a:rPr lang="en-GB" sz="2300" b="1" dirty="0" smtClean="0">
                <a:latin typeface="Arial Narrow" pitchFamily="34" charset="0"/>
                <a:ea typeface="Times New Roman" pitchFamily="18" charset="0"/>
                <a:cs typeface="Arial" pitchFamily="34" charset="0"/>
              </a:rPr>
              <a:t>int’l </a:t>
            </a:r>
            <a:r>
              <a:rPr lang="en-GB" sz="2300" b="1" dirty="0" err="1" smtClean="0">
                <a:latin typeface="Arial Narrow" pitchFamily="34" charset="0"/>
                <a:ea typeface="Times New Roman" pitchFamily="18" charset="0"/>
                <a:cs typeface="Arial" pitchFamily="34" charset="0"/>
              </a:rPr>
              <a:t>HRs</a:t>
            </a:r>
            <a:r>
              <a:rPr lang="en-GB" sz="2300" b="1" dirty="0" smtClean="0">
                <a:latin typeface="Arial Narrow" pitchFamily="34" charset="0"/>
                <a:ea typeface="Times New Roman" pitchFamily="18" charset="0"/>
                <a:cs typeface="Arial" pitchFamily="34" charset="0"/>
              </a:rPr>
              <a:t> </a:t>
            </a:r>
            <a:r>
              <a:rPr lang="en-GB" sz="2300" dirty="0" smtClean="0">
                <a:latin typeface="Arial Narrow" pitchFamily="34" charset="0"/>
                <a:ea typeface="Times New Roman" pitchFamily="18" charset="0"/>
                <a:cs typeface="Arial" pitchFamily="34" charset="0"/>
              </a:rPr>
              <a:t>and </a:t>
            </a:r>
            <a:r>
              <a:rPr lang="en-GB" sz="2300" b="1" dirty="0" smtClean="0">
                <a:latin typeface="Arial Narrow" pitchFamily="34" charset="0"/>
                <a:ea typeface="Times New Roman" pitchFamily="18" charset="0"/>
                <a:cs typeface="Arial" pitchFamily="34" charset="0"/>
              </a:rPr>
              <a:t>constitutional protections </a:t>
            </a:r>
            <a:r>
              <a:rPr lang="en-GB" sz="2300" dirty="0" smtClean="0">
                <a:latin typeface="Arial Narrow" pitchFamily="34" charset="0"/>
                <a:ea typeface="Times New Roman" pitchFamily="18" charset="0"/>
                <a:cs typeface="Arial" pitchFamily="34" charset="0"/>
              </a:rPr>
              <a:t>provided in the aftermath of </a:t>
            </a:r>
            <a:r>
              <a:rPr lang="en-GB" sz="2300" dirty="0" err="1" smtClean="0">
                <a:latin typeface="Arial Narrow" pitchFamily="34" charset="0"/>
                <a:ea typeface="Times New Roman" pitchFamily="18" charset="0"/>
                <a:cs typeface="Arial" pitchFamily="34" charset="0"/>
              </a:rPr>
              <a:t>wwII</a:t>
            </a:r>
            <a:r>
              <a:rPr lang="en-GB" sz="2300" dirty="0" smtClean="0">
                <a:latin typeface="Arial Narrow" pitchFamily="34" charset="0"/>
                <a:ea typeface="Times New Roman" pitchFamily="18" charset="0"/>
                <a:cs typeface="Arial" pitchFamily="34" charset="0"/>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478970"/>
          </a:xfrm>
          <a:prstGeom prst="rect">
            <a:avLst/>
          </a:prstGeom>
        </p:spPr>
        <p:txBody>
          <a:bodyPr wrap="square">
            <a:spAutoFit/>
          </a:bodyPr>
          <a:lstStyle/>
          <a:p>
            <a:pPr>
              <a:buFont typeface="Arial" pitchFamily="34" charset="0"/>
              <a:buChar char="•"/>
            </a:pPr>
            <a:r>
              <a:rPr lang="en-US" sz="2300" dirty="0" smtClean="0">
                <a:latin typeface="Arial" pitchFamily="34" charset="0"/>
                <a:cs typeface="Arial" pitchFamily="34" charset="0"/>
              </a:rPr>
              <a:t> But the idea of </a:t>
            </a:r>
            <a:r>
              <a:rPr lang="en-US" sz="2300" b="1" dirty="0" smtClean="0">
                <a:latin typeface="Arial" pitchFamily="34" charset="0"/>
                <a:cs typeface="Arial" pitchFamily="34" charset="0"/>
              </a:rPr>
              <a:t>recognition of fund. Rights as providing limits on state powers is not a new one.</a:t>
            </a:r>
            <a:r>
              <a:rPr lang="en-US" sz="2300" dirty="0" smtClean="0">
                <a:latin typeface="Arial" pitchFamily="34" charset="0"/>
                <a:cs typeface="Arial" pitchFamily="34" charset="0"/>
              </a:rPr>
              <a:t>  </a:t>
            </a:r>
          </a:p>
          <a:p>
            <a:pPr lvl="1">
              <a:buFont typeface="Arial" pitchFamily="34" charset="0"/>
              <a:buChar char="•"/>
            </a:pPr>
            <a:r>
              <a:rPr lang="en-US" sz="2300" dirty="0" smtClean="0">
                <a:latin typeface="Arial" pitchFamily="34" charset="0"/>
                <a:cs typeface="Arial" pitchFamily="34" charset="0"/>
              </a:rPr>
              <a:t> Has its roots in </a:t>
            </a:r>
            <a:r>
              <a:rPr lang="en-US" sz="2300" b="1" dirty="0" smtClean="0">
                <a:latin typeface="Arial" pitchFamily="34" charset="0"/>
                <a:cs typeface="Arial" pitchFamily="34" charset="0"/>
              </a:rPr>
              <a:t>philosophical idea of the early periods</a:t>
            </a:r>
            <a:r>
              <a:rPr lang="en-US" sz="2300" dirty="0" smtClean="0">
                <a:latin typeface="Arial" pitchFamily="34" charset="0"/>
                <a:cs typeface="Arial" pitchFamily="34" charset="0"/>
              </a:rPr>
              <a:t>.</a:t>
            </a:r>
          </a:p>
          <a:p>
            <a:pPr lvl="1" algn="just">
              <a:buFont typeface="Arial" pitchFamily="34" charset="0"/>
              <a:buChar char="•"/>
            </a:pPr>
            <a:r>
              <a:rPr lang="en-US" sz="2300" dirty="0" smtClean="0">
                <a:latin typeface="Arial" pitchFamily="34" charset="0"/>
                <a:cs typeface="Arial" pitchFamily="34" charset="0"/>
              </a:rPr>
              <a:t>  One such justifications in favor of state / royal power emerged in connection with the ‘</a:t>
            </a:r>
            <a:r>
              <a:rPr lang="en-US" sz="2300" b="1" dirty="0" smtClean="0">
                <a:latin typeface="Arial" pitchFamily="34" charset="0"/>
                <a:cs typeface="Arial" pitchFamily="34" charset="0"/>
              </a:rPr>
              <a:t>social contract’ theory</a:t>
            </a:r>
            <a:r>
              <a:rPr lang="en-US" sz="2300" dirty="0" smtClean="0">
                <a:latin typeface="Arial" pitchFamily="34" charset="0"/>
                <a:cs typeface="Arial" pitchFamily="34" charset="0"/>
              </a:rPr>
              <a:t>.  </a:t>
            </a:r>
          </a:p>
          <a:p>
            <a:pPr lvl="1" algn="just"/>
            <a:endParaRPr lang="en-US" sz="2300" dirty="0" smtClean="0">
              <a:latin typeface="Arial" pitchFamily="34" charset="0"/>
              <a:cs typeface="Arial" pitchFamily="34" charset="0"/>
            </a:endParaRPr>
          </a:p>
          <a:p>
            <a:pPr marL="914400" lvl="1" indent="-457200" algn="just">
              <a:buAutoNum type="arabicPeriod"/>
            </a:pPr>
            <a:r>
              <a:rPr lang="en-US" sz="2300" b="1" dirty="0" smtClean="0">
                <a:latin typeface="Arial" pitchFamily="34" charset="0"/>
                <a:cs typeface="Arial" pitchFamily="34" charset="0"/>
              </a:rPr>
              <a:t>Thomas Hobbes</a:t>
            </a:r>
            <a:r>
              <a:rPr lang="en-US" sz="2300" dirty="0" smtClean="0">
                <a:latin typeface="Arial" pitchFamily="34" charset="0"/>
                <a:cs typeface="Arial" pitchFamily="34" charset="0"/>
              </a:rPr>
              <a:t>: </a:t>
            </a:r>
          </a:p>
          <a:p>
            <a:pPr marL="1371600" lvl="2" indent="-457200" algn="just">
              <a:buFont typeface="Arial" pitchFamily="34" charset="0"/>
              <a:buChar char="•"/>
            </a:pPr>
            <a:r>
              <a:rPr lang="en-US" sz="2300" dirty="0" smtClean="0">
                <a:latin typeface="Arial" pitchFamily="34" charset="0"/>
                <a:cs typeface="Arial" pitchFamily="34" charset="0"/>
              </a:rPr>
              <a:t>Humans outside an </a:t>
            </a:r>
            <a:r>
              <a:rPr lang="en-US" sz="2300" dirty="0" err="1" smtClean="0">
                <a:latin typeface="Arial" pitchFamily="34" charset="0"/>
                <a:cs typeface="Arial" pitchFamily="34" charset="0"/>
              </a:rPr>
              <a:t>estab</a:t>
            </a:r>
            <a:r>
              <a:rPr lang="en-US" sz="2300" dirty="0" smtClean="0">
                <a:latin typeface="Arial" pitchFamily="34" charset="0"/>
                <a:cs typeface="Arial" pitchFamily="34" charset="0"/>
              </a:rPr>
              <a:t>. Legal order would necessarily be in a </a:t>
            </a:r>
            <a:r>
              <a:rPr lang="en-US" sz="2300" b="1" dirty="0" smtClean="0">
                <a:latin typeface="Arial" pitchFamily="34" charset="0"/>
                <a:cs typeface="Arial" pitchFamily="34" charset="0"/>
              </a:rPr>
              <a:t>‘state of nature</a:t>
            </a:r>
            <a:r>
              <a:rPr lang="en-US" sz="2300" dirty="0" smtClean="0">
                <a:latin typeface="Arial" pitchFamily="34" charset="0"/>
                <a:cs typeface="Arial" pitchFamily="34" charset="0"/>
              </a:rPr>
              <a:t>’ – w/o anything to guide them or binding them</a:t>
            </a:r>
          </a:p>
          <a:p>
            <a:pPr marL="1371600" lvl="2" indent="-457200" algn="just">
              <a:buFont typeface="Arial" pitchFamily="34" charset="0"/>
              <a:buChar char="•"/>
            </a:pPr>
            <a:r>
              <a:rPr lang="en-US" sz="2300" dirty="0" smtClean="0">
                <a:latin typeface="Arial" pitchFamily="34" charset="0"/>
                <a:cs typeface="Arial" pitchFamily="34" charset="0"/>
              </a:rPr>
              <a:t>Basic precepts of </a:t>
            </a:r>
            <a:r>
              <a:rPr lang="en-US" sz="2300" b="1" dirty="0" smtClean="0">
                <a:latin typeface="Arial" pitchFamily="34" charset="0"/>
                <a:cs typeface="Arial" pitchFamily="34" charset="0"/>
              </a:rPr>
              <a:t>morality</a:t>
            </a:r>
            <a:r>
              <a:rPr lang="en-US" sz="2300" dirty="0" smtClean="0">
                <a:latin typeface="Arial" pitchFamily="34" charset="0"/>
                <a:cs typeface="Arial" pitchFamily="34" charset="0"/>
              </a:rPr>
              <a:t>, although exiting, are </a:t>
            </a:r>
            <a:r>
              <a:rPr lang="en-US" sz="2300" b="1" dirty="0" smtClean="0">
                <a:latin typeface="Arial" pitchFamily="34" charset="0"/>
                <a:cs typeface="Arial" pitchFamily="34" charset="0"/>
              </a:rPr>
              <a:t>minimal</a:t>
            </a:r>
          </a:p>
          <a:p>
            <a:pPr marL="1371600" lvl="2" indent="-457200" algn="just">
              <a:buFont typeface="Arial" pitchFamily="34" charset="0"/>
              <a:buChar char="•"/>
            </a:pPr>
            <a:r>
              <a:rPr lang="en-US" sz="2300" dirty="0" smtClean="0">
                <a:latin typeface="Arial" pitchFamily="34" charset="0"/>
                <a:cs typeface="Arial" pitchFamily="34" charset="0"/>
              </a:rPr>
              <a:t>All face the imperative to secure the means for their </a:t>
            </a:r>
            <a:r>
              <a:rPr lang="en-US" sz="2300" b="1" dirty="0" smtClean="0">
                <a:latin typeface="Arial" pitchFamily="34" charset="0"/>
                <a:cs typeface="Arial" pitchFamily="34" charset="0"/>
              </a:rPr>
              <a:t>own survival</a:t>
            </a:r>
            <a:r>
              <a:rPr lang="en-US" sz="2300" dirty="0" smtClean="0">
                <a:latin typeface="Arial" pitchFamily="34" charset="0"/>
                <a:cs typeface="Arial" pitchFamily="34" charset="0"/>
              </a:rPr>
              <a:t>; </a:t>
            </a:r>
          </a:p>
          <a:p>
            <a:pPr marL="1371600" lvl="2" indent="-457200" algn="just">
              <a:buFont typeface="Arial" pitchFamily="34" charset="0"/>
              <a:buChar char="•"/>
            </a:pPr>
            <a:r>
              <a:rPr lang="en-US" sz="2300" dirty="0" smtClean="0">
                <a:latin typeface="Arial" pitchFamily="34" charset="0"/>
                <a:cs typeface="Arial" pitchFamily="34" charset="0"/>
              </a:rPr>
              <a:t>In the absence of organized and </a:t>
            </a:r>
            <a:r>
              <a:rPr lang="en-US" sz="2300" b="1" dirty="0" smtClean="0">
                <a:latin typeface="Arial" pitchFamily="34" charset="0"/>
                <a:cs typeface="Arial" pitchFamily="34" charset="0"/>
              </a:rPr>
              <a:t>effective prohibition of use of force</a:t>
            </a:r>
            <a:r>
              <a:rPr lang="en-US" sz="2300" dirty="0" smtClean="0">
                <a:latin typeface="Arial" pitchFamily="34" charset="0"/>
                <a:cs typeface="Arial" pitchFamily="34" charset="0"/>
              </a:rPr>
              <a:t>, each </a:t>
            </a:r>
            <a:r>
              <a:rPr lang="en-US" sz="2300" b="1" dirty="0" smtClean="0">
                <a:latin typeface="Arial" pitchFamily="34" charset="0"/>
                <a:cs typeface="Arial" pitchFamily="34" charset="0"/>
              </a:rPr>
              <a:t>naturally free to use whatever </a:t>
            </a:r>
            <a:r>
              <a:rPr lang="en-US" sz="2300" b="1" dirty="0" err="1" smtClean="0">
                <a:latin typeface="Arial" pitchFamily="34" charset="0"/>
                <a:cs typeface="Arial" pitchFamily="34" charset="0"/>
              </a:rPr>
              <a:t>neces</a:t>
            </a:r>
            <a:r>
              <a:rPr lang="en-US" sz="2300" b="1" dirty="0" smtClean="0">
                <a:latin typeface="Arial" pitchFamily="34" charset="0"/>
                <a:cs typeface="Arial" pitchFamily="34" charset="0"/>
              </a:rPr>
              <a:t>. to preserve life</a:t>
            </a:r>
            <a:r>
              <a:rPr lang="en-US" sz="2300" dirty="0" smtClean="0">
                <a:latin typeface="Arial" pitchFamily="34" charset="0"/>
                <a:cs typeface="Arial" pitchFamily="34" charset="0"/>
              </a:rPr>
              <a:t>.</a:t>
            </a:r>
          </a:p>
          <a:p>
            <a:pPr marL="1371600" lvl="2" indent="-457200" algn="just">
              <a:buFont typeface="Arial" pitchFamily="34" charset="0"/>
              <a:buChar char="•"/>
            </a:pPr>
            <a:r>
              <a:rPr lang="en-US" sz="2300" dirty="0" smtClean="0">
                <a:latin typeface="Arial" pitchFamily="34" charset="0"/>
                <a:cs typeface="Arial" pitchFamily="34" charset="0"/>
              </a:rPr>
              <a:t>Hence </a:t>
            </a:r>
            <a:r>
              <a:rPr lang="en-US" sz="2300" b="1" dirty="0" smtClean="0">
                <a:latin typeface="Arial" pitchFamily="34" charset="0"/>
                <a:cs typeface="Arial" pitchFamily="34" charset="0"/>
              </a:rPr>
              <a:t>war of all against all</a:t>
            </a:r>
            <a:r>
              <a:rPr lang="en-US" sz="2300" dirty="0" smtClean="0">
                <a:latin typeface="Arial" pitchFamily="34" charset="0"/>
                <a:cs typeface="Arial" pitchFamily="34" charset="0"/>
              </a:rPr>
              <a:t>… </a:t>
            </a:r>
          </a:p>
          <a:p>
            <a:pPr marL="1371600" lvl="2" indent="-457200" algn="just">
              <a:buFont typeface="Arial" pitchFamily="34" charset="0"/>
              <a:buChar char="•"/>
            </a:pPr>
            <a:r>
              <a:rPr lang="en-US" sz="2300" dirty="0" smtClean="0">
                <a:latin typeface="Arial" pitchFamily="34" charset="0"/>
                <a:cs typeface="Arial" pitchFamily="34" charset="0"/>
              </a:rPr>
              <a:t>The imperative of self-preservation </a:t>
            </a:r>
            <a:r>
              <a:rPr lang="en-US" sz="2300" b="1" i="1" dirty="0" smtClean="0">
                <a:latin typeface="Arial" pitchFamily="34" charset="0"/>
                <a:cs typeface="Arial" pitchFamily="34" charset="0"/>
              </a:rPr>
              <a:t>therefore </a:t>
            </a:r>
            <a:r>
              <a:rPr lang="en-US" sz="2300" dirty="0" smtClean="0">
                <a:latin typeface="Arial" pitchFamily="34" charset="0"/>
                <a:cs typeface="Arial" pitchFamily="34" charset="0"/>
              </a:rPr>
              <a:t>yield to the need for seeking an accord  (</a:t>
            </a:r>
            <a:r>
              <a:rPr lang="en-US" sz="2300" b="1" dirty="0" smtClean="0">
                <a:latin typeface="Arial" pitchFamily="34" charset="0"/>
                <a:cs typeface="Arial" pitchFamily="34" charset="0"/>
              </a:rPr>
              <a:t>social contract) of all on terms each accept</a:t>
            </a:r>
            <a:r>
              <a:rPr lang="en-US" sz="2300" dirty="0" smtClean="0">
                <a:latin typeface="Arial" pitchFamily="34" charset="0"/>
                <a:cs typeface="Arial" pitchFamily="34" charset="0"/>
              </a:rPr>
              <a:t>….</a:t>
            </a:r>
          </a:p>
          <a:p>
            <a:pPr marL="1371600" lvl="2" indent="-457200" algn="just">
              <a:buFont typeface="Arial" pitchFamily="34" charset="0"/>
              <a:buChar char="•"/>
            </a:pPr>
            <a:endParaRPr lang="en-U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340471"/>
          </a:xfrm>
          <a:prstGeom prst="rect">
            <a:avLst/>
          </a:prstGeom>
        </p:spPr>
        <p:txBody>
          <a:bodyPr wrap="square">
            <a:spAutoFit/>
          </a:bodyPr>
          <a:lstStyle/>
          <a:p>
            <a:pPr marL="1371600" lvl="2" indent="-457200" algn="just">
              <a:buFont typeface="Arial" pitchFamily="34" charset="0"/>
              <a:buChar char="•"/>
            </a:pPr>
            <a:r>
              <a:rPr lang="en-US" sz="2300" dirty="0" smtClean="0"/>
              <a:t> </a:t>
            </a:r>
            <a:r>
              <a:rPr lang="en-US" sz="2300" dirty="0" smtClean="0">
                <a:latin typeface="Arial" pitchFamily="34" charset="0"/>
                <a:cs typeface="Arial" pitchFamily="34" charset="0"/>
              </a:rPr>
              <a:t>Accompanied by a covenant for a </a:t>
            </a:r>
            <a:r>
              <a:rPr lang="en-US" sz="2300" b="1" dirty="0" smtClean="0">
                <a:latin typeface="Arial" pitchFamily="34" charset="0"/>
                <a:cs typeface="Arial" pitchFamily="34" charset="0"/>
              </a:rPr>
              <a:t>force to back it up</a:t>
            </a:r>
            <a:r>
              <a:rPr lang="en-US" sz="2300" dirty="0" smtClean="0">
                <a:latin typeface="Arial" pitchFamily="34" charset="0"/>
                <a:cs typeface="Arial" pitchFamily="34" charset="0"/>
              </a:rPr>
              <a:t>…</a:t>
            </a:r>
          </a:p>
          <a:p>
            <a:pPr marL="1371600" lvl="2" indent="-457200" algn="just">
              <a:buFont typeface="Arial" pitchFamily="34" charset="0"/>
              <a:buChar char="•"/>
            </a:pPr>
            <a:r>
              <a:rPr lang="en-US" sz="2300" dirty="0" smtClean="0">
                <a:latin typeface="Arial" pitchFamily="34" charset="0"/>
                <a:cs typeface="Arial" pitchFamily="34" charset="0"/>
              </a:rPr>
              <a:t>This </a:t>
            </a:r>
            <a:r>
              <a:rPr lang="en-US" sz="2300" b="1" dirty="0" smtClean="0">
                <a:latin typeface="Arial" pitchFamily="34" charset="0"/>
                <a:cs typeface="Arial" pitchFamily="34" charset="0"/>
              </a:rPr>
              <a:t>done only if everybody transfers all his/her ‘natural rights’  to use force to a sovereign or assembly to whom </a:t>
            </a:r>
          </a:p>
          <a:p>
            <a:pPr marL="1371600" lvl="2" indent="-457200" algn="just">
              <a:buFont typeface="Arial" pitchFamily="34" charset="0"/>
              <a:buChar char="•"/>
            </a:pPr>
            <a:r>
              <a:rPr lang="en-US" sz="2300" dirty="0" smtClean="0">
                <a:latin typeface="Arial" pitchFamily="34" charset="0"/>
                <a:cs typeface="Arial" pitchFamily="34" charset="0"/>
              </a:rPr>
              <a:t>In return, each receives </a:t>
            </a:r>
            <a:r>
              <a:rPr lang="en-US" sz="2300" b="1" dirty="0" smtClean="0">
                <a:latin typeface="Arial" pitchFamily="34" charset="0"/>
                <a:cs typeface="Arial" pitchFamily="34" charset="0"/>
              </a:rPr>
              <a:t>protection (and </a:t>
            </a:r>
            <a:r>
              <a:rPr lang="en-US" sz="2300" b="1" dirty="0" err="1" smtClean="0">
                <a:latin typeface="Arial" pitchFamily="34" charset="0"/>
                <a:cs typeface="Arial" pitchFamily="34" charset="0"/>
              </a:rPr>
              <a:t>imposi</a:t>
            </a:r>
            <a:r>
              <a:rPr lang="en-US" sz="2300" b="1" dirty="0" smtClean="0">
                <a:latin typeface="Arial" pitchFamily="34" charset="0"/>
                <a:cs typeface="Arial" pitchFamily="34" charset="0"/>
              </a:rPr>
              <a:t>. of sovereign laws) </a:t>
            </a:r>
          </a:p>
          <a:p>
            <a:pPr marL="1371600" lvl="2" indent="-457200" algn="just">
              <a:buFont typeface="Arial" pitchFamily="34" charset="0"/>
              <a:buChar char="•"/>
            </a:pPr>
            <a:endParaRPr lang="en-US" sz="2300" dirty="0" smtClean="0">
              <a:latin typeface="Arial" pitchFamily="34" charset="0"/>
              <a:cs typeface="Arial" pitchFamily="34" charset="0"/>
            </a:endParaRPr>
          </a:p>
          <a:p>
            <a:pPr algn="just">
              <a:buFont typeface="Arial" pitchFamily="34" charset="0"/>
              <a:buChar char="•"/>
            </a:pPr>
            <a:r>
              <a:rPr lang="en-US" sz="2300" dirty="0" smtClean="0">
                <a:latin typeface="Arial" pitchFamily="34" charset="0"/>
                <a:cs typeface="Arial" pitchFamily="34" charset="0"/>
              </a:rPr>
              <a:t> But, the </a:t>
            </a:r>
            <a:r>
              <a:rPr lang="en-US" sz="2300" b="1" dirty="0" smtClean="0">
                <a:latin typeface="Arial" pitchFamily="34" charset="0"/>
                <a:cs typeface="Arial" pitchFamily="34" charset="0"/>
              </a:rPr>
              <a:t>natural right </a:t>
            </a:r>
            <a:r>
              <a:rPr lang="en-US" sz="2300" dirty="0" smtClean="0">
                <a:latin typeface="Arial" pitchFamily="34" charset="0"/>
                <a:cs typeface="Arial" pitchFamily="34" charset="0"/>
              </a:rPr>
              <a:t>conception is here conceived as a </a:t>
            </a:r>
            <a:r>
              <a:rPr lang="en-US" sz="2300" b="1" dirty="0" smtClean="0">
                <a:latin typeface="Arial" pitchFamily="34" charset="0"/>
                <a:cs typeface="Arial" pitchFamily="34" charset="0"/>
              </a:rPr>
              <a:t>weak means  against state arbitrariness…</a:t>
            </a:r>
            <a:r>
              <a:rPr lang="en-US" sz="2300" dirty="0" smtClean="0">
                <a:latin typeface="Arial" pitchFamily="34" charset="0"/>
                <a:cs typeface="Arial" pitchFamily="34" charset="0"/>
              </a:rPr>
              <a:t>.</a:t>
            </a:r>
          </a:p>
          <a:p>
            <a:pPr lvl="1" algn="just">
              <a:buFont typeface="Arial" pitchFamily="34" charset="0"/>
              <a:buChar char="•"/>
            </a:pPr>
            <a:r>
              <a:rPr lang="en-US" sz="2300" dirty="0" smtClean="0">
                <a:latin typeface="Arial" pitchFamily="34" charset="0"/>
                <a:cs typeface="Arial" pitchFamily="34" charset="0"/>
              </a:rPr>
              <a:t> because the only fundamental right given up under social contract (i.e. of use of force) is limited in scope, does not include many other rights….</a:t>
            </a:r>
          </a:p>
          <a:p>
            <a:pPr lvl="1" algn="just">
              <a:buFont typeface="Arial" pitchFamily="34" charset="0"/>
              <a:buChar char="•"/>
            </a:pPr>
            <a:endParaRPr lang="en-US" sz="2300" dirty="0" smtClean="0">
              <a:latin typeface="Arial" pitchFamily="34" charset="0"/>
              <a:cs typeface="Arial" pitchFamily="34" charset="0"/>
            </a:endParaRPr>
          </a:p>
          <a:p>
            <a:pPr lvl="1" algn="just">
              <a:buFont typeface="Arial" pitchFamily="34" charset="0"/>
              <a:buChar char="•"/>
            </a:pPr>
            <a:r>
              <a:rPr lang="en-US" sz="2300" dirty="0" smtClean="0">
                <a:latin typeface="Arial" pitchFamily="34" charset="0"/>
                <a:cs typeface="Arial" pitchFamily="34" charset="0"/>
              </a:rPr>
              <a:t> Since other rights (of </a:t>
            </a:r>
            <a:r>
              <a:rPr lang="en-US" sz="2300" b="1" dirty="0" smtClean="0">
                <a:latin typeface="Arial" pitchFamily="34" charset="0"/>
                <a:cs typeface="Arial" pitchFamily="34" charset="0"/>
              </a:rPr>
              <a:t>fair trial, property, liberty</a:t>
            </a:r>
            <a:r>
              <a:rPr lang="en-US" sz="2300" dirty="0" smtClean="0">
                <a:latin typeface="Arial" pitchFamily="34" charset="0"/>
                <a:cs typeface="Arial" pitchFamily="34" charset="0"/>
              </a:rPr>
              <a:t> etc) are only provided by virtue of </a:t>
            </a:r>
            <a:r>
              <a:rPr lang="en-US" sz="2300" b="1" dirty="0" smtClean="0">
                <a:latin typeface="Arial" pitchFamily="34" charset="0"/>
                <a:cs typeface="Arial" pitchFamily="34" charset="0"/>
              </a:rPr>
              <a:t>positive law of the sovereign</a:t>
            </a:r>
            <a:r>
              <a:rPr lang="en-US" sz="2300" dirty="0" smtClean="0">
                <a:latin typeface="Arial" pitchFamily="34" charset="0"/>
                <a:cs typeface="Arial" pitchFamily="34" charset="0"/>
              </a:rPr>
              <a:t>, they logically don’t provide independent substantive ground for limiting state power….</a:t>
            </a:r>
          </a:p>
          <a:p>
            <a:pPr lvl="1">
              <a:buFont typeface="Arial" pitchFamily="34" charset="0"/>
              <a:buChar char="•"/>
            </a:pPr>
            <a:endParaRPr lang="en-US" sz="2000" dirty="0" smtClean="0">
              <a:latin typeface="Arial" pitchFamily="34" charset="0"/>
              <a:cs typeface="Arial" pitchFamily="34" charset="0"/>
            </a:endParaRPr>
          </a:p>
          <a:p>
            <a:pPr lvl="1">
              <a:buFont typeface="Arial" pitchFamily="34" charset="0"/>
              <a:buChar char="•"/>
            </a:pPr>
            <a:endParaRPr lang="en-US" sz="2000" dirty="0" smtClean="0">
              <a:latin typeface="Arial" pitchFamily="34" charset="0"/>
              <a:cs typeface="Arial" pitchFamily="34" charset="0"/>
            </a:endParaRPr>
          </a:p>
          <a:p>
            <a:pPr lvl="1">
              <a:buFont typeface="Arial" pitchFamily="34" charset="0"/>
              <a:buChar char="•"/>
            </a:pPr>
            <a:endParaRPr lang="en-US" sz="2000" dirty="0" smtClean="0">
              <a:latin typeface="Arial" pitchFamily="34" charset="0"/>
              <a:cs typeface="Arial" pitchFamily="34" charset="0"/>
            </a:endParaRPr>
          </a:p>
          <a:p>
            <a:pPr lvl="1">
              <a:buFont typeface="Arial" pitchFamily="34" charset="0"/>
              <a:buChar char="•"/>
            </a:pPr>
            <a:endParaRPr lang="en-US" sz="2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0"/>
            <a:ext cx="8763000" cy="6863417"/>
          </a:xfrm>
          <a:prstGeom prst="rect">
            <a:avLst/>
          </a:prstGeom>
        </p:spPr>
        <p:txBody>
          <a:bodyPr wrap="square">
            <a:spAutoFit/>
          </a:bodyPr>
          <a:lstStyle/>
          <a:p>
            <a:r>
              <a:rPr lang="en-US" sz="2000" dirty="0" smtClean="0">
                <a:latin typeface="Arial" pitchFamily="34" charset="0"/>
                <a:cs typeface="Arial" pitchFamily="34" charset="0"/>
              </a:rPr>
              <a:t>2. </a:t>
            </a:r>
            <a:r>
              <a:rPr lang="en-US" sz="2000" b="1" dirty="0" smtClean="0">
                <a:latin typeface="Arial" pitchFamily="34" charset="0"/>
                <a:cs typeface="Arial" pitchFamily="34" charset="0"/>
              </a:rPr>
              <a:t>John Locke: </a:t>
            </a:r>
          </a:p>
          <a:p>
            <a:pPr lvl="1">
              <a:buFont typeface="Arial" pitchFamily="34" charset="0"/>
              <a:buChar char="•"/>
            </a:pPr>
            <a:r>
              <a:rPr lang="en-US" sz="2000" dirty="0" smtClean="0">
                <a:latin typeface="Arial" pitchFamily="34" charset="0"/>
                <a:cs typeface="Arial" pitchFamily="34" charset="0"/>
              </a:rPr>
              <a:t> Argued in a state of nature, people have </a:t>
            </a:r>
            <a:r>
              <a:rPr lang="en-US" sz="2000" b="1" dirty="0" smtClean="0">
                <a:latin typeface="Arial" pitchFamily="34" charset="0"/>
                <a:cs typeface="Arial" pitchFamily="34" charset="0"/>
              </a:rPr>
              <a:t>rights to life, liberty, property;</a:t>
            </a:r>
          </a:p>
          <a:p>
            <a:pPr lvl="1">
              <a:buFont typeface="Arial" pitchFamily="34" charset="0"/>
              <a:buChar char="•"/>
            </a:pPr>
            <a:r>
              <a:rPr lang="en-US" sz="2000" b="1" dirty="0" smtClean="0">
                <a:latin typeface="Arial" pitchFamily="34" charset="0"/>
                <a:cs typeface="Arial" pitchFamily="34" charset="0"/>
              </a:rPr>
              <a:t> Laws of reason </a:t>
            </a:r>
            <a:r>
              <a:rPr lang="en-US" sz="2000" dirty="0" smtClean="0">
                <a:latin typeface="Arial" pitchFamily="34" charset="0"/>
                <a:cs typeface="Arial" pitchFamily="34" charset="0"/>
              </a:rPr>
              <a:t>binding on all humans runs regulates human conduct…</a:t>
            </a:r>
          </a:p>
          <a:p>
            <a:pPr lvl="1">
              <a:buFont typeface="Arial" pitchFamily="34" charset="0"/>
              <a:buChar char="•"/>
            </a:pPr>
            <a:r>
              <a:rPr lang="en-US" sz="2000" dirty="0" smtClean="0">
                <a:latin typeface="Arial" pitchFamily="34" charset="0"/>
                <a:cs typeface="Arial" pitchFamily="34" charset="0"/>
              </a:rPr>
              <a:t> as </a:t>
            </a:r>
            <a:r>
              <a:rPr lang="en-US" sz="2000" b="1" dirty="0" smtClean="0">
                <a:latin typeface="Arial" pitchFamily="34" charset="0"/>
                <a:cs typeface="Arial" pitchFamily="34" charset="0"/>
              </a:rPr>
              <a:t>humans are equal</a:t>
            </a:r>
            <a:r>
              <a:rPr lang="en-US" sz="2000" dirty="0" smtClean="0">
                <a:latin typeface="Arial" pitchFamily="34" charset="0"/>
                <a:cs typeface="Arial" pitchFamily="34" charset="0"/>
              </a:rPr>
              <a:t>, </a:t>
            </a:r>
            <a:r>
              <a:rPr lang="en-US" sz="2000" b="1" dirty="0" smtClean="0">
                <a:latin typeface="Arial" pitchFamily="34" charset="0"/>
                <a:cs typeface="Arial" pitchFamily="34" charset="0"/>
              </a:rPr>
              <a:t>no one has right to use force against the other</a:t>
            </a:r>
            <a:r>
              <a:rPr lang="en-US" sz="2000" dirty="0" smtClean="0">
                <a:latin typeface="Arial" pitchFamily="34" charset="0"/>
                <a:cs typeface="Arial" pitchFamily="34" charset="0"/>
              </a:rPr>
              <a:t>…each </a:t>
            </a:r>
            <a:r>
              <a:rPr lang="en-US" sz="2000" b="1" dirty="0" smtClean="0">
                <a:latin typeface="Arial" pitchFamily="34" charset="0"/>
                <a:cs typeface="Arial" pitchFamily="34" charset="0"/>
              </a:rPr>
              <a:t>must respect the other’s liberty, no violence</a:t>
            </a:r>
            <a:r>
              <a:rPr lang="en-US" sz="2000" dirty="0" smtClean="0">
                <a:latin typeface="Arial" pitchFamily="34" charset="0"/>
                <a:cs typeface="Arial" pitchFamily="34" charset="0"/>
              </a:rPr>
              <a:t>…</a:t>
            </a:r>
          </a:p>
          <a:p>
            <a:pPr lvl="1">
              <a:buFont typeface="Arial" pitchFamily="34" charset="0"/>
              <a:buChar char="•"/>
            </a:pPr>
            <a:r>
              <a:rPr lang="en-US" sz="2000" dirty="0" smtClean="0">
                <a:latin typeface="Arial" pitchFamily="34" charset="0"/>
                <a:cs typeface="Arial" pitchFamily="34" charset="0"/>
              </a:rPr>
              <a:t> each entitled to </a:t>
            </a:r>
            <a:r>
              <a:rPr lang="en-US" sz="2000" b="1" dirty="0" smtClean="0">
                <a:latin typeface="Arial" pitchFamily="34" charset="0"/>
                <a:cs typeface="Arial" pitchFamily="34" charset="0"/>
              </a:rPr>
              <a:t>equal access to fruits of the world…with </a:t>
            </a:r>
            <a:r>
              <a:rPr lang="en-US" sz="2000" dirty="0" smtClean="0">
                <a:latin typeface="Arial" pitchFamily="34" charset="0"/>
                <a:cs typeface="Arial" pitchFamily="34" charset="0"/>
              </a:rPr>
              <a:t>possibility </a:t>
            </a:r>
            <a:r>
              <a:rPr lang="en-US" sz="2000" b="1" dirty="0" smtClean="0">
                <a:latin typeface="Arial" pitchFamily="34" charset="0"/>
                <a:cs typeface="Arial" pitchFamily="34" charset="0"/>
              </a:rPr>
              <a:t>of right of private possessions.</a:t>
            </a:r>
          </a:p>
          <a:p>
            <a:pPr lvl="1">
              <a:buFont typeface="Arial" pitchFamily="34" charset="0"/>
              <a:buChar char="•"/>
            </a:pPr>
            <a:r>
              <a:rPr lang="en-US" sz="2000" dirty="0" smtClean="0">
                <a:latin typeface="Arial" pitchFamily="34" charset="0"/>
                <a:cs typeface="Arial" pitchFamily="34" charset="0"/>
              </a:rPr>
              <a:t> problem: there is mechanism to enforce one’s natural rights except through </a:t>
            </a:r>
            <a:r>
              <a:rPr lang="en-US" sz="2000" b="1" dirty="0" smtClean="0">
                <a:latin typeface="Arial" pitchFamily="34" charset="0"/>
                <a:cs typeface="Arial" pitchFamily="34" charset="0"/>
              </a:rPr>
              <a:t>self help</a:t>
            </a:r>
            <a:r>
              <a:rPr lang="en-US" sz="2000" dirty="0" smtClean="0">
                <a:latin typeface="Arial" pitchFamily="34" charset="0"/>
                <a:cs typeface="Arial" pitchFamily="34" charset="0"/>
              </a:rPr>
              <a:t>..…</a:t>
            </a:r>
          </a:p>
          <a:p>
            <a:pPr lvl="1">
              <a:buFont typeface="Arial" pitchFamily="34" charset="0"/>
              <a:buChar char="•"/>
            </a:pPr>
            <a:r>
              <a:rPr lang="en-US" sz="2000" dirty="0" smtClean="0">
                <a:latin typeface="Arial" pitchFamily="34" charset="0"/>
                <a:cs typeface="Arial" pitchFamily="34" charset="0"/>
              </a:rPr>
              <a:t> A spiral of violence likely to happen in </a:t>
            </a:r>
            <a:r>
              <a:rPr lang="en-US" sz="2000" b="1" dirty="0" smtClean="0">
                <a:latin typeface="Arial" pitchFamily="34" charset="0"/>
                <a:cs typeface="Arial" pitchFamily="34" charset="0"/>
              </a:rPr>
              <a:t>defense and counter-defense maneuvers of persons</a:t>
            </a:r>
          </a:p>
          <a:p>
            <a:pPr lvl="1">
              <a:buFont typeface="Arial" pitchFamily="34" charset="0"/>
              <a:buChar char="•"/>
            </a:pPr>
            <a:r>
              <a:rPr lang="en-US" sz="2000" dirty="0" smtClean="0">
                <a:latin typeface="Arial" pitchFamily="34" charset="0"/>
                <a:cs typeface="Arial" pitchFamily="34" charset="0"/>
              </a:rPr>
              <a:t>   hence everyone’s situation in a state of nature becomes </a:t>
            </a:r>
            <a:r>
              <a:rPr lang="en-US" sz="2000" b="1" dirty="0" smtClean="0">
                <a:latin typeface="Arial" pitchFamily="34" charset="0"/>
                <a:cs typeface="Arial" pitchFamily="34" charset="0"/>
              </a:rPr>
              <a:t>unstable….and peaceful life under law of nature becomes illusion</a:t>
            </a:r>
            <a:r>
              <a:rPr lang="en-US" sz="2000" dirty="0" smtClean="0">
                <a:latin typeface="Arial" pitchFamily="34" charset="0"/>
                <a:cs typeface="Arial" pitchFamily="34" charset="0"/>
              </a:rPr>
              <a:t>…</a:t>
            </a:r>
          </a:p>
          <a:p>
            <a:pPr lvl="1">
              <a:buFont typeface="Arial" pitchFamily="34" charset="0"/>
              <a:buChar char="•"/>
            </a:pPr>
            <a:endParaRPr lang="en-US" sz="2000" dirty="0" smtClean="0">
              <a:latin typeface="Arial" pitchFamily="34" charset="0"/>
              <a:cs typeface="Arial" pitchFamily="34" charset="0"/>
            </a:endParaRPr>
          </a:p>
          <a:p>
            <a:pPr>
              <a:buFont typeface="Arial" pitchFamily="34" charset="0"/>
              <a:buChar char="•"/>
            </a:pPr>
            <a:r>
              <a:rPr lang="en-US" sz="2000" dirty="0" smtClean="0">
                <a:latin typeface="Arial" pitchFamily="34" charset="0"/>
                <a:cs typeface="Arial" pitchFamily="34" charset="0"/>
              </a:rPr>
              <a:t>Hence, to avert such a scenario, Locke argued a </a:t>
            </a:r>
            <a:r>
              <a:rPr lang="en-US" sz="2000" b="1" dirty="0" smtClean="0">
                <a:latin typeface="Arial" pitchFamily="34" charset="0"/>
                <a:cs typeface="Arial" pitchFamily="34" charset="0"/>
              </a:rPr>
              <a:t>wholesale transfer of all one’s natural rights to a single sovereign is not a solution</a:t>
            </a:r>
          </a:p>
          <a:p>
            <a:pPr lvl="1">
              <a:buFont typeface="Arial" pitchFamily="34" charset="0"/>
              <a:buChar char="•"/>
            </a:pPr>
            <a:r>
              <a:rPr lang="en-US" sz="2000" dirty="0" smtClean="0">
                <a:latin typeface="Arial" pitchFamily="34" charset="0"/>
                <a:cs typeface="Arial" pitchFamily="34" charset="0"/>
              </a:rPr>
              <a:t>  Only one’s ‘</a:t>
            </a:r>
            <a:r>
              <a:rPr lang="en-US" sz="2000" b="1" dirty="0" smtClean="0">
                <a:latin typeface="Arial" pitchFamily="34" charset="0"/>
                <a:cs typeface="Arial" pitchFamily="34" charset="0"/>
              </a:rPr>
              <a:t>executive powers of natural laws</a:t>
            </a:r>
            <a:r>
              <a:rPr lang="en-US" sz="2000" dirty="0" smtClean="0">
                <a:latin typeface="Arial" pitchFamily="34" charset="0"/>
                <a:cs typeface="Arial" pitchFamily="34" charset="0"/>
              </a:rPr>
              <a:t>’ should be considered  (covering rights of enforcing own rights and exacting punishments) </a:t>
            </a:r>
          </a:p>
          <a:p>
            <a:pPr lvl="1"/>
            <a:endParaRPr lang="en-U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247864"/>
          </a:xfrm>
          <a:prstGeom prst="rect">
            <a:avLst/>
          </a:prstGeom>
        </p:spPr>
        <p:txBody>
          <a:bodyPr wrap="square">
            <a:spAutoFit/>
          </a:bodyPr>
          <a:lstStyle/>
          <a:p>
            <a:pPr lvl="1">
              <a:buFont typeface="Arial" pitchFamily="34" charset="0"/>
              <a:buChar char="•"/>
            </a:pPr>
            <a:r>
              <a:rPr lang="en-US" sz="2000" dirty="0" smtClean="0">
                <a:latin typeface="Arial" pitchFamily="34" charset="0"/>
                <a:cs typeface="Arial" pitchFamily="34" charset="0"/>
              </a:rPr>
              <a:t> A social contract provides for establishment of a government to </a:t>
            </a:r>
            <a:r>
              <a:rPr lang="en-US" sz="2000" b="1" dirty="0" smtClean="0">
                <a:latin typeface="Arial" pitchFamily="34" charset="0"/>
                <a:cs typeface="Arial" pitchFamily="34" charset="0"/>
              </a:rPr>
              <a:t>remedy insecurity of state of nature..</a:t>
            </a:r>
          </a:p>
          <a:p>
            <a:pPr lvl="1" algn="just">
              <a:buFont typeface="Arial" pitchFamily="34" charset="0"/>
              <a:buChar char="•"/>
            </a:pPr>
            <a:r>
              <a:rPr lang="en-US" sz="2000" dirty="0" smtClean="0">
                <a:latin typeface="Arial" pitchFamily="34" charset="0"/>
                <a:cs typeface="Arial" pitchFamily="34" charset="0"/>
              </a:rPr>
              <a:t> And gov’t makes general rules ‘</a:t>
            </a:r>
            <a:r>
              <a:rPr lang="en-US" sz="2000" b="1" dirty="0" smtClean="0">
                <a:latin typeface="Arial" pitchFamily="34" charset="0"/>
                <a:cs typeface="Arial" pitchFamily="34" charset="0"/>
              </a:rPr>
              <a:t>EXPRESSING’ natural rights and do all tasks of modern gov’t (adjudication, defense etc)</a:t>
            </a:r>
          </a:p>
          <a:p>
            <a:pPr lvl="1">
              <a:buFont typeface="Arial" pitchFamily="34" charset="0"/>
              <a:buChar char="•"/>
            </a:pPr>
            <a:r>
              <a:rPr lang="en-US" sz="2000" dirty="0" smtClean="0">
                <a:latin typeface="Arial" pitchFamily="34" charset="0"/>
                <a:cs typeface="Arial" pitchFamily="34" charset="0"/>
              </a:rPr>
              <a:t>  It is this sense </a:t>
            </a:r>
            <a:r>
              <a:rPr lang="en-US" sz="2000" b="1" dirty="0" smtClean="0">
                <a:latin typeface="Arial" pitchFamily="34" charset="0"/>
                <a:cs typeface="Arial" pitchFamily="34" charset="0"/>
              </a:rPr>
              <a:t>of insecurity in a state of nature</a:t>
            </a:r>
            <a:r>
              <a:rPr lang="en-US" sz="2000" dirty="0" smtClean="0">
                <a:latin typeface="Arial" pitchFamily="34" charset="0"/>
                <a:cs typeface="Arial" pitchFamily="34" charset="0"/>
              </a:rPr>
              <a:t> which force people to form a government…</a:t>
            </a:r>
          </a:p>
          <a:p>
            <a:pPr lvl="1">
              <a:buFont typeface="Arial" pitchFamily="34" charset="0"/>
              <a:buChar char="•"/>
            </a:pPr>
            <a:endParaRPr lang="en-US" sz="2000" dirty="0" smtClean="0">
              <a:latin typeface="Arial" pitchFamily="34" charset="0"/>
              <a:cs typeface="Arial" pitchFamily="34" charset="0"/>
            </a:endParaRPr>
          </a:p>
          <a:p>
            <a:pPr lvl="1">
              <a:buFont typeface="Arial" pitchFamily="34" charset="0"/>
              <a:buChar char="•"/>
            </a:pPr>
            <a:r>
              <a:rPr lang="en-US" sz="2000" dirty="0" smtClean="0">
                <a:latin typeface="Arial" pitchFamily="34" charset="0"/>
                <a:cs typeface="Arial" pitchFamily="34" charset="0"/>
              </a:rPr>
              <a:t> A gov’t loses its power of being obeyed if it violates its subjects’ ‘</a:t>
            </a:r>
            <a:r>
              <a:rPr lang="en-US" sz="2000" b="1" dirty="0" smtClean="0">
                <a:latin typeface="Arial" pitchFamily="34" charset="0"/>
                <a:cs typeface="Arial" pitchFamily="34" charset="0"/>
              </a:rPr>
              <a:t>natural rights’</a:t>
            </a:r>
          </a:p>
          <a:p>
            <a:pPr lvl="1"/>
            <a:endParaRPr lang="en-US" sz="2000" dirty="0" smtClean="0">
              <a:latin typeface="Arial" pitchFamily="34" charset="0"/>
              <a:cs typeface="Arial" pitchFamily="34" charset="0"/>
            </a:endParaRPr>
          </a:p>
          <a:p>
            <a:pPr lvl="1" algn="just">
              <a:buFont typeface="Arial" pitchFamily="34" charset="0"/>
              <a:buChar char="•"/>
            </a:pPr>
            <a:r>
              <a:rPr lang="en-US" sz="2000" dirty="0" smtClean="0">
                <a:latin typeface="Arial" pitchFamily="34" charset="0"/>
                <a:cs typeface="Arial" pitchFamily="34" charset="0"/>
              </a:rPr>
              <a:t> During the </a:t>
            </a:r>
            <a:r>
              <a:rPr lang="en-US" sz="2000" b="1" dirty="0" smtClean="0">
                <a:latin typeface="Arial" pitchFamily="34" charset="0"/>
                <a:cs typeface="Arial" pitchFamily="34" charset="0"/>
              </a:rPr>
              <a:t>Age of the Enlightenment</a:t>
            </a:r>
            <a:r>
              <a:rPr lang="en-US" sz="2000" dirty="0" smtClean="0">
                <a:latin typeface="Arial" pitchFamily="34" charset="0"/>
                <a:cs typeface="Arial" pitchFamily="34" charset="0"/>
              </a:rPr>
              <a:t>, Such </a:t>
            </a:r>
            <a:r>
              <a:rPr lang="en-US" sz="2000" b="1" dirty="0" smtClean="0">
                <a:latin typeface="Arial" pitchFamily="34" charset="0"/>
                <a:cs typeface="Arial" pitchFamily="34" charset="0"/>
              </a:rPr>
              <a:t>doctrinal orientation </a:t>
            </a:r>
            <a:r>
              <a:rPr lang="en-US" sz="2000" dirty="0" smtClean="0">
                <a:latin typeface="Arial" pitchFamily="34" charset="0"/>
                <a:cs typeface="Arial" pitchFamily="34" charset="0"/>
              </a:rPr>
              <a:t>has been a basis for inclusion of </a:t>
            </a:r>
            <a:r>
              <a:rPr lang="en-US" sz="2000" b="1" dirty="0" smtClean="0">
                <a:latin typeface="Arial" pitchFamily="34" charset="0"/>
                <a:cs typeface="Arial" pitchFamily="34" charset="0"/>
              </a:rPr>
              <a:t>‘bill of rights’ </a:t>
            </a:r>
            <a:r>
              <a:rPr lang="en-US" sz="2000" dirty="0" smtClean="0">
                <a:latin typeface="Arial" pitchFamily="34" charset="0"/>
                <a:cs typeface="Arial" pitchFamily="34" charset="0"/>
              </a:rPr>
              <a:t>in many contemporary </a:t>
            </a:r>
            <a:r>
              <a:rPr lang="en-US" sz="2000" b="1" dirty="0" smtClean="0">
                <a:latin typeface="Arial" pitchFamily="34" charset="0"/>
                <a:cs typeface="Arial" pitchFamily="34" charset="0"/>
              </a:rPr>
              <a:t>constitutions and state practices</a:t>
            </a:r>
            <a:r>
              <a:rPr lang="en-US" sz="2000" dirty="0" smtClean="0">
                <a:latin typeface="Arial" pitchFamily="34" charset="0"/>
                <a:cs typeface="Arial" pitchFamily="34" charset="0"/>
              </a:rPr>
              <a:t>….</a:t>
            </a:r>
          </a:p>
          <a:p>
            <a:pPr lvl="2" algn="just">
              <a:buFont typeface="Arial" pitchFamily="34" charset="0"/>
              <a:buChar char="•"/>
            </a:pPr>
            <a:r>
              <a:rPr lang="en-US" sz="2000" dirty="0" smtClean="0">
                <a:latin typeface="Arial" pitchFamily="34" charset="0"/>
                <a:cs typeface="Arial" pitchFamily="34" charset="0"/>
              </a:rPr>
              <a:t> Ex. The series of amendments on US Constitution of 1787 (James Madison introducing </a:t>
            </a:r>
            <a:r>
              <a:rPr lang="en-US" sz="2000" b="1" dirty="0" smtClean="0">
                <a:latin typeface="Arial" pitchFamily="34" charset="0"/>
                <a:cs typeface="Arial" pitchFamily="34" charset="0"/>
              </a:rPr>
              <a:t>bill of rights 1798</a:t>
            </a:r>
            <a:r>
              <a:rPr lang="en-US" sz="2000" dirty="0" smtClean="0">
                <a:latin typeface="Arial" pitchFamily="34" charset="0"/>
                <a:cs typeface="Arial" pitchFamily="34" charset="0"/>
              </a:rPr>
              <a:t>) – listed </a:t>
            </a:r>
            <a:r>
              <a:rPr lang="en-US" sz="2000" b="1" dirty="0" smtClean="0">
                <a:latin typeface="Arial" pitchFamily="34" charset="0"/>
                <a:cs typeface="Arial" pitchFamily="34" charset="0"/>
              </a:rPr>
              <a:t>rights beyond reach of fed. </a:t>
            </a:r>
            <a:r>
              <a:rPr lang="en-US" sz="2000" b="1" dirty="0" err="1" smtClean="0">
                <a:latin typeface="Arial" pitchFamily="34" charset="0"/>
                <a:cs typeface="Arial" pitchFamily="34" charset="0"/>
              </a:rPr>
              <a:t>Gov’t</a:t>
            </a:r>
            <a:endParaRPr lang="en-US" sz="2000" b="1" dirty="0" smtClean="0">
              <a:latin typeface="Arial" pitchFamily="34" charset="0"/>
              <a:cs typeface="Arial" pitchFamily="34" charset="0"/>
            </a:endParaRPr>
          </a:p>
          <a:p>
            <a:pPr lvl="2"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French </a:t>
            </a:r>
            <a:r>
              <a:rPr lang="en-US" sz="2000" b="1" dirty="0" err="1" smtClean="0">
                <a:latin typeface="Arial" pitchFamily="34" charset="0"/>
                <a:cs typeface="Arial" pitchFamily="34" charset="0"/>
              </a:rPr>
              <a:t>Revln</a:t>
            </a:r>
            <a:r>
              <a:rPr lang="en-US" sz="2000" dirty="0" smtClean="0">
                <a:latin typeface="Arial" pitchFamily="34" charset="0"/>
                <a:cs typeface="Arial" pitchFamily="34" charset="0"/>
              </a:rPr>
              <a:t>. of 1798: Declaration of the Rights of Man and Citizens: stated fundamental natural rights superior to laws of the state…</a:t>
            </a:r>
          </a:p>
          <a:p>
            <a:pPr lvl="2"/>
            <a:r>
              <a:rPr lang="en-US" sz="2000" dirty="0" smtClean="0">
                <a:latin typeface="Arial" pitchFamily="34" charset="0"/>
                <a:cs typeface="Arial" pitchFamily="34" charset="0"/>
              </a:rPr>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632311"/>
          </a:xfrm>
          <a:prstGeom prst="rect">
            <a:avLst/>
          </a:prstGeom>
        </p:spPr>
        <p:txBody>
          <a:bodyPr wrap="square">
            <a:spAutoFit/>
          </a:bodyPr>
          <a:lstStyle/>
          <a:p>
            <a:r>
              <a:rPr lang="en-US" sz="2000" b="1" dirty="0" smtClean="0">
                <a:latin typeface="Arial" pitchFamily="34" charset="0"/>
                <a:cs typeface="Arial" pitchFamily="34" charset="0"/>
              </a:rPr>
              <a:t>Some Provisions of the Declaration</a:t>
            </a:r>
            <a:r>
              <a:rPr lang="en-US" sz="2000" dirty="0" smtClean="0">
                <a:latin typeface="Arial" pitchFamily="34" charset="0"/>
                <a:cs typeface="Arial" pitchFamily="34" charset="0"/>
              </a:rPr>
              <a:t>:</a:t>
            </a:r>
          </a:p>
          <a:p>
            <a:endParaRPr lang="en-US" sz="2000" dirty="0" smtClean="0">
              <a:latin typeface="Arial" pitchFamily="34" charset="0"/>
              <a:cs typeface="Arial" pitchFamily="34" charset="0"/>
            </a:endParaRPr>
          </a:p>
          <a:p>
            <a:pPr algn="just">
              <a:buFont typeface="Arial" pitchFamily="34" charset="0"/>
              <a:buChar char="•"/>
            </a:pPr>
            <a:r>
              <a:rPr lang="en-US" sz="2000" dirty="0" smtClean="0">
                <a:latin typeface="Arial" pitchFamily="34" charset="0"/>
                <a:cs typeface="Arial" pitchFamily="34" charset="0"/>
              </a:rPr>
              <a:t> Men are born and remain </a:t>
            </a:r>
            <a:r>
              <a:rPr lang="en-US" sz="2000" b="1" dirty="0" smtClean="0">
                <a:latin typeface="Arial" pitchFamily="34" charset="0"/>
                <a:cs typeface="Arial" pitchFamily="34" charset="0"/>
              </a:rPr>
              <a:t>free and equal in rights</a:t>
            </a:r>
            <a:r>
              <a:rPr lang="en-US" sz="2000" dirty="0" smtClean="0">
                <a:latin typeface="Arial" pitchFamily="34" charset="0"/>
                <a:cs typeface="Arial" pitchFamily="34" charset="0"/>
              </a:rPr>
              <a:t>. </a:t>
            </a:r>
            <a:r>
              <a:rPr lang="en-US" sz="2000" b="1" dirty="0" smtClean="0">
                <a:latin typeface="Arial" pitchFamily="34" charset="0"/>
                <a:cs typeface="Arial" pitchFamily="34" charset="0"/>
              </a:rPr>
              <a:t>Social distinctions </a:t>
            </a:r>
            <a:r>
              <a:rPr lang="en-US" sz="2000" dirty="0" smtClean="0">
                <a:latin typeface="Arial" pitchFamily="34" charset="0"/>
                <a:cs typeface="Arial" pitchFamily="34" charset="0"/>
              </a:rPr>
              <a:t>may be founded only upon the </a:t>
            </a:r>
            <a:r>
              <a:rPr lang="en-US" sz="2000" b="1" dirty="0" smtClean="0">
                <a:latin typeface="Arial" pitchFamily="34" charset="0"/>
                <a:cs typeface="Arial" pitchFamily="34" charset="0"/>
              </a:rPr>
              <a:t>general good</a:t>
            </a:r>
            <a:r>
              <a:rPr lang="en-US" sz="2000" dirty="0" smtClean="0">
                <a:latin typeface="Arial" pitchFamily="34" charset="0"/>
                <a:cs typeface="Arial" pitchFamily="34" charset="0"/>
              </a:rPr>
              <a:t>.</a:t>
            </a:r>
          </a:p>
          <a:p>
            <a:endParaRPr lang="en-US" sz="2000" dirty="0" smtClean="0">
              <a:latin typeface="Arial" pitchFamily="34" charset="0"/>
              <a:cs typeface="Arial" pitchFamily="34" charset="0"/>
            </a:endParaRPr>
          </a:p>
          <a:p>
            <a:pPr algn="just">
              <a:buFont typeface="Arial" pitchFamily="34" charset="0"/>
              <a:buChar char="•"/>
            </a:pPr>
            <a:r>
              <a:rPr lang="en-US" sz="2000" dirty="0" smtClean="0">
                <a:latin typeface="Arial" pitchFamily="34" charset="0"/>
                <a:cs typeface="Arial" pitchFamily="34" charset="0"/>
              </a:rPr>
              <a:t> The aim of all </a:t>
            </a:r>
            <a:r>
              <a:rPr lang="en-US" sz="2000" b="1" dirty="0" smtClean="0">
                <a:latin typeface="Arial" pitchFamily="34" charset="0"/>
                <a:cs typeface="Arial" pitchFamily="34" charset="0"/>
              </a:rPr>
              <a:t>political association is the preservation of the natural and imprescriptibly rights of man</a:t>
            </a:r>
            <a:r>
              <a:rPr lang="en-US" sz="2000" dirty="0" smtClean="0">
                <a:latin typeface="Arial" pitchFamily="34" charset="0"/>
                <a:cs typeface="Arial" pitchFamily="34" charset="0"/>
              </a:rPr>
              <a:t>. These rights are </a:t>
            </a:r>
            <a:r>
              <a:rPr lang="en-US" sz="2000" b="1" dirty="0" smtClean="0">
                <a:latin typeface="Arial" pitchFamily="34" charset="0"/>
                <a:cs typeface="Arial" pitchFamily="34" charset="0"/>
              </a:rPr>
              <a:t>liberty, property, security, and resistance to oppression.</a:t>
            </a:r>
          </a:p>
          <a:p>
            <a:pPr>
              <a:buFont typeface="Arial" pitchFamily="34" charset="0"/>
              <a:buChar char="•"/>
            </a:pPr>
            <a:endParaRPr lang="en-US" sz="2000" dirty="0" smtClean="0">
              <a:latin typeface="Arial" pitchFamily="34" charset="0"/>
              <a:cs typeface="Arial" pitchFamily="34" charset="0"/>
            </a:endParaRPr>
          </a:p>
          <a:p>
            <a:pPr algn="just">
              <a:buFont typeface="Arial" pitchFamily="34" charset="0"/>
              <a:buChar char="•"/>
            </a:pPr>
            <a:r>
              <a:rPr lang="en-US" sz="2000" dirty="0" smtClean="0">
                <a:latin typeface="Arial" pitchFamily="34" charset="0"/>
                <a:cs typeface="Arial" pitchFamily="34" charset="0"/>
              </a:rPr>
              <a:t>The principle of all </a:t>
            </a:r>
            <a:r>
              <a:rPr lang="en-US" sz="2000" b="1" dirty="0" smtClean="0">
                <a:latin typeface="Arial" pitchFamily="34" charset="0"/>
                <a:cs typeface="Arial" pitchFamily="34" charset="0"/>
              </a:rPr>
              <a:t>sovereignty resides essentially in the nation</a:t>
            </a:r>
            <a:r>
              <a:rPr lang="en-US" sz="2000" dirty="0" smtClean="0">
                <a:latin typeface="Arial" pitchFamily="34" charset="0"/>
                <a:cs typeface="Arial" pitchFamily="34" charset="0"/>
              </a:rPr>
              <a:t>. No body nor individual may exercise any authority which does not proceed directly from the nation.</a:t>
            </a:r>
          </a:p>
          <a:p>
            <a:pPr algn="just">
              <a:buFont typeface="Arial" pitchFamily="34" charset="0"/>
              <a:buChar char="•"/>
            </a:pPr>
            <a:endParaRPr lang="en-US" sz="2000" dirty="0" smtClean="0">
              <a:latin typeface="Arial" pitchFamily="34" charset="0"/>
              <a:cs typeface="Arial" pitchFamily="34" charset="0"/>
            </a:endParaRPr>
          </a:p>
          <a:p>
            <a:pPr algn="just">
              <a:buFont typeface="Arial" pitchFamily="34" charset="0"/>
              <a:buChar char="•"/>
            </a:pPr>
            <a:r>
              <a:rPr lang="en-US" sz="2000" dirty="0" smtClean="0">
                <a:latin typeface="Arial" pitchFamily="34" charset="0"/>
                <a:cs typeface="Arial" pitchFamily="34" charset="0"/>
              </a:rPr>
              <a:t> Liberty consists in the freedom to do everything which injures no one else; hence the exercise of the natural rights of each man has no limits except those which assure to the other members of the society the enjoyment of the same rights. </a:t>
            </a:r>
            <a:r>
              <a:rPr lang="en-US" sz="2000" b="1" dirty="0" smtClean="0">
                <a:latin typeface="Arial" pitchFamily="34" charset="0"/>
                <a:cs typeface="Arial" pitchFamily="34" charset="0"/>
              </a:rPr>
              <a:t>These limits can only be determined by law</a:t>
            </a:r>
            <a:r>
              <a:rPr lang="en-US" sz="2000" dirty="0" smtClean="0">
                <a:latin typeface="Arial" pitchFamily="34" charset="0"/>
                <a:cs typeface="Arial" pitchFamily="34" charset="0"/>
              </a:rPr>
              <a:t>.</a:t>
            </a:r>
          </a:p>
          <a:p>
            <a:pPr algn="just">
              <a:buFont typeface="Arial" pitchFamily="34" charset="0"/>
              <a:buChar char="•"/>
            </a:pPr>
            <a:endParaRPr lang="en-U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52400"/>
            <a:ext cx="9144000" cy="5324535"/>
          </a:xfrm>
          <a:prstGeom prst="rect">
            <a:avLst/>
          </a:prstGeom>
        </p:spPr>
        <p:txBody>
          <a:bodyPr wrap="square">
            <a:spAutoFit/>
          </a:bodyPr>
          <a:lstStyle/>
          <a:p>
            <a:pPr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Developments since the late 18</a:t>
            </a:r>
            <a:r>
              <a:rPr lang="en-US" sz="2000" b="1" baseline="30000" dirty="0" smtClean="0">
                <a:latin typeface="Arial" pitchFamily="34" charset="0"/>
                <a:cs typeface="Arial" pitchFamily="34" charset="0"/>
              </a:rPr>
              <a:t>th</a:t>
            </a:r>
            <a:r>
              <a:rPr lang="en-US" sz="2000" b="1" dirty="0" smtClean="0">
                <a:latin typeface="Arial" pitchFamily="34" charset="0"/>
                <a:cs typeface="Arial" pitchFamily="34" charset="0"/>
              </a:rPr>
              <a:t> C</a:t>
            </a:r>
            <a:r>
              <a:rPr lang="en-US" sz="2000" dirty="0" smtClean="0">
                <a:latin typeface="Arial" pitchFamily="34" charset="0"/>
                <a:cs typeface="Arial" pitchFamily="34" charset="0"/>
              </a:rPr>
              <a:t>: </a:t>
            </a:r>
            <a:r>
              <a:rPr lang="en-US" sz="2000" b="1" dirty="0" smtClean="0">
                <a:latin typeface="Arial" pitchFamily="34" charset="0"/>
                <a:cs typeface="Arial" pitchFamily="34" charset="0"/>
              </a:rPr>
              <a:t>Positivism</a:t>
            </a:r>
            <a:r>
              <a:rPr lang="en-US" sz="2000" dirty="0" smtClean="0">
                <a:latin typeface="Arial" pitchFamily="34" charset="0"/>
                <a:cs typeface="Arial" pitchFamily="34" charset="0"/>
              </a:rPr>
              <a:t> </a:t>
            </a:r>
            <a:r>
              <a:rPr lang="en-US" sz="2000" b="1" dirty="0" smtClean="0">
                <a:latin typeface="Arial" pitchFamily="34" charset="0"/>
                <a:cs typeface="Arial" pitchFamily="34" charset="0"/>
              </a:rPr>
              <a:t>and Its Consequences</a:t>
            </a:r>
          </a:p>
          <a:p>
            <a:pPr algn="just">
              <a:buFont typeface="Arial" pitchFamily="34" charset="0"/>
              <a:buChar char="•"/>
            </a:pPr>
            <a:endParaRPr lang="en-US" sz="2000" dirty="0" smtClean="0">
              <a:latin typeface="Arial" pitchFamily="34" charset="0"/>
              <a:cs typeface="Arial" pitchFamily="34" charset="0"/>
            </a:endParaRPr>
          </a:p>
          <a:p>
            <a:pPr lvl="1"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Theories of natural rights and social contract became less of practical effect.</a:t>
            </a:r>
          </a:p>
          <a:p>
            <a:pPr lvl="1" algn="just">
              <a:buFont typeface="Arial" pitchFamily="34" charset="0"/>
              <a:buChar char="•"/>
            </a:pPr>
            <a:endParaRPr lang="en-US" sz="2000" dirty="0" smtClean="0">
              <a:latin typeface="Arial" pitchFamily="34" charset="0"/>
              <a:cs typeface="Arial" pitchFamily="34" charset="0"/>
            </a:endParaRPr>
          </a:p>
          <a:p>
            <a:pPr lvl="1"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David Hume and Jeremy Bentham </a:t>
            </a:r>
            <a:r>
              <a:rPr lang="en-US" sz="2000" dirty="0" smtClean="0">
                <a:latin typeface="Arial" pitchFamily="34" charset="0"/>
                <a:cs typeface="Arial" pitchFamily="34" charset="0"/>
              </a:rPr>
              <a:t>ridiculed idea of </a:t>
            </a:r>
            <a:r>
              <a:rPr lang="en-US" sz="2000" b="1" dirty="0" smtClean="0">
                <a:latin typeface="Arial" pitchFamily="34" charset="0"/>
                <a:cs typeface="Arial" pitchFamily="34" charset="0"/>
              </a:rPr>
              <a:t>social contract taking place anywhere in world as basis for founding government</a:t>
            </a:r>
          </a:p>
          <a:p>
            <a:pPr lvl="1"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principle of utility </a:t>
            </a:r>
            <a:r>
              <a:rPr lang="en-US" sz="2000" dirty="0" smtClean="0">
                <a:latin typeface="Arial" pitchFamily="34" charset="0"/>
                <a:cs typeface="Arial" pitchFamily="34" charset="0"/>
              </a:rPr>
              <a:t>(</a:t>
            </a:r>
            <a:r>
              <a:rPr lang="en-US" sz="2000" b="1" dirty="0" smtClean="0">
                <a:latin typeface="Arial" pitchFamily="34" charset="0"/>
                <a:cs typeface="Arial" pitchFamily="34" charset="0"/>
              </a:rPr>
              <a:t>most useful to most persons) provided far better test for quality of laws than contestable natural laws</a:t>
            </a:r>
          </a:p>
          <a:p>
            <a:pPr lvl="1" algn="just">
              <a:buFont typeface="Arial" pitchFamily="34" charset="0"/>
              <a:buChar char="•"/>
            </a:pPr>
            <a:r>
              <a:rPr lang="en-US" sz="2000" dirty="0" smtClean="0">
                <a:latin typeface="Arial" pitchFamily="34" charset="0"/>
                <a:cs typeface="Arial" pitchFamily="34" charset="0"/>
              </a:rPr>
              <a:t> Laws, they argued and so did John Austin, are </a:t>
            </a:r>
            <a:r>
              <a:rPr lang="en-US" sz="2000" b="1" dirty="0" smtClean="0">
                <a:latin typeface="Arial" pitchFamily="34" charset="0"/>
                <a:cs typeface="Arial" pitchFamily="34" charset="0"/>
              </a:rPr>
              <a:t>whatever the sovereign provides in any society, and w/c must be obeyed</a:t>
            </a:r>
            <a:r>
              <a:rPr lang="en-US" sz="2000" dirty="0" smtClean="0">
                <a:latin typeface="Arial" pitchFamily="34" charset="0"/>
                <a:cs typeface="Arial" pitchFamily="34" charset="0"/>
              </a:rPr>
              <a:t>;</a:t>
            </a:r>
          </a:p>
          <a:p>
            <a:pPr lvl="1" algn="just"/>
            <a:r>
              <a:rPr lang="en-US" sz="2000" dirty="0" smtClean="0">
                <a:latin typeface="Arial" pitchFamily="34" charset="0"/>
                <a:cs typeface="Arial" pitchFamily="34" charset="0"/>
              </a:rPr>
              <a:t> </a:t>
            </a:r>
          </a:p>
          <a:p>
            <a:pPr lvl="1" algn="just">
              <a:buFont typeface="Arial" pitchFamily="34" charset="0"/>
              <a:buChar char="•"/>
            </a:pPr>
            <a:r>
              <a:rPr lang="en-US" sz="2000" dirty="0" smtClean="0">
                <a:latin typeface="Arial" pitchFamily="34" charset="0"/>
                <a:cs typeface="Arial" pitchFamily="34" charset="0"/>
              </a:rPr>
              <a:t> </a:t>
            </a:r>
            <a:r>
              <a:rPr lang="en-US" sz="2000" b="1" dirty="0" smtClean="0">
                <a:latin typeface="Arial" pitchFamily="34" charset="0"/>
                <a:cs typeface="Arial" pitchFamily="34" charset="0"/>
              </a:rPr>
              <a:t>Rights are therefore consequences of sovereign legislation, not preconds of sovereignty </a:t>
            </a:r>
          </a:p>
          <a:p>
            <a:pPr lvl="1" algn="just">
              <a:buFont typeface="Arial" pitchFamily="34" charset="0"/>
              <a:buChar char="•"/>
            </a:pPr>
            <a:endParaRPr lang="en-US" sz="2000" dirty="0" smtClean="0">
              <a:latin typeface="Arial" pitchFamily="34" charset="0"/>
              <a:cs typeface="Arial" pitchFamily="34" charset="0"/>
            </a:endParaRPr>
          </a:p>
          <a:p>
            <a:pPr lvl="1" algn="just">
              <a:buFont typeface="Arial" pitchFamily="34" charset="0"/>
              <a:buChar char="•"/>
            </a:pPr>
            <a:endParaRPr lang="en-US" sz="2000" dirty="0" smtClean="0">
              <a:latin typeface="Arial" pitchFamily="34" charset="0"/>
              <a:cs typeface="Arial" pitchFamily="34" charset="0"/>
            </a:endParaRPr>
          </a:p>
          <a:p>
            <a:pPr lvl="1" algn="just">
              <a:buFont typeface="Arial" pitchFamily="34" charset="0"/>
              <a:buChar char="•"/>
            </a:pPr>
            <a:endParaRPr lang="en-U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ChangeArrowheads="1"/>
          </p:cNvSpPr>
          <p:nvPr/>
        </p:nvSpPr>
        <p:spPr bwMode="auto">
          <a:xfrm>
            <a:off x="0" y="-169970"/>
            <a:ext cx="9144000" cy="71711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Evolution of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a:t>
            </a: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human rights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law</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Introduction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Assessment of the evolution of human rights in international law seen as an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historicist account of the subject’s growth and change over time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Such a timeline enables verification of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original ambitions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its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dynamic growth and expansion over time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Chapter proposes starting point for international human rights in early international law –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Explains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gradual evolution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 terms of an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incremental transfer of power and autonomy in human rights matters from municipal to int’l law</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Initially for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convenience of states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but later evolved into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‘objective’ standards.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 such a review, important to establish the terms of state relationship with individuals – either as citizens or as aliens for protection of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One thing is clear</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 the society after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Peace of Westphalia(1648)</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neither international law nor the idea of human rights in it had an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automatic</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or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inevitable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place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Each stage in the development of international human rights has depended on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specific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concessions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granted</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by States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Some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concessions were voluntary, most made reluctantly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because alternatives to relying on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law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seemed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less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attractive</a:t>
            </a:r>
            <a:r>
              <a:rPr kumimoji="0" lang="en-GB"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b="1"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0" y="-183338"/>
            <a:ext cx="9144000" cy="71711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Symbol" pitchFamily="18" charset="2"/>
              <a:buChar char=""/>
              <a:tabLst/>
            </a:pPr>
            <a:endPar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457200" marR="0" lvl="1" indent="0" algn="just" defTabSz="914400" rtl="0" eaLnBrk="1" fontAlgn="base" latinLnBrk="0" hangingPunct="1">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Hence,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internationalisation of individual rights has been product of gradual social transformation</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 legal consequences of processes involved may be represented in two broad stages: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facilitative and the legalisation stages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Refers respectively to the period up until the UN Charter and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 period thereafter [i.e.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legalisation stage from 1945 onwards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p>
          <a:p>
            <a:pPr marL="457200" marR="0" lvl="1"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Shift from domestic to the international milieu</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First stage in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internationalisation of human rights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was no more than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forum shift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for the processing of individual rights from domestic to the international forum.</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Adjustment necessitated by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inadequacies of the domestic law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framework and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‘inconvenient’ consequences of conflict between ‘territorial sovereignty’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and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an emerging ability ‘to move across territorial boundaries’.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Inability of the domestic regime to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secure safety and rights of individuals abroad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proved to be launch pad for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internationalisation of human rights,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To this extent, therefore,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process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neither recent nor new – is as old as international law itself</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This confirmed by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law of diplomatic protection upon which modern human rights law is founded</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0" y="-256094"/>
            <a:ext cx="9144000" cy="747897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The Early Modern Period</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 principle, primary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responsibility for the guarantee of individual rights was initially seen a matter of national</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rather than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competence</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This was because of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reciprocal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commitments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of individual loyalty to the state in return for protection by the state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National legal regime perceived by and large as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self-sufficient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Yet, self-sufficiency of national regimes for the guarantee of individual rights was limited to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territorial boundaries of each state</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Hence, a different regime of international norms necessary to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complement</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national rules to ensure rights of individuals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outside citizenship countries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This is the proactive role of international law -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 the facilitation of the rights of aliens…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Further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customary international law interest in the guarantee of individual rights is also to account, but was of a passive (non-proactive) character</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 effect, national law maintained primary but not exclusive responsibility for the guarantee of individual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 necessity of international law in the post-</a:t>
            </a:r>
            <a:r>
              <a:rPr kumimoji="0" lang="en-GB" sz="2000" b="0" i="0" u="none" strike="noStrike" cap="none" normalizeH="0" baseline="0" dirty="0" err="1" smtClean="0">
                <a:ln>
                  <a:noFill/>
                </a:ln>
                <a:solidFill>
                  <a:schemeClr val="tx1"/>
                </a:solidFill>
                <a:effectLst/>
                <a:latin typeface="Arial" pitchFamily="34" charset="0"/>
                <a:ea typeface="Calibri" pitchFamily="34" charset="0"/>
                <a:cs typeface="Arial" pitchFamily="34" charset="0"/>
              </a:rPr>
              <a:t>Westphalian</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co-existence (still premised on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sovereign equality</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was based on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recognition of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common interest or common values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that cannot be promoted unilaterally</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Still, between national and international law standards, the latter remained the weaker and subsidiary partner…</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0" y="404915"/>
            <a:ext cx="914400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Subsidiary position </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meant international law maintains a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back-up role </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assuming responsibilities in human rights when states are unable or unwilling to carry out their primary functions.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Yet, relationship between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international law and national human rights regimes were never static, but one in dynamic evolution</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In many instances when national regimes were considered self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sufficient – they were challenged by practical contradictions, inter-state conveniences or sheer inability of national regimes.</a:t>
            </a:r>
            <a:endParaRPr kumimoji="0" lang="en-GB" sz="2000" b="1"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Hence necessitating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remedial intervention on international norms</a:t>
            </a:r>
            <a:endParaRPr kumimoji="0" lang="en-GB" sz="2000" b="1"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Sure this process of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reform of relationships and transfer of human rights responsibility was unpredictable, slow, occasional and largely ad-hoc</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Since they also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go against sovereignty of states, are conceded only reluctantly</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This explained why a well-established body of international law norms relating to human rights has fallen short of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an independent system</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of international protection. </a:t>
            </a:r>
            <a:endParaRPr kumimoji="0" lang="en-GB" sz="2000" b="1" i="0" u="none" strike="noStrike" cap="none" normalizeH="0" baseline="0" dirty="0" smtClean="0">
              <a:ln>
                <a:noFill/>
              </a:ln>
              <a:solidFill>
                <a:schemeClr val="tx1"/>
              </a:solidFill>
              <a:effectLst/>
              <a:latin typeface="Arial Narrow"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However,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weaknesses in the traditional social contract theory framework for the guarantee of the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rights</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of</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citizens</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became more evident in the 19</a:t>
            </a:r>
            <a:r>
              <a:rPr kumimoji="0" lang="en-GB" sz="2000" b="1" i="0" u="none" strike="noStrike" cap="none" normalizeH="0" baseline="30000" dirty="0" smtClean="0">
                <a:ln>
                  <a:noFill/>
                </a:ln>
                <a:solidFill>
                  <a:schemeClr val="tx1"/>
                </a:solidFill>
                <a:effectLst/>
                <a:latin typeface="Arial Narrow" pitchFamily="34" charset="0"/>
                <a:ea typeface="Calibri" pitchFamily="34" charset="0"/>
                <a:cs typeface="Arial" pitchFamily="34" charset="0"/>
              </a:rPr>
              <a:t>th</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c. as states began to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enhance</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Narrow" pitchFamily="34" charset="0"/>
                <a:ea typeface="Calibri" pitchFamily="34" charset="0"/>
                <a:cs typeface="Arial" pitchFamily="34" charset="0"/>
              </a:rPr>
              <a:t>relations</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with each other</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Self interest in </a:t>
            </a:r>
            <a:r>
              <a:rPr kumimoji="0" lang="en-GB" sz="2000" b="1"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matters such as trade, the increased interaction brought inevitable awareness of how other states responded to their social contract responsibilities to their citizens</a:t>
            </a:r>
            <a:r>
              <a:rPr kumimoji="0" lang="en-GB" sz="2000" b="0" i="0" u="none" strike="noStrike" cap="none" normalizeH="0" baseline="0" dirty="0" smtClean="0">
                <a:ln>
                  <a:noFill/>
                </a:ln>
                <a:solidFill>
                  <a:schemeClr val="tx1"/>
                </a:solidFill>
                <a:effectLst/>
                <a:latin typeface="Arial Narrow"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Narrow"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0" y="228868"/>
            <a:ext cx="914400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 campaigns to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abolish the slave trade</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and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the protection of religious and other national minorities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exemplify the emergence of common moral standards.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 case of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aliens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‘private’ reprisals also came to be replaced by ‘public’ reprisals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where national authorities of the victim assumed the responsibility of ensuring just satisfaction for victims of denial justice.</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lvl="3" algn="just" eaLnBrk="0" fontAlgn="base" hangingPunct="0">
              <a:spcBef>
                <a:spcPct val="0"/>
              </a:spcBef>
              <a:spcAft>
                <a:spcPct val="0"/>
              </a:spcAft>
              <a:buFont typeface="Courier New" pitchFamily="49" charset="0"/>
              <a:buChar char="o"/>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This set foundation for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modern</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standards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concerning victim status, the exhaustion of domestic remedies, and due process as a human right</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The Victims of War: another phase of transfer of national powers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Today, there is a body of codified norms and standards that regulate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conduct of armed conflict.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These ‘Red Cross’ standards concerning </a:t>
            </a:r>
            <a:r>
              <a:rPr kumimoji="0" lang="en-GB" sz="2000" b="1" i="1" u="none" strike="noStrike" cap="none" normalizeH="0" baseline="0" dirty="0" err="1" smtClean="0">
                <a:ln>
                  <a:noFill/>
                </a:ln>
                <a:solidFill>
                  <a:schemeClr val="tx1"/>
                </a:solidFill>
                <a:effectLst/>
                <a:latin typeface="Arial" pitchFamily="34" charset="0"/>
                <a:ea typeface="MinionPro-It"/>
                <a:cs typeface="Arial" pitchFamily="34" charset="0"/>
              </a:rPr>
              <a:t>ius</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in </a:t>
            </a:r>
            <a:r>
              <a:rPr kumimoji="0" lang="en-GB" sz="2000" b="1" i="1" u="none" strike="noStrike" cap="none" normalizeH="0" baseline="0" dirty="0" err="1" smtClean="0">
                <a:ln>
                  <a:noFill/>
                </a:ln>
                <a:solidFill>
                  <a:schemeClr val="tx1"/>
                </a:solidFill>
                <a:effectLst/>
                <a:latin typeface="Arial" pitchFamily="34" charset="0"/>
                <a:ea typeface="MinionPro-It"/>
                <a:cs typeface="Arial" pitchFamily="34" charset="0"/>
              </a:rPr>
              <a:t>bello</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are complemented by the standards of </a:t>
            </a:r>
            <a:r>
              <a:rPr kumimoji="0" lang="en-GB" sz="2000" b="1" i="1" u="none" strike="noStrike" cap="none" normalizeH="0" baseline="0" dirty="0" err="1" smtClean="0">
                <a:ln>
                  <a:noFill/>
                </a:ln>
                <a:solidFill>
                  <a:schemeClr val="tx1"/>
                </a:solidFill>
                <a:effectLst/>
                <a:latin typeface="Arial" pitchFamily="34" charset="0"/>
                <a:ea typeface="MinionPro-It"/>
                <a:cs typeface="Arial" pitchFamily="34" charset="0"/>
              </a:rPr>
              <a:t>ius</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ad bellum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set out in the UN Charter to define when a state may legitimately resort to force under international law.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Both the ‘Red Cross’ norms and the Charter law form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humanitarian law, sharing common humanitarian concerns for the welfare of all individuals in times of conflict.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four Geneva Conventions of 1949, specifically their common Article 3, confirm human rights standards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0" y="0"/>
            <a:ext cx="9144000" cy="6065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1" algn="just" fontAlgn="base">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humanitarian law generally forms part of modern human rights law</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It was however only after the atrocities enacted by the wars in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Cambodia, the Former Yugoslavia, Rwanda and Sierra Leone that shortcomings of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national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primary</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responsibility</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for genocide, war crimes and crimes against humanity became evident</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And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Ad-Hoc International Criminal Tribunals for the Former Yugoslavia (ICTY) and Rwanda (ICTR), and the Special Tribunals for Sierra Leone and Cambodia – establishment of ICC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all represent another phase of transfer of human rights responsibility to international law.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Still,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internationalisation of human rights took the form of occasional, ad-hoc and isolated events, rather than a purposeful integration of norms and processes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Its focus remained heavily on states;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concern for individuals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was a means to secure the identity of the state as the ultimate bearer of international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Furthermore,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internationalisation was predominantly in the form of customary international law standards and bilateral agreements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0" y="56544"/>
            <a:ext cx="9144000" cy="68634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Period of active normative legislation</a:t>
            </a: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UN Charter marks the beginning of the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second</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stage</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of human rights internationalisation.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Scope of the internationalisation process at this stage is much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wider and its effects radically transformative.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standardisation of human rights norms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setting out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common, often negotiated positions between international law actors turned out to be an important facility in the internationalisation proces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This is in contrast to the early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facilitative stage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standardisation was then employed for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limited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political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purposes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to facilitate parochial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national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objectives</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This new perspective of standardisation helps to identify roles of new actors; is aimed at radically different objectives and priorities.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 1945,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aspiration of promoting the respect for human rights was truly ambitious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aspiration to transform abstract human rights ideals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known to political and religious philosophy</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into tangible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outcomes required three things</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 radical restructuring of relations between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actors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identification and definition of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standard</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 and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establishment of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institutions and processes through which to implement these objectives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0" y="139818"/>
            <a:ext cx="9144000" cy="67181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1" algn="just" fontAlgn="base">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UN Charter was itself an exercise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 standardisation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that defined this important transition.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At The Dawn of the United Nations Charte</a:t>
            </a:r>
            <a:r>
              <a:rPr kumimoji="0" lang="en-GB" sz="2000" b="0" i="1" u="none" strike="noStrike" cap="none" normalizeH="0" baseline="0" dirty="0" smtClean="0">
                <a:ln>
                  <a:noFill/>
                </a:ln>
                <a:solidFill>
                  <a:schemeClr val="tx1"/>
                </a:solidFill>
                <a:effectLst/>
                <a:latin typeface="Arial" pitchFamily="34" charset="0"/>
                <a:ea typeface="MinionPro-It"/>
                <a:cs typeface="Arial" pitchFamily="34" charset="0"/>
              </a:rPr>
              <a:t>r</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the dawn of the UN Charter three factors were notably relevant to influence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development of international human ri</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ghts law:</a:t>
            </a:r>
          </a:p>
          <a:p>
            <a:pPr marL="457200" marR="0" lvl="1"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AutoNum type="arabicPeriod"/>
              <a:tabLst/>
            </a:pP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a:t>
            </a:r>
            <a:r>
              <a:rPr kumimoji="0" lang="en-GB" sz="2000" b="1" i="1" u="none" strike="noStrike" cap="none" normalizeH="0" baseline="0" dirty="0" err="1" smtClean="0">
                <a:ln>
                  <a:noFill/>
                </a:ln>
                <a:solidFill>
                  <a:schemeClr val="tx1"/>
                </a:solidFill>
                <a:effectLst/>
                <a:latin typeface="Arial" pitchFamily="34" charset="0"/>
                <a:ea typeface="MinionPro-It"/>
                <a:cs typeface="Arial" pitchFamily="34" charset="0"/>
              </a:rPr>
              <a:t>droit</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1" i="1" u="none" strike="noStrike" cap="none" normalizeH="0" baseline="0" dirty="0" err="1" smtClean="0">
                <a:ln>
                  <a:noFill/>
                </a:ln>
                <a:solidFill>
                  <a:schemeClr val="tx1"/>
                </a:solidFill>
                <a:effectLst/>
                <a:latin typeface="Arial" pitchFamily="34" charset="0"/>
                <a:ea typeface="MinionPro-It"/>
                <a:cs typeface="Arial" pitchFamily="34" charset="0"/>
              </a:rPr>
              <a:t>acquis</a:t>
            </a: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of human rights at international law</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By the 1940’s,</a:t>
            </a:r>
            <a:r>
              <a:rPr kumimoji="0" lang="en-GB" sz="2000" b="0"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there was enough international law involvement in the welfare of individuals;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It was hence unjustifiable to suggest that international law had no interest in human rights or that guarantee of the rights of</a:t>
            </a:r>
            <a:r>
              <a:rPr kumimoji="0" lang="en-GB" sz="2000" b="0" i="1" u="none" strike="noStrike" cap="none" normalizeH="0" baseline="0" dirty="0" smtClean="0">
                <a:ln>
                  <a:noFill/>
                </a:ln>
                <a:solidFill>
                  <a:schemeClr val="tx1"/>
                </a:solidFill>
                <a:effectLst/>
                <a:latin typeface="Arial" pitchFamily="34" charset="0"/>
                <a:ea typeface="MinionPro-It"/>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citizens was simply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 domestic concern.</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By this time, a structured complementary relationship had already evolved between national and international law, neither had exclusive responsibility. </a:t>
            </a:r>
          </a:p>
          <a:p>
            <a:pPr marL="0" marR="0" lvl="0"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lang="en-GB" sz="2000" dirty="0" smtClean="0">
                <a:latin typeface="Arial" pitchFamily="34" charset="0"/>
                <a:ea typeface="Calibri" pitchFamily="34" charset="0"/>
                <a:cs typeface="Arial" pitchFamily="34" charset="0"/>
              </a:rPr>
              <a:t>2. T</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he confrontation of acute global problems touching on human rights;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The confrontation of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acute human rights problems that undermined the credibility of the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social contract theory</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and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the primary responsibility</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of national authorities to guarantee individual rights.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the dawn of the United Nations Charter, the world, but especially Europe plunged into total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chaos and instability because of the Second World War</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0" y="0"/>
            <a:ext cx="9144000" cy="67499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human rights implications of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physical devastation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of this war were fairly evident; however, the moral and political lessons of the war were equally compelling.</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One unequivocal lesson from this war was how easy it had been for governments to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disregard the primary article of political governance – the social contract. </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sacred trust of sovereignty</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invested in governments in return for the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protection of their citizens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seemed totally insignificant; governments brutalised and murdered their own citizens.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culture of fear and terror became standard governmental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tools, proved shocking to the moral sensibilities of the time.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Threatened a gradual collapse of democratic values since WWI.</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limited response of containment under the League of Nations proved ineffective.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If the looming decent into </a:t>
            </a:r>
            <a:r>
              <a:rPr kumimoji="0" lang="en-GB" sz="2000" b="0" i="0" u="none" strike="noStrike" cap="none" normalizeH="0" baseline="0" dirty="0" err="1" smtClean="0">
                <a:ln>
                  <a:noFill/>
                </a:ln>
                <a:solidFill>
                  <a:schemeClr val="tx1"/>
                </a:solidFill>
                <a:effectLst/>
                <a:latin typeface="Arial" pitchFamily="34" charset="0"/>
                <a:ea typeface="Calibri" pitchFamily="34" charset="0"/>
                <a:cs typeface="Arial" pitchFamily="34" charset="0"/>
              </a:rPr>
              <a:t>Hobbsian</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chaos was required, an entirely radical strategy was called for - that which accepted shortcomings of the principles upon which individual rights were expected to be guaranteed.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doctrinal presumptions of the </a:t>
            </a:r>
            <a:r>
              <a:rPr kumimoji="0" lang="en-GB" sz="2000" b="0" i="0" u="none" strike="noStrike" cap="none" normalizeH="0" baseline="0" dirty="0" err="1" smtClean="0">
                <a:ln>
                  <a:noFill/>
                </a:ln>
                <a:solidFill>
                  <a:schemeClr val="tx1"/>
                </a:solidFill>
                <a:effectLst/>
                <a:latin typeface="Arial" pitchFamily="34" charset="0"/>
                <a:ea typeface="Calibri" pitchFamily="34" charset="0"/>
                <a:cs typeface="Arial" pitchFamily="34" charset="0"/>
              </a:rPr>
              <a:t>Lockean</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social contract ideals had proved flawed and untenable - the two wars taught that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Governments could not be accounted as objective guarantors of citizens’ rights, and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0" y="489530"/>
            <a:ext cx="9144000" cy="59400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14400" marR="0" lvl="2" indent="0" algn="just" defTabSz="914400" rtl="0" eaLnBrk="1" fontAlgn="base" latinLnBrk="0" hangingPunct="1">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territorial</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delimitation</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of governmental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human rights responsibility as an attribute of sovereignty was itself incompatible with effective human rights protection.</a:t>
            </a:r>
          </a:p>
          <a:p>
            <a:pPr marL="914400" marR="0" lvl="2" indent="0" algn="just" defTabSz="914400" rtl="0" eaLnBrk="1" fontAlgn="base" latinLnBrk="0" hangingPunct="1">
              <a:lnSpc>
                <a:spcPct val="100000"/>
              </a:lnSpc>
              <a:spcBef>
                <a:spcPct val="0"/>
              </a:spcBef>
              <a:spcAft>
                <a:spcPct val="0"/>
              </a:spcAft>
              <a:buClrTx/>
              <a:buSzTx/>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The campaign for the universalization of human rights standards.</a:t>
            </a:r>
          </a:p>
          <a:p>
            <a:pPr marL="0" marR="0" lvl="0"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Global character of problems of human rights had already been recognised by inter-war activities, fuelled by influential campaigns for more credible system of human rights guarantee based on the recognition of the universality of individual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These campaigns constituted the 3</a:t>
            </a:r>
            <a:r>
              <a:rPr kumimoji="0" lang="en-GB" sz="2000" b="0" i="0" u="none" strike="noStrike" cap="none" normalizeH="0" baseline="30000" dirty="0" smtClean="0">
                <a:ln>
                  <a:noFill/>
                </a:ln>
                <a:solidFill>
                  <a:schemeClr val="tx1"/>
                </a:solidFill>
                <a:effectLst/>
                <a:latin typeface="Arial" pitchFamily="34" charset="0"/>
                <a:ea typeface="Calibri" pitchFamily="34" charset="0"/>
                <a:cs typeface="Arial" pitchFamily="34" charset="0"/>
              </a:rPr>
              <a:t>rd</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category of notable factors in the designation of human rights policy in the Charter of the United Nations.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common narratives about the Covenant of the League of Nations is that it had no more than a peripheral interest in human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This is far from correct; political factors may have prevented the adoption of human rights as a central theme,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But the global character of human rights concerns was already then exercising the minds of some of the delegates to the Paris Peace conference.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ChangeArrowheads="1"/>
          </p:cNvSpPr>
          <p:nvPr/>
        </p:nvSpPr>
        <p:spPr bwMode="auto">
          <a:xfrm>
            <a:off x="0" y="-211021"/>
            <a:ext cx="9144000" cy="71711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14400" marR="0" lvl="2" indent="0" algn="just" defTabSz="914400" rtl="0" eaLnBrk="1" fontAlgn="base" latinLnBrk="0" hangingPunct="1">
              <a:lnSpc>
                <a:spcPct val="100000"/>
              </a:lnSpc>
              <a:spcBef>
                <a:spcPct val="0"/>
              </a:spcBef>
              <a:spcAft>
                <a:spcPct val="0"/>
              </a:spcAft>
              <a:buClrTx/>
              <a:buSzTx/>
              <a:buFont typeface="Courier New" pitchFamily="49" charset="0"/>
              <a:buChar char="o"/>
              <a:tabLst/>
            </a:pPr>
            <a:endPar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914400" marR="0" lvl="2" indent="0" algn="just" defTabSz="914400" rtl="0" eaLnBrk="1" fontAlgn="base" latinLnBrk="0" hangingPunct="1">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Article 23 of the Covenant refers to undertaking to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secure and maintain fair and humane conditions of labour for men, women and children </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 .’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Provision reflected sentiments of universality that transposed to the Constitution of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International Labour organisation</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But was part of a broader human rights idea requiring the ‘just treatment of the native inhabitants of territories’, the regulation of ‘traffic in women, children’ and dangerous drugs as well as the traffic in arms.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 less obvious endorsement of universality of human rights found in the common undertakings of the minority treaties signed with selected countries.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Finally, the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US President Roosevelt is credited with a campaign for a universal framework of human rights that proved immensely attractive and influential</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so-called ‘</a:t>
            </a: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four freedoms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campaign was the international by-product of his domestic new deal policy in which he envisioned the benefit of human rights and humanitarian standards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to</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all</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universality vision was reiterated in other intergovernmental documents as well, such as the Atlantic Charter signed by the US and the UK in 1941 and the Declaration by United Nations signed by the US, the UK, USSR and China in 1942.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influence of the Roosevelt campaign was also acknowledged in the preparatory works for the UN Charter and the UDHR.</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ChangeArrowheads="1"/>
          </p:cNvSpPr>
          <p:nvPr/>
        </p:nvSpPr>
        <p:spPr bwMode="auto">
          <a:xfrm>
            <a:off x="0" y="1"/>
            <a:ext cx="9144000" cy="7029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 1945, therefore, international law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was not indifferent</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to the welfare of individuals. Many matters of human rights were considered a part of proactive international concern.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chemeClr val="tx1"/>
                </a:solidFill>
                <a:effectLst/>
                <a:latin typeface="Arial" pitchFamily="34" charset="0"/>
                <a:ea typeface="MinionPro-It"/>
                <a:cs typeface="Arial" pitchFamily="34" charset="0"/>
              </a:rPr>
              <a:t> At San Francisco</a:t>
            </a:r>
            <a:endParaRPr kumimoji="0" lang="en-GB" sz="20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the SF meeting to negotiate terms of a new legal order, there was an acute appreciation of the shortcomings in the system for the protection of individual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Including acknowledgement that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nationality</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was no longer a secure guarantee for the respect and guarantee of individual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Similarly evident that the failings of human rights policy were not limited to particular countries or regions, required a holistic and global strategic response.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Social contract theory as the basis of national policy in human rights matters was no longer credible.</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UN Charter spawned an entirely new language for addressing matters of individual rights.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With the emphasis on the individual, the new language was one of human rights instead of the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fragmented rights of aliens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and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citizens,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or of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minorities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workers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or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victims of war</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Plus new language captured the notion of rights as belonging to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all</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 regardless of differences such as language, nationality, religion or other distinctions..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0" y="162330"/>
            <a:ext cx="914400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Courier New" pitchFamily="49" charset="0"/>
              <a:buChar char="o"/>
              <a:tabLst/>
            </a:pPr>
            <a:endPar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457200" marR="0" lvl="1" indent="0" algn="just" defTabSz="914400" rtl="0" eaLnBrk="1" fontAlgn="base" latinLnBrk="0" hangingPunct="1">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‘Entitlements’ language used to claim rights from governments, hold them accountable.</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Of course, there was a pragmatic recognition of the important distinction between the normative priorities as they stood in 1945, and the aspiration and ambition to improve upon them.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In brief, in negotiating terms of the Charter, there was a clear understanding that the UNO would be based on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principles of co-existence such as sovereign equality of its members,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guarantee of territorial integrity and political independence,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non-intervention in matters that are essentially within the domestic jurisdiction of any State;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While same time aiming to achieve the co-operative purposes set out in Article 1 of the Charter.</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Charter has no other prescriptions for achieving the human rights aspirations it sets out; however, it was an effective start to create a secure institutional framework in which to work. </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The HR responsibilities of the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principal</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organs</a:t>
            </a:r>
            <a:r>
              <a:rPr kumimoji="0" lang="en-GB" sz="20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 including the Economic and Social Council (ECOSOC) are founded directly upon the Charter’s human rights ambitions.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b="1" dirty="0" smtClean="0">
                <a:latin typeface="Times New Roman" pitchFamily="18" charset="0"/>
                <a:cs typeface="Times New Roman" pitchFamily="18" charset="0"/>
              </a:rPr>
              <a:t>Are HRs Absolute?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838200"/>
            <a:ext cx="9144000" cy="6019800"/>
          </a:xfrm>
        </p:spPr>
        <p:txBody>
          <a:bodyPr>
            <a:normAutofit lnSpcReduction="10000"/>
          </a:bodyPr>
          <a:lstStyle/>
          <a:p>
            <a:pPr lvl="1" algn="just"/>
            <a:r>
              <a:rPr lang="en-US" dirty="0" smtClean="0">
                <a:latin typeface="Times New Roman" pitchFamily="18" charset="0"/>
                <a:cs typeface="Times New Roman" pitchFamily="18" charset="0"/>
              </a:rPr>
              <a:t>Are HRs “</a:t>
            </a:r>
            <a:r>
              <a:rPr lang="en-US" b="1" dirty="0" smtClean="0">
                <a:latin typeface="Times New Roman" pitchFamily="18" charset="0"/>
                <a:cs typeface="Times New Roman" pitchFamily="18" charset="0"/>
              </a:rPr>
              <a:t>absolute</a:t>
            </a:r>
            <a:r>
              <a:rPr lang="en-US" dirty="0" smtClean="0">
                <a:latin typeface="Times New Roman" pitchFamily="18" charset="0"/>
                <a:cs typeface="Times New Roman" pitchFamily="18" charset="0"/>
              </a:rPr>
              <a:t>” or should they be balanced with other </a:t>
            </a:r>
            <a:r>
              <a:rPr lang="en-US" b="1" dirty="0" smtClean="0">
                <a:latin typeface="Times New Roman" pitchFamily="18" charset="0"/>
                <a:cs typeface="Times New Roman" pitchFamily="18" charset="0"/>
              </a:rPr>
              <a:t>Values</a:t>
            </a:r>
            <a:r>
              <a:rPr lang="en-US" dirty="0" smtClean="0">
                <a:latin typeface="Times New Roman" pitchFamily="18" charset="0"/>
                <a:cs typeface="Times New Roman" pitchFamily="18" charset="0"/>
              </a:rPr>
              <a:t>? If they ought to be balanced with other values, how should this balance be struck? Can HRs </a:t>
            </a:r>
            <a:r>
              <a:rPr lang="en-US" b="1" dirty="0" smtClean="0">
                <a:latin typeface="Times New Roman" pitchFamily="18" charset="0"/>
                <a:cs typeface="Times New Roman" pitchFamily="18" charset="0"/>
              </a:rPr>
              <a:t>conflict</a:t>
            </a:r>
            <a:r>
              <a:rPr lang="en-US" dirty="0" smtClean="0">
                <a:latin typeface="Times New Roman" pitchFamily="18" charset="0"/>
                <a:cs typeface="Times New Roman" pitchFamily="18" charset="0"/>
              </a:rPr>
              <a:t> with each other, and if so, how should such conflicts be resolved? Are HRs “</a:t>
            </a:r>
            <a:r>
              <a:rPr lang="en-US" b="1" dirty="0" smtClean="0">
                <a:latin typeface="Times New Roman" pitchFamily="18" charset="0"/>
                <a:cs typeface="Times New Roman" pitchFamily="18" charset="0"/>
              </a:rPr>
              <a:t>expensive</a:t>
            </a:r>
            <a:r>
              <a:rPr lang="en-US" dirty="0" smtClean="0">
                <a:latin typeface="Times New Roman" pitchFamily="18" charset="0"/>
                <a:cs typeface="Times New Roman" pitchFamily="18" charset="0"/>
              </a:rPr>
              <a:t>”(</a:t>
            </a:r>
            <a:r>
              <a:rPr lang="en-US" b="1" dirty="0" smtClean="0">
                <a:latin typeface="Times New Roman" pitchFamily="18" charset="0"/>
                <a:cs typeface="Times New Roman" pitchFamily="18" charset="0"/>
              </a:rPr>
              <a:t>financially or otherwise</a:t>
            </a:r>
            <a:r>
              <a:rPr lang="en-US" dirty="0" smtClean="0">
                <a:latin typeface="Times New Roman" pitchFamily="18" charset="0"/>
                <a:cs typeface="Times New Roman" pitchFamily="18" charset="0"/>
              </a:rPr>
              <a:t>?) and if they </a:t>
            </a:r>
            <a:r>
              <a:rPr lang="en-US" b="1" dirty="0" smtClean="0">
                <a:latin typeface="Times New Roman" pitchFamily="18" charset="0"/>
                <a:cs typeface="Times New Roman" pitchFamily="18" charset="0"/>
              </a:rPr>
              <a:t>demand scarce resources</a:t>
            </a:r>
            <a:r>
              <a:rPr lang="en-US" dirty="0" smtClean="0">
                <a:latin typeface="Times New Roman" pitchFamily="18" charset="0"/>
                <a:cs typeface="Times New Roman" pitchFamily="18" charset="0"/>
              </a:rPr>
              <a:t>, can we say that there are “rights” to what is </a:t>
            </a:r>
            <a:r>
              <a:rPr lang="en-US" b="1" dirty="0" smtClean="0">
                <a:latin typeface="Times New Roman" pitchFamily="18" charset="0"/>
                <a:cs typeface="Times New Roman" pitchFamily="18" charset="0"/>
              </a:rPr>
              <a:t>expensive, difficult, or impossible </a:t>
            </a:r>
            <a:r>
              <a:rPr lang="en-US" dirty="0" smtClean="0">
                <a:latin typeface="Times New Roman" pitchFamily="18" charset="0"/>
                <a:cs typeface="Times New Roman" pitchFamily="18" charset="0"/>
              </a:rPr>
              <a:t>to </a:t>
            </a:r>
            <a:r>
              <a:rPr lang="en-US" b="1" dirty="0" smtClean="0">
                <a:latin typeface="Times New Roman" pitchFamily="18" charset="0"/>
                <a:cs typeface="Times New Roman" pitchFamily="18" charset="0"/>
              </a:rPr>
              <a:t>respect, provide, promote, protect or fulfill(Civil and Political Rights Vs. Economic, Social and Cultural Rights- on Issues Realization(progressive and Immediate –Core Minimum?)</a:t>
            </a:r>
            <a:r>
              <a:rPr lang="en-US" dirty="0" smtClean="0">
                <a:latin typeface="Times New Roman" pitchFamily="18" charset="0"/>
                <a:cs typeface="Times New Roman" pitchFamily="18" charset="0"/>
              </a:rPr>
              <a:t>? How are HRs related to </a:t>
            </a:r>
            <a:r>
              <a:rPr lang="en-US" b="1" dirty="0" smtClean="0">
                <a:latin typeface="Times New Roman" pitchFamily="18" charset="0"/>
                <a:cs typeface="Times New Roman" pitchFamily="18" charset="0"/>
              </a:rPr>
              <a:t>duties, obligations, and responsibilities</a:t>
            </a:r>
            <a:r>
              <a:rPr lang="en-US" dirty="0" smtClean="0">
                <a:latin typeface="Times New Roman" pitchFamily="18" charset="0"/>
                <a:cs typeface="Times New Roman" pitchFamily="18" charset="0"/>
              </a:rPr>
              <a:t>? Are HRs “</a:t>
            </a:r>
            <a:r>
              <a:rPr lang="en-US" b="1" dirty="0" smtClean="0">
                <a:latin typeface="Times New Roman" pitchFamily="18" charset="0"/>
                <a:cs typeface="Times New Roman" pitchFamily="18" charset="0"/>
              </a:rPr>
              <a:t>universal,” </a:t>
            </a:r>
            <a:r>
              <a:rPr lang="en-US" dirty="0" smtClean="0">
                <a:latin typeface="Times New Roman" pitchFamily="18" charset="0"/>
                <a:cs typeface="Times New Roman" pitchFamily="18" charset="0"/>
              </a:rPr>
              <a:t>if so, how should we settle conflicts between universal rights and </a:t>
            </a:r>
            <a:r>
              <a:rPr lang="en-US" b="1" dirty="0" smtClean="0">
                <a:latin typeface="Times New Roman" pitchFamily="18" charset="0"/>
                <a:cs typeface="Times New Roman" pitchFamily="18" charset="0"/>
              </a:rPr>
              <a:t>particular cultures </a:t>
            </a:r>
            <a:r>
              <a:rPr lang="en-US" dirty="0" smtClean="0">
                <a:latin typeface="Times New Roman" pitchFamily="18" charset="0"/>
                <a:cs typeface="Times New Roman" pitchFamily="18" charset="0"/>
              </a:rPr>
              <a:t>that deny their validity?</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6096000"/>
          </a:xfrm>
        </p:spPr>
        <p:txBody>
          <a:bodyPr>
            <a:normAutofit fontScale="92500" lnSpcReduction="20000"/>
          </a:bodyPr>
          <a:lstStyle/>
          <a:p>
            <a:r>
              <a:rPr lang="en-US" b="1" dirty="0" smtClean="0">
                <a:latin typeface="Times New Roman" pitchFamily="18" charset="0"/>
                <a:cs typeface="Times New Roman" pitchFamily="18" charset="0"/>
              </a:rPr>
              <a:t>Are HRs absolute? Torture ? Art. 29(2) of </a:t>
            </a:r>
            <a:r>
              <a:rPr lang="en-US" b="1" dirty="0" err="1" smtClean="0">
                <a:latin typeface="Times New Roman" pitchFamily="18" charset="0"/>
                <a:cs typeface="Times New Roman" pitchFamily="18" charset="0"/>
              </a:rPr>
              <a:t>UDHR?</a:t>
            </a:r>
            <a:r>
              <a:rPr lang="en-US" dirty="0" err="1" smtClean="0">
                <a:latin typeface="Times New Roman" pitchFamily="18" charset="0"/>
                <a:cs typeface="Times New Roman" pitchFamily="18" charset="0"/>
              </a:rPr>
              <a:t>In</a:t>
            </a:r>
            <a:r>
              <a:rPr lang="en-US" dirty="0" smtClean="0">
                <a:latin typeface="Times New Roman" pitchFamily="18" charset="0"/>
                <a:cs typeface="Times New Roman" pitchFamily="18" charset="0"/>
              </a:rPr>
              <a:t> the exercise of his rights and freedoms, everyone shall be subject only to such limitations as are determined by law solely for the purpose  of securing due recognition and respect for the rights and freedoms of others and of meeting the just requirements of morality, public order and the general welfare in a </a:t>
            </a:r>
            <a:r>
              <a:rPr lang="en-US" b="1" dirty="0" smtClean="0">
                <a:latin typeface="Times New Roman" pitchFamily="18" charset="0"/>
                <a:cs typeface="Times New Roman" pitchFamily="18" charset="0"/>
              </a:rPr>
              <a:t>democratic society</a:t>
            </a:r>
            <a:r>
              <a:rPr lang="en-US" dirty="0" smtClean="0">
                <a:latin typeface="Times New Roman" pitchFamily="18" charset="0"/>
                <a:cs typeface="Times New Roman" pitchFamily="18" charset="0"/>
              </a:rPr>
              <a:t>. Hence, some argue that torture might be allowed to </a:t>
            </a:r>
            <a:r>
              <a:rPr lang="en-US" b="1" dirty="0" smtClean="0">
                <a:latin typeface="Times New Roman" pitchFamily="18" charset="0"/>
                <a:cs typeface="Times New Roman" pitchFamily="18" charset="0"/>
              </a:rPr>
              <a:t>protect a democratic society</a:t>
            </a:r>
            <a:r>
              <a:rPr lang="en-US" dirty="0" smtClean="0">
                <a:latin typeface="Times New Roman" pitchFamily="18" charset="0"/>
                <a:cs typeface="Times New Roman" pitchFamily="18" charset="0"/>
              </a:rPr>
              <a:t> from </a:t>
            </a:r>
            <a:r>
              <a:rPr lang="en-US" b="1" dirty="0" smtClean="0">
                <a:latin typeface="Times New Roman" pitchFamily="18" charset="0"/>
                <a:cs typeface="Times New Roman" pitchFamily="18" charset="0"/>
              </a:rPr>
              <a:t>immense danger</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Natural and Institutional Rights</a:t>
            </a:r>
            <a:r>
              <a:rPr lang="en-US" dirty="0" smtClean="0">
                <a:latin typeface="Times New Roman" pitchFamily="18" charset="0"/>
                <a:cs typeface="Times New Roman" pitchFamily="18" charset="0"/>
              </a:rPr>
              <a:t>?- State of Nature – Fair Trial which is intrinsically institutional. </a:t>
            </a:r>
            <a:r>
              <a:rPr lang="en-US" b="1" dirty="0" smtClean="0">
                <a:latin typeface="Times New Roman" pitchFamily="18" charset="0"/>
                <a:cs typeface="Times New Roman" pitchFamily="18" charset="0"/>
              </a:rPr>
              <a:t>Democracy</a:t>
            </a:r>
            <a:r>
              <a:rPr lang="en-US" dirty="0" smtClean="0">
                <a:latin typeface="Times New Roman" pitchFamily="18" charset="0"/>
                <a:cs typeface="Times New Roman" pitchFamily="18" charset="0"/>
              </a:rPr>
              <a:t> is the self-government of a people, whereas human rights protect individuals ( and perhaps vulnerable groups) from all abusive governments, whether democratic or not. However, democratic institutions may violate HRs.</a:t>
            </a: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09600"/>
            <a:ext cx="9144000" cy="6248400"/>
          </a:xfrm>
        </p:spPr>
        <p:txBody>
          <a:bodyPr>
            <a:normAutofit fontScale="70000" lnSpcReduction="20000"/>
          </a:bodyPr>
          <a:lstStyle/>
          <a:p>
            <a:pPr algn="just"/>
            <a:r>
              <a:rPr lang="en-US" b="1" dirty="0" smtClean="0">
                <a:latin typeface="Times New Roman" pitchFamily="18" charset="0"/>
                <a:cs typeface="Times New Roman" pitchFamily="18" charset="0"/>
              </a:rPr>
              <a:t>Are HRs inalienable</a:t>
            </a:r>
            <a:r>
              <a:rPr lang="en-US" dirty="0" smtClean="0">
                <a:latin typeface="Times New Roman" pitchFamily="18" charset="0"/>
                <a:cs typeface="Times New Roman" pitchFamily="18" charset="0"/>
              </a:rPr>
              <a:t>? Some HRs appear to be </a:t>
            </a:r>
            <a:r>
              <a:rPr lang="en-US" b="1" dirty="0" smtClean="0">
                <a:latin typeface="Times New Roman" pitchFamily="18" charset="0"/>
                <a:cs typeface="Times New Roman" pitchFamily="18" charset="0"/>
              </a:rPr>
              <a:t>alienable</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soldiers</a:t>
            </a:r>
            <a:r>
              <a:rPr lang="en-US" dirty="0" smtClean="0">
                <a:latin typeface="Times New Roman" pitchFamily="18" charset="0"/>
                <a:cs typeface="Times New Roman" pitchFamily="18" charset="0"/>
              </a:rPr>
              <a:t>  for example, give up their right to </a:t>
            </a:r>
            <a:r>
              <a:rPr lang="en-US" b="1" dirty="0" smtClean="0">
                <a:latin typeface="Times New Roman" pitchFamily="18" charset="0"/>
                <a:cs typeface="Times New Roman" pitchFamily="18" charset="0"/>
              </a:rPr>
              <a:t>security</a:t>
            </a:r>
            <a:r>
              <a:rPr lang="en-US" dirty="0" smtClean="0">
                <a:latin typeface="Times New Roman" pitchFamily="18" charset="0"/>
                <a:cs typeface="Times New Roman" pitchFamily="18" charset="0"/>
              </a:rPr>
              <a:t> to some extent. Others may not be; the right to education may include the obligation to be educated. The alienation of HRs is different from their forfeiture . </a:t>
            </a:r>
            <a:r>
              <a:rPr lang="en-US" b="1" dirty="0" smtClean="0">
                <a:latin typeface="Times New Roman" pitchFamily="18" charset="0"/>
                <a:cs typeface="Times New Roman" pitchFamily="18" charset="0"/>
              </a:rPr>
              <a:t>Criminals </a:t>
            </a:r>
            <a:r>
              <a:rPr lang="en-US" dirty="0" smtClean="0">
                <a:latin typeface="Times New Roman" pitchFamily="18" charset="0"/>
                <a:cs typeface="Times New Roman" pitchFamily="18" charset="0"/>
              </a:rPr>
              <a:t>may forfeit their right to liberty.</a:t>
            </a:r>
          </a:p>
          <a:p>
            <a:pPr algn="just"/>
            <a:r>
              <a:rPr lang="en-US" b="1" dirty="0" smtClean="0">
                <a:latin typeface="Times New Roman" pitchFamily="18" charset="0"/>
                <a:cs typeface="Times New Roman" pitchFamily="18" charset="0"/>
              </a:rPr>
              <a:t>Are HRs Conflict each other? </a:t>
            </a:r>
            <a:r>
              <a:rPr lang="en-US" dirty="0" smtClean="0">
                <a:latin typeface="Times New Roman" pitchFamily="18" charset="0"/>
                <a:cs typeface="Times New Roman" pitchFamily="18" charset="0"/>
              </a:rPr>
              <a:t>Conflicts of rights fall into two main categories.  The HRs of some may conflict with those of others and or one right may conflict with  another right of the same person. Your right to </a:t>
            </a:r>
            <a:r>
              <a:rPr lang="en-US" b="1" dirty="0" smtClean="0">
                <a:latin typeface="Times New Roman" pitchFamily="18" charset="0"/>
                <a:cs typeface="Times New Roman" pitchFamily="18" charset="0"/>
              </a:rPr>
              <a:t>security</a:t>
            </a:r>
            <a:r>
              <a:rPr lang="en-US" dirty="0" smtClean="0">
                <a:latin typeface="Times New Roman" pitchFamily="18" charset="0"/>
                <a:cs typeface="Times New Roman" pitchFamily="18" charset="0"/>
              </a:rPr>
              <a:t> may conflict with others’ right to a fair trial and or your right to freedom of </a:t>
            </a:r>
            <a:r>
              <a:rPr lang="en-US" b="1" dirty="0" smtClean="0">
                <a:latin typeface="Times New Roman" pitchFamily="18" charset="0"/>
                <a:cs typeface="Times New Roman" pitchFamily="18" charset="0"/>
              </a:rPr>
              <a:t>movemen</a:t>
            </a:r>
            <a:r>
              <a:rPr lang="en-US" dirty="0" smtClean="0">
                <a:latin typeface="Times New Roman" pitchFamily="18" charset="0"/>
                <a:cs typeface="Times New Roman" pitchFamily="18" charset="0"/>
              </a:rPr>
              <a:t>t.  My right to free expression may be limited by, but not in conflict with, your right to privacy.</a:t>
            </a:r>
          </a:p>
          <a:p>
            <a:pPr algn="just"/>
            <a:r>
              <a:rPr lang="en-US" b="1" dirty="0" smtClean="0">
                <a:latin typeface="Times New Roman" pitchFamily="18" charset="0"/>
                <a:cs typeface="Times New Roman" pitchFamily="18" charset="0"/>
              </a:rPr>
              <a:t>Duties and Costs- </a:t>
            </a:r>
            <a:r>
              <a:rPr lang="en-US" dirty="0" smtClean="0">
                <a:latin typeface="Times New Roman" pitchFamily="18" charset="0"/>
                <a:cs typeface="Times New Roman" pitchFamily="18" charset="0"/>
              </a:rPr>
              <a:t>rights generally entail duties. </a:t>
            </a:r>
            <a:r>
              <a:rPr lang="en-US" b="1" dirty="0" smtClean="0">
                <a:latin typeface="Times New Roman" pitchFamily="18" charset="0"/>
                <a:cs typeface="Times New Roman" pitchFamily="18" charset="0"/>
              </a:rPr>
              <a:t>HRs</a:t>
            </a:r>
            <a:r>
              <a:rPr lang="en-US" dirty="0" smtClean="0">
                <a:latin typeface="Times New Roman" pitchFamily="18" charset="0"/>
                <a:cs typeface="Times New Roman" pitchFamily="18" charset="0"/>
              </a:rPr>
              <a:t> do not depend on the performance of one’s duties. However, </a:t>
            </a:r>
            <a:r>
              <a:rPr lang="en-US" b="1" dirty="0" smtClean="0">
                <a:latin typeface="Times New Roman" pitchFamily="18" charset="0"/>
                <a:cs typeface="Times New Roman" pitchFamily="18" charset="0"/>
              </a:rPr>
              <a:t>HRs protection</a:t>
            </a:r>
            <a:r>
              <a:rPr lang="en-US" dirty="0" smtClean="0">
                <a:latin typeface="Times New Roman" pitchFamily="18" charset="0"/>
                <a:cs typeface="Times New Roman" pitchFamily="18" charset="0"/>
              </a:rPr>
              <a:t> entails the performance of corresponding duties, so that anyone enjoying rights without performing duties would act unfairly. </a:t>
            </a:r>
            <a:r>
              <a:rPr lang="en-US" dirty="0" err="1" smtClean="0">
                <a:latin typeface="Times New Roman" pitchFamily="18" charset="0"/>
                <a:cs typeface="Times New Roman" pitchFamily="18" charset="0"/>
              </a:rPr>
              <a:t>Gov’ts</a:t>
            </a:r>
            <a:r>
              <a:rPr lang="en-US" dirty="0" smtClean="0">
                <a:latin typeface="Times New Roman" pitchFamily="18" charset="0"/>
                <a:cs typeface="Times New Roman" pitchFamily="18" charset="0"/>
              </a:rPr>
              <a:t> are the primary HRs duty-bearers, but classical natural rights philosophy held that everyone had such duties.  In modern times, such obligations are extended to nonstate actors, transnational corporations. </a:t>
            </a:r>
            <a:r>
              <a:rPr lang="en-US" b="1" dirty="0" smtClean="0">
                <a:latin typeface="Times New Roman" pitchFamily="18" charset="0"/>
                <a:cs typeface="Times New Roman" pitchFamily="18" charset="0"/>
              </a:rPr>
              <a:t>If HRs are to be Universal, Obligation must be Universal too</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Extraterritorial Obligation of States (ETOs)?- respect, fulfill, promote, provide, protect  and ensure?</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838200"/>
            <a:ext cx="9144000" cy="6019800"/>
          </a:xfrm>
        </p:spPr>
        <p:txBody>
          <a:bodyPr>
            <a:normAutofit fontScale="92500" lnSpcReduction="10000"/>
          </a:bodyPr>
          <a:lstStyle/>
          <a:p>
            <a:pPr algn="just"/>
            <a:r>
              <a:rPr lang="en-US" b="1" dirty="0" smtClean="0">
                <a:latin typeface="Times New Roman" pitchFamily="18" charset="0"/>
                <a:cs typeface="Times New Roman" pitchFamily="18" charset="0"/>
              </a:rPr>
              <a:t>HRs and Other Values(Justice, Democracy, communitarian and culture and religion)</a:t>
            </a:r>
          </a:p>
          <a:p>
            <a:pPr lvl="1" algn="just"/>
            <a:r>
              <a:rPr lang="en-US" dirty="0" smtClean="0">
                <a:latin typeface="Times New Roman" pitchFamily="18" charset="0"/>
                <a:cs typeface="Times New Roman" pitchFamily="18" charset="0"/>
              </a:rPr>
              <a:t>Are </a:t>
            </a:r>
            <a:r>
              <a:rPr lang="en-US" b="1" dirty="0" smtClean="0">
                <a:latin typeface="Times New Roman" pitchFamily="18" charset="0"/>
                <a:cs typeface="Times New Roman" pitchFamily="18" charset="0"/>
              </a:rPr>
              <a:t>Justice</a:t>
            </a:r>
            <a:r>
              <a:rPr lang="en-US" dirty="0" smtClean="0">
                <a:latin typeface="Times New Roman" pitchFamily="18" charset="0"/>
                <a:cs typeface="Times New Roman" pitchFamily="18" charset="0"/>
              </a:rPr>
              <a:t> the foundation of HRs or vice versa?(UDHR  Preamble one)- is justice broader than HRs notion? What is justice and its dimension?</a:t>
            </a:r>
          </a:p>
          <a:p>
            <a:pPr lvl="1" algn="just"/>
            <a:r>
              <a:rPr lang="en-US" dirty="0" smtClean="0">
                <a:latin typeface="Times New Roman" pitchFamily="18" charset="0"/>
                <a:cs typeface="Times New Roman" pitchFamily="18" charset="0"/>
              </a:rPr>
              <a:t>The right to vote, freedom of speech </a:t>
            </a:r>
            <a:r>
              <a:rPr lang="en-US" i="1" dirty="0" smtClean="0">
                <a:latin typeface="Times New Roman" pitchFamily="18" charset="0"/>
                <a:cs typeface="Times New Roman" pitchFamily="18" charset="0"/>
              </a:rPr>
              <a:t>inter alia, </a:t>
            </a:r>
            <a:r>
              <a:rPr lang="en-US" dirty="0" smtClean="0">
                <a:latin typeface="Times New Roman" pitchFamily="18" charset="0"/>
                <a:cs typeface="Times New Roman" pitchFamily="18" charset="0"/>
              </a:rPr>
              <a:t>are  inherent features of </a:t>
            </a:r>
            <a:r>
              <a:rPr lang="en-US" b="1" dirty="0" smtClean="0">
                <a:latin typeface="Times New Roman" pitchFamily="18" charset="0"/>
                <a:cs typeface="Times New Roman" pitchFamily="18" charset="0"/>
              </a:rPr>
              <a:t>democracy</a:t>
            </a:r>
            <a:r>
              <a:rPr lang="en-US" dirty="0" smtClean="0">
                <a:latin typeface="Times New Roman" pitchFamily="18" charset="0"/>
                <a:cs typeface="Times New Roman" pitchFamily="18" charset="0"/>
              </a:rPr>
              <a:t>. The right to education is however, is necessary to an adequate exercise of democratic values. Democracy articulates who should rule, how whereas HRs set limits to rule. HRs may limit democratic </a:t>
            </a:r>
            <a:r>
              <a:rPr lang="en-US" dirty="0" err="1" smtClean="0">
                <a:latin typeface="Times New Roman" pitchFamily="18" charset="0"/>
                <a:cs typeface="Times New Roman" pitchFamily="18" charset="0"/>
              </a:rPr>
              <a:t>gov’t</a:t>
            </a:r>
            <a:r>
              <a:rPr lang="en-US" dirty="0" smtClean="0">
                <a:latin typeface="Times New Roman" pitchFamily="18" charset="0"/>
                <a:cs typeface="Times New Roman" pitchFamily="18" charset="0"/>
              </a:rPr>
              <a:t> and thus be opposed to democracy.  HRs philosophers find the sources of moral truth outside actual decision-making processes whereas democrats find it in democratic process. Although democracy is the best political form to protect HRs, tension exists between the values of HRs and democracy.</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838200"/>
            <a:ext cx="9144000" cy="6019800"/>
          </a:xfrm>
        </p:spPr>
        <p:txBody>
          <a:bodyPr/>
          <a:lstStyle/>
          <a:p>
            <a:pPr lvl="1" algn="just"/>
            <a:r>
              <a:rPr lang="en-US" b="1" dirty="0" smtClean="0">
                <a:latin typeface="Times New Roman" pitchFamily="18" charset="0"/>
                <a:cs typeface="Times New Roman" pitchFamily="18" charset="0"/>
              </a:rPr>
              <a:t>Commentarial vs. Libertarian (individualism)</a:t>
            </a:r>
          </a:p>
          <a:p>
            <a:pPr lvl="1" algn="just"/>
            <a:r>
              <a:rPr lang="en-US" b="1" dirty="0" smtClean="0">
                <a:latin typeface="Times New Roman" pitchFamily="18" charset="0"/>
                <a:cs typeface="Times New Roman" pitchFamily="18" charset="0"/>
              </a:rPr>
              <a:t>Universalism vs. Cultural Relativism</a:t>
            </a:r>
          </a:p>
          <a:p>
            <a:pPr lvl="2" algn="just"/>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(universal validity and culture specific validity)- Ethnocentrism of West vs. Cultural imperialism of non Western.</a:t>
            </a:r>
          </a:p>
          <a:p>
            <a:pPr lvl="2" algn="just"/>
            <a:r>
              <a:rPr lang="en-US" dirty="0" smtClean="0">
                <a:latin typeface="Times New Roman" pitchFamily="18" charset="0"/>
                <a:cs typeface="Times New Roman" pitchFamily="18" charset="0"/>
              </a:rPr>
              <a:t>Historicity of HRs- war of independence and Great Revolutions(</a:t>
            </a:r>
            <a:r>
              <a:rPr lang="en-US" dirty="0" err="1" smtClean="0">
                <a:latin typeface="Times New Roman" pitchFamily="18" charset="0"/>
                <a:cs typeface="Times New Roman" pitchFamily="18" charset="0"/>
              </a:rPr>
              <a:t>Wn</a:t>
            </a:r>
            <a:r>
              <a:rPr lang="en-US" dirty="0" smtClean="0">
                <a:latin typeface="Times New Roman" pitchFamily="18" charset="0"/>
                <a:cs typeface="Times New Roman" pitchFamily="18" charset="0"/>
              </a:rPr>
              <a:t> Historical Experience) and Colonization</a:t>
            </a:r>
          </a:p>
          <a:p>
            <a:pPr lvl="2" algn="just"/>
            <a:r>
              <a:rPr lang="en-US" dirty="0" smtClean="0">
                <a:latin typeface="Times New Roman" pitchFamily="18" charset="0"/>
                <a:cs typeface="Times New Roman" pitchFamily="18" charset="0"/>
              </a:rPr>
              <a:t>The  language Discourse of HRs- </a:t>
            </a:r>
            <a:r>
              <a:rPr lang="en-US" dirty="0" err="1" smtClean="0">
                <a:latin typeface="Times New Roman" pitchFamily="18" charset="0"/>
                <a:cs typeface="Times New Roman" pitchFamily="18" charset="0"/>
              </a:rPr>
              <a:t>Wn</a:t>
            </a:r>
            <a:r>
              <a:rPr lang="en-US" dirty="0" smtClean="0">
                <a:latin typeface="Times New Roman" pitchFamily="18" charset="0"/>
                <a:cs typeface="Times New Roman" pitchFamily="18" charset="0"/>
              </a:rPr>
              <a:t> oriented </a:t>
            </a:r>
          </a:p>
          <a:p>
            <a:pPr lvl="2" algn="just"/>
            <a:r>
              <a:rPr lang="en-US" dirty="0" smtClean="0">
                <a:latin typeface="Times New Roman" pitchFamily="18" charset="0"/>
                <a:cs typeface="Times New Roman" pitchFamily="18" charset="0"/>
              </a:rPr>
              <a:t>Should we respect Nazi Germany cruel and unjust cultures?</a:t>
            </a:r>
          </a:p>
          <a:p>
            <a:pPr lvl="2" algn="just"/>
            <a:r>
              <a:rPr lang="en-US" dirty="0" smtClean="0">
                <a:latin typeface="Times New Roman" pitchFamily="18" charset="0"/>
                <a:cs typeface="Times New Roman" pitchFamily="18" charset="0"/>
              </a:rPr>
              <a:t>Universalism is intolerant </a:t>
            </a:r>
          </a:p>
          <a:p>
            <a:pPr lvl="2" algn="just"/>
            <a:r>
              <a:rPr lang="en-US" dirty="0" smtClean="0">
                <a:latin typeface="Times New Roman" pitchFamily="18" charset="0"/>
                <a:cs typeface="Times New Roman" pitchFamily="18" charset="0"/>
              </a:rPr>
              <a:t>Cultural relativism may be smokescreen for oppressive rules </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smtClean="0">
                <a:latin typeface="Times New Roman" pitchFamily="18" charset="0"/>
                <a:cs typeface="Times New Roman" pitchFamily="18" charset="0"/>
              </a:rPr>
              <a:t>Philosophical Theories of HRs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1066800"/>
            <a:ext cx="9144000" cy="5791200"/>
          </a:xfrm>
        </p:spPr>
        <p:txBody>
          <a:bodyPr>
            <a:normAutofit fontScale="77500" lnSpcReduction="20000"/>
          </a:bodyPr>
          <a:lstStyle/>
          <a:p>
            <a:pPr algn="just"/>
            <a:r>
              <a:rPr lang="en-US" b="1" dirty="0" smtClean="0">
                <a:latin typeface="Times New Roman" pitchFamily="18" charset="0"/>
                <a:cs typeface="Times New Roman" pitchFamily="18" charset="0"/>
              </a:rPr>
              <a:t>Natural Law(Sacredness Religious): </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John Locke and Michael Perry  </a:t>
            </a:r>
            <a:r>
              <a:rPr lang="en-US" dirty="0" smtClean="0">
                <a:latin typeface="Times New Roman" pitchFamily="18" charset="0"/>
                <a:cs typeface="Times New Roman" pitchFamily="18" charset="0"/>
              </a:rPr>
              <a:t>believed that God had created human beings and the natural world. God Willed the preservation of mankind. Life, liberty and property exist even in the absence of government in the State of Nature which has law of nature. But Hobbes assumed State of Nature as lawless. Locke believe that government is necessary for executions of rights in case of violations hence, social contract must be entered into.</a:t>
            </a:r>
          </a:p>
          <a:p>
            <a:pPr algn="just"/>
            <a:r>
              <a:rPr lang="en-US" b="1" dirty="0" smtClean="0">
                <a:latin typeface="Times New Roman" pitchFamily="18" charset="0"/>
                <a:cs typeface="Times New Roman" pitchFamily="18" charset="0"/>
              </a:rPr>
              <a:t>Capability Approach- </a:t>
            </a:r>
            <a:r>
              <a:rPr lang="en-US" dirty="0" smtClean="0">
                <a:latin typeface="Times New Roman" pitchFamily="18" charset="0"/>
                <a:cs typeface="Times New Roman" pitchFamily="18" charset="0"/>
              </a:rPr>
              <a:t>A person’s capabilities are his/her abilities to take certain actions that are </a:t>
            </a:r>
            <a:r>
              <a:rPr lang="en-US" b="1" dirty="0" smtClean="0">
                <a:latin typeface="Times New Roman" pitchFamily="18" charset="0"/>
                <a:cs typeface="Times New Roman" pitchFamily="18" charset="0"/>
              </a:rPr>
              <a:t>fundamentall</a:t>
            </a:r>
            <a:r>
              <a:rPr lang="en-US" dirty="0" smtClean="0">
                <a:latin typeface="Times New Roman" pitchFamily="18" charset="0"/>
                <a:cs typeface="Times New Roman" pitchFamily="18" charset="0"/>
              </a:rPr>
              <a:t>y important to </a:t>
            </a:r>
            <a:r>
              <a:rPr lang="en-US" b="1" dirty="0" smtClean="0">
                <a:latin typeface="Times New Roman" pitchFamily="18" charset="0"/>
                <a:cs typeface="Times New Roman" pitchFamily="18" charset="0"/>
              </a:rPr>
              <a:t>any human life</a:t>
            </a:r>
            <a:r>
              <a:rPr lang="en-US" dirty="0" smtClean="0">
                <a:latin typeface="Times New Roman" pitchFamily="18" charset="0"/>
                <a:cs typeface="Times New Roman" pitchFamily="18" charset="0"/>
              </a:rPr>
              <a:t>, to be whatever he or she wants. Capabilities are intrinsically valuable because they  make life </a:t>
            </a:r>
            <a:r>
              <a:rPr lang="en-US" b="1" dirty="0" smtClean="0">
                <a:latin typeface="Times New Roman" pitchFamily="18" charset="0"/>
                <a:cs typeface="Times New Roman" pitchFamily="18" charset="0"/>
              </a:rPr>
              <a:t>fully human</a:t>
            </a:r>
            <a:r>
              <a:rPr lang="en-US" dirty="0" smtClean="0">
                <a:latin typeface="Times New Roman" pitchFamily="18" charset="0"/>
                <a:cs typeface="Times New Roman" pitchFamily="18" charset="0"/>
              </a:rPr>
              <a:t>. A typical list of capabilities, as suggested by </a:t>
            </a:r>
            <a:r>
              <a:rPr lang="en-US" b="1" dirty="0" smtClean="0">
                <a:latin typeface="Times New Roman" pitchFamily="18" charset="0"/>
                <a:cs typeface="Times New Roman" pitchFamily="18" charset="0"/>
              </a:rPr>
              <a:t>Nussbaum</a:t>
            </a:r>
            <a:r>
              <a:rPr lang="en-US" dirty="0" smtClean="0">
                <a:latin typeface="Times New Roman" pitchFamily="18" charset="0"/>
                <a:cs typeface="Times New Roman" pitchFamily="18" charset="0"/>
              </a:rPr>
              <a:t>, includes life, bodily health, bodily integrity, senses, imagination and thought, emotions, practical reason, affiliation, other species play and control over one’s environment.  The Idea of HRs can be related to that of capabilities insofar as everyone has a justified claim for their capabilities to remain secure. </a:t>
            </a:r>
            <a:r>
              <a:rPr lang="en-US" b="1" dirty="0" smtClean="0">
                <a:latin typeface="Times New Roman" pitchFamily="18" charset="0"/>
                <a:cs typeface="Times New Roman" pitchFamily="18" charset="0"/>
              </a:rPr>
              <a:t>Freedom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381000"/>
            <a:ext cx="9144000" cy="6477000"/>
          </a:xfrm>
        </p:spPr>
        <p:txBody>
          <a:bodyPr>
            <a:normAutofit fontScale="40000" lnSpcReduction="20000"/>
          </a:bodyPr>
          <a:lstStyle/>
          <a:p>
            <a:pPr algn="just"/>
            <a:r>
              <a:rPr lang="en-US" sz="8800" b="1" dirty="0" smtClean="0">
                <a:latin typeface="Times New Roman" pitchFamily="18" charset="0"/>
                <a:cs typeface="Times New Roman" pitchFamily="18" charset="0"/>
              </a:rPr>
              <a:t>Moral Agency- </a:t>
            </a:r>
            <a:r>
              <a:rPr lang="en-US" sz="8800" dirty="0" smtClean="0">
                <a:latin typeface="Times New Roman" pitchFamily="18" charset="0"/>
                <a:cs typeface="Times New Roman" pitchFamily="18" charset="0"/>
              </a:rPr>
              <a:t>As asserted by </a:t>
            </a:r>
            <a:r>
              <a:rPr lang="en-US" sz="8800" b="1" dirty="0" smtClean="0">
                <a:latin typeface="Times New Roman" pitchFamily="18" charset="0"/>
                <a:cs typeface="Times New Roman" pitchFamily="18" charset="0"/>
              </a:rPr>
              <a:t>Alan </a:t>
            </a:r>
            <a:r>
              <a:rPr lang="en-US" sz="8800" b="1" dirty="0" err="1" smtClean="0">
                <a:latin typeface="Times New Roman" pitchFamily="18" charset="0"/>
                <a:cs typeface="Times New Roman" pitchFamily="18" charset="0"/>
              </a:rPr>
              <a:t>Gewirth</a:t>
            </a:r>
            <a:r>
              <a:rPr lang="en-US" sz="8800" dirty="0" smtClean="0">
                <a:latin typeface="Times New Roman" pitchFamily="18" charset="0"/>
                <a:cs typeface="Times New Roman" pitchFamily="18" charset="0"/>
              </a:rPr>
              <a:t> that morality presupposes agency (purposive action- </a:t>
            </a:r>
            <a:r>
              <a:rPr lang="en-US" sz="8800" b="1" dirty="0" smtClean="0">
                <a:latin typeface="Times New Roman" pitchFamily="18" charset="0"/>
                <a:cs typeface="Times New Roman" pitchFamily="18" charset="0"/>
              </a:rPr>
              <a:t>needs</a:t>
            </a:r>
            <a:r>
              <a:rPr lang="en-US" sz="8800" dirty="0" smtClean="0">
                <a:latin typeface="Times New Roman" pitchFamily="18" charset="0"/>
                <a:cs typeface="Times New Roman" pitchFamily="18" charset="0"/>
              </a:rPr>
              <a:t>) and all agents must regard the proximate necessary conditions of their actions as </a:t>
            </a:r>
            <a:r>
              <a:rPr lang="en-US" sz="8800" b="1" dirty="0" smtClean="0">
                <a:latin typeface="Times New Roman" pitchFamily="18" charset="0"/>
                <a:cs typeface="Times New Roman" pitchFamily="18" charset="0"/>
              </a:rPr>
              <a:t>necessary goods(freedom and well-being)- incapables?</a:t>
            </a:r>
          </a:p>
          <a:p>
            <a:pPr algn="just"/>
            <a:r>
              <a:rPr lang="en-US" sz="8800" b="1" dirty="0" smtClean="0">
                <a:latin typeface="Times New Roman" pitchFamily="18" charset="0"/>
                <a:cs typeface="Times New Roman" pitchFamily="18" charset="0"/>
              </a:rPr>
              <a:t>Social Construction-Friedrich Nietzsche</a:t>
            </a:r>
          </a:p>
          <a:p>
            <a:pPr algn="just"/>
            <a:r>
              <a:rPr lang="en-US" sz="8800" b="1" dirty="0" smtClean="0">
                <a:latin typeface="Times New Roman" pitchFamily="18" charset="0"/>
                <a:cs typeface="Times New Roman" pitchFamily="18" charset="0"/>
              </a:rPr>
              <a:t>Sentimentality: Sympathy – Richard </a:t>
            </a:r>
            <a:r>
              <a:rPr lang="en-US" sz="8800" b="1" dirty="0" err="1" smtClean="0">
                <a:latin typeface="Times New Roman" pitchFamily="18" charset="0"/>
                <a:cs typeface="Times New Roman" pitchFamily="18" charset="0"/>
              </a:rPr>
              <a:t>Rorty</a:t>
            </a:r>
            <a:endParaRPr lang="en-US" sz="8800" b="1" dirty="0" smtClean="0">
              <a:latin typeface="Times New Roman" pitchFamily="18" charset="0"/>
              <a:cs typeface="Times New Roman" pitchFamily="18" charset="0"/>
            </a:endParaRPr>
          </a:p>
          <a:p>
            <a:pPr algn="just"/>
            <a:r>
              <a:rPr lang="en-US" sz="8800" b="1" dirty="0" smtClean="0">
                <a:latin typeface="Times New Roman" pitchFamily="18" charset="0"/>
                <a:cs typeface="Times New Roman" pitchFamily="18" charset="0"/>
              </a:rPr>
              <a:t>Legal Positivism on HRs: </a:t>
            </a:r>
            <a:r>
              <a:rPr lang="en-US" sz="8800" dirty="0" smtClean="0">
                <a:latin typeface="Times New Roman" pitchFamily="18" charset="0"/>
                <a:cs typeface="Times New Roman" pitchFamily="18" charset="0"/>
              </a:rPr>
              <a:t>Articulates that Human Beings have the rights given to them by the law, and there are no other rights. </a:t>
            </a:r>
            <a:r>
              <a:rPr lang="en-US" sz="8800" b="1" dirty="0" smtClean="0">
                <a:latin typeface="Times New Roman" pitchFamily="18" charset="0"/>
                <a:cs typeface="Times New Roman" pitchFamily="18" charset="0"/>
              </a:rPr>
              <a:t>John Austin and Thomas Hobbes</a:t>
            </a:r>
          </a:p>
          <a:p>
            <a:pPr algn="just"/>
            <a:endParaRPr lang="en-US" sz="8800" b="1"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b="1" dirty="0" err="1" smtClean="0">
                <a:latin typeface="Times New Roman" pitchFamily="18" charset="0"/>
                <a:cs typeface="Times New Roman" pitchFamily="18" charset="0"/>
              </a:rPr>
              <a:t>Cont’ed</a:t>
            </a:r>
            <a:r>
              <a:rPr lang="en-US" dirty="0" smtClean="0"/>
              <a:t> </a:t>
            </a:r>
            <a:endParaRPr lang="en-US" dirty="0"/>
          </a:p>
        </p:txBody>
      </p:sp>
      <p:sp>
        <p:nvSpPr>
          <p:cNvPr id="3" name="Content Placeholder 2"/>
          <p:cNvSpPr>
            <a:spLocks noGrp="1"/>
          </p:cNvSpPr>
          <p:nvPr>
            <p:ph idx="1"/>
          </p:nvPr>
        </p:nvSpPr>
        <p:spPr>
          <a:xfrm>
            <a:off x="0" y="533400"/>
            <a:ext cx="9144000" cy="6324600"/>
          </a:xfrm>
        </p:spPr>
        <p:txBody>
          <a:bodyPr>
            <a:normAutofit fontScale="70000" lnSpcReduction="20000"/>
          </a:bodyPr>
          <a:lstStyle/>
          <a:p>
            <a:pPr algn="just"/>
            <a:r>
              <a:rPr lang="en-US" b="1" dirty="0" smtClean="0">
                <a:latin typeface="Times New Roman" pitchFamily="18" charset="0"/>
                <a:cs typeface="Times New Roman" pitchFamily="18" charset="0"/>
              </a:rPr>
              <a:t>John Rawls theory of justice </a:t>
            </a:r>
            <a:r>
              <a:rPr lang="en-US" dirty="0" smtClean="0">
                <a:latin typeface="Times New Roman" pitchFamily="18" charset="0"/>
                <a:cs typeface="Times New Roman" pitchFamily="18" charset="0"/>
              </a:rPr>
              <a:t>(gives priority to  basic liberal freedoms (freedom of religion, association, and expression and second to the material needs of the worst off). He listed Art. 3-18 of the UDHR as HRs proper</a:t>
            </a:r>
            <a:r>
              <a:rPr lang="en-US" b="1" dirty="0" smtClean="0">
                <a:latin typeface="Times New Roman" pitchFamily="18" charset="0"/>
                <a:cs typeface="Times New Roman" pitchFamily="18" charset="0"/>
              </a:rPr>
              <a:t>.(‘[the] right to life (to the means of subsistence and security); to liberty (to freedom from slavery, serfdom, and forced occupation, and to a sufficient measure of liberty of conscience to ensure freedom of religion and thought); to property (personal property); and to formal equality as expressed by the rules of natural justice (that is, that similar cases be treated similarly). </a:t>
            </a:r>
            <a:r>
              <a:rPr lang="en-US" dirty="0" smtClean="0">
                <a:latin typeface="Times New Roman" pitchFamily="18" charset="0"/>
                <a:cs typeface="Times New Roman" pitchFamily="18" charset="0"/>
              </a:rPr>
              <a:t>Rawls  under “The Law of Peoples” treat HRs on the basis of </a:t>
            </a:r>
            <a:r>
              <a:rPr lang="en-US" b="1" dirty="0" smtClean="0">
                <a:latin typeface="Times New Roman" pitchFamily="18" charset="0"/>
                <a:cs typeface="Times New Roman" pitchFamily="18" charset="0"/>
              </a:rPr>
              <a:t>functionalism. Ronald </a:t>
            </a:r>
            <a:r>
              <a:rPr lang="en-US" b="1" dirty="0" err="1" smtClean="0">
                <a:latin typeface="Times New Roman" pitchFamily="18" charset="0"/>
                <a:cs typeface="Times New Roman" pitchFamily="18" charset="0"/>
              </a:rPr>
              <a:t>Dworkin</a:t>
            </a:r>
            <a:r>
              <a:rPr lang="en-US" b="1" dirty="0" smtClean="0">
                <a:latin typeface="Times New Roman" pitchFamily="18" charset="0"/>
                <a:cs typeface="Times New Roman" pitchFamily="18" charset="0"/>
              </a:rPr>
              <a:t>- HRs is the function of establishing conditions of political </a:t>
            </a:r>
            <a:r>
              <a:rPr lang="en-US" dirty="0" smtClean="0">
                <a:latin typeface="Times New Roman" pitchFamily="18" charset="0"/>
                <a:cs typeface="Times New Roman" pitchFamily="18" charset="0"/>
              </a:rPr>
              <a:t>legitimacy whereas Joseph </a:t>
            </a:r>
            <a:r>
              <a:rPr lang="en-US" dirty="0" err="1" smtClean="0">
                <a:latin typeface="Times New Roman" pitchFamily="18" charset="0"/>
                <a:cs typeface="Times New Roman" pitchFamily="18" charset="0"/>
              </a:rPr>
              <a:t>Raz</a:t>
            </a:r>
            <a:r>
              <a:rPr lang="en-US" dirty="0" smtClean="0">
                <a:latin typeface="Times New Roman" pitchFamily="18" charset="0"/>
                <a:cs typeface="Times New Roman" pitchFamily="18" charset="0"/>
              </a:rPr>
              <a:t> treat HRs  as a function of placing limits on the state sovereignty by specifying certain </a:t>
            </a:r>
            <a:r>
              <a:rPr lang="en-US" dirty="0" err="1" smtClean="0">
                <a:latin typeface="Times New Roman" pitchFamily="18" charset="0"/>
                <a:cs typeface="Times New Roman" pitchFamily="18" charset="0"/>
              </a:rPr>
              <a:t>defeasible</a:t>
            </a:r>
            <a:r>
              <a:rPr lang="en-US" dirty="0" smtClean="0">
                <a:latin typeface="Times New Roman" pitchFamily="18" charset="0"/>
                <a:cs typeface="Times New Roman" pitchFamily="18" charset="0"/>
              </a:rPr>
              <a:t> grounds for International Intervention. HRs are the political rights that trace the outer boundaries of an intelligible conception of dignity.(Developing vs. Developed Countries?</a:t>
            </a:r>
            <a:r>
              <a:rPr lang="en-US" b="1" dirty="0" smtClean="0">
                <a:latin typeface="Times New Roman" pitchFamily="18" charset="0"/>
                <a:cs typeface="Times New Roman" pitchFamily="18" charset="0"/>
              </a:rPr>
              <a:t>). Functionalism </a:t>
            </a:r>
            <a:r>
              <a:rPr lang="en-US" dirty="0" smtClean="0">
                <a:latin typeface="Times New Roman" pitchFamily="18" charset="0"/>
                <a:cs typeface="Times New Roman" pitchFamily="18" charset="0"/>
              </a:rPr>
              <a:t>narrowly attaches HRs with particular institutional arrangement or roles(State).- Output of HRs</a:t>
            </a:r>
          </a:p>
          <a:p>
            <a:pPr algn="just"/>
            <a:r>
              <a:rPr lang="en-US" b="1" dirty="0" smtClean="0">
                <a:latin typeface="Times New Roman" pitchFamily="18" charset="0"/>
                <a:cs typeface="Times New Roman" pitchFamily="18" charset="0"/>
              </a:rPr>
              <a:t>Foundationalism –  HRs as a specific norm(interest based)- hard line </a:t>
            </a:r>
            <a:r>
              <a:rPr lang="en-US" b="1" dirty="0" err="1" smtClean="0">
                <a:latin typeface="Times New Roman" pitchFamily="18" charset="0"/>
                <a:cs typeface="Times New Roman" pitchFamily="18" charset="0"/>
              </a:rPr>
              <a:t>foundationalist</a:t>
            </a:r>
            <a:r>
              <a:rPr lang="en-US" b="1" dirty="0" smtClean="0">
                <a:latin typeface="Times New Roman" pitchFamily="18" charset="0"/>
                <a:cs typeface="Times New Roman" pitchFamily="18" charset="0"/>
              </a:rPr>
              <a:t> and moderate </a:t>
            </a:r>
            <a:r>
              <a:rPr lang="en-US" b="1" dirty="0" err="1" smtClean="0">
                <a:latin typeface="Times New Roman" pitchFamily="18" charset="0"/>
                <a:cs typeface="Times New Roman" pitchFamily="18" charset="0"/>
              </a:rPr>
              <a:t>foundationalist</a:t>
            </a:r>
            <a:r>
              <a:rPr lang="en-US" b="1" dirty="0" smtClean="0">
                <a:latin typeface="Times New Roman" pitchFamily="18" charset="0"/>
                <a:cs typeface="Times New Roman" pitchFamily="18" charset="0"/>
              </a:rPr>
              <a:t> (autonomy and liberty –James Griffin)- Minimalism –input of HRs- Utilitarianism –Jeremy Bentham </a:t>
            </a:r>
          </a:p>
          <a:p>
            <a:pPr algn="just"/>
            <a:r>
              <a:rPr lang="en-US" b="1" dirty="0" smtClean="0">
                <a:latin typeface="Times New Roman" pitchFamily="18" charset="0"/>
                <a:cs typeface="Times New Roman" pitchFamily="18" charset="0"/>
              </a:rPr>
              <a:t>Plurality – Moral and prudential  values- John </a:t>
            </a:r>
            <a:r>
              <a:rPr lang="en-US" b="1" dirty="0" err="1" smtClean="0">
                <a:latin typeface="Times New Roman" pitchFamily="18" charset="0"/>
                <a:cs typeface="Times New Roman" pitchFamily="18" charset="0"/>
              </a:rPr>
              <a:t>Tasioulas</a:t>
            </a:r>
            <a:r>
              <a:rPr lang="en-US" b="1" dirty="0" smtClean="0">
                <a:latin typeface="Times New Roman" pitchFamily="18" charset="0"/>
                <a:cs typeface="Times New Roman" pitchFamily="18" charset="0"/>
              </a:rPr>
              <a:t> </a:t>
            </a:r>
          </a:p>
          <a:p>
            <a:pPr algn="just">
              <a:buNone/>
            </a:pP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990600"/>
            <a:ext cx="9144000" cy="5867400"/>
          </a:xfrm>
        </p:spPr>
        <p:txBody>
          <a:bodyPr/>
          <a:lstStyle/>
          <a:p>
            <a:pPr algn="just"/>
            <a:r>
              <a:rPr lang="en-US" b="1" dirty="0" smtClean="0">
                <a:latin typeface="Times New Roman" pitchFamily="18" charset="0"/>
                <a:cs typeface="Times New Roman" pitchFamily="18" charset="0"/>
              </a:rPr>
              <a:t>Robert </a:t>
            </a:r>
            <a:r>
              <a:rPr lang="en-US" b="1" dirty="0" err="1" smtClean="0">
                <a:latin typeface="Times New Roman" pitchFamily="18" charset="0"/>
                <a:cs typeface="Times New Roman" pitchFamily="18" charset="0"/>
              </a:rPr>
              <a:t>Nozick</a:t>
            </a:r>
            <a:r>
              <a:rPr lang="en-US" b="1" dirty="0" smtClean="0">
                <a:latin typeface="Times New Roman" pitchFamily="18" charset="0"/>
                <a:cs typeface="Times New Roman" pitchFamily="18" charset="0"/>
              </a:rPr>
              <a:t> of Libertarian theory</a:t>
            </a:r>
            <a:r>
              <a:rPr lang="en-US" dirty="0" smtClean="0">
                <a:latin typeface="Times New Roman" pitchFamily="18" charset="0"/>
                <a:cs typeface="Times New Roman" pitchFamily="18" charset="0"/>
              </a:rPr>
              <a:t> of </a:t>
            </a:r>
            <a:r>
              <a:rPr lang="en-US" b="1" dirty="0" smtClean="0">
                <a:latin typeface="Times New Roman" pitchFamily="18" charset="0"/>
                <a:cs typeface="Times New Roman" pitchFamily="18" charset="0"/>
              </a:rPr>
              <a:t>HRs</a:t>
            </a:r>
            <a:r>
              <a:rPr lang="en-US" dirty="0" smtClean="0">
                <a:latin typeface="Times New Roman" pitchFamily="18" charset="0"/>
                <a:cs typeface="Times New Roman" pitchFamily="18" charset="0"/>
              </a:rPr>
              <a:t>-no one has the right to interfere with the freedom of anyone else provided that the equal rights of others are respected. Everyone is free to assist those in need, but the needy have no right to assistance from others who are not willing to give it. </a:t>
            </a:r>
            <a:r>
              <a:rPr lang="en-US" b="1" dirty="0" smtClean="0">
                <a:latin typeface="Times New Roman" pitchFamily="18" charset="0"/>
                <a:cs typeface="Times New Roman" pitchFamily="18" charset="0"/>
              </a:rPr>
              <a:t>Taxation –counter-arguments.</a:t>
            </a:r>
            <a:endParaRPr lang="en-US" dirty="0" smtClean="0"/>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Origins of  Human Rights</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a:bodyPr>
          <a:lstStyle/>
          <a:p>
            <a:pPr algn="just"/>
            <a:r>
              <a:rPr lang="en-US" dirty="0">
                <a:latin typeface="Arial Narrow" pitchFamily="34" charset="0"/>
              </a:rPr>
              <a:t>Use of the term ‘</a:t>
            </a:r>
            <a:r>
              <a:rPr lang="en-US" b="1" dirty="0">
                <a:latin typeface="Arial Narrow" pitchFamily="34" charset="0"/>
              </a:rPr>
              <a:t>human rights</a:t>
            </a:r>
            <a:r>
              <a:rPr lang="en-US" dirty="0">
                <a:latin typeface="Arial Narrow" pitchFamily="34" charset="0"/>
              </a:rPr>
              <a:t>’ began at the end of the eighteenth century (</a:t>
            </a:r>
            <a:r>
              <a:rPr lang="en-US" dirty="0" smtClean="0">
                <a:latin typeface="Arial Narrow" pitchFamily="34" charset="0"/>
              </a:rPr>
              <a:t>for example</a:t>
            </a:r>
            <a:r>
              <a:rPr lang="en-US" dirty="0">
                <a:latin typeface="Arial Narrow" pitchFamily="34" charset="0"/>
              </a:rPr>
              <a:t>, in the French Declaration of the Rights of Man and of the </a:t>
            </a:r>
            <a:r>
              <a:rPr lang="en-US" dirty="0" smtClean="0">
                <a:latin typeface="Arial Narrow" pitchFamily="34" charset="0"/>
              </a:rPr>
              <a:t>Citizen</a:t>
            </a:r>
            <a:r>
              <a:rPr lang="fr-FR" dirty="0" smtClean="0">
                <a:latin typeface="Arial Narrow" pitchFamily="34" charset="0"/>
              </a:rPr>
              <a:t>(1789</a:t>
            </a:r>
            <a:r>
              <a:rPr lang="fr-FR" dirty="0">
                <a:latin typeface="Arial Narrow" pitchFamily="34" charset="0"/>
              </a:rPr>
              <a:t>)—‘</a:t>
            </a:r>
            <a:r>
              <a:rPr lang="fr-FR" b="1" i="1" dirty="0">
                <a:latin typeface="Arial Narrow" pitchFamily="34" charset="0"/>
              </a:rPr>
              <a:t>les droits de </a:t>
            </a:r>
            <a:r>
              <a:rPr lang="fr-FR" b="1" i="1" dirty="0" smtClean="0">
                <a:latin typeface="Arial Narrow" pitchFamily="34" charset="0"/>
              </a:rPr>
              <a:t>l’homme. But  </a:t>
            </a:r>
            <a:r>
              <a:rPr lang="en-US" dirty="0">
                <a:latin typeface="Arial Narrow" pitchFamily="34" charset="0"/>
              </a:rPr>
              <a:t>Before the end of the eighteenth century</a:t>
            </a:r>
            <a:r>
              <a:rPr lang="en-US" dirty="0" smtClean="0">
                <a:latin typeface="Arial Narrow" pitchFamily="34" charset="0"/>
              </a:rPr>
              <a:t>, the </a:t>
            </a:r>
            <a:r>
              <a:rPr lang="en-US" dirty="0">
                <a:latin typeface="Arial Narrow" pitchFamily="34" charset="0"/>
              </a:rPr>
              <a:t>talk was instead of ‘</a:t>
            </a:r>
            <a:r>
              <a:rPr lang="en-US" b="1" i="1" dirty="0">
                <a:latin typeface="Arial Narrow" pitchFamily="34" charset="0"/>
              </a:rPr>
              <a:t>natural rights</a:t>
            </a:r>
            <a:r>
              <a:rPr lang="en-US" dirty="0" smtClean="0">
                <a:latin typeface="Arial Narrow" pitchFamily="34" charset="0"/>
              </a:rPr>
              <a:t>’. </a:t>
            </a:r>
            <a:r>
              <a:rPr lang="en-US" dirty="0">
                <a:latin typeface="Arial Narrow" pitchFamily="34" charset="0"/>
              </a:rPr>
              <a:t>‘</a:t>
            </a:r>
            <a:r>
              <a:rPr lang="en-US" b="1" dirty="0">
                <a:latin typeface="Arial Narrow" pitchFamily="34" charset="0"/>
              </a:rPr>
              <a:t>Natural rights’</a:t>
            </a:r>
            <a:r>
              <a:rPr lang="en-US" dirty="0">
                <a:latin typeface="Arial Narrow" pitchFamily="34" charset="0"/>
              </a:rPr>
              <a:t> were generally seen as derived from ‘</a:t>
            </a:r>
            <a:r>
              <a:rPr lang="en-US" b="1" dirty="0">
                <a:latin typeface="Arial Narrow" pitchFamily="34" charset="0"/>
              </a:rPr>
              <a:t>natural laws</a:t>
            </a:r>
            <a:r>
              <a:rPr lang="en-US" b="1" dirty="0" smtClean="0">
                <a:latin typeface="Arial Narrow" pitchFamily="34" charset="0"/>
              </a:rPr>
              <a:t>’.</a:t>
            </a:r>
          </a:p>
          <a:p>
            <a:pPr algn="just"/>
            <a:r>
              <a:rPr lang="en-US" dirty="0">
                <a:latin typeface="Arial Narrow" pitchFamily="34" charset="0"/>
              </a:rPr>
              <a:t>Although the doctrine of </a:t>
            </a:r>
            <a:r>
              <a:rPr lang="en-US" b="1" dirty="0">
                <a:latin typeface="Arial Narrow" pitchFamily="34" charset="0"/>
              </a:rPr>
              <a:t>natural law </a:t>
            </a:r>
            <a:r>
              <a:rPr lang="en-US" dirty="0">
                <a:latin typeface="Arial Narrow" pitchFamily="34" charset="0"/>
              </a:rPr>
              <a:t>has ramified roots deep in </a:t>
            </a:r>
            <a:r>
              <a:rPr lang="en-US" b="1" dirty="0" smtClean="0">
                <a:latin typeface="Arial Narrow" pitchFamily="34" charset="0"/>
              </a:rPr>
              <a:t>Greek and </a:t>
            </a:r>
            <a:r>
              <a:rPr lang="en-US" b="1" dirty="0">
                <a:latin typeface="Arial Narrow" pitchFamily="34" charset="0"/>
              </a:rPr>
              <a:t>Roman </a:t>
            </a:r>
            <a:r>
              <a:rPr lang="en-US" b="1" dirty="0" smtClean="0">
                <a:latin typeface="Arial Narrow" pitchFamily="34" charset="0"/>
              </a:rPr>
              <a:t>antiquity but its most influential statement was given by St. Thomas Aquinas.</a:t>
            </a:r>
          </a:p>
          <a:p>
            <a:pPr algn="just"/>
            <a:endParaRPr lang="en-US" b="1" i="1" dirty="0">
              <a:latin typeface="Arial Narrow"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a:bodyPr>
          <a:lstStyle/>
          <a:p>
            <a:pPr algn="just"/>
            <a:r>
              <a:rPr lang="en-US" b="1" dirty="0" smtClean="0">
                <a:latin typeface="Arial Narrow" pitchFamily="34" charset="0"/>
              </a:rPr>
              <a:t>God</a:t>
            </a:r>
            <a:r>
              <a:rPr lang="en-US" dirty="0" smtClean="0">
                <a:latin typeface="Arial Narrow" pitchFamily="34" charset="0"/>
              </a:rPr>
              <a:t> has placed in all things various </a:t>
            </a:r>
            <a:r>
              <a:rPr lang="en-US" b="1" dirty="0" smtClean="0">
                <a:latin typeface="Arial Narrow" pitchFamily="34" charset="0"/>
              </a:rPr>
              <a:t>innate natural dispositions</a:t>
            </a:r>
            <a:r>
              <a:rPr lang="en-US" dirty="0" smtClean="0">
                <a:latin typeface="Arial Narrow" pitchFamily="34" charset="0"/>
              </a:rPr>
              <a:t>, but </a:t>
            </a:r>
            <a:r>
              <a:rPr lang="en-US" b="1" dirty="0" smtClean="0">
                <a:latin typeface="Arial Narrow" pitchFamily="34" charset="0"/>
              </a:rPr>
              <a:t>only in human beings has he further placed a disposition to reason</a:t>
            </a:r>
            <a:r>
              <a:rPr lang="en-US" dirty="0" smtClean="0">
                <a:latin typeface="Arial Narrow" pitchFamily="34" charset="0"/>
              </a:rPr>
              <a:t>: that is, a disposition issuing in various </a:t>
            </a:r>
            <a:r>
              <a:rPr lang="en-US" b="1" dirty="0" smtClean="0">
                <a:latin typeface="Arial Narrow" pitchFamily="34" charset="0"/>
              </a:rPr>
              <a:t>precepts to guide action</a:t>
            </a:r>
            <a:r>
              <a:rPr lang="en-US" dirty="0" smtClean="0">
                <a:latin typeface="Arial Narrow" pitchFamily="34" charset="0"/>
              </a:rPr>
              <a:t>—for example, that we are to </a:t>
            </a:r>
            <a:r>
              <a:rPr lang="en-US" b="1" dirty="0" smtClean="0">
                <a:latin typeface="Arial Narrow" pitchFamily="34" charset="0"/>
              </a:rPr>
              <a:t>preserve ourselves in being; to propagate our kind; to seek knowledge of, and to worship, God; and to live peacefully in society</a:t>
            </a:r>
            <a:r>
              <a:rPr lang="en-US" dirty="0" smtClean="0">
                <a:latin typeface="Arial Narrow" pitchFamily="34" charset="0"/>
              </a:rPr>
              <a:t>. These and other percepts constitutes </a:t>
            </a:r>
            <a:r>
              <a:rPr lang="en-US" b="1" dirty="0" smtClean="0">
                <a:latin typeface="Arial Narrow" pitchFamily="34" charset="0"/>
              </a:rPr>
              <a:t>natural law and natural law </a:t>
            </a:r>
            <a:r>
              <a:rPr lang="en-US" dirty="0" smtClean="0">
                <a:latin typeface="Arial Narrow" pitchFamily="34" charset="0"/>
              </a:rPr>
              <a:t>serves as  the measure  of </a:t>
            </a:r>
            <a:r>
              <a:rPr lang="en-US" b="1" dirty="0" smtClean="0">
                <a:latin typeface="Arial Narrow" pitchFamily="34" charset="0"/>
              </a:rPr>
              <a:t>natural rights</a:t>
            </a:r>
            <a:r>
              <a:rPr lang="en-US" dirty="0" smtClean="0">
                <a:latin typeface="Arial Narrow" pitchFamily="34" charset="0"/>
              </a:rPr>
              <a:t>.</a:t>
            </a:r>
            <a:endParaRPr lang="fr-FR" b="1" i="1" dirty="0" smtClean="0">
              <a:latin typeface="Arial Narrow" pitchFamily="34" charset="0"/>
            </a:endParaRPr>
          </a:p>
          <a:p>
            <a:pPr algn="just"/>
            <a:r>
              <a:rPr lang="en-US" dirty="0">
                <a:latin typeface="Arial Narrow" pitchFamily="34" charset="0"/>
              </a:rPr>
              <a:t>The </a:t>
            </a:r>
            <a:r>
              <a:rPr lang="en-US" b="1" dirty="0">
                <a:latin typeface="Arial Narrow" pitchFamily="34" charset="0"/>
              </a:rPr>
              <a:t>Protestant Hugo Grotius </a:t>
            </a:r>
            <a:r>
              <a:rPr lang="en-US" dirty="0">
                <a:latin typeface="Arial Narrow" pitchFamily="34" charset="0"/>
              </a:rPr>
              <a:t>earned his reputation as the founder of </a:t>
            </a:r>
            <a:r>
              <a:rPr lang="en-US" dirty="0" smtClean="0">
                <a:latin typeface="Arial Narrow" pitchFamily="34" charset="0"/>
              </a:rPr>
              <a:t>the </a:t>
            </a:r>
            <a:r>
              <a:rPr lang="en-US" b="1" dirty="0" smtClean="0">
                <a:latin typeface="Arial Narrow" pitchFamily="34" charset="0"/>
              </a:rPr>
              <a:t>modern </a:t>
            </a:r>
            <a:r>
              <a:rPr lang="en-US" b="1" dirty="0">
                <a:latin typeface="Arial Narrow" pitchFamily="34" charset="0"/>
              </a:rPr>
              <a:t>secular theory of natural law </a:t>
            </a:r>
            <a:r>
              <a:rPr lang="en-US" dirty="0">
                <a:latin typeface="Arial Narrow" pitchFamily="34" charset="0"/>
              </a:rPr>
              <a:t>by taking the further step of </a:t>
            </a:r>
            <a:r>
              <a:rPr lang="en-US" dirty="0" smtClean="0">
                <a:latin typeface="Arial Narrow" pitchFamily="34" charset="0"/>
              </a:rPr>
              <a:t>arguing that </a:t>
            </a:r>
            <a:r>
              <a:rPr lang="en-US" b="1" dirty="0">
                <a:latin typeface="Arial Narrow" pitchFamily="34" charset="0"/>
              </a:rPr>
              <a:t>God is not needed even to explain the </a:t>
            </a:r>
            <a:r>
              <a:rPr lang="en-US" b="1" dirty="0" err="1">
                <a:latin typeface="Arial Narrow" pitchFamily="34" charset="0"/>
              </a:rPr>
              <a:t>obligatoriness</a:t>
            </a:r>
            <a:r>
              <a:rPr lang="en-US" b="1" dirty="0">
                <a:latin typeface="Arial Narrow" pitchFamily="34" charset="0"/>
              </a:rPr>
              <a:t> of natural law</a:t>
            </a:r>
            <a:r>
              <a:rPr lang="en-US" dirty="0">
                <a:latin typeface="Arial Narrow" pitchFamily="34" charset="0"/>
              </a:rPr>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fontScale="92500" lnSpcReduction="20000"/>
          </a:bodyPr>
          <a:lstStyle/>
          <a:p>
            <a:pPr algn="just"/>
            <a:r>
              <a:rPr lang="en-US" dirty="0" smtClean="0">
                <a:latin typeface="Arial Narrow" pitchFamily="34" charset="0"/>
              </a:rPr>
              <a:t>He </a:t>
            </a:r>
            <a:r>
              <a:rPr lang="en-US" dirty="0">
                <a:latin typeface="Arial Narrow" pitchFamily="34" charset="0"/>
              </a:rPr>
              <a:t>thought that we can establish </a:t>
            </a:r>
            <a:r>
              <a:rPr lang="en-US" b="1" dirty="0">
                <a:latin typeface="Arial Narrow" pitchFamily="34" charset="0"/>
              </a:rPr>
              <a:t>natural laws </a:t>
            </a:r>
            <a:r>
              <a:rPr lang="en-US" dirty="0">
                <a:latin typeface="Arial Narrow" pitchFamily="34" charset="0"/>
              </a:rPr>
              <a:t>through the kind </a:t>
            </a:r>
            <a:r>
              <a:rPr lang="en-US" dirty="0" smtClean="0">
                <a:latin typeface="Arial Narrow" pitchFamily="34" charset="0"/>
              </a:rPr>
              <a:t>of </a:t>
            </a:r>
            <a:r>
              <a:rPr lang="en-US" b="1" dirty="0" smtClean="0">
                <a:latin typeface="Arial Narrow" pitchFamily="34" charset="0"/>
              </a:rPr>
              <a:t>understanding </a:t>
            </a:r>
            <a:r>
              <a:rPr lang="en-US" b="1" dirty="0">
                <a:latin typeface="Arial Narrow" pitchFamily="34" charset="0"/>
              </a:rPr>
              <a:t>open to all of us</a:t>
            </a:r>
            <a:r>
              <a:rPr lang="en-US" dirty="0">
                <a:latin typeface="Arial Narrow" pitchFamily="34" charset="0"/>
              </a:rPr>
              <a:t>, whatever we believe about religion: namely</a:t>
            </a:r>
            <a:r>
              <a:rPr lang="en-US" dirty="0" smtClean="0">
                <a:latin typeface="Arial Narrow" pitchFamily="34" charset="0"/>
              </a:rPr>
              <a:t>, that </a:t>
            </a:r>
            <a:r>
              <a:rPr lang="en-US" dirty="0">
                <a:latin typeface="Arial Narrow" pitchFamily="34" charset="0"/>
              </a:rPr>
              <a:t>we must act in accord with our </a:t>
            </a:r>
            <a:r>
              <a:rPr lang="en-US" b="1" dirty="0">
                <a:latin typeface="Arial Narrow" pitchFamily="34" charset="0"/>
              </a:rPr>
              <a:t>rational nature</a:t>
            </a:r>
            <a:r>
              <a:rPr lang="en-US" dirty="0">
                <a:latin typeface="Arial Narrow" pitchFamily="34" charset="0"/>
              </a:rPr>
              <a:t>, and that we </a:t>
            </a:r>
            <a:r>
              <a:rPr lang="en-US" dirty="0" smtClean="0">
                <a:latin typeface="Arial Narrow" pitchFamily="34" charset="0"/>
              </a:rPr>
              <a:t>must do </a:t>
            </a:r>
            <a:r>
              <a:rPr lang="en-US" dirty="0">
                <a:latin typeface="Arial Narrow" pitchFamily="34" charset="0"/>
              </a:rPr>
              <a:t>the various things necessary to maintain a society both </a:t>
            </a:r>
            <a:r>
              <a:rPr lang="en-US" b="1" dirty="0">
                <a:latin typeface="Arial Narrow" pitchFamily="34" charset="0"/>
              </a:rPr>
              <a:t>consonant </a:t>
            </a:r>
            <a:r>
              <a:rPr lang="en-US" b="1" dirty="0" smtClean="0">
                <a:latin typeface="Arial Narrow" pitchFamily="34" charset="0"/>
              </a:rPr>
              <a:t>with reason </a:t>
            </a:r>
            <a:r>
              <a:rPr lang="en-US" b="1" dirty="0">
                <a:latin typeface="Arial Narrow" pitchFamily="34" charset="0"/>
              </a:rPr>
              <a:t>and composed of inconsistently motivated members such as </a:t>
            </a:r>
            <a:r>
              <a:rPr lang="en-US" b="1" dirty="0" smtClean="0">
                <a:latin typeface="Arial Narrow" pitchFamily="34" charset="0"/>
              </a:rPr>
              <a:t>us—by nature </a:t>
            </a:r>
            <a:r>
              <a:rPr lang="en-US" b="1" dirty="0">
                <a:latin typeface="Arial Narrow" pitchFamily="34" charset="0"/>
              </a:rPr>
              <a:t>desirous of society yet by nature so self-interested as to </a:t>
            </a:r>
            <a:r>
              <a:rPr lang="en-US" b="1" dirty="0" smtClean="0">
                <a:latin typeface="Arial Narrow" pitchFamily="34" charset="0"/>
              </a:rPr>
              <a:t>undermine society.</a:t>
            </a:r>
          </a:p>
          <a:p>
            <a:pPr algn="just"/>
            <a:r>
              <a:rPr lang="en-US" dirty="0" smtClean="0"/>
              <a:t> </a:t>
            </a:r>
            <a:r>
              <a:rPr lang="en-US" dirty="0" smtClean="0">
                <a:latin typeface="Arial Narrow" pitchFamily="34" charset="0"/>
              </a:rPr>
              <a:t>Like </a:t>
            </a:r>
            <a:r>
              <a:rPr lang="en-US" b="1" dirty="0" smtClean="0">
                <a:latin typeface="Arial Narrow" pitchFamily="34" charset="0"/>
              </a:rPr>
              <a:t>Hugo</a:t>
            </a:r>
            <a:r>
              <a:rPr lang="en-US" dirty="0" smtClean="0">
                <a:latin typeface="Arial Narrow" pitchFamily="34" charset="0"/>
              </a:rPr>
              <a:t>, </a:t>
            </a:r>
            <a:r>
              <a:rPr lang="en-US" b="1" dirty="0" smtClean="0">
                <a:latin typeface="Arial Narrow" pitchFamily="34" charset="0"/>
              </a:rPr>
              <a:t>Samuel </a:t>
            </a:r>
            <a:r>
              <a:rPr lang="en-US" b="1" dirty="0" err="1">
                <a:latin typeface="Arial Narrow" pitchFamily="34" charset="0"/>
              </a:rPr>
              <a:t>Pufendorf</a:t>
            </a:r>
            <a:r>
              <a:rPr lang="en-US" b="1" dirty="0">
                <a:latin typeface="Arial Narrow" pitchFamily="34" charset="0"/>
              </a:rPr>
              <a:t> </a:t>
            </a:r>
            <a:r>
              <a:rPr lang="en-US" dirty="0">
                <a:latin typeface="Arial Narrow" pitchFamily="34" charset="0"/>
              </a:rPr>
              <a:t>thought that although </a:t>
            </a:r>
            <a:r>
              <a:rPr lang="en-US" b="1" dirty="0">
                <a:latin typeface="Arial Narrow" pitchFamily="34" charset="0"/>
              </a:rPr>
              <a:t>divine </a:t>
            </a:r>
            <a:r>
              <a:rPr lang="en-US" b="1" dirty="0" smtClean="0">
                <a:latin typeface="Arial Narrow" pitchFamily="34" charset="0"/>
              </a:rPr>
              <a:t>revelation</a:t>
            </a:r>
            <a:r>
              <a:rPr lang="en-US" dirty="0" smtClean="0">
                <a:latin typeface="Arial Narrow" pitchFamily="34" charset="0"/>
              </a:rPr>
              <a:t> may </a:t>
            </a:r>
            <a:r>
              <a:rPr lang="en-US" dirty="0">
                <a:latin typeface="Arial Narrow" pitchFamily="34" charset="0"/>
              </a:rPr>
              <a:t>help us to know </a:t>
            </a:r>
            <a:r>
              <a:rPr lang="en-US" b="1" dirty="0">
                <a:latin typeface="Arial Narrow" pitchFamily="34" charset="0"/>
              </a:rPr>
              <a:t>natural law</a:t>
            </a:r>
            <a:r>
              <a:rPr lang="en-US" dirty="0">
                <a:latin typeface="Arial Narrow" pitchFamily="34" charset="0"/>
              </a:rPr>
              <a:t>, ‘it can still be investigated and </a:t>
            </a:r>
            <a:r>
              <a:rPr lang="en-US" dirty="0" smtClean="0">
                <a:latin typeface="Arial Narrow" pitchFamily="34" charset="0"/>
              </a:rPr>
              <a:t>definitely proved</a:t>
            </a:r>
            <a:r>
              <a:rPr lang="en-US" dirty="0">
                <a:latin typeface="Arial Narrow" pitchFamily="34" charset="0"/>
              </a:rPr>
              <a:t>, even without such aid, by the </a:t>
            </a:r>
            <a:r>
              <a:rPr lang="en-US" b="1" dirty="0">
                <a:latin typeface="Arial Narrow" pitchFamily="34" charset="0"/>
              </a:rPr>
              <a:t>power of reason</a:t>
            </a:r>
            <a:r>
              <a:rPr lang="en-US" dirty="0" smtClean="0">
                <a:latin typeface="Arial Narrow" pitchFamily="34" charset="0"/>
              </a:rPr>
              <a:t>’. </a:t>
            </a:r>
            <a:r>
              <a:rPr lang="en-US" dirty="0">
                <a:latin typeface="Arial Narrow" pitchFamily="34" charset="0"/>
              </a:rPr>
              <a:t>What </a:t>
            </a:r>
            <a:r>
              <a:rPr lang="en-US" dirty="0" smtClean="0">
                <a:latin typeface="Arial Narrow" pitchFamily="34" charset="0"/>
              </a:rPr>
              <a:t>particularly needs </a:t>
            </a:r>
            <a:r>
              <a:rPr lang="en-US" dirty="0">
                <a:latin typeface="Arial Narrow" pitchFamily="34" charset="0"/>
              </a:rPr>
              <a:t>empirical investigation, he thought, is which precepts are needed </a:t>
            </a:r>
            <a:r>
              <a:rPr lang="en-US" dirty="0" smtClean="0">
                <a:latin typeface="Arial Narrow" pitchFamily="34" charset="0"/>
              </a:rPr>
              <a:t>to produce </a:t>
            </a:r>
            <a:r>
              <a:rPr lang="en-US" b="1" dirty="0">
                <a:latin typeface="Arial Narrow" pitchFamily="34" charset="0"/>
              </a:rPr>
              <a:t>a rationally stable society </a:t>
            </a:r>
            <a:r>
              <a:rPr lang="en-US" dirty="0">
                <a:latin typeface="Arial Narrow" pitchFamily="34" charset="0"/>
              </a:rPr>
              <a:t>out of the </a:t>
            </a:r>
            <a:r>
              <a:rPr lang="en-US" dirty="0" err="1">
                <a:latin typeface="Arial Narrow" pitchFamily="34" charset="0"/>
              </a:rPr>
              <a:t>unsocially</a:t>
            </a:r>
            <a:r>
              <a:rPr lang="en-US" dirty="0">
                <a:latin typeface="Arial Narrow" pitchFamily="34" charset="0"/>
              </a:rPr>
              <a:t> social creatures </a:t>
            </a:r>
            <a:r>
              <a:rPr lang="en-US" dirty="0" smtClean="0">
                <a:latin typeface="Arial Narrow" pitchFamily="34" charset="0"/>
              </a:rPr>
              <a:t>that human </a:t>
            </a:r>
            <a:r>
              <a:rPr lang="en-US" dirty="0">
                <a:latin typeface="Arial Narrow" pitchFamily="34" charset="0"/>
              </a:rPr>
              <a:t>beings </a:t>
            </a:r>
            <a:r>
              <a:rPr lang="en-US" dirty="0" smtClean="0">
                <a:latin typeface="Arial Narrow" pitchFamily="34" charset="0"/>
              </a:rPr>
              <a:t>are.</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fontScale="90000"/>
          </a:bodyPr>
          <a:lstStyle/>
          <a:p>
            <a:r>
              <a:rPr lang="en-US" b="1" dirty="0" smtClean="0">
                <a:latin typeface="Arial Narrow" pitchFamily="34" charset="0"/>
              </a:rPr>
              <a:t>The </a:t>
            </a:r>
            <a:r>
              <a:rPr lang="en-US" b="1" dirty="0">
                <a:latin typeface="Arial Narrow" pitchFamily="34" charset="0"/>
              </a:rPr>
              <a:t>Enlightenment </a:t>
            </a:r>
            <a:r>
              <a:rPr lang="en-US" b="1" dirty="0" smtClean="0">
                <a:latin typeface="Arial Narrow" pitchFamily="34" charset="0"/>
              </a:rPr>
              <a:t>Project </a:t>
            </a:r>
            <a:r>
              <a:rPr lang="en-US" b="1" dirty="0">
                <a:latin typeface="Arial Narrow" pitchFamily="34" charset="0"/>
              </a:rPr>
              <a:t>on </a:t>
            </a:r>
            <a:r>
              <a:rPr lang="en-US" b="1" dirty="0" smtClean="0">
                <a:latin typeface="Arial Narrow" pitchFamily="34" charset="0"/>
              </a:rPr>
              <a:t>Human Rights</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lnSpcReduction="20000"/>
          </a:bodyPr>
          <a:lstStyle/>
          <a:p>
            <a:pPr algn="just"/>
            <a:r>
              <a:rPr lang="en-US" b="1" dirty="0" smtClean="0">
                <a:latin typeface="Arial Narrow" pitchFamily="34" charset="0"/>
              </a:rPr>
              <a:t>John Locke </a:t>
            </a:r>
            <a:r>
              <a:rPr lang="en-US" b="1" i="1" dirty="0" smtClean="0">
                <a:latin typeface="Arial Narrow" pitchFamily="34" charset="0"/>
              </a:rPr>
              <a:t>(</a:t>
            </a:r>
            <a:r>
              <a:rPr lang="en-US" b="1" i="1" dirty="0">
                <a:latin typeface="Arial Narrow" pitchFamily="34" charset="0"/>
              </a:rPr>
              <a:t>Two Treatises of Civil Government</a:t>
            </a:r>
            <a:r>
              <a:rPr lang="en-US" b="1" dirty="0" smtClean="0">
                <a:latin typeface="Arial Narrow" pitchFamily="34" charset="0"/>
              </a:rPr>
              <a:t>)</a:t>
            </a:r>
            <a:r>
              <a:rPr lang="en-US" dirty="0">
                <a:latin typeface="Arial Narrow" pitchFamily="34" charset="0"/>
              </a:rPr>
              <a:t> Locke does from time to </a:t>
            </a:r>
            <a:r>
              <a:rPr lang="en-US" b="1" dirty="0">
                <a:latin typeface="Arial Narrow" pitchFamily="34" charset="0"/>
              </a:rPr>
              <a:t>time </a:t>
            </a:r>
            <a:r>
              <a:rPr lang="en-US" b="1" dirty="0" smtClean="0">
                <a:latin typeface="Arial Narrow" pitchFamily="34" charset="0"/>
              </a:rPr>
              <a:t>refer to </a:t>
            </a:r>
            <a:r>
              <a:rPr lang="en-US" b="1" dirty="0">
                <a:latin typeface="Arial Narrow" pitchFamily="34" charset="0"/>
              </a:rPr>
              <a:t>God, but it is the God of the Deists: the designer who set the great </a:t>
            </a:r>
            <a:r>
              <a:rPr lang="en-US" b="1" dirty="0" smtClean="0">
                <a:latin typeface="Arial Narrow" pitchFamily="34" charset="0"/>
              </a:rPr>
              <a:t>machine going </a:t>
            </a:r>
            <a:r>
              <a:rPr lang="en-US" b="1" dirty="0">
                <a:latin typeface="Arial Narrow" pitchFamily="34" charset="0"/>
              </a:rPr>
              <a:t>and then departed from the scene—no intervention, no revelation</a:t>
            </a:r>
            <a:r>
              <a:rPr lang="en-US" dirty="0"/>
              <a:t>.</a:t>
            </a:r>
            <a:r>
              <a:rPr lang="en-US" b="1" dirty="0" smtClean="0">
                <a:latin typeface="Arial Narrow" pitchFamily="34" charset="0"/>
              </a:rPr>
              <a:t> </a:t>
            </a:r>
            <a:r>
              <a:rPr lang="en-US" b="1" dirty="0">
                <a:latin typeface="Arial Narrow" pitchFamily="34" charset="0"/>
              </a:rPr>
              <a:t>Reason</a:t>
            </a:r>
            <a:r>
              <a:rPr lang="en-US" dirty="0">
                <a:latin typeface="Arial Narrow" pitchFamily="34" charset="0"/>
              </a:rPr>
              <a:t> alone, he thought, can </a:t>
            </a:r>
            <a:r>
              <a:rPr lang="en-US" dirty="0" smtClean="0">
                <a:latin typeface="Arial Narrow" pitchFamily="34" charset="0"/>
              </a:rPr>
              <a:t>establish fundamental </a:t>
            </a:r>
            <a:r>
              <a:rPr lang="en-US" dirty="0">
                <a:latin typeface="Arial Narrow" pitchFamily="34" charset="0"/>
              </a:rPr>
              <a:t>moral principles—indeed, can establish them with </a:t>
            </a:r>
            <a:r>
              <a:rPr lang="en-US" dirty="0" smtClean="0">
                <a:latin typeface="Arial Narrow" pitchFamily="34" charset="0"/>
              </a:rPr>
              <a:t>certainty. The </a:t>
            </a:r>
            <a:r>
              <a:rPr lang="en-US" dirty="0">
                <a:latin typeface="Arial Narrow" pitchFamily="34" charset="0"/>
              </a:rPr>
              <a:t>natural rights that </a:t>
            </a:r>
            <a:r>
              <a:rPr lang="en-US" dirty="0" smtClean="0">
                <a:latin typeface="Arial Narrow" pitchFamily="34" charset="0"/>
              </a:rPr>
              <a:t>he focused </a:t>
            </a:r>
            <a:r>
              <a:rPr lang="en-US" dirty="0">
                <a:latin typeface="Arial Narrow" pitchFamily="34" charset="0"/>
              </a:rPr>
              <a:t>on were the </a:t>
            </a:r>
            <a:r>
              <a:rPr lang="en-US" b="1" dirty="0">
                <a:latin typeface="Arial Narrow" pitchFamily="34" charset="0"/>
              </a:rPr>
              <a:t>taking of a person’s life, liberty, or property without </a:t>
            </a:r>
            <a:r>
              <a:rPr lang="en-US" b="1" dirty="0" smtClean="0">
                <a:latin typeface="Arial Narrow" pitchFamily="34" charset="0"/>
              </a:rPr>
              <a:t>due process</a:t>
            </a:r>
            <a:r>
              <a:rPr lang="en-US" dirty="0">
                <a:latin typeface="Arial Narrow" pitchFamily="34" charset="0"/>
              </a:rPr>
              <a:t>, the three most common ways for monarchs to keep their </a:t>
            </a:r>
            <a:r>
              <a:rPr lang="en-US" dirty="0" smtClean="0">
                <a:latin typeface="Arial Narrow" pitchFamily="34" charset="0"/>
              </a:rPr>
              <a:t>subjects under </a:t>
            </a:r>
            <a:r>
              <a:rPr lang="en-US" dirty="0">
                <a:latin typeface="Arial Narrow" pitchFamily="34" charset="0"/>
              </a:rPr>
              <a:t>their thumb</a:t>
            </a:r>
            <a:r>
              <a:rPr lang="en-US" dirty="0" smtClean="0">
                <a:latin typeface="Arial Narrow" pitchFamily="34" charset="0"/>
              </a:rPr>
              <a:t>.</a:t>
            </a:r>
          </a:p>
          <a:p>
            <a:pPr algn="just"/>
            <a:r>
              <a:rPr lang="en-US" b="1" dirty="0" smtClean="0">
                <a:latin typeface="Arial Narrow" pitchFamily="34" charset="0"/>
              </a:rPr>
              <a:t>Comprehensive lists of natural/human rights were increasing from time to time including –</a:t>
            </a:r>
          </a:p>
          <a:p>
            <a:pPr lvl="1" algn="just"/>
            <a:r>
              <a:rPr lang="en-US" dirty="0" smtClean="0">
                <a:latin typeface="Arial Narrow" pitchFamily="34" charset="0"/>
              </a:rPr>
              <a:t>The England</a:t>
            </a:r>
            <a:r>
              <a:rPr lang="en-US" dirty="0">
                <a:latin typeface="Arial Narrow" pitchFamily="34" charset="0"/>
              </a:rPr>
              <a:t>, </a:t>
            </a:r>
            <a:r>
              <a:rPr lang="en-US" b="1" i="1" dirty="0">
                <a:latin typeface="Arial Narrow" pitchFamily="34" charset="0"/>
              </a:rPr>
              <a:t>Magna </a:t>
            </a:r>
            <a:r>
              <a:rPr lang="en-US" b="1" i="1" dirty="0" err="1">
                <a:latin typeface="Arial Narrow" pitchFamily="34" charset="0"/>
              </a:rPr>
              <a:t>Carta</a:t>
            </a:r>
            <a:r>
              <a:rPr lang="en-US" b="1" i="1" dirty="0">
                <a:latin typeface="Arial Narrow" pitchFamily="34" charset="0"/>
              </a:rPr>
              <a:t> </a:t>
            </a:r>
            <a:r>
              <a:rPr lang="en-US" b="1" dirty="0">
                <a:latin typeface="Arial Narrow" pitchFamily="34" charset="0"/>
              </a:rPr>
              <a:t>(1215</a:t>
            </a:r>
            <a:r>
              <a:rPr lang="en-US" dirty="0">
                <a:latin typeface="Arial Narrow" pitchFamily="34" charset="0"/>
              </a:rPr>
              <a:t>) concerned the rights of </a:t>
            </a:r>
            <a:r>
              <a:rPr lang="en-US" dirty="0" smtClean="0">
                <a:latin typeface="Arial Narrow" pitchFamily="34" charset="0"/>
              </a:rPr>
              <a:t>certain social </a:t>
            </a:r>
            <a:r>
              <a:rPr lang="en-US" dirty="0">
                <a:latin typeface="Arial Narrow" pitchFamily="34" charset="0"/>
              </a:rPr>
              <a:t>classes and </a:t>
            </a:r>
            <a:r>
              <a:rPr lang="en-US" dirty="0" smtClean="0">
                <a:latin typeface="Arial Narrow" pitchFamily="34" charset="0"/>
              </a:rPr>
              <a:t>institutions.</a:t>
            </a:r>
          </a:p>
          <a:p>
            <a:pPr lvl="1" algn="just"/>
            <a:r>
              <a:rPr lang="en-US" dirty="0">
                <a:latin typeface="Arial Narrow" pitchFamily="34" charset="0"/>
              </a:rPr>
              <a:t>The </a:t>
            </a:r>
            <a:r>
              <a:rPr lang="en-US" b="1" dirty="0">
                <a:latin typeface="Arial Narrow" pitchFamily="34" charset="0"/>
              </a:rPr>
              <a:t>English Bill of Rights (1688</a:t>
            </a:r>
            <a:r>
              <a:rPr lang="en-US" dirty="0">
                <a:latin typeface="Arial Narrow" pitchFamily="34" charset="0"/>
              </a:rPr>
              <a:t>) was concerned with ‘</a:t>
            </a:r>
            <a:r>
              <a:rPr lang="en-US" dirty="0" smtClean="0">
                <a:latin typeface="Arial Narrow" pitchFamily="34" charset="0"/>
              </a:rPr>
              <a:t>vindicating and </a:t>
            </a:r>
            <a:r>
              <a:rPr lang="en-US" dirty="0">
                <a:latin typeface="Arial Narrow" pitchFamily="34" charset="0"/>
              </a:rPr>
              <a:t>asserting their ancient rights and liberties</a:t>
            </a:r>
            <a:endParaRPr lang="en-US" dirty="0" smtClean="0">
              <a:latin typeface="Arial Narrow" pitchFamily="34" charset="0"/>
            </a:endParaRPr>
          </a:p>
          <a:p>
            <a:pPr lvl="1" algn="just"/>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85000" lnSpcReduction="10000"/>
          </a:bodyPr>
          <a:lstStyle/>
          <a:p>
            <a:pPr algn="just"/>
            <a:r>
              <a:rPr lang="en-US" dirty="0" smtClean="0">
                <a:latin typeface="Arial Narrow" pitchFamily="34" charset="0"/>
              </a:rPr>
              <a:t>The </a:t>
            </a:r>
            <a:r>
              <a:rPr lang="en-US" b="1" dirty="0" smtClean="0">
                <a:latin typeface="Arial Narrow" pitchFamily="34" charset="0"/>
              </a:rPr>
              <a:t>American Declaration </a:t>
            </a:r>
            <a:r>
              <a:rPr lang="en-US" b="1" dirty="0">
                <a:latin typeface="Arial Narrow" pitchFamily="34" charset="0"/>
              </a:rPr>
              <a:t>of Independence (1776) fell back </a:t>
            </a:r>
            <a:r>
              <a:rPr lang="en-US" b="1" dirty="0" smtClean="0">
                <a:latin typeface="Arial Narrow" pitchFamily="34" charset="0"/>
              </a:rPr>
              <a:t>on </a:t>
            </a:r>
            <a:r>
              <a:rPr lang="en-US" b="1" i="1" dirty="0" smtClean="0">
                <a:latin typeface="Arial Narrow" pitchFamily="34" charset="0"/>
              </a:rPr>
              <a:t>natural </a:t>
            </a:r>
            <a:r>
              <a:rPr lang="en-US" b="1" i="1" dirty="0">
                <a:latin typeface="Arial Narrow" pitchFamily="34" charset="0"/>
              </a:rPr>
              <a:t>rights</a:t>
            </a:r>
            <a:r>
              <a:rPr lang="en-US" i="1" dirty="0" smtClean="0">
                <a:latin typeface="Arial Narrow" pitchFamily="34" charset="0"/>
              </a:rPr>
              <a:t>. And </a:t>
            </a:r>
            <a:r>
              <a:rPr lang="en-US" dirty="0">
                <a:latin typeface="Arial Narrow" pitchFamily="34" charset="0"/>
              </a:rPr>
              <a:t>the </a:t>
            </a:r>
            <a:r>
              <a:rPr lang="en-US" b="1" dirty="0">
                <a:latin typeface="Arial Narrow" pitchFamily="34" charset="0"/>
              </a:rPr>
              <a:t>United States Bill of Rights (</a:t>
            </a:r>
            <a:r>
              <a:rPr lang="en-US" b="1" dirty="0" smtClean="0">
                <a:latin typeface="Arial Narrow" pitchFamily="34" charset="0"/>
              </a:rPr>
              <a:t>1791)</a:t>
            </a:r>
          </a:p>
          <a:p>
            <a:pPr algn="just"/>
            <a:r>
              <a:rPr lang="en-US" b="1" dirty="0">
                <a:latin typeface="Arial Narrow" pitchFamily="34" charset="0"/>
              </a:rPr>
              <a:t>Natural law </a:t>
            </a:r>
            <a:r>
              <a:rPr lang="en-US" dirty="0">
                <a:latin typeface="Arial Narrow" pitchFamily="34" charset="0"/>
              </a:rPr>
              <a:t>began as part of a teleological </a:t>
            </a:r>
            <a:r>
              <a:rPr lang="en-US" dirty="0" smtClean="0">
                <a:latin typeface="Arial Narrow" pitchFamily="34" charset="0"/>
              </a:rPr>
              <a:t>metaphysics </a:t>
            </a:r>
            <a:r>
              <a:rPr lang="en-US" dirty="0">
                <a:latin typeface="Arial Narrow" pitchFamily="34" charset="0"/>
              </a:rPr>
              <a:t>capable of </a:t>
            </a:r>
            <a:r>
              <a:rPr lang="en-US" dirty="0" smtClean="0">
                <a:latin typeface="Arial Narrow" pitchFamily="34" charset="0"/>
              </a:rPr>
              <a:t>supporting strong </a:t>
            </a:r>
            <a:r>
              <a:rPr lang="en-US" dirty="0">
                <a:latin typeface="Arial Narrow" pitchFamily="34" charset="0"/>
              </a:rPr>
              <a:t>interpretations of how </a:t>
            </a:r>
            <a:r>
              <a:rPr lang="en-US" b="1" dirty="0">
                <a:latin typeface="Arial Narrow" pitchFamily="34" charset="0"/>
              </a:rPr>
              <a:t>morality is rooted in nature</a:t>
            </a:r>
            <a:r>
              <a:rPr lang="en-US" dirty="0">
                <a:latin typeface="Arial Narrow" pitchFamily="34" charset="0"/>
              </a:rPr>
              <a:t>, and it </a:t>
            </a:r>
            <a:r>
              <a:rPr lang="en-US" dirty="0" smtClean="0">
                <a:latin typeface="Arial Narrow" pitchFamily="34" charset="0"/>
              </a:rPr>
              <a:t>ended up </a:t>
            </a:r>
            <a:r>
              <a:rPr lang="en-US" dirty="0">
                <a:latin typeface="Arial Narrow" pitchFamily="34" charset="0"/>
              </a:rPr>
              <a:t>at the close of the eighteenth century in something </a:t>
            </a:r>
            <a:r>
              <a:rPr lang="en-US" dirty="0" smtClean="0">
                <a:latin typeface="Arial Narrow" pitchFamily="34" charset="0"/>
              </a:rPr>
              <a:t>approaching vacuity.</a:t>
            </a:r>
          </a:p>
          <a:p>
            <a:pPr algn="just"/>
            <a:r>
              <a:rPr lang="en-US" dirty="0">
                <a:latin typeface="Arial Narrow" pitchFamily="34" charset="0"/>
              </a:rPr>
              <a:t>In the case of ‘</a:t>
            </a:r>
            <a:r>
              <a:rPr lang="en-US" b="1" dirty="0">
                <a:latin typeface="Arial Narrow" pitchFamily="34" charset="0"/>
              </a:rPr>
              <a:t>human rights</a:t>
            </a:r>
            <a:r>
              <a:rPr lang="en-US" dirty="0">
                <a:latin typeface="Arial Narrow" pitchFamily="34" charset="0"/>
              </a:rPr>
              <a:t>’ there are so few criteria to </a:t>
            </a:r>
            <a:r>
              <a:rPr lang="en-US" dirty="0" smtClean="0">
                <a:latin typeface="Arial Narrow" pitchFamily="34" charset="0"/>
              </a:rPr>
              <a:t>determine when </a:t>
            </a:r>
            <a:r>
              <a:rPr lang="en-US" dirty="0">
                <a:latin typeface="Arial Narrow" pitchFamily="34" charset="0"/>
              </a:rPr>
              <a:t>the term is used </a:t>
            </a:r>
            <a:r>
              <a:rPr lang="en-US" b="1" dirty="0">
                <a:latin typeface="Arial Narrow" pitchFamily="34" charset="0"/>
              </a:rPr>
              <a:t>correctly or incorrectly </a:t>
            </a:r>
            <a:r>
              <a:rPr lang="en-US" dirty="0">
                <a:latin typeface="Arial Narrow" pitchFamily="34" charset="0"/>
              </a:rPr>
              <a:t>that we are largely in the </a:t>
            </a:r>
            <a:r>
              <a:rPr lang="en-US" dirty="0" smtClean="0">
                <a:latin typeface="Arial Narrow" pitchFamily="34" charset="0"/>
              </a:rPr>
              <a:t>dark even </a:t>
            </a:r>
            <a:r>
              <a:rPr lang="en-US" dirty="0">
                <a:latin typeface="Arial Narrow" pitchFamily="34" charset="0"/>
              </a:rPr>
              <a:t>as to what considerations are to be taken as relevant. </a:t>
            </a:r>
            <a:r>
              <a:rPr lang="en-US" b="1" dirty="0">
                <a:latin typeface="Arial Narrow" pitchFamily="34" charset="0"/>
              </a:rPr>
              <a:t>In contrast</a:t>
            </a:r>
            <a:r>
              <a:rPr lang="en-US" dirty="0">
                <a:latin typeface="Arial Narrow" pitchFamily="34" charset="0"/>
              </a:rPr>
              <a:t>, </a:t>
            </a:r>
            <a:r>
              <a:rPr lang="en-US" dirty="0" smtClean="0">
                <a:latin typeface="Arial Narrow" pitchFamily="34" charset="0"/>
              </a:rPr>
              <a:t>we largely </a:t>
            </a:r>
            <a:r>
              <a:rPr lang="en-US" dirty="0">
                <a:latin typeface="Arial Narrow" pitchFamily="34" charset="0"/>
              </a:rPr>
              <a:t>agree about what is relevant to </a:t>
            </a:r>
            <a:r>
              <a:rPr lang="en-US" b="1" dirty="0">
                <a:latin typeface="Arial Narrow" pitchFamily="34" charset="0"/>
              </a:rPr>
              <a:t>correct and incorrect use of the </a:t>
            </a:r>
            <a:r>
              <a:rPr lang="en-US" b="1" dirty="0" smtClean="0">
                <a:latin typeface="Arial Narrow" pitchFamily="34" charset="0"/>
              </a:rPr>
              <a:t>word ‘</a:t>
            </a:r>
            <a:r>
              <a:rPr lang="en-US" b="1" dirty="0">
                <a:latin typeface="Arial Narrow" pitchFamily="34" charset="0"/>
              </a:rPr>
              <a:t>justice</a:t>
            </a:r>
            <a:r>
              <a:rPr lang="en-US" dirty="0">
                <a:latin typeface="Arial Narrow" pitchFamily="34" charset="0"/>
              </a:rPr>
              <a:t>’. The words ‘just’ and ‘fair’, as we have them in ordinary speech</a:t>
            </a:r>
            <a:r>
              <a:rPr lang="en-US" dirty="0" smtClean="0">
                <a:latin typeface="Arial Narrow" pitchFamily="34" charset="0"/>
              </a:rPr>
              <a:t>, are </a:t>
            </a:r>
            <a:r>
              <a:rPr lang="en-US" dirty="0">
                <a:latin typeface="Arial Narrow" pitchFamily="34" charset="0"/>
              </a:rPr>
              <a:t>such that, so long as the context or the speaker makes clear what </a:t>
            </a:r>
            <a:r>
              <a:rPr lang="en-US" dirty="0" smtClean="0">
                <a:latin typeface="Arial Narrow" pitchFamily="34" charset="0"/>
              </a:rPr>
              <a:t>sort of </a:t>
            </a:r>
            <a:r>
              <a:rPr lang="en-US" dirty="0">
                <a:latin typeface="Arial Narrow" pitchFamily="34" charset="0"/>
              </a:rPr>
              <a:t>justice is under discussion—distributive, retributive, procedural, or </a:t>
            </a:r>
            <a:r>
              <a:rPr lang="en-US" dirty="0" smtClean="0">
                <a:latin typeface="Arial Narrow" pitchFamily="34" charset="0"/>
              </a:rPr>
              <a:t>so on—we </a:t>
            </a:r>
            <a:r>
              <a:rPr lang="en-US" dirty="0">
                <a:latin typeface="Arial Narrow" pitchFamily="34" charset="0"/>
              </a:rPr>
              <a:t>largely agree on what is at </a:t>
            </a:r>
            <a:r>
              <a:rPr lang="en-US" dirty="0" smtClean="0">
                <a:latin typeface="Arial Narrow" pitchFamily="34" charset="0"/>
              </a:rPr>
              <a:t>issue. HRs are </a:t>
            </a:r>
            <a:r>
              <a:rPr lang="en-US" b="1" dirty="0" smtClean="0">
                <a:latin typeface="Arial Narrow" pitchFamily="34" charset="0"/>
              </a:rPr>
              <a:t>indeterminate</a:t>
            </a:r>
            <a:r>
              <a:rPr lang="en-US" dirty="0" smtClean="0">
                <a:latin typeface="Arial Narrow" pitchFamily="34" charset="0"/>
              </a:rPr>
              <a:t> notions.</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p:spPr>
        <p:txBody>
          <a:bodyPr>
            <a:normAutofit fontScale="90000"/>
          </a:bodyPr>
          <a:lstStyle/>
          <a:p>
            <a:r>
              <a:rPr lang="en-US" b="1" dirty="0" smtClean="0">
                <a:latin typeface="Arial Narrow" pitchFamily="34" charset="0"/>
              </a:rPr>
              <a:t>Different Approaches to Explaining Rights :Substantive and Structural Accounts</a:t>
            </a:r>
            <a:endParaRPr lang="en-US" b="1" dirty="0">
              <a:latin typeface="Arial Narrow" pitchFamily="34" charset="0"/>
            </a:endParaRPr>
          </a:p>
        </p:txBody>
      </p:sp>
      <p:sp>
        <p:nvSpPr>
          <p:cNvPr id="3" name="Content Placeholder 2"/>
          <p:cNvSpPr>
            <a:spLocks noGrp="1"/>
          </p:cNvSpPr>
          <p:nvPr>
            <p:ph idx="1"/>
          </p:nvPr>
        </p:nvSpPr>
        <p:spPr>
          <a:xfrm>
            <a:off x="0" y="1219200"/>
            <a:ext cx="9144000" cy="5638800"/>
          </a:xfrm>
        </p:spPr>
        <p:txBody>
          <a:bodyPr>
            <a:normAutofit fontScale="92500" lnSpcReduction="10000"/>
          </a:bodyPr>
          <a:lstStyle/>
          <a:p>
            <a:pPr algn="just"/>
            <a:r>
              <a:rPr lang="en-US" b="1" dirty="0" smtClean="0">
                <a:latin typeface="Arial Narrow" pitchFamily="34" charset="0"/>
              </a:rPr>
              <a:t>Joel Feinberg’s </a:t>
            </a:r>
            <a:r>
              <a:rPr lang="en-US" dirty="0">
                <a:latin typeface="Arial Narrow" pitchFamily="34" charset="0"/>
              </a:rPr>
              <a:t>account of rights is </a:t>
            </a:r>
            <a:r>
              <a:rPr lang="en-US" dirty="0" smtClean="0">
                <a:latin typeface="Arial Narrow" pitchFamily="34" charset="0"/>
              </a:rPr>
              <a:t>largely </a:t>
            </a:r>
            <a:r>
              <a:rPr lang="en-US" b="1" dirty="0" smtClean="0">
                <a:latin typeface="Arial Narrow" pitchFamily="34" charset="0"/>
              </a:rPr>
              <a:t>structural</a:t>
            </a:r>
            <a:r>
              <a:rPr lang="en-US" dirty="0" smtClean="0">
                <a:latin typeface="Arial Narrow" pitchFamily="34" charset="0"/>
              </a:rPr>
              <a:t>. </a:t>
            </a:r>
            <a:r>
              <a:rPr lang="en-US" b="1" dirty="0" smtClean="0">
                <a:latin typeface="Arial Narrow" pitchFamily="34" charset="0"/>
              </a:rPr>
              <a:t>A </a:t>
            </a:r>
            <a:r>
              <a:rPr lang="en-US" b="1" dirty="0">
                <a:latin typeface="Arial Narrow" pitchFamily="34" charset="0"/>
              </a:rPr>
              <a:t>right</a:t>
            </a:r>
            <a:r>
              <a:rPr lang="en-US" dirty="0">
                <a:latin typeface="Arial Narrow" pitchFamily="34" charset="0"/>
              </a:rPr>
              <a:t>, he says, is a </a:t>
            </a:r>
            <a:r>
              <a:rPr lang="en-US" dirty="0" smtClean="0">
                <a:latin typeface="Arial Narrow" pitchFamily="34" charset="0"/>
              </a:rPr>
              <a:t>claim with </a:t>
            </a:r>
            <a:r>
              <a:rPr lang="en-US" dirty="0">
                <a:latin typeface="Arial Narrow" pitchFamily="34" charset="0"/>
              </a:rPr>
              <a:t>two features: </a:t>
            </a:r>
            <a:r>
              <a:rPr lang="en-US" b="1" dirty="0">
                <a:latin typeface="Arial Narrow" pitchFamily="34" charset="0"/>
              </a:rPr>
              <a:t>it is a claim, first, </a:t>
            </a:r>
            <a:r>
              <a:rPr lang="en-US" b="1" i="1" dirty="0">
                <a:latin typeface="Arial Narrow" pitchFamily="34" charset="0"/>
              </a:rPr>
              <a:t>against specifiable individuals and</a:t>
            </a:r>
            <a:r>
              <a:rPr lang="en-US" b="1" i="1" dirty="0" smtClean="0">
                <a:latin typeface="Arial Narrow" pitchFamily="34" charset="0"/>
              </a:rPr>
              <a:t>, </a:t>
            </a:r>
            <a:r>
              <a:rPr lang="en-US" b="1" dirty="0" smtClean="0">
                <a:latin typeface="Arial Narrow" pitchFamily="34" charset="0"/>
              </a:rPr>
              <a:t>second</a:t>
            </a:r>
            <a:r>
              <a:rPr lang="en-US" b="1" dirty="0">
                <a:latin typeface="Arial Narrow" pitchFamily="34" charset="0"/>
              </a:rPr>
              <a:t>, </a:t>
            </a:r>
            <a:r>
              <a:rPr lang="en-US" b="1" i="1" dirty="0">
                <a:latin typeface="Arial Narrow" pitchFamily="34" charset="0"/>
              </a:rPr>
              <a:t>to their action or omission on one’s </a:t>
            </a:r>
            <a:r>
              <a:rPr lang="en-US" b="1" i="1" dirty="0" smtClean="0">
                <a:latin typeface="Arial Narrow" pitchFamily="34" charset="0"/>
              </a:rPr>
              <a:t>behalf. </a:t>
            </a:r>
            <a:r>
              <a:rPr lang="en-US" dirty="0">
                <a:latin typeface="Arial Narrow" pitchFamily="34" charset="0"/>
              </a:rPr>
              <a:t>it </a:t>
            </a:r>
            <a:r>
              <a:rPr lang="en-US" dirty="0" smtClean="0">
                <a:latin typeface="Arial Narrow" pitchFamily="34" charset="0"/>
              </a:rPr>
              <a:t>is such </a:t>
            </a:r>
            <a:r>
              <a:rPr lang="en-US" dirty="0">
                <a:latin typeface="Arial Narrow" pitchFamily="34" charset="0"/>
              </a:rPr>
              <a:t>a claim when it is sufficiently backed by </a:t>
            </a:r>
            <a:r>
              <a:rPr lang="en-US" b="1" dirty="0">
                <a:latin typeface="Arial Narrow" pitchFamily="34" charset="0"/>
              </a:rPr>
              <a:t>laws or moral principles </a:t>
            </a:r>
            <a:r>
              <a:rPr lang="en-US" dirty="0" smtClean="0">
                <a:latin typeface="Arial Narrow" pitchFamily="34" charset="0"/>
              </a:rPr>
              <a:t>and therefore </a:t>
            </a:r>
            <a:r>
              <a:rPr lang="en-US" dirty="0">
                <a:latin typeface="Arial Narrow" pitchFamily="34" charset="0"/>
              </a:rPr>
              <a:t>valid</a:t>
            </a:r>
            <a:r>
              <a:rPr lang="en-US" dirty="0" smtClean="0">
                <a:latin typeface="Arial Narrow" pitchFamily="34" charset="0"/>
              </a:rPr>
              <a:t>.</a:t>
            </a:r>
          </a:p>
          <a:p>
            <a:pPr algn="just"/>
            <a:r>
              <a:rPr lang="en-US" b="1" dirty="0">
                <a:latin typeface="Arial Narrow" pitchFamily="34" charset="0"/>
              </a:rPr>
              <a:t>Ronald </a:t>
            </a:r>
            <a:r>
              <a:rPr lang="en-US" b="1" dirty="0" err="1">
                <a:latin typeface="Arial Narrow" pitchFamily="34" charset="0"/>
              </a:rPr>
              <a:t>Dworkin’s</a:t>
            </a:r>
            <a:r>
              <a:rPr lang="en-US" b="1" dirty="0">
                <a:latin typeface="Arial Narrow" pitchFamily="34" charset="0"/>
              </a:rPr>
              <a:t> </a:t>
            </a:r>
            <a:r>
              <a:rPr lang="en-US" dirty="0">
                <a:latin typeface="Arial Narrow" pitchFamily="34" charset="0"/>
              </a:rPr>
              <a:t>view that rights are </a:t>
            </a:r>
            <a:r>
              <a:rPr lang="en-US" b="1" dirty="0">
                <a:latin typeface="Arial Narrow" pitchFamily="34" charset="0"/>
              </a:rPr>
              <a:t>‘trumps’ </a:t>
            </a:r>
            <a:r>
              <a:rPr lang="en-US" dirty="0">
                <a:latin typeface="Arial Narrow" pitchFamily="34" charset="0"/>
              </a:rPr>
              <a:t>is another highly </a:t>
            </a:r>
            <a:r>
              <a:rPr lang="en-US" dirty="0" smtClean="0">
                <a:latin typeface="Arial Narrow" pitchFamily="34" charset="0"/>
              </a:rPr>
              <a:t>structural one. Right </a:t>
            </a:r>
            <a:r>
              <a:rPr lang="en-US" dirty="0">
                <a:latin typeface="Arial Narrow" pitchFamily="34" charset="0"/>
              </a:rPr>
              <a:t>is as trumps over the best policy of promoting the </a:t>
            </a:r>
            <a:r>
              <a:rPr lang="en-US" b="1" dirty="0">
                <a:latin typeface="Arial Narrow" pitchFamily="34" charset="0"/>
              </a:rPr>
              <a:t>good of </a:t>
            </a:r>
            <a:r>
              <a:rPr lang="en-US" b="1" dirty="0" smtClean="0">
                <a:latin typeface="Arial Narrow" pitchFamily="34" charset="0"/>
              </a:rPr>
              <a:t>all</a:t>
            </a:r>
            <a:r>
              <a:rPr lang="en-US" dirty="0" smtClean="0">
                <a:latin typeface="Arial Narrow" pitchFamily="34" charset="0"/>
              </a:rPr>
              <a:t>. But it is not only rights that promote good of all but also justice and fairness do promote good of all.</a:t>
            </a:r>
            <a:r>
              <a:rPr lang="en-US" dirty="0">
                <a:latin typeface="Arial Narrow" pitchFamily="34" charset="0"/>
              </a:rPr>
              <a:t> </a:t>
            </a:r>
            <a:r>
              <a:rPr lang="en-US" dirty="0" smtClean="0">
                <a:latin typeface="Arial Narrow" pitchFamily="34" charset="0"/>
              </a:rPr>
              <a:t>The </a:t>
            </a:r>
            <a:r>
              <a:rPr lang="en-US" dirty="0">
                <a:latin typeface="Arial Narrow" pitchFamily="34" charset="0"/>
              </a:rPr>
              <a:t>domain of justice </a:t>
            </a:r>
            <a:r>
              <a:rPr lang="en-US" dirty="0" smtClean="0">
                <a:latin typeface="Arial Narrow" pitchFamily="34" charset="0"/>
              </a:rPr>
              <a:t>and the </a:t>
            </a:r>
            <a:r>
              <a:rPr lang="en-US" dirty="0">
                <a:latin typeface="Arial Narrow" pitchFamily="34" charset="0"/>
              </a:rPr>
              <a:t>domain of human rights are only </a:t>
            </a:r>
            <a:r>
              <a:rPr lang="en-US" b="1" dirty="0">
                <a:latin typeface="Arial Narrow" pitchFamily="34" charset="0"/>
              </a:rPr>
              <a:t>overlapping, not </a:t>
            </a:r>
            <a:r>
              <a:rPr lang="en-US" b="1" dirty="0" smtClean="0">
                <a:latin typeface="Arial Narrow" pitchFamily="34" charset="0"/>
              </a:rPr>
              <a:t>congruent</a:t>
            </a:r>
            <a:r>
              <a:rPr lang="en-US" dirty="0" smtClean="0"/>
              <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2286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304800"/>
            <a:ext cx="9144000" cy="6553200"/>
          </a:xfrm>
        </p:spPr>
        <p:txBody>
          <a:bodyPr>
            <a:normAutofit fontScale="77500" lnSpcReduction="20000"/>
          </a:bodyPr>
          <a:lstStyle/>
          <a:p>
            <a:pPr algn="just"/>
            <a:r>
              <a:rPr lang="en-US" dirty="0">
                <a:latin typeface="Arial Narrow" pitchFamily="34" charset="0"/>
              </a:rPr>
              <a:t>A satisfactory account of </a:t>
            </a:r>
            <a:r>
              <a:rPr lang="en-US" i="1" dirty="0">
                <a:latin typeface="Arial Narrow" pitchFamily="34" charset="0"/>
              </a:rPr>
              <a:t>human rights</a:t>
            </a:r>
            <a:r>
              <a:rPr lang="en-US" i="1" dirty="0" smtClean="0">
                <a:latin typeface="Arial Narrow" pitchFamily="34" charset="0"/>
              </a:rPr>
              <a:t>, </a:t>
            </a:r>
            <a:r>
              <a:rPr lang="en-US" dirty="0" smtClean="0">
                <a:latin typeface="Arial Narrow" pitchFamily="34" charset="0"/>
              </a:rPr>
              <a:t>therefore</a:t>
            </a:r>
            <a:r>
              <a:rPr lang="en-US" dirty="0">
                <a:latin typeface="Arial Narrow" pitchFamily="34" charset="0"/>
              </a:rPr>
              <a:t>, must contain some </a:t>
            </a:r>
            <a:r>
              <a:rPr lang="en-US" dirty="0" smtClean="0">
                <a:latin typeface="Arial Narrow" pitchFamily="34" charset="0"/>
              </a:rPr>
              <a:t>adumbration/indication </a:t>
            </a:r>
            <a:r>
              <a:rPr lang="en-US" dirty="0">
                <a:latin typeface="Arial Narrow" pitchFamily="34" charset="0"/>
              </a:rPr>
              <a:t>of that exceedingly vague </a:t>
            </a:r>
            <a:r>
              <a:rPr lang="en-US" dirty="0" smtClean="0">
                <a:latin typeface="Arial Narrow" pitchFamily="34" charset="0"/>
              </a:rPr>
              <a:t>term ‘</a:t>
            </a:r>
            <a:r>
              <a:rPr lang="en-US" b="1" dirty="0" smtClean="0">
                <a:latin typeface="Arial Narrow" pitchFamily="34" charset="0"/>
              </a:rPr>
              <a:t>human </a:t>
            </a:r>
            <a:r>
              <a:rPr lang="en-US" b="1" dirty="0">
                <a:latin typeface="Arial Narrow" pitchFamily="34" charset="0"/>
              </a:rPr>
              <a:t>dignity</a:t>
            </a:r>
            <a:r>
              <a:rPr lang="en-US" dirty="0">
                <a:latin typeface="Arial Narrow" pitchFamily="34" charset="0"/>
              </a:rPr>
              <a:t>’, again not in all of its varied uses but in its role as a </a:t>
            </a:r>
            <a:r>
              <a:rPr lang="en-US" dirty="0" smtClean="0">
                <a:latin typeface="Arial Narrow" pitchFamily="34" charset="0"/>
              </a:rPr>
              <a:t>ground for </a:t>
            </a:r>
            <a:r>
              <a:rPr lang="en-US" dirty="0">
                <a:latin typeface="Arial Narrow" pitchFamily="34" charset="0"/>
              </a:rPr>
              <a:t>human rights</a:t>
            </a:r>
            <a:r>
              <a:rPr lang="en-US" dirty="0" smtClean="0">
                <a:latin typeface="Arial Narrow" pitchFamily="34" charset="0"/>
              </a:rPr>
              <a:t>. A </a:t>
            </a:r>
            <a:r>
              <a:rPr lang="en-US" b="1" dirty="0" smtClean="0">
                <a:latin typeface="Arial Narrow" pitchFamily="34" charset="0"/>
              </a:rPr>
              <a:t>substantive evaluation.</a:t>
            </a:r>
          </a:p>
          <a:p>
            <a:pPr algn="just"/>
            <a:r>
              <a:rPr lang="en-US" b="1" dirty="0">
                <a:latin typeface="Arial Narrow" pitchFamily="34" charset="0"/>
              </a:rPr>
              <a:t>Robert </a:t>
            </a:r>
            <a:r>
              <a:rPr lang="en-US" b="1" dirty="0" err="1">
                <a:latin typeface="Arial Narrow" pitchFamily="34" charset="0"/>
              </a:rPr>
              <a:t>Nozick’s</a:t>
            </a:r>
            <a:r>
              <a:rPr lang="en-US" b="1" dirty="0">
                <a:latin typeface="Arial Narrow" pitchFamily="34" charset="0"/>
              </a:rPr>
              <a:t> account of rights as ‘</a:t>
            </a:r>
            <a:r>
              <a:rPr lang="en-US" b="1" dirty="0" smtClean="0">
                <a:latin typeface="Arial Narrow" pitchFamily="34" charset="0"/>
              </a:rPr>
              <a:t>side-constraints</a:t>
            </a:r>
            <a:r>
              <a:rPr lang="en-US" dirty="0" smtClean="0">
                <a:latin typeface="Arial Narrow" pitchFamily="34" charset="0"/>
              </a:rPr>
              <a:t> which is still largely structural -</a:t>
            </a:r>
            <a:r>
              <a:rPr lang="en-US" dirty="0">
                <a:latin typeface="Arial Narrow" pitchFamily="34" charset="0"/>
              </a:rPr>
              <a:t>rights </a:t>
            </a:r>
            <a:r>
              <a:rPr lang="en-US" dirty="0" smtClean="0">
                <a:latin typeface="Arial Narrow" pitchFamily="34" charset="0"/>
              </a:rPr>
              <a:t>set </a:t>
            </a:r>
            <a:r>
              <a:rPr lang="en-US" b="1" dirty="0" smtClean="0">
                <a:latin typeface="Arial Narrow" pitchFamily="34" charset="0"/>
              </a:rPr>
              <a:t>limits </a:t>
            </a:r>
            <a:r>
              <a:rPr lang="en-US" b="1" dirty="0">
                <a:latin typeface="Arial Narrow" pitchFamily="34" charset="0"/>
              </a:rPr>
              <a:t>on the permissible pursuit of personal or the common good</a:t>
            </a:r>
            <a:r>
              <a:rPr lang="en-US" dirty="0">
                <a:latin typeface="Arial Narrow" pitchFamily="34" charset="0"/>
              </a:rPr>
              <a:t>; </a:t>
            </a:r>
            <a:r>
              <a:rPr lang="en-US" dirty="0" smtClean="0">
                <a:latin typeface="Arial Narrow" pitchFamily="34" charset="0"/>
              </a:rPr>
              <a:t>these side-constraints</a:t>
            </a:r>
            <a:r>
              <a:rPr lang="en-US" dirty="0">
                <a:latin typeface="Arial Narrow" pitchFamily="34" charset="0"/>
              </a:rPr>
              <a:t>, though, may be overridden in the extremely rare case of </a:t>
            </a:r>
            <a:r>
              <a:rPr lang="en-US" dirty="0" smtClean="0">
                <a:latin typeface="Arial Narrow" pitchFamily="34" charset="0"/>
              </a:rPr>
              <a:t>a ‘catastrophe’.</a:t>
            </a:r>
          </a:p>
          <a:p>
            <a:pPr algn="just"/>
            <a:r>
              <a:rPr lang="en-US" b="1" dirty="0">
                <a:latin typeface="Arial Narrow" pitchFamily="34" charset="0"/>
              </a:rPr>
              <a:t>John </a:t>
            </a:r>
            <a:r>
              <a:rPr lang="en-US" b="1" dirty="0" smtClean="0">
                <a:latin typeface="Arial Narrow" pitchFamily="34" charset="0"/>
              </a:rPr>
              <a:t>Rawls-</a:t>
            </a:r>
            <a:r>
              <a:rPr lang="en-US" b="1" dirty="0">
                <a:latin typeface="Arial Narrow" pitchFamily="34" charset="0"/>
              </a:rPr>
              <a:t>theory of political justice </a:t>
            </a:r>
            <a:r>
              <a:rPr lang="en-US" dirty="0">
                <a:latin typeface="Arial Narrow" pitchFamily="34" charset="0"/>
              </a:rPr>
              <a:t>between </a:t>
            </a:r>
            <a:r>
              <a:rPr lang="en-US" dirty="0" smtClean="0">
                <a:latin typeface="Arial Narrow" pitchFamily="34" charset="0"/>
              </a:rPr>
              <a:t>peoples-to have a well ordered people with liberal democracy  </a:t>
            </a:r>
            <a:r>
              <a:rPr lang="en-US" dirty="0">
                <a:latin typeface="Arial Narrow" pitchFamily="34" charset="0"/>
              </a:rPr>
              <a:t>‘hierarchical’ peoples who are not aggressive</a:t>
            </a:r>
            <a:r>
              <a:rPr lang="en-US" dirty="0" smtClean="0">
                <a:latin typeface="Arial Narrow" pitchFamily="34" charset="0"/>
              </a:rPr>
              <a:t>, respect </a:t>
            </a:r>
            <a:r>
              <a:rPr lang="en-US" dirty="0">
                <a:latin typeface="Arial Narrow" pitchFamily="34" charset="0"/>
              </a:rPr>
              <a:t>human </a:t>
            </a:r>
            <a:r>
              <a:rPr lang="en-US" dirty="0" smtClean="0">
                <a:latin typeface="Arial Narrow" pitchFamily="34" charset="0"/>
              </a:rPr>
              <a:t>rights with minimal consultation hierarchy. To reach agreement  between well ordered peoples </a:t>
            </a:r>
            <a:r>
              <a:rPr lang="en-US" dirty="0">
                <a:latin typeface="Arial Narrow" pitchFamily="34" charset="0"/>
              </a:rPr>
              <a:t>public reasons: reasons that do not </a:t>
            </a:r>
            <a:r>
              <a:rPr lang="en-US" dirty="0" smtClean="0">
                <a:latin typeface="Arial Narrow" pitchFamily="34" charset="0"/>
              </a:rPr>
              <a:t>derive from </a:t>
            </a:r>
            <a:r>
              <a:rPr lang="en-US" dirty="0">
                <a:latin typeface="Arial Narrow" pitchFamily="34" charset="0"/>
              </a:rPr>
              <a:t>any particular comprehensive view and will be accepted as </a:t>
            </a:r>
            <a:r>
              <a:rPr lang="en-US" dirty="0" smtClean="0">
                <a:latin typeface="Arial Narrow" pitchFamily="34" charset="0"/>
              </a:rPr>
              <a:t>authoritative by </a:t>
            </a:r>
            <a:r>
              <a:rPr lang="en-US" dirty="0">
                <a:latin typeface="Arial Narrow" pitchFamily="34" charset="0"/>
              </a:rPr>
              <a:t>all parties to the </a:t>
            </a:r>
            <a:r>
              <a:rPr lang="en-US" dirty="0" smtClean="0">
                <a:latin typeface="Arial Narrow" pitchFamily="34" charset="0"/>
              </a:rPr>
              <a:t>agreement must be placed. Hence, the role of HRs </a:t>
            </a:r>
            <a:r>
              <a:rPr lang="en-US" dirty="0">
                <a:latin typeface="Arial Narrow" pitchFamily="34" charset="0"/>
              </a:rPr>
              <a:t>is to </a:t>
            </a:r>
            <a:r>
              <a:rPr lang="en-US" b="1" dirty="0">
                <a:latin typeface="Arial Narrow" pitchFamily="34" charset="0"/>
              </a:rPr>
              <a:t>provide the justifying reasons for war and </a:t>
            </a:r>
            <a:r>
              <a:rPr lang="en-US" b="1" dirty="0" smtClean="0">
                <a:latin typeface="Arial Narrow" pitchFamily="34" charset="0"/>
              </a:rPr>
              <a:t>its conduct</a:t>
            </a:r>
            <a:r>
              <a:rPr lang="en-US" b="1" dirty="0">
                <a:latin typeface="Arial Narrow" pitchFamily="34" charset="0"/>
              </a:rPr>
              <a:t>, and to set conditions for when one state may coercively </a:t>
            </a:r>
            <a:r>
              <a:rPr lang="en-US" b="1" dirty="0" smtClean="0">
                <a:latin typeface="Arial Narrow" pitchFamily="34" charset="0"/>
              </a:rPr>
              <a:t>intervene in </a:t>
            </a:r>
            <a:r>
              <a:rPr lang="en-US" b="1" dirty="0">
                <a:latin typeface="Arial Narrow" pitchFamily="34" charset="0"/>
              </a:rPr>
              <a:t>another</a:t>
            </a:r>
            <a:r>
              <a:rPr lang="en-US" dirty="0" smtClean="0">
                <a:latin typeface="Arial Narrow" pitchFamily="34" charset="0"/>
              </a:rPr>
              <a:t> </a:t>
            </a:r>
            <a:r>
              <a:rPr lang="en-US" dirty="0" smtClean="0"/>
              <a:t>.</a:t>
            </a:r>
          </a:p>
          <a:p>
            <a:pPr algn="just"/>
            <a:r>
              <a:rPr lang="en-US" b="1" dirty="0">
                <a:latin typeface="Arial Narrow" pitchFamily="34" charset="0"/>
              </a:rPr>
              <a:t>Human </a:t>
            </a:r>
            <a:r>
              <a:rPr lang="en-US" b="1" dirty="0" smtClean="0">
                <a:latin typeface="Arial Narrow" pitchFamily="34" charset="0"/>
              </a:rPr>
              <a:t>rights </a:t>
            </a:r>
            <a:r>
              <a:rPr lang="en-US" dirty="0" smtClean="0">
                <a:latin typeface="Arial Narrow" pitchFamily="34" charset="0"/>
              </a:rPr>
              <a:t>can</a:t>
            </a:r>
            <a:r>
              <a:rPr lang="en-US" dirty="0">
                <a:latin typeface="Arial Narrow" pitchFamily="34" charset="0"/>
              </a:rPr>
              <a:t>, therefore, be directly grounded in </a:t>
            </a:r>
            <a:r>
              <a:rPr lang="en-US" b="1" dirty="0">
                <a:latin typeface="Arial Narrow" pitchFamily="34" charset="0"/>
              </a:rPr>
              <a:t>values </a:t>
            </a:r>
            <a:r>
              <a:rPr lang="en-US" b="1" dirty="0" smtClean="0">
                <a:latin typeface="Arial Narrow" pitchFamily="34" charset="0"/>
              </a:rPr>
              <a:t>(individual responsibility</a:t>
            </a:r>
            <a:r>
              <a:rPr lang="en-US" b="1" dirty="0">
                <a:latin typeface="Arial Narrow" pitchFamily="34" charset="0"/>
              </a:rPr>
              <a:t>, autonomy, freedom, and human dignity</a:t>
            </a:r>
            <a:r>
              <a:rPr lang="en-US" dirty="0" smtClean="0">
                <a:latin typeface="Arial Narrow" pitchFamily="34" charset="0"/>
              </a:rPr>
              <a:t>)without </a:t>
            </a:r>
            <a:r>
              <a:rPr lang="en-US" dirty="0">
                <a:latin typeface="Arial Narrow" pitchFamily="34" charset="0"/>
              </a:rPr>
              <a:t>becoming </a:t>
            </a:r>
            <a:r>
              <a:rPr lang="en-US" dirty="0" smtClean="0">
                <a:latin typeface="Arial Narrow" pitchFamily="34" charset="0"/>
              </a:rPr>
              <a:t>culturally limited</a:t>
            </a:r>
            <a:r>
              <a:rPr lang="en-US" dirty="0">
                <a:latin typeface="Arial Narrow" pitchFamily="34" charset="0"/>
              </a:rPr>
              <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latin typeface="Arial Narrow" pitchFamily="34" charset="0"/>
              </a:rPr>
              <a:t>Accounts of HRs</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85000" lnSpcReduction="20000"/>
          </a:bodyPr>
          <a:lstStyle/>
          <a:p>
            <a:pPr algn="just"/>
            <a:r>
              <a:rPr lang="en-US" b="1" dirty="0" smtClean="0">
                <a:latin typeface="Arial Narrow" pitchFamily="34" charset="0"/>
              </a:rPr>
              <a:t>Top Down </a:t>
            </a:r>
            <a:r>
              <a:rPr lang="en-US" dirty="0" smtClean="0">
                <a:latin typeface="Arial Narrow" pitchFamily="34" charset="0"/>
              </a:rPr>
              <a:t>-</a:t>
            </a:r>
            <a:r>
              <a:rPr lang="en-US" dirty="0">
                <a:latin typeface="Arial Narrow" pitchFamily="34" charset="0"/>
              </a:rPr>
              <a:t>one starts with an </a:t>
            </a:r>
            <a:r>
              <a:rPr lang="en-US" b="1" dirty="0">
                <a:latin typeface="Arial Narrow" pitchFamily="34" charset="0"/>
              </a:rPr>
              <a:t>overarching principle</a:t>
            </a:r>
            <a:r>
              <a:rPr lang="en-US" dirty="0">
                <a:latin typeface="Arial Narrow" pitchFamily="34" charset="0"/>
              </a:rPr>
              <a:t>, or principles, or an </a:t>
            </a:r>
            <a:r>
              <a:rPr lang="en-US" b="1" dirty="0" smtClean="0">
                <a:latin typeface="Arial Narrow" pitchFamily="34" charset="0"/>
              </a:rPr>
              <a:t>authoritative decision </a:t>
            </a:r>
            <a:r>
              <a:rPr lang="en-US" dirty="0">
                <a:latin typeface="Arial Narrow" pitchFamily="34" charset="0"/>
              </a:rPr>
              <a:t>procedure—say, the principle of </a:t>
            </a:r>
            <a:r>
              <a:rPr lang="en-US" b="1" dirty="0">
                <a:latin typeface="Arial Narrow" pitchFamily="34" charset="0"/>
              </a:rPr>
              <a:t>utility or the Categorical </a:t>
            </a:r>
            <a:r>
              <a:rPr lang="en-US" b="1" dirty="0" smtClean="0">
                <a:latin typeface="Arial Narrow" pitchFamily="34" charset="0"/>
              </a:rPr>
              <a:t>Imperative or </a:t>
            </a:r>
            <a:r>
              <a:rPr lang="en-US" b="1" dirty="0">
                <a:latin typeface="Arial Narrow" pitchFamily="34" charset="0"/>
              </a:rPr>
              <a:t>the model of parties to a contract reaching agreement</a:t>
            </a:r>
            <a:r>
              <a:rPr lang="en-US" dirty="0">
                <a:latin typeface="Arial Narrow" pitchFamily="34" charset="0"/>
              </a:rPr>
              <a:t>—from which </a:t>
            </a:r>
            <a:r>
              <a:rPr lang="en-US" b="1" dirty="0" smtClean="0">
                <a:latin typeface="Arial Narrow" pitchFamily="34" charset="0"/>
              </a:rPr>
              <a:t>human rights </a:t>
            </a:r>
            <a:r>
              <a:rPr lang="en-US" dirty="0">
                <a:latin typeface="Arial Narrow" pitchFamily="34" charset="0"/>
              </a:rPr>
              <a:t>can then be derived.</a:t>
            </a:r>
            <a:endParaRPr lang="en-US" dirty="0" smtClean="0">
              <a:latin typeface="Arial Narrow" pitchFamily="34" charset="0"/>
            </a:endParaRPr>
          </a:p>
          <a:p>
            <a:pPr algn="just"/>
            <a:r>
              <a:rPr lang="en-US" b="1" dirty="0" smtClean="0">
                <a:latin typeface="Arial Narrow" pitchFamily="34" charset="0"/>
              </a:rPr>
              <a:t>Bottom Up-</a:t>
            </a:r>
            <a:r>
              <a:rPr lang="en-US" dirty="0">
                <a:latin typeface="Arial Narrow" pitchFamily="34" charset="0"/>
              </a:rPr>
              <a:t>one starts with </a:t>
            </a:r>
            <a:r>
              <a:rPr lang="en-US" b="1" dirty="0">
                <a:latin typeface="Arial Narrow" pitchFamily="34" charset="0"/>
              </a:rPr>
              <a:t>human </a:t>
            </a:r>
            <a:r>
              <a:rPr lang="en-US" b="1" dirty="0" smtClean="0">
                <a:latin typeface="Arial Narrow" pitchFamily="34" charset="0"/>
              </a:rPr>
              <a:t>rights </a:t>
            </a:r>
            <a:r>
              <a:rPr lang="en-US" dirty="0" smtClean="0">
                <a:latin typeface="Arial Narrow" pitchFamily="34" charset="0"/>
              </a:rPr>
              <a:t>as </a:t>
            </a:r>
            <a:r>
              <a:rPr lang="en-US" dirty="0">
                <a:latin typeface="Arial Narrow" pitchFamily="34" charset="0"/>
              </a:rPr>
              <a:t>used in our actual social life by politicians, lawyers, social campaigners, </a:t>
            </a:r>
            <a:r>
              <a:rPr lang="en-US" dirty="0" smtClean="0">
                <a:latin typeface="Arial Narrow" pitchFamily="34" charset="0"/>
              </a:rPr>
              <a:t>as well </a:t>
            </a:r>
            <a:r>
              <a:rPr lang="en-US" dirty="0">
                <a:latin typeface="Arial Narrow" pitchFamily="34" charset="0"/>
              </a:rPr>
              <a:t>as theorists of various sorts, and then sees what </a:t>
            </a:r>
            <a:r>
              <a:rPr lang="en-US" b="1" dirty="0">
                <a:latin typeface="Arial Narrow" pitchFamily="34" charset="0"/>
              </a:rPr>
              <a:t>higher principles </a:t>
            </a:r>
            <a:r>
              <a:rPr lang="en-US" b="1" dirty="0" smtClean="0">
                <a:latin typeface="Arial Narrow" pitchFamily="34" charset="0"/>
              </a:rPr>
              <a:t>one must </a:t>
            </a:r>
            <a:r>
              <a:rPr lang="en-US" b="1" dirty="0">
                <a:latin typeface="Arial Narrow" pitchFamily="34" charset="0"/>
              </a:rPr>
              <a:t>resort to in order to explain their moral weight</a:t>
            </a:r>
            <a:r>
              <a:rPr lang="en-US" dirty="0">
                <a:latin typeface="Arial Narrow" pitchFamily="34" charset="0"/>
              </a:rPr>
              <a:t>, when one thinks </a:t>
            </a:r>
            <a:r>
              <a:rPr lang="en-US" dirty="0" smtClean="0">
                <a:latin typeface="Arial Narrow" pitchFamily="34" charset="0"/>
              </a:rPr>
              <a:t>they have </a:t>
            </a:r>
            <a:r>
              <a:rPr lang="en-US" dirty="0">
                <a:latin typeface="Arial Narrow" pitchFamily="34" charset="0"/>
              </a:rPr>
              <a:t>it, and to resolve conflicts between them</a:t>
            </a:r>
            <a:r>
              <a:rPr lang="en-US" dirty="0" smtClean="0">
                <a:latin typeface="Arial Narrow" pitchFamily="34" charset="0"/>
              </a:rPr>
              <a:t>.</a:t>
            </a:r>
          </a:p>
          <a:p>
            <a:pPr algn="just"/>
            <a:r>
              <a:rPr lang="en-US" b="1" dirty="0" smtClean="0">
                <a:latin typeface="Arial Narrow" pitchFamily="34" charset="0"/>
              </a:rPr>
              <a:t>Objective vs. Subjective Rights</a:t>
            </a:r>
          </a:p>
          <a:p>
            <a:pPr algn="just"/>
            <a:r>
              <a:rPr lang="en-US" b="1" dirty="0" smtClean="0">
                <a:latin typeface="Arial Narrow" pitchFamily="34" charset="0"/>
              </a:rPr>
              <a:t>Reason- Freedom –dignity </a:t>
            </a:r>
          </a:p>
          <a:p>
            <a:pPr algn="just"/>
            <a:r>
              <a:rPr lang="en-US" b="1" dirty="0" smtClean="0">
                <a:latin typeface="Arial Narrow" pitchFamily="34" charset="0"/>
              </a:rPr>
              <a:t>Human Beings are moral agents of their own-</a:t>
            </a:r>
            <a:r>
              <a:rPr lang="en-US" b="1" dirty="0">
                <a:latin typeface="Arial Narrow" pitchFamily="34" charset="0"/>
              </a:rPr>
              <a:t>deliberating</a:t>
            </a:r>
            <a:r>
              <a:rPr lang="en-US" b="1" dirty="0" smtClean="0">
                <a:latin typeface="Arial Narrow" pitchFamily="34" charset="0"/>
              </a:rPr>
              <a:t>, assessing</a:t>
            </a:r>
            <a:r>
              <a:rPr lang="en-US" b="1" dirty="0">
                <a:latin typeface="Arial Narrow" pitchFamily="34" charset="0"/>
              </a:rPr>
              <a:t>, choosing, and acting</a:t>
            </a:r>
            <a:r>
              <a:rPr lang="en-US" dirty="0">
                <a:latin typeface="Arial Narrow" pitchFamily="34" charset="0"/>
              </a:rPr>
              <a:t> to make what we see as a good life </a:t>
            </a:r>
            <a:r>
              <a:rPr lang="en-US" dirty="0" smtClean="0">
                <a:latin typeface="Arial Narrow" pitchFamily="34" charset="0"/>
              </a:rPr>
              <a:t>for ourselves</a:t>
            </a:r>
            <a:r>
              <a:rPr lang="en-US" dirty="0" smtClean="0"/>
              <a:t>. </a:t>
            </a:r>
            <a:r>
              <a:rPr lang="en-US" dirty="0" smtClean="0">
                <a:latin typeface="Arial Narrow" pitchFamily="34" charset="0"/>
              </a:rPr>
              <a:t>But humans must be </a:t>
            </a:r>
            <a:r>
              <a:rPr lang="en-US" b="1" dirty="0" smtClean="0">
                <a:latin typeface="Arial Narrow" pitchFamily="34" charset="0"/>
              </a:rPr>
              <a:t>autonomous</a:t>
            </a:r>
            <a:r>
              <a:rPr lang="en-US" dirty="0" smtClean="0">
                <a:latin typeface="Arial Narrow" pitchFamily="34" charset="0"/>
              </a:rPr>
              <a:t>, </a:t>
            </a:r>
            <a:r>
              <a:rPr lang="en-US" b="1" dirty="0" smtClean="0">
                <a:latin typeface="Arial Narrow" pitchFamily="34" charset="0"/>
              </a:rPr>
              <a:t>informed (minimum education), minimum provision to act  and liberty to act- to recognize and enforce personhood</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rPr>
              <a:t>Grounds of HRs: Substantive values</a:t>
            </a:r>
            <a:endParaRPr lang="en-US" b="1" dirty="0">
              <a:latin typeface="Arial Narrow" pitchFamily="34" charset="0"/>
            </a:endParaRPr>
          </a:p>
        </p:txBody>
      </p:sp>
      <p:sp>
        <p:nvSpPr>
          <p:cNvPr id="3" name="Content Placeholder 2"/>
          <p:cNvSpPr>
            <a:spLocks noGrp="1"/>
          </p:cNvSpPr>
          <p:nvPr>
            <p:ph idx="1"/>
          </p:nvPr>
        </p:nvSpPr>
        <p:spPr>
          <a:xfrm>
            <a:off x="0" y="685800"/>
            <a:ext cx="9144000" cy="6400800"/>
          </a:xfrm>
        </p:spPr>
        <p:txBody>
          <a:bodyPr>
            <a:normAutofit fontScale="92500" lnSpcReduction="20000"/>
          </a:bodyPr>
          <a:lstStyle/>
          <a:p>
            <a:pPr algn="just"/>
            <a:r>
              <a:rPr lang="en-US" b="1" dirty="0" smtClean="0">
                <a:latin typeface="Arial Narrow" pitchFamily="34" charset="0"/>
              </a:rPr>
              <a:t>Personhood-(</a:t>
            </a:r>
            <a:r>
              <a:rPr lang="en-US" dirty="0">
                <a:latin typeface="Arial Narrow" pitchFamily="34" charset="0"/>
              </a:rPr>
              <a:t>a </a:t>
            </a:r>
            <a:r>
              <a:rPr lang="en-US" b="1" dirty="0">
                <a:latin typeface="Arial Narrow" pitchFamily="34" charset="0"/>
              </a:rPr>
              <a:t>right to life </a:t>
            </a:r>
            <a:r>
              <a:rPr lang="en-US" dirty="0">
                <a:latin typeface="Arial Narrow" pitchFamily="34" charset="0"/>
              </a:rPr>
              <a:t>(without it</a:t>
            </a:r>
            <a:r>
              <a:rPr lang="en-US" dirty="0" smtClean="0">
                <a:latin typeface="Arial Narrow" pitchFamily="34" charset="0"/>
              </a:rPr>
              <a:t>, personhood </a:t>
            </a:r>
            <a:r>
              <a:rPr lang="en-US" dirty="0">
                <a:latin typeface="Arial Narrow" pitchFamily="34" charset="0"/>
              </a:rPr>
              <a:t>is impossible), to </a:t>
            </a:r>
            <a:r>
              <a:rPr lang="en-US" b="1" dirty="0">
                <a:latin typeface="Arial Narrow" pitchFamily="34" charset="0"/>
              </a:rPr>
              <a:t>security of person </a:t>
            </a:r>
            <a:r>
              <a:rPr lang="en-US" dirty="0">
                <a:latin typeface="Arial Narrow" pitchFamily="34" charset="0"/>
              </a:rPr>
              <a:t>(for the same reason), to </a:t>
            </a:r>
            <a:r>
              <a:rPr lang="en-US" dirty="0" smtClean="0">
                <a:latin typeface="Arial Narrow" pitchFamily="34" charset="0"/>
              </a:rPr>
              <a:t>a voice </a:t>
            </a:r>
            <a:r>
              <a:rPr lang="en-US" dirty="0">
                <a:latin typeface="Arial Narrow" pitchFamily="34" charset="0"/>
              </a:rPr>
              <a:t>in political decision (a key exercise of </a:t>
            </a:r>
            <a:r>
              <a:rPr lang="en-US" b="1" dirty="0">
                <a:latin typeface="Arial Narrow" pitchFamily="34" charset="0"/>
              </a:rPr>
              <a:t>autonomy</a:t>
            </a:r>
            <a:r>
              <a:rPr lang="en-US" dirty="0">
                <a:latin typeface="Arial Narrow" pitchFamily="34" charset="0"/>
              </a:rPr>
              <a:t>), to free expression</a:t>
            </a:r>
            <a:r>
              <a:rPr lang="en-US" dirty="0" smtClean="0">
                <a:latin typeface="Arial Narrow" pitchFamily="34" charset="0"/>
              </a:rPr>
              <a:t>, to </a:t>
            </a:r>
            <a:r>
              <a:rPr lang="en-US" dirty="0">
                <a:latin typeface="Arial Narrow" pitchFamily="34" charset="0"/>
              </a:rPr>
              <a:t>assembly, and to a free press (without them, exercise of autonomy </a:t>
            </a:r>
            <a:r>
              <a:rPr lang="en-US" dirty="0" smtClean="0">
                <a:latin typeface="Arial Narrow" pitchFamily="34" charset="0"/>
              </a:rPr>
              <a:t>would be </a:t>
            </a:r>
            <a:r>
              <a:rPr lang="en-US" dirty="0">
                <a:latin typeface="Arial Narrow" pitchFamily="34" charset="0"/>
              </a:rPr>
              <a:t>hollow), to worship (a key exercise of what one takes to be the point </a:t>
            </a:r>
            <a:r>
              <a:rPr lang="en-US" dirty="0" smtClean="0">
                <a:latin typeface="Arial Narrow" pitchFamily="34" charset="0"/>
              </a:rPr>
              <a:t>of life</a:t>
            </a:r>
            <a:r>
              <a:rPr lang="en-US" dirty="0">
                <a:latin typeface="Arial Narrow" pitchFamily="34" charset="0"/>
              </a:rPr>
              <a:t>). It also generates, I should say (though this is hotly disputed), a </a:t>
            </a:r>
            <a:r>
              <a:rPr lang="en-US" b="1" dirty="0" smtClean="0">
                <a:latin typeface="Arial Narrow" pitchFamily="34" charset="0"/>
              </a:rPr>
              <a:t>positive freedom</a:t>
            </a:r>
            <a:r>
              <a:rPr lang="en-US" dirty="0">
                <a:latin typeface="Arial Narrow" pitchFamily="34" charset="0"/>
              </a:rPr>
              <a:t>: namely, a </a:t>
            </a:r>
            <a:r>
              <a:rPr lang="en-US" b="1" dirty="0">
                <a:latin typeface="Arial Narrow" pitchFamily="34" charset="0"/>
              </a:rPr>
              <a:t>right to basic education and minimum provision </a:t>
            </a:r>
            <a:r>
              <a:rPr lang="en-US" b="1" dirty="0" smtClean="0">
                <a:latin typeface="Arial Narrow" pitchFamily="34" charset="0"/>
              </a:rPr>
              <a:t>needed for </a:t>
            </a:r>
            <a:r>
              <a:rPr lang="en-US" b="1" dirty="0">
                <a:latin typeface="Arial Narrow" pitchFamily="34" charset="0"/>
              </a:rPr>
              <a:t>existence as a person—something </a:t>
            </a:r>
            <a:r>
              <a:rPr lang="en-US" dirty="0">
                <a:latin typeface="Arial Narrow" pitchFamily="34" charset="0"/>
              </a:rPr>
              <a:t>more, that is, than mere </a:t>
            </a:r>
            <a:r>
              <a:rPr lang="en-US" b="1" dirty="0" smtClean="0">
                <a:latin typeface="Arial Narrow" pitchFamily="34" charset="0"/>
              </a:rPr>
              <a:t>physical survival</a:t>
            </a:r>
            <a:r>
              <a:rPr lang="en-US" dirty="0" smtClean="0">
                <a:latin typeface="Arial Narrow" pitchFamily="34" charset="0"/>
              </a:rPr>
              <a:t>.</a:t>
            </a:r>
            <a:r>
              <a:rPr lang="en-US" b="1" dirty="0" smtClean="0">
                <a:latin typeface="Arial Narrow" pitchFamily="34" charset="0"/>
              </a:rPr>
              <a:t>)</a:t>
            </a:r>
            <a:r>
              <a:rPr lang="en-US" dirty="0">
                <a:latin typeface="Arial Narrow" pitchFamily="34" charset="0"/>
              </a:rPr>
              <a:t> It also generates a right not to be </a:t>
            </a:r>
            <a:r>
              <a:rPr lang="en-US" dirty="0" smtClean="0">
                <a:latin typeface="Arial Narrow" pitchFamily="34" charset="0"/>
              </a:rPr>
              <a:t>tortured because </a:t>
            </a:r>
            <a:r>
              <a:rPr lang="en-US" dirty="0">
                <a:latin typeface="Arial Narrow" pitchFamily="34" charset="0"/>
              </a:rPr>
              <a:t>torture destroys one’s capacity to decide and to stick to the </a:t>
            </a:r>
            <a:r>
              <a:rPr lang="en-US" dirty="0" smtClean="0">
                <a:latin typeface="Arial Narrow" pitchFamily="34" charset="0"/>
              </a:rPr>
              <a:t>decision</a:t>
            </a:r>
            <a:r>
              <a:rPr lang="en-US" dirty="0" smtClean="0"/>
              <a:t>.</a:t>
            </a:r>
          </a:p>
          <a:p>
            <a:pPr algn="just"/>
            <a:r>
              <a:rPr lang="en-US" dirty="0">
                <a:latin typeface="Arial Narrow" pitchFamily="34" charset="0"/>
              </a:rPr>
              <a:t>‘Persons’, however</a:t>
            </a:r>
            <a:r>
              <a:rPr lang="en-US" dirty="0" smtClean="0">
                <a:latin typeface="Arial Narrow" pitchFamily="34" charset="0"/>
              </a:rPr>
              <a:t>, have </a:t>
            </a:r>
            <a:r>
              <a:rPr lang="en-US" b="1" dirty="0">
                <a:latin typeface="Arial Narrow" pitchFamily="34" charset="0"/>
              </a:rPr>
              <a:t>‘dignity</a:t>
            </a:r>
            <a:r>
              <a:rPr lang="en-US" dirty="0">
                <a:latin typeface="Arial Narrow" pitchFamily="34" charset="0"/>
              </a:rPr>
              <a:t>’; they are of unique value; they have </a:t>
            </a:r>
            <a:r>
              <a:rPr lang="en-US" b="1" dirty="0">
                <a:latin typeface="Arial Narrow" pitchFamily="34" charset="0"/>
              </a:rPr>
              <a:t>no </a:t>
            </a:r>
            <a:r>
              <a:rPr lang="en-US" b="1" dirty="0" smtClean="0">
                <a:latin typeface="Arial Narrow" pitchFamily="34" charset="0"/>
              </a:rPr>
              <a:t>equivalents and hence, </a:t>
            </a:r>
            <a:r>
              <a:rPr lang="en-US" dirty="0">
                <a:latin typeface="Arial Narrow" pitchFamily="34" charset="0"/>
              </a:rPr>
              <a:t>human rights, especially on </a:t>
            </a:r>
            <a:r>
              <a:rPr lang="en-US" dirty="0" smtClean="0">
                <a:latin typeface="Arial Narrow" pitchFamily="34" charset="0"/>
              </a:rPr>
              <a:t>the personhood </a:t>
            </a:r>
            <a:r>
              <a:rPr lang="en-US" dirty="0">
                <a:latin typeface="Arial Narrow" pitchFamily="34" charset="0"/>
              </a:rPr>
              <a:t>account, as essentially </a:t>
            </a:r>
            <a:r>
              <a:rPr lang="en-US" b="1" dirty="0" smtClean="0">
                <a:latin typeface="Arial Narrow" pitchFamily="34" charset="0"/>
              </a:rPr>
              <a:t>deontologica</a:t>
            </a:r>
            <a:r>
              <a:rPr lang="en-US" dirty="0" smtClean="0">
                <a:latin typeface="Arial Narrow" pitchFamily="34" charset="0"/>
              </a:rPr>
              <a:t>l. Trade offs?</a:t>
            </a:r>
            <a:endParaRPr lang="en-US" b="1" dirty="0" smtClean="0">
              <a:latin typeface="Arial Narrow"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fontScale="90000"/>
          </a:bodyPr>
          <a:lstStyle/>
          <a:p>
            <a:r>
              <a:rPr lang="en-US" b="1" dirty="0" smtClean="0">
                <a:latin typeface="Arial Narrow" pitchFamily="34" charset="0"/>
              </a:rPr>
              <a:t>2</a:t>
            </a:r>
            <a:r>
              <a:rPr lang="en-US" b="1" baseline="30000" dirty="0" smtClean="0">
                <a:latin typeface="Arial Narrow" pitchFamily="34" charset="0"/>
              </a:rPr>
              <a:t>nd</a:t>
            </a:r>
            <a:r>
              <a:rPr lang="en-US" b="1" dirty="0" smtClean="0">
                <a:latin typeface="Arial Narrow" pitchFamily="34" charset="0"/>
              </a:rPr>
              <a:t> Ground of HRs: Practicalities </a:t>
            </a:r>
            <a:br>
              <a:rPr lang="en-US" b="1" dirty="0" smtClean="0">
                <a:latin typeface="Arial Narrow" pitchFamily="34" charset="0"/>
              </a:rPr>
            </a:br>
            <a:endParaRPr lang="en-US" dirty="0"/>
          </a:p>
        </p:txBody>
      </p:sp>
      <p:sp>
        <p:nvSpPr>
          <p:cNvPr id="3" name="Content Placeholder 2"/>
          <p:cNvSpPr>
            <a:spLocks noGrp="1"/>
          </p:cNvSpPr>
          <p:nvPr>
            <p:ph idx="1"/>
          </p:nvPr>
        </p:nvSpPr>
        <p:spPr>
          <a:xfrm>
            <a:off x="0" y="609600"/>
            <a:ext cx="9144000" cy="6248400"/>
          </a:xfrm>
        </p:spPr>
        <p:txBody>
          <a:bodyPr>
            <a:normAutofit fontScale="92500" lnSpcReduction="10000"/>
          </a:bodyPr>
          <a:lstStyle/>
          <a:p>
            <a:pPr algn="just"/>
            <a:r>
              <a:rPr lang="en-US" dirty="0" smtClean="0">
                <a:latin typeface="Arial Narrow" pitchFamily="34" charset="0"/>
              </a:rPr>
              <a:t>We </a:t>
            </a:r>
            <a:r>
              <a:rPr lang="en-US" dirty="0">
                <a:latin typeface="Arial Narrow" pitchFamily="34" charset="0"/>
              </a:rPr>
              <a:t>should probably have to leave a </a:t>
            </a:r>
            <a:r>
              <a:rPr lang="en-US" b="1" dirty="0">
                <a:latin typeface="Arial Narrow" pitchFamily="34" charset="0"/>
              </a:rPr>
              <a:t>generous safety </a:t>
            </a:r>
            <a:r>
              <a:rPr lang="en-US" b="1" dirty="0" smtClean="0">
                <a:latin typeface="Arial Narrow" pitchFamily="34" charset="0"/>
              </a:rPr>
              <a:t>margin</a:t>
            </a:r>
            <a:r>
              <a:rPr lang="en-US" dirty="0" smtClean="0">
                <a:latin typeface="Arial Narrow" pitchFamily="34" charset="0"/>
              </a:rPr>
              <a:t>. </a:t>
            </a:r>
            <a:r>
              <a:rPr lang="en-US" dirty="0">
                <a:latin typeface="Arial Narrow" pitchFamily="34" charset="0"/>
              </a:rPr>
              <a:t>We need also to consult </a:t>
            </a:r>
            <a:r>
              <a:rPr lang="en-US" b="1" dirty="0">
                <a:latin typeface="Arial Narrow" pitchFamily="34" charset="0"/>
              </a:rPr>
              <a:t>human nature</a:t>
            </a:r>
            <a:r>
              <a:rPr lang="en-US" dirty="0">
                <a:latin typeface="Arial Narrow" pitchFamily="34" charset="0"/>
              </a:rPr>
              <a:t>, the </a:t>
            </a:r>
            <a:r>
              <a:rPr lang="en-US" b="1" dirty="0">
                <a:latin typeface="Arial Narrow" pitchFamily="34" charset="0"/>
              </a:rPr>
              <a:t>nature of society</a:t>
            </a:r>
            <a:r>
              <a:rPr lang="en-US" dirty="0">
                <a:latin typeface="Arial Narrow" pitchFamily="34" charset="0"/>
              </a:rPr>
              <a:t>, and so on, </a:t>
            </a:r>
            <a:r>
              <a:rPr lang="en-US" dirty="0" smtClean="0">
                <a:latin typeface="Arial Narrow" pitchFamily="34" charset="0"/>
              </a:rPr>
              <a:t>in drawing </a:t>
            </a:r>
            <a:r>
              <a:rPr lang="en-US" dirty="0">
                <a:latin typeface="Arial Narrow" pitchFamily="34" charset="0"/>
              </a:rPr>
              <a:t>the line</a:t>
            </a:r>
            <a:r>
              <a:rPr lang="en-US" dirty="0" smtClean="0">
                <a:latin typeface="Arial Narrow" pitchFamily="34" charset="0"/>
              </a:rPr>
              <a:t>. Donating blood may not infringe the concept of personhood like security of persons but in torture there must not be an exception for practical reasons. Freedom of the press differs from country to country</a:t>
            </a:r>
          </a:p>
          <a:p>
            <a:pPr algn="just">
              <a:buNone/>
            </a:pPr>
            <a:r>
              <a:rPr lang="en-US" b="1" dirty="0" smtClean="0">
                <a:latin typeface="Arial Narrow" pitchFamily="34" charset="0"/>
              </a:rPr>
              <a:t>The Principle of Equal Respect a 3</a:t>
            </a:r>
            <a:r>
              <a:rPr lang="en-US" b="1" baseline="30000" dirty="0" smtClean="0">
                <a:latin typeface="Arial Narrow" pitchFamily="34" charset="0"/>
              </a:rPr>
              <a:t>rd</a:t>
            </a:r>
            <a:r>
              <a:rPr lang="en-US" b="1" dirty="0" smtClean="0">
                <a:latin typeface="Arial Narrow" pitchFamily="34" charset="0"/>
              </a:rPr>
              <a:t> Ground?</a:t>
            </a:r>
          </a:p>
          <a:p>
            <a:pPr algn="just"/>
            <a:r>
              <a:rPr lang="en-US" dirty="0" smtClean="0">
                <a:latin typeface="Arial Narrow" pitchFamily="34" charset="0"/>
              </a:rPr>
              <a:t>Equal respect expresses the </a:t>
            </a:r>
            <a:r>
              <a:rPr lang="en-US" b="1" dirty="0" smtClean="0">
                <a:latin typeface="Arial Narrow" pitchFamily="34" charset="0"/>
              </a:rPr>
              <a:t>moral point of view itself</a:t>
            </a:r>
            <a:r>
              <a:rPr lang="en-US" dirty="0" smtClean="0">
                <a:latin typeface="Arial Narrow" pitchFamily="34" charset="0"/>
              </a:rPr>
              <a:t>, and human rights, being </a:t>
            </a:r>
            <a:r>
              <a:rPr lang="en-US" b="1" dirty="0" smtClean="0">
                <a:latin typeface="Arial Narrow" pitchFamily="34" charset="0"/>
              </a:rPr>
              <a:t>moral standards</a:t>
            </a:r>
            <a:r>
              <a:rPr lang="en-US" dirty="0" smtClean="0">
                <a:latin typeface="Arial Narrow" pitchFamily="34" charset="0"/>
              </a:rPr>
              <a:t>, must likewise be expressions of it. </a:t>
            </a:r>
            <a:r>
              <a:rPr lang="en-US" b="1" dirty="0" smtClean="0">
                <a:latin typeface="Arial Narrow" pitchFamily="34" charset="0"/>
              </a:rPr>
              <a:t>Equal opportunity (e</a:t>
            </a:r>
            <a:r>
              <a:rPr lang="en-US" dirty="0" smtClean="0">
                <a:latin typeface="Arial Narrow" pitchFamily="34" charset="0"/>
              </a:rPr>
              <a:t>galitarianism of the late Middle Ages.</a:t>
            </a:r>
            <a:r>
              <a:rPr lang="en-US" b="1" dirty="0" smtClean="0">
                <a:latin typeface="Arial Narrow" pitchFamily="34" charset="0"/>
              </a:rPr>
              <a:t>) </a:t>
            </a:r>
            <a:r>
              <a:rPr lang="en-US" dirty="0" smtClean="0">
                <a:latin typeface="Arial Narrow" pitchFamily="34" charset="0"/>
              </a:rPr>
              <a:t>We differ in </a:t>
            </a:r>
            <a:r>
              <a:rPr lang="en-US" b="1" dirty="0" smtClean="0">
                <a:latin typeface="Arial Narrow" pitchFamily="34" charset="0"/>
              </a:rPr>
              <a:t>social status</a:t>
            </a:r>
            <a:r>
              <a:rPr lang="en-US" dirty="0" smtClean="0">
                <a:latin typeface="Arial Narrow" pitchFamily="34" charset="0"/>
              </a:rPr>
              <a:t>; we are equal in </a:t>
            </a:r>
            <a:r>
              <a:rPr lang="en-US" b="1" dirty="0" smtClean="0">
                <a:latin typeface="Arial Narrow" pitchFamily="34" charset="0"/>
              </a:rPr>
              <a:t>human status meaning no inferiority and superiority(</a:t>
            </a:r>
            <a:r>
              <a:rPr lang="en-US" dirty="0" smtClean="0">
                <a:latin typeface="Arial Narrow" pitchFamily="34" charset="0"/>
              </a:rPr>
              <a:t>lord, freeman, slave,</a:t>
            </a:r>
            <a:r>
              <a:rPr lang="en-US" b="1" dirty="0" smtClean="0">
                <a:latin typeface="Arial Narrow" pitchFamily="34" charset="0"/>
              </a:rPr>
              <a:t>)</a:t>
            </a:r>
            <a:r>
              <a:rPr lang="en-US" dirty="0" smtClean="0">
                <a:latin typeface="Arial Narrow" pitchFamily="34" charset="0"/>
              </a:rPr>
              <a:t>.</a:t>
            </a:r>
            <a:endParaRPr lang="en-US" b="1" dirty="0" smtClean="0">
              <a:latin typeface="Arial Narrow" pitchFamily="34" charset="0"/>
            </a:endParaRP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a:bodyPr>
          <a:lstStyle/>
          <a:p>
            <a:pPr algn="just"/>
            <a:r>
              <a:rPr lang="en-US" b="1" dirty="0" smtClean="0">
                <a:latin typeface="Arial Narrow" pitchFamily="34" charset="0"/>
              </a:rPr>
              <a:t>Human rights </a:t>
            </a:r>
            <a:r>
              <a:rPr lang="en-US" dirty="0" smtClean="0">
                <a:latin typeface="Arial Narrow" pitchFamily="34" charset="0"/>
              </a:rPr>
              <a:t>include at least </a:t>
            </a:r>
            <a:r>
              <a:rPr lang="en-US" b="1" dirty="0" smtClean="0">
                <a:latin typeface="Arial Narrow" pitchFamily="34" charset="0"/>
              </a:rPr>
              <a:t>one distributive requirement</a:t>
            </a:r>
            <a:r>
              <a:rPr lang="en-US" dirty="0" smtClean="0">
                <a:latin typeface="Arial Narrow" pitchFamily="34" charset="0"/>
              </a:rPr>
              <a:t>, minimum provision, because it is required by personhood. And for the same reason, human rights include some </a:t>
            </a:r>
            <a:r>
              <a:rPr lang="en-US" b="1" dirty="0" smtClean="0">
                <a:latin typeface="Arial Narrow" pitchFamily="34" charset="0"/>
              </a:rPr>
              <a:t>retributive requirements</a:t>
            </a:r>
            <a:r>
              <a:rPr lang="en-US" dirty="0" smtClean="0">
                <a:latin typeface="Arial Narrow" pitchFamily="34" charset="0"/>
              </a:rPr>
              <a:t>, such as </a:t>
            </a:r>
            <a:r>
              <a:rPr lang="en-US" b="1" dirty="0" smtClean="0">
                <a:latin typeface="Arial Narrow" pitchFamily="34" charset="0"/>
              </a:rPr>
              <a:t>proportionality in punishment </a:t>
            </a:r>
            <a:r>
              <a:rPr lang="en-US" dirty="0" smtClean="0">
                <a:latin typeface="Arial Narrow" pitchFamily="34" charset="0"/>
              </a:rPr>
              <a:t>and </a:t>
            </a:r>
            <a:r>
              <a:rPr lang="en-US" b="1" dirty="0" smtClean="0">
                <a:latin typeface="Arial Narrow" pitchFamily="34" charset="0"/>
              </a:rPr>
              <a:t>a ban on cruel and unusual punishment</a:t>
            </a:r>
            <a:r>
              <a:rPr lang="en-US" dirty="0" smtClean="0">
                <a:latin typeface="Arial Narrow" pitchFamily="34" charset="0"/>
              </a:rPr>
              <a:t>—proportionality because it is a </a:t>
            </a:r>
            <a:r>
              <a:rPr lang="en-US" b="1" dirty="0" smtClean="0">
                <a:latin typeface="Arial Narrow" pitchFamily="34" charset="0"/>
              </a:rPr>
              <a:t>protection of liberty</a:t>
            </a:r>
            <a:r>
              <a:rPr lang="en-US" dirty="0" smtClean="0">
                <a:latin typeface="Arial Narrow" pitchFamily="34" charset="0"/>
              </a:rPr>
              <a:t>, and the ban because it is a </a:t>
            </a:r>
            <a:r>
              <a:rPr lang="en-US" b="1" dirty="0" smtClean="0">
                <a:latin typeface="Arial Narrow" pitchFamily="34" charset="0"/>
              </a:rPr>
              <a:t>protection of agency</a:t>
            </a:r>
            <a:r>
              <a:rPr lang="en-US" dirty="0" smtClean="0">
                <a:latin typeface="Arial Narrow" pitchFamily="34" charset="0"/>
              </a:rPr>
              <a:t> generally.</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Understanding Agency</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lnSpcReduction="10000"/>
          </a:bodyPr>
          <a:lstStyle/>
          <a:p>
            <a:pPr algn="just"/>
            <a:r>
              <a:rPr lang="en-US" b="1" dirty="0" smtClean="0">
                <a:latin typeface="Arial Narrow" pitchFamily="34" charset="0"/>
              </a:rPr>
              <a:t>Normative Agent </a:t>
            </a:r>
            <a:r>
              <a:rPr lang="en-US" dirty="0" smtClean="0">
                <a:latin typeface="Arial Narrow" pitchFamily="34" charset="0"/>
              </a:rPr>
              <a:t>is our capacity to choose and to pursue our conception of a </a:t>
            </a:r>
            <a:r>
              <a:rPr lang="en-US" b="1" dirty="0" smtClean="0">
                <a:latin typeface="Arial Narrow" pitchFamily="34" charset="0"/>
              </a:rPr>
              <a:t>worthwhile life(autonomous which implicates liberty )</a:t>
            </a:r>
            <a:r>
              <a:rPr lang="en-US" dirty="0" smtClean="0"/>
              <a:t>.</a:t>
            </a:r>
          </a:p>
          <a:p>
            <a:pPr algn="just"/>
            <a:r>
              <a:rPr lang="en-US" dirty="0" smtClean="0">
                <a:latin typeface="Arial Narrow" pitchFamily="34" charset="0"/>
              </a:rPr>
              <a:t>‘</a:t>
            </a:r>
            <a:r>
              <a:rPr lang="en-US" b="1" dirty="0" smtClean="0">
                <a:latin typeface="Arial Narrow" pitchFamily="34" charset="0"/>
              </a:rPr>
              <a:t>Agency</a:t>
            </a:r>
            <a:r>
              <a:rPr lang="en-US" dirty="0" smtClean="0">
                <a:latin typeface="Arial Narrow" pitchFamily="34" charset="0"/>
              </a:rPr>
              <a:t>’ we must mean not just having certain </a:t>
            </a:r>
            <a:r>
              <a:rPr lang="en-US" b="1" dirty="0" smtClean="0">
                <a:latin typeface="Arial Narrow" pitchFamily="34" charset="0"/>
              </a:rPr>
              <a:t>capacities (autonomous thought, executive action</a:t>
            </a:r>
            <a:r>
              <a:rPr lang="en-US" dirty="0" smtClean="0">
                <a:latin typeface="Arial Narrow" pitchFamily="34" charset="0"/>
              </a:rPr>
              <a:t>) but also </a:t>
            </a:r>
            <a:r>
              <a:rPr lang="en-US" b="1" dirty="0" smtClean="0">
                <a:latin typeface="Arial Narrow" pitchFamily="34" charset="0"/>
              </a:rPr>
              <a:t>exercising</a:t>
            </a:r>
            <a:r>
              <a:rPr lang="en-US" dirty="0" smtClean="0">
                <a:latin typeface="Arial Narrow" pitchFamily="34" charset="0"/>
              </a:rPr>
              <a:t> them. We need </a:t>
            </a:r>
            <a:r>
              <a:rPr lang="en-US" b="1" dirty="0" smtClean="0">
                <a:latin typeface="Arial Narrow" pitchFamily="34" charset="0"/>
              </a:rPr>
              <a:t>knowledge/education</a:t>
            </a:r>
            <a:r>
              <a:rPr lang="en-US" dirty="0" smtClean="0">
                <a:latin typeface="Arial Narrow" pitchFamily="34" charset="0"/>
              </a:rPr>
              <a:t> not only to protect autonomy and liberty but to protect other rights too.</a:t>
            </a:r>
          </a:p>
          <a:p>
            <a:pPr algn="just"/>
            <a:r>
              <a:rPr lang="en-US" dirty="0" smtClean="0">
                <a:latin typeface="Arial Narrow" pitchFamily="34" charset="0"/>
              </a:rPr>
              <a:t>The word </a:t>
            </a:r>
            <a:r>
              <a:rPr lang="en-US" b="1" dirty="0" smtClean="0">
                <a:latin typeface="Arial Narrow" pitchFamily="34" charset="0"/>
              </a:rPr>
              <a:t>‘agency’ </a:t>
            </a:r>
            <a:r>
              <a:rPr lang="en-US" dirty="0" smtClean="0">
                <a:latin typeface="Arial Narrow" pitchFamily="34" charset="0"/>
              </a:rPr>
              <a:t>is used more or less broadly within the spectrum from </a:t>
            </a:r>
            <a:r>
              <a:rPr lang="en-US" b="1" dirty="0" smtClean="0">
                <a:latin typeface="Arial Narrow" pitchFamily="34" charset="0"/>
              </a:rPr>
              <a:t>deliberation to choice to action to outcome</a:t>
            </a:r>
            <a:r>
              <a:rPr lang="en-US" dirty="0" smtClean="0">
                <a:latin typeface="Arial Narrow" pitchFamily="34" charset="0"/>
              </a:rPr>
              <a:t>. In the </a:t>
            </a:r>
            <a:r>
              <a:rPr lang="en-US" b="1" dirty="0" smtClean="0">
                <a:latin typeface="Arial Narrow" pitchFamily="34" charset="0"/>
              </a:rPr>
              <a:t>personhood account, </a:t>
            </a:r>
            <a:r>
              <a:rPr lang="en-US" dirty="0" smtClean="0">
                <a:latin typeface="Arial Narrow" pitchFamily="34" charset="0"/>
              </a:rPr>
              <a:t>it is used broadly—to cover all of</a:t>
            </a:r>
            <a:r>
              <a:rPr lang="en-US" b="1" dirty="0" smtClean="0">
                <a:latin typeface="Arial Narrow" pitchFamily="34" charset="0"/>
              </a:rPr>
              <a:t> these stages</a:t>
            </a:r>
            <a:r>
              <a:rPr lang="en-US" dirty="0" smtClean="0">
                <a:latin typeface="Arial Narrow" pitchFamily="34" charset="0"/>
              </a:rPr>
              <a:t>.</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a:bodyPr>
          <a:lstStyle/>
          <a:p>
            <a:pPr algn="just"/>
            <a:r>
              <a:rPr lang="en-US" dirty="0" smtClean="0">
                <a:latin typeface="Arial Narrow" pitchFamily="34" charset="0"/>
              </a:rPr>
              <a:t>Infants, the severely mentally retarded, people in an irreversible coma, are all members of the species, but are </a:t>
            </a:r>
            <a:r>
              <a:rPr lang="en-US" b="1" dirty="0" smtClean="0">
                <a:latin typeface="Arial Narrow" pitchFamily="34" charset="0"/>
              </a:rPr>
              <a:t>not agents</a:t>
            </a:r>
            <a:r>
              <a:rPr lang="en-US" dirty="0" smtClean="0">
                <a:latin typeface="Arial Narrow" pitchFamily="34" charset="0"/>
              </a:rPr>
              <a:t>.</a:t>
            </a:r>
          </a:p>
          <a:p>
            <a:pPr algn="just"/>
            <a:r>
              <a:rPr lang="en-US" dirty="0" smtClean="0">
                <a:latin typeface="Arial Narrow" pitchFamily="34" charset="0"/>
              </a:rPr>
              <a:t>Kant thought that one would be </a:t>
            </a:r>
            <a:r>
              <a:rPr lang="en-US" b="1" dirty="0" smtClean="0">
                <a:latin typeface="Arial Narrow" pitchFamily="34" charset="0"/>
              </a:rPr>
              <a:t>autonomou</a:t>
            </a:r>
            <a:r>
              <a:rPr lang="en-US" dirty="0" smtClean="0">
                <a:latin typeface="Arial Narrow" pitchFamily="34" charset="0"/>
              </a:rPr>
              <a:t>s only if one’s actions came from a </a:t>
            </a:r>
            <a:r>
              <a:rPr lang="en-US" b="1" dirty="0" smtClean="0">
                <a:latin typeface="Arial Narrow" pitchFamily="34" charset="0"/>
              </a:rPr>
              <a:t>purely rational,  intentional centre, undetermined by anything outside it—undetermined</a:t>
            </a:r>
            <a:r>
              <a:rPr lang="en-US" dirty="0" smtClean="0">
                <a:latin typeface="Arial Narrow" pitchFamily="34" charset="0"/>
              </a:rPr>
              <a:t>, for instance, by one’s biology or one’s society. But r</a:t>
            </a:r>
            <a:r>
              <a:rPr lang="en-US" b="1" dirty="0" smtClean="0">
                <a:latin typeface="Arial Narrow" pitchFamily="34" charset="0"/>
              </a:rPr>
              <a:t>ationality</a:t>
            </a:r>
            <a:r>
              <a:rPr lang="en-US" dirty="0" smtClean="0">
                <a:latin typeface="Arial Narrow" pitchFamily="34" charset="0"/>
              </a:rPr>
              <a:t> requires </a:t>
            </a:r>
            <a:r>
              <a:rPr lang="en-US" b="1" dirty="0" smtClean="0">
                <a:latin typeface="Arial Narrow" pitchFamily="34" charset="0"/>
              </a:rPr>
              <a:t>thought</a:t>
            </a:r>
            <a:r>
              <a:rPr lang="en-US" dirty="0" smtClean="0">
                <a:latin typeface="Arial Narrow" pitchFamily="34" charset="0"/>
              </a:rPr>
              <a:t>; thought—at least thought about how to live one’s life—requires </a:t>
            </a:r>
            <a:r>
              <a:rPr lang="en-US" b="1" dirty="0" smtClean="0">
                <a:latin typeface="Arial Narrow" pitchFamily="34" charset="0"/>
              </a:rPr>
              <a:t>languag</a:t>
            </a:r>
            <a:r>
              <a:rPr lang="en-US" dirty="0" smtClean="0">
                <a:latin typeface="Arial Narrow" pitchFamily="34" charset="0"/>
              </a:rPr>
              <a:t>e; and language is a cultural </a:t>
            </a:r>
            <a:r>
              <a:rPr lang="en-US" dirty="0" err="1" smtClean="0">
                <a:latin typeface="Arial Narrow" pitchFamily="34" charset="0"/>
              </a:rPr>
              <a:t>artefact</a:t>
            </a:r>
            <a:r>
              <a:rPr lang="en-US" dirty="0" smtClean="0">
                <a:latin typeface="Arial Narrow" pitchFamily="34" charset="0"/>
              </a:rPr>
              <a:t>, deeply influenced by the form of life lived by animals like us.</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In What Sense are HRs Universal?</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lstStyle/>
          <a:p>
            <a:r>
              <a:rPr lang="en-US" dirty="0" smtClean="0">
                <a:latin typeface="Arial Narrow" pitchFamily="34" charset="0"/>
              </a:rPr>
              <a:t>Freedom of Expression</a:t>
            </a:r>
          </a:p>
          <a:p>
            <a:pPr algn="just"/>
            <a:r>
              <a:rPr lang="en-US" dirty="0" smtClean="0">
                <a:latin typeface="Arial Narrow" pitchFamily="34" charset="0"/>
              </a:rPr>
              <a:t>The ground for freedom of expression lies in a </a:t>
            </a:r>
            <a:r>
              <a:rPr lang="en-US" b="1" dirty="0" smtClean="0">
                <a:latin typeface="Arial Narrow" pitchFamily="34" charset="0"/>
              </a:rPr>
              <a:t>normative notion of agency</a:t>
            </a:r>
            <a:r>
              <a:rPr lang="en-US" dirty="0" smtClean="0">
                <a:latin typeface="Arial Narrow" pitchFamily="34" charset="0"/>
              </a:rPr>
              <a:t>: we are s</a:t>
            </a:r>
            <a:r>
              <a:rPr lang="en-US" b="1" dirty="0" smtClean="0">
                <a:latin typeface="Arial Narrow" pitchFamily="34" charset="0"/>
              </a:rPr>
              <a:t>elf-deciders</a:t>
            </a:r>
            <a:r>
              <a:rPr lang="en-US" dirty="0" smtClean="0">
                <a:latin typeface="Arial Narrow" pitchFamily="34" charset="0"/>
              </a:rPr>
              <a:t>; that is part of the </a:t>
            </a:r>
            <a:r>
              <a:rPr lang="en-US" b="1" dirty="0" smtClean="0">
                <a:latin typeface="Arial Narrow" pitchFamily="34" charset="0"/>
              </a:rPr>
              <a:t>dignity</a:t>
            </a:r>
            <a:r>
              <a:rPr lang="en-US" dirty="0" smtClean="0">
                <a:latin typeface="Arial Narrow" pitchFamily="34" charset="0"/>
              </a:rPr>
              <a:t> of human standing</a:t>
            </a:r>
            <a:r>
              <a:rPr lang="en-US" dirty="0" smtClean="0"/>
              <a:t>.</a:t>
            </a:r>
          </a:p>
          <a:p>
            <a:pPr algn="just"/>
            <a:r>
              <a:rPr lang="en-US" b="1" dirty="0" smtClean="0">
                <a:latin typeface="Arial Narrow" pitchFamily="34" charset="0"/>
              </a:rPr>
              <a:t>Welfare rights </a:t>
            </a:r>
            <a:r>
              <a:rPr lang="en-US" dirty="0" smtClean="0">
                <a:latin typeface="Arial Narrow" pitchFamily="34" charset="0"/>
              </a:rPr>
              <a:t>are society </a:t>
            </a:r>
            <a:r>
              <a:rPr lang="en-US" b="1" dirty="0" smtClean="0">
                <a:latin typeface="Arial Narrow" pitchFamily="34" charset="0"/>
              </a:rPr>
              <a:t>dependent</a:t>
            </a:r>
            <a:r>
              <a:rPr lang="en-US" dirty="0" smtClean="0">
                <a:latin typeface="Arial Narrow" pitchFamily="34" charset="0"/>
              </a:rPr>
              <a:t> and may not exist in the state of nature.</a:t>
            </a:r>
          </a:p>
          <a:p>
            <a:pPr algn="just"/>
            <a:r>
              <a:rPr lang="en-US" b="1" dirty="0" smtClean="0">
                <a:latin typeface="Arial Narrow" pitchFamily="34" charset="0"/>
              </a:rPr>
              <a:t>Do We Need a more Pluralist Account ? </a:t>
            </a:r>
          </a:p>
          <a:p>
            <a:pPr lvl="1" algn="just"/>
            <a:r>
              <a:rPr lang="en-US" b="1" dirty="0" smtClean="0">
                <a:latin typeface="Arial Narrow" pitchFamily="34" charset="0"/>
              </a:rPr>
              <a:t>What is wrong with torture? It causes excruciating pain undermining someone’s will having an ultimate effect of undermining normative agency.</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latin typeface="Arial Narrow" pitchFamily="34" charset="0"/>
              </a:rPr>
              <a:t>What is Source?</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lstStyle/>
          <a:p>
            <a:pPr algn="just"/>
            <a:r>
              <a:rPr lang="en-US" b="1" dirty="0" smtClean="0">
                <a:latin typeface="Arial Narrow" pitchFamily="34" charset="0"/>
              </a:rPr>
              <a:t>Source</a:t>
            </a:r>
            <a:r>
              <a:rPr lang="en-US" dirty="0" smtClean="0">
                <a:latin typeface="Arial Narrow" pitchFamily="34" charset="0"/>
              </a:rPr>
              <a:t> is any pieces of information that can be used in the course of legislation. Sources also connotes the authoritative and binding nature of a certain law.</a:t>
            </a:r>
          </a:p>
          <a:p>
            <a:pPr algn="just"/>
            <a:r>
              <a:rPr lang="en-US" dirty="0" smtClean="0">
                <a:latin typeface="Arial Narrow" pitchFamily="34" charset="0"/>
              </a:rPr>
              <a:t>Article 38(1) of the Statute of the International Court of Justice indicates the traditional sources of public international law including </a:t>
            </a:r>
            <a:r>
              <a:rPr lang="en-US" b="1" dirty="0" smtClean="0">
                <a:latin typeface="Arial Narrow" pitchFamily="34" charset="0"/>
              </a:rPr>
              <a:t>international conventions (treaties), international custom, international principles of law recognized by civilized nations, and subsidiary sources (publicists of highly learned individuals and judicial precedent). However, </a:t>
            </a:r>
            <a:r>
              <a:rPr lang="en-US" dirty="0" smtClean="0">
                <a:latin typeface="Arial Narrow" pitchFamily="34" charset="0"/>
              </a:rPr>
              <a:t>whether such sources are adequate to cover the full spectrum of human rights as a source is debatable.</a:t>
            </a: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smtClean="0">
                <a:latin typeface="Arial Narrow" pitchFamily="34" charset="0"/>
              </a:rPr>
              <a:t>Soft Laws as a Sources of </a:t>
            </a:r>
            <a:r>
              <a:rPr lang="en-US" b="1" dirty="0" err="1" smtClean="0">
                <a:latin typeface="Arial Narrow" pitchFamily="34" charset="0"/>
              </a:rPr>
              <a:t>HRsL</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fontScale="77500" lnSpcReduction="20000"/>
          </a:bodyPr>
          <a:lstStyle/>
          <a:p>
            <a:pPr algn="just"/>
            <a:r>
              <a:rPr lang="en-US" dirty="0" smtClean="0">
                <a:latin typeface="Arial Narrow" pitchFamily="34" charset="0"/>
              </a:rPr>
              <a:t>In most cases, norms of </a:t>
            </a:r>
            <a:r>
              <a:rPr lang="en-US" dirty="0" err="1" smtClean="0">
                <a:latin typeface="Arial Narrow" pitchFamily="34" charset="0"/>
              </a:rPr>
              <a:t>HRsL</a:t>
            </a:r>
            <a:r>
              <a:rPr lang="en-US" dirty="0" smtClean="0">
                <a:latin typeface="Arial Narrow" pitchFamily="34" charset="0"/>
              </a:rPr>
              <a:t> are derived from non-binding soft rules including UN General Resolutions and UDHR. Both treaties and international custom are found on the basis of </a:t>
            </a:r>
            <a:r>
              <a:rPr lang="en-US" b="1" dirty="0" smtClean="0">
                <a:latin typeface="Arial Narrow" pitchFamily="34" charset="0"/>
              </a:rPr>
              <a:t>consent</a:t>
            </a:r>
            <a:r>
              <a:rPr lang="en-US" dirty="0" smtClean="0">
                <a:latin typeface="Arial Narrow" pitchFamily="34" charset="0"/>
              </a:rPr>
              <a:t> of states which could be a challenge for the protection and promotion of HRs in general.</a:t>
            </a:r>
          </a:p>
          <a:p>
            <a:pPr algn="just"/>
            <a:r>
              <a:rPr lang="en-US" b="1" dirty="0" smtClean="0">
                <a:latin typeface="Arial Narrow" pitchFamily="34" charset="0"/>
              </a:rPr>
              <a:t>Non-conventional sources </a:t>
            </a:r>
            <a:r>
              <a:rPr lang="en-US" dirty="0" smtClean="0">
                <a:latin typeface="Arial Narrow" pitchFamily="34" charset="0"/>
              </a:rPr>
              <a:t>of </a:t>
            </a:r>
            <a:r>
              <a:rPr lang="en-US" dirty="0" err="1" smtClean="0">
                <a:latin typeface="Arial Narrow" pitchFamily="34" charset="0"/>
              </a:rPr>
              <a:t>HRsL</a:t>
            </a:r>
            <a:r>
              <a:rPr lang="en-US" dirty="0" smtClean="0">
                <a:latin typeface="Arial Narrow" pitchFamily="34" charset="0"/>
              </a:rPr>
              <a:t> are the products of common consensus and are either </a:t>
            </a:r>
            <a:r>
              <a:rPr lang="en-US" i="1" dirty="0" smtClean="0">
                <a:latin typeface="Arial Narrow" pitchFamily="34" charset="0"/>
              </a:rPr>
              <a:t>jus </a:t>
            </a:r>
            <a:r>
              <a:rPr lang="en-US" i="1" dirty="0" err="1" smtClean="0">
                <a:latin typeface="Arial Narrow" pitchFamily="34" charset="0"/>
              </a:rPr>
              <a:t>cogens</a:t>
            </a:r>
            <a:r>
              <a:rPr lang="en-US" i="1" dirty="0" smtClean="0">
                <a:latin typeface="Arial Narrow" pitchFamily="34" charset="0"/>
              </a:rPr>
              <a:t> </a:t>
            </a:r>
            <a:r>
              <a:rPr lang="en-US" dirty="0" smtClean="0">
                <a:latin typeface="Arial Narrow" pitchFamily="34" charset="0"/>
              </a:rPr>
              <a:t>or emulate </a:t>
            </a:r>
            <a:r>
              <a:rPr lang="en-US" i="1" dirty="0" smtClean="0">
                <a:latin typeface="Arial Narrow" pitchFamily="34" charset="0"/>
              </a:rPr>
              <a:t>jus </a:t>
            </a:r>
            <a:r>
              <a:rPr lang="en-US" i="1" dirty="0" err="1" smtClean="0">
                <a:latin typeface="Arial Narrow" pitchFamily="34" charset="0"/>
              </a:rPr>
              <a:t>cogens</a:t>
            </a:r>
            <a:r>
              <a:rPr lang="en-US" dirty="0" smtClean="0">
                <a:latin typeface="Arial Narrow" pitchFamily="34" charset="0"/>
              </a:rPr>
              <a:t>.</a:t>
            </a:r>
          </a:p>
          <a:p>
            <a:pPr algn="just"/>
            <a:r>
              <a:rPr lang="en-US" dirty="0" smtClean="0">
                <a:latin typeface="Arial Narrow" pitchFamily="34" charset="0"/>
              </a:rPr>
              <a:t>Obligation of </a:t>
            </a:r>
            <a:r>
              <a:rPr lang="en-US" b="1" i="1" dirty="0" err="1" smtClean="0">
                <a:latin typeface="Arial Narrow" pitchFamily="34" charset="0"/>
              </a:rPr>
              <a:t>erga</a:t>
            </a:r>
            <a:r>
              <a:rPr lang="en-US" b="1" i="1" dirty="0" smtClean="0">
                <a:latin typeface="Arial Narrow" pitchFamily="34" charset="0"/>
              </a:rPr>
              <a:t> </a:t>
            </a:r>
            <a:r>
              <a:rPr lang="en-US" b="1" i="1" dirty="0" err="1" smtClean="0">
                <a:latin typeface="Arial Narrow" pitchFamily="34" charset="0"/>
              </a:rPr>
              <a:t>omnes</a:t>
            </a:r>
            <a:r>
              <a:rPr lang="en-US" b="1" i="1" dirty="0" smtClean="0">
                <a:latin typeface="Arial Narrow" pitchFamily="34" charset="0"/>
              </a:rPr>
              <a:t> – obligations which are valid for all whereas </a:t>
            </a:r>
            <a:r>
              <a:rPr lang="en-US" b="1" i="1" dirty="0" err="1" smtClean="0">
                <a:latin typeface="Arial Narrow" pitchFamily="34" charset="0"/>
              </a:rPr>
              <a:t>Opinio</a:t>
            </a:r>
            <a:r>
              <a:rPr lang="en-US" b="1" i="1" dirty="0" smtClean="0">
                <a:latin typeface="Arial Narrow" pitchFamily="34" charset="0"/>
              </a:rPr>
              <a:t> </a:t>
            </a:r>
            <a:r>
              <a:rPr lang="en-US" b="1" i="1" dirty="0" err="1" smtClean="0">
                <a:latin typeface="Arial Narrow" pitchFamily="34" charset="0"/>
              </a:rPr>
              <a:t>juris</a:t>
            </a:r>
            <a:r>
              <a:rPr lang="en-US" b="1" i="1" dirty="0" smtClean="0">
                <a:latin typeface="Arial Narrow" pitchFamily="34" charset="0"/>
              </a:rPr>
              <a:t> </a:t>
            </a:r>
            <a:r>
              <a:rPr lang="en-US" dirty="0" smtClean="0">
                <a:latin typeface="Arial Narrow" pitchFamily="34" charset="0"/>
              </a:rPr>
              <a:t>is a general belief by states that a non-treaty rule is a legally binding on them.(state acquiescence). This is very similar to jus </a:t>
            </a:r>
            <a:r>
              <a:rPr lang="en-US" b="1" i="1" dirty="0" err="1" smtClean="0">
                <a:latin typeface="Arial Narrow" pitchFamily="34" charset="0"/>
              </a:rPr>
              <a:t>cogens</a:t>
            </a:r>
            <a:r>
              <a:rPr lang="en-US" b="1" i="1" dirty="0" smtClean="0">
                <a:latin typeface="Arial Narrow" pitchFamily="34" charset="0"/>
              </a:rPr>
              <a:t> norms </a:t>
            </a:r>
          </a:p>
          <a:p>
            <a:pPr algn="just"/>
            <a:r>
              <a:rPr lang="en-US" dirty="0" smtClean="0">
                <a:latin typeface="Arial Narrow" pitchFamily="34" charset="0"/>
              </a:rPr>
              <a:t>UN GA as soft law non-binding but and consent of states can be obtained through voting system.</a:t>
            </a:r>
          </a:p>
          <a:p>
            <a:pPr algn="just"/>
            <a:r>
              <a:rPr lang="en-US" dirty="0" smtClean="0">
                <a:latin typeface="Arial Narrow" pitchFamily="34" charset="0"/>
              </a:rPr>
              <a:t>UDHR as binding because it is cited in many binding international conventions, national constitutional provisions ,and  UNSC.</a:t>
            </a:r>
          </a:p>
          <a:p>
            <a:pPr lvl="1" algn="just"/>
            <a:r>
              <a:rPr lang="en-US" dirty="0" smtClean="0">
                <a:latin typeface="Arial Narrow" pitchFamily="34" charset="0"/>
              </a:rPr>
              <a:t>customary international law status</a:t>
            </a:r>
          </a:p>
          <a:p>
            <a:pPr lvl="1" algn="just"/>
            <a:r>
              <a:rPr lang="en-US" dirty="0" smtClean="0">
                <a:latin typeface="Arial Narrow" pitchFamily="34" charset="0"/>
              </a:rPr>
              <a:t>General principle of law</a:t>
            </a:r>
          </a:p>
          <a:p>
            <a:pPr lvl="1" algn="just"/>
            <a:r>
              <a:rPr lang="en-US" dirty="0" smtClean="0">
                <a:latin typeface="Arial Narrow" pitchFamily="34" charset="0"/>
              </a:rPr>
              <a:t>United Nations consistent reliance on UDHR(authoritative interpretation approach-Art. 55 and 56 of the UN Charter)</a:t>
            </a:r>
          </a:p>
          <a:p>
            <a:pPr lvl="1"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6172200"/>
          </a:xfrm>
        </p:spPr>
        <p:txBody>
          <a:bodyPr>
            <a:normAutofit/>
          </a:bodyPr>
          <a:lstStyle/>
          <a:p>
            <a:pPr marL="342900" lvl="1" indent="-342900">
              <a:buNone/>
            </a:pPr>
            <a:r>
              <a:rPr lang="en-US" sz="3200" b="1" dirty="0" smtClean="0">
                <a:solidFill>
                  <a:srgbClr val="FF0000"/>
                </a:solidFill>
                <a:latin typeface="Times New Roman" pitchFamily="18" charset="0"/>
                <a:cs typeface="Times New Roman" pitchFamily="18" charset="0"/>
              </a:rPr>
              <a:t>What are Rights?</a:t>
            </a:r>
            <a:endParaRPr lang="en-US" sz="2400" b="1" dirty="0" smtClean="0">
              <a:solidFill>
                <a:srgbClr val="FF0000"/>
              </a:solidFill>
              <a:latin typeface="Times New Roman" pitchFamily="18" charset="0"/>
              <a:cs typeface="Times New Roman" pitchFamily="18" charset="0"/>
            </a:endParaRPr>
          </a:p>
          <a:p>
            <a:pPr algn="just"/>
            <a:r>
              <a:rPr lang="en-US" sz="2800" b="1" dirty="0" smtClean="0">
                <a:solidFill>
                  <a:srgbClr val="FF0000"/>
                </a:solidFill>
                <a:latin typeface="Times New Roman" pitchFamily="18" charset="0"/>
                <a:cs typeface="Times New Roman" pitchFamily="18" charset="0"/>
              </a:rPr>
              <a:t>Will/Choice </a:t>
            </a:r>
            <a:r>
              <a:rPr lang="en-US" b="1" dirty="0" smtClean="0">
                <a:solidFill>
                  <a:srgbClr val="FF0000"/>
                </a:solidFill>
                <a:latin typeface="Times New Roman" pitchFamily="18" charset="0"/>
                <a:cs typeface="Times New Roman" pitchFamily="18" charset="0"/>
              </a:rPr>
              <a:t>theory</a:t>
            </a:r>
            <a:r>
              <a:rPr lang="en-US" sz="2000" dirty="0" smtClean="0">
                <a:solidFill>
                  <a:srgbClr val="FF0000"/>
                </a:solidFill>
                <a:latin typeface="Times New Roman" pitchFamily="18" charset="0"/>
                <a:cs typeface="Times New Roman" pitchFamily="18" charset="0"/>
              </a:rPr>
              <a:t>-</a:t>
            </a:r>
            <a:r>
              <a:rPr lang="en-US" dirty="0" smtClean="0">
                <a:solidFill>
                  <a:srgbClr val="FF0000"/>
                </a:solidFill>
                <a:latin typeface="Times New Roman" pitchFamily="18" charset="0"/>
                <a:cs typeface="Times New Roman" pitchFamily="18" charset="0"/>
              </a:rPr>
              <a:t>The </a:t>
            </a:r>
            <a:r>
              <a:rPr lang="en-US" sz="2400" dirty="0" smtClean="0">
                <a:latin typeface="Times New Roman" pitchFamily="18" charset="0"/>
                <a:cs typeface="Times New Roman" pitchFamily="18" charset="0"/>
              </a:rPr>
              <a:t>will theory is subscribed to by those who view the </a:t>
            </a:r>
            <a:r>
              <a:rPr lang="en-US" sz="2400" b="1" dirty="0" smtClean="0">
                <a:latin typeface="Times New Roman" pitchFamily="18" charset="0"/>
                <a:cs typeface="Times New Roman" pitchFamily="18" charset="0"/>
              </a:rPr>
              <a:t>purpose of law as being to grant the widest possible means of self-expression </a:t>
            </a:r>
            <a:r>
              <a:rPr lang="en-US" sz="2400" dirty="0" smtClean="0">
                <a:latin typeface="Times New Roman" pitchFamily="18" charset="0"/>
                <a:cs typeface="Times New Roman" pitchFamily="18" charset="0"/>
              </a:rPr>
              <a:t>to the individual. Individual </a:t>
            </a:r>
            <a:r>
              <a:rPr lang="en-US" sz="2400" b="1" dirty="0" smtClean="0">
                <a:latin typeface="Times New Roman" pitchFamily="18" charset="0"/>
                <a:cs typeface="Times New Roman" pitchFamily="18" charset="0"/>
              </a:rPr>
              <a:t>discretion</a:t>
            </a:r>
            <a:r>
              <a:rPr lang="en-US" sz="2400" dirty="0" smtClean="0">
                <a:latin typeface="Times New Roman" pitchFamily="18" charset="0"/>
                <a:cs typeface="Times New Roman" pitchFamily="18" charset="0"/>
              </a:rPr>
              <a:t> is the single most distinctive feature of the concept of rights in this view</a:t>
            </a:r>
            <a:r>
              <a:rPr lang="en-US" sz="2400" dirty="0" smtClean="0"/>
              <a:t>.</a:t>
            </a:r>
            <a:endParaRPr lang="en-US" sz="9600" dirty="0" smtClean="0">
              <a:latin typeface="Times New Roman" pitchFamily="18" charset="0"/>
              <a:cs typeface="Times New Roman" pitchFamily="18" charset="0"/>
            </a:endParaRPr>
          </a:p>
          <a:p>
            <a:pPr algn="just"/>
            <a:r>
              <a:rPr lang="en-US" b="1" dirty="0" smtClean="0">
                <a:solidFill>
                  <a:srgbClr val="FF0000"/>
                </a:solidFill>
                <a:latin typeface="Times New Roman" pitchFamily="18" charset="0"/>
                <a:cs typeface="Times New Roman" pitchFamily="18" charset="0"/>
              </a:rPr>
              <a:t>Right/benefit theory-</a:t>
            </a:r>
            <a:r>
              <a:rPr lang="en-US" dirty="0" smtClean="0">
                <a:solidFill>
                  <a:srgbClr val="FF0000"/>
                </a:solidFill>
                <a:latin typeface="Times New Roman" pitchFamily="18" charset="0"/>
                <a:cs typeface="Times New Roman" pitchFamily="18" charset="0"/>
              </a:rPr>
              <a:t>argues </a:t>
            </a:r>
            <a:r>
              <a:rPr lang="en-US" dirty="0" smtClean="0">
                <a:latin typeface="Times New Roman" pitchFamily="18" charset="0"/>
                <a:cs typeface="Times New Roman" pitchFamily="18" charset="0"/>
              </a:rPr>
              <a:t>that the purpose of rights is not to protect individual assertion but certain </a:t>
            </a:r>
            <a:r>
              <a:rPr lang="en-US" b="1" dirty="0" smtClean="0">
                <a:latin typeface="Times New Roman" pitchFamily="18" charset="0"/>
                <a:cs typeface="Times New Roman" pitchFamily="18" charset="0"/>
              </a:rPr>
              <a:t>interests</a:t>
            </a:r>
            <a:r>
              <a:rPr lang="en-US" dirty="0" smtClean="0">
                <a:latin typeface="Times New Roman" pitchFamily="18" charset="0"/>
                <a:cs typeface="Times New Roman" pitchFamily="18" charset="0"/>
              </a:rPr>
              <a:t>.-</a:t>
            </a:r>
            <a:r>
              <a:rPr lang="en-US" sz="3000" dirty="0" smtClean="0">
                <a:solidFill>
                  <a:srgbClr val="FF0000"/>
                </a:solidFill>
                <a:latin typeface="Times New Roman" pitchFamily="18" charset="0"/>
                <a:cs typeface="Times New Roman" pitchFamily="18" charset="0"/>
              </a:rPr>
              <a:t>Rights</a:t>
            </a:r>
            <a:r>
              <a:rPr lang="en-US" sz="3000" dirty="0" smtClean="0">
                <a:latin typeface="Times New Roman" pitchFamily="18" charset="0"/>
                <a:cs typeface="Times New Roman" pitchFamily="18" charset="0"/>
              </a:rPr>
              <a:t> are said to be </a:t>
            </a:r>
            <a:r>
              <a:rPr lang="en-US" sz="3000" b="1" dirty="0" smtClean="0">
                <a:latin typeface="Times New Roman" pitchFamily="18" charset="0"/>
                <a:cs typeface="Times New Roman" pitchFamily="18" charset="0"/>
              </a:rPr>
              <a:t>benefits secured for persons by rules regulating relationships.</a:t>
            </a:r>
            <a:endParaRPr lang="en-US" b="1" dirty="0" smtClean="0"/>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b="1" dirty="0" smtClean="0">
                <a:latin typeface="Arial Narrow" pitchFamily="34" charset="0"/>
              </a:rPr>
              <a:t>Henry </a:t>
            </a:r>
            <a:r>
              <a:rPr lang="en-US" b="1" dirty="0" err="1" smtClean="0">
                <a:latin typeface="Arial Narrow" pitchFamily="34" charset="0"/>
              </a:rPr>
              <a:t>Shue</a:t>
            </a:r>
            <a:r>
              <a:rPr lang="en-US" b="1" dirty="0" smtClean="0">
                <a:latin typeface="Arial Narrow" pitchFamily="34" charset="0"/>
              </a:rPr>
              <a:t>(1980)-Tripartite Obligation of </a:t>
            </a:r>
            <a:r>
              <a:rPr lang="en-US" b="1" dirty="0" err="1" smtClean="0">
                <a:latin typeface="Arial Narrow" pitchFamily="34" charset="0"/>
              </a:rPr>
              <a:t>Gov’t</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lnSpcReduction="20000"/>
          </a:bodyPr>
          <a:lstStyle/>
          <a:p>
            <a:pPr algn="just"/>
            <a:r>
              <a:rPr lang="en-US" b="1" dirty="0" smtClean="0">
                <a:latin typeface="Arial Narrow" pitchFamily="34" charset="0"/>
              </a:rPr>
              <a:t>Obligations to respect</a:t>
            </a:r>
            <a:r>
              <a:rPr lang="en-US" dirty="0" smtClean="0">
                <a:latin typeface="Arial Narrow" pitchFamily="34" charset="0"/>
              </a:rPr>
              <a:t>: In general, this level of obligation requires the state to </a:t>
            </a:r>
            <a:r>
              <a:rPr lang="en-US" b="1" dirty="0" smtClean="0">
                <a:latin typeface="Arial Narrow" pitchFamily="34" charset="0"/>
              </a:rPr>
              <a:t>refrain</a:t>
            </a:r>
            <a:r>
              <a:rPr lang="en-US" dirty="0" smtClean="0">
                <a:latin typeface="Arial Narrow" pitchFamily="34" charset="0"/>
              </a:rPr>
              <a:t> from any measure that may deprive individuals of the enjoyment of their rights or of the ability to satisfy those rights by their own efforts.</a:t>
            </a:r>
          </a:p>
          <a:p>
            <a:pPr algn="just"/>
            <a:r>
              <a:rPr lang="en-US" b="1" i="1" dirty="0" smtClean="0">
                <a:latin typeface="Arial Narrow" pitchFamily="34" charset="0"/>
              </a:rPr>
              <a:t>Obligations to protect</a:t>
            </a:r>
            <a:r>
              <a:rPr lang="en-US" i="1" dirty="0" smtClean="0">
                <a:latin typeface="Arial Narrow" pitchFamily="34" charset="0"/>
              </a:rPr>
              <a:t>: This level of obligation requires the state to </a:t>
            </a:r>
            <a:r>
              <a:rPr lang="en-US" b="1" i="1" dirty="0" smtClean="0">
                <a:latin typeface="Arial Narrow" pitchFamily="34" charset="0"/>
              </a:rPr>
              <a:t>prevent </a:t>
            </a:r>
            <a:r>
              <a:rPr lang="en-US" b="1" dirty="0" smtClean="0">
                <a:latin typeface="Arial Narrow" pitchFamily="34" charset="0"/>
              </a:rPr>
              <a:t>violations of human rights by third parties</a:t>
            </a:r>
            <a:r>
              <a:rPr lang="en-US" dirty="0" smtClean="0">
                <a:latin typeface="Arial Narrow" pitchFamily="34" charset="0"/>
              </a:rPr>
              <a:t>. The obligation to protect is normally taken to be a </a:t>
            </a:r>
            <a:r>
              <a:rPr lang="en-US" b="1" dirty="0" smtClean="0">
                <a:latin typeface="Arial Narrow" pitchFamily="34" charset="0"/>
              </a:rPr>
              <a:t>central function of states</a:t>
            </a:r>
            <a:r>
              <a:rPr lang="en-US" dirty="0" smtClean="0">
                <a:latin typeface="Arial Narrow" pitchFamily="34" charset="0"/>
              </a:rPr>
              <a:t>, which have to prevent irreparable harm from being inflicted upon members of society. This requires states: a) </a:t>
            </a:r>
            <a:r>
              <a:rPr lang="en-US" b="1" dirty="0" smtClean="0">
                <a:latin typeface="Arial Narrow" pitchFamily="34" charset="0"/>
              </a:rPr>
              <a:t>to prevent violations of rights by any individual or non-state actor</a:t>
            </a:r>
            <a:r>
              <a:rPr lang="en-US" dirty="0" smtClean="0">
                <a:latin typeface="Arial Narrow" pitchFamily="34" charset="0"/>
              </a:rPr>
              <a:t>; b) to </a:t>
            </a:r>
            <a:r>
              <a:rPr lang="en-US" b="1" dirty="0" smtClean="0">
                <a:latin typeface="Arial Narrow" pitchFamily="34" charset="0"/>
              </a:rPr>
              <a:t>avoid and eliminate incentives to violate rights by third parties(state sponsored violations of HRs)</a:t>
            </a:r>
            <a:r>
              <a:rPr lang="en-US" dirty="0" smtClean="0">
                <a:latin typeface="Arial Narrow" pitchFamily="34" charset="0"/>
              </a:rPr>
              <a:t>; and c) </a:t>
            </a:r>
            <a:r>
              <a:rPr lang="en-US" b="1" dirty="0" smtClean="0">
                <a:latin typeface="Arial Narrow" pitchFamily="34" charset="0"/>
              </a:rPr>
              <a:t>to provide access to legal remedies when violations have occurred in order to prevent further deprivations.</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t>Cont’ed</a:t>
            </a:r>
            <a:endParaRPr lang="en-US" dirty="0"/>
          </a:p>
        </p:txBody>
      </p:sp>
      <p:sp>
        <p:nvSpPr>
          <p:cNvPr id="3" name="Content Placeholder 2"/>
          <p:cNvSpPr>
            <a:spLocks noGrp="1"/>
          </p:cNvSpPr>
          <p:nvPr>
            <p:ph idx="1"/>
          </p:nvPr>
        </p:nvSpPr>
        <p:spPr>
          <a:xfrm>
            <a:off x="0" y="685800"/>
            <a:ext cx="9144000" cy="6172200"/>
          </a:xfrm>
        </p:spPr>
        <p:txBody>
          <a:bodyPr>
            <a:normAutofit fontScale="92500"/>
          </a:bodyPr>
          <a:lstStyle/>
          <a:p>
            <a:pPr algn="just"/>
            <a:r>
              <a:rPr lang="en-US" b="1" i="1" dirty="0" smtClean="0">
                <a:latin typeface="Arial Narrow" pitchFamily="34" charset="0"/>
              </a:rPr>
              <a:t>Obligations to fulfill</a:t>
            </a:r>
            <a:r>
              <a:rPr lang="en-US" i="1" dirty="0" smtClean="0">
                <a:latin typeface="Arial Narrow" pitchFamily="34" charset="0"/>
              </a:rPr>
              <a:t>: This level of obligation requires the state to take </a:t>
            </a:r>
            <a:r>
              <a:rPr lang="en-US" dirty="0" smtClean="0">
                <a:latin typeface="Arial Narrow" pitchFamily="34" charset="0"/>
              </a:rPr>
              <a:t>measures to </a:t>
            </a:r>
            <a:r>
              <a:rPr lang="en-US" b="1" dirty="0" smtClean="0">
                <a:latin typeface="Arial Narrow" pitchFamily="34" charset="0"/>
              </a:rPr>
              <a:t>ensure, for persons within its jurisdiction, opportunities to obtain satisfaction of the basic needs as recognized in human rights instruments</a:t>
            </a:r>
            <a:r>
              <a:rPr lang="en-US" dirty="0" smtClean="0">
                <a:latin typeface="Arial Narrow" pitchFamily="34" charset="0"/>
              </a:rPr>
              <a:t>, which cannot be </a:t>
            </a:r>
            <a:r>
              <a:rPr lang="en-US" b="1" dirty="0" smtClean="0">
                <a:latin typeface="Arial Narrow" pitchFamily="34" charset="0"/>
              </a:rPr>
              <a:t>secured by personal efforts</a:t>
            </a:r>
            <a:r>
              <a:rPr lang="en-US" dirty="0" smtClean="0">
                <a:latin typeface="Arial Narrow" pitchFamily="34" charset="0"/>
              </a:rPr>
              <a:t>. Although this is </a:t>
            </a:r>
            <a:r>
              <a:rPr lang="en-US" b="1" dirty="0" smtClean="0">
                <a:latin typeface="Arial Narrow" pitchFamily="34" charset="0"/>
              </a:rPr>
              <a:t>the key state obligation in relation to economic, social and cultural rights,</a:t>
            </a:r>
            <a:r>
              <a:rPr lang="en-US" dirty="0" smtClean="0">
                <a:latin typeface="Arial Narrow" pitchFamily="34" charset="0"/>
              </a:rPr>
              <a:t> the duty </a:t>
            </a:r>
            <a:r>
              <a:rPr lang="en-US" smtClean="0">
                <a:latin typeface="Arial Narrow" pitchFamily="34" charset="0"/>
              </a:rPr>
              <a:t>to fulfill </a:t>
            </a:r>
            <a:r>
              <a:rPr lang="en-US" dirty="0" smtClean="0">
                <a:latin typeface="Arial Narrow" pitchFamily="34" charset="0"/>
              </a:rPr>
              <a:t>also arises in respect to civil and political rights. It is clear that enforcing, for instance, the prohibition of torture (which requires, for example, police training and preventive measures), the right to a fair trial (which requires investments in courts and  judges), the right of free and fair elections or the right to legal assistance, entails considerable cost.</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b="1" dirty="0" smtClean="0">
                <a:latin typeface="Arial Narrow" pitchFamily="34" charset="0"/>
              </a:rPr>
              <a:t>Drafting History of the UDHR(</a:t>
            </a:r>
            <a:r>
              <a:rPr lang="en-US" b="1" dirty="0" err="1" smtClean="0">
                <a:latin typeface="Arial Narrow" pitchFamily="34" charset="0"/>
              </a:rPr>
              <a:t>Int’al</a:t>
            </a:r>
            <a:r>
              <a:rPr lang="en-US" b="1" dirty="0" smtClean="0">
                <a:latin typeface="Arial Narrow" pitchFamily="34" charset="0"/>
              </a:rPr>
              <a:t> Bill of Rights)</a:t>
            </a:r>
            <a:endParaRPr lang="en-US" b="1" dirty="0">
              <a:latin typeface="Arial Narrow" pitchFamily="34" charset="0"/>
            </a:endParaRPr>
          </a:p>
        </p:txBody>
      </p:sp>
      <p:sp>
        <p:nvSpPr>
          <p:cNvPr id="3" name="Content Placeholder 2"/>
          <p:cNvSpPr>
            <a:spLocks noGrp="1"/>
          </p:cNvSpPr>
          <p:nvPr>
            <p:ph idx="1"/>
          </p:nvPr>
        </p:nvSpPr>
        <p:spPr>
          <a:xfrm>
            <a:off x="0" y="1066800"/>
            <a:ext cx="9144000" cy="5791200"/>
          </a:xfrm>
        </p:spPr>
        <p:txBody>
          <a:bodyPr>
            <a:normAutofit fontScale="70000" lnSpcReduction="20000"/>
          </a:bodyPr>
          <a:lstStyle/>
          <a:p>
            <a:pPr algn="just"/>
            <a:r>
              <a:rPr lang="en-US" b="1" dirty="0" smtClean="0">
                <a:latin typeface="Arial Narrow" pitchFamily="34" charset="0"/>
              </a:rPr>
              <a:t>WWII and its impact to Humanity </a:t>
            </a:r>
          </a:p>
          <a:p>
            <a:pPr algn="just"/>
            <a:r>
              <a:rPr lang="en-US" b="1" dirty="0" smtClean="0">
                <a:latin typeface="Arial Narrow" pitchFamily="34" charset="0"/>
              </a:rPr>
              <a:t>Ricardo J. Alfaro </a:t>
            </a:r>
            <a:r>
              <a:rPr lang="en-US" dirty="0" smtClean="0">
                <a:latin typeface="Arial Narrow" pitchFamily="34" charset="0"/>
              </a:rPr>
              <a:t>foreign ministry of Panama- statement of Essential Human Rights to be considered in the UN Charter but was rejected. </a:t>
            </a:r>
          </a:p>
          <a:p>
            <a:pPr algn="just"/>
            <a:r>
              <a:rPr lang="en-US" b="1" dirty="0" smtClean="0">
                <a:latin typeface="Arial Narrow" pitchFamily="34" charset="0"/>
              </a:rPr>
              <a:t>The ECOSOC </a:t>
            </a:r>
            <a:r>
              <a:rPr lang="en-US" dirty="0" smtClean="0">
                <a:latin typeface="Arial Narrow" pitchFamily="34" charset="0"/>
              </a:rPr>
              <a:t>–UN Organ was tasked to promote cooperation in the area of social and economic as per art. 68 mandated to create Commission on thematic issues, including human rights.</a:t>
            </a:r>
          </a:p>
          <a:p>
            <a:pPr algn="just"/>
            <a:r>
              <a:rPr lang="en-US" dirty="0" smtClean="0">
                <a:latin typeface="Arial Narrow" pitchFamily="34" charset="0"/>
              </a:rPr>
              <a:t> </a:t>
            </a:r>
            <a:r>
              <a:rPr lang="en-US" b="1" dirty="0" smtClean="0">
                <a:latin typeface="Arial Narrow" pitchFamily="34" charset="0"/>
              </a:rPr>
              <a:t>Commission on Human Rights</a:t>
            </a:r>
            <a:r>
              <a:rPr lang="en-US" dirty="0" smtClean="0">
                <a:latin typeface="Arial Narrow" pitchFamily="34" charset="0"/>
              </a:rPr>
              <a:t> – under chairmanship of Eleanor Delano Roosevelt, widowed wife of the former US President Franklin Delano Roosevelt under Harry Truman presidency. The Commission was representatives of States. The drafting subcommittee included Roosevelt, Chinese representative </a:t>
            </a:r>
            <a:r>
              <a:rPr lang="en-US" b="1" dirty="0" err="1" smtClean="0">
                <a:latin typeface="Arial Narrow" pitchFamily="34" charset="0"/>
              </a:rPr>
              <a:t>Peng</a:t>
            </a:r>
            <a:r>
              <a:rPr lang="en-US" b="1" dirty="0" smtClean="0">
                <a:latin typeface="Arial Narrow" pitchFamily="34" charset="0"/>
              </a:rPr>
              <a:t>-Chun (P.C.) Chang</a:t>
            </a:r>
            <a:r>
              <a:rPr lang="en-US" dirty="0" smtClean="0">
                <a:latin typeface="Arial Narrow" pitchFamily="34" charset="0"/>
              </a:rPr>
              <a:t>, </a:t>
            </a:r>
            <a:r>
              <a:rPr lang="en-US" b="1" dirty="0" smtClean="0">
                <a:latin typeface="Arial Narrow" pitchFamily="34" charset="0"/>
              </a:rPr>
              <a:t>John Humphrey</a:t>
            </a:r>
            <a:r>
              <a:rPr lang="en-US" dirty="0" smtClean="0">
                <a:latin typeface="Arial Narrow" pitchFamily="34" charset="0"/>
              </a:rPr>
              <a:t>, a Canadian legal scholar, </a:t>
            </a:r>
            <a:r>
              <a:rPr lang="en-US" b="1" dirty="0" smtClean="0">
                <a:latin typeface="Arial Narrow" pitchFamily="34" charset="0"/>
              </a:rPr>
              <a:t>René Cassin </a:t>
            </a:r>
            <a:r>
              <a:rPr lang="en-US" dirty="0" smtClean="0">
                <a:latin typeface="Arial Narrow" pitchFamily="34" charset="0"/>
              </a:rPr>
              <a:t>of France, </a:t>
            </a:r>
            <a:r>
              <a:rPr lang="en-US" b="1" dirty="0" smtClean="0">
                <a:latin typeface="Arial Narrow" pitchFamily="34" charset="0"/>
              </a:rPr>
              <a:t>William Hodgson </a:t>
            </a:r>
            <a:r>
              <a:rPr lang="en-US" dirty="0" smtClean="0">
                <a:latin typeface="Arial Narrow" pitchFamily="34" charset="0"/>
              </a:rPr>
              <a:t>of Australia, </a:t>
            </a:r>
            <a:r>
              <a:rPr lang="en-US" b="1" dirty="0" smtClean="0">
                <a:latin typeface="Arial Narrow" pitchFamily="34" charset="0"/>
              </a:rPr>
              <a:t>Geoffrey Wilson</a:t>
            </a:r>
            <a:r>
              <a:rPr lang="en-US" dirty="0" smtClean="0">
                <a:latin typeface="Arial Narrow" pitchFamily="34" charset="0"/>
              </a:rPr>
              <a:t> of Great Britain, </a:t>
            </a:r>
            <a:r>
              <a:rPr lang="en-US" b="1" dirty="0" err="1" smtClean="0">
                <a:latin typeface="Arial Narrow" pitchFamily="34" charset="0"/>
              </a:rPr>
              <a:t>Hernán</a:t>
            </a:r>
            <a:r>
              <a:rPr lang="en-US" b="1" dirty="0" smtClean="0">
                <a:latin typeface="Arial Narrow" pitchFamily="34" charset="0"/>
              </a:rPr>
              <a:t> Santa Cruz</a:t>
            </a:r>
            <a:r>
              <a:rPr lang="en-US" dirty="0" smtClean="0">
                <a:latin typeface="Arial Narrow" pitchFamily="34" charset="0"/>
              </a:rPr>
              <a:t> of Chile, and V</a:t>
            </a:r>
            <a:r>
              <a:rPr lang="en-US" b="1" dirty="0" smtClean="0">
                <a:latin typeface="Arial Narrow" pitchFamily="34" charset="0"/>
              </a:rPr>
              <a:t>ladimir </a:t>
            </a:r>
            <a:r>
              <a:rPr lang="en-US" b="1" dirty="0" err="1" smtClean="0">
                <a:latin typeface="Arial Narrow" pitchFamily="34" charset="0"/>
              </a:rPr>
              <a:t>Koretsky</a:t>
            </a:r>
            <a:r>
              <a:rPr lang="en-US" b="1" dirty="0" smtClean="0">
                <a:latin typeface="Arial Narrow" pitchFamily="34" charset="0"/>
              </a:rPr>
              <a:t> </a:t>
            </a:r>
            <a:r>
              <a:rPr lang="en-US" dirty="0" smtClean="0">
                <a:latin typeface="Arial Narrow" pitchFamily="34" charset="0"/>
              </a:rPr>
              <a:t>of the Soviet Union and Lebanese representative </a:t>
            </a:r>
            <a:r>
              <a:rPr lang="en-US" b="1" dirty="0" smtClean="0">
                <a:latin typeface="Arial Narrow" pitchFamily="34" charset="0"/>
              </a:rPr>
              <a:t>Charles </a:t>
            </a:r>
            <a:r>
              <a:rPr lang="en-US" b="1" dirty="0" err="1" smtClean="0">
                <a:latin typeface="Arial Narrow" pitchFamily="34" charset="0"/>
              </a:rPr>
              <a:t>Malik</a:t>
            </a:r>
            <a:r>
              <a:rPr lang="en-US" dirty="0" smtClean="0">
                <a:latin typeface="Arial Narrow" pitchFamily="34" charset="0"/>
              </a:rPr>
              <a:t>. </a:t>
            </a:r>
          </a:p>
          <a:p>
            <a:pPr algn="just"/>
            <a:r>
              <a:rPr lang="en-US" b="1" dirty="0" smtClean="0">
                <a:latin typeface="Arial Narrow" pitchFamily="34" charset="0"/>
              </a:rPr>
              <a:t>Previous works where lesson have been take in the Draft of the UDHR </a:t>
            </a:r>
            <a:r>
              <a:rPr lang="en-US" dirty="0" smtClean="0">
                <a:latin typeface="Arial Narrow" pitchFamily="34" charset="0"/>
              </a:rPr>
              <a:t>English </a:t>
            </a:r>
            <a:r>
              <a:rPr lang="en-US" b="1" dirty="0" smtClean="0">
                <a:latin typeface="Arial Narrow" pitchFamily="34" charset="0"/>
              </a:rPr>
              <a:t>Magna </a:t>
            </a:r>
            <a:r>
              <a:rPr lang="en-US" b="1" dirty="0" err="1" smtClean="0">
                <a:latin typeface="Arial Narrow" pitchFamily="34" charset="0"/>
              </a:rPr>
              <a:t>Carta</a:t>
            </a:r>
            <a:r>
              <a:rPr lang="en-US" b="1" dirty="0" smtClean="0">
                <a:latin typeface="Arial Narrow" pitchFamily="34" charset="0"/>
              </a:rPr>
              <a:t>(1215), </a:t>
            </a:r>
            <a:r>
              <a:rPr lang="en-US" dirty="0" smtClean="0">
                <a:latin typeface="Arial Narrow" pitchFamily="34" charset="0"/>
              </a:rPr>
              <a:t>the U.S. Declaration of Independence(1776) and Bill of Rights, and the French Declaration of the Rights of Man and of the Citizen(1789) and Speeches of </a:t>
            </a:r>
            <a:r>
              <a:rPr lang="en-US" b="1" dirty="0" smtClean="0">
                <a:latin typeface="Arial Narrow" pitchFamily="34" charset="0"/>
              </a:rPr>
              <a:t>US President Franklin Delano Roosevelt</a:t>
            </a:r>
            <a:r>
              <a:rPr lang="en-US" dirty="0" smtClean="0">
                <a:latin typeface="Arial Narrow" pitchFamily="34" charset="0"/>
              </a:rPr>
              <a:t>.</a:t>
            </a: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b="1" dirty="0" smtClean="0">
                <a:latin typeface="Arial Narrow" pitchFamily="34" charset="0"/>
              </a:rPr>
              <a:t>Why the UDHR was Bifurcated ?</a:t>
            </a:r>
            <a:endParaRPr lang="en-US" b="1"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70000" lnSpcReduction="20000"/>
          </a:bodyPr>
          <a:lstStyle/>
          <a:p>
            <a:pPr algn="just"/>
            <a:r>
              <a:rPr lang="en-US" b="1" dirty="0" smtClean="0">
                <a:latin typeface="Arial Narrow" pitchFamily="34" charset="0"/>
              </a:rPr>
              <a:t>Perceived differences </a:t>
            </a:r>
            <a:r>
              <a:rPr lang="en-US" dirty="0" smtClean="0">
                <a:latin typeface="Arial Narrow" pitchFamily="34" charset="0"/>
              </a:rPr>
              <a:t>between the respective categories of rights (CPR vs. ESCR)</a:t>
            </a:r>
          </a:p>
          <a:p>
            <a:pPr algn="just"/>
            <a:r>
              <a:rPr lang="en-US" b="1" dirty="0" smtClean="0">
                <a:latin typeface="Arial Narrow" pitchFamily="34" charset="0"/>
              </a:rPr>
              <a:t>Cold War divisions</a:t>
            </a:r>
            <a:r>
              <a:rPr lang="en-US" dirty="0" smtClean="0">
                <a:latin typeface="Arial Narrow" pitchFamily="34" charset="0"/>
              </a:rPr>
              <a:t>: the Eastern bloc tended to champion ICESCR rights, while Western States were seen as the major proponents of ICCPR rights. An Optional Protocol to the ICCPR was also adopted in 1966, providing for a right of individual petition in respect of violations of the ICCPR against States that ratify that Protocol.</a:t>
            </a:r>
          </a:p>
          <a:p>
            <a:pPr algn="just"/>
            <a:r>
              <a:rPr lang="en-US" b="1" dirty="0" smtClean="0">
                <a:latin typeface="Arial Narrow" pitchFamily="34" charset="0"/>
              </a:rPr>
              <a:t>ICCPR+ICESCR+UDHR</a:t>
            </a:r>
            <a:r>
              <a:rPr lang="en-US" dirty="0" smtClean="0">
                <a:latin typeface="Arial Narrow" pitchFamily="34" charset="0"/>
              </a:rPr>
              <a:t>= International Bill of Rights </a:t>
            </a:r>
          </a:p>
          <a:p>
            <a:pPr algn="just"/>
            <a:r>
              <a:rPr lang="en-US" b="1" dirty="0" smtClean="0">
                <a:latin typeface="Arial Narrow" pitchFamily="34" charset="0"/>
              </a:rPr>
              <a:t>The UN and the Standard Setting Role of HRs</a:t>
            </a:r>
          </a:p>
          <a:p>
            <a:pPr algn="just"/>
            <a:r>
              <a:rPr lang="en-US" dirty="0" smtClean="0">
                <a:latin typeface="Arial Narrow" pitchFamily="34" charset="0"/>
              </a:rPr>
              <a:t>In Preamble, Article 1(3), the promotion and encouragement of human rights and fundamental freedoms. Under Articles 55 and 56, Member States are committed to ‘</a:t>
            </a:r>
            <a:r>
              <a:rPr lang="en-US" b="1" dirty="0" smtClean="0">
                <a:latin typeface="Arial Narrow" pitchFamily="34" charset="0"/>
              </a:rPr>
              <a:t>joint and separate action’ to create ‘conditions of stability and well-being’ across the world</a:t>
            </a:r>
            <a:r>
              <a:rPr lang="en-US" dirty="0" smtClean="0">
                <a:latin typeface="Arial Narrow" pitchFamily="34" charset="0"/>
              </a:rPr>
              <a:t>, including the </a:t>
            </a:r>
            <a:r>
              <a:rPr lang="en-US" b="1" dirty="0" smtClean="0">
                <a:latin typeface="Arial Narrow" pitchFamily="34" charset="0"/>
              </a:rPr>
              <a:t>promotion of ‘universal respect for, and observance of, human rights and fundamental freedoms for all without distinction as to race, sex, language, or religion</a:t>
            </a:r>
            <a:r>
              <a:rPr lang="en-US" dirty="0" smtClean="0">
                <a:latin typeface="Arial Narrow" pitchFamily="34" charset="0"/>
              </a:rPr>
              <a:t>’. Thus, from 1945, it was clear that human rights could no longer be characterized as a domestic issue, hidden by the veil of State sovereignty. The UN Security Council under Chapter VII is mandated to bring about </a:t>
            </a:r>
            <a:r>
              <a:rPr lang="en-US" b="1" dirty="0" smtClean="0">
                <a:latin typeface="Arial Narrow" pitchFamily="34" charset="0"/>
              </a:rPr>
              <a:t>peace, security and stability which human rights are foundations of such values. The above values are considered to be as peremptory international norms.</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rPr>
              <a:t>UN Human Rights Institutions</a:t>
            </a:r>
            <a:endParaRPr lang="en-US"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77500" lnSpcReduction="20000"/>
          </a:bodyPr>
          <a:lstStyle/>
          <a:p>
            <a:pPr algn="just"/>
            <a:r>
              <a:rPr lang="en-US" dirty="0" smtClean="0">
                <a:latin typeface="Arial Narrow" pitchFamily="34" charset="0"/>
              </a:rPr>
              <a:t>The UN human rights institutions are generally either ‘</a:t>
            </a:r>
            <a:r>
              <a:rPr lang="en-US" b="1" dirty="0" smtClean="0">
                <a:latin typeface="Arial Narrow" pitchFamily="34" charset="0"/>
              </a:rPr>
              <a:t>Charter bodies</a:t>
            </a:r>
            <a:r>
              <a:rPr lang="en-US" dirty="0" smtClean="0">
                <a:latin typeface="Arial Narrow" pitchFamily="34" charset="0"/>
              </a:rPr>
              <a:t>’ or ‘</a:t>
            </a:r>
            <a:r>
              <a:rPr lang="en-US" b="1" dirty="0" smtClean="0">
                <a:latin typeface="Arial Narrow" pitchFamily="34" charset="0"/>
              </a:rPr>
              <a:t>treaty bodies</a:t>
            </a:r>
            <a:r>
              <a:rPr lang="en-US" dirty="0" smtClean="0">
                <a:latin typeface="Arial Narrow" pitchFamily="34" charset="0"/>
              </a:rPr>
              <a:t>’. </a:t>
            </a:r>
            <a:r>
              <a:rPr lang="en-US" b="1" dirty="0" smtClean="0">
                <a:latin typeface="Arial Narrow" pitchFamily="34" charset="0"/>
              </a:rPr>
              <a:t>Charter bodies </a:t>
            </a:r>
            <a:r>
              <a:rPr lang="en-US" dirty="0" smtClean="0">
                <a:latin typeface="Arial Narrow" pitchFamily="34" charset="0"/>
              </a:rPr>
              <a:t>are established by the </a:t>
            </a:r>
            <a:r>
              <a:rPr lang="en-US" b="1" dirty="0" smtClean="0">
                <a:latin typeface="Arial Narrow" pitchFamily="34" charset="0"/>
              </a:rPr>
              <a:t>Charter itself</a:t>
            </a:r>
            <a:r>
              <a:rPr lang="en-US" dirty="0" smtClean="0">
                <a:latin typeface="Arial Narrow" pitchFamily="34" charset="0"/>
              </a:rPr>
              <a:t>, or by </a:t>
            </a:r>
            <a:r>
              <a:rPr lang="en-US" b="1" dirty="0" smtClean="0">
                <a:latin typeface="Arial Narrow" pitchFamily="34" charset="0"/>
              </a:rPr>
              <a:t>bodies which are themselves created by the Charter, by a political wing of </a:t>
            </a:r>
            <a:r>
              <a:rPr lang="en-US" b="1" smtClean="0">
                <a:latin typeface="Arial Narrow" pitchFamily="34" charset="0"/>
              </a:rPr>
              <a:t>intergovernmental state</a:t>
            </a:r>
            <a:r>
              <a:rPr lang="en-US" smtClean="0">
                <a:latin typeface="Arial Narrow" pitchFamily="34" charset="0"/>
              </a:rPr>
              <a:t>. </a:t>
            </a:r>
            <a:r>
              <a:rPr lang="en-US" b="1" dirty="0" smtClean="0">
                <a:latin typeface="Arial Narrow" pitchFamily="34" charset="0"/>
              </a:rPr>
              <a:t>Treaty bodies </a:t>
            </a:r>
            <a:r>
              <a:rPr lang="en-US" dirty="0" smtClean="0">
                <a:latin typeface="Arial Narrow" pitchFamily="34" charset="0"/>
              </a:rPr>
              <a:t>are created by the respective </a:t>
            </a:r>
            <a:r>
              <a:rPr lang="en-US" b="1" dirty="0" smtClean="0">
                <a:latin typeface="Arial Narrow" pitchFamily="34" charset="0"/>
              </a:rPr>
              <a:t>UN human rights treaties</a:t>
            </a:r>
            <a:r>
              <a:rPr lang="en-US" dirty="0" smtClean="0">
                <a:latin typeface="Arial Narrow" pitchFamily="34" charset="0"/>
              </a:rPr>
              <a:t>. The main Charter bodies are the </a:t>
            </a:r>
            <a:r>
              <a:rPr lang="en-US" b="1" dirty="0" smtClean="0">
                <a:latin typeface="Arial Narrow" pitchFamily="34" charset="0"/>
              </a:rPr>
              <a:t>political UN human rights institutions</a:t>
            </a:r>
            <a:r>
              <a:rPr lang="en-US" dirty="0" smtClean="0">
                <a:latin typeface="Arial Narrow" pitchFamily="34" charset="0"/>
              </a:rPr>
              <a:t>, as they are made up of the </a:t>
            </a:r>
            <a:r>
              <a:rPr lang="en-US" b="1" dirty="0" smtClean="0">
                <a:latin typeface="Arial Narrow" pitchFamily="34" charset="0"/>
              </a:rPr>
              <a:t>representatives of governments</a:t>
            </a:r>
            <a:r>
              <a:rPr lang="en-US" dirty="0" smtClean="0">
                <a:latin typeface="Arial Narrow" pitchFamily="34" charset="0"/>
              </a:rPr>
              <a:t>, while the </a:t>
            </a:r>
            <a:r>
              <a:rPr lang="en-US" b="1" dirty="0" smtClean="0">
                <a:latin typeface="Arial Narrow" pitchFamily="34" charset="0"/>
              </a:rPr>
              <a:t>treaty bodies </a:t>
            </a:r>
            <a:r>
              <a:rPr lang="en-US" dirty="0" smtClean="0">
                <a:latin typeface="Arial Narrow" pitchFamily="34" charset="0"/>
              </a:rPr>
              <a:t>are the </a:t>
            </a:r>
            <a:r>
              <a:rPr lang="en-US" b="1" dirty="0" smtClean="0">
                <a:latin typeface="Arial Narrow" pitchFamily="34" charset="0"/>
              </a:rPr>
              <a:t>quasi-judicial arm of UN human rights supervision, composed of human rights experts acting in their individual capacity</a:t>
            </a:r>
            <a:r>
              <a:rPr lang="en-US" dirty="0" smtClean="0">
                <a:latin typeface="Arial Narrow" pitchFamily="34" charset="0"/>
              </a:rPr>
              <a:t>. Both types of bodies are supported by the </a:t>
            </a:r>
            <a:r>
              <a:rPr lang="en-US" b="1" dirty="0" smtClean="0">
                <a:latin typeface="Arial Narrow" pitchFamily="34" charset="0"/>
              </a:rPr>
              <a:t>Office of the High Commissioner for Human Rights</a:t>
            </a:r>
            <a:r>
              <a:rPr lang="en-US" dirty="0" smtClean="0">
                <a:latin typeface="Arial Narrow" pitchFamily="34" charset="0"/>
              </a:rPr>
              <a:t>.</a:t>
            </a:r>
          </a:p>
          <a:p>
            <a:pPr algn="just"/>
            <a:r>
              <a:rPr lang="en-US" b="1" dirty="0" smtClean="0">
                <a:latin typeface="Arial Narrow" pitchFamily="34" charset="0"/>
              </a:rPr>
              <a:t>UN General Assembly </a:t>
            </a:r>
            <a:r>
              <a:rPr lang="en-US" dirty="0" smtClean="0">
                <a:latin typeface="Arial Narrow" pitchFamily="34" charset="0"/>
              </a:rPr>
              <a:t>–is entitled to ‘initiate studies and make recommendations . . . assisting in the realization of human rights and fundamental freedoms. It provides recommendations by way of declaration or resolution which are of course non-binding but has significant moral force. </a:t>
            </a:r>
            <a:r>
              <a:rPr lang="en-US" b="1" dirty="0" smtClean="0">
                <a:latin typeface="Arial Narrow" pitchFamily="34" charset="0"/>
              </a:rPr>
              <a:t>Unanimous or consensus resolutions </a:t>
            </a:r>
            <a:r>
              <a:rPr lang="en-US" dirty="0" smtClean="0">
                <a:latin typeface="Arial Narrow" pitchFamily="34" charset="0"/>
              </a:rPr>
              <a:t>can also constitute strong evidence of the existence of a customary norm.</a:t>
            </a:r>
          </a:p>
          <a:p>
            <a:pPr algn="just"/>
            <a:r>
              <a:rPr lang="en-US" b="1" dirty="0" smtClean="0">
                <a:latin typeface="Arial Narrow" pitchFamily="34" charset="0"/>
              </a:rPr>
              <a:t>ECOSOC(Economic and Social Council)- 1946</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latin typeface="Arial Narrow" pitchFamily="34" charset="0"/>
              </a:rPr>
              <a:t>ECOSOC</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77500" lnSpcReduction="20000"/>
          </a:bodyPr>
          <a:lstStyle/>
          <a:p>
            <a:pPr algn="just"/>
            <a:r>
              <a:rPr lang="en-US" dirty="0" smtClean="0">
                <a:latin typeface="Arial Narrow" pitchFamily="34" charset="0"/>
              </a:rPr>
              <a:t>Is authorized by Article 62 of the UN Charter to ‘make or initiate studies and reports with respect to international, economic, cultural, educational, health and related matters’ and may ‘make recommendations for the purpose of promoting respect for, and observance of, human rights and fundamental freedoms’. ECOSOC receives and transmits to the General Assembly the reports of the treaty bodies and also coordinates a wide variety of UN </a:t>
            </a:r>
            <a:r>
              <a:rPr lang="en-US" dirty="0" err="1" smtClean="0">
                <a:latin typeface="Arial Narrow" pitchFamily="34" charset="0"/>
              </a:rPr>
              <a:t>programmes</a:t>
            </a:r>
            <a:r>
              <a:rPr lang="en-US" dirty="0" smtClean="0">
                <a:latin typeface="Arial Narrow" pitchFamily="34" charset="0"/>
              </a:rPr>
              <a:t>. But ECOSOC effectively delegated its mandate to the Commission on Human Rights in 1946 according to Art. 68 of the UN Charter, now Human Rights Council(2006), main charter body now.</a:t>
            </a:r>
          </a:p>
          <a:p>
            <a:pPr algn="just"/>
            <a:r>
              <a:rPr lang="en-US" b="1" dirty="0" smtClean="0">
                <a:latin typeface="Arial Narrow" pitchFamily="34" charset="0"/>
              </a:rPr>
              <a:t>Commission on Human Rights </a:t>
            </a:r>
            <a:r>
              <a:rPr lang="en-US" dirty="0" smtClean="0">
                <a:latin typeface="Arial Narrow" pitchFamily="34" charset="0"/>
              </a:rPr>
              <a:t>– is engine room of UN human rights activity which has drafted most of the UN human rights documents prior to its dissolution in 2006.  Through its </a:t>
            </a:r>
            <a:r>
              <a:rPr lang="en-US" b="1" dirty="0" smtClean="0">
                <a:latin typeface="Arial Narrow" pitchFamily="34" charset="0"/>
              </a:rPr>
              <a:t>standard-setting and norm development,</a:t>
            </a:r>
            <a:r>
              <a:rPr lang="en-US" dirty="0" smtClean="0">
                <a:latin typeface="Arial Narrow" pitchFamily="34" charset="0"/>
              </a:rPr>
              <a:t> it produced the </a:t>
            </a:r>
            <a:r>
              <a:rPr lang="en-US" b="1" dirty="0" smtClean="0">
                <a:latin typeface="Arial Narrow" pitchFamily="34" charset="0"/>
              </a:rPr>
              <a:t>bulk of international human rights law. It </a:t>
            </a:r>
            <a:r>
              <a:rPr lang="en-US" dirty="0" smtClean="0">
                <a:latin typeface="Arial Narrow" pitchFamily="34" charset="0"/>
              </a:rPr>
              <a:t>was assisted in its functions by </a:t>
            </a:r>
            <a:r>
              <a:rPr lang="en-US" b="1" dirty="0" smtClean="0">
                <a:latin typeface="Arial Narrow" pitchFamily="34" charset="0"/>
              </a:rPr>
              <a:t>the Sub-Commission on the Promotion and Protection of Human Rights</a:t>
            </a:r>
            <a:r>
              <a:rPr lang="en-US" dirty="0" smtClean="0">
                <a:latin typeface="Arial Narrow" pitchFamily="34" charset="0"/>
              </a:rPr>
              <a:t>, a </a:t>
            </a:r>
            <a:r>
              <a:rPr lang="en-US" b="1" dirty="0" smtClean="0">
                <a:latin typeface="Arial Narrow" pitchFamily="34" charset="0"/>
              </a:rPr>
              <a:t>‘think tank</a:t>
            </a:r>
            <a:r>
              <a:rPr lang="en-US" dirty="0" smtClean="0">
                <a:latin typeface="Arial Narrow" pitchFamily="34" charset="0"/>
              </a:rPr>
              <a:t>’ composed of 26 human rights experts serving in </a:t>
            </a:r>
            <a:r>
              <a:rPr lang="en-US" b="1" dirty="0" smtClean="0">
                <a:latin typeface="Arial Narrow" pitchFamily="34" charset="0"/>
              </a:rPr>
              <a:t>their individual capacities</a:t>
            </a:r>
            <a:r>
              <a:rPr lang="en-US" dirty="0" smtClean="0"/>
              <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lstStyle/>
          <a:p>
            <a:r>
              <a:rPr lang="en-US" b="1" dirty="0" smtClean="0">
                <a:latin typeface="Arial Narrow" pitchFamily="34" charset="0"/>
              </a:rPr>
              <a:t>The Human Right Council -2006</a:t>
            </a:r>
          </a:p>
          <a:p>
            <a:pPr lvl="1" algn="just"/>
            <a:r>
              <a:rPr lang="en-US" b="1" dirty="0" smtClean="0">
                <a:latin typeface="Arial Narrow" pitchFamily="34" charset="0"/>
              </a:rPr>
              <a:t>the Council </a:t>
            </a:r>
            <a:r>
              <a:rPr lang="en-US" dirty="0" smtClean="0">
                <a:latin typeface="Arial Narrow" pitchFamily="34" charset="0"/>
              </a:rPr>
              <a:t>is responsible for </a:t>
            </a:r>
            <a:r>
              <a:rPr lang="en-US" b="1" dirty="0" smtClean="0">
                <a:latin typeface="Arial Narrow" pitchFamily="34" charset="0"/>
              </a:rPr>
              <a:t>promoting the protection of human rights</a:t>
            </a:r>
            <a:r>
              <a:rPr lang="en-US" dirty="0" smtClean="0">
                <a:latin typeface="Arial Narrow" pitchFamily="34" charset="0"/>
              </a:rPr>
              <a:t>, </a:t>
            </a:r>
            <a:r>
              <a:rPr lang="en-US" b="1" dirty="0" smtClean="0">
                <a:latin typeface="Arial Narrow" pitchFamily="34" charset="0"/>
              </a:rPr>
              <a:t>fostering international cooperation on human rights,</a:t>
            </a:r>
            <a:r>
              <a:rPr lang="en-US" dirty="0" smtClean="0">
                <a:latin typeface="Arial Narrow" pitchFamily="34" charset="0"/>
              </a:rPr>
              <a:t> providing capacity building assistance to States to help them to meet their human rights obligations, and </a:t>
            </a:r>
            <a:r>
              <a:rPr lang="en-US" b="1" dirty="0" smtClean="0">
                <a:latin typeface="Arial Narrow" pitchFamily="34" charset="0"/>
              </a:rPr>
              <a:t>responding to specific violations of human rights</a:t>
            </a:r>
            <a:r>
              <a:rPr lang="en-US" dirty="0" smtClean="0"/>
              <a:t>.</a:t>
            </a:r>
          </a:p>
          <a:p>
            <a:pPr lvl="1" algn="just"/>
            <a:r>
              <a:rPr lang="en-US" i="1" dirty="0" smtClean="0">
                <a:latin typeface="Arial Narrow" pitchFamily="34" charset="0"/>
              </a:rPr>
              <a:t>Status quo of Commission on Human Rights was </a:t>
            </a:r>
            <a:r>
              <a:rPr lang="en-US" dirty="0" smtClean="0">
                <a:latin typeface="Arial Narrow" pitchFamily="34" charset="0"/>
              </a:rPr>
              <a:t>retained as to the composition -</a:t>
            </a:r>
            <a:r>
              <a:rPr lang="en-US" b="1" dirty="0" smtClean="0">
                <a:latin typeface="Arial Narrow" pitchFamily="34" charset="0"/>
              </a:rPr>
              <a:t>special procedures, a complaints mechanism, significant NGO access and an independent advisory body – as well as obtaining a new mechanism: universal periodic review(UPR)</a:t>
            </a:r>
            <a:r>
              <a:rPr lang="en-US" dirty="0" smtClean="0">
                <a:latin typeface="Arial Narrow" pitchFamily="34" charset="0"/>
              </a:rPr>
              <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04800"/>
          </a:xfrm>
        </p:spPr>
        <p:txBody>
          <a:bodyPr>
            <a:normAutofit fontScale="90000"/>
          </a:bodyPr>
          <a:lstStyle/>
          <a:p>
            <a:r>
              <a:rPr lang="en-US" b="1" dirty="0" smtClean="0">
                <a:latin typeface="Arial Narrow" pitchFamily="34" charset="0"/>
              </a:rPr>
              <a:t>Treaty Bodies </a:t>
            </a:r>
            <a:endParaRPr lang="en-US" b="1" dirty="0">
              <a:latin typeface="Arial Narrow" pitchFamily="34" charset="0"/>
            </a:endParaRPr>
          </a:p>
        </p:txBody>
      </p:sp>
      <p:sp>
        <p:nvSpPr>
          <p:cNvPr id="3" name="Content Placeholder 2"/>
          <p:cNvSpPr>
            <a:spLocks noGrp="1"/>
          </p:cNvSpPr>
          <p:nvPr>
            <p:ph idx="1"/>
          </p:nvPr>
        </p:nvSpPr>
        <p:spPr>
          <a:xfrm>
            <a:off x="0" y="304800"/>
            <a:ext cx="9144000" cy="6553200"/>
          </a:xfrm>
        </p:spPr>
        <p:txBody>
          <a:bodyPr>
            <a:normAutofit fontScale="77500" lnSpcReduction="20000"/>
          </a:bodyPr>
          <a:lstStyle/>
          <a:p>
            <a:pPr algn="just"/>
            <a:r>
              <a:rPr lang="en-US" dirty="0" smtClean="0">
                <a:latin typeface="Arial Narrow" pitchFamily="34" charset="0"/>
              </a:rPr>
              <a:t>The treaty bodies are established under the respective </a:t>
            </a:r>
            <a:r>
              <a:rPr lang="en-US" b="1" dirty="0" smtClean="0">
                <a:latin typeface="Arial Narrow" pitchFamily="34" charset="0"/>
              </a:rPr>
              <a:t>UN human rights treaties</a:t>
            </a:r>
            <a:r>
              <a:rPr lang="en-US" dirty="0" smtClean="0">
                <a:latin typeface="Arial Narrow" pitchFamily="34" charset="0"/>
              </a:rPr>
              <a:t>. Ex. Art. 28 of the ICCPR established the Human Rights Committee but the ICESCR is an whereby the Committee on ESCR was established by ECOSOC Resolution in 2008.</a:t>
            </a:r>
          </a:p>
          <a:p>
            <a:pPr algn="just"/>
            <a:r>
              <a:rPr lang="en-US" dirty="0" smtClean="0">
                <a:latin typeface="Arial Narrow" pitchFamily="34" charset="0"/>
              </a:rPr>
              <a:t>The treaty bodies are made up of </a:t>
            </a:r>
            <a:r>
              <a:rPr lang="en-US" b="1" dirty="0" smtClean="0">
                <a:latin typeface="Arial Narrow" pitchFamily="34" charset="0"/>
              </a:rPr>
              <a:t>independent human rights experts</a:t>
            </a:r>
            <a:r>
              <a:rPr lang="en-US" dirty="0" smtClean="0">
                <a:latin typeface="Arial Narrow" pitchFamily="34" charset="0"/>
              </a:rPr>
              <a:t>, unlike the </a:t>
            </a:r>
            <a:r>
              <a:rPr lang="en-US" b="1" dirty="0" smtClean="0">
                <a:latin typeface="Arial Narrow" pitchFamily="34" charset="0"/>
              </a:rPr>
              <a:t>government representatives that populate the Charter bodies. </a:t>
            </a:r>
            <a:r>
              <a:rPr lang="en-US" dirty="0" smtClean="0">
                <a:latin typeface="Arial Narrow" pitchFamily="34" charset="0"/>
              </a:rPr>
              <a:t>The treaty bodies are part-time bodies, and are not paid for their work, though their expenses are refunded. As a result there is a backlog in their work.</a:t>
            </a:r>
          </a:p>
          <a:p>
            <a:pPr algn="just"/>
            <a:r>
              <a:rPr lang="en-US" dirty="0" smtClean="0">
                <a:latin typeface="Arial Narrow" pitchFamily="34" charset="0"/>
              </a:rPr>
              <a:t>The decisions of the treaty bodies are </a:t>
            </a:r>
            <a:r>
              <a:rPr lang="en-US" b="1" dirty="0" smtClean="0">
                <a:latin typeface="Arial Narrow" pitchFamily="34" charset="0"/>
              </a:rPr>
              <a:t>not legally binding</a:t>
            </a:r>
            <a:r>
              <a:rPr lang="en-US" dirty="0" smtClean="0">
                <a:latin typeface="Arial Narrow" pitchFamily="34" charset="0"/>
              </a:rPr>
              <a:t>. However, their </a:t>
            </a:r>
            <a:r>
              <a:rPr lang="en-US" b="1" dirty="0" smtClean="0">
                <a:latin typeface="Arial Narrow" pitchFamily="34" charset="0"/>
              </a:rPr>
              <a:t>interpretations of their respective treaties have strong persuasive force</a:t>
            </a:r>
            <a:r>
              <a:rPr lang="en-US" dirty="0" smtClean="0">
                <a:latin typeface="Arial Narrow" pitchFamily="34" charset="0"/>
              </a:rPr>
              <a:t>, as they represent </a:t>
            </a:r>
            <a:r>
              <a:rPr lang="en-US" b="1" dirty="0" smtClean="0">
                <a:latin typeface="Arial Narrow" pitchFamily="34" charset="0"/>
              </a:rPr>
              <a:t>authoritative interpretations of legally binding documents</a:t>
            </a:r>
            <a:r>
              <a:rPr lang="en-US" dirty="0" smtClean="0">
                <a:latin typeface="Arial Narrow" pitchFamily="34" charset="0"/>
              </a:rPr>
              <a:t>. The treaty bodies act as the </a:t>
            </a:r>
            <a:r>
              <a:rPr lang="en-US" b="1" dirty="0" smtClean="0">
                <a:latin typeface="Arial Narrow" pitchFamily="34" charset="0"/>
              </a:rPr>
              <a:t>quasi-judicial arm of the UN human rights machinery</a:t>
            </a:r>
            <a:r>
              <a:rPr lang="en-US" dirty="0" smtClean="0"/>
              <a:t>.</a:t>
            </a:r>
            <a:r>
              <a:rPr lang="en-US" dirty="0" smtClean="0">
                <a:latin typeface="Arial Narrow" pitchFamily="34" charset="0"/>
              </a:rPr>
              <a:t> </a:t>
            </a:r>
          </a:p>
          <a:p>
            <a:pPr algn="just"/>
            <a:r>
              <a:rPr lang="en-US" b="1" dirty="0" smtClean="0">
                <a:latin typeface="Arial Narrow" pitchFamily="34" charset="0"/>
              </a:rPr>
              <a:t>Function of the Treaty Bodies- </a:t>
            </a:r>
            <a:r>
              <a:rPr lang="en-US" dirty="0" smtClean="0">
                <a:latin typeface="Arial Narrow" pitchFamily="34" charset="0"/>
              </a:rPr>
              <a:t>All treaty bodies </a:t>
            </a:r>
            <a:r>
              <a:rPr lang="en-US" b="1" dirty="0" smtClean="0">
                <a:latin typeface="Arial Narrow" pitchFamily="34" charset="0"/>
              </a:rPr>
              <a:t>monitor their respective treaties</a:t>
            </a:r>
            <a:r>
              <a:rPr lang="en-US" dirty="0" smtClean="0">
                <a:latin typeface="Arial Narrow" pitchFamily="34" charset="0"/>
              </a:rPr>
              <a:t> by way of </a:t>
            </a:r>
            <a:r>
              <a:rPr lang="en-US" b="1" dirty="0" smtClean="0">
                <a:latin typeface="Arial Narrow" pitchFamily="34" charset="0"/>
              </a:rPr>
              <a:t>reporting processes</a:t>
            </a:r>
            <a:r>
              <a:rPr lang="en-US" dirty="0" smtClean="0">
                <a:latin typeface="Arial Narrow" pitchFamily="34" charset="0"/>
              </a:rPr>
              <a:t>, and all are able to issue </a:t>
            </a:r>
            <a:r>
              <a:rPr lang="en-US" b="1" dirty="0" smtClean="0">
                <a:latin typeface="Arial Narrow" pitchFamily="34" charset="0"/>
              </a:rPr>
              <a:t>general comments(useful jurisprudential tool for interpretation)</a:t>
            </a:r>
            <a:r>
              <a:rPr lang="en-US" dirty="0" smtClean="0">
                <a:latin typeface="Arial Narrow" pitchFamily="34" charset="0"/>
              </a:rPr>
              <a:t>. Some treaty bodies are empowered to receive and decide upon </a:t>
            </a:r>
            <a:r>
              <a:rPr lang="en-US" b="1" dirty="0" smtClean="0">
                <a:latin typeface="Arial Narrow" pitchFamily="34" charset="0"/>
              </a:rPr>
              <a:t>individual(widely utilized form of complaint) and interstate complaints(but problem of tit-for-tat).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0" y="328151"/>
            <a:ext cx="9144000" cy="6201698"/>
          </a:xfrm>
          <a:prstGeom prst="rect">
            <a:avLst/>
          </a:prstGeom>
          <a:solidFill>
            <a:srgbClr val="FFFFFF"/>
          </a:solidFill>
          <a:ln w="9525">
            <a:noFill/>
            <a:miter lim="800000"/>
            <a:headEnd/>
            <a:tailEnd/>
          </a:ln>
          <a:effectLst/>
        </p:spPr>
        <p:txBody>
          <a:bodyPr vert="horz" wrap="square" lIns="228528" tIns="45720" rIns="91440" bIns="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Chapter Two: </a:t>
            </a:r>
            <a:r>
              <a:rPr lang="en-GB" sz="2000" b="1" dirty="0" smtClean="0">
                <a:latin typeface="Arial" pitchFamily="34" charset="0"/>
                <a:ea typeface="Times New Roman" pitchFamily="18" charset="0"/>
                <a:cs typeface="Arial" pitchFamily="34" charset="0"/>
              </a:rPr>
              <a:t>Protection and monitoring of human rights under the UN System</a:t>
            </a:r>
          </a:p>
          <a:p>
            <a:pPr lvl="1"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pPr>
            <a:r>
              <a:rPr lang="en-GB" sz="2000" dirty="0" smtClean="0">
                <a:latin typeface="Arial" pitchFamily="34" charset="0"/>
                <a:ea typeface="Times New Roman" pitchFamily="18" charset="0"/>
                <a:cs typeface="Arial" pitchFamily="34" charset="0"/>
              </a:rPr>
              <a:t>Charter-based bodies: competence and procedures</a:t>
            </a:r>
            <a:endParaRPr lang="en-GB" sz="2000" dirty="0" smtClean="0">
              <a:latin typeface="Arial" pitchFamily="34" charset="0"/>
              <a:cs typeface="Arial" pitchFamily="34" charset="0"/>
            </a:endParaRPr>
          </a:p>
          <a:p>
            <a:pPr lvl="2" algn="just" eaLnBrk="0" fontAlgn="base" hangingPunct="0">
              <a:spcBef>
                <a:spcPct val="0"/>
              </a:spcBef>
              <a:spcAft>
                <a:spcPct val="0"/>
              </a:spcAft>
            </a:pPr>
            <a:r>
              <a:rPr lang="en-GB" sz="2000" dirty="0" smtClean="0">
                <a:latin typeface="Arial" pitchFamily="34" charset="0"/>
                <a:ea typeface="Times New Roman" pitchFamily="18" charset="0"/>
                <a:cs typeface="Arial" pitchFamily="34" charset="0"/>
              </a:rPr>
              <a:t>Treaty-based bodies: rights and monitoring mechanisms</a:t>
            </a:r>
            <a:endParaRPr lang="en-GB" sz="2000" dirty="0" smtClean="0">
              <a:latin typeface="Arial" pitchFamily="34" charset="0"/>
              <a:cs typeface="Arial" pitchFamily="34" charset="0"/>
            </a:endParaRPr>
          </a:p>
          <a:p>
            <a:pPr lvl="2" algn="just" eaLnBrk="0" fontAlgn="base" hangingPunct="0">
              <a:spcBef>
                <a:spcPct val="0"/>
              </a:spcBef>
              <a:spcAft>
                <a:spcPct val="0"/>
              </a:spcAft>
            </a:pPr>
            <a:endParaRPr kumimoji="0" lang="en-GB" sz="2000" b="1"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algn="just" eaLnBrk="0" fontAlgn="base" hangingPunct="0">
              <a:spcBef>
                <a:spcPct val="0"/>
              </a:spcBef>
              <a:spcAft>
                <a:spcPct val="0"/>
              </a:spcAft>
              <a:buFont typeface="Arial" pitchFamily="34" charset="0"/>
              <a:buChar char="•"/>
            </a:pPr>
            <a:r>
              <a:rPr kumimoji="0" lang="en-GB" sz="2000" b="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Charter-based bodies: competence and procedures</a:t>
            </a:r>
            <a:r>
              <a:rPr kumimoji="0" lang="en-GB" sz="2000" b="1" u="none" strike="noStrike" cap="none" normalizeH="0" dirty="0" smtClean="0">
                <a:ln>
                  <a:noFill/>
                </a:ln>
                <a:solidFill>
                  <a:schemeClr val="tx1"/>
                </a:solidFill>
                <a:effectLst/>
                <a:latin typeface="Arial" pitchFamily="34" charset="0"/>
                <a:ea typeface="Times New Roman" pitchFamily="18" charset="0"/>
                <a:cs typeface="Arial" pitchFamily="34" charset="0"/>
              </a:rPr>
              <a:t> of the HRC </a:t>
            </a:r>
            <a:endParaRPr kumimoji="0" lang="en-GB" sz="2000" b="1"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1" i="0" strike="noStrike" cap="none" normalizeH="0" baseline="0" dirty="0" smtClean="0">
                <a:ln>
                  <a:noFill/>
                </a:ln>
                <a:effectLst/>
                <a:latin typeface="Arial" pitchFamily="34" charset="0"/>
                <a:ea typeface="Times New Roman" pitchFamily="18" charset="0"/>
                <a:cs typeface="Arial" pitchFamily="34" charset="0"/>
              </a:rPr>
              <a:t>The </a:t>
            </a:r>
            <a:r>
              <a:rPr kumimoji="0" lang="en-GB" sz="2000" b="1" i="0" strike="noStrike" cap="none" normalizeH="0" baseline="0" dirty="0" smtClean="0">
                <a:ln>
                  <a:noFill/>
                </a:ln>
                <a:effectLst/>
                <a:latin typeface="Arial" pitchFamily="34" charset="0"/>
                <a:ea typeface="Times New Roman" pitchFamily="18" charset="0"/>
                <a:cs typeface="Arial" pitchFamily="34" charset="0"/>
                <a:hlinkClick r:id="rId3"/>
              </a:rPr>
              <a:t>Special Procedures of the Human Rights Council</a:t>
            </a:r>
            <a:endParaRPr kumimoji="0" lang="en-GB" sz="2000" b="1" i="0" strike="noStrike" cap="none" normalizeH="0" baseline="0" dirty="0" smtClean="0">
              <a:ln>
                <a:noFill/>
              </a:ln>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lang="en-GB" sz="2000" b="1" dirty="0" smtClean="0">
                <a:latin typeface="Arial" pitchFamily="34" charset="0"/>
                <a:ea typeface="Times New Roman" pitchFamily="18" charset="0"/>
                <a:cs typeface="Arial" pitchFamily="34" charset="0"/>
              </a:rPr>
              <a:t> Universal Periodic Review </a:t>
            </a:r>
          </a:p>
          <a:p>
            <a:pPr marL="457200" lvl="0" indent="-457200" algn="just" eaLnBrk="0" fontAlgn="base" hangingPunct="0">
              <a:spcBef>
                <a:spcPct val="0"/>
              </a:spcBef>
              <a:spcAft>
                <a:spcPct val="0"/>
              </a:spcAft>
            </a:pPr>
            <a:endParaRPr lang="en-GB" sz="2000" b="1" dirty="0" smtClean="0">
              <a:solidFill>
                <a:srgbClr val="000000"/>
              </a:solidFill>
              <a:latin typeface="Arial" pitchFamily="34" charset="0"/>
              <a:ea typeface="Times New Roman" pitchFamily="18" charset="0"/>
              <a:cs typeface="Arial" pitchFamily="34" charset="0"/>
            </a:endParaRPr>
          </a:p>
          <a:p>
            <a:pPr marL="457200" lvl="0" indent="-457200" algn="just" eaLnBrk="0" fontAlgn="base" hangingPunct="0">
              <a:spcBef>
                <a:spcPct val="0"/>
              </a:spcBef>
              <a:spcAft>
                <a:spcPct val="0"/>
              </a:spcAft>
            </a:pPr>
            <a:r>
              <a:rPr lang="en-GB" sz="2000" b="1" dirty="0" smtClean="0">
                <a:solidFill>
                  <a:srgbClr val="000000"/>
                </a:solidFill>
                <a:latin typeface="Arial" pitchFamily="34" charset="0"/>
                <a:ea typeface="Times New Roman" pitchFamily="18" charset="0"/>
                <a:cs typeface="Arial" pitchFamily="34" charset="0"/>
              </a:rPr>
              <a:t>Human Rights Council</a:t>
            </a:r>
          </a:p>
          <a:p>
            <a:pPr marL="457200" lvl="0" indent="-457200" algn="just" eaLnBrk="0" fontAlgn="base" hangingPunct="0">
              <a:spcBef>
                <a:spcPct val="0"/>
              </a:spcBef>
              <a:spcAft>
                <a:spcPct val="0"/>
              </a:spcAft>
            </a:pPr>
            <a:endParaRPr lang="en-GB" sz="2000" b="1"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The Human Rights Council, which replaced the Commission on Human Rights in 2006 by GA resolution, is a separate entity from OHCHR. </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Distinction originates from the separate mandates given by GA.</a:t>
            </a:r>
          </a:p>
          <a:p>
            <a:pPr lvl="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pP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698493"/>
          </a:xfrm>
          <a:prstGeom prst="rect">
            <a:avLst/>
          </a:prstGeom>
        </p:spPr>
        <p:txBody>
          <a:bodyPr wrap="square">
            <a:spAutoFit/>
          </a:bodyPr>
          <a:lstStyle/>
          <a:p>
            <a:pPr>
              <a:buFont typeface="Arial" pitchFamily="34" charset="0"/>
              <a:buChar char="•"/>
            </a:pPr>
            <a:endParaRPr lang="en-GB" sz="2000" dirty="0" smtClean="0">
              <a:latin typeface="Arial" pitchFamily="34" charset="0"/>
              <a:cs typeface="Arial" pitchFamily="34" charset="0"/>
            </a:endParaRPr>
          </a:p>
          <a:p>
            <a:pPr lvl="0" algn="just" eaLnBrk="0" fontAlgn="base" hangingPunct="0">
              <a:spcBef>
                <a:spcPct val="0"/>
              </a:spcBef>
              <a:spcAft>
                <a:spcPct val="0"/>
              </a:spcAft>
              <a:buFontTx/>
              <a:buChar char="•"/>
            </a:pPr>
            <a:r>
              <a:rPr lang="en-GB" sz="2000" dirty="0" smtClean="0">
                <a:latin typeface="Arial" pitchFamily="34"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The HRC is the only </a:t>
            </a:r>
            <a:r>
              <a:rPr lang="en-GB" sz="2000" i="1" dirty="0" smtClean="0">
                <a:solidFill>
                  <a:srgbClr val="000000"/>
                </a:solidFill>
                <a:latin typeface="Arial" pitchFamily="34" charset="0"/>
                <a:ea typeface="Times New Roman" pitchFamily="18" charset="0"/>
                <a:cs typeface="Arial" pitchFamily="34" charset="0"/>
              </a:rPr>
              <a:t>inter-governmental body</a:t>
            </a:r>
            <a:r>
              <a:rPr lang="en-GB" sz="2000" dirty="0" smtClean="0">
                <a:solidFill>
                  <a:srgbClr val="000000"/>
                </a:solidFill>
                <a:latin typeface="Arial" pitchFamily="34" charset="0"/>
                <a:ea typeface="Times New Roman" pitchFamily="18" charset="0"/>
                <a:cs typeface="Arial" pitchFamily="34" charset="0"/>
              </a:rPr>
              <a:t> within the UN system dedicated exclusively for HRs </a:t>
            </a:r>
            <a:endParaRPr lang="en-GB" sz="2000" dirty="0" smtClean="0">
              <a:latin typeface="Arial" pitchFamily="34" charset="0"/>
              <a:ea typeface="Times New Roman" pitchFamily="18" charset="0"/>
              <a:cs typeface="Arial" pitchFamily="34" charset="0"/>
            </a:endParaRPr>
          </a:p>
          <a:p>
            <a:pPr lvl="0" algn="just"/>
            <a:r>
              <a:rPr lang="en-GB" sz="2000" dirty="0" smtClean="0">
                <a:solidFill>
                  <a:srgbClr val="000000"/>
                </a:solidFill>
                <a:latin typeface="Arial" pitchFamily="34" charset="0"/>
                <a:ea typeface="Times New Roman" pitchFamily="18" charset="0"/>
                <a:cs typeface="Arial" pitchFamily="34" charset="0"/>
              </a:rPr>
              <a:t>	Is made up of </a:t>
            </a:r>
            <a:r>
              <a:rPr lang="en-GB" sz="2000" b="1" i="1" dirty="0" smtClean="0">
                <a:solidFill>
                  <a:srgbClr val="000000"/>
                </a:solidFill>
                <a:latin typeface="Arial" pitchFamily="34" charset="0"/>
                <a:ea typeface="Times New Roman" pitchFamily="18" charset="0"/>
                <a:cs typeface="Arial" pitchFamily="34" charset="0"/>
              </a:rPr>
              <a:t>47 states</a:t>
            </a:r>
            <a:r>
              <a:rPr lang="en-GB" sz="2000" b="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responsible for strengthening promotion 	and protection of HRs.</a:t>
            </a:r>
          </a:p>
          <a:p>
            <a:pPr lvl="0" algn="just"/>
            <a:r>
              <a:rPr lang="en-GB" sz="2000" dirty="0" smtClean="0">
                <a:solidFill>
                  <a:srgbClr val="000000"/>
                </a:solidFill>
                <a:latin typeface="Arial" pitchFamily="34" charset="0"/>
                <a:cs typeface="Arial" pitchFamily="34" charset="0"/>
              </a:rPr>
              <a:t>	</a:t>
            </a:r>
          </a:p>
          <a:p>
            <a:pPr lvl="0" algn="just"/>
            <a:r>
              <a:rPr lang="en-GB" sz="2000" dirty="0" smtClean="0">
                <a:solidFill>
                  <a:srgbClr val="000000"/>
                </a:solidFill>
                <a:latin typeface="Arial" pitchFamily="34" charset="0"/>
                <a:cs typeface="Arial" pitchFamily="34" charset="0"/>
              </a:rPr>
              <a:t>	M</a:t>
            </a:r>
            <a:r>
              <a:rPr lang="en-GB" sz="2000" dirty="0" smtClean="0">
                <a:latin typeface="Arial" pitchFamily="34" charset="0"/>
                <a:cs typeface="Arial" pitchFamily="34" charset="0"/>
              </a:rPr>
              <a:t>eets for no fewer than three times per year,  for a total of ten 	weeks. </a:t>
            </a:r>
          </a:p>
          <a:p>
            <a:pPr lvl="0" algn="just"/>
            <a:r>
              <a:rPr lang="en-GB" sz="2000" dirty="0" smtClean="0">
                <a:latin typeface="Arial" pitchFamily="34" charset="0"/>
                <a:cs typeface="Arial" pitchFamily="34" charset="0"/>
              </a:rPr>
              <a:t>	</a:t>
            </a:r>
          </a:p>
          <a:p>
            <a:pPr lvl="0" algn="just"/>
            <a:r>
              <a:rPr lang="en-GB" sz="2000" dirty="0" smtClean="0">
                <a:latin typeface="Arial" pitchFamily="34" charset="0"/>
                <a:cs typeface="Arial" pitchFamily="34" charset="0"/>
              </a:rPr>
              <a:t>	Can also hold Special sessions when emergency of a situation 	requires it.</a:t>
            </a:r>
          </a:p>
          <a:p>
            <a:pPr lvl="0" algn="just"/>
            <a:r>
              <a:rPr lang="en-GB" sz="2000" dirty="0" smtClean="0">
                <a:latin typeface="Arial" pitchFamily="34" charset="0"/>
                <a:cs typeface="Arial" pitchFamily="34" charset="0"/>
              </a:rPr>
              <a:t>	</a:t>
            </a:r>
            <a:endParaRPr lang="en-GB" sz="2000" dirty="0" smtClean="0">
              <a:solidFill>
                <a:srgbClr val="000000"/>
              </a:solidFill>
              <a:latin typeface="Arial" pitchFamily="34" charset="0"/>
              <a:ea typeface="Times New Roman" pitchFamily="18" charset="0"/>
              <a:cs typeface="Arial" pitchFamily="34" charset="0"/>
            </a:endParaRPr>
          </a:p>
          <a:p>
            <a:pPr algn="just">
              <a:buFont typeface="Arial" pitchFamily="34" charset="0"/>
              <a:buChar char="•"/>
            </a:pPr>
            <a:r>
              <a:rPr lang="en-GB" sz="2000" dirty="0" smtClean="0">
                <a:latin typeface="Arial" pitchFamily="34" charset="0"/>
                <a:cs typeface="Arial" pitchFamily="34" charset="0"/>
              </a:rPr>
              <a:t>Traditionally addressed country situations, and rarely a thematic issue</a:t>
            </a:r>
          </a:p>
          <a:p>
            <a:pPr algn="just">
              <a:buFont typeface="Arial" pitchFamily="34" charset="0"/>
              <a:buChar char="•"/>
            </a:pPr>
            <a:endParaRPr lang="en-GB" sz="2000" dirty="0" smtClean="0">
              <a:latin typeface="Arial" pitchFamily="34" charset="0"/>
              <a:cs typeface="Arial" pitchFamily="34" charset="0"/>
            </a:endParaRPr>
          </a:p>
          <a:p>
            <a:pPr lvl="1" algn="just">
              <a:buFont typeface="Arial" pitchFamily="34" charset="0"/>
              <a:buChar char="•"/>
            </a:pPr>
            <a:r>
              <a:rPr lang="en-GB" sz="2000" dirty="0" smtClean="0">
                <a:latin typeface="Arial" pitchFamily="34" charset="0"/>
                <a:cs typeface="Arial" pitchFamily="34" charset="0"/>
              </a:rPr>
              <a:t> Mandate of the HRC: promotional and protective</a:t>
            </a:r>
          </a:p>
          <a:p>
            <a:pPr lvl="1" algn="just">
              <a:buFont typeface="Arial" pitchFamily="34" charset="0"/>
              <a:buChar char="•"/>
            </a:pPr>
            <a:r>
              <a:rPr lang="en-GB" sz="2000" dirty="0" smtClean="0">
                <a:latin typeface="Arial" pitchFamily="34" charset="0"/>
                <a:cs typeface="Arial" pitchFamily="34" charset="0"/>
              </a:rPr>
              <a:t> Its meetings are public and any State Members, Observers and NGOs with consultative status can participate in the discussions.</a:t>
            </a:r>
          </a:p>
          <a:p>
            <a:pPr lvl="1" algn="just">
              <a:buFont typeface="Arial" pitchFamily="34" charset="0"/>
              <a:buChar char="•"/>
            </a:pPr>
            <a:r>
              <a:rPr lang="en-GB" sz="2000" dirty="0" smtClean="0">
                <a:latin typeface="Arial" pitchFamily="34" charset="0"/>
                <a:cs typeface="Arial" pitchFamily="34" charset="0"/>
              </a:rPr>
              <a:t> The Council is an intergovernmental organ, works under political principles; same facts may be treated differently; </a:t>
            </a:r>
          </a:p>
          <a:p>
            <a:pPr lvl="1" algn="just">
              <a:buFont typeface="Arial" pitchFamily="34" charset="0"/>
              <a:buChar char="•"/>
            </a:pPr>
            <a:r>
              <a:rPr lang="en-GB" sz="2000" dirty="0" smtClean="0">
                <a:latin typeface="Arial" pitchFamily="34" charset="0"/>
                <a:cs typeface="Arial" pitchFamily="34" charset="0"/>
              </a:rPr>
              <a:t> However, the governmental composition also assures human rights agenda remain on the political discourse of the States.</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07504" y="142864"/>
            <a:ext cx="9036496" cy="6555641"/>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spcBef>
                <a:spcPct val="0"/>
              </a:spcBef>
              <a:spcAft>
                <a:spcPct val="0"/>
              </a:spcAft>
              <a:buAutoNum type="arabicPeriod"/>
            </a:pPr>
            <a:r>
              <a:rPr lang="en-GB" sz="2000" b="1" i="1" dirty="0" smtClean="0">
                <a:solidFill>
                  <a:srgbClr val="000000"/>
                </a:solidFill>
                <a:latin typeface="Arial" pitchFamily="34" charset="0"/>
                <a:ea typeface="Times New Roman" pitchFamily="18" charset="0"/>
                <a:cs typeface="Arial" pitchFamily="34" charset="0"/>
              </a:rPr>
              <a:t>Public Special Procedures</a:t>
            </a:r>
            <a:r>
              <a:rPr lang="en-GB" sz="2000" b="1" dirty="0" smtClean="0">
                <a:solidFill>
                  <a:srgbClr val="000000"/>
                </a:solidFill>
                <a:latin typeface="Arial" pitchFamily="34" charset="0"/>
                <a:ea typeface="Times New Roman" pitchFamily="18" charset="0"/>
                <a:cs typeface="Arial" pitchFamily="34" charset="0"/>
              </a:rPr>
              <a:t> of the HRC </a:t>
            </a:r>
            <a:r>
              <a:rPr lang="en-GB" sz="2000" dirty="0" smtClean="0">
                <a:solidFill>
                  <a:srgbClr val="000000"/>
                </a:solidFill>
                <a:latin typeface="Arial" pitchFamily="34" charset="0"/>
                <a:ea typeface="Times New Roman" pitchFamily="18" charset="0"/>
                <a:cs typeface="Arial" pitchFamily="34" charset="0"/>
              </a:rPr>
              <a:t>- is general name given to the mechanisms established by the HRC (through a resolution) to address either</a:t>
            </a:r>
          </a:p>
          <a:p>
            <a:pPr marL="457200" lvl="0" indent="-45720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i="1" dirty="0" smtClean="0">
                <a:solidFill>
                  <a:srgbClr val="000000"/>
                </a:solidFill>
                <a:latin typeface="Arial" pitchFamily="34" charset="0"/>
                <a:ea typeface="Times New Roman" pitchFamily="18" charset="0"/>
                <a:cs typeface="Arial" pitchFamily="34" charset="0"/>
              </a:rPr>
              <a:t>Specific country situations</a:t>
            </a:r>
            <a:r>
              <a:rPr lang="en-GB" sz="2000" dirty="0" smtClean="0">
                <a:solidFill>
                  <a:srgbClr val="000000"/>
                </a:solidFill>
                <a:latin typeface="Arial" pitchFamily="34" charset="0"/>
                <a:ea typeface="Times New Roman" pitchFamily="18" charset="0"/>
                <a:cs typeface="Arial" pitchFamily="34" charset="0"/>
              </a:rPr>
              <a:t> or </a:t>
            </a: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Thematic</a:t>
            </a:r>
            <a:r>
              <a:rPr lang="en-GB" sz="2000" i="1" dirty="0" smtClean="0">
                <a:solidFill>
                  <a:srgbClr val="000000"/>
                </a:solidFill>
                <a:latin typeface="Arial" pitchFamily="34" charset="0"/>
                <a:ea typeface="Times New Roman" pitchFamily="18" charset="0"/>
                <a:cs typeface="Arial" pitchFamily="34" charset="0"/>
              </a:rPr>
              <a:t> issues</a:t>
            </a:r>
            <a:r>
              <a:rPr lang="en-GB" sz="2000" dirty="0" smtClean="0">
                <a:solidFill>
                  <a:srgbClr val="000000"/>
                </a:solidFill>
                <a:latin typeface="Arial" pitchFamily="34" charset="0"/>
                <a:ea typeface="Times New Roman" pitchFamily="18" charset="0"/>
                <a:cs typeface="Arial" pitchFamily="34" charset="0"/>
              </a:rPr>
              <a:t> in all parts of the world.</a:t>
            </a: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p>
          <a:p>
            <a:pPr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Is </a:t>
            </a:r>
            <a:r>
              <a:rPr lang="en-GB" sz="2000" b="1" i="1" dirty="0" smtClean="0">
                <a:solidFill>
                  <a:srgbClr val="000000"/>
                </a:solidFill>
                <a:latin typeface="Arial" pitchFamily="34" charset="0"/>
                <a:ea typeface="Times New Roman" pitchFamily="18" charset="0"/>
                <a:cs typeface="Arial" pitchFamily="34" charset="0"/>
              </a:rPr>
              <a:t>really universal system </a:t>
            </a:r>
            <a:r>
              <a:rPr lang="en-GB" sz="2000" dirty="0" smtClean="0">
                <a:solidFill>
                  <a:srgbClr val="000000"/>
                </a:solidFill>
                <a:latin typeface="Arial" pitchFamily="34" charset="0"/>
                <a:ea typeface="Times New Roman" pitchFamily="18" charset="0"/>
                <a:cs typeface="Arial" pitchFamily="34" charset="0"/>
              </a:rPr>
              <a:t>affecting each country in civil, political, economic and social rights as well as rights to </a:t>
            </a:r>
            <a:r>
              <a:rPr lang="en-GB" sz="2000" dirty="0" err="1" smtClean="0">
                <a:solidFill>
                  <a:srgbClr val="000000"/>
                </a:solidFill>
                <a:latin typeface="Arial" pitchFamily="34" charset="0"/>
                <a:ea typeface="Times New Roman" pitchFamily="18" charset="0"/>
                <a:cs typeface="Arial" pitchFamily="34" charset="0"/>
              </a:rPr>
              <a:t>envi</a:t>
            </a:r>
            <a:r>
              <a:rPr lang="en-GB" sz="2000" dirty="0" smtClean="0">
                <a:solidFill>
                  <a:srgbClr val="000000"/>
                </a:solidFill>
                <a:latin typeface="Arial" pitchFamily="34" charset="0"/>
                <a:ea typeface="Times New Roman" pitchFamily="18" charset="0"/>
                <a:cs typeface="Arial" pitchFamily="34" charset="0"/>
              </a:rPr>
              <a:t>. And development</a:t>
            </a:r>
          </a:p>
          <a:p>
            <a:pPr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complements shortcomings of the treaty system.</a:t>
            </a:r>
          </a:p>
          <a:p>
            <a:pPr lvl="1" algn="just" eaLnBrk="0" fontAlgn="base" hangingPunct="0">
              <a:spcBef>
                <a:spcPct val="0"/>
              </a:spcBef>
              <a:spcAft>
                <a:spcPct val="0"/>
              </a:spcAft>
            </a:pPr>
            <a:endParaRPr lang="en-GB" sz="2000" dirty="0" smtClean="0">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SP are either an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individual</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like a special </a:t>
            </a:r>
            <a:r>
              <a:rPr kumimoji="0" lang="en-GB" sz="2000" b="0" i="0" u="none" strike="noStrike" cap="none" normalizeH="0" baseline="0" dirty="0" err="1" smtClean="0">
                <a:ln>
                  <a:noFill/>
                </a:ln>
                <a:solidFill>
                  <a:srgbClr val="000000"/>
                </a:solidFill>
                <a:effectLst/>
                <a:latin typeface="Arial" pitchFamily="34" charset="0"/>
                <a:ea typeface="Times New Roman" pitchFamily="18" charset="0"/>
                <a:cs typeface="Arial" pitchFamily="34" charset="0"/>
              </a:rPr>
              <a:t>rapporteur</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  representative - independent expert)  or simply a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working group</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p>
          <a:p>
            <a:pPr marL="0" marR="0" lvl="0" indent="0" algn="just" defTabSz="914400" rtl="0" eaLnBrk="1" fontAlgn="base" latinLnBrk="0" hangingPunct="1">
              <a:lnSpc>
                <a:spcPct val="100000"/>
              </a:lnSpc>
              <a:spcBef>
                <a:spcPct val="0"/>
              </a:spcBef>
              <a:spcAft>
                <a:spcPct val="0"/>
              </a:spcAft>
              <a:buClrTx/>
              <a:buSzTx/>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Are prominent independent experts, work voluntarily, </a:t>
            </a:r>
            <a:r>
              <a:rPr lang="en-GB" sz="2000" dirty="0" smtClean="0">
                <a:solidFill>
                  <a:srgbClr val="000000"/>
                </a:solidFill>
                <a:latin typeface="Arial" pitchFamily="34" charset="0"/>
                <a:ea typeface="Times New Roman" pitchFamily="18" charset="0"/>
                <a:cs typeface="Arial" pitchFamily="34" charset="0"/>
              </a:rPr>
              <a:t>in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dividual capacity.</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Appointed by the HRC, mandates defined by the res. creating them</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SPs’ mandates call on power to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examine, monitor, advise and publicly report</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on human rights situations </a:t>
            </a: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specific countries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country mandates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or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on major phenomena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of HR violations worldwide</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marL="914400" marR="0" lvl="2" indent="0" algn="just" defTabSz="914400" rtl="0" eaLnBrk="0" fontAlgn="base" latinLnBrk="0" hangingPunct="0">
              <a:lnSpc>
                <a:spcPct val="100000"/>
              </a:lnSpc>
              <a:spcBef>
                <a:spcPct val="0"/>
              </a:spcBef>
              <a:spcAft>
                <a:spcPct val="0"/>
              </a:spcAft>
              <a:buClrTx/>
              <a:buSzTx/>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thematic mandates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57166"/>
            <a:ext cx="9144000" cy="4678204"/>
          </a:xfrm>
          <a:prstGeom prst="rect">
            <a:avLst/>
          </a:prstGeom>
        </p:spPr>
        <p:txBody>
          <a:bodyPr wrap="square">
            <a:spAutoFit/>
          </a:bodyPr>
          <a:lstStyle/>
          <a:p>
            <a:pPr lvl="0" eaLnBrk="0" fontAlgn="base" hangingPunct="0">
              <a:spcBef>
                <a:spcPct val="0"/>
              </a:spcBef>
              <a:spcAft>
                <a:spcPct val="0"/>
              </a:spcAft>
            </a:pPr>
            <a:endParaRPr lang="en-GB" b="1" i="1" dirty="0" smtClean="0">
              <a:latin typeface="Arial" pitchFamily="34" charset="0"/>
              <a:ea typeface="SimSun" pitchFamily="2" charset="-122"/>
              <a:cs typeface="Arial" pitchFamily="34" charset="0"/>
            </a:endParaRPr>
          </a:p>
          <a:p>
            <a:pPr lvl="0" eaLnBrk="0" fontAlgn="base" hangingPunct="0">
              <a:spcBef>
                <a:spcPct val="0"/>
              </a:spcBef>
              <a:spcAft>
                <a:spcPct val="0"/>
              </a:spcAft>
            </a:pPr>
            <a:r>
              <a:rPr lang="en-GB" sz="2000" b="1" dirty="0" smtClean="0">
                <a:latin typeface="Arial" pitchFamily="34" charset="0"/>
                <a:ea typeface="SimSun" pitchFamily="2" charset="-122"/>
                <a:cs typeface="Arial" pitchFamily="34" charset="0"/>
              </a:rPr>
              <a:t>Thematic mandates Ex.</a:t>
            </a:r>
          </a:p>
          <a:p>
            <a:pPr lvl="0" eaLnBrk="0" fontAlgn="base" hangingPunct="0">
              <a:spcBef>
                <a:spcPct val="0"/>
              </a:spcBef>
              <a:spcAft>
                <a:spcPct val="0"/>
              </a:spcAft>
            </a:pPr>
            <a:endParaRPr lang="en-GB" sz="2000" b="1" dirty="0" smtClean="0">
              <a:latin typeface="Arial" pitchFamily="34" charset="0"/>
              <a:cs typeface="Arial" pitchFamily="34" charset="0"/>
            </a:endParaRPr>
          </a:p>
          <a:p>
            <a:pPr lvl="0" algn="just" eaLnBrk="0" fontAlgn="base" hangingPunct="0">
              <a:spcBef>
                <a:spcPct val="0"/>
              </a:spcBef>
              <a:spcAft>
                <a:spcPct val="0"/>
              </a:spcAft>
              <a:buFont typeface="Arial" pitchFamily="34" charset="0"/>
              <a:buChar char="•"/>
            </a:pPr>
            <a:r>
              <a:rPr lang="en-GB" sz="2000" dirty="0" smtClean="0">
                <a:latin typeface="Arial" pitchFamily="34" charset="0"/>
                <a:cs typeface="Arial" pitchFamily="34" charset="0"/>
              </a:rPr>
              <a:t> Special </a:t>
            </a:r>
            <a:r>
              <a:rPr lang="en-GB" sz="2000" dirty="0" err="1" smtClean="0">
                <a:latin typeface="Arial" pitchFamily="34" charset="0"/>
                <a:cs typeface="Arial" pitchFamily="34" charset="0"/>
              </a:rPr>
              <a:t>Rapporteur</a:t>
            </a:r>
            <a:r>
              <a:rPr lang="en-GB" sz="2000" dirty="0" smtClean="0">
                <a:latin typeface="Arial" pitchFamily="34" charset="0"/>
                <a:cs typeface="Arial" pitchFamily="34" charset="0"/>
              </a:rPr>
              <a:t> on </a:t>
            </a:r>
            <a:r>
              <a:rPr lang="en-GB" sz="2000" b="1" i="1" dirty="0" smtClean="0">
                <a:latin typeface="Arial" pitchFamily="34" charset="0"/>
                <a:cs typeface="Arial" pitchFamily="34" charset="0"/>
              </a:rPr>
              <a:t>adequate</a:t>
            </a:r>
            <a:r>
              <a:rPr lang="en-GB" sz="2000" dirty="0" smtClean="0">
                <a:latin typeface="Arial" pitchFamily="34" charset="0"/>
                <a:cs typeface="Arial" pitchFamily="34" charset="0"/>
              </a:rPr>
              <a:t> </a:t>
            </a:r>
            <a:r>
              <a:rPr lang="en-GB" sz="2000" b="1" i="1" dirty="0" smtClean="0">
                <a:latin typeface="Arial" pitchFamily="34" charset="0"/>
                <a:cs typeface="Arial" pitchFamily="34" charset="0"/>
              </a:rPr>
              <a:t>housing</a:t>
            </a:r>
            <a:r>
              <a:rPr lang="en-GB" sz="2000" dirty="0" smtClean="0">
                <a:latin typeface="Arial" pitchFamily="34" charset="0"/>
                <a:cs typeface="Arial" pitchFamily="34" charset="0"/>
              </a:rPr>
              <a:t> as a component of the right to an adequate standard of living and on the right to non-discrimination in this context</a:t>
            </a:r>
          </a:p>
          <a:p>
            <a:pPr lvl="0" algn="just" eaLnBrk="0" fontAlgn="base" hangingPunct="0">
              <a:spcBef>
                <a:spcPct val="0"/>
              </a:spcBef>
              <a:spcAft>
                <a:spcPct val="0"/>
              </a:spcAft>
              <a:buFont typeface="Arial" pitchFamily="34" charset="0"/>
              <a:buChar char="•"/>
            </a:pPr>
            <a:endParaRPr lang="en-GB" sz="2000" dirty="0" smtClean="0">
              <a:latin typeface="Arial" pitchFamily="34" charset="0"/>
              <a:cs typeface="Arial" pitchFamily="34" charset="0"/>
            </a:endParaRPr>
          </a:p>
          <a:p>
            <a:pPr lvl="0" eaLnBrk="0" fontAlgn="base" hangingPunct="0">
              <a:spcBef>
                <a:spcPct val="0"/>
              </a:spcBef>
              <a:spcAft>
                <a:spcPct val="0"/>
              </a:spcAft>
              <a:buFont typeface="Arial" pitchFamily="34" charset="0"/>
              <a:buChar char="•"/>
            </a:pPr>
            <a:r>
              <a:rPr lang="en-GB" sz="2000" dirty="0" smtClean="0">
                <a:latin typeface="Arial" pitchFamily="34" charset="0"/>
                <a:cs typeface="Arial" pitchFamily="34" charset="0"/>
              </a:rPr>
              <a:t> </a:t>
            </a:r>
            <a:r>
              <a:rPr lang="nb-NO" sz="2000" dirty="0" smtClean="0">
                <a:latin typeface="Arial" pitchFamily="34" charset="0"/>
                <a:cs typeface="Arial" pitchFamily="34" charset="0"/>
              </a:rPr>
              <a:t>Working Group on Arbitrary Detention</a:t>
            </a:r>
          </a:p>
          <a:p>
            <a:pPr lvl="0" eaLnBrk="0" fontAlgn="base" hangingPunct="0">
              <a:spcBef>
                <a:spcPct val="0"/>
              </a:spcBef>
              <a:spcAft>
                <a:spcPct val="0"/>
              </a:spcAft>
              <a:buFont typeface="Arial" pitchFamily="34" charset="0"/>
              <a:buChar char="•"/>
            </a:pPr>
            <a:endParaRPr lang="nb-NO" sz="2000" dirty="0" smtClean="0">
              <a:latin typeface="Arial" pitchFamily="34" charset="0"/>
              <a:cs typeface="Arial" pitchFamily="34" charset="0"/>
            </a:endParaRPr>
          </a:p>
          <a:p>
            <a:pPr lvl="0" eaLnBrk="0" fontAlgn="base" hangingPunct="0">
              <a:spcBef>
                <a:spcPct val="0"/>
              </a:spcBef>
              <a:spcAft>
                <a:spcPct val="0"/>
              </a:spcAft>
              <a:buFont typeface="Arial" pitchFamily="34" charset="0"/>
              <a:buChar char="•"/>
            </a:pPr>
            <a:r>
              <a:rPr lang="en-GB" sz="2000" dirty="0" smtClean="0">
                <a:latin typeface="Arial" pitchFamily="34" charset="0"/>
                <a:cs typeface="Arial" pitchFamily="34" charset="0"/>
              </a:rPr>
              <a:t> Special </a:t>
            </a:r>
            <a:r>
              <a:rPr lang="en-GB" sz="2000" dirty="0" err="1" smtClean="0">
                <a:latin typeface="Arial" pitchFamily="34" charset="0"/>
                <a:cs typeface="Arial" pitchFamily="34" charset="0"/>
              </a:rPr>
              <a:t>Rapporteur</a:t>
            </a:r>
            <a:r>
              <a:rPr lang="en-GB" sz="2000" dirty="0" smtClean="0">
                <a:latin typeface="Arial" pitchFamily="34" charset="0"/>
                <a:cs typeface="Arial" pitchFamily="34" charset="0"/>
              </a:rPr>
              <a:t> on the Right to Education</a:t>
            </a:r>
          </a:p>
          <a:p>
            <a:pPr lvl="0" eaLnBrk="0" fontAlgn="base" hangingPunct="0">
              <a:spcBef>
                <a:spcPct val="0"/>
              </a:spcBef>
              <a:spcAft>
                <a:spcPct val="0"/>
              </a:spcAft>
            </a:pPr>
            <a:endParaRPr lang="nb-NO" sz="2000" dirty="0" smtClean="0">
              <a:latin typeface="Arial" pitchFamily="34" charset="0"/>
              <a:cs typeface="Arial" pitchFamily="34" charset="0"/>
            </a:endParaRPr>
          </a:p>
          <a:p>
            <a:pPr lvl="0" eaLnBrk="0" fontAlgn="base" hangingPunct="0">
              <a:spcBef>
                <a:spcPct val="0"/>
              </a:spcBef>
              <a:spcAft>
                <a:spcPct val="0"/>
              </a:spcAft>
            </a:pPr>
            <a:r>
              <a:rPr lang="nb-NO" sz="2000" b="1" dirty="0" smtClean="0">
                <a:latin typeface="Arial" pitchFamily="34" charset="0"/>
                <a:cs typeface="Arial" pitchFamily="34" charset="0"/>
              </a:rPr>
              <a:t>Country Mandates Ex.</a:t>
            </a:r>
          </a:p>
          <a:p>
            <a:pPr lvl="0" eaLnBrk="0" fontAlgn="base" hangingPunct="0">
              <a:spcBef>
                <a:spcPct val="0"/>
              </a:spcBef>
              <a:spcAft>
                <a:spcPct val="0"/>
              </a:spcAft>
            </a:pPr>
            <a:endParaRPr lang="nb-NO" sz="2000" i="1" dirty="0" smtClean="0">
              <a:latin typeface="Arial" pitchFamily="34" charset="0"/>
              <a:cs typeface="Arial" pitchFamily="34" charset="0"/>
            </a:endParaRPr>
          </a:p>
          <a:p>
            <a:pPr lvl="0" eaLnBrk="0" fontAlgn="base" hangingPunct="0">
              <a:spcBef>
                <a:spcPct val="0"/>
              </a:spcBef>
              <a:spcAft>
                <a:spcPct val="0"/>
              </a:spcAft>
              <a:buFont typeface="Arial" pitchFamily="34" charset="0"/>
              <a:buChar char="•"/>
            </a:pPr>
            <a:r>
              <a:rPr lang="en-GB" sz="2000" dirty="0" smtClean="0">
                <a:latin typeface="Arial" pitchFamily="34" charset="0"/>
                <a:cs typeface="Arial" pitchFamily="34" charset="0"/>
              </a:rPr>
              <a:t> Special </a:t>
            </a:r>
            <a:r>
              <a:rPr lang="en-GB" sz="2000" dirty="0" err="1" smtClean="0">
                <a:latin typeface="Arial" pitchFamily="34" charset="0"/>
                <a:cs typeface="Arial" pitchFamily="34" charset="0"/>
              </a:rPr>
              <a:t>Rapporteur</a:t>
            </a:r>
            <a:r>
              <a:rPr lang="en-GB" sz="2000" dirty="0" smtClean="0">
                <a:latin typeface="Arial" pitchFamily="34" charset="0"/>
                <a:cs typeface="Arial" pitchFamily="34" charset="0"/>
              </a:rPr>
              <a:t> on the situation of human rights in </a:t>
            </a:r>
            <a:r>
              <a:rPr lang="en-GB" sz="2000" dirty="0" smtClean="0">
                <a:latin typeface="Arial" pitchFamily="34" charset="0"/>
                <a:cs typeface="Arial" pitchFamily="34" charset="0"/>
                <a:hlinkClick r:id="rId3"/>
              </a:rPr>
              <a:t>Cambodia</a:t>
            </a:r>
            <a:endParaRPr lang="en-GB" sz="2000" dirty="0" smtClean="0">
              <a:latin typeface="Arial" pitchFamily="34" charset="0"/>
              <a:cs typeface="Arial" pitchFamily="34" charset="0"/>
            </a:endParaRPr>
          </a:p>
          <a:p>
            <a:pPr lvl="0" eaLnBrk="0" fontAlgn="base" hangingPunct="0">
              <a:spcBef>
                <a:spcPct val="0"/>
              </a:spcBef>
              <a:spcAft>
                <a:spcPct val="0"/>
              </a:spcAft>
            </a:pPr>
            <a:r>
              <a:rPr lang="nb-NO" sz="2000" i="1" dirty="0" smtClean="0">
                <a:latin typeface="Arial" pitchFamily="34" charset="0"/>
                <a:cs typeface="Arial" pitchFamily="34" charset="0"/>
              </a:rPr>
              <a:t> </a:t>
            </a:r>
          </a:p>
          <a:p>
            <a:pPr lvl="0" eaLnBrk="0" fontAlgn="base" hangingPunct="0">
              <a:spcBef>
                <a:spcPct val="0"/>
              </a:spcBef>
              <a:spcAft>
                <a:spcPct val="0"/>
              </a:spcAft>
              <a:buFont typeface="Arial" pitchFamily="34" charset="0"/>
              <a:buChar char="•"/>
            </a:pPr>
            <a:r>
              <a:rPr lang="en-GB" sz="2000" dirty="0" smtClean="0">
                <a:latin typeface="Arial" pitchFamily="34" charset="0"/>
                <a:cs typeface="Arial" pitchFamily="34" charset="0"/>
              </a:rPr>
              <a:t> Independent Expert on the situation of human rights in </a:t>
            </a:r>
            <a:r>
              <a:rPr lang="en-GB" sz="2000" dirty="0" smtClean="0">
                <a:latin typeface="Arial" pitchFamily="34" charset="0"/>
                <a:cs typeface="Arial" pitchFamily="34" charset="0"/>
                <a:hlinkClick r:id="rId4"/>
              </a:rPr>
              <a:t>Côte d’Ivoire</a:t>
            </a:r>
            <a:endParaRPr lang="en-GB" sz="2000" i="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0" y="1"/>
            <a:ext cx="9144000" cy="578069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Most Special Procedures </a:t>
            </a:r>
          </a:p>
          <a:p>
            <a:pPr lvl="1" algn="just" eaLnBrk="0" fontAlgn="base" hangingPunct="0">
              <a:spcBef>
                <a:spcPct val="0"/>
              </a:spcBef>
              <a:spcAft>
                <a:spcPct val="0"/>
              </a:spcAft>
              <a:buFontTx/>
              <a:buChar char="•"/>
            </a:pPr>
            <a:r>
              <a:rPr lang="en-GB" sz="2000" b="1" i="1" dirty="0" smtClean="0">
                <a:solidFill>
                  <a:srgbClr val="000000"/>
                </a:solidFill>
                <a:latin typeface="Arial" pitchFamily="34" charset="0"/>
                <a:ea typeface="Times New Roman" pitchFamily="18" charset="0"/>
                <a:cs typeface="Arial" pitchFamily="34" charset="0"/>
              </a:rPr>
              <a:t> receive</a:t>
            </a:r>
            <a:r>
              <a:rPr lang="en-GB" sz="2000" dirty="0" smtClean="0">
                <a:solidFill>
                  <a:srgbClr val="000000"/>
                </a:solidFill>
                <a:latin typeface="Arial" pitchFamily="34" charset="0"/>
                <a:ea typeface="Times New Roman" pitchFamily="18" charset="0"/>
                <a:cs typeface="Arial" pitchFamily="34" charset="0"/>
              </a:rPr>
              <a:t> information on specific allegations of HRs violations, and</a:t>
            </a: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send</a:t>
            </a: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urgent appeals of allegation </a:t>
            </a:r>
            <a:r>
              <a:rPr lang="en-GB" sz="2000" dirty="0" smtClean="0">
                <a:solidFill>
                  <a:srgbClr val="000000"/>
                </a:solidFill>
                <a:latin typeface="Arial" pitchFamily="34" charset="0"/>
                <a:ea typeface="Times New Roman" pitchFamily="18" charset="0"/>
                <a:cs typeface="Arial" pitchFamily="34" charset="0"/>
              </a:rPr>
              <a:t>to </a:t>
            </a:r>
            <a:r>
              <a:rPr lang="en-GB" sz="2000" dirty="0" err="1" smtClean="0">
                <a:solidFill>
                  <a:srgbClr val="000000"/>
                </a:solidFill>
                <a:latin typeface="Arial" pitchFamily="34" charset="0"/>
                <a:ea typeface="Times New Roman" pitchFamily="18" charset="0"/>
                <a:cs typeface="Arial" pitchFamily="34" charset="0"/>
              </a:rPr>
              <a:t>gov’ts</a:t>
            </a:r>
            <a:r>
              <a:rPr lang="en-GB" sz="2000" dirty="0" smtClean="0">
                <a:solidFill>
                  <a:srgbClr val="000000"/>
                </a:solidFill>
                <a:latin typeface="Arial" pitchFamily="34" charset="0"/>
                <a:ea typeface="Times New Roman" pitchFamily="18" charset="0"/>
                <a:cs typeface="Arial" pitchFamily="34" charset="0"/>
              </a:rPr>
              <a:t> asking for clarification</a:t>
            </a:r>
          </a:p>
          <a:p>
            <a:pPr lvl="1" algn="just" eaLnBrk="0" fontAlgn="base" hangingPunct="0">
              <a:spcBef>
                <a:spcPct val="0"/>
              </a:spcBef>
              <a:spcAft>
                <a:spcPct val="0"/>
              </a:spcAft>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Process involves </a:t>
            </a:r>
            <a:r>
              <a:rPr lang="en-GB" sz="2000" i="1" dirty="0" smtClean="0">
                <a:solidFill>
                  <a:srgbClr val="000000"/>
                </a:solidFill>
                <a:latin typeface="Arial" pitchFamily="34" charset="0"/>
                <a:ea typeface="Times New Roman" pitchFamily="18" charset="0"/>
                <a:cs typeface="Arial" pitchFamily="34" charset="0"/>
              </a:rPr>
              <a:t>sending a letter </a:t>
            </a:r>
            <a:r>
              <a:rPr lang="en-GB" sz="2000" dirty="0" smtClean="0">
                <a:solidFill>
                  <a:srgbClr val="000000"/>
                </a:solidFill>
                <a:latin typeface="Arial" pitchFamily="34" charset="0"/>
                <a:ea typeface="Times New Roman" pitchFamily="18" charset="0"/>
                <a:cs typeface="Arial" pitchFamily="34" charset="0"/>
              </a:rPr>
              <a:t>to the concerned Government requesting information, comments on allegation, and asking preventive or investigatory action be taken.</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Mandate holders also </a:t>
            </a:r>
            <a:r>
              <a:rPr lang="en-GB" sz="2000" b="1" i="1" dirty="0" smtClean="0">
                <a:solidFill>
                  <a:srgbClr val="000000"/>
                </a:solidFill>
                <a:latin typeface="Arial" pitchFamily="34" charset="0"/>
                <a:ea typeface="Times New Roman" pitchFamily="18" charset="0"/>
                <a:cs typeface="Arial" pitchFamily="34" charset="0"/>
              </a:rPr>
              <a:t>carryout</a:t>
            </a: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country visits </a:t>
            </a:r>
            <a:r>
              <a:rPr lang="en-GB" sz="2000" dirty="0" smtClean="0">
                <a:solidFill>
                  <a:srgbClr val="000000"/>
                </a:solidFill>
                <a:latin typeface="Arial" pitchFamily="34" charset="0"/>
                <a:ea typeface="Times New Roman" pitchFamily="18" charset="0"/>
                <a:cs typeface="Arial" pitchFamily="34" charset="0"/>
              </a:rPr>
              <a:t>to investigate violations of HRs.</a:t>
            </a: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They typically send letter to a government requesting permission to visit, and if the government agrees, an invitation is extended.</a:t>
            </a: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Some countries issue </a:t>
            </a:r>
            <a:r>
              <a:rPr lang="en-GB" sz="2000" b="1" i="1" dirty="0" smtClean="0">
                <a:solidFill>
                  <a:srgbClr val="000000"/>
                </a:solidFill>
                <a:latin typeface="Arial" pitchFamily="34" charset="0"/>
                <a:ea typeface="Times New Roman" pitchFamily="18" charset="0"/>
                <a:cs typeface="Arial" pitchFamily="34" charset="0"/>
              </a:rPr>
              <a:t>‘standing invitations’ </a:t>
            </a:r>
          </a:p>
          <a:p>
            <a:pPr lvl="1" algn="just" eaLnBrk="0" fontAlgn="base" hangingPunct="0">
              <a:spcBef>
                <a:spcPct val="0"/>
              </a:spcBef>
              <a:spcAft>
                <a:spcPct val="0"/>
              </a:spcAft>
            </a:pPr>
            <a:r>
              <a:rPr lang="en-GB" sz="2000" b="1" i="1" dirty="0" smtClean="0">
                <a:solidFill>
                  <a:srgbClr val="000000"/>
                </a:solidFill>
                <a:latin typeface="Arial" pitchFamily="34" charset="0"/>
                <a:ea typeface="Times New Roman" pitchFamily="18" charset="0"/>
                <a:cs typeface="Arial" pitchFamily="34" charset="0"/>
              </a:rPr>
              <a:t> </a:t>
            </a:r>
            <a:endParaRPr lang="en-GB" sz="2000" b="1" i="1"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370427"/>
          </a:xfrm>
          <a:prstGeom prst="rect">
            <a:avLst/>
          </a:prstGeom>
        </p:spPr>
        <p:txBody>
          <a:bodyPr wrap="square">
            <a:spAutoFit/>
          </a:bodyPr>
          <a:lstStyle/>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After visits, SP mandate-holders issue </a:t>
            </a:r>
            <a:r>
              <a:rPr lang="en-GB" sz="2000" b="1" i="1" dirty="0" smtClean="0">
                <a:solidFill>
                  <a:srgbClr val="000000"/>
                </a:solidFill>
                <a:latin typeface="Arial" pitchFamily="34" charset="0"/>
                <a:ea typeface="Times New Roman" pitchFamily="18" charset="0"/>
                <a:cs typeface="Arial" pitchFamily="34" charset="0"/>
              </a:rPr>
              <a:t>mission report </a:t>
            </a:r>
            <a:r>
              <a:rPr lang="en-GB" sz="2000" dirty="0" smtClean="0">
                <a:solidFill>
                  <a:srgbClr val="000000"/>
                </a:solidFill>
                <a:latin typeface="Arial" pitchFamily="34" charset="0"/>
                <a:ea typeface="Times New Roman" pitchFamily="18" charset="0"/>
                <a:cs typeface="Arial" pitchFamily="34" charset="0"/>
              </a:rPr>
              <a:t>(findings and recommendations).</a:t>
            </a:r>
          </a:p>
          <a:p>
            <a:pPr lvl="1"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P</a:t>
            </a:r>
            <a:r>
              <a:rPr lang="en-GB" sz="2000" dirty="0" smtClean="0">
                <a:latin typeface="Arial" pitchFamily="34" charset="0"/>
                <a:cs typeface="Arial" pitchFamily="34" charset="0"/>
              </a:rPr>
              <a:t>ronouncements not legally binding; however, publicity of procedures used not only as a channel of information but also as a tool to exercise pressure over States and other concerned actors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Decision to intervene </a:t>
            </a:r>
            <a:r>
              <a:rPr lang="en-GB" sz="2000" dirty="0" smtClean="0">
                <a:solidFill>
                  <a:srgbClr val="000000"/>
                </a:solidFill>
                <a:latin typeface="Arial" pitchFamily="34" charset="0"/>
                <a:ea typeface="Times New Roman" pitchFamily="18" charset="0"/>
                <a:cs typeface="Arial" pitchFamily="34" charset="0"/>
              </a:rPr>
              <a:t>at the </a:t>
            </a:r>
            <a:r>
              <a:rPr lang="en-GB" sz="2000" i="1" dirty="0" smtClean="0">
                <a:solidFill>
                  <a:srgbClr val="000000"/>
                </a:solidFill>
                <a:latin typeface="Arial" pitchFamily="34" charset="0"/>
                <a:ea typeface="Times New Roman" pitchFamily="18" charset="0"/>
                <a:cs typeface="Arial" pitchFamily="34" charset="0"/>
              </a:rPr>
              <a:t>discretion of the special procedure mandate holder</a:t>
            </a:r>
            <a:r>
              <a:rPr lang="en-GB" sz="2000" dirty="0" smtClean="0">
                <a:solidFill>
                  <a:srgbClr val="000000"/>
                </a:solidFill>
                <a:latin typeface="Arial" pitchFamily="34" charset="0"/>
                <a:ea typeface="Times New Roman" pitchFamily="18" charset="0"/>
                <a:cs typeface="Arial" pitchFamily="34" charset="0"/>
              </a:rPr>
              <a:t>. </a:t>
            </a:r>
          </a:p>
          <a:p>
            <a:pPr lvl="1"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His criteria generally relate to reliability of source, credibility of information received.</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endParaRPr lang="en-GB"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909310"/>
          </a:xfrm>
          <a:prstGeom prst="rect">
            <a:avLst/>
          </a:prstGeom>
        </p:spPr>
        <p:txBody>
          <a:bodyPr wrap="square">
            <a:spAutoFit/>
          </a:bodyPr>
          <a:lstStyle/>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The following minimum information must be provided for</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all</a:t>
            </a:r>
            <a:r>
              <a:rPr lang="en-GB" sz="2000" i="1" dirty="0" smtClean="0">
                <a:solidFill>
                  <a:srgbClr val="000000"/>
                </a:solidFill>
                <a:latin typeface="Arial" pitchFamily="34" charset="0"/>
                <a:ea typeface="Times New Roman" pitchFamily="18" charset="0"/>
                <a:cs typeface="Arial" pitchFamily="34" charset="0"/>
              </a:rPr>
              <a:t> SP in order for the communication to be assessed:</a:t>
            </a:r>
          </a:p>
          <a:p>
            <a:pPr lvl="1"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b="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Identification of the alleged victim(s);</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Identification of the alleged perpetrators of the violation;</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Identification of the person(s) or organization(s) submitting the communication (this information will be kept confidential);</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Date and place of incident</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Detailed description of circumstances of the incident.</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i="1" dirty="0" smtClean="0">
                <a:solidFill>
                  <a:srgbClr val="000000"/>
                </a:solidFill>
                <a:latin typeface="Arial" pitchFamily="34" charset="0"/>
                <a:ea typeface="Times New Roman" pitchFamily="18" charset="0"/>
                <a:cs typeface="Arial" pitchFamily="34" charset="0"/>
              </a:rPr>
              <a:t> No abusive language</a:t>
            </a:r>
            <a:r>
              <a:rPr lang="en-GB" sz="2000" dirty="0" smtClean="0">
                <a:solidFill>
                  <a:srgbClr val="000000"/>
                </a:solidFill>
                <a:latin typeface="Arial" pitchFamily="34" charset="0"/>
                <a:ea typeface="Times New Roman" pitchFamily="18" charset="0"/>
                <a:cs typeface="Arial" pitchFamily="34" charset="0"/>
              </a:rPr>
              <a:t> or </a:t>
            </a:r>
            <a:r>
              <a:rPr lang="en-GB" sz="2000" i="1" dirty="0" smtClean="0">
                <a:solidFill>
                  <a:srgbClr val="000000"/>
                </a:solidFill>
                <a:latin typeface="Arial" pitchFamily="34" charset="0"/>
                <a:ea typeface="Times New Roman" pitchFamily="18" charset="0"/>
                <a:cs typeface="Arial" pitchFamily="34" charset="0"/>
              </a:rPr>
              <a:t>obviously politically motivated</a:t>
            </a: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Communications should not be based </a:t>
            </a:r>
            <a:r>
              <a:rPr lang="en-GB" sz="2000" i="1" dirty="0" smtClean="0">
                <a:solidFill>
                  <a:srgbClr val="000000"/>
                </a:solidFill>
                <a:latin typeface="Arial" pitchFamily="34" charset="0"/>
                <a:ea typeface="Times New Roman" pitchFamily="18" charset="0"/>
                <a:cs typeface="Arial" pitchFamily="34" charset="0"/>
              </a:rPr>
              <a:t>solely</a:t>
            </a:r>
            <a:r>
              <a:rPr lang="en-GB" sz="2000" dirty="0" smtClean="0">
                <a:solidFill>
                  <a:srgbClr val="000000"/>
                </a:solidFill>
                <a:latin typeface="Arial" pitchFamily="34" charset="0"/>
                <a:ea typeface="Times New Roman" pitchFamily="18" charset="0"/>
                <a:cs typeface="Arial" pitchFamily="34" charset="0"/>
              </a:rPr>
              <a:t> on media reports.</a:t>
            </a: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cs typeface="Arial" pitchFamily="34" charset="0"/>
            </a:endParaRPr>
          </a:p>
          <a:p>
            <a:pPr lvl="2" algn="just" eaLnBrk="0" fontAlgn="base" hangingPunct="0">
              <a:spcBef>
                <a:spcPct val="0"/>
              </a:spcBef>
              <a:spcAft>
                <a:spcPct val="0"/>
              </a:spcAft>
              <a:buFont typeface="Courier New" pitchFamily="49" charset="0"/>
              <a:buChar char="o"/>
            </a:pPr>
            <a:endParaRPr lang="en-GB"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ChangeArrowheads="1"/>
          </p:cNvSpPr>
          <p:nvPr/>
        </p:nvSpPr>
        <p:spPr bwMode="auto">
          <a:xfrm>
            <a:off x="0" y="-1"/>
            <a:ext cx="9144000" cy="6283731"/>
          </a:xfrm>
          <a:prstGeom prst="rect">
            <a:avLst/>
          </a:prstGeom>
          <a:noFill/>
          <a:ln w="9525">
            <a:noFill/>
            <a:miter lim="800000"/>
            <a:headEnd/>
            <a:tailEnd/>
          </a:ln>
          <a:effectLst/>
        </p:spPr>
        <p:txBody>
          <a:bodyPr vert="horz" wrap="square" lIns="228528" tIns="126960" rIns="9144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endParaRPr kumimoji="0" lang="en-GB" sz="2000" b="1" i="1" u="none" strike="noStrike" cap="none" normalizeH="0" baseline="0" dirty="0" smtClean="0">
              <a:ln>
                <a:noFill/>
              </a:ln>
              <a:solidFill>
                <a:srgbClr val="000000"/>
              </a:solidFill>
              <a:effectLst/>
              <a:latin typeface="Arial" pitchFamily="34" charset="0"/>
              <a:ea typeface="SimSun" pitchFamily="2" charset="-122"/>
              <a:cs typeface="Arial" pitchFamily="34" charset="0"/>
            </a:endParaRPr>
          </a:p>
          <a:p>
            <a:pPr marL="0" marR="0" lvl="0" indent="0" algn="just" defTabSz="914400" rtl="0" eaLnBrk="1" fontAlgn="base" latinLnBrk="0" hangingPunct="1">
              <a:lnSpc>
                <a:spcPct val="100000"/>
              </a:lnSpc>
              <a:spcBef>
                <a:spcPct val="0"/>
              </a:spcBef>
              <a:spcAft>
                <a:spcPct val="0"/>
              </a:spcAft>
              <a:buClrTx/>
              <a:buSzTx/>
              <a:tabLst/>
            </a:pPr>
            <a:r>
              <a:rPr kumimoji="0" lang="en-GB" sz="2000" b="1" u="none" strike="noStrike" cap="none" normalizeH="0" baseline="0" dirty="0" smtClean="0">
                <a:ln>
                  <a:noFill/>
                </a:ln>
                <a:solidFill>
                  <a:srgbClr val="000000"/>
                </a:solidFill>
                <a:effectLst/>
                <a:latin typeface="Arial" pitchFamily="34" charset="0"/>
                <a:ea typeface="SimSun" pitchFamily="2" charset="-122"/>
                <a:cs typeface="Arial" pitchFamily="34" charset="0"/>
              </a:rPr>
              <a:t>2. The 1503 (Complaints) Procedure of the HRC</a:t>
            </a:r>
          </a:p>
          <a:p>
            <a:pPr marL="0" marR="0" lvl="0" indent="0" algn="just" defTabSz="914400" rtl="0" eaLnBrk="1" fontAlgn="base" latinLnBrk="0" hangingPunct="1">
              <a:lnSpc>
                <a:spcPct val="100000"/>
              </a:lnSpc>
              <a:spcBef>
                <a:spcPct val="0"/>
              </a:spcBef>
              <a:spcAft>
                <a:spcPct val="0"/>
              </a:spcAft>
              <a:buClrTx/>
              <a:buSzTx/>
              <a:tabLst/>
            </a:pPr>
            <a:endParaRPr kumimoji="0" lang="en-GB" sz="2000" b="1"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1" i="1" u="none" strike="noStrike" cap="none" normalizeH="0" baseline="0" dirty="0" smtClean="0">
                <a:ln>
                  <a:noFill/>
                </a:ln>
                <a:solidFill>
                  <a:srgbClr val="000000"/>
                </a:solidFill>
                <a:effectLst/>
                <a:latin typeface="Arial" pitchFamily="34" charset="0"/>
                <a:ea typeface="SimSun" pitchFamily="2" charset="-122"/>
                <a:cs typeface="Arial" pitchFamily="34" charset="0"/>
              </a:rPr>
              <a:t> How does the complaint procedure work?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lvl="1" algn="just" eaLnBrk="0" fontAlgn="base" hangingPunct="0">
              <a:spcBef>
                <a:spcPct val="0"/>
              </a:spcBef>
              <a:spcAft>
                <a:spcPct val="0"/>
              </a:spcAft>
              <a:buFont typeface="Courier New" pitchFamily="49" charset="0"/>
              <a:buChar char="o"/>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Complaint Procedure is established to address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consistent</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patterns</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of</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gross</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and</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reliably attested</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violations of all HRs and fundamental freedoms occurring in any part of the world and under any circumstances.</a:t>
            </a:r>
          </a:p>
          <a:p>
            <a:pPr lvl="1" algn="just" eaLnBrk="0" fontAlgn="base" hangingPunct="0">
              <a:spcBef>
                <a:spcPct val="0"/>
              </a:spcBef>
              <a:spcAft>
                <a:spcPct val="0"/>
              </a:spcAft>
              <a:buFont typeface="Courier New" pitchFamily="49" charset="0"/>
              <a:buChar char="o"/>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Is</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confidential,</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with a view to enhancing cooperation with the state concerned.</a:t>
            </a:r>
          </a:p>
          <a:p>
            <a:pPr lvl="1" algn="just" eaLnBrk="0" fontAlgn="base" hangingPunct="0">
              <a:spcBef>
                <a:spcPct val="0"/>
              </a:spcBef>
              <a:spcAft>
                <a:spcPct val="0"/>
              </a:spcAft>
              <a:buFont typeface="Courier New" pitchFamily="49" charset="0"/>
              <a:buChar char="o"/>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Two distinct bodies: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Working Group on Communications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and </a:t>
            </a:r>
            <a:endPar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i="1" dirty="0" smtClean="0">
                <a:solidFill>
                  <a:srgbClr val="000000"/>
                </a:solidFill>
                <a:latin typeface="Arial" pitchFamily="34" charset="0"/>
                <a:ea typeface="Times New Roman" pitchFamily="18" charset="0"/>
                <a:cs typeface="Arial" pitchFamily="34" charset="0"/>
              </a:rPr>
              <a:t> t</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he Working Group on Situations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 have</a:t>
            </a:r>
            <a:r>
              <a:rPr kumimoji="0" lang="en-GB" sz="2000" b="0" i="0" u="none" strike="noStrike" cap="none" normalizeH="0" dirty="0" smtClean="0">
                <a:ln>
                  <a:noFill/>
                </a:ln>
                <a:solidFill>
                  <a:srgbClr val="000000"/>
                </a:solidFill>
                <a:effectLst/>
                <a:latin typeface="Arial" pitchFamily="34" charset="0"/>
                <a:ea typeface="Times New Roman" pitchFamily="18" charset="0"/>
                <a:cs typeface="Arial" pitchFamily="34" charset="0"/>
              </a:rPr>
              <a:t> been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established to examine communications and to bring to the attention of the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Council</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lang="en-GB" sz="2000"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36496" cy="5632311"/>
          </a:xfrm>
          <a:prstGeom prst="rect">
            <a:avLst/>
          </a:prstGeom>
        </p:spPr>
        <p:txBody>
          <a:bodyPr wrap="square">
            <a:spAutoFit/>
          </a:bodyPr>
          <a:lstStyle/>
          <a:p>
            <a:pPr lvl="1"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Manifestly ill-founded, anonymous communications screened out by the Chairperson of the Working Group on Communications.</a:t>
            </a:r>
          </a:p>
          <a:p>
            <a:pPr lvl="1" algn="just" eaLnBrk="0" fontAlgn="base" hangingPunct="0">
              <a:spcBef>
                <a:spcPct val="0"/>
              </a:spcBef>
              <a:spcAft>
                <a:spcPct val="0"/>
              </a:spcAft>
              <a:buFont typeface="Courier New" pitchFamily="49" charset="0"/>
              <a:buChar char="o"/>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Communications not rejected in the initial screening </a:t>
            </a:r>
            <a:r>
              <a:rPr lang="en-GB" sz="2000" i="1" dirty="0" smtClean="0">
                <a:solidFill>
                  <a:srgbClr val="000000"/>
                </a:solidFill>
                <a:latin typeface="Arial" pitchFamily="34" charset="0"/>
                <a:ea typeface="Times New Roman" pitchFamily="18" charset="0"/>
                <a:cs typeface="Arial" pitchFamily="34" charset="0"/>
              </a:rPr>
              <a:t>transmitted</a:t>
            </a:r>
            <a:r>
              <a:rPr lang="en-GB" sz="2000" dirty="0" smtClean="0">
                <a:solidFill>
                  <a:srgbClr val="000000"/>
                </a:solidFill>
                <a:latin typeface="Arial" pitchFamily="34" charset="0"/>
                <a:ea typeface="Times New Roman" pitchFamily="18" charset="0"/>
                <a:cs typeface="Arial" pitchFamily="34" charset="0"/>
              </a:rPr>
              <a:t> to the state concerned to obtain its views on the allegations.</a:t>
            </a:r>
          </a:p>
          <a:p>
            <a:pPr lvl="1" algn="just" eaLnBrk="0" fontAlgn="base" hangingPunct="0">
              <a:spcBef>
                <a:spcPct val="0"/>
              </a:spcBef>
              <a:spcAft>
                <a:spcPct val="0"/>
              </a:spcAft>
              <a:buFont typeface="Courier New" pitchFamily="49" charset="0"/>
              <a:buChar char="o"/>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i="1" dirty="0" smtClean="0">
                <a:solidFill>
                  <a:srgbClr val="000000"/>
                </a:solidFill>
                <a:latin typeface="Arial" pitchFamily="34" charset="0"/>
                <a:ea typeface="Times New Roman" pitchFamily="18" charset="0"/>
                <a:cs typeface="Arial" pitchFamily="34" charset="0"/>
              </a:rPr>
              <a:t> The Working Group on Communications</a:t>
            </a:r>
            <a:r>
              <a:rPr lang="en-GB" sz="2000" dirty="0" smtClean="0">
                <a:solidFill>
                  <a:srgbClr val="000000"/>
                </a:solidFill>
                <a:latin typeface="Arial" pitchFamily="34" charset="0"/>
                <a:ea typeface="Times New Roman" pitchFamily="18" charset="0"/>
                <a:cs typeface="Arial" pitchFamily="34" charset="0"/>
              </a:rPr>
              <a:t> (WGC) is designated by the Human Rights Council Advisory Committee from among its members, for three years. </a:t>
            </a:r>
          </a:p>
          <a:p>
            <a:pPr lvl="0" algn="just" eaLnBrk="0" fontAlgn="base" hangingPunct="0">
              <a:spcBef>
                <a:spcPct val="0"/>
              </a:spcBef>
              <a:spcAft>
                <a:spcPct val="0"/>
              </a:spcAft>
              <a:buFontTx/>
              <a:buChar char="•"/>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Consists of </a:t>
            </a:r>
            <a:r>
              <a:rPr lang="en-GB" sz="2000" b="1" i="1" dirty="0" smtClean="0">
                <a:solidFill>
                  <a:srgbClr val="000000"/>
                </a:solidFill>
                <a:latin typeface="Arial" pitchFamily="34" charset="0"/>
                <a:ea typeface="Times New Roman" pitchFamily="18" charset="0"/>
                <a:cs typeface="Arial" pitchFamily="34" charset="0"/>
              </a:rPr>
              <a:t>five</a:t>
            </a:r>
            <a:r>
              <a:rPr lang="en-GB" sz="2000" dirty="0" smtClean="0">
                <a:solidFill>
                  <a:srgbClr val="000000"/>
                </a:solidFill>
                <a:latin typeface="Arial" pitchFamily="34" charset="0"/>
                <a:ea typeface="Times New Roman" pitchFamily="18" charset="0"/>
                <a:cs typeface="Arial" pitchFamily="34" charset="0"/>
              </a:rPr>
              <a:t> independent and highly qualified experts and is geographically representative of regions. </a:t>
            </a:r>
          </a:p>
          <a:p>
            <a:pPr lvl="1" algn="just" eaLnBrk="0" fontAlgn="base" hangingPunct="0">
              <a:spcBef>
                <a:spcPct val="0"/>
              </a:spcBef>
              <a:spcAft>
                <a:spcPct val="0"/>
              </a:spcAft>
              <a:buFontTx/>
              <a:buChar char="•"/>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The WGC meets twice a year, for a period of five working days, to</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assess</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the</a:t>
            </a:r>
            <a:r>
              <a:rPr lang="en-GB" sz="2000" i="1"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admissibility and the merits </a:t>
            </a:r>
            <a:r>
              <a:rPr lang="en-GB" sz="2000" dirty="0" smtClean="0">
                <a:solidFill>
                  <a:srgbClr val="000000"/>
                </a:solidFill>
                <a:latin typeface="Arial" pitchFamily="34" charset="0"/>
                <a:ea typeface="Times New Roman" pitchFamily="18" charset="0"/>
                <a:cs typeface="Arial" pitchFamily="34" charset="0"/>
              </a:rPr>
              <a:t>of a</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communication.</a:t>
            </a:r>
          </a:p>
          <a:p>
            <a:pPr lvl="1" algn="just" eaLnBrk="0" fontAlgn="base" hangingPunct="0">
              <a:spcBef>
                <a:spcPct val="0"/>
              </a:spcBef>
              <a:spcAft>
                <a:spcPct val="0"/>
              </a:spcAft>
              <a:buFontTx/>
              <a:buChar char="•"/>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ChangeArrowheads="1"/>
          </p:cNvSpPr>
          <p:nvPr/>
        </p:nvSpPr>
        <p:spPr bwMode="auto">
          <a:xfrm>
            <a:off x="0" y="0"/>
            <a:ext cx="9144000" cy="5824988"/>
          </a:xfrm>
          <a:prstGeom prst="rect">
            <a:avLst/>
          </a:prstGeom>
          <a:noFill/>
          <a:ln w="9525">
            <a:noFill/>
            <a:miter lim="800000"/>
            <a:headEnd/>
            <a:tailEnd/>
          </a:ln>
          <a:effectLst/>
        </p:spPr>
        <p:txBody>
          <a:bodyPr vert="horz" wrap="square" lIns="228528" tIns="126960" rIns="9144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Working Group on Situations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(WGS) comprises </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five</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members, appointed by the regional groups from among the states member of the Council, for the period of one year.</a:t>
            </a:r>
          </a:p>
          <a:p>
            <a:pPr marL="0" marR="0" lvl="0" indent="0" algn="just" defTabSz="914400" rtl="0" eaLnBrk="1" fontAlgn="base" latinLnBrk="0" hangingPunct="1">
              <a:lnSpc>
                <a:spcPct val="100000"/>
              </a:lnSpc>
              <a:spcBef>
                <a:spcPct val="0"/>
              </a:spcBef>
              <a:spcAft>
                <a:spcPct val="0"/>
              </a:spcAft>
              <a:buClrTx/>
              <a:buSzTx/>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Meets twice a year, for a period of five working days</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Examines </a:t>
            </a: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communications transferred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to</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it by WGC</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2" algn="just" eaLnBrk="0" fontAlgn="base" hangingPunct="0">
              <a:spcBef>
                <a:spcPct val="0"/>
              </a:spcBef>
              <a:spcAft>
                <a:spcPct val="0"/>
              </a:spcAft>
              <a:buFontTx/>
              <a:buChar char="•"/>
            </a:pPr>
            <a:r>
              <a:rPr kumimoji="0" lang="en-GB" sz="2000" b="0" i="1"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as well as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situations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which</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Council is already seized of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under the complaint procedure</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1"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Presents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Council</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 report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on consistent patterns of ‘gross and reliably attested violations’ of human rights and makes</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recommendations</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on the course of action to take.</a:t>
            </a:r>
          </a:p>
          <a:p>
            <a:pPr lvl="1" algn="just" eaLnBrk="0" fontAlgn="base" hangingPunct="0">
              <a:spcBef>
                <a:spcPct val="0"/>
              </a:spcBef>
              <a:spcAft>
                <a:spcPct val="0"/>
              </a:spcAft>
              <a:buFontTx/>
              <a:buChar char="•"/>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Council may take a decision concerning each situation brought to its attention.</a:t>
            </a:r>
          </a:p>
          <a:p>
            <a:pPr lvl="1" algn="just" eaLnBrk="0" fontAlgn="base" hangingPunct="0">
              <a:spcBef>
                <a:spcPct val="0"/>
              </a:spcBef>
              <a:spcAft>
                <a:spcPct val="0"/>
              </a:spcAft>
              <a:buFontTx/>
              <a:buChar char="•"/>
            </a:pP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lvl="1" algn="just" eaLnBrk="0" fontAlgn="base" hangingPunct="0">
              <a:spcBef>
                <a:spcPct val="0"/>
              </a:spcBef>
              <a:spcAft>
                <a:spcPct val="0"/>
              </a:spcAft>
            </a:pP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940088"/>
          </a:xfrm>
          <a:prstGeom prst="rect">
            <a:avLst/>
          </a:prstGeom>
        </p:spPr>
        <p:txBody>
          <a:bodyPr wrap="square">
            <a:spAutoFit/>
          </a:bodyPr>
          <a:lstStyle/>
          <a:p>
            <a:pPr lvl="0" algn="just" eaLnBrk="0" fontAlgn="base" hangingPunct="0">
              <a:spcBef>
                <a:spcPct val="0"/>
              </a:spcBef>
              <a:spcAft>
                <a:spcPct val="0"/>
              </a:spcAft>
            </a:pPr>
            <a:endParaRPr lang="en-GB" sz="2000" b="1" dirty="0" smtClean="0">
              <a:solidFill>
                <a:srgbClr val="000000"/>
              </a:solidFill>
              <a:latin typeface="Arial" pitchFamily="34" charset="0"/>
              <a:ea typeface="SimSun" pitchFamily="2" charset="-122"/>
              <a:cs typeface="Arial" pitchFamily="34" charset="0"/>
            </a:endParaRPr>
          </a:p>
          <a:p>
            <a:pPr lvl="0" algn="just" eaLnBrk="0" fontAlgn="base" hangingPunct="0">
              <a:spcBef>
                <a:spcPct val="0"/>
              </a:spcBef>
              <a:spcAft>
                <a:spcPct val="0"/>
              </a:spcAft>
            </a:pPr>
            <a:r>
              <a:rPr lang="en-GB" sz="2000" b="1" dirty="0" smtClean="0">
                <a:solidFill>
                  <a:srgbClr val="000000"/>
                </a:solidFill>
                <a:latin typeface="Arial" pitchFamily="34" charset="0"/>
                <a:ea typeface="SimSun" pitchFamily="2" charset="-122"/>
                <a:cs typeface="Arial" pitchFamily="34" charset="0"/>
              </a:rPr>
              <a:t>Criteria for a communication to be accepted for examination</a:t>
            </a:r>
          </a:p>
          <a:p>
            <a:pPr lvl="0" algn="just" eaLnBrk="0" fontAlgn="base" hangingPunct="0">
              <a:spcBef>
                <a:spcPct val="0"/>
              </a:spcBef>
              <a:spcAft>
                <a:spcPct val="0"/>
              </a:spcAft>
              <a:buFontTx/>
              <a:buChar char="•"/>
            </a:pPr>
            <a:endParaRPr lang="en-GB" sz="2000" dirty="0" smtClean="0">
              <a:solidFill>
                <a:srgbClr val="243F60"/>
              </a:solidFill>
              <a:latin typeface="Arial" pitchFamily="34" charset="0"/>
              <a:ea typeface="SimSun" pitchFamily="2" charset="-122"/>
              <a:cs typeface="Arial" pitchFamily="34" charset="0"/>
            </a:endParaRPr>
          </a:p>
          <a:p>
            <a:pPr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No communication related to a violation of HRs and fundamental freedoms is admissible, if it is:</a:t>
            </a:r>
          </a:p>
          <a:p>
            <a:pPr lvl="1" algn="just" eaLnBrk="0" fontAlgn="base" hangingPunct="0">
              <a:spcBef>
                <a:spcPct val="0"/>
              </a:spcBef>
              <a:spcAft>
                <a:spcPct val="0"/>
              </a:spcAft>
              <a:buFontTx/>
              <a:buChar char="•"/>
            </a:pPr>
            <a:endParaRPr lang="en-GB" sz="2000" dirty="0" smtClean="0">
              <a:solidFill>
                <a:srgbClr val="000000"/>
              </a:solidFill>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Manifestly </a:t>
            </a:r>
            <a:r>
              <a:rPr lang="en-GB" sz="2000" i="1" dirty="0" smtClean="0">
                <a:solidFill>
                  <a:srgbClr val="000000"/>
                </a:solidFill>
                <a:latin typeface="Arial" pitchFamily="34" charset="0"/>
                <a:ea typeface="Times New Roman" pitchFamily="18" charset="0"/>
                <a:cs typeface="Arial" pitchFamily="34" charset="0"/>
              </a:rPr>
              <a:t>political</a:t>
            </a:r>
            <a:r>
              <a:rPr lang="en-GB" sz="2000" dirty="0" smtClean="0">
                <a:solidFill>
                  <a:srgbClr val="000000"/>
                </a:solidFill>
                <a:latin typeface="Arial" pitchFamily="34" charset="0"/>
                <a:ea typeface="Times New Roman" pitchFamily="18" charset="0"/>
                <a:cs typeface="Arial" pitchFamily="34" charset="0"/>
              </a:rPr>
              <a:t> </a:t>
            </a:r>
            <a:r>
              <a:rPr lang="en-GB" sz="2000" i="1" dirty="0" smtClean="0">
                <a:solidFill>
                  <a:srgbClr val="000000"/>
                </a:solidFill>
                <a:latin typeface="Arial" pitchFamily="34" charset="0"/>
                <a:ea typeface="Times New Roman" pitchFamily="18" charset="0"/>
                <a:cs typeface="Arial" pitchFamily="34" charset="0"/>
              </a:rPr>
              <a:t>motivations</a:t>
            </a:r>
            <a:r>
              <a:rPr lang="en-GB" sz="2000" dirty="0" smtClean="0">
                <a:solidFill>
                  <a:srgbClr val="000000"/>
                </a:solidFill>
                <a:latin typeface="Arial" pitchFamily="34" charset="0"/>
                <a:ea typeface="Times New Roman" pitchFamily="18" charset="0"/>
                <a:cs typeface="Arial" pitchFamily="34" charset="0"/>
              </a:rPr>
              <a:t> and</a:t>
            </a:r>
          </a:p>
          <a:p>
            <a:pPr lvl="2"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object </a:t>
            </a:r>
            <a:r>
              <a:rPr lang="en-GB" sz="2000" i="1" dirty="0" smtClean="0">
                <a:solidFill>
                  <a:srgbClr val="000000"/>
                </a:solidFill>
                <a:latin typeface="Arial" pitchFamily="34" charset="0"/>
                <a:ea typeface="Times New Roman" pitchFamily="18" charset="0"/>
                <a:cs typeface="Arial" pitchFamily="34" charset="0"/>
              </a:rPr>
              <a:t>inconsistent</a:t>
            </a:r>
            <a:r>
              <a:rPr lang="en-GB" sz="2000" dirty="0" smtClean="0">
                <a:solidFill>
                  <a:srgbClr val="000000"/>
                </a:solidFill>
                <a:latin typeface="Arial" pitchFamily="34" charset="0"/>
                <a:ea typeface="Times New Roman" pitchFamily="18" charset="0"/>
                <a:cs typeface="Arial" pitchFamily="34" charset="0"/>
              </a:rPr>
              <a:t> with the UN Charter, UDHR, and other instruments </a:t>
            </a:r>
          </a:p>
          <a:p>
            <a:pPr lvl="2" algn="just" eaLnBrk="0" fontAlgn="base" hangingPunct="0">
              <a:spcBef>
                <a:spcPct val="0"/>
              </a:spcBef>
              <a:spcAft>
                <a:spcPct val="0"/>
              </a:spcAft>
              <a:buFontTx/>
              <a:buChar char="•"/>
            </a:pPr>
            <a:endParaRPr lang="en-GB" sz="2000" dirty="0" smtClean="0">
              <a:solidFill>
                <a:srgbClr val="000000"/>
              </a:solidFill>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does not contain factual description of the alleged violations, including the rights which are alleged to be violated; </a:t>
            </a:r>
          </a:p>
          <a:p>
            <a:pPr lvl="2" algn="just" eaLnBrk="0" fontAlgn="base" hangingPunct="0">
              <a:spcBef>
                <a:spcPct val="0"/>
              </a:spcBef>
              <a:spcAft>
                <a:spcPct val="0"/>
              </a:spcAft>
              <a:buFontTx/>
              <a:buChar char="•"/>
            </a:pPr>
            <a:endParaRPr lang="en-GB" sz="2000" dirty="0" smtClean="0">
              <a:solidFill>
                <a:srgbClr val="000000"/>
              </a:solidFill>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language</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is</a:t>
            </a:r>
            <a:r>
              <a:rPr lang="en-GB" sz="2000" i="1" dirty="0" smtClean="0">
                <a:solidFill>
                  <a:srgbClr val="000000"/>
                </a:solidFill>
                <a:latin typeface="Arial" pitchFamily="34" charset="0"/>
                <a:ea typeface="Times New Roman" pitchFamily="18" charset="0"/>
                <a:cs typeface="Arial" pitchFamily="34" charset="0"/>
              </a:rPr>
              <a:t> abusive</a:t>
            </a:r>
          </a:p>
          <a:p>
            <a:pPr lvl="2" algn="just" eaLnBrk="0" fontAlgn="base" hangingPunct="0">
              <a:spcBef>
                <a:spcPct val="0"/>
              </a:spcBef>
              <a:spcAft>
                <a:spcPct val="0"/>
              </a:spcAft>
            </a:pPr>
            <a:endParaRPr lang="en-GB" sz="2000" dirty="0" smtClean="0">
              <a:solidFill>
                <a:srgbClr val="000000"/>
              </a:solidFill>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Is not submitted by a person </a:t>
            </a:r>
            <a:r>
              <a:rPr lang="en-GB" sz="2000" i="1" dirty="0" smtClean="0">
                <a:solidFill>
                  <a:srgbClr val="000000"/>
                </a:solidFill>
                <a:latin typeface="Arial" pitchFamily="34" charset="0"/>
                <a:ea typeface="Times New Roman" pitchFamily="18" charset="0"/>
                <a:cs typeface="Arial" pitchFamily="34" charset="0"/>
              </a:rPr>
              <a:t>claiming to be victim of violations</a:t>
            </a: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(Any person, NGOs </a:t>
            </a:r>
            <a:r>
              <a:rPr lang="en-GB" sz="2000" i="1" dirty="0" smtClean="0">
                <a:solidFill>
                  <a:srgbClr val="000000"/>
                </a:solidFill>
                <a:latin typeface="Arial" pitchFamily="34" charset="0"/>
                <a:ea typeface="Times New Roman" pitchFamily="18" charset="0"/>
                <a:cs typeface="Arial" pitchFamily="34" charset="0"/>
              </a:rPr>
              <a:t>acting in good faith</a:t>
            </a:r>
            <a:r>
              <a:rPr lang="en-GB" sz="2000" dirty="0" smtClean="0">
                <a:solidFill>
                  <a:srgbClr val="000000"/>
                </a:solidFill>
                <a:latin typeface="Arial" pitchFamily="34" charset="0"/>
                <a:ea typeface="Times New Roman" pitchFamily="18" charset="0"/>
                <a:cs typeface="Arial" pitchFamily="34" charset="0"/>
              </a:rPr>
              <a:t>, not resorting to 	politically 	motivated stands and </a:t>
            </a:r>
            <a:r>
              <a:rPr lang="en-GB" sz="2000" i="1" dirty="0" smtClean="0">
                <a:solidFill>
                  <a:srgbClr val="000000"/>
                </a:solidFill>
                <a:latin typeface="Arial" pitchFamily="34" charset="0"/>
                <a:ea typeface="Times New Roman" pitchFamily="18" charset="0"/>
                <a:cs typeface="Arial" pitchFamily="34" charset="0"/>
              </a:rPr>
              <a:t>claiming to have direct, reliable knowledge</a:t>
            </a:r>
            <a:r>
              <a:rPr lang="en-GB" sz="2000" dirty="0" smtClean="0">
                <a:solidFill>
                  <a:srgbClr val="000000"/>
                </a:solidFill>
                <a:latin typeface="Arial" pitchFamily="34" charset="0"/>
                <a:ea typeface="Times New Roman" pitchFamily="18" charset="0"/>
                <a:cs typeface="Arial" pitchFamily="34" charset="0"/>
              </a:rPr>
              <a:t> 	of violations may lodge)</a:t>
            </a: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ChangeArrowheads="1"/>
          </p:cNvSpPr>
          <p:nvPr/>
        </p:nvSpPr>
        <p:spPr bwMode="auto">
          <a:xfrm>
            <a:off x="0" y="0"/>
            <a:ext cx="9144000" cy="6741228"/>
          </a:xfrm>
          <a:prstGeom prst="rect">
            <a:avLst/>
          </a:prstGeom>
          <a:solidFill>
            <a:srgbClr val="FFFFFF"/>
          </a:solidFill>
          <a:ln w="9525">
            <a:noFill/>
            <a:miter lim="800000"/>
            <a:headEnd/>
            <a:tailEnd/>
          </a:ln>
          <a:effectLst/>
        </p:spPr>
        <p:txBody>
          <a:bodyPr vert="horz" wrap="square" lIns="228528" tIns="12696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(Knowledge of the individual author can be second-hand, provided they are accompanied by clear evidence)</a:t>
            </a:r>
          </a:p>
          <a:p>
            <a:pPr marL="0" marR="0" lvl="0" indent="0" algn="l"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It is exclusively based on reports disseminated by mass media; or</a:t>
            </a:r>
          </a:p>
          <a:p>
            <a:pPr marL="457200" marR="0" lvl="1"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Refer to violations already being dealt with by a special procedure, a treaty body or other UN or regional complaints procedure.</a:t>
            </a:r>
          </a:p>
          <a:p>
            <a:pPr marL="457200" marR="0" lvl="1"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domestic remedies have not been exhausted (unless ineffective or unreasonably prolonged</a:t>
            </a:r>
            <a:r>
              <a:rPr lang="en-GB" sz="2000" dirty="0" smtClean="0">
                <a:solidFill>
                  <a:srgbClr val="000000"/>
                </a:solidFill>
                <a:latin typeface="Arial" pitchFamily="34" charset="0"/>
                <a:ea typeface="Times New Roman" pitchFamily="18" charset="0"/>
                <a:cs typeface="Arial" pitchFamily="34" charset="0"/>
              </a:rPr>
              <a:t>)</a:t>
            </a:r>
            <a:endPar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lang="en-GB" sz="2000" i="1" dirty="0" smtClean="0">
                <a:solidFill>
                  <a:srgbClr val="000000"/>
                </a:solidFill>
                <a:latin typeface="Arial" pitchFamily="34" charset="0"/>
                <a:ea typeface="SimSun" pitchFamily="2" charset="-122"/>
                <a:cs typeface="Arial" pitchFamily="34" charset="0"/>
              </a:rPr>
              <a:t> </a:t>
            </a:r>
            <a:r>
              <a:rPr kumimoji="0" lang="en-GB" sz="2000" b="0" i="1" u="none" strike="noStrike" cap="none" normalizeH="0" baseline="0" dirty="0" smtClean="0">
                <a:ln>
                  <a:noFill/>
                </a:ln>
                <a:solidFill>
                  <a:srgbClr val="000000"/>
                </a:solidFill>
                <a:effectLst/>
                <a:latin typeface="Arial" pitchFamily="34" charset="0"/>
                <a:ea typeface="SimSun" pitchFamily="2" charset="-122"/>
                <a:cs typeface="Arial" pitchFamily="34" charset="0"/>
              </a:rPr>
              <a:t>Where to send communications?</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Communications intended for handling under the Council Complaint Procedure may be addressed to: </a:t>
            </a: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Human Rights Council and Treaties Division,</a:t>
            </a:r>
            <a:r>
              <a:rPr kumimoji="0" lang="en-GB" sz="2000" b="0" i="0" u="none" strike="noStrike" cap="none" normalizeH="0" dirty="0" smtClean="0">
                <a:ln>
                  <a:noFill/>
                </a:ln>
                <a:solidFill>
                  <a:srgbClr val="000000"/>
                </a:solidFill>
                <a:effectLst/>
                <a:latin typeface="Arial" pitchFamily="34" charset="0"/>
                <a:ea typeface="SimSun" pitchFamily="2" charset="-122"/>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Complaint Procedure</a:t>
            </a:r>
            <a:b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b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OHCHR-UNOG </a:t>
            </a:r>
            <a:b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b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1211 Geneva 10, Switzerland </a:t>
            </a:r>
            <a:b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b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Fax: (41 22) 917 90 11 ,</a:t>
            </a:r>
            <a:r>
              <a:rPr kumimoji="0" lang="en-GB" sz="2000" b="0" i="0" u="none" strike="noStrike" cap="none" normalizeH="0" dirty="0" smtClean="0">
                <a:ln>
                  <a:noFill/>
                </a:ln>
                <a:solidFill>
                  <a:srgbClr val="000000"/>
                </a:solidFill>
                <a:effectLst/>
                <a:latin typeface="Arial" pitchFamily="34" charset="0"/>
                <a:ea typeface="SimSun" pitchFamily="2" charset="-122"/>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E-mail: </a:t>
            </a: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hlinkClick r:id="rId3"/>
              </a:rPr>
              <a:t>CP@ohchr.org</a:t>
            </a:r>
            <a:r>
              <a:rPr lang="en-GB" sz="2000" dirty="0" smtClean="0">
                <a:solidFill>
                  <a:srgbClr val="243F60"/>
                </a:solidFill>
                <a:latin typeface="Arial" pitchFamily="34" charset="0"/>
                <a:ea typeface="SimSun" pitchFamily="2" charset="-122"/>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1" u="none" strike="noStrike" cap="none" normalizeH="0" baseline="0" dirty="0" smtClean="0">
                <a:ln>
                  <a:noFill/>
                </a:ln>
                <a:solidFill>
                  <a:srgbClr val="000000"/>
                </a:solidFill>
                <a:effectLst/>
                <a:latin typeface="Arial" pitchFamily="34" charset="0"/>
                <a:ea typeface="SimSun" pitchFamily="2" charset="-122"/>
                <a:cs typeface="Arial" pitchFamily="34" charset="0"/>
              </a:rPr>
              <a:t>Communications</a:t>
            </a: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200851"/>
            <a:ext cx="9144000" cy="5945177"/>
          </a:xfrm>
          <a:prstGeom prst="rect">
            <a:avLst/>
          </a:prstGeom>
          <a:solidFill>
            <a:srgbClr val="FFFFFF"/>
          </a:solidFill>
          <a:ln w="9525">
            <a:noFill/>
            <a:miter lim="800000"/>
            <a:headEnd/>
            <a:tailEnd/>
          </a:ln>
          <a:effectLst/>
        </p:spPr>
        <p:txBody>
          <a:bodyPr vert="horz" wrap="square" lIns="228528" tIns="12696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3. The Universal Periodic Review</a:t>
            </a:r>
          </a:p>
          <a:p>
            <a:pPr marL="0" marR="0" lvl="0" indent="0" algn="l" defTabSz="914400" rtl="0" eaLnBrk="1" fontAlgn="base" latinLnBrk="0" hangingPunct="1">
              <a:lnSpc>
                <a:spcPct val="100000"/>
              </a:lnSpc>
              <a:spcBef>
                <a:spcPct val="0"/>
              </a:spcBef>
              <a:spcAft>
                <a:spcPct val="0"/>
              </a:spcAft>
              <a:buClrTx/>
              <a:buSzTx/>
              <a:tabLs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Universal Periodic Review (UPR) is a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unique process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which involves a review of the human rights records of all 192 UN Member States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once every four years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1"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Was created through the UN General Assembly on 15 March 2006, by resolution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hlinkClick r:id="rId3"/>
              </a:rPr>
              <a:t>60/251</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1"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Is a state-driven process, under the auspices of the HRC</a:t>
            </a:r>
          </a:p>
          <a:p>
            <a:pPr lvl="1" eaLnBrk="0" fontAlgn="base" hangingPunct="0">
              <a:spcBef>
                <a:spcPct val="0"/>
              </a:spcBef>
              <a:spcAft>
                <a:spcPct val="0"/>
              </a:spcAft>
              <a:buFontTx/>
              <a:buChar char="•"/>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Provides opportunity for each state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to declare what actions they have taken to improve the human rights situations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their countries.</a:t>
            </a:r>
          </a:p>
          <a:p>
            <a:pPr lvl="1" algn="just" eaLnBrk="0" fontAlgn="base" hangingPunct="0">
              <a:spcBef>
                <a:spcPct val="0"/>
              </a:spcBef>
              <a:spcAft>
                <a:spcPct val="0"/>
              </a:spcAf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Is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 cooperative process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which, by 2011, will have reviewed the human rights records of every country </a:t>
            </a:r>
          </a:p>
          <a:p>
            <a:pPr lvl="1" algn="just" eaLnBrk="0" fontAlgn="base" hangingPunct="0">
              <a:spcBef>
                <a:spcPct val="0"/>
              </a:spcBef>
              <a:spcAft>
                <a:spcPct val="0"/>
              </a:spcAft>
              <a:buFontTx/>
              <a:buChar char="•"/>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Currently, no other universal mechanism of this kind exists. </a:t>
            </a: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noChangeArrowheads="1"/>
          </p:cNvSpPr>
          <p:nvPr/>
        </p:nvSpPr>
        <p:spPr bwMode="auto">
          <a:xfrm>
            <a:off x="107504" y="89739"/>
            <a:ext cx="9036496" cy="634019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GB" sz="2000" b="1" dirty="0" smtClean="0">
                <a:latin typeface="Arial" pitchFamily="34" charset="0"/>
                <a:ea typeface="Times New Roman"/>
                <a:cs typeface="Arial" pitchFamily="34" charset="0"/>
              </a:rPr>
              <a:t>Treaty-based bodies: rights and monitoring mechanisms</a:t>
            </a:r>
          </a:p>
          <a:p>
            <a:pPr algn="just" fontAlgn="base">
              <a:spcBef>
                <a:spcPct val="0"/>
              </a:spcBef>
              <a:spcAft>
                <a:spcPct val="0"/>
              </a:spcAft>
            </a:pPr>
            <a:endParaRPr lang="en-GB" sz="2000" b="1" i="1" dirty="0" smtClean="0">
              <a:latin typeface="Arial" pitchFamily="34" charset="0"/>
              <a:ea typeface="Times New Roman"/>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There are nine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3"/>
              </a:rPr>
              <a:t>core international human rights treaties</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ten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HRs treaty bodies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Treaty bodies are created in accordance with provisions of the treaty that they monitor.</a:t>
            </a:r>
          </a:p>
          <a:p>
            <a:pPr marL="457200" marR="0" lvl="1" indent="0" algn="just" defTabSz="914400" rtl="0" eaLnBrk="0" fontAlgn="base" latinLnBrk="0" hangingPunct="0">
              <a:lnSpc>
                <a:spcPct val="100000"/>
              </a:lnSpc>
              <a:spcBef>
                <a:spcPct val="0"/>
              </a:spcBef>
              <a:spcAft>
                <a:spcPct val="0"/>
              </a:spcAft>
              <a:buClrTx/>
              <a:buSzTx/>
              <a:tabLst/>
            </a:pPr>
            <a:endParaRPr kumimoji="0" lang="en-GB"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342900" lvl="0" indent="-342900" algn="just">
              <a:buFont typeface="Symbol"/>
              <a:buChar char=""/>
            </a:pPr>
            <a:r>
              <a:rPr lang="en-GB" dirty="0" smtClean="0">
                <a:latin typeface="Arial" pitchFamily="34" charset="0"/>
                <a:ea typeface="Times New Roman"/>
                <a:cs typeface="Arial" pitchFamily="34" charset="0"/>
              </a:rPr>
              <a:t>There are </a:t>
            </a:r>
            <a:r>
              <a:rPr lang="en-GB" i="1" dirty="0" smtClean="0">
                <a:latin typeface="Arial" pitchFamily="34" charset="0"/>
                <a:ea typeface="Times New Roman"/>
                <a:cs typeface="Arial" pitchFamily="34" charset="0"/>
              </a:rPr>
              <a:t>ten human rights treaty bodies</a:t>
            </a:r>
            <a:r>
              <a:rPr lang="en-GB" dirty="0" smtClean="0">
                <a:latin typeface="Arial" pitchFamily="34" charset="0"/>
                <a:ea typeface="Times New Roman"/>
                <a:cs typeface="Arial" pitchFamily="34" charset="0"/>
              </a:rPr>
              <a:t>…</a:t>
            </a:r>
          </a:p>
          <a:p>
            <a:pPr marL="342900" lvl="0" indent="-342900" algn="just">
              <a:lnSpc>
                <a:spcPct val="150000"/>
              </a:lnSpc>
              <a:buSzPts val="1000"/>
              <a:tabLst>
                <a:tab pos="457200" algn="l"/>
              </a:tabLst>
            </a:pPr>
            <a:r>
              <a:rPr lang="en-GB" dirty="0" smtClean="0">
                <a:solidFill>
                  <a:srgbClr val="4488CC"/>
                </a:solidFill>
                <a:latin typeface="Arial" pitchFamily="34" charset="0"/>
                <a:ea typeface="Times New Roman"/>
                <a:cs typeface="Arial" pitchFamily="34" charset="0"/>
                <a:hlinkClick r:id="rId4"/>
              </a:rPr>
              <a:t>1. Human Rights Committee</a:t>
            </a:r>
            <a:r>
              <a:rPr lang="en-GB" dirty="0" smtClean="0">
                <a:latin typeface="Arial" pitchFamily="34" charset="0"/>
                <a:ea typeface="Times New Roman"/>
                <a:cs typeface="Arial" pitchFamily="34" charset="0"/>
              </a:rPr>
              <a:t> (CCPR)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2. </a:t>
            </a:r>
            <a:r>
              <a:rPr lang="en-GB" dirty="0" smtClean="0">
                <a:solidFill>
                  <a:srgbClr val="4488CC"/>
                </a:solidFill>
                <a:latin typeface="Arial" pitchFamily="34" charset="0"/>
                <a:ea typeface="Times New Roman"/>
                <a:cs typeface="Arial" pitchFamily="34" charset="0"/>
                <a:hlinkClick r:id="rId5"/>
              </a:rPr>
              <a:t>Committee on Economic, Social and Cultural Rights</a:t>
            </a:r>
            <a:r>
              <a:rPr lang="en-GB" dirty="0" smtClean="0">
                <a:latin typeface="Arial" pitchFamily="34" charset="0"/>
                <a:ea typeface="Times New Roman"/>
                <a:cs typeface="Arial" pitchFamily="34" charset="0"/>
              </a:rPr>
              <a:t> (CESCR)</a:t>
            </a:r>
          </a:p>
          <a:p>
            <a:pPr marL="342900" lvl="0" indent="-342900" algn="just">
              <a:lnSpc>
                <a:spcPct val="150000"/>
              </a:lnSpc>
              <a:buSzPts val="1000"/>
              <a:tabLst>
                <a:tab pos="457200" algn="l"/>
              </a:tabLst>
            </a:pPr>
            <a:r>
              <a:rPr lang="en-GB" dirty="0" smtClean="0">
                <a:solidFill>
                  <a:srgbClr val="4488CC"/>
                </a:solidFill>
                <a:latin typeface="Arial" pitchFamily="34" charset="0"/>
                <a:ea typeface="Times New Roman"/>
                <a:cs typeface="Arial" pitchFamily="34" charset="0"/>
                <a:hlinkClick r:id="rId6"/>
              </a:rPr>
              <a:t>3. Committee on the Elimination of Racial Discrimination</a:t>
            </a:r>
            <a:r>
              <a:rPr lang="en-GB" dirty="0" smtClean="0">
                <a:latin typeface="Arial" pitchFamily="34" charset="0"/>
                <a:ea typeface="Times New Roman"/>
                <a:cs typeface="Arial" pitchFamily="34" charset="0"/>
              </a:rPr>
              <a:t> (CERD)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4. </a:t>
            </a:r>
            <a:r>
              <a:rPr lang="en-GB" dirty="0" smtClean="0">
                <a:solidFill>
                  <a:srgbClr val="4488CC"/>
                </a:solidFill>
                <a:latin typeface="Arial" pitchFamily="34" charset="0"/>
                <a:ea typeface="Times New Roman"/>
                <a:cs typeface="Arial" pitchFamily="34" charset="0"/>
                <a:hlinkClick r:id="rId7"/>
              </a:rPr>
              <a:t>Committee on the Elimination of Discrimination against Women</a:t>
            </a:r>
            <a:r>
              <a:rPr lang="en-GB" dirty="0" smtClean="0">
                <a:latin typeface="Arial" pitchFamily="34" charset="0"/>
                <a:ea typeface="Times New Roman"/>
                <a:cs typeface="Arial" pitchFamily="34" charset="0"/>
              </a:rPr>
              <a:t> (CEDAW)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5. </a:t>
            </a:r>
            <a:r>
              <a:rPr lang="en-GB" dirty="0" smtClean="0">
                <a:solidFill>
                  <a:srgbClr val="4488CC"/>
                </a:solidFill>
                <a:latin typeface="Arial" pitchFamily="34" charset="0"/>
                <a:ea typeface="Times New Roman"/>
                <a:cs typeface="Arial" pitchFamily="34" charset="0"/>
                <a:hlinkClick r:id="rId8"/>
              </a:rPr>
              <a:t>Committee against Torture</a:t>
            </a:r>
            <a:r>
              <a:rPr lang="en-GB" dirty="0" smtClean="0">
                <a:latin typeface="Arial" pitchFamily="34" charset="0"/>
                <a:ea typeface="Times New Roman"/>
                <a:cs typeface="Arial" pitchFamily="34" charset="0"/>
              </a:rPr>
              <a:t> (CAT)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6. </a:t>
            </a:r>
            <a:r>
              <a:rPr lang="en-GB" dirty="0" smtClean="0">
                <a:solidFill>
                  <a:srgbClr val="4488CC"/>
                </a:solidFill>
                <a:latin typeface="Arial" pitchFamily="34" charset="0"/>
                <a:ea typeface="Times New Roman"/>
                <a:cs typeface="Arial" pitchFamily="34" charset="0"/>
                <a:hlinkClick r:id="rId9"/>
              </a:rPr>
              <a:t>Subcommittee on Prevention of Torture</a:t>
            </a:r>
            <a:r>
              <a:rPr lang="en-GB" dirty="0" smtClean="0">
                <a:latin typeface="Arial" pitchFamily="34" charset="0"/>
                <a:ea typeface="Times New Roman"/>
                <a:cs typeface="Arial" pitchFamily="34" charset="0"/>
              </a:rPr>
              <a:t> (SPT)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7. </a:t>
            </a:r>
            <a:r>
              <a:rPr lang="en-GB" dirty="0" smtClean="0">
                <a:solidFill>
                  <a:srgbClr val="4488CC"/>
                </a:solidFill>
                <a:latin typeface="Arial" pitchFamily="34" charset="0"/>
                <a:ea typeface="Times New Roman"/>
                <a:cs typeface="Arial" pitchFamily="34" charset="0"/>
                <a:hlinkClick r:id="rId10"/>
              </a:rPr>
              <a:t>Committee on the Rights of the Child</a:t>
            </a:r>
            <a:r>
              <a:rPr lang="en-GB" dirty="0" smtClean="0">
                <a:latin typeface="Arial" pitchFamily="34" charset="0"/>
                <a:ea typeface="Times New Roman"/>
                <a:cs typeface="Arial" pitchFamily="34" charset="0"/>
              </a:rPr>
              <a:t> (CRC) </a:t>
            </a:r>
          </a:p>
          <a:p>
            <a:pPr marL="342900" lvl="0" indent="-342900" algn="just">
              <a:lnSpc>
                <a:spcPct val="150000"/>
              </a:lnSpc>
              <a:buSzPts val="1000"/>
              <a:tabLst>
                <a:tab pos="457200" algn="l"/>
              </a:tabLst>
            </a:pPr>
            <a:r>
              <a:rPr lang="en-GB" dirty="0" smtClean="0">
                <a:solidFill>
                  <a:srgbClr val="4488CC"/>
                </a:solidFill>
                <a:latin typeface="Arial" pitchFamily="34" charset="0"/>
                <a:ea typeface="Times New Roman"/>
                <a:cs typeface="Arial" pitchFamily="34" charset="0"/>
                <a:hlinkClick r:id="rId11"/>
              </a:rPr>
              <a:t>8. Committee on Migrant Workers</a:t>
            </a:r>
            <a:r>
              <a:rPr lang="en-GB" dirty="0" smtClean="0">
                <a:latin typeface="Arial" pitchFamily="34" charset="0"/>
                <a:ea typeface="Times New Roman"/>
                <a:cs typeface="Arial" pitchFamily="34" charset="0"/>
              </a:rPr>
              <a:t> (CMW)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9. </a:t>
            </a:r>
            <a:r>
              <a:rPr lang="en-GB" dirty="0" smtClean="0">
                <a:solidFill>
                  <a:srgbClr val="4488CC"/>
                </a:solidFill>
                <a:latin typeface="Arial" pitchFamily="34" charset="0"/>
                <a:ea typeface="Times New Roman"/>
                <a:cs typeface="Arial" pitchFamily="34" charset="0"/>
                <a:hlinkClick r:id="rId12" tooltip="Committee on the Rights of Persons with Disabilities"/>
              </a:rPr>
              <a:t>Committee on the Rights of Persons with Disabilities</a:t>
            </a:r>
            <a:r>
              <a:rPr lang="en-GB" dirty="0" smtClean="0">
                <a:latin typeface="Arial" pitchFamily="34" charset="0"/>
                <a:ea typeface="Times New Roman"/>
                <a:cs typeface="Arial" pitchFamily="34" charset="0"/>
              </a:rPr>
              <a:t> (CRPD) </a:t>
            </a:r>
          </a:p>
          <a:p>
            <a:pPr marL="342900" lvl="0" indent="-342900" algn="just">
              <a:lnSpc>
                <a:spcPct val="150000"/>
              </a:lnSpc>
              <a:buSzPts val="1000"/>
              <a:tabLst>
                <a:tab pos="457200" algn="l"/>
              </a:tabLst>
            </a:pPr>
            <a:r>
              <a:rPr lang="en-GB" dirty="0" smtClean="0">
                <a:latin typeface="Arial" pitchFamily="34" charset="0"/>
                <a:ea typeface="Times New Roman"/>
                <a:cs typeface="Arial" pitchFamily="34" charset="0"/>
              </a:rPr>
              <a:t>10. </a:t>
            </a:r>
            <a:r>
              <a:rPr lang="en-GB" dirty="0" smtClean="0">
                <a:solidFill>
                  <a:srgbClr val="000000"/>
                </a:solidFill>
                <a:latin typeface="Arial" pitchFamily="34" charset="0"/>
                <a:ea typeface="Times New Roman"/>
                <a:cs typeface="Arial" pitchFamily="34" charset="0"/>
                <a:hlinkClick r:id="rId13" tooltip="Committee on Enforced Disappearance"/>
              </a:rPr>
              <a:t>Committee on Enforced Disappearance</a:t>
            </a:r>
            <a:r>
              <a:rPr lang="en-GB" dirty="0" smtClean="0">
                <a:solidFill>
                  <a:srgbClr val="000000"/>
                </a:solidFill>
                <a:latin typeface="Arial" pitchFamily="34" charset="0"/>
                <a:ea typeface="Times New Roman"/>
                <a:cs typeface="Arial" pitchFamily="34" charset="0"/>
              </a:rPr>
              <a:t> (CED)</a:t>
            </a:r>
            <a:r>
              <a:rPr kumimoji="0" lang="en-GB" sz="12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ChangeArrowheads="1"/>
          </p:cNvSpPr>
          <p:nvPr/>
        </p:nvSpPr>
        <p:spPr bwMode="auto">
          <a:xfrm>
            <a:off x="0" y="-781431"/>
            <a:ext cx="9144000" cy="5893921"/>
          </a:xfrm>
          <a:prstGeom prst="rect">
            <a:avLst/>
          </a:prstGeom>
          <a:solidFill>
            <a:srgbClr val="FFFFFF"/>
          </a:solidFill>
          <a:ln w="9525">
            <a:noFill/>
            <a:miter lim="800000"/>
            <a:headEnd/>
            <a:tailEnd/>
          </a:ln>
          <a:effec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There are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other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3"/>
              </a:rPr>
              <a:t>United Nations bodies and entities</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involved in the promotion and protection of human rights. </a:t>
            </a: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1"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Common Complaints Procedures of human rights bodies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Three main procedures for bringing complaints of violations before the human rights treaty bodies are:</a:t>
            </a:r>
          </a:p>
          <a:p>
            <a:pPr marL="0" marR="0" lvl="0" indent="0" algn="l"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4"/>
              </a:rPr>
              <a:t> Individual communications</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4"/>
              </a:rPr>
              <a:t> state-to-state complaints</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4"/>
              </a:rPr>
              <a:t> inquiries</a:t>
            </a:r>
            <a:r>
              <a:rPr kumimoji="0" lang="en-GB" sz="2000" b="0" i="0" u="none" strike="noStrike" cap="none" normalizeH="0" baseline="0" dirty="0" smtClean="0">
                <a:ln>
                  <a:noFill/>
                </a:ln>
                <a:solidFill>
                  <a:schemeClr val="tx1"/>
                </a:solidFill>
                <a:effectLst/>
                <a:latin typeface="Arial"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lang="en-GB" sz="2000" dirty="0" smtClean="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lang="en-GB" sz="2000" dirty="0" smtClean="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lang="en-GB" sz="2000" dirty="0" smtClean="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nb-NO" sz="2000" dirty="0" smtClean="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p:cNvSpPr>
            <a:spLocks noChangeArrowheads="1"/>
          </p:cNvSpPr>
          <p:nvPr/>
        </p:nvSpPr>
        <p:spPr bwMode="auto">
          <a:xfrm>
            <a:off x="0" y="69472"/>
            <a:ext cx="9144000" cy="6899284"/>
          </a:xfrm>
          <a:prstGeom prst="rect">
            <a:avLst/>
          </a:prstGeom>
          <a:solidFill>
            <a:srgbClr val="FFFFFF"/>
          </a:solidFill>
          <a:ln w="9525">
            <a:noFill/>
            <a:miter lim="800000"/>
            <a:headEnd/>
            <a:tailEnd/>
          </a:ln>
          <a:effectLst/>
        </p:spPr>
        <p:txBody>
          <a:bodyPr vert="horz" wrap="square" lIns="228528" tIns="126960" rIns="91440" bIns="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Tx/>
              <a:buSzTx/>
              <a:buAutoNum type="arabicPeriod"/>
              <a:tabLst>
                <a:tab pos="768350" algn="l"/>
              </a:tabLst>
            </a:pPr>
            <a:r>
              <a:rPr kumimoji="0" lang="en-GB" sz="2000" b="1" i="0" u="none" strike="noStrike" cap="none" normalizeH="0" baseline="0" dirty="0" smtClean="0">
                <a:ln>
                  <a:noFill/>
                </a:ln>
                <a:solidFill>
                  <a:schemeClr val="tx1"/>
                </a:solidFill>
                <a:effectLst/>
                <a:latin typeface="Arial" pitchFamily="34" charset="0"/>
                <a:ea typeface="SimSun" pitchFamily="2" charset="-122"/>
                <a:cs typeface="Arial" pitchFamily="34" charset="0"/>
              </a:rPr>
              <a:t>The Human Rights Committee HRC</a:t>
            </a:r>
          </a:p>
          <a:p>
            <a:pPr marL="457200" marR="0" lvl="0" indent="-457200" algn="just" defTabSz="914400" rtl="0" eaLnBrk="1" fontAlgn="base" latinLnBrk="0" hangingPunct="1">
              <a:lnSpc>
                <a:spcPct val="100000"/>
              </a:lnSpc>
              <a:spcBef>
                <a:spcPct val="0"/>
              </a:spcBef>
              <a:spcAft>
                <a:spcPct val="0"/>
              </a:spcAft>
              <a:buClrTx/>
              <a:buSzTx/>
              <a:tabLst>
                <a:tab pos="768350" algn="l"/>
              </a:tabLst>
            </a:pPr>
            <a:endParaRPr kumimoji="0" lang="en-GB" sz="2000" b="1" i="0" u="none" strike="noStrike" cap="none" normalizeH="0" baseline="0" dirty="0" smtClean="0">
              <a:ln>
                <a:noFill/>
              </a:ln>
              <a:solidFill>
                <a:schemeClr val="tx1"/>
              </a:solidFill>
              <a:effectLst/>
              <a:latin typeface="Arial" pitchFamily="34" charset="0"/>
              <a:ea typeface="SimSun" pitchFamily="2" charset="-122"/>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3"/>
              </a:rPr>
              <a:t> International Covenant on Civil and Political Rights -1966</a:t>
            </a: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4"/>
              </a:rPr>
              <a:t> Optional Protocol to the International Covenant on Civil and Political Rights</a:t>
            </a: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5"/>
              </a:rPr>
              <a:t> 2</a:t>
            </a:r>
            <a:r>
              <a:rPr lang="en-GB" sz="2000" baseline="30000" dirty="0" smtClean="0">
                <a:latin typeface="Arial" pitchFamily="34" charset="0"/>
                <a:ea typeface="Times New Roman" pitchFamily="18" charset="0"/>
                <a:cs typeface="Arial" pitchFamily="34" charset="0"/>
                <a:hlinkClick r:id="rId5"/>
              </a:rPr>
              <a:t>nd</a:t>
            </a: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5"/>
              </a:rPr>
              <a:t> Optional Protocol to ICCPR aiming at the abolition of the death penalty</a:t>
            </a: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tab pos="768350" algn="l"/>
              </a:tabLst>
            </a:pP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algn="just" eaLnBrk="0" fontAlgn="base" hangingPunct="0">
              <a:spcBef>
                <a:spcPct val="0"/>
              </a:spcBef>
              <a:spcAft>
                <a:spcPct val="0"/>
              </a:spcAft>
              <a:buFont typeface="Courier New" pitchFamily="49" charset="0"/>
              <a:buChar char="o"/>
              <a:tabLst>
                <a:tab pos="768350"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Important rights: right to self determination, right to life, freedom from torture, cruel and degrading treatment, from slavery, right to liberty and security of person, freedom of movement, right to fair and public trial, right to privacy</a:t>
            </a:r>
            <a:r>
              <a:rPr lang="en-GB" sz="2000" dirty="0" smtClean="0">
                <a:latin typeface="Arial" pitchFamily="34" charset="0"/>
                <a:ea typeface="Times New Roman" pitchFamily="18" charset="0"/>
                <a:cs typeface="Arial" pitchFamily="34" charset="0"/>
              </a:rPr>
              <a:t>....</a:t>
            </a: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algn="just" eaLnBrk="0" fontAlgn="base" hangingPunct="0">
              <a:spcBef>
                <a:spcPct val="0"/>
              </a:spcBef>
              <a:spcAft>
                <a:spcPct val="0"/>
              </a:spcAft>
              <a:tabLst>
                <a:tab pos="768350" algn="l"/>
              </a:tabLst>
            </a:pP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a:t>
            </a:r>
            <a:r>
              <a:rPr kumimoji="0" lang="en-GB" sz="2000" b="1" i="0" u="none" strike="noStrike" cap="none" normalizeH="0" baseline="0" dirty="0" smtClean="0">
                <a:ln>
                  <a:noFill/>
                </a:ln>
                <a:effectLst/>
                <a:latin typeface="Arial" pitchFamily="34" charset="0"/>
                <a:ea typeface="Times New Roman" pitchFamily="18" charset="0"/>
                <a:cs typeface="Arial" pitchFamily="34" charset="0"/>
              </a:rPr>
              <a:t>The Human Rights Committee</a:t>
            </a: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a body of </a:t>
            </a: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6"/>
              </a:rPr>
              <a:t>independent experts</a:t>
            </a: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that monitors implementation of the ICCPR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by its State parties. </a:t>
            </a:r>
          </a:p>
          <a:p>
            <a:pPr lvl="1" algn="just" eaLnBrk="0" fontAlgn="base" hangingPunct="0">
              <a:spcBef>
                <a:spcPct val="0"/>
              </a:spcBef>
              <a:spcAft>
                <a:spcPct val="0"/>
              </a:spcAft>
              <a:buFontTx/>
              <a:buChar char="•"/>
              <a:tabLst>
                <a:tab pos="768350" algn="l"/>
              </a:tabLst>
            </a:pPr>
            <a:r>
              <a:rPr lang="en-GB" sz="2000" dirty="0" smtClean="0">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HRC is composed of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18 independent experts</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tabLst>
                <a:tab pos="768350" algn="l"/>
              </a:tabLst>
            </a:pPr>
            <a:r>
              <a:rPr lang="en-GB" sz="2000" dirty="0" smtClean="0">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ICCPR Convention adopted and opened for signature, ratification,</a:t>
            </a:r>
            <a:r>
              <a:rPr kumimoji="0" lang="en-GB"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accession by GA Resolution 2200A (XXI) of 16 December 1966</a:t>
            </a:r>
          </a:p>
          <a:p>
            <a:pPr lvl="1" algn="just" eaLnBrk="0" fontAlgn="base" hangingPunct="0">
              <a:spcBef>
                <a:spcPct val="0"/>
              </a:spcBef>
              <a:spcAft>
                <a:spcPct val="0"/>
              </a:spcAft>
              <a:buFontTx/>
              <a:buChar char="•"/>
              <a:tabLst>
                <a:tab pos="768350" algn="l"/>
              </a:tabLst>
            </a:pPr>
            <a:r>
              <a:rPr lang="en-GB" sz="2000" dirty="0" smtClean="0">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Entered into force 23 March 1976.</a:t>
            </a:r>
          </a:p>
          <a:p>
            <a:pPr lvl="1" algn="just" eaLnBrk="0" fontAlgn="base" hangingPunct="0">
              <a:spcBef>
                <a:spcPct val="0"/>
              </a:spcBef>
              <a:spcAft>
                <a:spcPct val="0"/>
              </a:spcAft>
              <a:tabLst>
                <a:tab pos="768350"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indent="-457200" algn="just" eaLnBrk="0" fontAlgn="base" hangingPunct="0">
              <a:spcBef>
                <a:spcPct val="0"/>
              </a:spcBef>
              <a:spcAft>
                <a:spcPct val="0"/>
              </a:spcAft>
              <a:buAutoNum type="arabicPeriod"/>
              <a:tabLst>
                <a:tab pos="768350" algn="l"/>
              </a:tabLst>
            </a:pPr>
            <a:r>
              <a:rPr kumimoji="0" lang="en-GB" sz="2000" b="1"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Reporting obligation </a:t>
            </a:r>
          </a:p>
          <a:p>
            <a:pPr marL="457200" indent="-457200" algn="just" eaLnBrk="0" fontAlgn="base" hangingPunct="0">
              <a:spcBef>
                <a:spcPct val="0"/>
              </a:spcBef>
              <a:spcAft>
                <a:spcPct val="0"/>
              </a:spcAft>
              <a:tabLst>
                <a:tab pos="768350"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tabLst>
                <a:tab pos="768350" algn="l"/>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All states parties submit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regular</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reports</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on how rights are implemented.</a:t>
            </a:r>
          </a:p>
          <a:p>
            <a:pPr lvl="0" algn="just" eaLnBrk="0" fontAlgn="base" hangingPunct="0">
              <a:spcBef>
                <a:spcPct val="0"/>
              </a:spcBef>
              <a:spcAft>
                <a:spcPct val="0"/>
              </a:spcAft>
              <a:buFontTx/>
              <a:buChar char="•"/>
              <a:tabLst>
                <a:tab pos="768350" algn="l"/>
              </a:tabLst>
            </a:pPr>
            <a:r>
              <a:rPr lang="en-GB" sz="2000" dirty="0" smtClean="0">
                <a:latin typeface="Arial" pitchFamily="34" charset="0"/>
                <a:cs typeface="Arial" pitchFamily="34" charset="0"/>
              </a:rPr>
              <a:t> States must report initially one year after acceding, then every four years.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88641"/>
            <a:ext cx="8784976" cy="6247864"/>
          </a:xfrm>
          <a:prstGeom prst="rect">
            <a:avLst/>
          </a:prstGeom>
        </p:spPr>
        <p:txBody>
          <a:bodyPr wrap="square">
            <a:spAutoFit/>
          </a:bodyPr>
          <a:lstStyle/>
          <a:p>
            <a:pPr lvl="1"/>
            <a:endParaRPr lang="en-GB" sz="2000" dirty="0" smtClean="0">
              <a:latin typeface="Arial" pitchFamily="34" charset="0"/>
              <a:cs typeface="Arial" pitchFamily="34" charset="0"/>
            </a:endParaRPr>
          </a:p>
          <a:p>
            <a:pPr lvl="1" algn="just">
              <a:buFont typeface="Courier New" pitchFamily="49" charset="0"/>
              <a:buChar char="o"/>
            </a:pPr>
            <a:r>
              <a:rPr lang="en-GB" sz="2000" dirty="0" smtClean="0">
                <a:latin typeface="Arial" pitchFamily="34" charset="0"/>
                <a:cs typeface="Arial" pitchFamily="34" charset="0"/>
              </a:rPr>
              <a:t> Committee </a:t>
            </a:r>
            <a:r>
              <a:rPr lang="en-GB" sz="2000" b="1" i="1" dirty="0" smtClean="0">
                <a:latin typeface="Arial" pitchFamily="34" charset="0"/>
                <a:cs typeface="Arial" pitchFamily="34" charset="0"/>
              </a:rPr>
              <a:t>examines</a:t>
            </a:r>
            <a:r>
              <a:rPr lang="en-GB" sz="2000" i="1" dirty="0" smtClean="0">
                <a:latin typeface="Arial" pitchFamily="34" charset="0"/>
                <a:cs typeface="Arial" pitchFamily="34" charset="0"/>
              </a:rPr>
              <a:t> each report,</a:t>
            </a:r>
            <a:r>
              <a:rPr lang="en-GB" sz="2000" dirty="0" smtClean="0">
                <a:latin typeface="Arial" pitchFamily="34" charset="0"/>
                <a:cs typeface="Arial" pitchFamily="34" charset="0"/>
              </a:rPr>
              <a:t> and addresses its </a:t>
            </a:r>
            <a:r>
              <a:rPr lang="en-GB" sz="2000" i="1" dirty="0" smtClean="0">
                <a:latin typeface="Arial" pitchFamily="34" charset="0"/>
                <a:cs typeface="Arial" pitchFamily="34" charset="0"/>
              </a:rPr>
              <a:t>concerns </a:t>
            </a:r>
            <a:r>
              <a:rPr lang="en-GB" sz="2000" dirty="0" smtClean="0">
                <a:latin typeface="Arial" pitchFamily="34" charset="0"/>
                <a:cs typeface="Arial" pitchFamily="34" charset="0"/>
              </a:rPr>
              <a:t>to the state party in the form of </a:t>
            </a:r>
            <a:r>
              <a:rPr lang="en-GB" sz="2000" b="1" i="1" dirty="0" smtClean="0">
                <a:latin typeface="Arial" pitchFamily="34" charset="0"/>
                <a:cs typeface="Arial" pitchFamily="34" charset="0"/>
              </a:rPr>
              <a:t>‘concluding observations’</a:t>
            </a:r>
            <a:r>
              <a:rPr lang="en-GB" sz="2000" b="1" dirty="0" smtClean="0">
                <a:latin typeface="Arial" pitchFamily="34" charset="0"/>
                <a:cs typeface="Arial" pitchFamily="34" charset="0"/>
              </a:rPr>
              <a:t>. </a:t>
            </a:r>
          </a:p>
          <a:p>
            <a:pPr lvl="1"/>
            <a:endParaRPr lang="en-GB" sz="2000" dirty="0" smtClean="0">
              <a:latin typeface="Arial" pitchFamily="34" charset="0"/>
              <a:cs typeface="Arial" pitchFamily="34" charset="0"/>
            </a:endParaRPr>
          </a:p>
          <a:p>
            <a:pPr lvl="0"/>
            <a:r>
              <a:rPr lang="en-GB" sz="2000" b="1" i="1" dirty="0" smtClean="0">
                <a:latin typeface="Arial" pitchFamily="34" charset="0"/>
                <a:cs typeface="Arial" pitchFamily="34" charset="0"/>
              </a:rPr>
              <a:t>2. Inter-state complaints</a:t>
            </a:r>
          </a:p>
          <a:p>
            <a:pPr lvl="0"/>
            <a:endParaRPr lang="en-GB" sz="2000" dirty="0" smtClean="0">
              <a:latin typeface="Arial" pitchFamily="34" charset="0"/>
              <a:cs typeface="Arial" pitchFamily="34" charset="0"/>
            </a:endParaRPr>
          </a:p>
          <a:p>
            <a:pPr lvl="0" algn="just">
              <a:buFont typeface="Arial" pitchFamily="34" charset="0"/>
              <a:buChar char="•"/>
            </a:pPr>
            <a:r>
              <a:rPr lang="en-GB" sz="2000" dirty="0" smtClean="0">
                <a:latin typeface="Arial" pitchFamily="34" charset="0"/>
                <a:cs typeface="Arial" pitchFamily="34" charset="0"/>
              </a:rPr>
              <a:t> Article 41 of the Covenant provides for the Committee to consider </a:t>
            </a:r>
            <a:r>
              <a:rPr lang="en-GB" sz="2000" dirty="0" smtClean="0">
                <a:latin typeface="Arial" pitchFamily="34" charset="0"/>
                <a:cs typeface="Arial" pitchFamily="34" charset="0"/>
                <a:hlinkClick r:id="rId3"/>
              </a:rPr>
              <a:t>inter state complaints.</a:t>
            </a:r>
            <a:r>
              <a:rPr lang="en-GB" sz="2000" dirty="0" smtClean="0">
                <a:latin typeface="Arial" pitchFamily="34" charset="0"/>
                <a:cs typeface="Arial" pitchFamily="34" charset="0"/>
              </a:rPr>
              <a:t> </a:t>
            </a:r>
          </a:p>
          <a:p>
            <a:pPr lvl="0"/>
            <a:endParaRPr lang="en-GB" sz="2000" dirty="0" smtClean="0">
              <a:latin typeface="Arial" pitchFamily="34" charset="0"/>
              <a:cs typeface="Arial" pitchFamily="34" charset="0"/>
            </a:endParaRPr>
          </a:p>
          <a:p>
            <a:pPr lvl="0"/>
            <a:r>
              <a:rPr lang="en-GB" sz="2000" b="1" i="1" dirty="0" smtClean="0">
                <a:latin typeface="Arial" pitchFamily="34" charset="0"/>
                <a:cs typeface="Arial" pitchFamily="34" charset="0"/>
              </a:rPr>
              <a:t>3. Individual complaints</a:t>
            </a:r>
          </a:p>
          <a:p>
            <a:pPr lvl="0"/>
            <a:endParaRPr lang="en-GB" sz="2000" dirty="0" smtClean="0">
              <a:latin typeface="Arial" pitchFamily="34" charset="0"/>
              <a:cs typeface="Arial" pitchFamily="34" charset="0"/>
            </a:endParaRPr>
          </a:p>
          <a:p>
            <a:pPr lvl="0" algn="just">
              <a:buFont typeface="Arial" pitchFamily="34" charset="0"/>
              <a:buChar char="•"/>
            </a:pPr>
            <a:r>
              <a:rPr lang="en-GB" sz="2000" dirty="0" smtClean="0">
                <a:latin typeface="Arial" pitchFamily="34" charset="0"/>
                <a:cs typeface="Arial" pitchFamily="34" charset="0"/>
                <a:hlinkClick r:id="rId4"/>
              </a:rPr>
              <a:t> First Optional Protocol</a:t>
            </a:r>
            <a:r>
              <a:rPr lang="en-GB" sz="2000" dirty="0" smtClean="0">
                <a:latin typeface="Arial" pitchFamily="34" charset="0"/>
                <a:cs typeface="Arial" pitchFamily="34" charset="0"/>
              </a:rPr>
              <a:t> to the Covenant gives Committee competence to examine </a:t>
            </a:r>
            <a:r>
              <a:rPr lang="en-GB" sz="2000" dirty="0" err="1" smtClean="0">
                <a:latin typeface="Arial" pitchFamily="34" charset="0"/>
                <a:cs typeface="Arial" pitchFamily="34" charset="0"/>
                <a:hlinkClick r:id="rId3"/>
              </a:rPr>
              <a:t>ind</a:t>
            </a:r>
            <a:r>
              <a:rPr lang="en-GB" sz="2000" dirty="0" smtClean="0">
                <a:latin typeface="Arial" pitchFamily="34" charset="0"/>
                <a:cs typeface="Arial" pitchFamily="34" charset="0"/>
                <a:hlinkClick r:id="rId3"/>
              </a:rPr>
              <a:t>. Comp.</a:t>
            </a:r>
            <a:r>
              <a:rPr lang="en-GB" sz="2000" dirty="0" smtClean="0">
                <a:latin typeface="Arial" pitchFamily="34" charset="0"/>
                <a:cs typeface="Arial" pitchFamily="34" charset="0"/>
              </a:rPr>
              <a:t> with regard to violations of Covenant by states parties to the </a:t>
            </a:r>
            <a:r>
              <a:rPr lang="en-GB" sz="2000" b="1" i="1" dirty="0" smtClean="0">
                <a:latin typeface="Arial" pitchFamily="34" charset="0"/>
                <a:cs typeface="Arial" pitchFamily="34" charset="0"/>
              </a:rPr>
              <a:t>Protocol</a:t>
            </a:r>
            <a:r>
              <a:rPr lang="en-GB" sz="2000" dirty="0" smtClean="0">
                <a:latin typeface="Arial" pitchFamily="34" charset="0"/>
                <a:cs typeface="Arial" pitchFamily="34" charset="0"/>
              </a:rPr>
              <a:t>.</a:t>
            </a:r>
          </a:p>
          <a:p>
            <a:pPr lvl="0" algn="just">
              <a:buFont typeface="Arial" pitchFamily="34" charset="0"/>
              <a:buChar char="•"/>
            </a:pPr>
            <a:endParaRPr lang="en-GB" sz="2000" dirty="0" smtClean="0">
              <a:latin typeface="Arial" pitchFamily="34" charset="0"/>
              <a:cs typeface="Arial" pitchFamily="34" charset="0"/>
            </a:endParaRPr>
          </a:p>
          <a:p>
            <a:pPr lvl="0">
              <a:buFont typeface="Arial" pitchFamily="34" charset="0"/>
              <a:buChar char="•"/>
            </a:pPr>
            <a:r>
              <a:rPr lang="en-GB" sz="2000" dirty="0" smtClean="0">
                <a:latin typeface="Arial" pitchFamily="34" charset="0"/>
                <a:cs typeface="Arial" pitchFamily="34" charset="0"/>
              </a:rPr>
              <a:t> Competence of the Committee extends to the </a:t>
            </a:r>
            <a:r>
              <a:rPr lang="en-GB" sz="2000" i="1" dirty="0" smtClean="0">
                <a:latin typeface="Arial" pitchFamily="34" charset="0"/>
                <a:cs typeface="Arial" pitchFamily="34" charset="0"/>
                <a:hlinkClick r:id="rId5"/>
              </a:rPr>
              <a:t>Second Optional Protocol</a:t>
            </a:r>
            <a:r>
              <a:rPr lang="en-GB" sz="2000" i="1" dirty="0" smtClean="0">
                <a:latin typeface="Arial" pitchFamily="34" charset="0"/>
                <a:cs typeface="Arial" pitchFamily="34" charset="0"/>
              </a:rPr>
              <a:t> </a:t>
            </a:r>
            <a:r>
              <a:rPr lang="en-GB" sz="2000" dirty="0" smtClean="0">
                <a:latin typeface="Arial" pitchFamily="34" charset="0"/>
                <a:cs typeface="Arial" pitchFamily="34" charset="0"/>
              </a:rPr>
              <a:t>to the Covenant on the abolition of the death penalty.</a:t>
            </a:r>
          </a:p>
          <a:p>
            <a:pPr lvl="0"/>
            <a:endParaRPr lang="en-GB" sz="2000" dirty="0" smtClean="0">
              <a:latin typeface="Arial" pitchFamily="34" charset="0"/>
              <a:cs typeface="Arial" pitchFamily="34" charset="0"/>
            </a:endParaRPr>
          </a:p>
          <a:p>
            <a:pPr lvl="0">
              <a:buFont typeface="Arial" pitchFamily="34" charset="0"/>
              <a:buChar char="•"/>
            </a:pPr>
            <a:r>
              <a:rPr lang="en-GB" sz="2000" dirty="0" smtClean="0">
                <a:latin typeface="Arial" pitchFamily="34" charset="0"/>
                <a:cs typeface="Arial" pitchFamily="34" charset="0"/>
              </a:rPr>
              <a:t> Committee meets in Geneva or New York, holds three </a:t>
            </a:r>
            <a:r>
              <a:rPr lang="en-GB" sz="2000" dirty="0" smtClean="0">
                <a:latin typeface="Arial" pitchFamily="34" charset="0"/>
                <a:cs typeface="Arial" pitchFamily="34" charset="0"/>
                <a:hlinkClick r:id="rId6"/>
              </a:rPr>
              <a:t>sessions</a:t>
            </a:r>
            <a:r>
              <a:rPr lang="en-GB" sz="2000" dirty="0" smtClean="0">
                <a:latin typeface="Arial" pitchFamily="34" charset="0"/>
                <a:cs typeface="Arial" pitchFamily="34" charset="0"/>
              </a:rPr>
              <a:t> per year.</a:t>
            </a:r>
          </a:p>
          <a:p>
            <a:pPr>
              <a:buFont typeface="Arial" pitchFamily="34" charset="0"/>
              <a:buChar char="•"/>
            </a:pPr>
            <a:r>
              <a:rPr lang="en-GB" sz="2000" dirty="0" smtClean="0">
                <a:latin typeface="Arial" pitchFamily="34" charset="0"/>
                <a:cs typeface="Arial" pitchFamily="34" charset="0"/>
              </a:rPr>
              <a:t> publishes </a:t>
            </a:r>
            <a:r>
              <a:rPr lang="en-GB" sz="2000" i="1" dirty="0" smtClean="0">
                <a:latin typeface="Arial" pitchFamily="34" charset="0"/>
                <a:cs typeface="Arial" pitchFamily="34" charset="0"/>
                <a:hlinkClick r:id="rId7"/>
              </a:rPr>
              <a:t>general comments</a:t>
            </a:r>
            <a:r>
              <a:rPr lang="en-GB" sz="2000" i="1" dirty="0" smtClean="0">
                <a:latin typeface="Arial" pitchFamily="34" charset="0"/>
                <a:cs typeface="Arial" pitchFamily="34" charset="0"/>
              </a:rPr>
              <a:t> on thematic issues</a:t>
            </a:r>
            <a:r>
              <a:rPr lang="en-GB" sz="2000" dirty="0" smtClean="0">
                <a:latin typeface="Arial" pitchFamily="34" charset="0"/>
                <a:cs typeface="Arial" pitchFamily="34" charset="0"/>
              </a:rPr>
              <a:t> or its </a:t>
            </a:r>
            <a:r>
              <a:rPr lang="en-GB" sz="2000" i="1" dirty="0" smtClean="0">
                <a:latin typeface="Arial" pitchFamily="34" charset="0"/>
                <a:cs typeface="Arial" pitchFamily="34" charset="0"/>
              </a:rPr>
              <a:t>methods</a:t>
            </a:r>
            <a:r>
              <a:rPr lang="en-GB" sz="2000" dirty="0" smtClean="0">
                <a:latin typeface="Arial" pitchFamily="34" charset="0"/>
                <a:cs typeface="Arial" pitchFamily="34" charset="0"/>
              </a:rPr>
              <a:t> of work.</a:t>
            </a:r>
            <a:endParaRPr lang="en-GB"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187541"/>
            <a:ext cx="9144000" cy="68018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tab pos="1128713"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3"/>
              </a:rPr>
              <a:t>2. Committee on Economic, Social and Cultural Rights</a:t>
            </a:r>
          </a:p>
          <a:p>
            <a:pPr marL="0" marR="0" lvl="0" indent="0" algn="just" defTabSz="914400" rtl="0" eaLnBrk="1" fontAlgn="base" latinLnBrk="0" hangingPunct="1">
              <a:lnSpc>
                <a:spcPct val="100000"/>
              </a:lnSpc>
              <a:spcBef>
                <a:spcPct val="0"/>
              </a:spcBef>
              <a:spcAft>
                <a:spcPct val="0"/>
              </a:spcAft>
              <a:buClrTx/>
              <a:buSzTx/>
              <a:tabLst>
                <a:tab pos="1128713"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3"/>
              </a:rPr>
              <a:t> </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tab pos="1128713"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3"/>
              </a:rPr>
              <a:t> International Covenant on Economic, Social and Cultural Rights 1966</a:t>
            </a:r>
            <a:endParaRPr kumimoji="0" lang="en-GB" sz="2000" b="0"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1128713" algn="l"/>
              </a:tabLst>
            </a:pP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4"/>
              </a:rPr>
              <a:t> Optional Protocol of the </a:t>
            </a:r>
            <a:r>
              <a:rPr kumimoji="0" lang="en-GB" sz="2000" b="0" i="0" u="none" strike="noStrike" cap="none" normalizeH="0" baseline="0" dirty="0" err="1" smtClean="0">
                <a:ln>
                  <a:noFill/>
                </a:ln>
                <a:effectLst/>
                <a:latin typeface="Arial" pitchFamily="34" charset="0"/>
                <a:ea typeface="Times New Roman" pitchFamily="18" charset="0"/>
                <a:cs typeface="Arial" pitchFamily="34" charset="0"/>
                <a:hlinkClick r:id="rId4"/>
              </a:rPr>
              <a:t>Cov</a:t>
            </a:r>
            <a:r>
              <a:rPr kumimoji="0" lang="en-GB" sz="2000" b="0" i="0" u="none" strike="noStrike" cap="none" normalizeH="0" baseline="0" dirty="0" smtClean="0">
                <a:ln>
                  <a:noFill/>
                </a:ln>
                <a:effectLst/>
                <a:latin typeface="Arial" pitchFamily="34" charset="0"/>
                <a:ea typeface="Times New Roman" pitchFamily="18" charset="0"/>
                <a:cs typeface="Arial" pitchFamily="34" charset="0"/>
                <a:hlinkClick r:id="rId4"/>
              </a:rPr>
              <a:t>. on Eco., Social and Cultural Rights</a:t>
            </a:r>
            <a:r>
              <a:rPr kumimoji="0" lang="en-GB" sz="2000" b="0" i="0" u="none" strike="noStrike" cap="none" normalizeH="0" baseline="0" dirty="0" smtClean="0">
                <a:ln>
                  <a:noFill/>
                </a:ln>
                <a:effectLst/>
                <a:latin typeface="Arial" pitchFamily="34" charset="0"/>
                <a:ea typeface="Times New Roman" pitchFamily="18" charset="0"/>
                <a:cs typeface="Arial" pitchFamily="34" charset="0"/>
              </a:rPr>
              <a:t> </a:t>
            </a:r>
            <a:r>
              <a:rPr kumimoji="0" lang="en-GB" sz="2000" b="0" u="none" strike="noStrike" cap="none" normalizeH="0" baseline="0" dirty="0" smtClean="0">
                <a:ln>
                  <a:noFill/>
                </a:ln>
                <a:effectLst/>
                <a:latin typeface="Arial" pitchFamily="34" charset="0"/>
                <a:ea typeface="Times New Roman" pitchFamily="18" charset="0"/>
                <a:cs typeface="Arial" pitchFamily="34" charset="0"/>
              </a:rPr>
              <a:t>10 Dec. 2008</a:t>
            </a:r>
          </a:p>
          <a:p>
            <a:pPr marL="0" marR="0" lvl="0" indent="0" algn="just" defTabSz="914400" rtl="0" eaLnBrk="0" fontAlgn="base" latinLnBrk="0" hangingPunct="0">
              <a:lnSpc>
                <a:spcPct val="100000"/>
              </a:lnSpc>
              <a:spcBef>
                <a:spcPct val="0"/>
              </a:spcBef>
              <a:spcAft>
                <a:spcPct val="0"/>
              </a:spcAft>
              <a:buClrTx/>
              <a:buSzTx/>
              <a:tabLst>
                <a:tab pos="1128713"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1128713" algn="l"/>
              </a:tabLst>
            </a:pP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Rights guaranteed</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self-det., right to work, right of trade unions to organize and strike, right to family, right to mental and physical health, right to edu</a:t>
            </a:r>
            <a:r>
              <a:rPr lang="en-GB" sz="2000" dirty="0" smtClean="0">
                <a:latin typeface="Arial" pitchFamily="34" charset="0"/>
                <a:ea typeface="Times New Roman" pitchFamily="18" charset="0"/>
                <a:cs typeface="Arial" pitchFamily="34" charset="0"/>
              </a:rPr>
              <a:t>cation</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housing etc. </a:t>
            </a:r>
          </a:p>
          <a:p>
            <a:pPr marL="0" marR="0" lvl="0" indent="0" algn="just" defTabSz="914400" rtl="0" eaLnBrk="0" fontAlgn="base" latinLnBrk="0" hangingPunct="0">
              <a:lnSpc>
                <a:spcPct val="100000"/>
              </a:lnSpc>
              <a:spcBef>
                <a:spcPct val="0"/>
              </a:spcBef>
              <a:spcAft>
                <a:spcPct val="0"/>
              </a:spcAft>
              <a:buClrTx/>
              <a:buSzTx/>
              <a:buFontTx/>
              <a:buChar char="•"/>
              <a:tabLst>
                <a:tab pos="1128713"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1128713" algn="l"/>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Committee on Economic, Social and Cultural Rights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(CESCR)</a:t>
            </a:r>
          </a:p>
          <a:p>
            <a:pPr lvl="1" algn="just" eaLnBrk="0" fontAlgn="base" hangingPunct="0">
              <a:spcBef>
                <a:spcPct val="0"/>
              </a:spcBef>
              <a:spcAft>
                <a:spcPct val="0"/>
              </a:spcAft>
              <a:buFontTx/>
              <a:buChar char="•"/>
              <a:tabLst>
                <a:tab pos="1128713" algn="l"/>
              </a:tabLst>
            </a:pPr>
            <a:r>
              <a:rPr lang="en-GB" sz="2000" dirty="0" smtClean="0">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monitors implementation</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of the Covenant by its States parties.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tabLst>
                <a:tab pos="1128713" algn="l"/>
              </a:tabLst>
            </a:pPr>
            <a:r>
              <a:rPr kumimoji="0" lang="en-GB"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lang="en-GB" sz="2000" dirty="0" smtClean="0">
                <a:latin typeface="Arial" pitchFamily="34" charset="0"/>
                <a:ea typeface="Times New Roman" pitchFamily="18" charset="0"/>
                <a:cs typeface="Arial" pitchFamily="34" charset="0"/>
              </a:rPr>
              <a:t>E</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stablished in 1985.</a:t>
            </a:r>
          </a:p>
          <a:p>
            <a:pPr lvl="1" algn="just" eaLnBrk="0" fontAlgn="base" hangingPunct="0">
              <a:spcBef>
                <a:spcPct val="0"/>
              </a:spcBef>
              <a:spcAft>
                <a:spcPct val="0"/>
              </a:spcAft>
              <a:buFontTx/>
              <a:buChar char="•"/>
              <a:tabLst>
                <a:tab pos="1128713"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tab pos="1128713" algn="l"/>
              </a:tabLst>
            </a:pPr>
            <a:r>
              <a:rPr lang="en-GB" sz="2000" b="1" dirty="0" smtClean="0">
                <a:latin typeface="Arial" pitchFamily="34" charset="0"/>
                <a:ea typeface="Times New Roman" pitchFamily="18" charset="0"/>
                <a:cs typeface="Arial" pitchFamily="34" charset="0"/>
              </a:rPr>
              <a:t>1. </a:t>
            </a: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Reporting</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States submit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regular</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reports</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to the Committee on how the rights are being implemented,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initially within two years, and then every five years</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p>
          <a:p>
            <a:pPr lvl="1" algn="just" eaLnBrk="0" fontAlgn="base" hangingPunct="0">
              <a:spcBef>
                <a:spcPct val="0"/>
              </a:spcBef>
              <a:spcAft>
                <a:spcPct val="0"/>
              </a:spcAft>
              <a:buFont typeface="Arial" pitchFamily="34" charset="0"/>
              <a:buChar char="•"/>
              <a:tabLst>
                <a:tab pos="1128713" algn="l"/>
              </a:tabLst>
            </a:pPr>
            <a:r>
              <a:rPr lang="en-GB" sz="2000" dirty="0" smtClean="0">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Committee examines report, and addresses its concerns and recommendations to the state party in the form of ‘concluding observations’.</a:t>
            </a:r>
          </a:p>
          <a:p>
            <a:pPr lvl="1" algn="just" eaLnBrk="0" fontAlgn="base" hangingPunct="0">
              <a:spcBef>
                <a:spcPct val="0"/>
              </a:spcBef>
              <a:spcAft>
                <a:spcPct val="0"/>
              </a:spcAft>
              <a:buFont typeface="Arial" pitchFamily="34" charset="0"/>
              <a:buChar char="•"/>
              <a:tabLst>
                <a:tab pos="1128713"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algn="just" eaLnBrk="0" fontAlgn="base" hangingPunct="0">
              <a:spcBef>
                <a:spcPct val="0"/>
              </a:spcBef>
              <a:spcAft>
                <a:spcPct val="0"/>
              </a:spcAft>
              <a:tabLst>
                <a:tab pos="1128713" algn="l"/>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2. Individual complaints</a:t>
            </a:r>
            <a:r>
              <a:rPr kumimoji="0" lang="en-GB" sz="2000" b="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 Dec. 2008, the GA adopted an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5"/>
              </a:rPr>
              <a:t>Optional Protocol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to the ICESR providing the Committee competence to </a:t>
            </a:r>
            <a:r>
              <a:rPr kumimoji="0" lang="en-GB" sz="20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receive and consider communications.</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1071546"/>
            <a:ext cx="8143932" cy="3170099"/>
          </a:xfrm>
          <a:prstGeom prst="rect">
            <a:avLst/>
          </a:prstGeom>
        </p:spPr>
        <p:txBody>
          <a:bodyPr wrap="square">
            <a:spAutoFit/>
          </a:bodyPr>
          <a:lstStyle/>
          <a:p>
            <a:pPr lvl="1" algn="just" eaLnBrk="0" fontAlgn="base" hangingPunct="0">
              <a:spcBef>
                <a:spcPct val="0"/>
              </a:spcBef>
              <a:spcAft>
                <a:spcPct val="0"/>
              </a:spcAft>
              <a:buFontTx/>
              <a:buChar char="•"/>
              <a:tabLst>
                <a:tab pos="1128713" algn="l"/>
              </a:tabLst>
            </a:pPr>
            <a:r>
              <a:rPr lang="en-GB" sz="2000" dirty="0" smtClean="0">
                <a:latin typeface="Arial" pitchFamily="34" charset="0"/>
                <a:ea typeface="Times New Roman" pitchFamily="18" charset="0"/>
                <a:cs typeface="Arial" pitchFamily="34" charset="0"/>
              </a:rPr>
              <a:t> The Optional Protocol </a:t>
            </a:r>
            <a:r>
              <a:rPr lang="en-GB" sz="2000" i="1" dirty="0" smtClean="0">
                <a:latin typeface="Arial" pitchFamily="34" charset="0"/>
                <a:ea typeface="Times New Roman" pitchFamily="18" charset="0"/>
                <a:cs typeface="Arial" pitchFamily="34" charset="0"/>
              </a:rPr>
              <a:t>opened for signature</a:t>
            </a:r>
            <a:r>
              <a:rPr lang="en-GB" sz="2000" dirty="0" smtClean="0">
                <a:latin typeface="Arial" pitchFamily="34" charset="0"/>
                <a:ea typeface="Times New Roman" pitchFamily="18" charset="0"/>
                <a:cs typeface="Arial" pitchFamily="34" charset="0"/>
              </a:rPr>
              <a:t> in 2009.</a:t>
            </a:r>
          </a:p>
          <a:p>
            <a:pPr lvl="1" algn="just" eaLnBrk="0" fontAlgn="base" hangingPunct="0">
              <a:spcBef>
                <a:spcPct val="0"/>
              </a:spcBef>
              <a:spcAft>
                <a:spcPct val="0"/>
              </a:spcAft>
              <a:tabLst>
                <a:tab pos="1128713" algn="l"/>
              </a:tabLst>
            </a:pPr>
            <a:r>
              <a:rPr lang="en-GB" sz="2000" dirty="0" smtClean="0">
                <a:latin typeface="Arial" pitchFamily="34" charset="0"/>
                <a:ea typeface="Times New Roman" pitchFamily="18" charset="0"/>
                <a:cs typeface="Arial" pitchFamily="34" charset="0"/>
              </a:rPr>
              <a:t> </a:t>
            </a:r>
          </a:p>
          <a:p>
            <a:pPr lvl="1" algn="just" eaLnBrk="0" fontAlgn="base" hangingPunct="0">
              <a:spcBef>
                <a:spcPct val="0"/>
              </a:spcBef>
              <a:spcAft>
                <a:spcPct val="0"/>
              </a:spcAft>
              <a:buFontTx/>
              <a:buChar char="•"/>
              <a:tabLst>
                <a:tab pos="1128713" algn="l"/>
              </a:tabLst>
            </a:pPr>
            <a:r>
              <a:rPr lang="en-GB" sz="2000" dirty="0" smtClean="0">
                <a:latin typeface="Arial" pitchFamily="34" charset="0"/>
                <a:ea typeface="Times New Roman" pitchFamily="18" charset="0"/>
                <a:cs typeface="Arial" pitchFamily="34" charset="0"/>
              </a:rPr>
              <a:t> </a:t>
            </a:r>
            <a:r>
              <a:rPr lang="en-GB" sz="2000" b="1" i="1" dirty="0" smtClean="0">
                <a:latin typeface="Arial" pitchFamily="34" charset="0"/>
                <a:ea typeface="Times New Roman" pitchFamily="18" charset="0"/>
                <a:cs typeface="Arial" pitchFamily="34" charset="0"/>
              </a:rPr>
              <a:t>Other committees </a:t>
            </a:r>
            <a:r>
              <a:rPr lang="en-GB" sz="2000" dirty="0" smtClean="0">
                <a:latin typeface="Arial" pitchFamily="34" charset="0"/>
                <a:ea typeface="Times New Roman" pitchFamily="18" charset="0"/>
                <a:cs typeface="Arial" pitchFamily="34" charset="0"/>
              </a:rPr>
              <a:t>with competence can consider </a:t>
            </a:r>
            <a:r>
              <a:rPr lang="en-GB" sz="2000" dirty="0" smtClean="0">
                <a:latin typeface="Arial" pitchFamily="34" charset="0"/>
                <a:ea typeface="Times New Roman" pitchFamily="18" charset="0"/>
                <a:cs typeface="Arial" pitchFamily="34" charset="0"/>
                <a:hlinkClick r:id="rId3"/>
              </a:rPr>
              <a:t>individual communications</a:t>
            </a:r>
            <a:r>
              <a:rPr lang="en-GB" sz="2000" dirty="0" smtClean="0">
                <a:latin typeface="Arial" pitchFamily="34" charset="0"/>
                <a:ea typeface="Times New Roman" pitchFamily="18" charset="0"/>
                <a:cs typeface="Arial" pitchFamily="34" charset="0"/>
              </a:rPr>
              <a:t> involving issues related to economic, social and cultural rights.</a:t>
            </a:r>
          </a:p>
          <a:p>
            <a:pPr lvl="1" algn="just" eaLnBrk="0" fontAlgn="base" hangingPunct="0">
              <a:spcBef>
                <a:spcPct val="0"/>
              </a:spcBef>
              <a:spcAft>
                <a:spcPct val="0"/>
              </a:spcAft>
              <a:tabLst>
                <a:tab pos="1128713" algn="l"/>
              </a:tabLs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tabLst>
                <a:tab pos="1128713" algn="l"/>
              </a:tabLst>
            </a:pPr>
            <a:r>
              <a:rPr lang="en-GB" sz="2000" dirty="0" smtClean="0">
                <a:latin typeface="Arial" pitchFamily="34" charset="0"/>
                <a:ea typeface="Times New Roman" pitchFamily="18" charset="0"/>
                <a:cs typeface="Arial" pitchFamily="34" charset="0"/>
              </a:rPr>
              <a:t> Committee meets in Geneva, holds two </a:t>
            </a:r>
            <a:r>
              <a:rPr lang="en-GB" sz="2000" dirty="0" smtClean="0">
                <a:latin typeface="Arial" pitchFamily="34" charset="0"/>
                <a:ea typeface="Times New Roman" pitchFamily="18" charset="0"/>
                <a:cs typeface="Arial" pitchFamily="34" charset="0"/>
                <a:hlinkClick r:id="rId4"/>
              </a:rPr>
              <a:t>sessions</a:t>
            </a:r>
            <a:r>
              <a:rPr lang="en-GB" sz="2000" dirty="0" smtClean="0">
                <a:latin typeface="Arial" pitchFamily="34" charset="0"/>
                <a:ea typeface="Times New Roman" pitchFamily="18" charset="0"/>
                <a:cs typeface="Arial" pitchFamily="34" charset="0"/>
              </a:rPr>
              <a:t> per year.</a:t>
            </a:r>
          </a:p>
          <a:p>
            <a:pPr lvl="1" algn="just" eaLnBrk="0" fontAlgn="base" hangingPunct="0">
              <a:spcBef>
                <a:spcPct val="0"/>
              </a:spcBef>
              <a:spcAft>
                <a:spcPct val="0"/>
              </a:spcAft>
              <a:buFontTx/>
              <a:buChar char="•"/>
              <a:tabLst>
                <a:tab pos="1128713" algn="l"/>
              </a:tabLst>
            </a:pP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tabLst>
                <a:tab pos="1128713" algn="l"/>
              </a:tabLst>
            </a:pPr>
            <a:r>
              <a:rPr lang="en-GB" sz="2000" dirty="0" smtClean="0">
                <a:latin typeface="Arial" pitchFamily="34" charset="0"/>
                <a:ea typeface="Times New Roman" pitchFamily="18" charset="0"/>
                <a:cs typeface="Arial" pitchFamily="34" charset="0"/>
              </a:rPr>
              <a:t> Committee also publishes its interpretation of the provisions ( (general comments)</a:t>
            </a:r>
            <a:endParaRPr lang="en-GB" sz="2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ChangeArrowheads="1"/>
          </p:cNvSpPr>
          <p:nvPr/>
        </p:nvSpPr>
        <p:spPr bwMode="auto">
          <a:xfrm>
            <a:off x="0" y="221906"/>
            <a:ext cx="8964488" cy="4988525"/>
          </a:xfrm>
          <a:prstGeom prst="rect">
            <a:avLst/>
          </a:prstGeom>
          <a:solidFill>
            <a:srgbClr val="FFFFFF"/>
          </a:solidFill>
          <a:ln w="9525">
            <a:noFill/>
            <a:miter lim="800000"/>
            <a:headEnd/>
            <a:tailEnd/>
          </a:ln>
          <a:effectLst/>
        </p:spPr>
        <p:txBody>
          <a:bodyPr vert="horz" wrap="square" lIns="318987" tIns="63480" rIns="9144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r>
              <a:rPr lang="en-GB" b="1" dirty="0" smtClean="0">
                <a:solidFill>
                  <a:srgbClr val="000000"/>
                </a:solidFill>
                <a:latin typeface="Arial" pitchFamily="34" charset="0"/>
                <a:ea typeface="Times New Roman" pitchFamily="18" charset="0"/>
                <a:cs typeface="Arial" pitchFamily="34" charset="0"/>
              </a:rPr>
              <a:t>3</a:t>
            </a:r>
            <a:r>
              <a:rPr lang="en-GB" sz="2000" b="1" dirty="0" smtClean="0">
                <a:solidFill>
                  <a:srgbClr val="000000"/>
                </a:solidFill>
                <a:latin typeface="Arial" pitchFamily="34" charset="0"/>
                <a:ea typeface="Times New Roman" pitchFamily="18" charset="0"/>
                <a:cs typeface="Arial" pitchFamily="34" charset="0"/>
              </a:rPr>
              <a:t>. </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Committee on the Elimination of Racial Discrimination CERD</a:t>
            </a:r>
          </a:p>
          <a:p>
            <a:pPr marL="0" marR="0" lvl="0" indent="0" algn="just" defTabSz="914400" rtl="0" eaLnBrk="1" fontAlgn="base" latinLnBrk="0" hangingPunct="1">
              <a:lnSpc>
                <a:spcPct val="100000"/>
              </a:lnSpc>
              <a:spcBef>
                <a:spcPct val="0"/>
              </a:spcBef>
              <a:spcAft>
                <a:spcPct val="0"/>
              </a:spcAft>
              <a:buClrTx/>
              <a:buSzTx/>
              <a:tabLs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CERD Prohibits </a:t>
            </a: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any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distinction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exclusion, restriction or preference based on race, colour, descent, or national or ethnic origin </a:t>
            </a:r>
          </a:p>
          <a:p>
            <a:pPr lvl="1" algn="just" eaLnBrk="0" fontAlgn="base" hangingPunct="0">
              <a:spcBef>
                <a:spcPct val="0"/>
              </a:spcBef>
              <a:spcAft>
                <a:spcPct val="0"/>
              </a:spcAft>
              <a:buFontTx/>
              <a:buChar char="•"/>
            </a:pPr>
            <a:r>
              <a:rPr lang="en-GB" sz="2000" i="1"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which has the purpose or effect of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nullifying or impairing recognition, enjoyment or exercise, on an equal footing, of HRs and fund. freedoms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the pol., eco., social, cultural or other field of public life.</a:t>
            </a:r>
          </a:p>
          <a:p>
            <a:pPr lvl="1" algn="just" eaLnBrk="0" fontAlgn="base" hangingPunct="0">
              <a:spcBef>
                <a:spcPct val="0"/>
              </a:spcBef>
              <a:spcAft>
                <a:spcPct val="0"/>
              </a:spcAft>
            </a:pP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The Committee on the ERD</a:t>
            </a:r>
            <a:r>
              <a:rPr kumimoji="0" lang="en-GB"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monitors </a:t>
            </a:r>
            <a:r>
              <a:rPr kumimoji="0" lang="en-GB" sz="2000"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implem</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of the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Conv. by state parties.</a:t>
            </a:r>
          </a:p>
          <a:p>
            <a:pPr marL="0" marR="0" lvl="0" indent="0" algn="just" defTabSz="914400" rtl="0" eaLnBrk="0" fontAlgn="base" latinLnBrk="0" hangingPunct="0">
              <a:lnSpc>
                <a:spcPct val="100000"/>
              </a:lnSpc>
              <a:spcBef>
                <a:spcPct val="0"/>
              </a:spcBef>
              <a:spcAft>
                <a:spcPct val="0"/>
              </a:spcAft>
              <a:buClrTx/>
              <a:buSzTx/>
              <a:tabLst/>
            </a:pPr>
            <a:endParaRPr lang="en-GB" sz="2000" b="1"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a:t>
            </a:r>
            <a:r>
              <a:rPr kumimoji="0" lang="en-GB" sz="2000" b="1"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Reporting</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states submit regular reports to the Committee,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initially one year after acceding to the Convention, and then every two years. </a:t>
            </a: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Committee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examines each report and addresses its concerns to the State party in the form of concluding observations.</a:t>
            </a:r>
          </a:p>
          <a:p>
            <a:pPr lvl="1" algn="just" eaLnBrk="0" fontAlgn="base" hangingPunct="0">
              <a:spcBef>
                <a:spcPct val="0"/>
              </a:spcBef>
              <a:spcAft>
                <a:spcPct val="0"/>
              </a:spcAft>
            </a:pPr>
            <a:endParaRPr lang="en-GB" sz="2000" b="1"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474345"/>
            <a:ext cx="8501122" cy="5324535"/>
          </a:xfrm>
          <a:prstGeom prst="rect">
            <a:avLst/>
          </a:prstGeom>
        </p:spPr>
        <p:txBody>
          <a:bodyPr wrap="square">
            <a:spAutoFit/>
          </a:bodyPr>
          <a:lstStyle/>
          <a:p>
            <a:pPr algn="just" eaLnBrk="0" fontAlgn="base" hangingPunct="0">
              <a:spcBef>
                <a:spcPct val="0"/>
              </a:spcBef>
              <a:spcAft>
                <a:spcPct val="0"/>
              </a:spcAft>
            </a:pPr>
            <a:r>
              <a:rPr lang="en-GB" sz="2000" b="1" dirty="0" smtClean="0">
                <a:solidFill>
                  <a:srgbClr val="000000"/>
                </a:solidFill>
                <a:latin typeface="Arial" pitchFamily="34" charset="0"/>
                <a:ea typeface="Times New Roman" pitchFamily="18" charset="0"/>
                <a:cs typeface="Arial" pitchFamily="34" charset="0"/>
              </a:rPr>
              <a:t>2</a:t>
            </a:r>
            <a:r>
              <a:rPr lang="en-GB" sz="2000"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Other procedures</a:t>
            </a:r>
            <a:r>
              <a:rPr lang="en-GB" sz="2000" dirty="0" smtClean="0">
                <a:solidFill>
                  <a:srgbClr val="000000"/>
                </a:solidFill>
                <a:latin typeface="Arial" pitchFamily="34" charset="0"/>
                <a:ea typeface="Times New Roman" pitchFamily="18" charset="0"/>
                <a:cs typeface="Arial" pitchFamily="34" charset="0"/>
              </a:rPr>
              <a:t>: the Convention also establishes three other mechanisms for the Committee to perform its monitoring functions:</a:t>
            </a:r>
          </a:p>
          <a:p>
            <a:pPr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b="1" dirty="0" smtClean="0">
              <a:latin typeface="Arial" pitchFamily="34" charset="0"/>
              <a:ea typeface="Times New Roman" pitchFamily="18" charset="0"/>
              <a:cs typeface="Arial" pitchFamily="34" charset="0"/>
            </a:endParaRPr>
          </a:p>
          <a:p>
            <a:pPr marL="457200" indent="-457200" algn="just" eaLnBrk="0" fontAlgn="base" hangingPunct="0">
              <a:spcBef>
                <a:spcPct val="0"/>
              </a:spcBef>
              <a:spcAft>
                <a:spcPct val="0"/>
              </a:spcAft>
              <a:buAutoNum type="alphaLcPeriod"/>
            </a:pPr>
            <a:r>
              <a:rPr lang="en-GB" sz="2000" b="1" i="1" dirty="0" smtClean="0">
                <a:solidFill>
                  <a:srgbClr val="000000"/>
                </a:solidFill>
                <a:latin typeface="Arial" pitchFamily="34" charset="0"/>
                <a:ea typeface="Times New Roman" pitchFamily="18" charset="0"/>
                <a:cs typeface="Arial" pitchFamily="34" charset="0"/>
              </a:rPr>
              <a:t>The</a:t>
            </a:r>
            <a:r>
              <a:rPr lang="en-GB" sz="2000" i="1" dirty="0" smtClean="0">
                <a:solidFill>
                  <a:srgbClr val="000000"/>
                </a:solidFill>
                <a:latin typeface="Arial" pitchFamily="34" charset="0"/>
                <a:ea typeface="Times New Roman" pitchFamily="18" charset="0"/>
                <a:cs typeface="Arial" pitchFamily="34" charset="0"/>
              </a:rPr>
              <a:t> </a:t>
            </a:r>
            <a:r>
              <a:rPr lang="en-GB" sz="2000" i="1" dirty="0" smtClean="0">
                <a:solidFill>
                  <a:srgbClr val="000000"/>
                </a:solidFill>
                <a:latin typeface="Arial" pitchFamily="34" charset="0"/>
                <a:ea typeface="Times New Roman" pitchFamily="18" charset="0"/>
                <a:cs typeface="Arial" pitchFamily="34" charset="0"/>
                <a:hlinkClick r:id="rId3"/>
              </a:rPr>
              <a:t>early-warning </a:t>
            </a:r>
            <a:r>
              <a:rPr lang="en-GB" sz="2000" i="1" dirty="0" smtClean="0">
                <a:latin typeface="Arial" pitchFamily="34" charset="0"/>
                <a:ea typeface="Times New Roman" pitchFamily="18" charset="0"/>
                <a:cs typeface="Arial" pitchFamily="34" charset="0"/>
                <a:hlinkClick r:id="rId3"/>
              </a:rPr>
              <a:t>procedure</a:t>
            </a:r>
            <a:r>
              <a:rPr lang="en-GB" sz="2000" dirty="0" smtClean="0">
                <a:solidFill>
                  <a:srgbClr val="000000"/>
                </a:solidFill>
                <a:latin typeface="Arial" pitchFamily="34" charset="0"/>
                <a:ea typeface="Times New Roman" pitchFamily="18" charset="0"/>
                <a:cs typeface="Arial" pitchFamily="34" charset="0"/>
              </a:rPr>
              <a:t>, </a:t>
            </a:r>
          </a:p>
          <a:p>
            <a:pPr marL="457200" indent="-45720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p>
          <a:p>
            <a:pPr marL="457200" indent="-457200" algn="just" eaLnBrk="0" fontAlgn="base" hangingPunct="0">
              <a:spcBef>
                <a:spcPct val="0"/>
              </a:spcBef>
              <a:spcAft>
                <a:spcPct val="0"/>
              </a:spcAft>
              <a:buFont typeface="Arial" pitchFamily="34" charset="0"/>
              <a:buChar char="•"/>
            </a:pPr>
            <a:r>
              <a:rPr lang="en-GB" sz="2000" dirty="0" smtClean="0">
                <a:solidFill>
                  <a:srgbClr val="000000"/>
                </a:solidFill>
                <a:latin typeface="Arial" pitchFamily="34" charset="0"/>
                <a:ea typeface="Times New Roman" pitchFamily="18" charset="0"/>
                <a:cs typeface="Arial" pitchFamily="34" charset="0"/>
              </a:rPr>
              <a:t>aimed at preventing existing situations </a:t>
            </a:r>
            <a:r>
              <a:rPr lang="en-GB" sz="2000" i="1" dirty="0" smtClean="0">
                <a:solidFill>
                  <a:srgbClr val="000000"/>
                </a:solidFill>
                <a:latin typeface="Arial" pitchFamily="34" charset="0"/>
                <a:ea typeface="Times New Roman" pitchFamily="18" charset="0"/>
                <a:cs typeface="Arial" pitchFamily="34" charset="0"/>
              </a:rPr>
              <a:t>escalating</a:t>
            </a:r>
            <a:r>
              <a:rPr lang="en-GB" sz="2000" dirty="0" smtClean="0">
                <a:solidFill>
                  <a:srgbClr val="000000"/>
                </a:solidFill>
                <a:latin typeface="Arial" pitchFamily="34" charset="0"/>
                <a:ea typeface="Times New Roman" pitchFamily="18" charset="0"/>
                <a:cs typeface="Arial" pitchFamily="34" charset="0"/>
              </a:rPr>
              <a:t> into conflicts and</a:t>
            </a:r>
          </a:p>
          <a:p>
            <a:pPr marL="457200" indent="-457200" algn="just" eaLnBrk="0" fontAlgn="base" hangingPunct="0">
              <a:spcBef>
                <a:spcPct val="0"/>
              </a:spcBef>
              <a:spcAft>
                <a:spcPct val="0"/>
              </a:spcAft>
              <a:buFont typeface="Arial" pitchFamily="34" charset="0"/>
              <a:buChar char="•"/>
            </a:pPr>
            <a:r>
              <a:rPr lang="en-GB" sz="2000" dirty="0" smtClean="0">
                <a:solidFill>
                  <a:srgbClr val="000000"/>
                </a:solidFill>
                <a:latin typeface="Arial" pitchFamily="34" charset="0"/>
                <a:ea typeface="Times New Roman" pitchFamily="18" charset="0"/>
                <a:cs typeface="Arial" pitchFamily="34" charset="0"/>
              </a:rPr>
              <a:t>urgent procedures to respond to problems requiring immediate attention to prevent or limit the scale or number of serious violations of the Convention) </a:t>
            </a:r>
          </a:p>
          <a:p>
            <a:pPr marL="457200" indent="-457200" algn="just" eaLnBrk="0" fontAlgn="base" hangingPunct="0">
              <a:spcBef>
                <a:spcPct val="0"/>
              </a:spcBef>
              <a:spcAft>
                <a:spcPct val="0"/>
              </a:spcAft>
              <a:buAutoNum type="alphaLcPeriod"/>
            </a:pPr>
            <a:endParaRPr lang="en-GB" sz="2000" dirty="0" smtClean="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GB" sz="2000" b="1" i="1" dirty="0" smtClean="0">
                <a:solidFill>
                  <a:srgbClr val="000000"/>
                </a:solidFill>
                <a:latin typeface="Arial" pitchFamily="34" charset="0"/>
                <a:ea typeface="Times New Roman" pitchFamily="18" charset="0"/>
                <a:cs typeface="Arial" pitchFamily="34" charset="0"/>
              </a:rPr>
              <a:t>b</a:t>
            </a:r>
            <a:r>
              <a:rPr lang="en-GB" sz="2000" i="1" dirty="0" smtClean="0">
                <a:solidFill>
                  <a:srgbClr val="000000"/>
                </a:solidFill>
                <a:latin typeface="Arial" pitchFamily="34" charset="0"/>
                <a:ea typeface="Times New Roman" pitchFamily="18" charset="0"/>
                <a:cs typeface="Arial" pitchFamily="34" charset="0"/>
              </a:rPr>
              <a:t>. The examination of </a:t>
            </a:r>
            <a:r>
              <a:rPr lang="en-GB" sz="2000" i="1" dirty="0" smtClean="0">
                <a:solidFill>
                  <a:srgbClr val="000000"/>
                </a:solidFill>
                <a:latin typeface="Arial" pitchFamily="34" charset="0"/>
                <a:ea typeface="Times New Roman" pitchFamily="18" charset="0"/>
                <a:cs typeface="Arial" pitchFamily="34" charset="0"/>
                <a:hlinkClick r:id="rId4"/>
              </a:rPr>
              <a:t>inter-state complaints</a:t>
            </a:r>
            <a:r>
              <a:rPr lang="en-GB" sz="2000" dirty="0" smtClean="0">
                <a:solidFill>
                  <a:srgbClr val="000000"/>
                </a:solidFill>
                <a:latin typeface="Arial" pitchFamily="34" charset="0"/>
                <a:ea typeface="Times New Roman" pitchFamily="18" charset="0"/>
                <a:cs typeface="Arial" pitchFamily="34" charset="0"/>
              </a:rPr>
              <a:t> and</a:t>
            </a:r>
          </a:p>
          <a:p>
            <a:pPr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lang="en-GB" sz="2000" b="1" i="1" dirty="0" smtClean="0">
                <a:solidFill>
                  <a:srgbClr val="000000"/>
                </a:solidFill>
                <a:latin typeface="Arial" pitchFamily="34" charset="0"/>
                <a:ea typeface="Times New Roman" pitchFamily="18" charset="0"/>
                <a:cs typeface="Arial" pitchFamily="34" charset="0"/>
              </a:rPr>
              <a:t>c</a:t>
            </a:r>
            <a:r>
              <a:rPr lang="en-GB" sz="2000" i="1" dirty="0" smtClean="0">
                <a:solidFill>
                  <a:srgbClr val="000000"/>
                </a:solidFill>
                <a:latin typeface="Arial" pitchFamily="34" charset="0"/>
                <a:ea typeface="Times New Roman" pitchFamily="18" charset="0"/>
                <a:cs typeface="Arial" pitchFamily="34" charset="0"/>
              </a:rPr>
              <a:t>. The examination of </a:t>
            </a:r>
            <a:r>
              <a:rPr lang="en-GB" sz="2000" i="1" dirty="0" smtClean="0">
                <a:solidFill>
                  <a:srgbClr val="000000"/>
                </a:solidFill>
                <a:latin typeface="Arial" pitchFamily="34" charset="0"/>
                <a:ea typeface="Times New Roman" pitchFamily="18" charset="0"/>
                <a:cs typeface="Arial" pitchFamily="34" charset="0"/>
                <a:hlinkClick r:id="rId4"/>
              </a:rPr>
              <a:t>individual complaints</a:t>
            </a:r>
            <a:endParaRPr lang="en-GB" sz="2000" i="1" dirty="0" smtClean="0">
              <a:solidFill>
                <a:srgbClr val="000000"/>
              </a:solidFill>
              <a:latin typeface="Arial" pitchFamily="34" charset="0"/>
              <a:ea typeface="Times New Roman" pitchFamily="18" charset="0"/>
              <a:cs typeface="Arial" pitchFamily="34" charset="0"/>
            </a:endParaRP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Committee meets in Geneva, holds two </a:t>
            </a:r>
            <a:r>
              <a:rPr lang="en-GB" sz="2000" dirty="0" smtClean="0">
                <a:latin typeface="Arial" pitchFamily="34" charset="0"/>
                <a:ea typeface="Times New Roman" pitchFamily="18" charset="0"/>
                <a:cs typeface="Arial" pitchFamily="34" charset="0"/>
                <a:hlinkClick r:id="rId5"/>
              </a:rPr>
              <a:t>sessions</a:t>
            </a:r>
            <a:r>
              <a:rPr lang="en-GB" sz="2000" dirty="0" smtClean="0">
                <a:solidFill>
                  <a:srgbClr val="000000"/>
                </a:solidFill>
                <a:latin typeface="Arial" pitchFamily="34" charset="0"/>
                <a:ea typeface="Times New Roman" pitchFamily="18" charset="0"/>
                <a:cs typeface="Arial" pitchFamily="34" charset="0"/>
              </a:rPr>
              <a:t> per year.</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latin typeface="Arial" pitchFamily="34" charset="0"/>
                <a:ea typeface="Times New Roman" pitchFamily="18" charset="0"/>
                <a:cs typeface="Arial" pitchFamily="34" charset="0"/>
              </a:rPr>
              <a:t> Committee also publishes its interpretation of provisions </a:t>
            </a:r>
            <a:r>
              <a:rPr lang="en-GB" sz="2000" i="1" dirty="0" smtClean="0">
                <a:latin typeface="Arial" pitchFamily="34" charset="0"/>
                <a:ea typeface="Times New Roman" pitchFamily="18" charset="0"/>
                <a:cs typeface="Arial" pitchFamily="34" charset="0"/>
              </a:rPr>
              <a:t>(</a:t>
            </a:r>
            <a:r>
              <a:rPr lang="en-GB" sz="2000" i="1" dirty="0" smtClean="0">
                <a:latin typeface="Arial" pitchFamily="34" charset="0"/>
                <a:ea typeface="Times New Roman" pitchFamily="18" charset="0"/>
                <a:cs typeface="Arial" pitchFamily="34" charset="0"/>
                <a:hlinkClick r:id="rId6"/>
              </a:rPr>
              <a:t>general comments)</a:t>
            </a: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ChangeArrowheads="1"/>
          </p:cNvSpPr>
          <p:nvPr/>
        </p:nvSpPr>
        <p:spPr bwMode="auto">
          <a:xfrm>
            <a:off x="142844" y="142852"/>
            <a:ext cx="8858312" cy="6555641"/>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858838" algn="l"/>
              </a:tabLst>
            </a:pPr>
            <a:r>
              <a:rPr kumimoji="0" lang="en-GB"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4</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Committee on the Elimination of Discrimination against Women CEDAW</a:t>
            </a:r>
          </a:p>
          <a:p>
            <a:pPr marL="0" marR="0" lvl="0" indent="0" algn="just" defTabSz="914400" rtl="0" eaLnBrk="1" fontAlgn="base" latinLnBrk="0" hangingPunct="1">
              <a:lnSpc>
                <a:spcPct val="100000"/>
              </a:lnSpc>
              <a:spcBef>
                <a:spcPct val="0"/>
              </a:spcBef>
              <a:spcAft>
                <a:spcPct val="0"/>
              </a:spcAft>
              <a:buClrTx/>
              <a:buSzTx/>
              <a:buFontTx/>
              <a:buNone/>
              <a:tabLst>
                <a:tab pos="858838"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algn="just" eaLnBrk="0" fontAlgn="base" hangingPunct="0">
              <a:spcBef>
                <a:spcPct val="0"/>
              </a:spcBef>
              <a:spcAft>
                <a:spcPct val="0"/>
              </a:spcAft>
              <a:buFont typeface="Arial" pitchFamily="34" charset="0"/>
              <a:buChar char="•"/>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Conv. takes an important place in bringing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female half of humanity</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into the focus of human rights concerns. </a:t>
            </a:r>
          </a:p>
          <a:p>
            <a:pPr algn="just" eaLnBrk="0" fontAlgn="base" hangingPunct="0">
              <a:spcBef>
                <a:spcPct val="0"/>
              </a:spcBef>
              <a:spcAft>
                <a:spcPct val="0"/>
              </a:spcAft>
              <a:tabLst>
                <a:tab pos="858838"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algn="just" eaLnBrk="0" fontAlgn="base" hangingPunct="0">
              <a:spcBef>
                <a:spcPct val="0"/>
              </a:spcBef>
              <a:spcAft>
                <a:spcPct val="0"/>
              </a:spcAft>
              <a:buFont typeface="Arial" pitchFamily="34" charset="0"/>
              <a:buChar char="•"/>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CEDAW, adopted on 18 December 1979</a:t>
            </a:r>
          </a:p>
          <a:p>
            <a:pPr lvl="1" algn="just" eaLnBrk="0" fontAlgn="base" hangingPunct="0">
              <a:spcBef>
                <a:spcPct val="0"/>
              </a:spcBef>
              <a:spcAft>
                <a:spcPct val="0"/>
              </a:spcAft>
              <a:buFont typeface="Arial" pitchFamily="34" charset="0"/>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guarantees the right of all women to be free from discrimination and </a:t>
            </a:r>
          </a:p>
          <a:p>
            <a:pPr lvl="1" algn="just" eaLnBrk="0" fontAlgn="base" hangingPunct="0">
              <a:spcBef>
                <a:spcPct val="0"/>
              </a:spcBef>
              <a:spcAft>
                <a:spcPct val="0"/>
              </a:spcAft>
              <a:buFont typeface="Arial" pitchFamily="34" charset="0"/>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sets out obligations for states parties designed to ensure legal and practical enjoyment of that right.</a:t>
            </a:r>
          </a:p>
          <a:p>
            <a:pPr algn="just" eaLnBrk="0" fontAlgn="base" hangingPunct="0">
              <a:spcBef>
                <a:spcPct val="0"/>
              </a:spcBef>
              <a:spcAft>
                <a:spcPct val="0"/>
              </a:spcAft>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algn="just" eaLnBrk="0" fontAlgn="base" hangingPunct="0">
              <a:spcBef>
                <a:spcPct val="0"/>
              </a:spcBef>
              <a:spcAft>
                <a:spcPct val="0"/>
              </a:spcAft>
              <a:buFont typeface="Arial" pitchFamily="34" charset="0"/>
              <a:buChar char="•"/>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While the ICCPR also contains free-standing provisions for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non-discrimination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on the basis of gender, the Convention is a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specialized</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treaty</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greater details.</a:t>
            </a:r>
          </a:p>
          <a:p>
            <a:pPr algn="just" eaLnBrk="0" fontAlgn="base" hangingPunct="0">
              <a:spcBef>
                <a:spcPct val="0"/>
              </a:spcBef>
              <a:spcAft>
                <a:spcPct val="0"/>
              </a:spcAft>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58838"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‘Discrimination against women’ embraces </a:t>
            </a:r>
          </a:p>
          <a:p>
            <a:pPr lvl="1" algn="just" eaLnBrk="0" fontAlgn="base" hangingPunct="0">
              <a:spcBef>
                <a:spcPct val="0"/>
              </a:spcBef>
              <a:spcAft>
                <a:spcPct val="0"/>
              </a:spcAft>
              <a:buFontTx/>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any distinction, exclusion or restriction made on the basis of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sex</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1" algn="just" eaLnBrk="0" fontAlgn="base" hangingPunct="0">
              <a:spcBef>
                <a:spcPct val="0"/>
              </a:spcBef>
              <a:spcAft>
                <a:spcPct val="0"/>
              </a:spcAft>
              <a:buFontTx/>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which has the effect or purpose of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impairing or nullifying the recognition, enjoyment or exercise by women,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irrespective of their marital status, on a basis of equality of men and women, of human rights and fund. freedoms in the pol., eco., social, cultural, civil or any other field.</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14290"/>
            <a:ext cx="8858312" cy="6247864"/>
          </a:xfrm>
          <a:prstGeom prst="rect">
            <a:avLst/>
          </a:prstGeom>
        </p:spPr>
        <p:txBody>
          <a:bodyPr wrap="square">
            <a:spAutoFit/>
          </a:bodyPr>
          <a:lstStyle/>
          <a:p>
            <a:pPr lvl="0" algn="just" eaLnBrk="0" fontAlgn="base" hangingPunct="0">
              <a:spcBef>
                <a:spcPct val="0"/>
              </a:spcBef>
              <a:spcAft>
                <a:spcPct val="0"/>
              </a:spcAft>
              <a:buFontTx/>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The Committee on the EDAW monitors implementation of the </a:t>
            </a:r>
            <a:r>
              <a:rPr lang="en-GB" sz="2000" dirty="0" smtClean="0">
                <a:solidFill>
                  <a:srgbClr val="000000"/>
                </a:solidFill>
                <a:latin typeface="Arial" pitchFamily="34" charset="0"/>
                <a:ea typeface="Times New Roman" pitchFamily="18" charset="0"/>
                <a:cs typeface="Arial" pitchFamily="34" charset="0"/>
                <a:hlinkClick r:id="rId3"/>
              </a:rPr>
              <a:t>Convention</a:t>
            </a:r>
            <a:r>
              <a:rPr lang="en-GB" sz="2000" dirty="0" smtClean="0">
                <a:latin typeface="Arial" pitchFamily="34" charset="0"/>
                <a:ea typeface="Times New Roman" pitchFamily="18" charset="0"/>
                <a:cs typeface="Arial" pitchFamily="34" charset="0"/>
              </a:rPr>
              <a:t>.</a:t>
            </a: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Symbol" pitchFamily="18" charset="2"/>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Committee of </a:t>
            </a:r>
            <a:r>
              <a:rPr lang="en-GB" sz="2000" dirty="0" smtClean="0">
                <a:solidFill>
                  <a:srgbClr val="000000"/>
                </a:solidFill>
                <a:latin typeface="Arial" pitchFamily="34" charset="0"/>
                <a:ea typeface="Times New Roman" pitchFamily="18" charset="0"/>
                <a:cs typeface="Arial" pitchFamily="34" charset="0"/>
                <a:hlinkClick r:id="rId4"/>
              </a:rPr>
              <a:t>23 experts</a:t>
            </a:r>
            <a:r>
              <a:rPr lang="en-GB" sz="2000" dirty="0" smtClean="0">
                <a:solidFill>
                  <a:srgbClr val="000000"/>
                </a:solidFill>
                <a:latin typeface="Arial" pitchFamily="34" charset="0"/>
                <a:ea typeface="Times New Roman" pitchFamily="18" charset="0"/>
                <a:cs typeface="Arial" pitchFamily="34" charset="0"/>
              </a:rPr>
              <a:t> on women’s rights from around the world.</a:t>
            </a:r>
          </a:p>
          <a:p>
            <a:pPr lvl="2" algn="just" eaLnBrk="0" fontAlgn="base" hangingPunct="0">
              <a:spcBef>
                <a:spcPct val="0"/>
              </a:spcBef>
              <a:spcAft>
                <a:spcPct val="0"/>
              </a:spcAft>
              <a:tabLst>
                <a:tab pos="858838" algn="l"/>
              </a:tabLst>
            </a:pPr>
            <a:endParaRPr lang="en-GB" sz="2000" dirty="0" smtClean="0">
              <a:solidFill>
                <a:srgbClr val="000000"/>
              </a:solidFill>
              <a:latin typeface="Arial" pitchFamily="34" charset="0"/>
              <a:ea typeface="Times New Roman" pitchFamily="18" charset="0"/>
              <a:cs typeface="Arial" pitchFamily="34" charset="0"/>
            </a:endParaRPr>
          </a:p>
          <a:p>
            <a:pPr marL="457200" indent="-457200" algn="just" eaLnBrk="0" fontAlgn="base" hangingPunct="0">
              <a:spcBef>
                <a:spcPct val="0"/>
              </a:spcBef>
              <a:spcAft>
                <a:spcPct val="0"/>
              </a:spcAft>
              <a:buAutoNum type="arabicPeriod"/>
              <a:tabLst>
                <a:tab pos="858838" algn="l"/>
              </a:tabLst>
            </a:pPr>
            <a:r>
              <a:rPr lang="en-GB" sz="2000" b="1" dirty="0" smtClean="0">
                <a:solidFill>
                  <a:srgbClr val="000000"/>
                </a:solidFill>
                <a:latin typeface="Arial" pitchFamily="34" charset="0"/>
                <a:ea typeface="Times New Roman" pitchFamily="18" charset="0"/>
                <a:cs typeface="Arial" pitchFamily="34" charset="0"/>
              </a:rPr>
              <a:t>Reporting</a:t>
            </a:r>
            <a:r>
              <a:rPr lang="en-GB" sz="2000" dirty="0" smtClean="0">
                <a:solidFill>
                  <a:srgbClr val="000000"/>
                </a:solidFill>
                <a:latin typeface="Arial" pitchFamily="34" charset="0"/>
                <a:ea typeface="Times New Roman" pitchFamily="18" charset="0"/>
                <a:cs typeface="Arial" pitchFamily="34" charset="0"/>
              </a:rPr>
              <a:t>: states obliged to submit regular reports to the committee.</a:t>
            </a:r>
          </a:p>
          <a:p>
            <a:pPr marL="457200" indent="-457200" algn="just" eaLnBrk="0" fontAlgn="base" hangingPunct="0">
              <a:spcBef>
                <a:spcPct val="0"/>
              </a:spcBef>
              <a:spcAft>
                <a:spcPct val="0"/>
              </a:spcAft>
              <a:tabLst>
                <a:tab pos="858838" algn="l"/>
              </a:tabLst>
            </a:pP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Courier New" pitchFamily="49" charset="0"/>
              <a:buChar char="o"/>
              <a:tabLst>
                <a:tab pos="858838" algn="l"/>
              </a:tabLst>
            </a:pPr>
            <a:r>
              <a:rPr lang="en-GB" sz="2000" dirty="0" smtClean="0">
                <a:solidFill>
                  <a:srgbClr val="000000"/>
                </a:solidFill>
                <a:latin typeface="Arial" pitchFamily="34" charset="0"/>
                <a:ea typeface="Times New Roman" pitchFamily="18" charset="0"/>
                <a:cs typeface="Arial" pitchFamily="34" charset="0"/>
              </a:rPr>
              <a:t> Committee considers each State party report and addresses its concerns to the state party in the form of concluding observations.</a:t>
            </a:r>
          </a:p>
          <a:p>
            <a:pPr lvl="2" algn="just" eaLnBrk="0" fontAlgn="base" hangingPunct="0">
              <a:spcBef>
                <a:spcPct val="0"/>
              </a:spcBef>
              <a:spcAft>
                <a:spcPct val="0"/>
              </a:spcAft>
              <a:tabLst>
                <a:tab pos="858838" algn="l"/>
              </a:tabLst>
            </a:pPr>
            <a:endParaRPr lang="en-GB" sz="2000" dirty="0" smtClean="0">
              <a:solidFill>
                <a:srgbClr val="000000"/>
              </a:solidFill>
              <a:latin typeface="Arial" pitchFamily="34" charset="0"/>
              <a:ea typeface="Times New Roman" pitchFamily="18" charset="0"/>
              <a:cs typeface="Arial" pitchFamily="34" charset="0"/>
            </a:endParaRPr>
          </a:p>
          <a:p>
            <a:pPr algn="just" eaLnBrk="0" fontAlgn="base" hangingPunct="0">
              <a:spcBef>
                <a:spcPct val="0"/>
              </a:spcBef>
              <a:spcAft>
                <a:spcPct val="0"/>
              </a:spcAft>
              <a:tabLst>
                <a:tab pos="858838" algn="l"/>
              </a:tabLst>
            </a:pPr>
            <a:r>
              <a:rPr lang="en-GB" sz="2000" dirty="0" smtClean="0">
                <a:solidFill>
                  <a:srgbClr val="000000"/>
                </a:solidFill>
                <a:latin typeface="Arial" pitchFamily="34" charset="0"/>
                <a:ea typeface="Times New Roman" pitchFamily="18" charset="0"/>
                <a:cs typeface="Arial" pitchFamily="34" charset="0"/>
              </a:rPr>
              <a:t>2. </a:t>
            </a:r>
            <a:r>
              <a:rPr lang="en-GB" sz="2000" b="1" dirty="0" smtClean="0">
                <a:solidFill>
                  <a:srgbClr val="000000"/>
                </a:solidFill>
                <a:latin typeface="Arial" pitchFamily="34" charset="0"/>
                <a:ea typeface="Times New Roman" pitchFamily="18" charset="0"/>
                <a:cs typeface="Arial" pitchFamily="34" charset="0"/>
              </a:rPr>
              <a:t>Communications and inquiries</a:t>
            </a:r>
            <a:r>
              <a:rPr lang="en-GB" sz="2000" dirty="0" smtClean="0">
                <a:solidFill>
                  <a:srgbClr val="000000"/>
                </a:solidFill>
                <a:latin typeface="Arial" pitchFamily="34" charset="0"/>
                <a:ea typeface="Times New Roman" pitchFamily="18" charset="0"/>
                <a:cs typeface="Arial" pitchFamily="34" charset="0"/>
              </a:rPr>
              <a:t>: In accordance with </a:t>
            </a:r>
            <a:r>
              <a:rPr lang="en-GB" sz="2000" i="1" dirty="0" smtClean="0">
                <a:solidFill>
                  <a:srgbClr val="000000"/>
                </a:solidFill>
                <a:latin typeface="Arial" pitchFamily="34" charset="0"/>
                <a:ea typeface="Times New Roman" pitchFamily="18" charset="0"/>
                <a:cs typeface="Arial" pitchFamily="34" charset="0"/>
              </a:rPr>
              <a:t>the </a:t>
            </a:r>
            <a:r>
              <a:rPr lang="en-GB" sz="2000" i="1" dirty="0" smtClean="0">
                <a:solidFill>
                  <a:srgbClr val="000000"/>
                </a:solidFill>
                <a:latin typeface="Arial" pitchFamily="34" charset="0"/>
                <a:ea typeface="Times New Roman" pitchFamily="18" charset="0"/>
                <a:cs typeface="Arial" pitchFamily="34" charset="0"/>
                <a:hlinkClick r:id="rId5"/>
              </a:rPr>
              <a:t>Optional Protocol to the Convention</a:t>
            </a:r>
            <a:r>
              <a:rPr lang="en-GB" sz="2000" dirty="0" smtClean="0">
                <a:solidFill>
                  <a:srgbClr val="000000"/>
                </a:solidFill>
                <a:latin typeface="Arial" pitchFamily="34" charset="0"/>
                <a:ea typeface="Times New Roman" pitchFamily="18" charset="0"/>
                <a:cs typeface="Arial" pitchFamily="34" charset="0"/>
              </a:rPr>
              <a:t>, the Committee is mandated to:</a:t>
            </a:r>
          </a:p>
          <a:p>
            <a:pPr algn="just" eaLnBrk="0" fontAlgn="base" hangingPunct="0">
              <a:spcBef>
                <a:spcPct val="0"/>
              </a:spcBef>
              <a:spcAft>
                <a:spcPct val="0"/>
              </a:spcAft>
              <a:tabLst>
                <a:tab pos="858838" algn="l"/>
              </a:tabLs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AutoNum type="romanUcPeriod"/>
              <a:tabLst>
                <a:tab pos="858838" algn="l"/>
              </a:tabLst>
            </a:pPr>
            <a:r>
              <a:rPr lang="en-GB" sz="2000" dirty="0" smtClean="0">
                <a:solidFill>
                  <a:srgbClr val="000000"/>
                </a:solidFill>
                <a:latin typeface="Arial" pitchFamily="34" charset="0"/>
                <a:ea typeface="Times New Roman" pitchFamily="18" charset="0"/>
                <a:cs typeface="Arial" pitchFamily="34" charset="0"/>
              </a:rPr>
              <a:t> Receive </a:t>
            </a:r>
            <a:r>
              <a:rPr lang="en-GB" sz="2000" i="1" dirty="0" smtClean="0">
                <a:solidFill>
                  <a:srgbClr val="000000"/>
                </a:solidFill>
                <a:latin typeface="Arial" pitchFamily="34" charset="0"/>
                <a:ea typeface="Times New Roman" pitchFamily="18" charset="0"/>
                <a:cs typeface="Arial" pitchFamily="34" charset="0"/>
                <a:hlinkClick r:id="rId6"/>
              </a:rPr>
              <a:t>communications</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from </a:t>
            </a:r>
            <a:r>
              <a:rPr lang="en-GB" sz="2000" dirty="0" err="1" smtClean="0">
                <a:solidFill>
                  <a:srgbClr val="000000"/>
                </a:solidFill>
                <a:latin typeface="Arial" pitchFamily="34" charset="0"/>
                <a:ea typeface="Times New Roman" pitchFamily="18" charset="0"/>
                <a:cs typeface="Arial" pitchFamily="34" charset="0"/>
              </a:rPr>
              <a:t>indiv</a:t>
            </a:r>
            <a:r>
              <a:rPr lang="en-GB" sz="2000" dirty="0" smtClean="0">
                <a:solidFill>
                  <a:srgbClr val="000000"/>
                </a:solidFill>
                <a:latin typeface="Arial" pitchFamily="34" charset="0"/>
                <a:ea typeface="Times New Roman" pitchFamily="18" charset="0"/>
                <a:cs typeface="Arial" pitchFamily="34" charset="0"/>
              </a:rPr>
              <a:t>. or groups of </a:t>
            </a:r>
            <a:r>
              <a:rPr lang="en-GB" sz="2000" dirty="0" err="1" smtClean="0">
                <a:solidFill>
                  <a:srgbClr val="000000"/>
                </a:solidFill>
                <a:latin typeface="Arial" pitchFamily="34" charset="0"/>
                <a:ea typeface="Times New Roman" pitchFamily="18" charset="0"/>
                <a:cs typeface="Arial" pitchFamily="34" charset="0"/>
              </a:rPr>
              <a:t>indiv</a:t>
            </a:r>
            <a:r>
              <a:rPr lang="en-GB" sz="2000" dirty="0" smtClean="0">
                <a:solidFill>
                  <a:srgbClr val="000000"/>
                </a:solidFill>
                <a:latin typeface="Arial" pitchFamily="34" charset="0"/>
                <a:ea typeface="Times New Roman" pitchFamily="18" charset="0"/>
                <a:cs typeface="Arial" pitchFamily="34" charset="0"/>
              </a:rPr>
              <a:t>. submitting claims of violations of rights protected under the Conv. to the Committee,</a:t>
            </a:r>
            <a:endParaRPr lang="en-GB" sz="2000"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AutoNum type="romanUcPeriod"/>
              <a:tabLst>
                <a:tab pos="858838" algn="l"/>
              </a:tabLst>
            </a:pPr>
            <a:r>
              <a:rPr lang="en-GB" sz="2000" dirty="0" smtClean="0">
                <a:solidFill>
                  <a:srgbClr val="000000"/>
                </a:solidFill>
                <a:latin typeface="Arial" pitchFamily="34" charset="0"/>
                <a:ea typeface="Times New Roman" pitchFamily="18" charset="0"/>
                <a:cs typeface="Arial" pitchFamily="34" charset="0"/>
              </a:rPr>
              <a:t> Initiate</a:t>
            </a:r>
            <a:r>
              <a:rPr lang="en-GB" sz="2000" i="1" dirty="0" smtClean="0">
                <a:solidFill>
                  <a:srgbClr val="000000"/>
                </a:solidFill>
                <a:latin typeface="Arial" pitchFamily="34" charset="0"/>
                <a:ea typeface="Times New Roman" pitchFamily="18" charset="0"/>
                <a:cs typeface="Arial" pitchFamily="34" charset="0"/>
                <a:hlinkClick r:id="rId7"/>
              </a:rPr>
              <a:t> inquiries</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into</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situations of grave or systematic violations of women’s rights. </a:t>
            </a:r>
          </a:p>
          <a:p>
            <a:pPr lvl="1" algn="just" eaLnBrk="0" fontAlgn="base" hangingPunct="0">
              <a:spcBef>
                <a:spcPct val="0"/>
              </a:spcBef>
              <a:spcAft>
                <a:spcPct val="0"/>
              </a:spcAft>
              <a:tabLst>
                <a:tab pos="858838" algn="l"/>
              </a:tabLst>
            </a:pP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These procedures are </a:t>
            </a:r>
            <a:r>
              <a:rPr lang="en-GB" sz="2000" b="1" i="1" dirty="0" smtClean="0">
                <a:solidFill>
                  <a:srgbClr val="000000"/>
                </a:solidFill>
                <a:latin typeface="Arial" pitchFamily="34" charset="0"/>
                <a:ea typeface="Times New Roman" pitchFamily="18" charset="0"/>
                <a:cs typeface="Arial" pitchFamily="34" charset="0"/>
              </a:rPr>
              <a:t>optional</a:t>
            </a:r>
            <a:r>
              <a:rPr lang="en-GB" sz="2000" dirty="0" smtClean="0">
                <a:solidFill>
                  <a:srgbClr val="000000"/>
                </a:solidFill>
                <a:latin typeface="Arial" pitchFamily="34" charset="0"/>
                <a:ea typeface="Times New Roman" pitchFamily="18" charset="0"/>
                <a:cs typeface="Arial" pitchFamily="34" charset="0"/>
              </a:rPr>
              <a:t>, only available where the state has accepted them.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Tx/>
              <a:buChar char="•"/>
              <a:tabLst>
                <a:tab pos="858838" algn="l"/>
              </a:tabLst>
            </a:pPr>
            <a:r>
              <a:rPr lang="en-GB" sz="2000" dirty="0" smtClean="0">
                <a:solidFill>
                  <a:srgbClr val="000000"/>
                </a:solidFill>
                <a:latin typeface="Arial" pitchFamily="34" charset="0"/>
                <a:ea typeface="Times New Roman" pitchFamily="18" charset="0"/>
                <a:cs typeface="Arial" pitchFamily="34" charset="0"/>
              </a:rPr>
              <a:t> The complaints mechanism for the Convention was adopted on 6 October 1999. </a:t>
            </a:r>
            <a:endParaRPr lang="en-GB" sz="2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107504" y="214290"/>
            <a:ext cx="8856984" cy="6591508"/>
          </a:xfrm>
          <a:prstGeom prst="rect">
            <a:avLst/>
          </a:prstGeom>
          <a:solidFill>
            <a:srgbClr val="FFFFFF"/>
          </a:solidFill>
          <a:ln w="9525">
            <a:noFill/>
            <a:miter lim="800000"/>
            <a:headEnd/>
            <a:tailEnd/>
          </a:ln>
          <a:effectLst/>
        </p:spPr>
        <p:txBody>
          <a:bodyPr vert="horz" wrap="square" lIns="676062" tIns="12696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68350" algn="l"/>
              </a:tabLst>
            </a:pP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hlinkClick r:id="rId3"/>
              </a:rPr>
              <a:t>5. Committee against Torture</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(CAT) </a:t>
            </a:r>
          </a:p>
          <a:p>
            <a:pPr marL="0" marR="0" lvl="0" indent="0" algn="l" defTabSz="914400" rtl="0" eaLnBrk="1" fontAlgn="base" latinLnBrk="0" hangingPunct="1">
              <a:lnSpc>
                <a:spcPct val="100000"/>
              </a:lnSpc>
              <a:spcBef>
                <a:spcPct val="0"/>
              </a:spcBef>
              <a:spcAft>
                <a:spcPct val="0"/>
              </a:spcAft>
              <a:buClrTx/>
              <a:buSzTx/>
              <a:buFontTx/>
              <a:buNone/>
              <a:tabLst>
                <a:tab pos="768350" algn="l"/>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eaLnBrk="0" fontAlgn="base" hangingPunct="0">
              <a:spcBef>
                <a:spcPct val="0"/>
              </a:spcBef>
              <a:spcAft>
                <a:spcPct val="0"/>
              </a:spcAft>
              <a:buFont typeface="Arial" pitchFamily="34" charset="0"/>
              <a:buChar char="•"/>
              <a:tabLst>
                <a:tab pos="768350" algn="l"/>
              </a:tabLst>
            </a:pPr>
            <a:r>
              <a:rPr lang="en-GB" sz="1600" dirty="0" smtClean="0">
                <a:solidFill>
                  <a:srgbClr val="000000"/>
                </a:solidFill>
                <a:latin typeface="Arial" pitchFamily="34" charset="0"/>
                <a:ea typeface="SimSun" pitchFamily="2" charset="-122"/>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Convention against Torture and Other Cruel, Inhuman or Degrading Treatment or Punishment prohibits </a:t>
            </a:r>
          </a:p>
          <a:p>
            <a:pPr lvl="1" algn="just" eaLnBrk="0" fontAlgn="base" hangingPunct="0">
              <a:spcBef>
                <a:spcPct val="0"/>
              </a:spcBef>
              <a:spcAft>
                <a:spcPct val="0"/>
              </a:spcAft>
              <a:buFont typeface="Arial" pitchFamily="34" charset="0"/>
              <a:buChar char="•"/>
              <a:tabLst>
                <a:tab pos="768350" algn="l"/>
              </a:tabLst>
            </a:pPr>
            <a:r>
              <a:rPr lang="en-GB" sz="2000" dirty="0" smtClean="0">
                <a:solidFill>
                  <a:srgbClr val="000000"/>
                </a:solidFill>
                <a:latin typeface="Arial" pitchFamily="34" charset="0"/>
                <a:ea typeface="SimSun" pitchFamily="2" charset="-122"/>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any act by which severe pain or suffering, whether physical or mental, is intentionally inflicted on a person for such purposes as</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Arial" pitchFamily="34" charset="0"/>
              <a:buChar char="•"/>
              <a:tabLst>
                <a:tab pos="768350" algn="l"/>
              </a:tabLst>
            </a:pPr>
            <a:r>
              <a:rPr kumimoji="0" lang="en-GB" sz="2000" b="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o</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btaining from him or a third person info. or a confession,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Arial" pitchFamily="34" charset="0"/>
              <a:buChar char="•"/>
              <a:tabLst>
                <a:tab pos="768350" algn="l"/>
              </a:tabLst>
            </a:pPr>
            <a:r>
              <a:rPr kumimoji="0" lang="en-GB" sz="2000" b="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punishing him for an act he or a third person has committed or is suspected of having committed, or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Arial" pitchFamily="34" charset="0"/>
              <a:buChar char="•"/>
              <a:tabLst>
                <a:tab pos="768350" algn="l"/>
              </a:tabLst>
            </a:pPr>
            <a:r>
              <a:rPr kumimoji="0" lang="en-GB" sz="2000" b="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intimidating or coercing him or a third person, or for any reason based on discrimination of any kind, </a:t>
            </a:r>
          </a:p>
          <a:p>
            <a:pPr lvl="2" algn="just" eaLnBrk="0" fontAlgn="base" hangingPunct="0">
              <a:spcBef>
                <a:spcPct val="0"/>
              </a:spcBef>
              <a:spcAft>
                <a:spcPct val="0"/>
              </a:spcAft>
              <a:buFont typeface="Arial" pitchFamily="34" charset="0"/>
              <a:buChar char="•"/>
              <a:tabLst>
                <a:tab pos="768350" algn="l"/>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when such pain or suffering is inflicted by or at the instigation of or with the consent or acquiescence of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 public official </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or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other person acting in an official capacity</a:t>
            </a: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p>
          <a:p>
            <a:pPr lvl="2" algn="just" eaLnBrk="0" fontAlgn="base" hangingPunct="0">
              <a:spcBef>
                <a:spcPct val="0"/>
              </a:spcBef>
              <a:spcAft>
                <a:spcPct val="0"/>
              </a:spcAft>
              <a:tabLst>
                <a:tab pos="768350" algn="l"/>
              </a:tabLst>
            </a:pPr>
            <a:r>
              <a:rPr kumimoji="0" lang="en-GB" sz="2000" b="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tabLst>
                <a:tab pos="768350" algn="l"/>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It does not include pain or suffering arising only from, inherent in or incidental to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lawful sanctions.</a:t>
            </a:r>
          </a:p>
          <a:p>
            <a:pPr lvl="1" algn="just" eaLnBrk="0" fontAlgn="base" hangingPunct="0">
              <a:spcBef>
                <a:spcPct val="0"/>
              </a:spcBef>
              <a:spcAft>
                <a:spcPct val="0"/>
              </a:spcAft>
              <a:tabLst>
                <a:tab pos="768350" algn="l"/>
              </a:tabLst>
            </a:pPr>
            <a:endParaRPr kumimoji="0" lang="en-GB" sz="2000" b="1" i="1"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768350" algn="l"/>
              </a:tabLst>
            </a:pPr>
            <a:r>
              <a:rPr kumimoji="0" lang="en-GB" sz="2000" b="0" i="0" u="none" strike="noStrike" cap="none" normalizeH="0" baseline="0" dirty="0" smtClean="0">
                <a:ln>
                  <a:noFill/>
                </a:ln>
                <a:solidFill>
                  <a:srgbClr val="000000"/>
                </a:solidFill>
                <a:effectLst/>
                <a:latin typeface="Arial" pitchFamily="34" charset="0"/>
                <a:ea typeface="SimSun" pitchFamily="2" charset="-122"/>
                <a:cs typeface="Arial" pitchFamily="34" charset="0"/>
              </a:rPr>
              <a:t> CAT adopted and opened for signature, ratification and accession by GA resolution in 1984, entry into force in 1987.</a:t>
            </a:r>
            <a:endParaRPr kumimoji="0" lang="en-GB" sz="2000" b="0" i="0" u="none" strike="noStrike" cap="none" normalizeH="0" baseline="0" dirty="0" smtClean="0">
              <a:ln>
                <a:noFill/>
              </a:ln>
              <a:solidFill>
                <a:srgbClr val="243F60"/>
              </a:solidFill>
              <a:effectLst/>
              <a:latin typeface="Arial" pitchFamily="34" charset="0"/>
              <a:ea typeface="SimSun" pitchFamily="2" charset="-122"/>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68350" algn="l"/>
              </a:tabLs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1305342"/>
            <a:ext cx="8143932" cy="5324535"/>
          </a:xfrm>
          <a:prstGeom prst="rect">
            <a:avLst/>
          </a:prstGeom>
        </p:spPr>
        <p:txBody>
          <a:bodyPr wrap="square">
            <a:spAutoFit/>
          </a:bodyPr>
          <a:lstStyle/>
          <a:p>
            <a:pPr lvl="0" eaLnBrk="0" fontAlgn="base" hangingPunct="0">
              <a:spcBef>
                <a:spcPct val="0"/>
              </a:spcBef>
              <a:spcAft>
                <a:spcPct val="0"/>
              </a:spcAft>
              <a:buFontTx/>
              <a:buChar char="•"/>
              <a:tabLst>
                <a:tab pos="768350" algn="l"/>
              </a:tabLst>
            </a:pPr>
            <a:r>
              <a:rPr lang="en-GB" sz="2000" dirty="0" smtClean="0">
                <a:solidFill>
                  <a:srgbClr val="000000"/>
                </a:solidFill>
                <a:latin typeface="Arial" pitchFamily="34" charset="0"/>
                <a:ea typeface="SimSun" pitchFamily="2" charset="-122"/>
                <a:cs typeface="Arial" pitchFamily="34" charset="0"/>
              </a:rPr>
              <a:t> Committee Against Torture, body of </a:t>
            </a:r>
            <a:r>
              <a:rPr lang="en-GB" sz="2000" i="1" dirty="0" smtClean="0">
                <a:solidFill>
                  <a:srgbClr val="000000"/>
                </a:solidFill>
                <a:latin typeface="Arial" pitchFamily="34" charset="0"/>
                <a:ea typeface="SimSun" pitchFamily="2" charset="-122"/>
                <a:cs typeface="Arial" pitchFamily="34" charset="0"/>
              </a:rPr>
              <a:t>10 </a:t>
            </a:r>
            <a:r>
              <a:rPr lang="en-GB" sz="2000" i="1" dirty="0" smtClean="0">
                <a:solidFill>
                  <a:srgbClr val="000000"/>
                </a:solidFill>
                <a:latin typeface="Arial" pitchFamily="34" charset="0"/>
                <a:ea typeface="SimSun" pitchFamily="2" charset="-122"/>
                <a:cs typeface="Arial" pitchFamily="34" charset="0"/>
                <a:hlinkClick r:id="rId3"/>
              </a:rPr>
              <a:t>independent experts,</a:t>
            </a:r>
            <a:r>
              <a:rPr lang="en-GB" sz="2000" dirty="0" smtClean="0">
                <a:solidFill>
                  <a:srgbClr val="000000"/>
                </a:solidFill>
                <a:latin typeface="Arial" pitchFamily="34" charset="0"/>
                <a:ea typeface="SimSun" pitchFamily="2" charset="-122"/>
                <a:cs typeface="Arial" pitchFamily="34" charset="0"/>
                <a:hlinkClick r:id="rId3"/>
              </a:rPr>
              <a:t> </a:t>
            </a:r>
            <a:r>
              <a:rPr lang="en-GB" sz="2000" dirty="0" smtClean="0">
                <a:solidFill>
                  <a:srgbClr val="000000"/>
                </a:solidFill>
                <a:latin typeface="Arial" pitchFamily="34" charset="0"/>
                <a:ea typeface="SimSun" pitchFamily="2" charset="-122"/>
                <a:cs typeface="Arial" pitchFamily="34" charset="0"/>
              </a:rPr>
              <a:t>monitors implementation of the convention</a:t>
            </a:r>
            <a:r>
              <a:rPr lang="en-GB" sz="2000" dirty="0" smtClean="0">
                <a:solidFill>
                  <a:srgbClr val="000000"/>
                </a:solidFill>
                <a:latin typeface="Arial" pitchFamily="34" charset="0"/>
                <a:ea typeface="SimSun" pitchFamily="2" charset="-122"/>
                <a:cs typeface="Arial" pitchFamily="34" charset="0"/>
                <a:hlinkClick r:id="rId4"/>
              </a:rPr>
              <a:t>,</a:t>
            </a:r>
            <a:r>
              <a:rPr lang="en-GB" sz="2000" dirty="0" smtClean="0">
                <a:solidFill>
                  <a:srgbClr val="243F60"/>
                </a:solidFill>
                <a:latin typeface="Arial" pitchFamily="34" charset="0"/>
                <a:ea typeface="SimSun" pitchFamily="2" charset="-122"/>
                <a:cs typeface="Arial" pitchFamily="34" charset="0"/>
              </a:rPr>
              <a:t> </a:t>
            </a:r>
            <a:r>
              <a:rPr lang="en-GB" sz="2000" dirty="0" smtClean="0">
                <a:solidFill>
                  <a:srgbClr val="000000"/>
                </a:solidFill>
                <a:latin typeface="Arial" pitchFamily="34" charset="0"/>
                <a:ea typeface="SimSun" pitchFamily="2" charset="-122"/>
                <a:cs typeface="Arial" pitchFamily="34" charset="0"/>
              </a:rPr>
              <a:t>began its function in 1988.</a:t>
            </a:r>
          </a:p>
          <a:p>
            <a:pPr lvl="0" eaLnBrk="0" fontAlgn="base" hangingPunct="0">
              <a:spcBef>
                <a:spcPct val="0"/>
              </a:spcBef>
              <a:spcAft>
                <a:spcPct val="0"/>
              </a:spcAft>
              <a:tabLst>
                <a:tab pos="768350" algn="l"/>
              </a:tabLst>
            </a:pPr>
            <a:endParaRPr lang="en-GB" sz="2000" dirty="0" smtClean="0">
              <a:solidFill>
                <a:srgbClr val="243F60"/>
              </a:solidFill>
              <a:latin typeface="Arial" pitchFamily="34" charset="0"/>
              <a:ea typeface="SimSun" pitchFamily="2" charset="-122"/>
              <a:cs typeface="Arial" pitchFamily="34" charset="0"/>
            </a:endParaRPr>
          </a:p>
          <a:p>
            <a:pPr lvl="0" algn="just" eaLnBrk="0" fontAlgn="base" hangingPunct="0">
              <a:spcBef>
                <a:spcPct val="0"/>
              </a:spcBef>
              <a:spcAft>
                <a:spcPct val="0"/>
              </a:spcAft>
              <a:tabLst>
                <a:tab pos="768350" algn="l"/>
              </a:tabLst>
            </a:pPr>
            <a:r>
              <a:rPr lang="en-GB" sz="2000" b="1" dirty="0" smtClean="0">
                <a:solidFill>
                  <a:srgbClr val="243F60"/>
                </a:solidFill>
                <a:latin typeface="Arial" pitchFamily="34" charset="0"/>
                <a:ea typeface="SimSun" pitchFamily="2" charset="-122"/>
                <a:cs typeface="Arial" pitchFamily="34" charset="0"/>
              </a:rPr>
              <a:t>1</a:t>
            </a:r>
            <a:r>
              <a:rPr lang="en-GB" sz="2000" dirty="0" smtClean="0">
                <a:solidFill>
                  <a:srgbClr val="243F60"/>
                </a:solidFill>
                <a:latin typeface="Arial" pitchFamily="34" charset="0"/>
                <a:ea typeface="SimSun" pitchFamily="2" charset="-122"/>
                <a:cs typeface="Arial" pitchFamily="34" charset="0"/>
              </a:rPr>
              <a:t>. </a:t>
            </a:r>
            <a:r>
              <a:rPr lang="en-GB" sz="2000" b="1" dirty="0" smtClean="0">
                <a:solidFill>
                  <a:srgbClr val="000000"/>
                </a:solidFill>
                <a:latin typeface="Arial" pitchFamily="34" charset="0"/>
                <a:ea typeface="SimSun" pitchFamily="2" charset="-122"/>
                <a:cs typeface="Arial" pitchFamily="34" charset="0"/>
              </a:rPr>
              <a:t>Reporting</a:t>
            </a:r>
            <a:r>
              <a:rPr lang="en-GB" sz="2000" dirty="0" smtClean="0">
                <a:solidFill>
                  <a:srgbClr val="000000"/>
                </a:solidFill>
                <a:latin typeface="Arial" pitchFamily="34" charset="0"/>
                <a:ea typeface="SimSun" pitchFamily="2" charset="-122"/>
                <a:cs typeface="Arial" pitchFamily="34" charset="0"/>
              </a:rPr>
              <a:t>: states parties obliged to submit regular reports to the Committee. </a:t>
            </a:r>
            <a:endParaRPr lang="en-GB" sz="2000" dirty="0" smtClean="0">
              <a:solidFill>
                <a:srgbClr val="243F60"/>
              </a:solidFill>
              <a:latin typeface="Arial" pitchFamily="34" charset="0"/>
              <a:ea typeface="SimSun" pitchFamily="2" charset="-122"/>
              <a:cs typeface="Arial" pitchFamily="34" charset="0"/>
            </a:endParaRPr>
          </a:p>
          <a:p>
            <a:pPr lvl="1" eaLnBrk="0" fontAlgn="base" hangingPunct="0">
              <a:spcBef>
                <a:spcPct val="0"/>
              </a:spcBef>
              <a:spcAft>
                <a:spcPct val="0"/>
              </a:spcAft>
              <a:buFontTx/>
              <a:buChar char="•"/>
              <a:tabLst>
                <a:tab pos="768350" algn="l"/>
              </a:tabLst>
            </a:pPr>
            <a:r>
              <a:rPr lang="en-GB" sz="2000" dirty="0" smtClean="0">
                <a:solidFill>
                  <a:srgbClr val="000000"/>
                </a:solidFill>
                <a:latin typeface="Arial" pitchFamily="34" charset="0"/>
                <a:ea typeface="SimSun" pitchFamily="2" charset="-122"/>
                <a:cs typeface="Arial" pitchFamily="34" charset="0"/>
              </a:rPr>
              <a:t> First report submitted </a:t>
            </a:r>
            <a:r>
              <a:rPr lang="en-GB" sz="2000" i="1" dirty="0" smtClean="0">
                <a:solidFill>
                  <a:srgbClr val="000000"/>
                </a:solidFill>
                <a:latin typeface="Arial" pitchFamily="34" charset="0"/>
                <a:ea typeface="SimSun" pitchFamily="2" charset="-122"/>
                <a:cs typeface="Arial" pitchFamily="34" charset="0"/>
              </a:rPr>
              <a:t>within one year, </a:t>
            </a:r>
            <a:r>
              <a:rPr lang="en-GB" sz="2000" dirty="0" smtClean="0">
                <a:solidFill>
                  <a:srgbClr val="000000"/>
                </a:solidFill>
                <a:latin typeface="Arial" pitchFamily="34" charset="0"/>
                <a:ea typeface="SimSun" pitchFamily="2" charset="-122"/>
                <a:cs typeface="Arial" pitchFamily="34" charset="0"/>
              </a:rPr>
              <a:t>thereafter every four years</a:t>
            </a:r>
            <a:endParaRPr lang="en-GB" sz="2000" dirty="0" smtClean="0">
              <a:solidFill>
                <a:srgbClr val="243F60"/>
              </a:solidFill>
              <a:latin typeface="Arial" pitchFamily="34" charset="0"/>
              <a:ea typeface="SimSun" pitchFamily="2" charset="-122"/>
              <a:cs typeface="Arial" pitchFamily="34" charset="0"/>
            </a:endParaRPr>
          </a:p>
          <a:p>
            <a:pPr lvl="1" algn="just" eaLnBrk="0" fontAlgn="base" hangingPunct="0">
              <a:spcBef>
                <a:spcPct val="0"/>
              </a:spcBef>
              <a:spcAft>
                <a:spcPct val="0"/>
              </a:spcAft>
              <a:buFontTx/>
              <a:buChar char="•"/>
              <a:tabLst>
                <a:tab pos="768350" algn="l"/>
              </a:tabLst>
            </a:pPr>
            <a:r>
              <a:rPr lang="en-GB" sz="2000" dirty="0" smtClean="0">
                <a:solidFill>
                  <a:srgbClr val="243F60"/>
                </a:solidFill>
                <a:latin typeface="Arial" pitchFamily="34" charset="0"/>
                <a:ea typeface="SimSun" pitchFamily="2" charset="-122"/>
                <a:cs typeface="Arial" pitchFamily="34" charset="0"/>
              </a:rPr>
              <a:t> </a:t>
            </a:r>
            <a:r>
              <a:rPr lang="en-GB" sz="2000" dirty="0" smtClean="0">
                <a:solidFill>
                  <a:srgbClr val="000000"/>
                </a:solidFill>
                <a:latin typeface="Arial" pitchFamily="34" charset="0"/>
                <a:ea typeface="SimSun" pitchFamily="2" charset="-122"/>
                <a:cs typeface="Arial" pitchFamily="34" charset="0"/>
              </a:rPr>
              <a:t>Committee invites state representatives to attend the meetings when their reports are considered. </a:t>
            </a:r>
          </a:p>
          <a:p>
            <a:pPr lvl="1" eaLnBrk="0" fontAlgn="base" hangingPunct="0">
              <a:spcBef>
                <a:spcPct val="0"/>
              </a:spcBef>
              <a:spcAft>
                <a:spcPct val="0"/>
              </a:spcAft>
              <a:tabLst>
                <a:tab pos="768350" algn="l"/>
              </a:tabLst>
            </a:pPr>
            <a:endParaRPr lang="en-GB" sz="2000" dirty="0" smtClean="0">
              <a:solidFill>
                <a:srgbClr val="243F60"/>
              </a:solidFill>
              <a:latin typeface="Arial" pitchFamily="34" charset="0"/>
              <a:ea typeface="SimSun" pitchFamily="2" charset="-122"/>
              <a:cs typeface="Arial" pitchFamily="34" charset="0"/>
            </a:endParaRPr>
          </a:p>
          <a:p>
            <a:pPr lvl="1" algn="just" fontAlgn="base">
              <a:spcBef>
                <a:spcPct val="0"/>
              </a:spcBef>
              <a:spcAft>
                <a:spcPct val="0"/>
              </a:spcAft>
            </a:pPr>
            <a:r>
              <a:rPr lang="en-GB" sz="2000" dirty="0" smtClean="0">
                <a:solidFill>
                  <a:srgbClr val="243F60"/>
                </a:solidFill>
                <a:latin typeface="Arial" pitchFamily="34" charset="0"/>
                <a:ea typeface="SimSun" pitchFamily="2" charset="-122"/>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It may also inform a state from which it decides to seek further information that it may authorize its representative to be present at a specified meeting. </a:t>
            </a:r>
          </a:p>
          <a:p>
            <a:pPr lvl="1" algn="just" fontAlgn="base">
              <a:spcBef>
                <a:spcPct val="0"/>
              </a:spcBef>
              <a:spcAft>
                <a:spcPct val="0"/>
              </a:spcAft>
            </a:pPr>
            <a:endParaRPr lang="en-GB" sz="2000" b="1" dirty="0" smtClean="0">
              <a:solidFill>
                <a:srgbClr val="000000"/>
              </a:solidFill>
              <a:latin typeface="Arial" pitchFamily="34" charset="0"/>
              <a:ea typeface="Times New Roman" pitchFamily="18" charset="0"/>
              <a:cs typeface="Arial" pitchFamily="34" charset="0"/>
            </a:endParaRPr>
          </a:p>
          <a:p>
            <a:pPr algn="just" fontAlgn="base">
              <a:spcBef>
                <a:spcPct val="0"/>
              </a:spcBef>
              <a:spcAft>
                <a:spcPct val="0"/>
              </a:spcAft>
            </a:pPr>
            <a:r>
              <a:rPr lang="en-GB" b="1" dirty="0" smtClean="0">
                <a:solidFill>
                  <a:srgbClr val="000000"/>
                </a:solidFill>
                <a:latin typeface="Arial" pitchFamily="34" charset="0"/>
                <a:ea typeface="Times New Roman" pitchFamily="18" charset="0"/>
                <a:cs typeface="Arial" pitchFamily="34" charset="0"/>
              </a:rPr>
              <a:t>2. </a:t>
            </a:r>
            <a:r>
              <a:rPr lang="en-GB" sz="2000" b="1" dirty="0" smtClean="0">
                <a:solidFill>
                  <a:srgbClr val="000000"/>
                </a:solidFill>
                <a:latin typeface="Arial" pitchFamily="34" charset="0"/>
                <a:ea typeface="Times New Roman" pitchFamily="18" charset="0"/>
                <a:cs typeface="Arial" pitchFamily="34" charset="0"/>
              </a:rPr>
              <a:t>Powers of investigation of the Committee</a:t>
            </a:r>
            <a:endParaRPr lang="en-GB" sz="2000" b="1"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Committee is </a:t>
            </a:r>
            <a:r>
              <a:rPr lang="en-GB" sz="2000" i="1" dirty="0" smtClean="0">
                <a:solidFill>
                  <a:srgbClr val="000000"/>
                </a:solidFill>
                <a:latin typeface="Arial" pitchFamily="34" charset="0"/>
                <a:ea typeface="Times New Roman" pitchFamily="18" charset="0"/>
                <a:cs typeface="Arial" pitchFamily="34" charset="0"/>
              </a:rPr>
              <a:t>empowered to receive info. </a:t>
            </a:r>
            <a:r>
              <a:rPr lang="en-GB" sz="2000" dirty="0" smtClean="0">
                <a:solidFill>
                  <a:srgbClr val="000000"/>
                </a:solidFill>
                <a:latin typeface="Arial" pitchFamily="34" charset="0"/>
                <a:ea typeface="Times New Roman" pitchFamily="18" charset="0"/>
                <a:cs typeface="Arial" pitchFamily="34" charset="0"/>
              </a:rPr>
              <a:t>and </a:t>
            </a:r>
            <a:r>
              <a:rPr lang="en-GB" sz="2000" i="1" dirty="0" smtClean="0">
                <a:solidFill>
                  <a:srgbClr val="000000"/>
                </a:solidFill>
                <a:latin typeface="Arial" pitchFamily="34" charset="0"/>
                <a:ea typeface="Times New Roman" pitchFamily="18" charset="0"/>
                <a:cs typeface="Arial" pitchFamily="34" charset="0"/>
              </a:rPr>
              <a:t>to institute inquiries</a:t>
            </a:r>
            <a:r>
              <a:rPr lang="en-GB" sz="2000" dirty="0" smtClean="0">
                <a:solidFill>
                  <a:srgbClr val="000000"/>
                </a:solidFill>
                <a:latin typeface="Arial" pitchFamily="34" charset="0"/>
                <a:ea typeface="Times New Roman" pitchFamily="18" charset="0"/>
                <a:cs typeface="Arial" pitchFamily="34" charset="0"/>
              </a:rPr>
              <a:t> concerning allegations of </a:t>
            </a:r>
            <a:r>
              <a:rPr lang="en-GB" sz="2000" b="1" i="1" dirty="0" smtClean="0">
                <a:solidFill>
                  <a:srgbClr val="000000"/>
                </a:solidFill>
                <a:latin typeface="Arial" pitchFamily="34" charset="0"/>
                <a:ea typeface="Times New Roman" pitchFamily="18" charset="0"/>
                <a:cs typeface="Arial" pitchFamily="34" charset="0"/>
              </a:rPr>
              <a:t>systematic</a:t>
            </a: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practice</a:t>
            </a:r>
            <a:r>
              <a:rPr lang="en-GB" sz="2000" dirty="0" smtClean="0">
                <a:solidFill>
                  <a:srgbClr val="000000"/>
                </a:solidFill>
                <a:latin typeface="Arial" pitchFamily="34" charset="0"/>
                <a:ea typeface="Times New Roman" pitchFamily="18" charset="0"/>
                <a:cs typeface="Arial" pitchFamily="34" charset="0"/>
              </a:rPr>
              <a:t> of torture in States.</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85728"/>
            <a:ext cx="8786874" cy="6247864"/>
          </a:xfrm>
          <a:prstGeom prst="rect">
            <a:avLst/>
          </a:prstGeom>
        </p:spPr>
        <p:txBody>
          <a:bodyPr wrap="square">
            <a:spAutoFit/>
          </a:bodyPr>
          <a:lstStyle/>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The procedure is marked by two features: </a:t>
            </a:r>
            <a:r>
              <a:rPr lang="en-GB" sz="2000" i="1" dirty="0" smtClean="0">
                <a:solidFill>
                  <a:srgbClr val="000000"/>
                </a:solidFill>
                <a:latin typeface="Arial" pitchFamily="34" charset="0"/>
                <a:ea typeface="Times New Roman" pitchFamily="18" charset="0"/>
                <a:cs typeface="Arial" pitchFamily="34" charset="0"/>
              </a:rPr>
              <a:t>its </a:t>
            </a:r>
            <a:r>
              <a:rPr lang="en-GB" sz="2000" b="1" i="1" dirty="0" smtClean="0">
                <a:solidFill>
                  <a:srgbClr val="000000"/>
                </a:solidFill>
                <a:latin typeface="Arial" pitchFamily="34" charset="0"/>
                <a:ea typeface="Times New Roman" pitchFamily="18" charset="0"/>
                <a:cs typeface="Arial" pitchFamily="34" charset="0"/>
              </a:rPr>
              <a:t>confidential</a:t>
            </a: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character</a:t>
            </a:r>
            <a:r>
              <a:rPr lang="en-GB" sz="2000" dirty="0" smtClean="0">
                <a:solidFill>
                  <a:srgbClr val="000000"/>
                </a:solidFill>
                <a:latin typeface="Arial" pitchFamily="34" charset="0"/>
                <a:ea typeface="Times New Roman" pitchFamily="18" charset="0"/>
                <a:cs typeface="Arial" pitchFamily="34" charset="0"/>
              </a:rPr>
              <a:t> and </a:t>
            </a:r>
            <a:r>
              <a:rPr lang="en-GB" sz="2000" i="1" dirty="0" smtClean="0">
                <a:solidFill>
                  <a:srgbClr val="000000"/>
                </a:solidFill>
                <a:latin typeface="Arial" pitchFamily="34" charset="0"/>
                <a:ea typeface="Times New Roman" pitchFamily="18" charset="0"/>
                <a:cs typeface="Arial" pitchFamily="34" charset="0"/>
              </a:rPr>
              <a:t>the pursuit of </a:t>
            </a:r>
            <a:r>
              <a:rPr lang="en-GB" sz="2000" b="1" i="1" dirty="0" smtClean="0">
                <a:solidFill>
                  <a:srgbClr val="000000"/>
                </a:solidFill>
                <a:latin typeface="Arial" pitchFamily="34" charset="0"/>
                <a:ea typeface="Times New Roman" pitchFamily="18" charset="0"/>
                <a:cs typeface="Arial" pitchFamily="34" charset="0"/>
              </a:rPr>
              <a:t>cooperation</a:t>
            </a:r>
            <a:r>
              <a:rPr lang="en-GB" sz="2000" dirty="0" smtClean="0">
                <a:solidFill>
                  <a:srgbClr val="000000"/>
                </a:solidFill>
                <a:latin typeface="Arial" pitchFamily="34" charset="0"/>
                <a:ea typeface="Times New Roman" pitchFamily="18" charset="0"/>
                <a:cs typeface="Arial" pitchFamily="34" charset="0"/>
              </a:rPr>
              <a:t> with the states parties concerned.</a:t>
            </a:r>
          </a:p>
          <a:p>
            <a:pPr lvl="0" algn="just" eaLnBrk="0" fontAlgn="base" hangingPunct="0">
              <a:spcBef>
                <a:spcPct val="0"/>
              </a:spcBef>
              <a:spcAft>
                <a:spcPct val="0"/>
              </a:spcAft>
              <a:buFontTx/>
              <a:buChar char="•"/>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The competence conferred upon the Committee by this article is </a:t>
            </a:r>
            <a:r>
              <a:rPr lang="en-GB" sz="2000" b="1" i="1" dirty="0" smtClean="0">
                <a:solidFill>
                  <a:srgbClr val="000000"/>
                </a:solidFill>
                <a:latin typeface="Arial" pitchFamily="34" charset="0"/>
                <a:ea typeface="Times New Roman" pitchFamily="18" charset="0"/>
                <a:cs typeface="Arial" pitchFamily="34" charset="0"/>
              </a:rPr>
              <a:t>optional</a:t>
            </a:r>
            <a:r>
              <a:rPr lang="en-GB" sz="2000" dirty="0" smtClean="0">
                <a:solidFill>
                  <a:srgbClr val="000000"/>
                </a:solidFill>
                <a:latin typeface="Arial" pitchFamily="34" charset="0"/>
                <a:ea typeface="Times New Roman" pitchFamily="18" charset="0"/>
                <a:cs typeface="Arial" pitchFamily="34" charset="0"/>
              </a:rPr>
              <a:t>; at the time of ratifying or acceding to the Convention, a state may declare that </a:t>
            </a:r>
            <a:r>
              <a:rPr lang="en-GB" sz="2000" b="1" i="1" dirty="0" smtClean="0">
                <a:solidFill>
                  <a:srgbClr val="000000"/>
                </a:solidFill>
                <a:latin typeface="Arial" pitchFamily="34" charset="0"/>
                <a:ea typeface="Times New Roman" pitchFamily="18" charset="0"/>
                <a:cs typeface="Arial" pitchFamily="34" charset="0"/>
              </a:rPr>
              <a:t>it does not recognize it. </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Gathering</a:t>
            </a:r>
            <a:r>
              <a:rPr lang="en-GB" sz="2000" i="1"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of</a:t>
            </a:r>
            <a:r>
              <a:rPr lang="en-GB" sz="2000" i="1"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information</a:t>
            </a:r>
            <a:r>
              <a:rPr lang="en-GB" sz="2000" dirty="0" smtClean="0">
                <a:solidFill>
                  <a:srgbClr val="000000"/>
                </a:solidFill>
                <a:latin typeface="Arial" pitchFamily="34" charset="0"/>
                <a:ea typeface="Times New Roman" pitchFamily="18" charset="0"/>
                <a:cs typeface="Arial" pitchFamily="34" charset="0"/>
              </a:rPr>
              <a:t>: In respect of such states, Committee is empowered to receive information concerning the existence of the practice of torture. </a:t>
            </a:r>
          </a:p>
          <a:p>
            <a:pPr lvl="1"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If Committee believes of well-founded indications that torture is being systematically practised, it invites the state </a:t>
            </a:r>
          </a:p>
          <a:p>
            <a:pPr lvl="2" algn="just" eaLnBrk="0" fontAlgn="base" hangingPunct="0">
              <a:spcBef>
                <a:spcPct val="0"/>
              </a:spcBef>
              <a:spcAft>
                <a:spcPct val="0"/>
              </a:spcAft>
              <a:buFontTx/>
              <a:buChar char="•"/>
            </a:pPr>
            <a:r>
              <a:rPr lang="en-GB" sz="2000" i="1" dirty="0" smtClean="0">
                <a:solidFill>
                  <a:srgbClr val="000000"/>
                </a:solidFill>
                <a:latin typeface="Arial" pitchFamily="34" charset="0"/>
                <a:ea typeface="Times New Roman" pitchFamily="18" charset="0"/>
                <a:cs typeface="Arial" pitchFamily="34" charset="0"/>
              </a:rPr>
              <a:t> to cooperate in its examination</a:t>
            </a:r>
            <a:r>
              <a:rPr lang="en-GB" sz="2000" dirty="0" smtClean="0">
                <a:solidFill>
                  <a:srgbClr val="000000"/>
                </a:solidFill>
                <a:latin typeface="Arial" pitchFamily="34" charset="0"/>
                <a:ea typeface="Times New Roman" pitchFamily="18" charset="0"/>
                <a:cs typeface="Arial" pitchFamily="34" charset="0"/>
              </a:rPr>
              <a:t> of the information and, to this end,</a:t>
            </a: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to </a:t>
            </a:r>
            <a:r>
              <a:rPr lang="en-GB" sz="2000" i="1" dirty="0" smtClean="0">
                <a:solidFill>
                  <a:srgbClr val="000000"/>
                </a:solidFill>
                <a:latin typeface="Arial" pitchFamily="34" charset="0"/>
                <a:ea typeface="Times New Roman" pitchFamily="18" charset="0"/>
                <a:cs typeface="Arial" pitchFamily="34" charset="0"/>
              </a:rPr>
              <a:t>submit observations</a:t>
            </a:r>
            <a:r>
              <a:rPr lang="en-GB" sz="2000" dirty="0" smtClean="0">
                <a:solidFill>
                  <a:srgbClr val="000000"/>
                </a:solidFill>
                <a:latin typeface="Arial" pitchFamily="34" charset="0"/>
                <a:ea typeface="Times New Roman" pitchFamily="18" charset="0"/>
                <a:cs typeface="Arial" pitchFamily="34" charset="0"/>
              </a:rPr>
              <a:t> with regard to that information.</a:t>
            </a:r>
          </a:p>
          <a:p>
            <a:pPr lvl="2"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It may also decide to </a:t>
            </a:r>
            <a:r>
              <a:rPr lang="en-GB" sz="2000" i="1" dirty="0" smtClean="0">
                <a:solidFill>
                  <a:srgbClr val="000000"/>
                </a:solidFill>
                <a:latin typeface="Arial" pitchFamily="34" charset="0"/>
                <a:ea typeface="Times New Roman" pitchFamily="18" charset="0"/>
                <a:cs typeface="Arial" pitchFamily="34" charset="0"/>
              </a:rPr>
              <a:t>request additional information </a:t>
            </a:r>
            <a:r>
              <a:rPr lang="en-GB" sz="2000" dirty="0" smtClean="0">
                <a:solidFill>
                  <a:srgbClr val="000000"/>
                </a:solidFill>
                <a:latin typeface="Arial" pitchFamily="34" charset="0"/>
                <a:ea typeface="Times New Roman" pitchFamily="18" charset="0"/>
                <a:cs typeface="Arial" pitchFamily="34" charset="0"/>
              </a:rPr>
              <a:t>from</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sources</a:t>
            </a:r>
            <a:r>
              <a:rPr lang="en-GB" sz="2000" i="1" dirty="0" smtClean="0">
                <a:solidFill>
                  <a:srgbClr val="000000"/>
                </a:solidFill>
                <a:latin typeface="Arial" pitchFamily="34" charset="0"/>
                <a:ea typeface="Times New Roman" pitchFamily="18" charset="0"/>
                <a:cs typeface="Arial" pitchFamily="34" charset="0"/>
              </a:rPr>
              <a:t>.</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i="1" dirty="0" smtClean="0">
                <a:solidFill>
                  <a:srgbClr val="000000"/>
                </a:solidFill>
                <a:latin typeface="Arial" pitchFamily="34" charset="0"/>
                <a:ea typeface="Times New Roman" pitchFamily="18" charset="0"/>
                <a:cs typeface="Arial" pitchFamily="34" charset="0"/>
              </a:rPr>
              <a:t> </a:t>
            </a:r>
            <a:r>
              <a:rPr lang="en-GB" sz="2000" b="1" dirty="0" smtClean="0">
                <a:solidFill>
                  <a:srgbClr val="000000"/>
                </a:solidFill>
                <a:latin typeface="Arial" pitchFamily="34" charset="0"/>
                <a:ea typeface="Times New Roman" pitchFamily="18" charset="0"/>
                <a:cs typeface="Arial" pitchFamily="34" charset="0"/>
              </a:rPr>
              <a:t>Inquiry procedure: </a:t>
            </a:r>
            <a:r>
              <a:rPr lang="en-GB" sz="2000" dirty="0" smtClean="0">
                <a:solidFill>
                  <a:srgbClr val="000000"/>
                </a:solidFill>
                <a:latin typeface="Arial" pitchFamily="34" charset="0"/>
                <a:ea typeface="Times New Roman" pitchFamily="18" charset="0"/>
                <a:cs typeface="Arial" pitchFamily="34" charset="0"/>
              </a:rPr>
              <a:t>if it considers that the information gathered warrants it, the Committee may designate one or more of its members to make </a:t>
            </a:r>
            <a:r>
              <a:rPr lang="en-GB" sz="2000" i="1" dirty="0" smtClean="0">
                <a:solidFill>
                  <a:srgbClr val="000000"/>
                </a:solidFill>
                <a:latin typeface="Arial" pitchFamily="34" charset="0"/>
                <a:ea typeface="Times New Roman" pitchFamily="18" charset="0"/>
                <a:cs typeface="Arial" pitchFamily="34" charset="0"/>
              </a:rPr>
              <a:t>a </a:t>
            </a:r>
            <a:r>
              <a:rPr lang="en-GB" sz="2000" b="1" i="1" dirty="0" smtClean="0">
                <a:solidFill>
                  <a:srgbClr val="000000"/>
                </a:solidFill>
                <a:latin typeface="Arial" pitchFamily="34" charset="0"/>
                <a:ea typeface="Times New Roman" pitchFamily="18" charset="0"/>
                <a:cs typeface="Arial" pitchFamily="34" charset="0"/>
              </a:rPr>
              <a:t>confidential</a:t>
            </a:r>
            <a:r>
              <a:rPr lang="en-GB" sz="2000" i="1"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inquiry</a:t>
            </a: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ChangeArrowheads="1"/>
          </p:cNvSpPr>
          <p:nvPr/>
        </p:nvSpPr>
        <p:spPr bwMode="auto">
          <a:xfrm>
            <a:off x="0" y="206541"/>
            <a:ext cx="9144000" cy="4708981"/>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that case, Committee invites the state to cooperate with it in conduct of the inquiry. </a:t>
            </a:r>
          </a:p>
          <a:p>
            <a:pPr marL="457200" marR="0" lvl="1" indent="0" algn="just" defTabSz="914400" rtl="0" eaLnBrk="1" fontAlgn="base" latinLnBrk="0" hangingPunct="1">
              <a:lnSpc>
                <a:spcPct val="100000"/>
              </a:lnSpc>
              <a:spcBef>
                <a:spcPct val="0"/>
              </a:spcBef>
              <a:spcAft>
                <a:spcPct val="0"/>
              </a:spcAft>
              <a:buClrTx/>
              <a:buSzTx/>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Accordingly, the Committee may request the state to designate a representative to meet with the members conducting the inquiry to provide information. </a:t>
            </a: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inquiry may also include, with the agreement of the state, a visit to its territory by designated members who may then conduct hearings of witnesses.</a:t>
            </a:r>
          </a:p>
          <a:p>
            <a:pPr lvl="1"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1" algn="just" eaLnBrk="0" fontAlgn="base" hangingPunct="0">
              <a:spcBef>
                <a:spcPct val="0"/>
              </a:spcBef>
              <a:spcAft>
                <a:spcPct val="0"/>
              </a:spcAft>
              <a:buFontTx/>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After all the proceedings, Committee may decide to include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 summary account of the results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of the proceedings in its annual report. </a:t>
            </a:r>
          </a:p>
          <a:p>
            <a:pPr lvl="2"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 that case, work of the Committee is made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public</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otherwise, all works are confidential.</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ChangeArrowheads="1"/>
          </p:cNvSpPr>
          <p:nvPr/>
        </p:nvSpPr>
        <p:spPr bwMode="auto">
          <a:xfrm>
            <a:off x="0" y="142852"/>
            <a:ext cx="8964488" cy="6247864"/>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tabLst/>
            </a:pP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3. Inter-State complaints</a:t>
            </a:r>
          </a:p>
          <a:p>
            <a:pPr marL="457200" marR="0" lvl="1" indent="0" algn="just" defTabSz="914400" rtl="0" eaLnBrk="1" fontAlgn="base" latinLnBrk="0" hangingPunct="1">
              <a:lnSpc>
                <a:spcPct val="100000"/>
              </a:lnSpc>
              <a:spcBef>
                <a:spcPct val="0"/>
              </a:spcBef>
              <a:spcAft>
                <a:spcPct val="0"/>
              </a:spcAft>
              <a:buClrTx/>
              <a:buSzTx/>
              <a:tabLst/>
            </a:pPr>
            <a:endParaRPr lang="en-GB" sz="2000" dirty="0" smtClean="0">
              <a:latin typeface="Arial" pitchFamily="34" charset="0"/>
              <a:ea typeface="Times New Roman" pitchFamily="18" charset="0"/>
              <a:cs typeface="Arial" pitchFamily="34" charset="0"/>
            </a:endParaRPr>
          </a:p>
          <a:p>
            <a:pPr marL="457200" marR="0" lvl="1"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GB" sz="2000" b="0" i="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conduct of this proceeding is subordinated to the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recognition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by states of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a:t>
            </a: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competence</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of the Committee. </a:t>
            </a:r>
          </a:p>
          <a:p>
            <a:pPr marL="457200" marR="0" lvl="1" indent="0" algn="just" defTabSz="914400" rtl="0" eaLnBrk="1" fontAlgn="base" latinLnBrk="0" hangingPunct="1">
              <a:lnSpc>
                <a:spcPct val="100000"/>
              </a:lnSpc>
              <a:spcBef>
                <a:spcPct val="0"/>
              </a:spcBef>
              <a:spcAft>
                <a:spcPct val="0"/>
              </a:spcAft>
              <a:buClrTx/>
              <a:buSzTx/>
              <a:buFont typeface="Arial" pitchFamily="34" charset="0"/>
              <a:buChar char="•"/>
              <a:tabLst/>
            </a:pPr>
            <a:r>
              <a:rPr lang="en-GB" sz="2000" dirty="0" smtClean="0">
                <a:solidFill>
                  <a:srgbClr val="000000"/>
                </a:solidFill>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In such cases, Committee may receive and consider communications in which a state alleges that another State is not discharging its obligations under the Convention.</a:t>
            </a:r>
          </a:p>
          <a:p>
            <a:pPr marL="457200" marR="0" lvl="1" indent="0" algn="just" defTabSz="914400" rtl="0" eaLnBrk="1" fontAlgn="base" latinLnBrk="0" hangingPunct="1">
              <a:lnSpc>
                <a:spcPct val="100000"/>
              </a:lnSpc>
              <a:spcBef>
                <a:spcPct val="0"/>
              </a:spcBef>
              <a:spcAft>
                <a:spcPct val="0"/>
              </a:spcAft>
              <a:buClrTx/>
              <a:buSzTx/>
              <a:tabLst/>
            </a:pPr>
            <a:endParaRPr lang="en-GB" sz="2000" dirty="0" smtClean="0">
              <a:latin typeface="Arial" pitchFamily="34" charset="0"/>
              <a:ea typeface="Times New Roman" pitchFamily="18" charset="0"/>
              <a:cs typeface="Arial" pitchFamily="34" charset="0"/>
            </a:endParaRPr>
          </a:p>
          <a:p>
            <a:pPr marL="457200" marR="0" lvl="1"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GB" sz="2000" b="0" i="1"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Recourse to the Committee:</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Symbol" pitchFamily="18" charset="2"/>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procedure comprises two stages - if a state violates, another state may in the first place, by written communication, bring the matter to the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attention of that State Party</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lvl="2"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Symbol" pitchFamily="18" charset="2"/>
              <a:buChar char=""/>
            </a:pPr>
            <a:r>
              <a:rPr kumimoji="0" lang="en-GB" sz="2000" b="0" i="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State which receives the communication is required to furnish in writing and within three months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any explanations necessary to clarify the matter.</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Symbol" pitchFamily="18" charset="2"/>
              <a:buChar char=""/>
            </a:pPr>
            <a:endPar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lvl="2" algn="just" eaLnBrk="0" fontAlgn="base" hangingPunct="0">
              <a:spcBef>
                <a:spcPct val="0"/>
              </a:spcBef>
              <a:spcAft>
                <a:spcPct val="0"/>
              </a:spcAft>
              <a:buFont typeface="Symbol" pitchFamily="18" charset="2"/>
              <a:buChar char=""/>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the event they are unable to settle the matter between them, it may be referred by either State to the Committee.</a:t>
            </a:r>
          </a:p>
          <a:p>
            <a:pPr lvl="2" algn="just"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14290"/>
            <a:ext cx="8572560" cy="6555641"/>
          </a:xfrm>
          <a:prstGeom prst="rect">
            <a:avLst/>
          </a:prstGeom>
        </p:spPr>
        <p:txBody>
          <a:bodyPr wrap="square">
            <a:spAutoFit/>
          </a:bodyPr>
          <a:lstStyle/>
          <a:p>
            <a:pPr lvl="0" indent="450850" algn="just" eaLnBrk="0" fontAlgn="base" hangingPunct="0">
              <a:spcBef>
                <a:spcPct val="0"/>
              </a:spcBef>
              <a:spcAft>
                <a:spcPct val="0"/>
              </a:spcAft>
            </a:pPr>
            <a:r>
              <a:rPr lang="en-GB" sz="2000" i="1" dirty="0" smtClean="0">
                <a:solidFill>
                  <a:srgbClr val="000000"/>
                </a:solidFill>
                <a:latin typeface="Arial" pitchFamily="34" charset="0"/>
                <a:ea typeface="Times New Roman" pitchFamily="18" charset="0"/>
                <a:cs typeface="Arial" pitchFamily="34" charset="0"/>
              </a:rPr>
              <a:t>Friendly solution of the matter</a:t>
            </a:r>
          </a:p>
          <a:p>
            <a:pPr lvl="0" indent="45085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indent="45085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If these conditions are met, Committee endeavours to arrive at a friendly solution of matter,  by making available its good offices to states.</a:t>
            </a:r>
          </a:p>
          <a:p>
            <a:pPr lvl="0" indent="45085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 </a:t>
            </a:r>
            <a:endParaRPr lang="en-GB" sz="2000" dirty="0" smtClean="0">
              <a:latin typeface="Arial" pitchFamily="34" charset="0"/>
              <a:ea typeface="Times New Roman" pitchFamily="18" charset="0"/>
              <a:cs typeface="Arial" pitchFamily="34" charset="0"/>
            </a:endParaRPr>
          </a:p>
          <a:p>
            <a:pPr lvl="1" algn="just" fontAlgn="base">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The Committee submits report statement of the facts and solution if a friendly solution is  found; otherwise, submits only the facts with the submissions of the States concerned. The report is then communicated to the states concerned.</a:t>
            </a:r>
            <a:endParaRPr lang="en-GB" i="1" dirty="0" smtClean="0">
              <a:solidFill>
                <a:srgbClr val="000000"/>
              </a:solidFill>
              <a:latin typeface="Arial" pitchFamily="34" charset="0"/>
              <a:ea typeface="Times New Roman" pitchFamily="18" charset="0"/>
              <a:cs typeface="Arial" pitchFamily="34" charset="0"/>
            </a:endParaRPr>
          </a:p>
          <a:p>
            <a:pPr lvl="1" algn="just" fontAlgn="base">
              <a:spcBef>
                <a:spcPct val="0"/>
              </a:spcBef>
              <a:spcAft>
                <a:spcPct val="0"/>
              </a:spcAft>
            </a:pPr>
            <a:endParaRPr lang="en-GB" sz="2000" i="1" dirty="0" smtClean="0">
              <a:solidFill>
                <a:srgbClr val="000000"/>
              </a:solidFill>
              <a:latin typeface="Arial" pitchFamily="34" charset="0"/>
              <a:ea typeface="Times New Roman" pitchFamily="18" charset="0"/>
              <a:cs typeface="Arial" pitchFamily="34" charset="0"/>
            </a:endParaRPr>
          </a:p>
          <a:p>
            <a:pPr algn="just" fontAlgn="base">
              <a:spcBef>
                <a:spcPct val="0"/>
              </a:spcBef>
              <a:spcAft>
                <a:spcPct val="0"/>
              </a:spcAft>
            </a:pPr>
            <a:r>
              <a:rPr lang="en-GB" sz="2000" i="1" dirty="0" smtClean="0">
                <a:solidFill>
                  <a:srgbClr val="000000"/>
                </a:solidFill>
                <a:latin typeface="Arial" pitchFamily="34" charset="0"/>
                <a:ea typeface="Times New Roman" pitchFamily="18" charset="0"/>
                <a:cs typeface="Arial" pitchFamily="34" charset="0"/>
              </a:rPr>
              <a:t>4. </a:t>
            </a:r>
            <a:r>
              <a:rPr lang="en-GB" sz="2000" b="1" i="1" dirty="0" smtClean="0">
                <a:solidFill>
                  <a:srgbClr val="000000"/>
                </a:solidFill>
                <a:latin typeface="Arial" pitchFamily="34" charset="0"/>
                <a:ea typeface="Times New Roman" pitchFamily="18" charset="0"/>
                <a:cs typeface="Arial" pitchFamily="34" charset="0"/>
              </a:rPr>
              <a:t>Individual complaints</a:t>
            </a:r>
          </a:p>
          <a:p>
            <a:pPr algn="just" fontAlgn="base">
              <a:spcBef>
                <a:spcPct val="0"/>
              </a:spcBef>
              <a:spcAft>
                <a:spcPct val="0"/>
              </a:spcAft>
            </a:pPr>
            <a:endParaRPr lang="en-GB" sz="2000" b="1"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Conv. Gives </a:t>
            </a:r>
            <a:r>
              <a:rPr lang="en-GB" sz="2000" i="1" dirty="0" smtClean="0">
                <a:solidFill>
                  <a:srgbClr val="000000"/>
                </a:solidFill>
                <a:latin typeface="Arial" pitchFamily="34" charset="0"/>
                <a:ea typeface="Times New Roman" pitchFamily="18" charset="0"/>
                <a:cs typeface="Arial" pitchFamily="34" charset="0"/>
              </a:rPr>
              <a:t>individuals, in certain </a:t>
            </a:r>
            <a:r>
              <a:rPr lang="en-GB" sz="2000" i="1" dirty="0" err="1" smtClean="0">
                <a:solidFill>
                  <a:srgbClr val="000000"/>
                </a:solidFill>
                <a:latin typeface="Arial" pitchFamily="34" charset="0"/>
                <a:ea typeface="Times New Roman" pitchFamily="18" charset="0"/>
                <a:cs typeface="Arial" pitchFamily="34" charset="0"/>
              </a:rPr>
              <a:t>circums</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right</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to</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lodge complaints.</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For the Committee to be able to admit and examine individual communications, its competence must have been </a:t>
            </a:r>
            <a:r>
              <a:rPr lang="en-GB" sz="2000" b="1" i="1" dirty="0" smtClean="0">
                <a:solidFill>
                  <a:srgbClr val="000000"/>
                </a:solidFill>
                <a:latin typeface="Arial" pitchFamily="34" charset="0"/>
                <a:ea typeface="Times New Roman" pitchFamily="18" charset="0"/>
                <a:cs typeface="Arial" pitchFamily="34" charset="0"/>
              </a:rPr>
              <a:t>expressly</a:t>
            </a:r>
            <a:r>
              <a:rPr lang="en-GB" sz="2000" dirty="0" smtClean="0">
                <a:solidFill>
                  <a:srgbClr val="000000"/>
                </a:solidFill>
                <a:latin typeface="Arial" pitchFamily="34" charset="0"/>
                <a:ea typeface="Times New Roman" pitchFamily="18" charset="0"/>
                <a:cs typeface="Arial" pitchFamily="34" charset="0"/>
              </a:rPr>
              <a:t> </a:t>
            </a:r>
            <a:r>
              <a:rPr lang="en-GB" sz="2000" b="1" i="1" dirty="0" smtClean="0">
                <a:solidFill>
                  <a:srgbClr val="000000"/>
                </a:solidFill>
                <a:latin typeface="Arial" pitchFamily="34" charset="0"/>
                <a:ea typeface="Times New Roman" pitchFamily="18" charset="0"/>
                <a:cs typeface="Arial" pitchFamily="34" charset="0"/>
              </a:rPr>
              <a:t>recognized</a:t>
            </a:r>
            <a:r>
              <a:rPr lang="en-GB" sz="2000" dirty="0" smtClean="0">
                <a:solidFill>
                  <a:srgbClr val="000000"/>
                </a:solidFill>
                <a:latin typeface="Arial" pitchFamily="34" charset="0"/>
                <a:ea typeface="Times New Roman" pitchFamily="18" charset="0"/>
                <a:cs typeface="Arial" pitchFamily="34" charset="0"/>
              </a:rPr>
              <a:t> by the state. </a:t>
            </a: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Individual complaints are always examined by the Committee in closed meeting.</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pPr>
            <a:endParaRPr lang="en-GB" sz="2000" i="1" dirty="0" smtClean="0">
              <a:solidFill>
                <a:srgbClr val="000000"/>
              </a:solidFill>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lang="en-GB" sz="2000" b="1" i="1" dirty="0" smtClean="0">
                <a:solidFill>
                  <a:srgbClr val="000000"/>
                </a:solidFill>
                <a:latin typeface="Arial" pitchFamily="34" charset="0"/>
                <a:ea typeface="Times New Roman" pitchFamily="18" charset="0"/>
                <a:cs typeface="Arial" pitchFamily="34" charset="0"/>
              </a:rPr>
              <a:t>Submission of communications</a:t>
            </a:r>
            <a:endParaRPr lang="en-GB" sz="2000" b="1"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A </a:t>
            </a:r>
            <a:r>
              <a:rPr lang="en-GB" sz="2000" dirty="0" err="1" smtClean="0">
                <a:solidFill>
                  <a:srgbClr val="000000"/>
                </a:solidFill>
                <a:latin typeface="Arial" pitchFamily="34" charset="0"/>
                <a:ea typeface="Times New Roman" pitchFamily="18" charset="0"/>
                <a:cs typeface="Arial" pitchFamily="34" charset="0"/>
              </a:rPr>
              <a:t>communi</a:t>
            </a:r>
            <a:r>
              <a:rPr lang="en-GB" sz="2000" dirty="0" smtClean="0">
                <a:solidFill>
                  <a:srgbClr val="000000"/>
                </a:solidFill>
                <a:latin typeface="Arial" pitchFamily="34" charset="0"/>
                <a:ea typeface="Times New Roman" pitchFamily="18" charset="0"/>
                <a:cs typeface="Arial" pitchFamily="34" charset="0"/>
              </a:rPr>
              <a:t>. may be submitted </a:t>
            </a:r>
            <a:r>
              <a:rPr lang="en-GB" sz="2000" i="1" dirty="0" smtClean="0">
                <a:solidFill>
                  <a:srgbClr val="000000"/>
                </a:solidFill>
                <a:latin typeface="Arial" pitchFamily="34" charset="0"/>
                <a:ea typeface="Times New Roman" pitchFamily="18" charset="0"/>
                <a:cs typeface="Arial" pitchFamily="34" charset="0"/>
              </a:rPr>
              <a:t>by any privy, any private individual</a:t>
            </a:r>
            <a:r>
              <a:rPr lang="en-GB" sz="2000" dirty="0" smtClean="0">
                <a:solidFill>
                  <a:srgbClr val="000000"/>
                </a:solidFill>
                <a:latin typeface="Arial" pitchFamily="34" charset="0"/>
                <a:ea typeface="Times New Roman" pitchFamily="18" charset="0"/>
                <a:cs typeface="Arial" pitchFamily="34" charset="0"/>
              </a:rPr>
              <a:t> who</a:t>
            </a:r>
            <a:endParaRPr lang="en-GB" sz="2000" dirty="0" smtClean="0">
              <a:latin typeface="Arial" pitchFamily="34" charset="0"/>
              <a:ea typeface="Times New Roman" pitchFamily="18" charset="0"/>
              <a:cs typeface="Arial" pitchFamily="34"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p:cNvSpPr>
            <a:spLocks noChangeArrowheads="1"/>
          </p:cNvSpPr>
          <p:nvPr/>
        </p:nvSpPr>
        <p:spPr bwMode="auto">
          <a:xfrm>
            <a:off x="0" y="188640"/>
            <a:ext cx="9144000" cy="747897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claims to be victim of violation by state which accepted competence.</a:t>
            </a:r>
          </a:p>
          <a:p>
            <a:pPr lvl="0" algn="just" eaLnBrk="0" fontAlgn="base" hangingPunct="0">
              <a:spcBef>
                <a:spcPct val="0"/>
              </a:spcBef>
              <a:spcAft>
                <a:spcPct val="0"/>
              </a:spcAft>
            </a:pP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buFontTx/>
              <a:buChar char="•"/>
            </a:pPr>
            <a:r>
              <a:rPr lang="en-GB" sz="2000" dirty="0" smtClean="0">
                <a:solidFill>
                  <a:srgbClr val="000000"/>
                </a:solidFill>
                <a:latin typeface="Arial" pitchFamily="34" charset="0"/>
                <a:ea typeface="Times New Roman" pitchFamily="18" charset="0"/>
                <a:cs typeface="Arial" pitchFamily="34" charset="0"/>
              </a:rPr>
              <a:t> If the alleged victim is not in a position to submit the </a:t>
            </a:r>
            <a:r>
              <a:rPr lang="en-GB" sz="2000" dirty="0" err="1" smtClean="0">
                <a:solidFill>
                  <a:srgbClr val="000000"/>
                </a:solidFill>
                <a:latin typeface="Arial" pitchFamily="34" charset="0"/>
                <a:ea typeface="Times New Roman" pitchFamily="18" charset="0"/>
                <a:cs typeface="Arial" pitchFamily="34" charset="0"/>
              </a:rPr>
              <a:t>communi</a:t>
            </a:r>
            <a:r>
              <a:rPr lang="en-GB" sz="2000" dirty="0" smtClean="0">
                <a:solidFill>
                  <a:srgbClr val="000000"/>
                </a:solidFill>
                <a:latin typeface="Arial" pitchFamily="34" charset="0"/>
                <a:ea typeface="Times New Roman" pitchFamily="18" charset="0"/>
                <a:cs typeface="Arial" pitchFamily="34" charset="0"/>
              </a:rPr>
              <a:t>. himself, </a:t>
            </a:r>
            <a:r>
              <a:rPr lang="en-GB" sz="2000" i="1" dirty="0" smtClean="0">
                <a:solidFill>
                  <a:srgbClr val="000000"/>
                </a:solidFill>
                <a:latin typeface="Arial" pitchFamily="34" charset="0"/>
                <a:ea typeface="Times New Roman" pitchFamily="18" charset="0"/>
                <a:cs typeface="Arial" pitchFamily="34" charset="0"/>
              </a:rPr>
              <a:t>his relatives or representatives</a:t>
            </a:r>
            <a:r>
              <a:rPr lang="en-GB" sz="2000" dirty="0" smtClean="0">
                <a:solidFill>
                  <a:srgbClr val="000000"/>
                </a:solidFill>
                <a:latin typeface="Arial" pitchFamily="34" charset="0"/>
                <a:ea typeface="Times New Roman" pitchFamily="18" charset="0"/>
                <a:cs typeface="Arial" pitchFamily="34" charset="0"/>
              </a:rPr>
              <a:t> may act on his behalf.</a:t>
            </a:r>
            <a:endParaRPr lang="en-GB" sz="2000" dirty="0" smtClean="0">
              <a:latin typeface="Arial" pitchFamily="34" charset="0"/>
              <a:ea typeface="Times New Roman" pitchFamily="18" charset="0"/>
              <a:cs typeface="Arial" pitchFamily="34" charset="0"/>
            </a:endParaRPr>
          </a:p>
          <a:p>
            <a:pPr lvl="0" algn="just" eaLnBrk="0" fontAlgn="base" hangingPunct="0">
              <a:spcBef>
                <a:spcPct val="0"/>
              </a:spcBef>
              <a:spcAft>
                <a:spcPct val="0"/>
              </a:spcAft>
            </a:pPr>
            <a:endParaRPr lang="en-GB" sz="2000" i="1" dirty="0" smtClean="0">
              <a:solidFill>
                <a:srgbClr val="000000"/>
              </a:solidFill>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lang="en-GB" sz="2000" b="1" i="1" dirty="0" smtClean="0">
                <a:solidFill>
                  <a:srgbClr val="000000"/>
                </a:solidFill>
                <a:latin typeface="Arial" pitchFamily="34" charset="0"/>
                <a:ea typeface="Times New Roman" pitchFamily="18" charset="0"/>
                <a:cs typeface="Arial" pitchFamily="34" charset="0"/>
              </a:rPr>
              <a:t>Consideration of the merits</a:t>
            </a:r>
          </a:p>
          <a:p>
            <a:pPr lvl="0" algn="just" eaLnBrk="0" fontAlgn="base" hangingPunct="0">
              <a:spcBef>
                <a:spcPct val="0"/>
              </a:spcBef>
              <a:spcAft>
                <a:spcPct val="0"/>
              </a:spcAft>
            </a:pPr>
            <a:endPar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If Committee decides a communication is admissible, considers the merits.</a:t>
            </a:r>
            <a:endParaRPr lang="en-GB" sz="2000" dirty="0" smtClean="0">
              <a:solidFill>
                <a:srgbClr val="000000"/>
              </a:solidFill>
              <a:latin typeface="Arial" pitchFamily="34" charset="0"/>
              <a:ea typeface="Times New Roman" pitchFamily="18" charset="0"/>
              <a:cs typeface="Arial" pitchFamily="34" charset="0"/>
            </a:endParaRPr>
          </a:p>
          <a:p>
            <a:pPr lvl="0" algn="just" eaLnBrk="0" fontAlgn="base" hangingPunct="0">
              <a:spcBef>
                <a:spcPct val="0"/>
              </a:spcBef>
              <a:spcAft>
                <a:spcPct val="0"/>
              </a:spcAf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State shall submit to Committee </a:t>
            </a:r>
            <a:r>
              <a:rPr kumimoji="0" lang="en-GB" sz="2000" b="0" i="0" u="none" strike="noStrike" cap="none" normalizeH="0" baseline="0" dirty="0" err="1" smtClean="0">
                <a:ln>
                  <a:noFill/>
                </a:ln>
                <a:solidFill>
                  <a:srgbClr val="000000"/>
                </a:solidFill>
                <a:effectLst/>
                <a:latin typeface="Arial" pitchFamily="34" charset="0"/>
                <a:ea typeface="Times New Roman" pitchFamily="18" charset="0"/>
                <a:cs typeface="Arial" pitchFamily="34" charset="0"/>
              </a:rPr>
              <a:t>expla</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clarifying the case and indicating any measures it may have taken to remedy situation. </a:t>
            </a:r>
            <a:endParaRPr lang="en-GB" sz="2000"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dirty="0" smtClean="0">
                <a:ln>
                  <a:noFill/>
                </a:ln>
                <a:solidFill>
                  <a:srgbClr val="000000"/>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author of the communication may also submit his observations or additional information to the Committee.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Provisional measures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the course of the consideration of inadmissibility or merits, Committee may request the State to take steps to avoid possible irreparable damage.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Conclusion of the proceedings</a:t>
            </a:r>
            <a:endParaRPr kumimoji="0" lang="en-GB"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 light of all information made available to it, the Committee considers the communication and formulates its </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views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thereon.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Committee includes in its annual report a summary of the </a:t>
            </a:r>
            <a:r>
              <a:rPr kumimoji="0" lang="en-GB" sz="2000" b="0" i="0" u="none" strike="noStrike" cap="none" normalizeH="0" baseline="0" dirty="0" err="1" smtClean="0">
                <a:ln>
                  <a:noFill/>
                </a:ln>
                <a:solidFill>
                  <a:srgbClr val="000000"/>
                </a:solidFill>
                <a:effectLst/>
                <a:latin typeface="Arial" pitchFamily="34" charset="0"/>
                <a:ea typeface="Times New Roman" pitchFamily="18" charset="0"/>
                <a:cs typeface="Arial" pitchFamily="34" charset="0"/>
              </a:rPr>
              <a:t>communi</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examined, </a:t>
            </a:r>
            <a:r>
              <a:rPr kumimoji="0" lang="en-GB" sz="2000" b="0" i="0" u="none" strike="noStrike" cap="none" normalizeH="0" baseline="0" dirty="0" err="1" smtClean="0">
                <a:ln>
                  <a:noFill/>
                </a:ln>
                <a:solidFill>
                  <a:srgbClr val="000000"/>
                </a:solidFill>
                <a:effectLst/>
                <a:latin typeface="Arial" pitchFamily="34" charset="0"/>
                <a:ea typeface="Times New Roman" pitchFamily="18" charset="0"/>
                <a:cs typeface="Arial" pitchFamily="34" charset="0"/>
              </a:rPr>
              <a:t>explana</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and statements of States concerned, and of its own views.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ChangeArrowheads="1"/>
          </p:cNvSpPr>
          <p:nvPr/>
        </p:nvSpPr>
        <p:spPr bwMode="auto">
          <a:xfrm>
            <a:off x="0" y="-94167"/>
            <a:ext cx="9036496" cy="686341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1"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Cooperation with other bodies</a:t>
            </a:r>
            <a:r>
              <a:rPr kumimoji="0" lang="en-GB"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There are other methods of combating torture at either regional level or the international level.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Special Rapporteur on Torture</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Committee has considered on a number of occasions question of cooperation with the Commission on Human Rights Special Rapporteur responsible for issues relating to the practice of torture in the world.</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Committee considers mandate conferred on it and mandate conferred on the Special Rapporteur by the Commission on Human Rights are different but complementary.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hlinkClick r:id="rId3"/>
              </a:rPr>
              <a:t>Optional Protocol </a:t>
            </a:r>
            <a:endPar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To the Convention, entered into force in 2006, creates the </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hlinkClick r:id="rId4"/>
              </a:rPr>
              <a:t>Subcommittee on Prevention of Torture</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(SPT).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The SPT has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 mandate to visit places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where persons are deprived of liberty in the states.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Under the OP, States shall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establish an independent national preventive mechanism</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for the prevention of torture at the domestic level which has also a mandate to inspect places of detention</a:t>
            </a:r>
            <a:r>
              <a:rPr kumimoji="0" lang="en-GB" sz="12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a:t>
            </a: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ChangeArrowheads="1"/>
          </p:cNvSpPr>
          <p:nvPr/>
        </p:nvSpPr>
        <p:spPr bwMode="auto">
          <a:xfrm>
            <a:off x="0" y="775504"/>
            <a:ext cx="9144000" cy="582184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r>
              <a:rPr kumimoji="0" lang="en-GB" b="1"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3"/>
              </a:rPr>
              <a:t>7. Committee on Migrant Workers</a:t>
            </a:r>
            <a:r>
              <a:rPr kumimoji="0" lang="en-GB"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(CMW)</a:t>
            </a: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Convention was adopted </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Realizing importance of the migration phenomenon, which involves millions of people and affecting a large number of states in the international community, </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Aware of impact of the flows of migrant workers on States and people concerned, and </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Desiring to establish norms contributing to the harmonization of the attitudes of states through acceptance of basic principles concerning treatment of migrant workers</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Vulnerability of migrant workers and their families owing to their absence from their state of origin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The Committee on the Protection of the Rights of All Migrant Workers and Members of their Families (CMW) monitors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4"/>
              </a:rPr>
              <a:t>Convention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(1990)</a:t>
            </a:r>
          </a:p>
          <a:p>
            <a:pPr marL="0" marR="0" lvl="0" indent="0" algn="just" defTabSz="914400" rtl="0" eaLnBrk="0" fontAlgn="base" latinLnBrk="0" hangingPunct="0">
              <a:lnSpc>
                <a:spcPct val="100000"/>
              </a:lnSpc>
              <a:spcBef>
                <a:spcPct val="0"/>
              </a:spcBef>
              <a:spcAft>
                <a:spcPct val="0"/>
              </a:spcAft>
              <a:buClrTx/>
              <a:buSzTx/>
              <a:tabLst/>
            </a:pPr>
            <a:r>
              <a:rPr lang="en-GB" dirty="0" smtClean="0">
                <a:latin typeface="Arial" pitchFamily="34" charset="0"/>
                <a:ea typeface="Times New Roman" pitchFamily="18" charset="0"/>
                <a:cs typeface="Arial" pitchFamily="34" charset="0"/>
              </a:rPr>
              <a:t>1.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Reporting: All States parties are obliged to submit regular reports to the Committee, one year after acceding to the Convention, and then every five years. </a:t>
            </a:r>
          </a:p>
          <a:p>
            <a:pPr marL="457200" marR="0" lvl="1" indent="0" algn="just" defTabSz="914400" rtl="0" eaLnBrk="0" fontAlgn="base" latinLnBrk="0" hangingPunct="0">
              <a:lnSpc>
                <a:spcPct val="100000"/>
              </a:lnSpc>
              <a:spcBef>
                <a:spcPct val="0"/>
              </a:spcBef>
              <a:spcAft>
                <a:spcPct val="0"/>
              </a:spcAft>
              <a:buClrTx/>
              <a:buSzTx/>
              <a:buFont typeface="Courier New" pitchFamily="49" charset="0"/>
              <a:buChar char="o"/>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Committee examines each report &amp; address its concerns and recommendations.</a:t>
            </a:r>
          </a:p>
          <a:p>
            <a:pPr marL="0" marR="0" lvl="0" indent="0" algn="just" defTabSz="914400" rtl="0" eaLnBrk="0" fontAlgn="base" latinLnBrk="0" hangingPunct="0">
              <a:lnSpc>
                <a:spcPct val="100000"/>
              </a:lnSpc>
              <a:spcBef>
                <a:spcPct val="0"/>
              </a:spcBef>
              <a:spcAft>
                <a:spcPct val="0"/>
              </a:spcAft>
              <a:buClrTx/>
              <a:buSzTx/>
              <a:tabLst/>
            </a:pPr>
            <a:r>
              <a:rPr lang="en-GB" dirty="0" smtClean="0">
                <a:latin typeface="Arial" pitchFamily="34" charset="0"/>
                <a:ea typeface="Times New Roman" pitchFamily="18" charset="0"/>
                <a:cs typeface="Arial" pitchFamily="34" charset="0"/>
              </a:rPr>
              <a:t>2.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Committee will also,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under certain circumstances, be able to consider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5"/>
              </a:rPr>
              <a:t>individual complaints</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or communications</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from individuals claiming that their rights under the Convention.</a:t>
            </a:r>
            <a:endParaRPr kumimoji="0" lang="en-GB"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ChangeArrowheads="1"/>
          </p:cNvSpPr>
          <p:nvPr/>
        </p:nvSpPr>
        <p:spPr bwMode="auto">
          <a:xfrm>
            <a:off x="0" y="476672"/>
            <a:ext cx="9144000" cy="584089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r>
              <a:rPr kumimoji="0" lang="en-GB" b="1"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3"/>
              </a:rPr>
              <a:t>6. Committee on the Rights of the Child</a:t>
            </a:r>
            <a:r>
              <a:rPr kumimoji="0" lang="en-GB"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(CRC)</a:t>
            </a: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Committee on the Rights of the Child monitors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4"/>
              </a:rPr>
              <a:t>Convention. </a:t>
            </a: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Also monitors implementation of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two</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optional protocols</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to the Convention, on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5"/>
              </a:rPr>
              <a:t>involvement of children in armed conflict</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and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on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6"/>
              </a:rPr>
              <a:t>sale of children, child prostitution and child pornography</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In 2011, the UN GA approved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 third optional protocol</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on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 Communications Procedure</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which will allow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individual children</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to submit complaints regarding violations of rights under the Convention and the first two optional protocols. </a:t>
            </a:r>
          </a:p>
          <a:p>
            <a:pPr marL="457200" marR="0" lvl="1" indent="0" algn="just" defTabSz="914400" rtl="0" eaLnBrk="0" fontAlgn="base" latinLnBrk="0" hangingPunct="0">
              <a:lnSpc>
                <a:spcPct val="100000"/>
              </a:lnSpc>
              <a:spcBef>
                <a:spcPct val="0"/>
              </a:spcBef>
              <a:spcAft>
                <a:spcPct val="0"/>
              </a:spcAft>
              <a:buClrTx/>
              <a:buSzTx/>
              <a:buFont typeface="Symbol" pitchFamily="18" charset="2"/>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Protocol opens for signature in 2012, will enter into force upon 10 ratifications.</a:t>
            </a:r>
          </a:p>
          <a:p>
            <a:pPr marL="457200" marR="0" lvl="1" indent="0" algn="just" defTabSz="914400" rtl="0" eaLnBrk="0" fontAlgn="base" latinLnBrk="0" hangingPunct="0">
              <a:lnSpc>
                <a:spcPct val="100000"/>
              </a:lnSpc>
              <a:spcBef>
                <a:spcPct val="0"/>
              </a:spcBef>
              <a:spcAft>
                <a:spcPct val="0"/>
              </a:spcAft>
              <a:buClrTx/>
              <a:buSzTx/>
              <a:tabLst/>
            </a:pP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457200" marR="0" lvl="1" indent="0" algn="just" defTabSz="914400" rtl="0" eaLnBrk="0" fontAlgn="base" latinLnBrk="0" hangingPunct="0">
              <a:lnSpc>
                <a:spcPct val="100000"/>
              </a:lnSpc>
              <a:spcBef>
                <a:spcPct val="0"/>
              </a:spcBef>
              <a:spcAft>
                <a:spcPct val="0"/>
              </a:spcAft>
              <a:buClrTx/>
              <a:buSzTx/>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1.Reporting: States are obliged to submit reports, initially two years after acceding to the Convention, and then every five years.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Committee examines report and addresses its concerns as ‘concluding observations’.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Committee reviews additional reports which must be submitted by States who acceded to the two Optional Protocol.</a:t>
            </a:r>
          </a:p>
          <a:p>
            <a:pPr marL="0" marR="0" lvl="0" indent="0" algn="just" defTabSz="914400" rtl="0" eaLnBrk="0" fontAlgn="base" latinLnBrk="0" hangingPunct="0">
              <a:lnSpc>
                <a:spcPct val="100000"/>
              </a:lnSpc>
              <a:spcBef>
                <a:spcPct val="0"/>
              </a:spcBef>
              <a:spcAft>
                <a:spcPct val="0"/>
              </a:spcAft>
              <a:buClrTx/>
              <a:buSzTx/>
              <a:tabLst/>
            </a:pPr>
            <a:endParaRPr lang="en-GB"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2.Individual complaints: Committee will soon be able to consider individual complaints by children.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In the meantime, violations of child rights may be raised </a:t>
            </a:r>
            <a:r>
              <a:rPr kumimoji="0" lang="en-GB"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before other committees</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with competence to consider </a:t>
            </a:r>
            <a:r>
              <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7"/>
              </a:rPr>
              <a:t>individual complaints</a:t>
            </a:r>
            <a:r>
              <a:rPr kumimoji="0" lang="en-GB" sz="1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p:cNvSpPr>
            <a:spLocks noChangeArrowheads="1"/>
          </p:cNvSpPr>
          <p:nvPr/>
        </p:nvSpPr>
        <p:spPr bwMode="auto">
          <a:xfrm>
            <a:off x="107504" y="765773"/>
            <a:ext cx="8784976" cy="403187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r>
              <a:rPr kumimoji="0" lang="en-GB"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hlinkClick r:id="rId3" tooltip="Committee on the Rights of Persons with Disabilities"/>
              </a:rPr>
              <a:t>8. Committee on the Rights of Persons with Disabilities</a:t>
            </a:r>
            <a:r>
              <a:rPr kumimoji="0" lang="en-GB"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(CRPD)</a:t>
            </a:r>
          </a:p>
          <a:p>
            <a:pPr marL="0" marR="0" lvl="0" indent="0" algn="just" defTabSz="914400" rtl="0" eaLnBrk="1" fontAlgn="base" latinLnBrk="0" hangingPunct="1">
              <a:lnSpc>
                <a:spcPct val="100000"/>
              </a:lnSpc>
              <a:spcBef>
                <a:spcPct val="0"/>
              </a:spcBef>
              <a:spcAft>
                <a:spcPct val="0"/>
              </a:spcAft>
              <a:buClrTx/>
              <a:buSzTx/>
              <a:tabLst/>
            </a:pPr>
            <a:endParaRPr kumimoji="0" lang="en-GB"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Include those who have long-term physical, mental, intellectual or sensory impairments which in interaction with various barriers may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hinder their full and effective participation in society</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on an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equal basis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with others.</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Committee on the Rights of Persons with Disabilities (CRPD) monitors implementation of the Convention of 2006, entered into force in 2008.</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Report: states are obliged to submit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regular reports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to the committee, initially within two years, and thereafter every four years. </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Committee examines each report, makes recommendations on the report.</a:t>
            </a: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The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Optional Protocol to the Convention</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gives the Committee </a:t>
            </a:r>
            <a:r>
              <a:rPr kumimoji="0" lang="en-GB" sz="2000" b="0" i="1"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competence to examine individual complaints</a:t>
            </a:r>
            <a:r>
              <a:rPr kumimoji="0" lang="en-GB"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with regard to alleged violations of the Convention by states parties to the Protocol.</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latin typeface="Arial Narrow" pitchFamily="34" charset="0"/>
              </a:rPr>
              <a:t>Global enforcement of HRs</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lnSpcReduction="10000"/>
          </a:bodyPr>
          <a:lstStyle/>
          <a:p>
            <a:pPr algn="just"/>
            <a:r>
              <a:rPr lang="en-US" b="1" i="1" dirty="0" smtClean="0">
                <a:latin typeface="Arial Narrow" pitchFamily="34" charset="0"/>
              </a:rPr>
              <a:t>Naming and shaming(Boomerang </a:t>
            </a:r>
            <a:r>
              <a:rPr lang="en-US" i="1" dirty="0" smtClean="0">
                <a:latin typeface="Arial Narrow" pitchFamily="34" charset="0"/>
              </a:rPr>
              <a:t>effect)-Pressurizing government by media, NGO, Public Protests, other states. Common but weak form of punishment </a:t>
            </a:r>
          </a:p>
          <a:p>
            <a:pPr algn="just"/>
            <a:r>
              <a:rPr lang="en-US" dirty="0" smtClean="0">
                <a:latin typeface="Arial Narrow" pitchFamily="34" charset="0"/>
              </a:rPr>
              <a:t>Diplomatic and </a:t>
            </a:r>
            <a:r>
              <a:rPr lang="en-US" b="1" dirty="0" smtClean="0">
                <a:latin typeface="Arial Narrow" pitchFamily="34" charset="0"/>
              </a:rPr>
              <a:t>economic sanctions(very difficult from HRs points of view because the consequence of economic sanction will have an effect of exacerbating human rights violations)</a:t>
            </a:r>
          </a:p>
          <a:p>
            <a:pPr algn="just"/>
            <a:r>
              <a:rPr lang="en-US" b="1" dirty="0" smtClean="0">
                <a:latin typeface="Arial Narrow" pitchFamily="34" charset="0"/>
              </a:rPr>
              <a:t>Military force(Humanitarian Intervention)-</a:t>
            </a:r>
            <a:r>
              <a:rPr lang="en-US" dirty="0" smtClean="0">
                <a:latin typeface="Arial Narrow" pitchFamily="34" charset="0"/>
              </a:rPr>
              <a:t>under Chapter VII of the UN Charter in order to respond to threats to international peace and security.(Problem of veto power in the UN Security Council). </a:t>
            </a:r>
            <a:r>
              <a:rPr lang="en-US" b="1" dirty="0" smtClean="0">
                <a:latin typeface="Arial Narrow" pitchFamily="34" charset="0"/>
              </a:rPr>
              <a:t>Syria</a:t>
            </a:r>
            <a:r>
              <a:rPr lang="en-US" dirty="0" smtClean="0">
                <a:latin typeface="Arial Narrow" pitchFamily="34" charset="0"/>
              </a:rPr>
              <a:t> </a:t>
            </a:r>
          </a:p>
          <a:p>
            <a:pPr algn="just"/>
            <a:r>
              <a:rPr lang="en-US" b="1" dirty="0" smtClean="0">
                <a:latin typeface="Arial Narrow" pitchFamily="34" charset="0"/>
              </a:rPr>
              <a:t>International Criminal Law- Under the ICC Rome Statute – </a:t>
            </a:r>
            <a:r>
              <a:rPr lang="en-US" dirty="0" smtClean="0">
                <a:latin typeface="Arial Narrow" pitchFamily="34" charset="0"/>
              </a:rPr>
              <a:t>Omar Al-</a:t>
            </a:r>
            <a:r>
              <a:rPr lang="en-US" dirty="0" err="1" smtClean="0">
                <a:latin typeface="Arial Narrow" pitchFamily="34" charset="0"/>
              </a:rPr>
              <a:t>Bashir</a:t>
            </a:r>
            <a:r>
              <a:rPr lang="en-US" dirty="0" smtClean="0">
                <a:latin typeface="Arial Narrow" pitchFamily="34" charset="0"/>
              </a:rPr>
              <a:t>, </a:t>
            </a:r>
            <a:r>
              <a:rPr lang="en-US" dirty="0" err="1" smtClean="0">
                <a:latin typeface="Arial Narrow" pitchFamily="34" charset="0"/>
              </a:rPr>
              <a:t>Uhuru</a:t>
            </a:r>
            <a:r>
              <a:rPr lang="en-US" dirty="0" smtClean="0">
                <a:latin typeface="Arial Narrow" pitchFamily="34" charset="0"/>
              </a:rPr>
              <a:t> Kenyatta</a:t>
            </a:r>
            <a:r>
              <a:rPr lang="en-US" b="1" dirty="0" smtClean="0">
                <a:latin typeface="Arial Narrow" pitchFamily="34" charset="0"/>
              </a:rPr>
              <a:t> </a:t>
            </a:r>
          </a:p>
          <a:p>
            <a:endParaRPr lang="en-US" i="1" dirty="0" smtClean="0">
              <a:latin typeface="Arial Narrow" pitchFamily="34" charset="0"/>
            </a:endParaRPr>
          </a:p>
          <a:p>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600450"/>
          </a:xfrm>
        </p:spPr>
        <p:txBody>
          <a:bodyPr/>
          <a:lstStyle/>
          <a:p>
            <a:r>
              <a:rPr lang="en-US" b="1" dirty="0" smtClean="0">
                <a:latin typeface="Arial Narrow" pitchFamily="34" charset="0"/>
              </a:rPr>
              <a:t>Regional Human Rights Systems</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15400" cy="762000"/>
          </a:xfrm>
        </p:spPr>
        <p:txBody>
          <a:bodyPr/>
          <a:lstStyle/>
          <a:p>
            <a:r>
              <a:rPr lang="en-US" b="1" dirty="0" smtClean="0">
                <a:latin typeface="Arial Narrow" pitchFamily="34" charset="0"/>
              </a:rPr>
              <a:t>Why Regional HRs Systems ?</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a:bodyPr>
          <a:lstStyle/>
          <a:p>
            <a:pPr algn="just"/>
            <a:r>
              <a:rPr lang="en-US" dirty="0" smtClean="0">
                <a:latin typeface="Arial Narrow" pitchFamily="34" charset="0"/>
              </a:rPr>
              <a:t>To address </a:t>
            </a:r>
            <a:r>
              <a:rPr lang="en-US" b="1" dirty="0" smtClean="0">
                <a:latin typeface="Arial Narrow" pitchFamily="34" charset="0"/>
              </a:rPr>
              <a:t>distinctive Regional  HRs Issues </a:t>
            </a:r>
            <a:r>
              <a:rPr lang="en-US" dirty="0" smtClean="0">
                <a:latin typeface="Arial Narrow" pitchFamily="34" charset="0"/>
              </a:rPr>
              <a:t>like ACHPR which allows free disposition of their wealth and natural resources, FGM and Peoples of Rights </a:t>
            </a:r>
          </a:p>
          <a:p>
            <a:pPr algn="just"/>
            <a:r>
              <a:rPr lang="en-US" dirty="0" smtClean="0">
                <a:latin typeface="Arial Narrow" pitchFamily="34" charset="0"/>
              </a:rPr>
              <a:t>To </a:t>
            </a:r>
            <a:r>
              <a:rPr lang="en-US" b="1" dirty="0" smtClean="0">
                <a:latin typeface="Arial Narrow" pitchFamily="34" charset="0"/>
              </a:rPr>
              <a:t>commit to Higher HRs Standards </a:t>
            </a:r>
            <a:r>
              <a:rPr lang="en-US" dirty="0" smtClean="0">
                <a:latin typeface="Arial Narrow" pitchFamily="34" charset="0"/>
              </a:rPr>
              <a:t>than could agreed in UN treaties open to all States</a:t>
            </a:r>
          </a:p>
          <a:p>
            <a:pPr algn="just"/>
            <a:r>
              <a:rPr lang="en-US" dirty="0" smtClean="0">
                <a:latin typeface="Arial Narrow" pitchFamily="34" charset="0"/>
              </a:rPr>
              <a:t>To </a:t>
            </a:r>
            <a:r>
              <a:rPr lang="en-US" b="1" dirty="0" smtClean="0">
                <a:latin typeface="Arial Narrow" pitchFamily="34" charset="0"/>
              </a:rPr>
              <a:t>Create Stronger monitoring and enforcement mechanisms such as regional courts and commissions </a:t>
            </a:r>
            <a:r>
              <a:rPr lang="en-US" dirty="0" smtClean="0">
                <a:latin typeface="Arial Narrow" pitchFamily="34" charset="0"/>
              </a:rPr>
              <a:t>because we did not have International Courts </a:t>
            </a:r>
          </a:p>
          <a:p>
            <a:pPr algn="just"/>
            <a:r>
              <a:rPr lang="en-US" dirty="0" smtClean="0">
                <a:latin typeface="Arial Narrow" pitchFamily="34" charset="0"/>
              </a:rPr>
              <a:t>Due to </a:t>
            </a:r>
            <a:r>
              <a:rPr lang="en-US" b="1" dirty="0" smtClean="0">
                <a:latin typeface="Arial Narrow" pitchFamily="34" charset="0"/>
              </a:rPr>
              <a:t>greater political will  for compliance </a:t>
            </a:r>
            <a:r>
              <a:rPr lang="en-US" dirty="0" smtClean="0">
                <a:latin typeface="Arial Narrow" pitchFamily="34" charset="0"/>
              </a:rPr>
              <a:t>with HRs domestically than relaying on International</a:t>
            </a:r>
            <a:r>
              <a:rPr lang="en-US" i="1" dirty="0" smtClean="0">
                <a:latin typeface="Arial Narrow" pitchFamily="34" charset="0"/>
              </a:rPr>
              <a:t> </a:t>
            </a:r>
            <a:r>
              <a:rPr lang="en-US" i="1" dirty="0" err="1" smtClean="0">
                <a:latin typeface="Arial Narrow" pitchFamily="34" charset="0"/>
              </a:rPr>
              <a:t>fora</a:t>
            </a:r>
            <a:r>
              <a:rPr lang="en-US" i="1" dirty="0" smtClean="0">
                <a:latin typeface="Arial Narrow" pitchFamily="34" charset="0"/>
              </a:rPr>
              <a:t> </a:t>
            </a:r>
            <a:r>
              <a:rPr lang="en-US" dirty="0" smtClean="0">
                <a:latin typeface="Arial Narrow" pitchFamily="34" charset="0"/>
              </a:rPr>
              <a:t>which is less attractive </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latin typeface="Arial Narrow" pitchFamily="34" charset="0"/>
              </a:rPr>
              <a:t>The European HRs System</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77500" lnSpcReduction="20000"/>
          </a:bodyPr>
          <a:lstStyle/>
          <a:p>
            <a:pPr algn="just"/>
            <a:r>
              <a:rPr lang="en-US" b="1" dirty="0" smtClean="0">
                <a:latin typeface="Arial Narrow" pitchFamily="34" charset="0"/>
              </a:rPr>
              <a:t>European Convention  </a:t>
            </a:r>
            <a:r>
              <a:rPr lang="en-US" b="1" dirty="0">
                <a:latin typeface="Arial Narrow" pitchFamily="34" charset="0"/>
              </a:rPr>
              <a:t>on Human Rights and Fundamental Freedoms, </a:t>
            </a:r>
            <a:r>
              <a:rPr lang="en-US" b="1" dirty="0" smtClean="0">
                <a:latin typeface="Arial Narrow" pitchFamily="34" charset="0"/>
              </a:rPr>
              <a:t>1950</a:t>
            </a:r>
          </a:p>
          <a:p>
            <a:pPr algn="just"/>
            <a:r>
              <a:rPr lang="en-US" dirty="0">
                <a:latin typeface="Arial Narrow" pitchFamily="34" charset="0"/>
              </a:rPr>
              <a:t>The </a:t>
            </a:r>
            <a:r>
              <a:rPr lang="en-US" b="1" dirty="0">
                <a:latin typeface="Arial Narrow" pitchFamily="34" charset="0"/>
              </a:rPr>
              <a:t>Council of </a:t>
            </a:r>
            <a:r>
              <a:rPr lang="en-US" b="1" dirty="0" smtClean="0">
                <a:latin typeface="Arial Narrow" pitchFamily="34" charset="0"/>
              </a:rPr>
              <a:t>Europe </a:t>
            </a:r>
            <a:r>
              <a:rPr lang="en-US" dirty="0" smtClean="0">
                <a:latin typeface="Arial Narrow" pitchFamily="34" charset="0"/>
              </a:rPr>
              <a:t>adopted European Convention which entered into force in 1953 and had influence from UDHR</a:t>
            </a:r>
          </a:p>
          <a:p>
            <a:pPr algn="just"/>
            <a:r>
              <a:rPr lang="en-US" b="1" dirty="0" smtClean="0">
                <a:latin typeface="Arial Narrow" pitchFamily="34" charset="0"/>
              </a:rPr>
              <a:t>Institution for the implementation of European Convention</a:t>
            </a:r>
          </a:p>
          <a:p>
            <a:pPr algn="just"/>
            <a:r>
              <a:rPr lang="en-US" b="1" dirty="0" smtClean="0">
                <a:latin typeface="Arial Narrow" pitchFamily="34" charset="0"/>
              </a:rPr>
              <a:t>The </a:t>
            </a:r>
            <a:r>
              <a:rPr lang="en-US" b="1" dirty="0">
                <a:latin typeface="Arial Narrow" pitchFamily="34" charset="0"/>
              </a:rPr>
              <a:t>European Commission of Human Rights set </a:t>
            </a:r>
            <a:r>
              <a:rPr lang="en-US" dirty="0">
                <a:latin typeface="Arial Narrow" pitchFamily="34" charset="0"/>
              </a:rPr>
              <a:t>up in 1954</a:t>
            </a:r>
            <a:r>
              <a:rPr lang="en-US" dirty="0" smtClean="0">
                <a:latin typeface="Arial Narrow" pitchFamily="34" charset="0"/>
              </a:rPr>
              <a:t>;</a:t>
            </a:r>
          </a:p>
          <a:p>
            <a:pPr algn="just"/>
            <a:r>
              <a:rPr lang="en-US" dirty="0" smtClean="0">
                <a:latin typeface="Arial Narrow" pitchFamily="34" charset="0"/>
              </a:rPr>
              <a:t> </a:t>
            </a:r>
            <a:r>
              <a:rPr lang="en-US" b="1" dirty="0" smtClean="0">
                <a:latin typeface="Arial Narrow" pitchFamily="34" charset="0"/>
              </a:rPr>
              <a:t>The European Court </a:t>
            </a:r>
            <a:r>
              <a:rPr lang="en-US" b="1" dirty="0">
                <a:latin typeface="Arial Narrow" pitchFamily="34" charset="0"/>
              </a:rPr>
              <a:t>of Human Rights</a:t>
            </a:r>
            <a:r>
              <a:rPr lang="en-US" dirty="0">
                <a:latin typeface="Arial Narrow" pitchFamily="34" charset="0"/>
              </a:rPr>
              <a:t> set up in 1959</a:t>
            </a:r>
            <a:r>
              <a:rPr lang="en-US" dirty="0" smtClean="0">
                <a:latin typeface="Arial Narrow" pitchFamily="34" charset="0"/>
              </a:rPr>
              <a:t>;</a:t>
            </a:r>
          </a:p>
          <a:p>
            <a:pPr algn="just"/>
            <a:r>
              <a:rPr lang="en-US" b="1" dirty="0" smtClean="0">
                <a:latin typeface="Arial Narrow" pitchFamily="34" charset="0"/>
              </a:rPr>
              <a:t>The </a:t>
            </a:r>
            <a:r>
              <a:rPr lang="en-US" b="1" dirty="0">
                <a:latin typeface="Arial Narrow" pitchFamily="34" charset="0"/>
              </a:rPr>
              <a:t>Committee of </a:t>
            </a:r>
            <a:r>
              <a:rPr lang="en-US" b="1" dirty="0" smtClean="0">
                <a:latin typeface="Arial Narrow" pitchFamily="34" charset="0"/>
              </a:rPr>
              <a:t>Ministers of </a:t>
            </a:r>
            <a:r>
              <a:rPr lang="en-US" b="1" dirty="0">
                <a:latin typeface="Arial Narrow" pitchFamily="34" charset="0"/>
              </a:rPr>
              <a:t>the Council of Europe</a:t>
            </a:r>
            <a:r>
              <a:rPr lang="en-US" dirty="0">
                <a:latin typeface="Arial Narrow" pitchFamily="34" charset="0"/>
              </a:rPr>
              <a:t>, which in turn consists of (a) </a:t>
            </a:r>
            <a:r>
              <a:rPr lang="en-US" b="1" dirty="0">
                <a:latin typeface="Arial Narrow" pitchFamily="34" charset="0"/>
              </a:rPr>
              <a:t>the Ministers of </a:t>
            </a:r>
            <a:r>
              <a:rPr lang="en-US" b="1" dirty="0" smtClean="0">
                <a:latin typeface="Arial Narrow" pitchFamily="34" charset="0"/>
              </a:rPr>
              <a:t>Foreign Affairs </a:t>
            </a:r>
            <a:r>
              <a:rPr lang="en-US" b="1" dirty="0">
                <a:latin typeface="Arial Narrow" pitchFamily="34" charset="0"/>
              </a:rPr>
              <a:t>of the member States; or (b) their representatives</a:t>
            </a:r>
            <a:r>
              <a:rPr lang="en-US" dirty="0" smtClean="0">
                <a:latin typeface="Arial Narrow" pitchFamily="34" charset="0"/>
              </a:rPr>
              <a:t>.</a:t>
            </a:r>
          </a:p>
          <a:p>
            <a:pPr algn="just"/>
            <a:r>
              <a:rPr lang="en-US" dirty="0" smtClean="0">
                <a:latin typeface="Arial Narrow" pitchFamily="34" charset="0"/>
              </a:rPr>
              <a:t> </a:t>
            </a:r>
            <a:r>
              <a:rPr lang="en-US" b="1" dirty="0">
                <a:latin typeface="Arial Narrow" pitchFamily="34" charset="0"/>
              </a:rPr>
              <a:t>Complaints</a:t>
            </a:r>
            <a:r>
              <a:rPr lang="en-US" dirty="0">
                <a:latin typeface="Arial Narrow" pitchFamily="34" charset="0"/>
              </a:rPr>
              <a:t> could </a:t>
            </a:r>
            <a:r>
              <a:rPr lang="en-US" dirty="0" smtClean="0">
                <a:latin typeface="Arial Narrow" pitchFamily="34" charset="0"/>
              </a:rPr>
              <a:t>be brought </a:t>
            </a:r>
            <a:r>
              <a:rPr lang="en-US" dirty="0">
                <a:latin typeface="Arial Narrow" pitchFamily="34" charset="0"/>
              </a:rPr>
              <a:t>against Contracting States either by other </a:t>
            </a:r>
            <a:r>
              <a:rPr lang="en-US" b="1" dirty="0">
                <a:latin typeface="Arial Narrow" pitchFamily="34" charset="0"/>
              </a:rPr>
              <a:t>Contracting States, or </a:t>
            </a:r>
            <a:r>
              <a:rPr lang="en-US" b="1" dirty="0" smtClean="0">
                <a:latin typeface="Arial Narrow" pitchFamily="34" charset="0"/>
              </a:rPr>
              <a:t>by individual </a:t>
            </a:r>
            <a:r>
              <a:rPr lang="en-US" b="1" dirty="0">
                <a:latin typeface="Arial Narrow" pitchFamily="34" charset="0"/>
              </a:rPr>
              <a:t>applicants</a:t>
            </a:r>
            <a:r>
              <a:rPr lang="en-US" dirty="0">
                <a:latin typeface="Arial Narrow" pitchFamily="34" charset="0"/>
              </a:rPr>
              <a:t>, which include (</a:t>
            </a:r>
            <a:r>
              <a:rPr lang="en-US" dirty="0" err="1">
                <a:latin typeface="Arial Narrow" pitchFamily="34" charset="0"/>
              </a:rPr>
              <a:t>i</a:t>
            </a:r>
            <a:r>
              <a:rPr lang="en-US" dirty="0">
                <a:latin typeface="Arial Narrow" pitchFamily="34" charset="0"/>
              </a:rPr>
              <a:t>) </a:t>
            </a:r>
            <a:r>
              <a:rPr lang="en-US" b="1" dirty="0">
                <a:latin typeface="Arial Narrow" pitchFamily="34" charset="0"/>
              </a:rPr>
              <a:t>individuals; (ii) groups of individuals</a:t>
            </a:r>
            <a:r>
              <a:rPr lang="en-US" b="1" dirty="0" smtClean="0">
                <a:latin typeface="Arial Narrow" pitchFamily="34" charset="0"/>
              </a:rPr>
              <a:t>; and </a:t>
            </a:r>
            <a:r>
              <a:rPr lang="en-US" b="1" dirty="0">
                <a:latin typeface="Arial Narrow" pitchFamily="34" charset="0"/>
              </a:rPr>
              <a:t>(iii) non-governmental organizations.</a:t>
            </a:r>
            <a:r>
              <a:rPr lang="en-US" dirty="0">
                <a:latin typeface="Arial Narrow" pitchFamily="34" charset="0"/>
              </a:rPr>
              <a:t> </a:t>
            </a:r>
            <a:endParaRPr lang="en-US" dirty="0" smtClean="0">
              <a:latin typeface="Arial Narrow" pitchFamily="34" charset="0"/>
            </a:endParaRPr>
          </a:p>
          <a:p>
            <a:pPr algn="just"/>
            <a:r>
              <a:rPr lang="en-US" dirty="0" smtClean="0">
                <a:latin typeface="Arial Narrow" pitchFamily="34" charset="0"/>
              </a:rPr>
              <a:t>Recognition </a:t>
            </a:r>
            <a:r>
              <a:rPr lang="en-US" dirty="0">
                <a:latin typeface="Arial Narrow" pitchFamily="34" charset="0"/>
              </a:rPr>
              <a:t>of the right of </a:t>
            </a:r>
            <a:r>
              <a:rPr lang="en-US" dirty="0" smtClean="0">
                <a:latin typeface="Arial Narrow" pitchFamily="34" charset="0"/>
              </a:rPr>
              <a:t>individual applications </a:t>
            </a:r>
            <a:r>
              <a:rPr lang="en-US" dirty="0">
                <a:latin typeface="Arial Narrow" pitchFamily="34" charset="0"/>
              </a:rPr>
              <a:t>was, however, optional and can, therefore, only be exercised </a:t>
            </a:r>
            <a:r>
              <a:rPr lang="en-US" dirty="0" smtClean="0">
                <a:latin typeface="Arial Narrow" pitchFamily="34" charset="0"/>
              </a:rPr>
              <a:t>against those </a:t>
            </a:r>
            <a:r>
              <a:rPr lang="en-US" dirty="0">
                <a:latin typeface="Arial Narrow" pitchFamily="34" charset="0"/>
              </a:rPr>
              <a:t>States which have accepted it.</a:t>
            </a:r>
            <a:endParaRPr lang="en-US" b="1" dirty="0" smtClean="0">
              <a:latin typeface="Arial Narrow" pitchFamily="34" charset="0"/>
            </a:endParaRPr>
          </a:p>
          <a:p>
            <a:pPr lvl="1" algn="just"/>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lnSpcReduction="10000"/>
          </a:bodyPr>
          <a:lstStyle/>
          <a:p>
            <a:pPr algn="just"/>
            <a:r>
              <a:rPr lang="en-US" b="1" dirty="0" smtClean="0">
                <a:latin typeface="Arial Narrow" pitchFamily="34" charset="0"/>
              </a:rPr>
              <a:t>Council of Europe</a:t>
            </a:r>
            <a:r>
              <a:rPr lang="en-US" dirty="0" smtClean="0">
                <a:latin typeface="Arial Narrow" pitchFamily="34" charset="0"/>
              </a:rPr>
              <a:t> has 47 member States all of which  must accept </a:t>
            </a:r>
            <a:r>
              <a:rPr lang="en-US" b="1" dirty="0" smtClean="0">
                <a:latin typeface="Arial Narrow" pitchFamily="34" charset="0"/>
              </a:rPr>
              <a:t>the rule of law and HRs protections  as a precondition to join it </a:t>
            </a:r>
          </a:p>
          <a:p>
            <a:pPr algn="just"/>
            <a:r>
              <a:rPr lang="en-US" b="1" dirty="0" smtClean="0">
                <a:latin typeface="Arial Narrow" pitchFamily="34" charset="0"/>
              </a:rPr>
              <a:t>European Convention on HRs 1980 was drafted in line with the ICCPR</a:t>
            </a:r>
          </a:p>
          <a:p>
            <a:pPr algn="just"/>
            <a:r>
              <a:rPr lang="en-US" b="1" dirty="0" smtClean="0">
                <a:latin typeface="Arial Narrow" pitchFamily="34" charset="0"/>
              </a:rPr>
              <a:t>Committee of Ministers (Intergovernmental body)</a:t>
            </a:r>
          </a:p>
          <a:p>
            <a:pPr lvl="1" algn="just"/>
            <a:r>
              <a:rPr lang="en-US" dirty="0" smtClean="0">
                <a:latin typeface="Arial Narrow" pitchFamily="34" charset="0"/>
              </a:rPr>
              <a:t>Monitors and follows up Compliance to the judgment of the </a:t>
            </a:r>
            <a:r>
              <a:rPr lang="en-US" dirty="0" err="1" smtClean="0">
                <a:latin typeface="Arial Narrow" pitchFamily="34" charset="0"/>
              </a:rPr>
              <a:t>ECtHRs</a:t>
            </a:r>
            <a:endParaRPr lang="en-US" dirty="0" smtClean="0">
              <a:latin typeface="Arial Narrow" pitchFamily="34" charset="0"/>
            </a:endParaRPr>
          </a:p>
          <a:p>
            <a:pPr lvl="1" algn="just"/>
            <a:r>
              <a:rPr lang="en-US" dirty="0" smtClean="0">
                <a:latin typeface="Arial Narrow" pitchFamily="34" charset="0"/>
              </a:rPr>
              <a:t>Issues Recommendations to member States</a:t>
            </a:r>
          </a:p>
          <a:p>
            <a:pPr algn="just"/>
            <a:r>
              <a:rPr lang="en-US" b="1" dirty="0" smtClean="0">
                <a:latin typeface="Arial Narrow" pitchFamily="34" charset="0"/>
              </a:rPr>
              <a:t>Parliamentary Assembly of the Council of Europe</a:t>
            </a:r>
          </a:p>
          <a:p>
            <a:pPr lvl="1" algn="just"/>
            <a:r>
              <a:rPr lang="en-US" dirty="0" smtClean="0">
                <a:latin typeface="Arial Narrow" pitchFamily="34" charset="0"/>
              </a:rPr>
              <a:t>Elected regional Legislature </a:t>
            </a:r>
          </a:p>
          <a:p>
            <a:pPr lvl="1" algn="just"/>
            <a:r>
              <a:rPr lang="en-US" dirty="0" smtClean="0">
                <a:latin typeface="Arial Narrow" pitchFamily="34" charset="0"/>
              </a:rPr>
              <a:t>Makes Recommendations on HRs Issues </a:t>
            </a:r>
          </a:p>
          <a:p>
            <a:pPr lvl="1"/>
            <a:endParaRPr lang="en-US" dirty="0" smtClean="0">
              <a:latin typeface="Arial Narrow" pitchFamily="34" charset="0"/>
            </a:endParaRPr>
          </a:p>
          <a:p>
            <a:pPr lvl="1"/>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latin typeface="Arial Narrow" pitchFamily="34" charset="0"/>
              </a:rPr>
              <a:t>Individual Petition System</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77500" lnSpcReduction="20000"/>
          </a:bodyPr>
          <a:lstStyle/>
          <a:p>
            <a:pPr algn="just"/>
            <a:r>
              <a:rPr lang="en-US" dirty="0" smtClean="0">
                <a:latin typeface="Arial Narrow" pitchFamily="34" charset="0"/>
              </a:rPr>
              <a:t>The Commission determines admissibility on certain criteria, was used as screening procedure (causation should be specifically shown, exhaustion of local remedies) and issues non-binding recommendations </a:t>
            </a:r>
          </a:p>
          <a:p>
            <a:pPr algn="just"/>
            <a:r>
              <a:rPr lang="en-US" b="1" dirty="0" err="1" smtClean="0">
                <a:latin typeface="Arial Narrow" pitchFamily="34" charset="0"/>
              </a:rPr>
              <a:t>ECtHRs</a:t>
            </a:r>
            <a:r>
              <a:rPr lang="en-US" dirty="0" smtClean="0">
                <a:latin typeface="Arial Narrow" pitchFamily="34" charset="0"/>
              </a:rPr>
              <a:t>(A permanent court which heralds the deletion of the Commission)-Situated in </a:t>
            </a:r>
            <a:r>
              <a:rPr lang="en-US" b="1" dirty="0" smtClean="0">
                <a:latin typeface="Arial Narrow" pitchFamily="34" charset="0"/>
              </a:rPr>
              <a:t>France, Strasbourg </a:t>
            </a:r>
            <a:r>
              <a:rPr lang="en-US" dirty="0" smtClean="0">
                <a:latin typeface="Arial Narrow" pitchFamily="34" charset="0"/>
              </a:rPr>
              <a:t>(English and French as medium of Communication)</a:t>
            </a:r>
          </a:p>
          <a:p>
            <a:pPr lvl="1" algn="just"/>
            <a:r>
              <a:rPr lang="en-US" dirty="0" smtClean="0">
                <a:latin typeface="Arial Narrow" pitchFamily="34" charset="0"/>
              </a:rPr>
              <a:t>Rich in Case and development of norms over HRs</a:t>
            </a:r>
          </a:p>
          <a:p>
            <a:pPr lvl="1" algn="just"/>
            <a:r>
              <a:rPr lang="en-US" dirty="0" smtClean="0">
                <a:latin typeface="Arial Narrow" pitchFamily="34" charset="0"/>
              </a:rPr>
              <a:t>Higher Rate of Compliance </a:t>
            </a:r>
          </a:p>
          <a:p>
            <a:pPr lvl="1" algn="just"/>
            <a:r>
              <a:rPr lang="en-US" dirty="0" smtClean="0">
                <a:latin typeface="Arial Narrow" pitchFamily="34" charset="0"/>
              </a:rPr>
              <a:t>Facing backlash effects these days due to politically sensitive cases </a:t>
            </a:r>
          </a:p>
          <a:p>
            <a:pPr algn="just"/>
            <a:r>
              <a:rPr lang="en-US" b="1" dirty="0" smtClean="0">
                <a:latin typeface="Arial Narrow" pitchFamily="34" charset="0"/>
              </a:rPr>
              <a:t>The Courts three Stage </a:t>
            </a:r>
          </a:p>
          <a:p>
            <a:pPr lvl="1" algn="just"/>
            <a:r>
              <a:rPr lang="en-US" dirty="0" smtClean="0">
                <a:latin typeface="Arial Narrow" pitchFamily="34" charset="0"/>
              </a:rPr>
              <a:t>Committee of three judges </a:t>
            </a:r>
          </a:p>
          <a:p>
            <a:pPr lvl="1" algn="just"/>
            <a:r>
              <a:rPr lang="en-US" dirty="0" smtClean="0">
                <a:latin typeface="Arial Narrow" pitchFamily="34" charset="0"/>
              </a:rPr>
              <a:t>Chamber of Seven Judges</a:t>
            </a:r>
          </a:p>
          <a:p>
            <a:pPr lvl="1" algn="just"/>
            <a:r>
              <a:rPr lang="en-US" dirty="0" smtClean="0">
                <a:latin typeface="Arial Narrow" pitchFamily="34" charset="0"/>
              </a:rPr>
              <a:t>Grand Chamber of Seventeen Judges </a:t>
            </a:r>
          </a:p>
          <a:p>
            <a:pPr algn="just"/>
            <a:r>
              <a:rPr lang="en-US" dirty="0" smtClean="0">
                <a:latin typeface="Arial Narrow" pitchFamily="34" charset="0"/>
              </a:rPr>
              <a:t>The Court could receive communication from States, individuals/Groups or NGOs  on grounds of exhaustion of local remedies  (Art. 40 cum 38)</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latin typeface="Arial Narrow" pitchFamily="34" charset="0"/>
              </a:rPr>
              <a:t>The Inter American HRs System</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85000" lnSpcReduction="20000"/>
          </a:bodyPr>
          <a:lstStyle/>
          <a:p>
            <a:pPr algn="just"/>
            <a:r>
              <a:rPr lang="en-US" b="1" dirty="0" smtClean="0">
                <a:latin typeface="Arial Narrow" pitchFamily="34" charset="0"/>
              </a:rPr>
              <a:t>Organization of American States(OAS) 1948-Intergov’tal</a:t>
            </a:r>
          </a:p>
          <a:p>
            <a:pPr lvl="1" algn="just"/>
            <a:r>
              <a:rPr lang="en-US" b="1" dirty="0" smtClean="0">
                <a:latin typeface="Arial Narrow" pitchFamily="34" charset="0"/>
              </a:rPr>
              <a:t>Goal-</a:t>
            </a:r>
            <a:r>
              <a:rPr lang="en-US" dirty="0" smtClean="0">
                <a:latin typeface="Arial Narrow" pitchFamily="34" charset="0"/>
              </a:rPr>
              <a:t> Promote peace and security, democratic governance and HRs in Americas </a:t>
            </a:r>
          </a:p>
          <a:p>
            <a:pPr lvl="1" algn="just"/>
            <a:r>
              <a:rPr lang="en-US" dirty="0" smtClean="0">
                <a:latin typeface="Arial Narrow" pitchFamily="34" charset="0"/>
              </a:rPr>
              <a:t>Scope of Rights were limited to CPR and states undertake to take measures on progressive bases  and as a result of this Additional Protocol on ESCR</a:t>
            </a:r>
          </a:p>
          <a:p>
            <a:pPr algn="just"/>
            <a:r>
              <a:rPr lang="en-US" b="1" dirty="0" smtClean="0">
                <a:latin typeface="Arial Narrow" pitchFamily="34" charset="0"/>
              </a:rPr>
              <a:t>4 Steps by OAS to Promote HRs</a:t>
            </a:r>
          </a:p>
          <a:p>
            <a:pPr lvl="1" algn="just"/>
            <a:r>
              <a:rPr lang="en-US" dirty="0" smtClean="0">
                <a:latin typeface="Arial Narrow" pitchFamily="34" charset="0"/>
              </a:rPr>
              <a:t>Adopted  American Declaration on the Right and Duties of Man 1948</a:t>
            </a:r>
          </a:p>
          <a:p>
            <a:pPr lvl="1" algn="just"/>
            <a:r>
              <a:rPr lang="en-US" dirty="0" smtClean="0">
                <a:latin typeface="Arial Narrow" pitchFamily="34" charset="0"/>
              </a:rPr>
              <a:t>Inter-American Commission on HRs 1959/1978</a:t>
            </a:r>
          </a:p>
          <a:p>
            <a:pPr lvl="2" algn="just"/>
            <a:r>
              <a:rPr lang="en-US" dirty="0" smtClean="0">
                <a:latin typeface="Arial Narrow" pitchFamily="34" charset="0"/>
              </a:rPr>
              <a:t>Promotional mandate and Reports of Violations of HRs allegations and carry out on-site visit, stimulate public consciousness about HRs and publish special reports  about HRs </a:t>
            </a:r>
          </a:p>
          <a:p>
            <a:pPr lvl="1" algn="just"/>
            <a:r>
              <a:rPr lang="en-US" dirty="0" smtClean="0">
                <a:latin typeface="Arial Narrow" pitchFamily="34" charset="0"/>
              </a:rPr>
              <a:t>American Convention on HRs 1969</a:t>
            </a:r>
          </a:p>
          <a:p>
            <a:pPr lvl="2" algn="just"/>
            <a:r>
              <a:rPr lang="en-US" dirty="0" smtClean="0">
                <a:latin typeface="Arial Narrow" pitchFamily="34" charset="0"/>
              </a:rPr>
              <a:t>Non-binding recommendations </a:t>
            </a:r>
          </a:p>
          <a:p>
            <a:pPr lvl="1" algn="just"/>
            <a:r>
              <a:rPr lang="en-US" dirty="0" smtClean="0">
                <a:latin typeface="Arial Narrow" pitchFamily="34" charset="0"/>
              </a:rPr>
              <a:t>Inter-American Court of HRs 1969</a:t>
            </a:r>
          </a:p>
          <a:p>
            <a:pPr lvl="2" algn="just"/>
            <a:r>
              <a:rPr lang="en-US" dirty="0" smtClean="0">
                <a:latin typeface="Arial Narrow" pitchFamily="34" charset="0"/>
              </a:rPr>
              <a:t>Recognition to the Court’s Jurisdiction is Optional  </a:t>
            </a:r>
          </a:p>
          <a:p>
            <a:pPr algn="just"/>
            <a:r>
              <a:rPr lang="en-US" dirty="0" smtClean="0">
                <a:latin typeface="Arial Narrow" pitchFamily="34" charset="0"/>
              </a:rPr>
              <a:t>Systematic HRs violations are prevalent (forced disappearance and extrajudicial killings –Latin America )</a:t>
            </a:r>
          </a:p>
          <a:p>
            <a:pPr lvl="1"/>
            <a:endParaRPr lang="en-US" dirty="0" smtClean="0">
              <a:latin typeface="Arial Narrow" pitchFamily="34" charset="0"/>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smtClean="0">
                <a:latin typeface="Arial Narrow" pitchFamily="34" charset="0"/>
              </a:rPr>
              <a:t>The African HRs System</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fontScale="92500" lnSpcReduction="10000"/>
          </a:bodyPr>
          <a:lstStyle/>
          <a:p>
            <a:pPr algn="just"/>
            <a:r>
              <a:rPr lang="en-US" b="1" dirty="0" smtClean="0">
                <a:latin typeface="Arial Narrow" pitchFamily="34" charset="0"/>
              </a:rPr>
              <a:t>OAU to AU(HRs issues and Issues were already addressed like decolonization and self-determination)</a:t>
            </a:r>
          </a:p>
          <a:p>
            <a:pPr algn="just"/>
            <a:r>
              <a:rPr lang="en-US" b="1" dirty="0" smtClean="0">
                <a:latin typeface="Arial Narrow" pitchFamily="34" charset="0"/>
              </a:rPr>
              <a:t>The </a:t>
            </a:r>
            <a:r>
              <a:rPr lang="en-US" b="1" dirty="0">
                <a:latin typeface="Arial Narrow" pitchFamily="34" charset="0"/>
              </a:rPr>
              <a:t>African </a:t>
            </a:r>
            <a:r>
              <a:rPr lang="en-US" b="1" dirty="0" smtClean="0">
                <a:latin typeface="Arial Narrow" pitchFamily="34" charset="0"/>
              </a:rPr>
              <a:t>Charter on </a:t>
            </a:r>
            <a:r>
              <a:rPr lang="en-US" b="1" dirty="0">
                <a:latin typeface="Arial Narrow" pitchFamily="34" charset="0"/>
              </a:rPr>
              <a:t>Human and People’s Rights, </a:t>
            </a:r>
            <a:r>
              <a:rPr lang="en-US" b="1" dirty="0" smtClean="0">
                <a:latin typeface="Arial Narrow" pitchFamily="34" charset="0"/>
              </a:rPr>
              <a:t>1981- </a:t>
            </a:r>
            <a:r>
              <a:rPr lang="en-US" dirty="0" smtClean="0">
                <a:latin typeface="Arial Narrow" pitchFamily="34" charset="0"/>
              </a:rPr>
              <a:t> </a:t>
            </a:r>
          </a:p>
          <a:p>
            <a:pPr algn="just"/>
            <a:r>
              <a:rPr lang="en-US" dirty="0" smtClean="0">
                <a:latin typeface="Arial Narrow" pitchFamily="34" charset="0"/>
              </a:rPr>
              <a:t>The Philosophical foundation resembles to the </a:t>
            </a:r>
            <a:r>
              <a:rPr lang="en-US" b="1" dirty="0" smtClean="0">
                <a:latin typeface="Arial Narrow" pitchFamily="34" charset="0"/>
              </a:rPr>
              <a:t>UDHR</a:t>
            </a:r>
            <a:r>
              <a:rPr lang="en-US" dirty="0" smtClean="0">
                <a:latin typeface="Arial Narrow" pitchFamily="34" charset="0"/>
              </a:rPr>
              <a:t>- 7</a:t>
            </a:r>
            <a:r>
              <a:rPr lang="en-US" baseline="30000" dirty="0" smtClean="0">
                <a:latin typeface="Arial Narrow" pitchFamily="34" charset="0"/>
              </a:rPr>
              <a:t>th</a:t>
            </a:r>
            <a:r>
              <a:rPr lang="en-US" dirty="0" smtClean="0">
                <a:latin typeface="Arial Narrow" pitchFamily="34" charset="0"/>
              </a:rPr>
              <a:t> preamble (All Human Rights are interdependent, indivisible and interrelated)</a:t>
            </a:r>
          </a:p>
          <a:p>
            <a:pPr algn="just"/>
            <a:r>
              <a:rPr lang="en-US" b="1" dirty="0" smtClean="0">
                <a:latin typeface="Arial Narrow" pitchFamily="34" charset="0"/>
              </a:rPr>
              <a:t>Unique Features of the ACHPRs</a:t>
            </a:r>
          </a:p>
          <a:p>
            <a:pPr lvl="1" algn="just"/>
            <a:r>
              <a:rPr lang="en-US" dirty="0" smtClean="0">
                <a:latin typeface="Arial Narrow" pitchFamily="34" charset="0"/>
              </a:rPr>
              <a:t>Inclusion of Duties of individual person towards family and society and collective social and moral interests (Art. 27, 28 and 29 promoting social harmony and cohesion) </a:t>
            </a:r>
          </a:p>
          <a:p>
            <a:pPr lvl="1" algn="just"/>
            <a:r>
              <a:rPr lang="en-US" dirty="0" smtClean="0">
                <a:latin typeface="Arial Narrow" pitchFamily="34" charset="0"/>
              </a:rPr>
              <a:t>Indivisibility, interdependence and interrelatedness of HRs-7</a:t>
            </a:r>
            <a:r>
              <a:rPr lang="en-US" baseline="30000" dirty="0" smtClean="0">
                <a:latin typeface="Arial Narrow" pitchFamily="34" charset="0"/>
              </a:rPr>
              <a:t>th</a:t>
            </a:r>
            <a:r>
              <a:rPr lang="en-US" dirty="0" smtClean="0">
                <a:latin typeface="Arial Narrow" pitchFamily="34" charset="0"/>
              </a:rPr>
              <a:t> preamble </a:t>
            </a:r>
          </a:p>
          <a:p>
            <a:pPr lvl="1" algn="just"/>
            <a:r>
              <a:rPr lang="en-US" dirty="0" smtClean="0">
                <a:latin typeface="Arial Narrow" pitchFamily="34" charset="0"/>
              </a:rPr>
              <a:t>Inclusion of Collective rights or solidarity rights (Art. 19-24)</a:t>
            </a:r>
          </a:p>
          <a:p>
            <a:pPr lvl="1" algn="just"/>
            <a:r>
              <a:rPr lang="en-US" dirty="0" smtClean="0">
                <a:latin typeface="Arial Narrow" pitchFamily="34" charset="0"/>
              </a:rPr>
              <a:t>Absence of Derogation clause (No claw back clause for Art. 15-24)</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smtClean="0">
                <a:latin typeface="Arial Narrow" pitchFamily="34" charset="0"/>
              </a:rPr>
              <a:t>Unique Features </a:t>
            </a:r>
            <a:endParaRPr lang="en-US" dirty="0"/>
          </a:p>
        </p:txBody>
      </p:sp>
      <p:sp>
        <p:nvSpPr>
          <p:cNvPr id="3" name="Content Placeholder 2"/>
          <p:cNvSpPr>
            <a:spLocks noGrp="1"/>
          </p:cNvSpPr>
          <p:nvPr>
            <p:ph idx="1"/>
          </p:nvPr>
        </p:nvSpPr>
        <p:spPr>
          <a:xfrm>
            <a:off x="0" y="762000"/>
            <a:ext cx="9144000" cy="6096000"/>
          </a:xfrm>
        </p:spPr>
        <p:txBody>
          <a:bodyPr>
            <a:normAutofit fontScale="92500"/>
          </a:bodyPr>
          <a:lstStyle/>
          <a:p>
            <a:pPr algn="just"/>
            <a:r>
              <a:rPr lang="en-US" dirty="0" smtClean="0">
                <a:latin typeface="Arial Narrow" pitchFamily="34" charset="0"/>
              </a:rPr>
              <a:t>The Charter recognizes the </a:t>
            </a:r>
            <a:r>
              <a:rPr lang="en-US" b="1" dirty="0" smtClean="0">
                <a:latin typeface="Arial Narrow" pitchFamily="34" charset="0"/>
              </a:rPr>
              <a:t>indivisibility of all rights: All ‘generations’ of rights are recognized. Socio-economic rights are justiciable</a:t>
            </a:r>
            <a:r>
              <a:rPr lang="en-US" dirty="0" smtClean="0">
                <a:latin typeface="Arial Narrow" pitchFamily="34" charset="0"/>
              </a:rPr>
              <a:t>.</a:t>
            </a:r>
          </a:p>
          <a:p>
            <a:pPr lvl="1" algn="just"/>
            <a:r>
              <a:rPr lang="en-US" i="1" dirty="0" smtClean="0">
                <a:latin typeface="Arial Narrow" pitchFamily="34" charset="0"/>
              </a:rPr>
              <a:t>SERAC(social economic Rights </a:t>
            </a:r>
            <a:r>
              <a:rPr lang="en-US" i="1" smtClean="0">
                <a:latin typeface="Arial Narrow" pitchFamily="34" charset="0"/>
              </a:rPr>
              <a:t>Action center) </a:t>
            </a:r>
            <a:r>
              <a:rPr lang="en-US" i="1" dirty="0" err="1" smtClean="0">
                <a:latin typeface="Arial Narrow" pitchFamily="34" charset="0"/>
              </a:rPr>
              <a:t>vs</a:t>
            </a:r>
            <a:r>
              <a:rPr lang="en-US" i="1" dirty="0" smtClean="0">
                <a:latin typeface="Arial Narrow" pitchFamily="34" charset="0"/>
              </a:rPr>
              <a:t> Nigeria, </a:t>
            </a:r>
            <a:r>
              <a:rPr lang="en-US" i="1" dirty="0" err="1" smtClean="0">
                <a:latin typeface="Arial Narrow" pitchFamily="34" charset="0"/>
              </a:rPr>
              <a:t>para</a:t>
            </a:r>
            <a:r>
              <a:rPr lang="en-US" i="1" dirty="0" smtClean="0">
                <a:latin typeface="Arial Narrow" pitchFamily="34" charset="0"/>
              </a:rPr>
              <a:t> 68</a:t>
            </a:r>
          </a:p>
          <a:p>
            <a:pPr algn="just"/>
            <a:r>
              <a:rPr lang="en-US" b="1" dirty="0" smtClean="0">
                <a:latin typeface="Arial Narrow" pitchFamily="34" charset="0"/>
              </a:rPr>
              <a:t>No derogations are allowed</a:t>
            </a:r>
          </a:p>
          <a:p>
            <a:pPr lvl="1" algn="just"/>
            <a:r>
              <a:rPr lang="en-US" i="1" dirty="0" smtClean="0">
                <a:latin typeface="Arial Narrow" pitchFamily="34" charset="0"/>
              </a:rPr>
              <a:t>Media Rights Agenda </a:t>
            </a:r>
            <a:r>
              <a:rPr lang="en-US" i="1" dirty="0" err="1" smtClean="0">
                <a:latin typeface="Arial Narrow" pitchFamily="34" charset="0"/>
              </a:rPr>
              <a:t>vs</a:t>
            </a:r>
            <a:r>
              <a:rPr lang="en-US" i="1" dirty="0" smtClean="0">
                <a:latin typeface="Arial Narrow" pitchFamily="34" charset="0"/>
              </a:rPr>
              <a:t> Nigeria, </a:t>
            </a:r>
            <a:r>
              <a:rPr lang="en-US" i="1" dirty="0" err="1" smtClean="0">
                <a:latin typeface="Arial Narrow" pitchFamily="34" charset="0"/>
              </a:rPr>
              <a:t>paras</a:t>
            </a:r>
            <a:r>
              <a:rPr lang="en-US" i="1" dirty="0" smtClean="0">
                <a:latin typeface="Arial Narrow" pitchFamily="34" charset="0"/>
              </a:rPr>
              <a:t> 68 &amp; 69. except Art. 27(2)</a:t>
            </a:r>
          </a:p>
          <a:p>
            <a:pPr algn="just"/>
            <a:r>
              <a:rPr lang="en-US" b="1" dirty="0" smtClean="0">
                <a:latin typeface="Arial Narrow" pitchFamily="34" charset="0"/>
              </a:rPr>
              <a:t>Recognition of peoples’ rights such as the peoples’ rights to development, free disposal of natural resources, and self-determination</a:t>
            </a:r>
            <a:r>
              <a:rPr lang="en-US" dirty="0" smtClean="0"/>
              <a:t>.</a:t>
            </a:r>
          </a:p>
          <a:p>
            <a:pPr lvl="1" algn="just"/>
            <a:r>
              <a:rPr lang="en-US" i="1" dirty="0" err="1" smtClean="0">
                <a:latin typeface="Arial Narrow" pitchFamily="34" charset="0"/>
              </a:rPr>
              <a:t>Endorois</a:t>
            </a:r>
            <a:r>
              <a:rPr lang="en-US" i="1" dirty="0" smtClean="0">
                <a:latin typeface="Arial Narrow" pitchFamily="34" charset="0"/>
              </a:rPr>
              <a:t> case, </a:t>
            </a:r>
            <a:r>
              <a:rPr lang="en-US" i="1" dirty="0" err="1" smtClean="0">
                <a:latin typeface="Arial Narrow" pitchFamily="34" charset="0"/>
              </a:rPr>
              <a:t>para</a:t>
            </a:r>
            <a:r>
              <a:rPr lang="en-US" i="1" dirty="0" smtClean="0">
                <a:latin typeface="Arial Narrow" pitchFamily="34" charset="0"/>
              </a:rPr>
              <a:t> 155</a:t>
            </a:r>
          </a:p>
          <a:p>
            <a:pPr algn="just"/>
            <a:r>
              <a:rPr lang="en-US" b="1" dirty="0" smtClean="0">
                <a:latin typeface="Arial Narrow" pitchFamily="34" charset="0"/>
              </a:rPr>
              <a:t>Imposition of duties on both states and individuals</a:t>
            </a:r>
            <a:r>
              <a:rPr lang="en-US" b="1" dirty="0" smtClean="0"/>
              <a:t>.</a:t>
            </a:r>
          </a:p>
          <a:p>
            <a:pPr lvl="1" algn="just"/>
            <a:r>
              <a:rPr lang="en-US" dirty="0" smtClean="0">
                <a:latin typeface="Arial Narrow" pitchFamily="34" charset="0"/>
              </a:rPr>
              <a:t>Preamble to ACHPRs</a:t>
            </a:r>
          </a:p>
          <a:p>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609600"/>
          </a:xfrm>
        </p:spPr>
        <p:txBody>
          <a:bodyPr>
            <a:normAutofit fontScale="90000"/>
          </a:bodyPr>
          <a:lstStyle/>
          <a:p>
            <a:r>
              <a:rPr lang="en-US" b="1" dirty="0" smtClean="0">
                <a:latin typeface="Arial Narrow" pitchFamily="34" charset="0"/>
              </a:rPr>
              <a:t>African Commission on HPRs</a:t>
            </a:r>
            <a:r>
              <a:rPr lang="en-US" dirty="0" smtClean="0">
                <a:latin typeface="Arial Narrow" pitchFamily="34" charset="0"/>
              </a:rPr>
              <a:t>(Art. 60 and 61)</a:t>
            </a:r>
            <a:endParaRPr lang="en-US"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lnSpcReduction="10000"/>
          </a:bodyPr>
          <a:lstStyle/>
          <a:p>
            <a:pPr algn="just"/>
            <a:r>
              <a:rPr lang="en-US" dirty="0" smtClean="0">
                <a:latin typeface="Arial Narrow" pitchFamily="34" charset="0"/>
              </a:rPr>
              <a:t>Very vibrant on issues of HRs</a:t>
            </a:r>
          </a:p>
          <a:p>
            <a:pPr algn="just"/>
            <a:r>
              <a:rPr lang="en-US" dirty="0" smtClean="0">
                <a:latin typeface="Arial Narrow" pitchFamily="34" charset="0"/>
              </a:rPr>
              <a:t>Review Reports from States</a:t>
            </a:r>
          </a:p>
          <a:p>
            <a:pPr algn="just"/>
            <a:r>
              <a:rPr lang="en-US" dirty="0" smtClean="0">
                <a:latin typeface="Arial Narrow" pitchFamily="34" charset="0"/>
              </a:rPr>
              <a:t>Investigate violations of HRs</a:t>
            </a:r>
          </a:p>
          <a:p>
            <a:pPr algn="just"/>
            <a:r>
              <a:rPr lang="en-US" dirty="0" smtClean="0">
                <a:latin typeface="Arial Narrow" pitchFamily="34" charset="0"/>
              </a:rPr>
              <a:t>Review Communication from individuals and NGOs</a:t>
            </a:r>
          </a:p>
          <a:p>
            <a:pPr algn="just"/>
            <a:r>
              <a:rPr lang="en-US" dirty="0" smtClean="0">
                <a:latin typeface="Arial Narrow" pitchFamily="34" charset="0"/>
              </a:rPr>
              <a:t>Issues non-binding recommendations </a:t>
            </a:r>
          </a:p>
          <a:p>
            <a:pPr algn="just"/>
            <a:r>
              <a:rPr lang="en-US" b="1" dirty="0" smtClean="0">
                <a:latin typeface="Arial Narrow" pitchFamily="34" charset="0"/>
              </a:rPr>
              <a:t>African Court on Human and Peoples Rights 2004 situated in Tanzania, </a:t>
            </a:r>
            <a:r>
              <a:rPr lang="en-US" b="1" dirty="0" err="1" smtClean="0">
                <a:latin typeface="Arial Narrow" pitchFamily="34" charset="0"/>
              </a:rPr>
              <a:t>Arusha</a:t>
            </a:r>
            <a:r>
              <a:rPr lang="en-US" b="1" dirty="0" smtClean="0">
                <a:latin typeface="Arial Narrow" pitchFamily="34" charset="0"/>
              </a:rPr>
              <a:t> </a:t>
            </a:r>
          </a:p>
          <a:p>
            <a:pPr lvl="1" algn="just"/>
            <a:r>
              <a:rPr lang="en-US" b="1" dirty="0" smtClean="0">
                <a:latin typeface="Arial Narrow" pitchFamily="34" charset="0"/>
              </a:rPr>
              <a:t>Not as such vibrant, only dispenses one case or two</a:t>
            </a:r>
          </a:p>
          <a:p>
            <a:pPr lvl="1" algn="just"/>
            <a:r>
              <a:rPr lang="en-US" dirty="0" smtClean="0">
                <a:latin typeface="Arial Narrow" pitchFamily="34" charset="0"/>
              </a:rPr>
              <a:t>Cases are referred by African Commission on Human and Peoples Rights indirectly </a:t>
            </a:r>
          </a:p>
          <a:p>
            <a:pPr lvl="1" algn="just"/>
            <a:r>
              <a:rPr lang="en-US" dirty="0" smtClean="0">
                <a:latin typeface="Arial Narrow" pitchFamily="34" charset="0"/>
              </a:rPr>
              <a:t>Optional Protocol allows to receive individual complaint directly but few are ratifying to it </a:t>
            </a:r>
          </a:p>
          <a:p>
            <a:pPr lvl="1"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b="1" dirty="0" smtClean="0">
                <a:latin typeface="Arial Narrow" pitchFamily="34" charset="0"/>
              </a:rPr>
              <a:t>Sub-regional Integration Systems in Africa </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a:bodyPr>
          <a:lstStyle/>
          <a:p>
            <a:pPr algn="just"/>
            <a:r>
              <a:rPr lang="en-US" dirty="0" smtClean="0">
                <a:latin typeface="Arial Narrow" pitchFamily="34" charset="0"/>
              </a:rPr>
              <a:t>Africa contains sub-regional legal systems which </a:t>
            </a:r>
            <a:r>
              <a:rPr lang="en-US" b="1" dirty="0" smtClean="0">
                <a:latin typeface="Arial Narrow" pitchFamily="34" charset="0"/>
              </a:rPr>
              <a:t>promote economic and political integration </a:t>
            </a:r>
            <a:r>
              <a:rPr lang="en-US" dirty="0" smtClean="0">
                <a:latin typeface="Arial Narrow" pitchFamily="34" charset="0"/>
              </a:rPr>
              <a:t>aiming </a:t>
            </a:r>
            <a:r>
              <a:rPr lang="en-US" b="1" dirty="0" smtClean="0">
                <a:latin typeface="Arial Narrow" pitchFamily="34" charset="0"/>
              </a:rPr>
              <a:t>at tax harmonization, free trade, common currency and customs union</a:t>
            </a:r>
            <a:r>
              <a:rPr lang="en-US" dirty="0" smtClean="0">
                <a:latin typeface="Arial Narrow" pitchFamily="34" charset="0"/>
              </a:rPr>
              <a:t>. These include</a:t>
            </a:r>
          </a:p>
          <a:p>
            <a:pPr lvl="1" algn="just"/>
            <a:r>
              <a:rPr lang="en-US" dirty="0" smtClean="0">
                <a:latin typeface="Arial Narrow" pitchFamily="34" charset="0"/>
              </a:rPr>
              <a:t>Economic Community of West African States(ECOWAS)</a:t>
            </a:r>
          </a:p>
          <a:p>
            <a:pPr lvl="1" algn="just"/>
            <a:r>
              <a:rPr lang="en-US" dirty="0" smtClean="0">
                <a:latin typeface="Arial Narrow" pitchFamily="34" charset="0"/>
              </a:rPr>
              <a:t>East African Community (EAC)</a:t>
            </a:r>
          </a:p>
          <a:p>
            <a:pPr lvl="1" algn="just"/>
            <a:r>
              <a:rPr lang="en-US" dirty="0" smtClean="0">
                <a:latin typeface="Arial Narrow" pitchFamily="34" charset="0"/>
              </a:rPr>
              <a:t>Southern African Development Community (SADC)</a:t>
            </a:r>
          </a:p>
          <a:p>
            <a:pPr algn="just"/>
            <a:r>
              <a:rPr lang="en-US" dirty="0" smtClean="0">
                <a:latin typeface="Arial Narrow" pitchFamily="34" charset="0"/>
              </a:rPr>
              <a:t>But </a:t>
            </a:r>
            <a:r>
              <a:rPr lang="en-US" b="1" dirty="0" smtClean="0">
                <a:latin typeface="Arial Narrow" pitchFamily="34" charset="0"/>
              </a:rPr>
              <a:t>progressively developed into HRs protection and promotion</a:t>
            </a:r>
            <a:r>
              <a:rPr lang="en-US" dirty="0" smtClean="0">
                <a:latin typeface="Arial Narrow" pitchFamily="34" charset="0"/>
              </a:rPr>
              <a:t>. One of the principles and objectives of these sub-regional systems is the </a:t>
            </a:r>
            <a:r>
              <a:rPr lang="en-US" b="1" dirty="0" smtClean="0">
                <a:latin typeface="Arial Narrow" pitchFamily="34" charset="0"/>
              </a:rPr>
              <a:t>promotion and protection of HRs, human rights friendly economic integrations</a:t>
            </a:r>
            <a:r>
              <a:rPr lang="en-US" dirty="0" smtClean="0">
                <a:latin typeface="Arial Narrow" pitchFamily="34" charset="0"/>
              </a:rPr>
              <a:t>.</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838200"/>
            <a:ext cx="9144000" cy="6248400"/>
          </a:xfrm>
        </p:spPr>
        <p:txBody>
          <a:bodyPr>
            <a:normAutofit/>
          </a:bodyPr>
          <a:lstStyle/>
          <a:p>
            <a:pPr algn="just"/>
            <a:r>
              <a:rPr lang="en-US" dirty="0" smtClean="0">
                <a:latin typeface="Arial Narrow" pitchFamily="34" charset="0"/>
              </a:rPr>
              <a:t>Since 2005, the courts created by these sub-regional systems have reviewed complaints from individuals and NGOs alleging violations of HRs , mainly rights in the African Charter</a:t>
            </a:r>
          </a:p>
          <a:p>
            <a:pPr lvl="1" algn="just"/>
            <a:r>
              <a:rPr lang="en-US" dirty="0" smtClean="0">
                <a:latin typeface="Arial Narrow" pitchFamily="34" charset="0"/>
              </a:rPr>
              <a:t>In ECOWAS, a new protocol expanded the court’s jurisdiction</a:t>
            </a:r>
          </a:p>
          <a:p>
            <a:pPr lvl="1" algn="just"/>
            <a:r>
              <a:rPr lang="en-US" dirty="0" smtClean="0">
                <a:latin typeface="Arial Narrow" pitchFamily="34" charset="0"/>
              </a:rPr>
              <a:t>In the EAC and SADC, the court adopted an expansive  interpretation of its existing jurisdiction to include HRs </a:t>
            </a:r>
          </a:p>
          <a:p>
            <a:pPr lvl="1" algn="just"/>
            <a:r>
              <a:rPr lang="en-US" dirty="0" err="1" smtClean="0">
                <a:latin typeface="Arial Narrow" pitchFamily="34" charset="0"/>
              </a:rPr>
              <a:t>Gov’t</a:t>
            </a:r>
            <a:r>
              <a:rPr lang="en-US" dirty="0" smtClean="0">
                <a:latin typeface="Arial Narrow" pitchFamily="34" charset="0"/>
              </a:rPr>
              <a:t>  responses to these HRs rulings have ranged widely, from compliance to resistance and backlash</a:t>
            </a:r>
          </a:p>
          <a:p>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ARAB and ASEAN HRs System</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92500" lnSpcReduction="10000"/>
          </a:bodyPr>
          <a:lstStyle/>
          <a:p>
            <a:pPr algn="just"/>
            <a:r>
              <a:rPr lang="en-US" b="1" dirty="0" smtClean="0">
                <a:latin typeface="Arial Narrow" pitchFamily="34" charset="0"/>
              </a:rPr>
              <a:t>The League of Arab States(1945)</a:t>
            </a:r>
          </a:p>
          <a:p>
            <a:pPr lvl="1" algn="just"/>
            <a:r>
              <a:rPr lang="en-US" dirty="0" smtClean="0">
                <a:latin typeface="Arial Narrow" pitchFamily="34" charset="0"/>
              </a:rPr>
              <a:t>Interested on </a:t>
            </a:r>
            <a:r>
              <a:rPr lang="en-US" b="1" dirty="0" smtClean="0">
                <a:latin typeface="Arial Narrow" pitchFamily="34" charset="0"/>
              </a:rPr>
              <a:t>promotion of political, economical, cultural and scientific cooperation among Arab nations </a:t>
            </a:r>
          </a:p>
          <a:p>
            <a:pPr algn="just"/>
            <a:r>
              <a:rPr lang="en-US" b="1" dirty="0" smtClean="0">
                <a:latin typeface="Arial Narrow" pitchFamily="34" charset="0"/>
              </a:rPr>
              <a:t>Establish Arab Charter on HRs on 2008</a:t>
            </a:r>
          </a:p>
          <a:p>
            <a:pPr lvl="1" algn="just"/>
            <a:r>
              <a:rPr lang="en-US" b="1" dirty="0" smtClean="0">
                <a:latin typeface="Arial Narrow" pitchFamily="34" charset="0"/>
              </a:rPr>
              <a:t>Establishes an Arab HRs Committee of Independent Experts to Monitor Implementations of the Charter </a:t>
            </a:r>
          </a:p>
          <a:p>
            <a:pPr algn="just"/>
            <a:r>
              <a:rPr lang="en-US" b="1" dirty="0" smtClean="0">
                <a:latin typeface="Arial Narrow" pitchFamily="34" charset="0"/>
              </a:rPr>
              <a:t>Positive Aspects of the Arab Charter on HRs</a:t>
            </a:r>
          </a:p>
          <a:p>
            <a:pPr lvl="1" algn="just"/>
            <a:r>
              <a:rPr lang="en-US" b="1" dirty="0" smtClean="0">
                <a:latin typeface="Arial Narrow" pitchFamily="34" charset="0"/>
              </a:rPr>
              <a:t>A legally binding document </a:t>
            </a:r>
          </a:p>
          <a:p>
            <a:pPr lvl="1" algn="just"/>
            <a:r>
              <a:rPr lang="en-US" b="1" dirty="0" smtClean="0">
                <a:latin typeface="Arial Narrow" pitchFamily="34" charset="0"/>
              </a:rPr>
              <a:t>Asserts that HRs are key national concerns</a:t>
            </a:r>
          </a:p>
          <a:p>
            <a:pPr lvl="1" algn="just"/>
            <a:r>
              <a:rPr lang="en-US" b="1" dirty="0" smtClean="0">
                <a:latin typeface="Arial Narrow" pitchFamily="34" charset="0"/>
              </a:rPr>
              <a:t>Reaffirms that All HRs are universal, indivisible, interdependent and interrelated </a:t>
            </a:r>
          </a:p>
          <a:p>
            <a:pPr lvl="1" algn="just"/>
            <a:r>
              <a:rPr lang="en-US" b="1" dirty="0" smtClean="0">
                <a:latin typeface="Arial Narrow" pitchFamily="34" charset="0"/>
              </a:rPr>
              <a:t>Provides that nothing in the Charter impairs rights and freedoms protected by domestic law or in other International or regional treaties a state  has ratified.</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533400"/>
          </a:xfrm>
        </p:spPr>
        <p:txBody>
          <a:bodyPr>
            <a:normAutofit fontScale="90000"/>
          </a:bodyPr>
          <a:lstStyle/>
          <a:p>
            <a:r>
              <a:rPr lang="en-US" b="1" dirty="0" err="1" smtClean="0">
                <a:latin typeface="Arial Narrow" pitchFamily="34" charset="0"/>
              </a:rPr>
              <a:t>Cont’ed</a:t>
            </a:r>
            <a:r>
              <a:rPr lang="en-US" dirty="0" smtClean="0"/>
              <a:t> </a:t>
            </a:r>
            <a:endParaRPr lang="en-US" dirty="0"/>
          </a:p>
        </p:txBody>
      </p:sp>
      <p:sp>
        <p:nvSpPr>
          <p:cNvPr id="3" name="Content Placeholder 2"/>
          <p:cNvSpPr>
            <a:spLocks noGrp="1"/>
          </p:cNvSpPr>
          <p:nvPr>
            <p:ph idx="1"/>
          </p:nvPr>
        </p:nvSpPr>
        <p:spPr>
          <a:xfrm>
            <a:off x="0" y="457200"/>
            <a:ext cx="9144000" cy="6705600"/>
          </a:xfrm>
        </p:spPr>
        <p:txBody>
          <a:bodyPr>
            <a:normAutofit/>
          </a:bodyPr>
          <a:lstStyle/>
          <a:p>
            <a:pPr algn="just"/>
            <a:r>
              <a:rPr lang="en-US" b="1" dirty="0" smtClean="0">
                <a:latin typeface="Arial Narrow" pitchFamily="34" charset="0"/>
              </a:rPr>
              <a:t>Problematic Aspects</a:t>
            </a:r>
          </a:p>
          <a:p>
            <a:pPr lvl="1" algn="just"/>
            <a:r>
              <a:rPr lang="en-US" dirty="0" smtClean="0">
                <a:latin typeface="Arial Narrow" pitchFamily="34" charset="0"/>
              </a:rPr>
              <a:t>Leaves some rights to national legislation including application of the death penalty against those under 18, and equal rights of men and women in marriage </a:t>
            </a:r>
          </a:p>
          <a:p>
            <a:pPr lvl="1" algn="just"/>
            <a:r>
              <a:rPr lang="en-US" dirty="0" smtClean="0">
                <a:latin typeface="Arial Narrow" pitchFamily="34" charset="0"/>
              </a:rPr>
              <a:t>Does not extend many rights to non-citizens </a:t>
            </a:r>
          </a:p>
          <a:p>
            <a:pPr lvl="1" algn="just"/>
            <a:r>
              <a:rPr lang="en-US" dirty="0" smtClean="0">
                <a:latin typeface="Arial Narrow" pitchFamily="34" charset="0"/>
              </a:rPr>
              <a:t>Allow restrictions on the freedom to hold (as opposed to manifest ) religion or belief </a:t>
            </a:r>
          </a:p>
          <a:p>
            <a:pPr lvl="1" algn="just"/>
            <a:r>
              <a:rPr lang="en-US" dirty="0" smtClean="0">
                <a:latin typeface="Arial Narrow" pitchFamily="34" charset="0"/>
              </a:rPr>
              <a:t>Does not prohibit cruel, inhuman , or degrading punishments</a:t>
            </a:r>
          </a:p>
          <a:p>
            <a:pPr lvl="1" algn="just"/>
            <a:r>
              <a:rPr lang="en-US" dirty="0" smtClean="0">
                <a:latin typeface="Arial Narrow" pitchFamily="34" charset="0"/>
              </a:rPr>
              <a:t>IN general, the charter reflects the reservations to international HRs treaties made by member states of the Arab League </a:t>
            </a:r>
          </a:p>
          <a:p>
            <a:pPr lvl="2" algn="just">
              <a:buNone/>
            </a:pPr>
            <a:endParaRPr lang="en-US" dirty="0" smtClean="0">
              <a:latin typeface="Arial Narrow" pitchFamily="34" charset="0"/>
            </a:endParaRPr>
          </a:p>
          <a:p>
            <a:pPr lvl="2" algn="just"/>
            <a:endParaRPr lang="en-US" dirty="0" smtClean="0">
              <a:latin typeface="Arial Narrow" pitchFamily="34" charset="0"/>
            </a:endParaRPr>
          </a:p>
          <a:p>
            <a:pPr lvl="2" algn="just"/>
            <a:endParaRPr lang="en-US" b="1" dirty="0" smtClean="0">
              <a:latin typeface="Arial Narrow" pitchFamily="34" charset="0"/>
            </a:endParaRPr>
          </a:p>
          <a:p>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762000"/>
          </a:xfrm>
        </p:spPr>
        <p:txBody>
          <a:bodyPr>
            <a:normAutofit fontScale="90000"/>
          </a:bodyPr>
          <a:lstStyle/>
          <a:p>
            <a:r>
              <a:rPr lang="en-US" b="1" dirty="0" smtClean="0">
                <a:latin typeface="Arial Narrow" pitchFamily="34" charset="0"/>
              </a:rPr>
              <a:t>Arab HRs Committee</a:t>
            </a:r>
            <a:br>
              <a:rPr lang="en-US" b="1" dirty="0" smtClean="0">
                <a:latin typeface="Arial Narrow" pitchFamily="34" charset="0"/>
              </a:rPr>
            </a:br>
            <a:endParaRPr lang="en-US" dirty="0"/>
          </a:p>
        </p:txBody>
      </p:sp>
      <p:sp>
        <p:nvSpPr>
          <p:cNvPr id="3" name="Content Placeholder 2"/>
          <p:cNvSpPr>
            <a:spLocks noGrp="1"/>
          </p:cNvSpPr>
          <p:nvPr>
            <p:ph idx="1"/>
          </p:nvPr>
        </p:nvSpPr>
        <p:spPr>
          <a:xfrm>
            <a:off x="0" y="609600"/>
            <a:ext cx="9144000" cy="6248400"/>
          </a:xfrm>
        </p:spPr>
        <p:txBody>
          <a:bodyPr/>
          <a:lstStyle/>
          <a:p>
            <a:pPr algn="just"/>
            <a:r>
              <a:rPr lang="en-US" b="1" dirty="0" smtClean="0">
                <a:latin typeface="Arial Narrow" pitchFamily="34" charset="0"/>
              </a:rPr>
              <a:t>Problematic Aspects include</a:t>
            </a:r>
          </a:p>
          <a:p>
            <a:pPr lvl="2" algn="just"/>
            <a:r>
              <a:rPr lang="en-US" dirty="0" smtClean="0">
                <a:latin typeface="Arial Narrow" pitchFamily="34" charset="0"/>
              </a:rPr>
              <a:t>Most members of the Committee hold government positions which can debilitate their impartiality </a:t>
            </a:r>
          </a:p>
          <a:p>
            <a:pPr lvl="2" algn="just"/>
            <a:r>
              <a:rPr lang="en-US" dirty="0" smtClean="0">
                <a:latin typeface="Arial Narrow" pitchFamily="34" charset="0"/>
              </a:rPr>
              <a:t>Committee reviews reports from states parties, No Individual Complaints procedure </a:t>
            </a:r>
          </a:p>
          <a:p>
            <a:pPr lvl="2" algn="just"/>
            <a:r>
              <a:rPr lang="en-US" dirty="0" smtClean="0">
                <a:latin typeface="Arial Narrow" pitchFamily="34" charset="0"/>
              </a:rPr>
              <a:t>Most States Parties have not submitted their initial reports to the Committee</a:t>
            </a:r>
          </a:p>
          <a:p>
            <a:pPr lvl="2" algn="just"/>
            <a:r>
              <a:rPr lang="en-US" dirty="0" smtClean="0">
                <a:latin typeface="Arial Narrow" pitchFamily="34" charset="0"/>
              </a:rPr>
              <a:t>Unclear rules for participation of NGOs</a:t>
            </a:r>
          </a:p>
          <a:p>
            <a:pPr lvl="2" algn="just"/>
            <a:r>
              <a:rPr lang="en-US" dirty="0" smtClean="0">
                <a:latin typeface="Arial Narrow" pitchFamily="34" charset="0"/>
              </a:rPr>
              <a:t>Limited impact on national laws and policies at least so far</a:t>
            </a:r>
          </a:p>
          <a:p>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latin typeface="Arial Narrow" pitchFamily="34" charset="0"/>
              </a:rPr>
              <a:t>Association of Southeast Asian Nations (ASEAN)</a:t>
            </a:r>
            <a:endParaRPr lang="en-US" b="1" dirty="0">
              <a:latin typeface="Arial Narrow" pitchFamily="34" charset="0"/>
            </a:endParaRPr>
          </a:p>
        </p:txBody>
      </p:sp>
      <p:sp>
        <p:nvSpPr>
          <p:cNvPr id="3" name="Content Placeholder 2"/>
          <p:cNvSpPr>
            <a:spLocks noGrp="1"/>
          </p:cNvSpPr>
          <p:nvPr>
            <p:ph idx="1"/>
          </p:nvPr>
        </p:nvSpPr>
        <p:spPr>
          <a:xfrm>
            <a:off x="0" y="1066800"/>
            <a:ext cx="9144000" cy="5791200"/>
          </a:xfrm>
        </p:spPr>
        <p:txBody>
          <a:bodyPr>
            <a:normAutofit fontScale="92500" lnSpcReduction="20000"/>
          </a:bodyPr>
          <a:lstStyle/>
          <a:p>
            <a:pPr algn="just"/>
            <a:r>
              <a:rPr lang="en-US" dirty="0" smtClean="0">
                <a:latin typeface="Arial Narrow" pitchFamily="34" charset="0"/>
              </a:rPr>
              <a:t>In 2009, ASEAN’s ten members States created the ASEAN Intergovernmental Commission on HRs</a:t>
            </a:r>
          </a:p>
          <a:p>
            <a:pPr algn="just"/>
            <a:r>
              <a:rPr lang="en-US" dirty="0" smtClean="0">
                <a:latin typeface="Arial Narrow" pitchFamily="34" charset="0"/>
              </a:rPr>
              <a:t>IN 2012, Member States adopted the ASEAN HRs Declaration (non-binding) which had been drafted under the auspices of the Commission </a:t>
            </a:r>
          </a:p>
          <a:p>
            <a:pPr algn="just"/>
            <a:r>
              <a:rPr lang="en-US" b="1" dirty="0" smtClean="0">
                <a:latin typeface="Arial Narrow" pitchFamily="34" charset="0"/>
              </a:rPr>
              <a:t>Positive Aspects</a:t>
            </a:r>
          </a:p>
          <a:p>
            <a:pPr lvl="1" algn="just"/>
            <a:r>
              <a:rPr lang="en-US" dirty="0" err="1" smtClean="0">
                <a:latin typeface="Arial Narrow" pitchFamily="34" charset="0"/>
              </a:rPr>
              <a:t>Intergov’tal</a:t>
            </a:r>
            <a:r>
              <a:rPr lang="en-US" dirty="0" smtClean="0">
                <a:latin typeface="Arial Narrow" pitchFamily="34" charset="0"/>
              </a:rPr>
              <a:t> Commission Provides a focal point for sub-regional HRs activities </a:t>
            </a:r>
          </a:p>
          <a:p>
            <a:pPr lvl="1" algn="just"/>
            <a:r>
              <a:rPr lang="en-US" dirty="0" smtClean="0">
                <a:latin typeface="Arial Narrow" pitchFamily="34" charset="0"/>
              </a:rPr>
              <a:t>Declaration reaffirms all rights in the UDHR and recognizes other right </a:t>
            </a:r>
            <a:r>
              <a:rPr lang="en-US" dirty="0" err="1" smtClean="0">
                <a:latin typeface="Arial Narrow" pitchFamily="34" charset="0"/>
              </a:rPr>
              <a:t>eg</a:t>
            </a:r>
            <a:r>
              <a:rPr lang="en-US" dirty="0" smtClean="0">
                <a:latin typeface="Arial Narrow" pitchFamily="34" charset="0"/>
              </a:rPr>
              <a:t>. Children’s right to be free from economic and social exploitation , the rights of those with Communicable diseases such as HIV/AIDS</a:t>
            </a:r>
          </a:p>
          <a:p>
            <a:pPr lvl="1" algn="just"/>
            <a:r>
              <a:rPr lang="en-US" dirty="0" smtClean="0">
                <a:latin typeface="Arial Narrow" pitchFamily="34" charset="0"/>
              </a:rPr>
              <a:t>Declaration could serve as a template for drafting a HRs treaty for ASEAN</a:t>
            </a:r>
          </a:p>
          <a:p>
            <a:pPr lvl="1"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3562"/>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fontScale="92500" lnSpcReduction="10000"/>
          </a:bodyPr>
          <a:lstStyle/>
          <a:p>
            <a:pPr algn="just"/>
            <a:r>
              <a:rPr lang="en-US" b="1" dirty="0" smtClean="0">
                <a:latin typeface="Arial Narrow" pitchFamily="34" charset="0"/>
              </a:rPr>
              <a:t>Problematic Aspects </a:t>
            </a:r>
          </a:p>
          <a:p>
            <a:pPr lvl="1" algn="just"/>
            <a:r>
              <a:rPr lang="en-US" dirty="0" smtClean="0">
                <a:latin typeface="Arial Narrow" pitchFamily="34" charset="0"/>
              </a:rPr>
              <a:t>Intergovernmental Commission is a political body whose members are accountable to the States that appoint them</a:t>
            </a:r>
          </a:p>
          <a:p>
            <a:pPr lvl="1" algn="just"/>
            <a:r>
              <a:rPr lang="en-US" dirty="0" smtClean="0">
                <a:latin typeface="Arial Narrow" pitchFamily="34" charset="0"/>
              </a:rPr>
              <a:t>Commission operates by consultation and consensus each State has an effective veto</a:t>
            </a:r>
          </a:p>
          <a:p>
            <a:pPr lvl="1" algn="just"/>
            <a:r>
              <a:rPr lang="en-US" dirty="0" smtClean="0">
                <a:latin typeface="Arial Narrow" pitchFamily="34" charset="0"/>
              </a:rPr>
              <a:t>Commission has only a promotional mandate, it cannot review State Reports, initiate independent investigation, or review complaints from individuals or NGOs</a:t>
            </a:r>
          </a:p>
          <a:p>
            <a:pPr lvl="1" algn="just"/>
            <a:r>
              <a:rPr lang="en-US" dirty="0" smtClean="0">
                <a:latin typeface="Arial Narrow" pitchFamily="34" charset="0"/>
              </a:rPr>
              <a:t>Declaration’s drafting process lacked transparency or meaningful NGO input </a:t>
            </a:r>
          </a:p>
          <a:p>
            <a:pPr lvl="1" algn="just"/>
            <a:r>
              <a:rPr lang="en-US" dirty="0" smtClean="0">
                <a:latin typeface="Arial Narrow" pitchFamily="34" charset="0"/>
              </a:rPr>
              <a:t>Declaration criticized for asserting that </a:t>
            </a:r>
          </a:p>
          <a:p>
            <a:pPr lvl="2" algn="just"/>
            <a:r>
              <a:rPr lang="en-US" dirty="0" smtClean="0">
                <a:latin typeface="Arial Narrow" pitchFamily="34" charset="0"/>
              </a:rPr>
              <a:t>“The realization of HRs </a:t>
            </a:r>
            <a:r>
              <a:rPr lang="en-US" b="1" dirty="0" smtClean="0">
                <a:latin typeface="Arial Narrow" pitchFamily="34" charset="0"/>
              </a:rPr>
              <a:t>must be considered in the regional and national context bearing in mind different political, economical. Legal , social , cultural , historical and religious backgrounds</a:t>
            </a:r>
            <a:r>
              <a:rPr lang="en-US" dirty="0" smtClean="0">
                <a:latin typeface="Arial Narrow" pitchFamily="34" charset="0"/>
              </a:rPr>
              <a:t>. </a:t>
            </a:r>
            <a:r>
              <a:rPr lang="en-US" b="1" dirty="0" smtClean="0">
                <a:latin typeface="Arial Narrow" pitchFamily="34" charset="0"/>
              </a:rPr>
              <a:t>Relativist</a:t>
            </a:r>
            <a:r>
              <a:rPr lang="en-US" dirty="0" smtClean="0">
                <a:latin typeface="Arial Narrow" pitchFamily="34" charset="0"/>
              </a:rPr>
              <a:t> </a:t>
            </a:r>
          </a:p>
          <a:p>
            <a:pPr lvl="2" algn="just"/>
            <a:r>
              <a:rPr lang="en-US" b="1" dirty="0" smtClean="0">
                <a:latin typeface="Arial Narrow" pitchFamily="34" charset="0"/>
              </a:rPr>
              <a:t>”Rights “must  be balanced with the performance of corresponding duties</a:t>
            </a:r>
            <a:r>
              <a:rPr lang="en-US" dirty="0" smtClean="0">
                <a:latin typeface="Arial Narrow" pitchFamily="34" charset="0"/>
              </a:rPr>
              <a:t>.”</a:t>
            </a:r>
          </a:p>
          <a:p>
            <a:pPr lvl="2" algn="just"/>
            <a:endParaRPr lang="en-US" dirty="0" smtClean="0">
              <a:latin typeface="Arial Narrow" pitchFamily="34" charset="0"/>
            </a:endParaRPr>
          </a:p>
          <a:p>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b="1" dirty="0" smtClean="0">
                <a:latin typeface="Arial Narrow" pitchFamily="34" charset="0"/>
              </a:rPr>
              <a:t>Civil and Political Rights</a:t>
            </a:r>
            <a:endParaRPr lang="en-US" b="1"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70000" lnSpcReduction="20000"/>
          </a:bodyPr>
          <a:lstStyle/>
          <a:p>
            <a:pPr algn="just"/>
            <a:r>
              <a:rPr lang="en-US" b="1" dirty="0" smtClean="0">
                <a:latin typeface="Arial Narrow" pitchFamily="34" charset="0"/>
              </a:rPr>
              <a:t>What are civil and political rights?</a:t>
            </a:r>
          </a:p>
          <a:p>
            <a:pPr algn="just"/>
            <a:r>
              <a:rPr lang="en-US" b="1" dirty="0" smtClean="0">
                <a:latin typeface="Arial Narrow" pitchFamily="34" charset="0"/>
              </a:rPr>
              <a:t>Civil right : </a:t>
            </a:r>
            <a:r>
              <a:rPr lang="en-US" dirty="0" smtClean="0">
                <a:latin typeface="Arial Narrow" pitchFamily="34" charset="0"/>
              </a:rPr>
              <a:t>rights that are  restrict oppressive or abusive conduct by government and their officials. Ex. The right to life, liberty and equality </a:t>
            </a:r>
          </a:p>
          <a:p>
            <a:pPr algn="just"/>
            <a:r>
              <a:rPr lang="en-US" b="1" dirty="0" smtClean="0">
                <a:latin typeface="Arial Narrow" pitchFamily="34" charset="0"/>
              </a:rPr>
              <a:t>Political rights </a:t>
            </a:r>
            <a:r>
              <a:rPr lang="en-US" dirty="0" smtClean="0">
                <a:latin typeface="Arial Narrow" pitchFamily="34" charset="0"/>
              </a:rPr>
              <a:t>: enable citizens to participate in the political process and governing themselves and each other. EX. Freedom of association and universal suffrage </a:t>
            </a:r>
          </a:p>
          <a:p>
            <a:pPr algn="just"/>
            <a:r>
              <a:rPr lang="en-US" b="1" dirty="0" smtClean="0">
                <a:latin typeface="Arial Narrow" pitchFamily="34" charset="0"/>
              </a:rPr>
              <a:t>Overlap between categories</a:t>
            </a:r>
            <a:r>
              <a:rPr lang="en-US" dirty="0" smtClean="0">
                <a:latin typeface="Arial Narrow" pitchFamily="34" charset="0"/>
              </a:rPr>
              <a:t>: freedom of speech, usually characterized as a civil right, is often implicated in criticism of government or elections.</a:t>
            </a:r>
          </a:p>
          <a:p>
            <a:pPr algn="just"/>
            <a:r>
              <a:rPr lang="en-US" b="1" dirty="0" smtClean="0">
                <a:latin typeface="Arial Narrow" pitchFamily="34" charset="0"/>
              </a:rPr>
              <a:t>Negative Liberties vs. Positive Obligations </a:t>
            </a:r>
          </a:p>
          <a:p>
            <a:pPr algn="just"/>
            <a:r>
              <a:rPr lang="en-US" b="1" dirty="0" smtClean="0">
                <a:latin typeface="Arial Narrow" pitchFamily="34" charset="0"/>
              </a:rPr>
              <a:t> </a:t>
            </a:r>
            <a:r>
              <a:rPr lang="en-US" dirty="0" smtClean="0">
                <a:latin typeface="Arial Narrow" pitchFamily="34" charset="0"/>
              </a:rPr>
              <a:t>Civil and Political rights are </a:t>
            </a:r>
            <a:r>
              <a:rPr lang="en-US" b="1" dirty="0" smtClean="0">
                <a:latin typeface="Arial Narrow" pitchFamily="34" charset="0"/>
              </a:rPr>
              <a:t>primarily negative liberties</a:t>
            </a:r>
            <a:r>
              <a:rPr lang="en-US" dirty="0" smtClean="0">
                <a:latin typeface="Arial Narrow" pitchFamily="34" charset="0"/>
              </a:rPr>
              <a:t>. The rights are respected if the government and its officials refrain from acting</a:t>
            </a:r>
            <a:r>
              <a:rPr lang="en-US" b="1" dirty="0" smtClean="0">
                <a:latin typeface="Arial Narrow" pitchFamily="34" charset="0"/>
              </a:rPr>
              <a:t>. However, </a:t>
            </a:r>
            <a:r>
              <a:rPr lang="en-US" dirty="0" smtClean="0">
                <a:latin typeface="Arial Narrow" pitchFamily="34" charset="0"/>
              </a:rPr>
              <a:t>there realization of some civil and political rights imposes positive obligations on states and requires them to adopt </a:t>
            </a:r>
            <a:r>
              <a:rPr lang="en-US" b="1" dirty="0" smtClean="0">
                <a:latin typeface="Arial Narrow" pitchFamily="34" charset="0"/>
              </a:rPr>
              <a:t>affirmative measures</a:t>
            </a:r>
            <a:r>
              <a:rPr lang="en-US" dirty="0" smtClean="0">
                <a:latin typeface="Arial Narrow" pitchFamily="34" charset="0"/>
              </a:rPr>
              <a:t>.(The right to fair and impartial hearing )</a:t>
            </a:r>
          </a:p>
          <a:p>
            <a:pPr algn="just"/>
            <a:r>
              <a:rPr lang="en-US" b="1" dirty="0" smtClean="0">
                <a:latin typeface="Arial Narrow" pitchFamily="34" charset="0"/>
              </a:rPr>
              <a:t>Civil and Political Rights Legal Instruments </a:t>
            </a:r>
          </a:p>
          <a:p>
            <a:pPr lvl="1" algn="just"/>
            <a:r>
              <a:rPr lang="en-US" b="1" dirty="0" smtClean="0">
                <a:latin typeface="Arial Narrow" pitchFamily="34" charset="0"/>
              </a:rPr>
              <a:t>ICCPR 1966/1976-167 States Parties as of January 2014</a:t>
            </a:r>
          </a:p>
          <a:p>
            <a:pPr lvl="1" algn="just"/>
            <a:r>
              <a:rPr lang="en-US" b="1" dirty="0" smtClean="0">
                <a:latin typeface="Arial Narrow" pitchFamily="34" charset="0"/>
              </a:rPr>
              <a:t>UDHR 1948</a:t>
            </a:r>
          </a:p>
          <a:p>
            <a:pPr lvl="1" algn="just"/>
            <a:r>
              <a:rPr lang="en-US" b="1" dirty="0" smtClean="0">
                <a:latin typeface="Arial Narrow" pitchFamily="34" charset="0"/>
              </a:rPr>
              <a:t>Regional HRs System</a:t>
            </a:r>
          </a:p>
          <a:p>
            <a:pPr lvl="1" algn="just"/>
            <a:r>
              <a:rPr lang="en-US" b="1" dirty="0" smtClean="0">
                <a:latin typeface="Arial Narrow" pitchFamily="34" charset="0"/>
              </a:rPr>
              <a:t>National Constitutions </a:t>
            </a:r>
          </a:p>
          <a:p>
            <a:pPr algn="just">
              <a:buNone/>
            </a:pPr>
            <a:endParaRPr lang="en-US" dirty="0" smtClean="0">
              <a:latin typeface="Arial Narrow" pitchFamily="34" charset="0"/>
            </a:endParaRPr>
          </a:p>
          <a:p>
            <a:pPr algn="just"/>
            <a:endParaRPr lang="en-US" dirty="0" smtClean="0">
              <a:latin typeface="Arial Narrow" pitchFamily="34" charset="0"/>
            </a:endParaRPr>
          </a:p>
          <a:p>
            <a:pPr algn="just"/>
            <a:endParaRPr lang="en-US" dirty="0" smtClean="0">
              <a:latin typeface="Arial Narrow" pitchFamily="34" charset="0"/>
            </a:endParaRP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85800"/>
            <a:ext cx="8991600" cy="6172200"/>
          </a:xfrm>
        </p:spPr>
        <p:txBody>
          <a:bodyPr>
            <a:normAutofit lnSpcReduction="10000"/>
          </a:bodyPr>
          <a:lstStyle/>
          <a:p>
            <a:pPr algn="just"/>
            <a:r>
              <a:rPr lang="en-US" b="1" dirty="0" smtClean="0">
                <a:latin typeface="Arial Narrow" pitchFamily="34" charset="0"/>
              </a:rPr>
              <a:t>ICCPR </a:t>
            </a:r>
            <a:r>
              <a:rPr lang="en-US" dirty="0" smtClean="0">
                <a:latin typeface="Arial Narrow" pitchFamily="34" charset="0"/>
              </a:rPr>
              <a:t>protects nearly all civil and political rights in the UDHR, but defines rights with greater precision and creates international monitoring mechanisms. </a:t>
            </a:r>
            <a:r>
              <a:rPr lang="en-US" b="1" dirty="0" smtClean="0">
                <a:latin typeface="Arial Narrow" pitchFamily="34" charset="0"/>
              </a:rPr>
              <a:t>The Right to life in UDHR Art. 3 is more elaborated in the ICCPR Art. 6(1) </a:t>
            </a:r>
          </a:p>
          <a:p>
            <a:pPr algn="just"/>
            <a:r>
              <a:rPr lang="en-US" b="1" dirty="0" smtClean="0">
                <a:latin typeface="Arial Narrow" pitchFamily="34" charset="0"/>
              </a:rPr>
              <a:t>ICCPR Monitoring Mechanism </a:t>
            </a:r>
            <a:r>
              <a:rPr lang="en-US" dirty="0" smtClean="0">
                <a:latin typeface="Arial Narrow" pitchFamily="34" charset="0"/>
              </a:rPr>
              <a:t>–a body of elected independent experts, the UN Human Rights Committee(UNHRC)</a:t>
            </a:r>
          </a:p>
          <a:p>
            <a:pPr algn="just"/>
            <a:r>
              <a:rPr lang="en-US" dirty="0" smtClean="0">
                <a:latin typeface="Arial Narrow" pitchFamily="34" charset="0"/>
              </a:rPr>
              <a:t>State parties submit reports describing their implementation of the ICCPR. UNHRC reviews the reports and issues concluding observations and issues General Comments that interpret the ICCPR and Provides guidance to all States Parties</a:t>
            </a:r>
          </a:p>
          <a:p>
            <a:pPr algn="just"/>
            <a:endParaRPr lang="en-US" b="1"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lnSpcReduction="20000"/>
          </a:bodyPr>
          <a:lstStyle/>
          <a:p>
            <a:pPr algn="just"/>
            <a:r>
              <a:rPr lang="en-US" b="1" dirty="0" smtClean="0">
                <a:latin typeface="Arial Narrow" pitchFamily="34" charset="0"/>
              </a:rPr>
              <a:t>Rights under the ICCPR</a:t>
            </a:r>
          </a:p>
          <a:p>
            <a:pPr lvl="1" algn="just"/>
            <a:r>
              <a:rPr lang="en-US" b="1" dirty="0" smtClean="0">
                <a:latin typeface="Arial Narrow" pitchFamily="34" charset="0"/>
              </a:rPr>
              <a:t>The Right to life </a:t>
            </a:r>
          </a:p>
          <a:p>
            <a:pPr lvl="1" algn="just"/>
            <a:r>
              <a:rPr lang="en-US" b="1" dirty="0" smtClean="0">
                <a:latin typeface="Arial Narrow" pitchFamily="34" charset="0"/>
              </a:rPr>
              <a:t>The right against torture, cruel, inhuman and degrading treatment </a:t>
            </a:r>
          </a:p>
          <a:p>
            <a:pPr lvl="1" algn="just"/>
            <a:r>
              <a:rPr lang="en-US" b="1" dirty="0" smtClean="0">
                <a:latin typeface="Arial Narrow" pitchFamily="34" charset="0"/>
              </a:rPr>
              <a:t>Liberty and security of persons </a:t>
            </a:r>
          </a:p>
          <a:p>
            <a:pPr lvl="1" algn="just"/>
            <a:r>
              <a:rPr lang="en-US" b="1" dirty="0" smtClean="0">
                <a:latin typeface="Arial Narrow" pitchFamily="34" charset="0"/>
              </a:rPr>
              <a:t>The Right to equality </a:t>
            </a:r>
          </a:p>
          <a:p>
            <a:pPr lvl="1" algn="just"/>
            <a:r>
              <a:rPr lang="en-US" b="1" dirty="0" smtClean="0">
                <a:latin typeface="Arial Narrow" pitchFamily="34" charset="0"/>
              </a:rPr>
              <a:t>The right to be recognized everywhere as a person</a:t>
            </a:r>
          </a:p>
          <a:p>
            <a:pPr lvl="1" algn="just"/>
            <a:r>
              <a:rPr lang="en-US" b="1" dirty="0" smtClean="0">
                <a:latin typeface="Arial Narrow" pitchFamily="34" charset="0"/>
              </a:rPr>
              <a:t>Freedom of thought, conscience and religion </a:t>
            </a:r>
          </a:p>
          <a:p>
            <a:pPr lvl="1" algn="just"/>
            <a:r>
              <a:rPr lang="en-US" b="1" dirty="0" smtClean="0">
                <a:latin typeface="Arial Narrow" pitchFamily="34" charset="0"/>
              </a:rPr>
              <a:t>Freedom of association and assembly</a:t>
            </a:r>
          </a:p>
          <a:p>
            <a:pPr lvl="1" algn="just"/>
            <a:r>
              <a:rPr lang="en-US" b="1" dirty="0" smtClean="0">
                <a:latin typeface="Arial Narrow" pitchFamily="34" charset="0"/>
              </a:rPr>
              <a:t>Family Rights </a:t>
            </a:r>
          </a:p>
          <a:p>
            <a:pPr lvl="1" algn="just"/>
            <a:r>
              <a:rPr lang="en-US" b="1" dirty="0" smtClean="0">
                <a:latin typeface="Arial Narrow" pitchFamily="34" charset="0"/>
              </a:rPr>
              <a:t>Participation in governmental affairs </a:t>
            </a:r>
          </a:p>
          <a:p>
            <a:pPr lvl="1" algn="just"/>
            <a:r>
              <a:rPr lang="en-US" b="1" dirty="0" smtClean="0">
                <a:latin typeface="Arial Narrow" pitchFamily="34" charset="0"/>
              </a:rPr>
              <a:t>Minority rights</a:t>
            </a:r>
          </a:p>
          <a:p>
            <a:pPr algn="just"/>
            <a:r>
              <a:rPr lang="en-US" b="1" dirty="0" smtClean="0">
                <a:latin typeface="Arial Narrow" pitchFamily="34" charset="0"/>
              </a:rPr>
              <a:t>Art. 6(the right to life) General Comment No. 6</a:t>
            </a:r>
          </a:p>
          <a:p>
            <a:pPr lvl="1" algn="just"/>
            <a:r>
              <a:rPr lang="en-US" b="1" dirty="0" smtClean="0">
                <a:latin typeface="Arial Narrow" pitchFamily="34" charset="0"/>
              </a:rPr>
              <a:t>Inherent </a:t>
            </a:r>
          </a:p>
          <a:p>
            <a:pPr lvl="1" algn="just"/>
            <a:r>
              <a:rPr lang="en-US" b="1" dirty="0" smtClean="0">
                <a:latin typeface="Arial Narrow" pitchFamily="34" charset="0"/>
              </a:rPr>
              <a:t>Arbitrary</a:t>
            </a: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914400"/>
          </a:xfrm>
        </p:spPr>
        <p:txBody>
          <a:bodyPr/>
          <a:lstStyle/>
          <a:p>
            <a:r>
              <a:rPr lang="en-US" b="1" dirty="0" smtClean="0">
                <a:latin typeface="Arial Narrow" pitchFamily="34" charset="0"/>
              </a:rPr>
              <a:t>Economic, Social and Cultural Rights</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85000" lnSpcReduction="10000"/>
          </a:bodyPr>
          <a:lstStyle/>
          <a:p>
            <a:pPr algn="just"/>
            <a:r>
              <a:rPr lang="en-US" dirty="0" smtClean="0">
                <a:latin typeface="Arial Narrow" pitchFamily="34" charset="0"/>
              </a:rPr>
              <a:t>Economic and social rights guarantee the conditions under which everyone is able to meet basic human needs relating to the workplace, social security, housing, food, water, health care and education.</a:t>
            </a:r>
          </a:p>
          <a:p>
            <a:pPr algn="just"/>
            <a:r>
              <a:rPr lang="en-US" dirty="0" smtClean="0">
                <a:latin typeface="Arial Narrow" pitchFamily="34" charset="0"/>
              </a:rPr>
              <a:t>US President of Franklin D. Roosevelt (</a:t>
            </a:r>
            <a:r>
              <a:rPr lang="en-US" b="1" dirty="0" smtClean="0">
                <a:latin typeface="Arial Narrow" pitchFamily="34" charset="0"/>
              </a:rPr>
              <a:t>freedom from want</a:t>
            </a:r>
            <a:r>
              <a:rPr lang="en-US" dirty="0" smtClean="0">
                <a:latin typeface="Arial Narrow" pitchFamily="34" charset="0"/>
              </a:rPr>
              <a:t>  which means economic understandings which will secure to every nation a healthy peacetime life for its inhabitants everywhere in the world.</a:t>
            </a:r>
          </a:p>
          <a:p>
            <a:pPr algn="just"/>
            <a:r>
              <a:rPr lang="en-US" b="1" dirty="0" smtClean="0">
                <a:latin typeface="Arial Narrow" pitchFamily="34" charset="0"/>
              </a:rPr>
              <a:t>The Right to education </a:t>
            </a:r>
          </a:p>
          <a:p>
            <a:pPr algn="just"/>
            <a:r>
              <a:rPr lang="en-US" b="1" dirty="0" smtClean="0">
                <a:latin typeface="Arial Narrow" pitchFamily="34" charset="0"/>
              </a:rPr>
              <a:t>The Right to food freedom from hunger and access to safe and nutritious food and clean water</a:t>
            </a:r>
          </a:p>
          <a:p>
            <a:pPr algn="just"/>
            <a:r>
              <a:rPr lang="en-US" b="1" dirty="0" smtClean="0">
                <a:latin typeface="Arial Narrow" pitchFamily="34" charset="0"/>
              </a:rPr>
              <a:t>The right to health(Physical and mental health facilities )</a:t>
            </a:r>
          </a:p>
          <a:p>
            <a:pPr algn="just"/>
            <a:r>
              <a:rPr lang="en-US" b="1" dirty="0" smtClean="0">
                <a:latin typeface="Arial Narrow" pitchFamily="34" charset="0"/>
              </a:rPr>
              <a:t>The Right to housing </a:t>
            </a:r>
          </a:p>
          <a:p>
            <a:pPr algn="just"/>
            <a:r>
              <a:rPr lang="en-US" b="1" dirty="0" smtClean="0">
                <a:latin typeface="Arial Narrow" pitchFamily="34" charset="0"/>
              </a:rPr>
              <a:t>The right to social security </a:t>
            </a:r>
          </a:p>
          <a:p>
            <a:pPr algn="just"/>
            <a:r>
              <a:rPr lang="en-US" b="1" dirty="0" smtClean="0">
                <a:latin typeface="Arial Narrow" pitchFamily="34" charset="0"/>
              </a:rPr>
              <a:t>The right to work</a:t>
            </a:r>
          </a:p>
          <a:p>
            <a:pPr algn="just"/>
            <a:endParaRPr lang="en-US" b="1" dirty="0" smtClean="0">
              <a:latin typeface="Arial Narrow" pitchFamily="34" charset="0"/>
            </a:endParaRPr>
          </a:p>
          <a:p>
            <a:pPr algn="just"/>
            <a:endParaRPr lang="en-US" dirty="0" smtClean="0">
              <a:latin typeface="Arial Narrow" pitchFamily="34" charset="0"/>
            </a:endParaRP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lnSpcReduction="10000"/>
          </a:bodyPr>
          <a:lstStyle/>
          <a:p>
            <a:pPr algn="just"/>
            <a:r>
              <a:rPr lang="en-US" b="1" dirty="0" smtClean="0">
                <a:latin typeface="Arial Narrow" pitchFamily="34" charset="0"/>
              </a:rPr>
              <a:t>Positive Obligations vs. Negative liberties </a:t>
            </a:r>
          </a:p>
          <a:p>
            <a:pPr lvl="1" algn="just"/>
            <a:r>
              <a:rPr lang="en-US" dirty="0" smtClean="0">
                <a:latin typeface="Arial Narrow" pitchFamily="34" charset="0"/>
              </a:rPr>
              <a:t>ESRs primarily involve positive obligations. States must adopt affirmative measurers to secure these rights . However, some ESRs involve negative liberties that require State to refrain from acting. Ex. A stream  runs through a rural community, providing its residents with clean and safe water for drinking and farming. The State must not interfere with the residents'’ access to the stream as indigenous to such.</a:t>
            </a:r>
          </a:p>
          <a:p>
            <a:pPr algn="just"/>
            <a:r>
              <a:rPr lang="en-US" b="1" dirty="0" smtClean="0">
                <a:latin typeface="Arial Narrow" pitchFamily="34" charset="0"/>
              </a:rPr>
              <a:t>Legal Instruments </a:t>
            </a:r>
          </a:p>
          <a:p>
            <a:pPr lvl="1" algn="just"/>
            <a:r>
              <a:rPr lang="en-US" b="1" dirty="0" smtClean="0">
                <a:latin typeface="Arial Narrow" pitchFamily="34" charset="0"/>
              </a:rPr>
              <a:t>UDHR</a:t>
            </a:r>
          </a:p>
          <a:p>
            <a:pPr lvl="1" algn="just"/>
            <a:r>
              <a:rPr lang="en-US" b="1" dirty="0" smtClean="0">
                <a:latin typeface="Arial Narrow" pitchFamily="34" charset="0"/>
              </a:rPr>
              <a:t>ICESCR 161 member states as of January 2014</a:t>
            </a:r>
          </a:p>
          <a:p>
            <a:pPr lvl="1" algn="just"/>
            <a:r>
              <a:rPr lang="en-US" b="1" dirty="0" smtClean="0">
                <a:latin typeface="Arial Narrow" pitchFamily="34" charset="0"/>
              </a:rPr>
              <a:t>Regional</a:t>
            </a:r>
          </a:p>
          <a:p>
            <a:pPr lvl="1" algn="just"/>
            <a:r>
              <a:rPr lang="en-US" b="1" dirty="0" smtClean="0">
                <a:latin typeface="Arial Narrow" pitchFamily="34" charset="0"/>
              </a:rPr>
              <a:t>National Constitutions </a:t>
            </a:r>
          </a:p>
          <a:p>
            <a:r>
              <a:rPr lang="en-US" b="1" dirty="0" smtClean="0">
                <a:latin typeface="Arial Narrow" pitchFamily="34" charset="0"/>
              </a:rPr>
              <a:t>Art. 2 ICESCR vs. ICCPR Art. 2- Obligations of States </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pPr algn="just"/>
            <a:r>
              <a:rPr lang="en-US" dirty="0" smtClean="0">
                <a:latin typeface="Arial Narrow" pitchFamily="34" charset="0"/>
              </a:rPr>
              <a:t>Challenges and Responses to ESCRs</a:t>
            </a:r>
            <a:endParaRPr lang="en-US"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a:bodyPr>
          <a:lstStyle/>
          <a:p>
            <a:pPr algn="just"/>
            <a:r>
              <a:rPr lang="en-US" b="1" dirty="0" smtClean="0">
                <a:latin typeface="Arial Narrow" pitchFamily="34" charset="0"/>
              </a:rPr>
              <a:t>Features of ESCRs (Art. 2)</a:t>
            </a:r>
          </a:p>
          <a:p>
            <a:pPr lvl="1" algn="just"/>
            <a:r>
              <a:rPr lang="en-US" b="1" i="1" dirty="0" smtClean="0">
                <a:latin typeface="Arial Narrow" pitchFamily="34" charset="0"/>
              </a:rPr>
              <a:t>Progressive  Realization </a:t>
            </a:r>
          </a:p>
          <a:p>
            <a:pPr lvl="1" algn="just"/>
            <a:r>
              <a:rPr lang="en-US" b="1" i="1" dirty="0" smtClean="0">
                <a:latin typeface="Arial Narrow" pitchFamily="34" charset="0"/>
              </a:rPr>
              <a:t>Maximum available Resources </a:t>
            </a:r>
          </a:p>
          <a:p>
            <a:pPr lvl="1" algn="just"/>
            <a:r>
              <a:rPr lang="en-US" b="1" i="1" dirty="0" smtClean="0">
                <a:latin typeface="Arial Narrow" pitchFamily="34" charset="0"/>
              </a:rPr>
              <a:t>Legislative Measures </a:t>
            </a:r>
          </a:p>
          <a:p>
            <a:pPr lvl="1" algn="just"/>
            <a:r>
              <a:rPr lang="en-US" b="1" i="1" dirty="0" smtClean="0">
                <a:latin typeface="Arial Narrow" pitchFamily="34" charset="0"/>
              </a:rPr>
              <a:t>International Assistance </a:t>
            </a:r>
          </a:p>
          <a:p>
            <a:pPr algn="just"/>
            <a:r>
              <a:rPr lang="en-US" b="1" i="1" dirty="0" smtClean="0">
                <a:latin typeface="Arial Narrow" pitchFamily="34" charset="0"/>
              </a:rPr>
              <a:t>Directive Principles of State Policy (DPSP) vs. The Power of the Judiciary in issues of policy </a:t>
            </a:r>
          </a:p>
          <a:p>
            <a:pPr lvl="2" algn="just">
              <a:buNone/>
            </a:pPr>
            <a:r>
              <a:rPr lang="en-US" dirty="0" smtClean="0">
                <a:latin typeface="Arial Narrow" pitchFamily="34" charset="0"/>
              </a:rPr>
              <a:t>	</a:t>
            </a:r>
          </a:p>
          <a:p>
            <a:pPr lvl="1" algn="just"/>
            <a:endParaRPr lang="en-US" dirty="0" smtClean="0">
              <a:latin typeface="Arial Narrow" pitchFamily="34" charset="0"/>
            </a:endParaRP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15400" cy="3810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92500" lnSpcReduction="10000"/>
          </a:bodyPr>
          <a:lstStyle/>
          <a:p>
            <a:pPr algn="just"/>
            <a:r>
              <a:rPr lang="en-US" b="1" dirty="0" smtClean="0">
                <a:latin typeface="Arial Narrow" pitchFamily="34" charset="0"/>
              </a:rPr>
              <a:t>Challenges</a:t>
            </a:r>
            <a:r>
              <a:rPr lang="en-US" dirty="0" smtClean="0">
                <a:latin typeface="Arial Narrow" pitchFamily="34" charset="0"/>
              </a:rPr>
              <a:t> as the result of the above features</a:t>
            </a:r>
          </a:p>
          <a:p>
            <a:pPr lvl="1" algn="just"/>
            <a:r>
              <a:rPr lang="en-US" b="1" dirty="0" smtClean="0">
                <a:latin typeface="Arial Narrow" pitchFamily="34" charset="0"/>
              </a:rPr>
              <a:t>The Universality Challenges </a:t>
            </a:r>
          </a:p>
          <a:p>
            <a:pPr lvl="2" algn="just"/>
            <a:r>
              <a:rPr lang="en-US" dirty="0" smtClean="0">
                <a:latin typeface="Arial Narrow" pitchFamily="34" charset="0"/>
              </a:rPr>
              <a:t>ESCRs are not universal rights because they vary acc. To each country’s level of economic development and the international assistance it receives. A right that means different things in different places is not a human right. </a:t>
            </a:r>
          </a:p>
          <a:p>
            <a:pPr lvl="1" algn="just"/>
            <a:r>
              <a:rPr lang="en-US" b="1" dirty="0" smtClean="0">
                <a:latin typeface="Arial Narrow" pitchFamily="34" charset="0"/>
              </a:rPr>
              <a:t>The Political Process Challenges </a:t>
            </a:r>
          </a:p>
          <a:p>
            <a:pPr lvl="2" algn="just"/>
            <a:r>
              <a:rPr lang="en-US" dirty="0" smtClean="0">
                <a:latin typeface="Arial Narrow" pitchFamily="34" charset="0"/>
              </a:rPr>
              <a:t>Because of the existence of legislative measures only which could difficult to negotiate </a:t>
            </a:r>
          </a:p>
          <a:p>
            <a:pPr lvl="1" algn="just"/>
            <a:r>
              <a:rPr lang="en-US" b="1" dirty="0" smtClean="0">
                <a:latin typeface="Arial Narrow" pitchFamily="34" charset="0"/>
              </a:rPr>
              <a:t>The vagueness challenge </a:t>
            </a:r>
          </a:p>
          <a:p>
            <a:pPr lvl="2" algn="just"/>
            <a:r>
              <a:rPr lang="en-US" dirty="0" smtClean="0">
                <a:latin typeface="Arial Narrow" pitchFamily="34" charset="0"/>
              </a:rPr>
              <a:t>Due to the progressive realization it is impossible to determine whether a state is satisfying its legal obligations at any given moment in time. Minimum Core Obligations</a:t>
            </a:r>
          </a:p>
          <a:p>
            <a:pPr lvl="1" algn="just"/>
            <a:r>
              <a:rPr lang="en-US" b="1" dirty="0" smtClean="0">
                <a:latin typeface="Arial Narrow" pitchFamily="34" charset="0"/>
              </a:rPr>
              <a:t>The </a:t>
            </a:r>
            <a:r>
              <a:rPr lang="en-US" b="1" dirty="0" err="1" smtClean="0">
                <a:latin typeface="Arial Narrow" pitchFamily="34" charset="0"/>
              </a:rPr>
              <a:t>Justiciability</a:t>
            </a:r>
            <a:r>
              <a:rPr lang="en-US" b="1" dirty="0" smtClean="0">
                <a:latin typeface="Arial Narrow" pitchFamily="34" charset="0"/>
              </a:rPr>
              <a:t> challenge</a:t>
            </a:r>
          </a:p>
          <a:p>
            <a:pPr lvl="2" algn="just"/>
            <a:r>
              <a:rPr lang="en-US" dirty="0" smtClean="0">
                <a:latin typeface="Arial Narrow" pitchFamily="34" charset="0"/>
              </a:rPr>
              <a:t>Violations of rights require </a:t>
            </a:r>
            <a:r>
              <a:rPr lang="en-US" b="1" dirty="0" smtClean="0">
                <a:latin typeface="Arial Narrow" pitchFamily="34" charset="0"/>
              </a:rPr>
              <a:t>legal remedies  </a:t>
            </a:r>
            <a:r>
              <a:rPr lang="en-US" dirty="0" smtClean="0">
                <a:latin typeface="Arial Narrow" pitchFamily="34" charset="0"/>
              </a:rPr>
              <a:t>that are </a:t>
            </a:r>
            <a:r>
              <a:rPr lang="en-US" b="1" dirty="0" smtClean="0">
                <a:latin typeface="Arial Narrow" pitchFamily="34" charset="0"/>
              </a:rPr>
              <a:t>legally enforceable </a:t>
            </a:r>
            <a:r>
              <a:rPr lang="en-US" dirty="0" smtClean="0">
                <a:latin typeface="Arial Narrow" pitchFamily="34" charset="0"/>
              </a:rPr>
              <a:t>in </a:t>
            </a:r>
            <a:r>
              <a:rPr lang="en-US" b="1" dirty="0" smtClean="0">
                <a:latin typeface="Arial Narrow" pitchFamily="34" charset="0"/>
              </a:rPr>
              <a:t>court of law</a:t>
            </a:r>
            <a:r>
              <a:rPr lang="en-US" dirty="0" smtClean="0">
                <a:latin typeface="Arial Narrow" pitchFamily="34" charset="0"/>
              </a:rPr>
              <a:t>. But judges don’t have the institutional capacity, political legitimacy or expertise to award such remedies, which require  ordering </a:t>
            </a:r>
            <a:r>
              <a:rPr lang="en-US" dirty="0" err="1" smtClean="0">
                <a:latin typeface="Arial Narrow" pitchFamily="34" charset="0"/>
              </a:rPr>
              <a:t>gov’ts</a:t>
            </a:r>
            <a:r>
              <a:rPr lang="en-US" dirty="0" smtClean="0">
                <a:latin typeface="Arial Narrow" pitchFamily="34" charset="0"/>
              </a:rPr>
              <a:t> to allocate limited resources in specific ways.</a:t>
            </a:r>
          </a:p>
          <a:p>
            <a:endParaRPr lang="en-US"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latin typeface="Arial Narrow" pitchFamily="34" charset="0"/>
              </a:rPr>
              <a:t>Responses to the Challenges  </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lnSpcReduction="10000"/>
          </a:bodyPr>
          <a:lstStyle/>
          <a:p>
            <a:pPr algn="just"/>
            <a:r>
              <a:rPr lang="en-US" dirty="0" smtClean="0">
                <a:latin typeface="Arial Narrow" pitchFamily="34" charset="0"/>
              </a:rPr>
              <a:t>Develop a more precise legal framework to clarify the obligations of States in light of the four distinctive features of ESCRs. This can be done by employing multiple actors including national legislatures, administrative agencies and courts as well as international HRs experts. </a:t>
            </a:r>
          </a:p>
          <a:p>
            <a:pPr algn="just"/>
            <a:r>
              <a:rPr lang="en-US" b="1" dirty="0" smtClean="0">
                <a:latin typeface="Arial Narrow" pitchFamily="34" charset="0"/>
              </a:rPr>
              <a:t>Committee on ESCR-</a:t>
            </a:r>
          </a:p>
          <a:p>
            <a:pPr lvl="1" algn="just"/>
            <a:r>
              <a:rPr lang="en-US" b="1" dirty="0" smtClean="0">
                <a:latin typeface="Arial Narrow" pitchFamily="34" charset="0"/>
              </a:rPr>
              <a:t> </a:t>
            </a:r>
            <a:r>
              <a:rPr lang="en-US" dirty="0" smtClean="0">
                <a:latin typeface="Arial Narrow" pitchFamily="34" charset="0"/>
              </a:rPr>
              <a:t>is a treaty body for the ICESCR</a:t>
            </a:r>
          </a:p>
          <a:p>
            <a:pPr lvl="1" algn="just"/>
            <a:r>
              <a:rPr lang="en-US" dirty="0" smtClean="0">
                <a:latin typeface="Arial Narrow" pitchFamily="34" charset="0"/>
              </a:rPr>
              <a:t>18 independent, elected experts review reports from all States Parties describing the implementation of the ICESCR and issue concluding observations and recommendations </a:t>
            </a:r>
          </a:p>
          <a:p>
            <a:pPr lvl="1" algn="just"/>
            <a:r>
              <a:rPr lang="en-US" dirty="0" smtClean="0">
                <a:latin typeface="Arial Narrow" pitchFamily="34" charset="0"/>
              </a:rPr>
              <a:t>Based on these reports the Committee adopt </a:t>
            </a:r>
            <a:r>
              <a:rPr lang="en-US" b="1" dirty="0" smtClean="0">
                <a:latin typeface="Arial Narrow" pitchFamily="34" charset="0"/>
              </a:rPr>
              <a:t>General Comments</a:t>
            </a:r>
            <a:r>
              <a:rPr lang="en-US" dirty="0" smtClean="0">
                <a:latin typeface="Arial Narrow" pitchFamily="34" charset="0"/>
              </a:rPr>
              <a:t> that interpret the ICESCR and provide guidance to all States Parties.</a:t>
            </a: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533400"/>
            <a:ext cx="9144000" cy="6324600"/>
          </a:xfrm>
        </p:spPr>
        <p:txBody>
          <a:bodyPr>
            <a:normAutofit/>
          </a:bodyPr>
          <a:lstStyle/>
          <a:p>
            <a:pPr marL="342900" lvl="1" indent="-342900" algn="just">
              <a:buFont typeface="Arial" pitchFamily="34" charset="0"/>
              <a:buChar char="•"/>
            </a:pPr>
            <a:r>
              <a:rPr lang="en-US" b="1" dirty="0" smtClean="0">
                <a:latin typeface="Arial Narrow" pitchFamily="34" charset="0"/>
              </a:rPr>
              <a:t>General Comment No. 3-States Party obligations</a:t>
            </a:r>
          </a:p>
          <a:p>
            <a:pPr lvl="1" algn="just"/>
            <a:r>
              <a:rPr lang="en-US" dirty="0" smtClean="0">
                <a:latin typeface="Arial Narrow" pitchFamily="34" charset="0"/>
              </a:rPr>
              <a:t>Distinguishes between </a:t>
            </a:r>
            <a:r>
              <a:rPr lang="en-US" b="1" dirty="0" smtClean="0">
                <a:latin typeface="Arial Narrow" pitchFamily="34" charset="0"/>
              </a:rPr>
              <a:t>immediate obligations </a:t>
            </a:r>
            <a:r>
              <a:rPr lang="en-US" dirty="0" smtClean="0">
                <a:latin typeface="Arial Narrow" pitchFamily="34" charset="0"/>
              </a:rPr>
              <a:t>that all State Parties must meet and </a:t>
            </a:r>
            <a:r>
              <a:rPr lang="en-US" b="1" dirty="0" smtClean="0">
                <a:latin typeface="Arial Narrow" pitchFamily="34" charset="0"/>
              </a:rPr>
              <a:t>progressive obligations </a:t>
            </a:r>
            <a:r>
              <a:rPr lang="en-US" dirty="0" smtClean="0">
                <a:latin typeface="Arial Narrow" pitchFamily="34" charset="0"/>
              </a:rPr>
              <a:t>that can be achieved over time and in light of available resources .</a:t>
            </a:r>
          </a:p>
          <a:p>
            <a:pPr lvl="2" algn="just"/>
            <a:r>
              <a:rPr lang="en-US" b="1" dirty="0" smtClean="0">
                <a:latin typeface="Arial Narrow" pitchFamily="34" charset="0"/>
              </a:rPr>
              <a:t>Immediate Obligations</a:t>
            </a:r>
          </a:p>
          <a:p>
            <a:pPr lvl="3" algn="just"/>
            <a:r>
              <a:rPr lang="en-US" b="1" i="1" dirty="0" smtClean="0">
                <a:latin typeface="Arial Narrow" pitchFamily="34" charset="0"/>
              </a:rPr>
              <a:t>No discrimination relating to ESCRs</a:t>
            </a:r>
          </a:p>
          <a:p>
            <a:pPr lvl="3" algn="just"/>
            <a:r>
              <a:rPr lang="en-US" b="1" i="1" dirty="0" smtClean="0">
                <a:latin typeface="Arial Narrow" pitchFamily="34" charset="0"/>
              </a:rPr>
              <a:t>To take steps towards full realization of ESCRs that are deliberate, concrete and targeted </a:t>
            </a:r>
          </a:p>
          <a:p>
            <a:pPr lvl="3" algn="just"/>
            <a:r>
              <a:rPr lang="en-US" b="1" i="1" dirty="0" smtClean="0">
                <a:latin typeface="Arial Narrow" pitchFamily="34" charset="0"/>
              </a:rPr>
              <a:t>To provide judicial remedies for ESCRs capable of immediate application by courts </a:t>
            </a:r>
          </a:p>
          <a:p>
            <a:pPr lvl="3" algn="just"/>
            <a:r>
              <a:rPr lang="en-US" b="1" i="1" dirty="0" smtClean="0">
                <a:latin typeface="Arial Narrow" pitchFamily="34" charset="0"/>
              </a:rPr>
              <a:t>To ensure the satisfaction of, at the very least, minimum essential levels of each right; this is a minimum core obligation of every state party</a:t>
            </a:r>
          </a:p>
          <a:p>
            <a:pPr lvl="3" algn="just">
              <a:buNone/>
            </a:pPr>
            <a:endParaRPr lang="en-US" b="1" i="1" dirty="0" smtClean="0">
              <a:latin typeface="Arial Narrow" pitchFamily="34" charset="0"/>
            </a:endParaRPr>
          </a:p>
          <a:p>
            <a:pPr lvl="3" algn="just"/>
            <a:endParaRPr lang="en-US" dirty="0" smtClean="0">
              <a:latin typeface="Arial Narrow" pitchFamily="34" charset="0"/>
            </a:endParaRPr>
          </a:p>
          <a:p>
            <a:pPr lvl="3" algn="just"/>
            <a:endParaRPr lang="en-US" dirty="0" smtClean="0">
              <a:latin typeface="Arial Narrow" pitchFamily="34" charset="0"/>
            </a:endParaRPr>
          </a:p>
          <a:p>
            <a:pPr lvl="3" algn="just"/>
            <a:endParaRPr lang="en-US" dirty="0" smtClean="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lstStyle/>
          <a:p>
            <a:pPr lvl="2" algn="just"/>
            <a:r>
              <a:rPr lang="en-US" b="1" dirty="0" smtClean="0">
                <a:latin typeface="Arial Narrow" pitchFamily="34" charset="0"/>
              </a:rPr>
              <a:t>Progressive Obligations </a:t>
            </a:r>
          </a:p>
          <a:p>
            <a:pPr lvl="3" algn="just"/>
            <a:r>
              <a:rPr lang="en-US" b="1" i="1" dirty="0" smtClean="0">
                <a:latin typeface="Arial Narrow" pitchFamily="34" charset="0"/>
              </a:rPr>
              <a:t>To move as expeditiously and effectively as possible towards  full realization of ESCRs and to avoid deliberate retrogressive measures </a:t>
            </a:r>
          </a:p>
          <a:p>
            <a:pPr lvl="3" algn="just"/>
            <a:r>
              <a:rPr lang="en-US" b="1" i="1" dirty="0" smtClean="0">
                <a:latin typeface="Arial Narrow" pitchFamily="34" charset="0"/>
              </a:rPr>
              <a:t>Where resources are inadequate  to strive to ensure the widest possible enjoyment of ESCRs under the prevailing circumstance </a:t>
            </a:r>
          </a:p>
          <a:p>
            <a:pPr lvl="3" algn="just"/>
            <a:r>
              <a:rPr lang="en-US" b="1" i="1" dirty="0" smtClean="0">
                <a:latin typeface="Arial Narrow" pitchFamily="34" charset="0"/>
              </a:rPr>
              <a:t>To give special protection to vulnerable members of society through the adoption of low cost targeted programmes </a:t>
            </a:r>
          </a:p>
          <a:p>
            <a:pPr algn="just"/>
            <a:r>
              <a:rPr lang="en-US" b="1" i="1" dirty="0" smtClean="0">
                <a:latin typeface="Arial Narrow" pitchFamily="34" charset="0"/>
              </a:rPr>
              <a:t>See Ministry of Health of RSA vs. Treatment Action Campaign (2002)-Separation of power and Accountability </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smtClean="0">
                <a:latin typeface="Arial Narrow" pitchFamily="34" charset="0"/>
              </a:rPr>
              <a:t>Restrictions/limitations and Derogations of HRs</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85000" lnSpcReduction="20000"/>
          </a:bodyPr>
          <a:lstStyle/>
          <a:p>
            <a:pPr algn="just"/>
            <a:r>
              <a:rPr lang="en-US" b="1" dirty="0" smtClean="0">
                <a:latin typeface="Arial Narrow" pitchFamily="34" charset="0"/>
              </a:rPr>
              <a:t>Reason of State-</a:t>
            </a:r>
            <a:r>
              <a:rPr lang="en-US" dirty="0" smtClean="0">
                <a:latin typeface="Arial Narrow" pitchFamily="34" charset="0"/>
              </a:rPr>
              <a:t> is a doctrine that whatever is required to insure the </a:t>
            </a:r>
            <a:r>
              <a:rPr lang="en-US" b="1" dirty="0" smtClean="0">
                <a:latin typeface="Arial Narrow" pitchFamily="34" charset="0"/>
              </a:rPr>
              <a:t>survival of the state </a:t>
            </a:r>
            <a:r>
              <a:rPr lang="en-US" dirty="0" smtClean="0">
                <a:latin typeface="Arial Narrow" pitchFamily="34" charset="0"/>
              </a:rPr>
              <a:t>must done by the individuals responsible for it no matter how </a:t>
            </a:r>
            <a:r>
              <a:rPr lang="en-US" b="1" dirty="0" smtClean="0">
                <a:latin typeface="Arial Narrow" pitchFamily="34" charset="0"/>
              </a:rPr>
              <a:t>repugnan</a:t>
            </a:r>
            <a:r>
              <a:rPr lang="en-US" dirty="0" smtClean="0">
                <a:latin typeface="Arial Narrow" pitchFamily="34" charset="0"/>
              </a:rPr>
              <a:t>t such act may be to them in the their </a:t>
            </a:r>
            <a:r>
              <a:rPr lang="en-US" b="1" dirty="0" smtClean="0">
                <a:latin typeface="Arial Narrow" pitchFamily="34" charset="0"/>
              </a:rPr>
              <a:t>private capacity as decent and moral man</a:t>
            </a:r>
            <a:r>
              <a:rPr lang="en-US" dirty="0" smtClean="0">
                <a:latin typeface="Arial Narrow" pitchFamily="34" charset="0"/>
              </a:rPr>
              <a:t>.</a:t>
            </a:r>
          </a:p>
          <a:p>
            <a:pPr algn="just"/>
            <a:r>
              <a:rPr lang="en-US" b="1" dirty="0" smtClean="0">
                <a:latin typeface="Arial Narrow" pitchFamily="34" charset="0"/>
              </a:rPr>
              <a:t>Security and issues of morality –</a:t>
            </a:r>
            <a:r>
              <a:rPr lang="en-US" dirty="0" smtClean="0">
                <a:latin typeface="Arial Narrow" pitchFamily="34" charset="0"/>
              </a:rPr>
              <a:t>public morality must be placed in the survival issues of the state. </a:t>
            </a:r>
          </a:p>
          <a:p>
            <a:pPr algn="just"/>
            <a:r>
              <a:rPr lang="en-US" b="1" dirty="0" smtClean="0">
                <a:latin typeface="Arial Narrow" pitchFamily="34" charset="0"/>
              </a:rPr>
              <a:t>Security issues </a:t>
            </a:r>
            <a:r>
              <a:rPr lang="en-US" dirty="0" smtClean="0">
                <a:latin typeface="Arial Narrow" pitchFamily="34" charset="0"/>
              </a:rPr>
              <a:t>can be </a:t>
            </a:r>
            <a:r>
              <a:rPr lang="en-US" b="1" dirty="0" smtClean="0">
                <a:latin typeface="Arial Narrow" pitchFamily="34" charset="0"/>
              </a:rPr>
              <a:t>internal chaos and disorder and external or foreign aggression </a:t>
            </a:r>
            <a:r>
              <a:rPr lang="en-US" dirty="0" smtClean="0">
                <a:latin typeface="Arial Narrow" pitchFamily="34" charset="0"/>
              </a:rPr>
              <a:t>and in such instances the state must maintain the </a:t>
            </a:r>
            <a:r>
              <a:rPr lang="en-US" b="1" dirty="0" smtClean="0">
                <a:latin typeface="Arial Narrow" pitchFamily="34" charset="0"/>
              </a:rPr>
              <a:t>constitutional order(contract entered under the civil state/social contract) </a:t>
            </a:r>
            <a:r>
              <a:rPr lang="en-US" dirty="0" smtClean="0">
                <a:latin typeface="Arial Narrow" pitchFamily="34" charset="0"/>
              </a:rPr>
              <a:t>by taking measures of reason of state for the </a:t>
            </a:r>
            <a:r>
              <a:rPr lang="en-US" b="1" dirty="0" smtClean="0">
                <a:latin typeface="Arial Narrow" pitchFamily="34" charset="0"/>
              </a:rPr>
              <a:t>common good </a:t>
            </a:r>
            <a:r>
              <a:rPr lang="en-US" dirty="0" smtClean="0">
                <a:latin typeface="Arial Narrow" pitchFamily="34" charset="0"/>
              </a:rPr>
              <a:t>to assure not to fall under </a:t>
            </a:r>
            <a:r>
              <a:rPr lang="en-US" b="1" dirty="0" smtClean="0">
                <a:latin typeface="Arial Narrow" pitchFamily="34" charset="0"/>
              </a:rPr>
              <a:t>state of nature</a:t>
            </a:r>
            <a:r>
              <a:rPr lang="en-US" dirty="0" smtClean="0">
                <a:latin typeface="Arial Narrow" pitchFamily="34" charset="0"/>
              </a:rPr>
              <a:t>.</a:t>
            </a:r>
          </a:p>
          <a:p>
            <a:pPr algn="just"/>
            <a:r>
              <a:rPr lang="en-US" dirty="0" smtClean="0">
                <a:latin typeface="Arial Narrow" pitchFamily="34" charset="0"/>
              </a:rPr>
              <a:t>However, how  </a:t>
            </a:r>
            <a:r>
              <a:rPr lang="en-US" b="1" dirty="0" smtClean="0">
                <a:latin typeface="Arial Narrow" pitchFamily="34" charset="0"/>
              </a:rPr>
              <a:t>Constitutional Reason of State  should be guided and implemented</a:t>
            </a:r>
            <a:r>
              <a:rPr lang="en-US" dirty="0" smtClean="0">
                <a:latin typeface="Arial Narrow" pitchFamily="34" charset="0"/>
              </a:rPr>
              <a:t> ? </a:t>
            </a:r>
            <a:r>
              <a:rPr lang="en-US" b="1" dirty="0" smtClean="0">
                <a:latin typeface="Arial Narrow" pitchFamily="34" charset="0"/>
              </a:rPr>
              <a:t>Balancing common good and individual rights</a:t>
            </a:r>
            <a:r>
              <a:rPr lang="en-US" dirty="0" smtClean="0">
                <a:latin typeface="Arial Narrow" pitchFamily="34" charset="0"/>
              </a:rPr>
              <a:t>.</a:t>
            </a:r>
          </a:p>
          <a:p>
            <a:pPr algn="just"/>
            <a:r>
              <a:rPr lang="en-US" dirty="0" smtClean="0">
                <a:latin typeface="Arial Narrow" pitchFamily="34" charset="0"/>
              </a:rPr>
              <a:t>Constitutional Reason of State for security- </a:t>
            </a:r>
            <a:r>
              <a:rPr lang="en-US" b="1" dirty="0" smtClean="0">
                <a:latin typeface="Arial Narrow" pitchFamily="34" charset="0"/>
              </a:rPr>
              <a:t>Absolute vs. Limited (criteria base )</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normAutofit fontScale="85000" lnSpcReduction="20000"/>
          </a:bodyPr>
          <a:lstStyle/>
          <a:p>
            <a:pPr algn="just"/>
            <a:r>
              <a:rPr lang="en-US" b="1" dirty="0" smtClean="0">
                <a:latin typeface="Arial Narrow" pitchFamily="34" charset="0"/>
              </a:rPr>
              <a:t>Survivalist (James </a:t>
            </a:r>
            <a:r>
              <a:rPr lang="en-US" b="1" dirty="0" err="1" smtClean="0">
                <a:latin typeface="Arial Narrow" pitchFamily="34" charset="0"/>
              </a:rPr>
              <a:t>Hargnton</a:t>
            </a:r>
            <a:r>
              <a:rPr lang="en-US" dirty="0" smtClean="0">
                <a:latin typeface="Arial Narrow" pitchFamily="34" charset="0"/>
              </a:rPr>
              <a:t>( Institutional safeguard (a special power to deal with security problems outside the regular channels of constitutional procedure like a board should act to the restoration of the constitutional order ),</a:t>
            </a:r>
            <a:r>
              <a:rPr lang="en-US" b="1" dirty="0" smtClean="0">
                <a:latin typeface="Arial Narrow" pitchFamily="34" charset="0"/>
              </a:rPr>
              <a:t> Spinoza</a:t>
            </a:r>
            <a:r>
              <a:rPr lang="en-US" dirty="0" smtClean="0">
                <a:latin typeface="Arial Narrow" pitchFamily="34" charset="0"/>
              </a:rPr>
              <a:t>(subversive acts vs. subversive opinion must be spared and reason of state must be applied to subversive acts for the security and survival of the political order)</a:t>
            </a:r>
            <a:r>
              <a:rPr lang="en-US" b="1" dirty="0" smtClean="0">
                <a:latin typeface="Arial Narrow" pitchFamily="34" charset="0"/>
              </a:rPr>
              <a:t> and Montesquieu</a:t>
            </a:r>
            <a:r>
              <a:rPr lang="en-US" dirty="0" smtClean="0">
                <a:latin typeface="Arial Narrow" pitchFamily="34" charset="0"/>
              </a:rPr>
              <a:t>(Constitutional Reason of State must be taken but caution must be placed on the potential abuse of institutional safeguards-</a:t>
            </a:r>
            <a:r>
              <a:rPr lang="en-US" b="1" dirty="0" smtClean="0">
                <a:latin typeface="Arial Narrow" pitchFamily="34" charset="0"/>
              </a:rPr>
              <a:t>intermediary powers(check and balance)</a:t>
            </a:r>
            <a:r>
              <a:rPr lang="en-US" dirty="0" smtClean="0">
                <a:latin typeface="Arial Narrow" pitchFamily="34" charset="0"/>
              </a:rPr>
              <a:t>))</a:t>
            </a:r>
            <a:r>
              <a:rPr lang="en-US" b="1" dirty="0" smtClean="0">
                <a:latin typeface="Arial Narrow" pitchFamily="34" charset="0"/>
              </a:rPr>
              <a:t> vs. Moralist(J. Milton,  J. Locke and I. Kant </a:t>
            </a:r>
            <a:r>
              <a:rPr lang="en-US" dirty="0" smtClean="0">
                <a:latin typeface="Arial Narrow" pitchFamily="34" charset="0"/>
              </a:rPr>
              <a:t>(All moralist are cognizant of the significant role of revolution and hence of dynamic change in the political order. Reason of State cannot be merely the maintenance of the status quo; it must be expressive of mode or modes of progressive change. Kant focuses on categorical imperative which declares that balance must be taken between the right to revolution and the prerogatives of the political order   ))</a:t>
            </a:r>
            <a:r>
              <a:rPr lang="en-US" b="1" dirty="0" smtClean="0">
                <a:latin typeface="Arial Narrow" pitchFamily="34" charset="0"/>
              </a:rPr>
              <a:t> </a:t>
            </a:r>
          </a:p>
          <a:p>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fontScale="70000" lnSpcReduction="20000"/>
          </a:bodyPr>
          <a:lstStyle/>
          <a:p>
            <a:pPr algn="just"/>
            <a:r>
              <a:rPr lang="en-US" b="1" dirty="0" smtClean="0">
                <a:latin typeface="Arial Narrow" pitchFamily="34" charset="0"/>
              </a:rPr>
              <a:t>Rights and Duties – Duties are correlated to rights </a:t>
            </a:r>
          </a:p>
          <a:p>
            <a:pPr lvl="1" algn="just"/>
            <a:r>
              <a:rPr lang="en-US" dirty="0" smtClean="0">
                <a:latin typeface="Arial Narrow" pitchFamily="34" charset="0"/>
              </a:rPr>
              <a:t>Obey the law</a:t>
            </a:r>
          </a:p>
          <a:p>
            <a:pPr lvl="1" algn="just"/>
            <a:r>
              <a:rPr lang="en-US" dirty="0" smtClean="0">
                <a:latin typeface="Arial Narrow" pitchFamily="34" charset="0"/>
              </a:rPr>
              <a:t>Pay taxes</a:t>
            </a:r>
          </a:p>
          <a:p>
            <a:pPr lvl="1" algn="just"/>
            <a:r>
              <a:rPr lang="en-US" dirty="0" smtClean="0">
                <a:latin typeface="Arial Narrow" pitchFamily="34" charset="0"/>
              </a:rPr>
              <a:t>Common Good (to defend ones country)</a:t>
            </a:r>
          </a:p>
          <a:p>
            <a:pPr algn="just"/>
            <a:r>
              <a:rPr lang="en-US" b="1" dirty="0" smtClean="0">
                <a:latin typeface="Arial Narrow" pitchFamily="34" charset="0"/>
              </a:rPr>
              <a:t>Absolute Rights Vs. Rights that may be subject to restrictions </a:t>
            </a:r>
          </a:p>
          <a:p>
            <a:pPr lvl="1" algn="just"/>
            <a:r>
              <a:rPr lang="en-US" dirty="0" smtClean="0">
                <a:latin typeface="Arial Narrow" pitchFamily="34" charset="0"/>
              </a:rPr>
              <a:t>Inviolabilities (The right to equality? torture)</a:t>
            </a:r>
          </a:p>
          <a:p>
            <a:pPr lvl="1" algn="just"/>
            <a:r>
              <a:rPr lang="en-US" dirty="0" smtClean="0">
                <a:latin typeface="Arial Narrow" pitchFamily="34" charset="0"/>
              </a:rPr>
              <a:t>Legitimate restrictions </a:t>
            </a:r>
          </a:p>
          <a:p>
            <a:pPr algn="just"/>
            <a:r>
              <a:rPr lang="en-US" b="1" dirty="0" smtClean="0">
                <a:latin typeface="Arial Narrow" pitchFamily="34" charset="0"/>
              </a:rPr>
              <a:t>Limitations-</a:t>
            </a:r>
            <a:r>
              <a:rPr lang="en-US" dirty="0" smtClean="0">
                <a:latin typeface="Arial Narrow" pitchFamily="34" charset="0"/>
              </a:rPr>
              <a:t> emerges from the recognition that certain rights </a:t>
            </a:r>
            <a:r>
              <a:rPr lang="en-US" b="1" dirty="0" smtClean="0">
                <a:latin typeface="Arial Narrow" pitchFamily="34" charset="0"/>
              </a:rPr>
              <a:t>are not absolute </a:t>
            </a:r>
            <a:r>
              <a:rPr lang="en-US" dirty="0" smtClean="0">
                <a:latin typeface="Arial Narrow" pitchFamily="34" charset="0"/>
              </a:rPr>
              <a:t>and that they underpin </a:t>
            </a:r>
            <a:r>
              <a:rPr lang="en-US" b="1" dirty="0" smtClean="0">
                <a:latin typeface="Arial Narrow" pitchFamily="34" charset="0"/>
              </a:rPr>
              <a:t>a balance </a:t>
            </a:r>
            <a:r>
              <a:rPr lang="en-US" dirty="0" smtClean="0">
                <a:latin typeface="Arial Narrow" pitchFamily="34" charset="0"/>
              </a:rPr>
              <a:t>between </a:t>
            </a:r>
            <a:r>
              <a:rPr lang="en-US" b="1" dirty="0" smtClean="0">
                <a:latin typeface="Arial Narrow" pitchFamily="34" charset="0"/>
              </a:rPr>
              <a:t>individuals rights and community interests</a:t>
            </a:r>
            <a:r>
              <a:rPr lang="en-US" dirty="0" smtClean="0">
                <a:latin typeface="Arial Narrow" pitchFamily="34" charset="0"/>
              </a:rPr>
              <a:t>.</a:t>
            </a:r>
          </a:p>
          <a:p>
            <a:pPr lvl="1" algn="just"/>
            <a:r>
              <a:rPr lang="en-US" dirty="0" smtClean="0">
                <a:latin typeface="Arial Narrow" pitchFamily="34" charset="0"/>
              </a:rPr>
              <a:t>Limitation is a permanent act by law in time of peace</a:t>
            </a:r>
          </a:p>
          <a:p>
            <a:pPr lvl="1" algn="just"/>
            <a:r>
              <a:rPr lang="en-US" dirty="0" smtClean="0">
                <a:latin typeface="Arial Narrow" pitchFamily="34" charset="0"/>
              </a:rPr>
              <a:t>Limitation is a permanent restriction of the scope and substance of the right with appeal to a more profound interest of the public.</a:t>
            </a:r>
            <a:endParaRPr lang="en-US" b="1" dirty="0" smtClean="0">
              <a:latin typeface="Arial Narrow" pitchFamily="34" charset="0"/>
            </a:endParaRPr>
          </a:p>
          <a:p>
            <a:pPr algn="just"/>
            <a:r>
              <a:rPr lang="en-US" b="1" dirty="0" smtClean="0">
                <a:latin typeface="Arial Narrow" pitchFamily="34" charset="0"/>
              </a:rPr>
              <a:t>Derogation or suspension of certain Rights –</a:t>
            </a:r>
            <a:r>
              <a:rPr lang="en-US" dirty="0" smtClean="0">
                <a:latin typeface="Arial Narrow" pitchFamily="34" charset="0"/>
              </a:rPr>
              <a:t>exists only when there is </a:t>
            </a:r>
            <a:r>
              <a:rPr lang="en-US" b="1" dirty="0" smtClean="0">
                <a:latin typeface="Arial Narrow" pitchFamily="34" charset="0"/>
              </a:rPr>
              <a:t>a state of emergency of a certain  character  and is imposed with the sole purpose of responding and arresting to the emergency to restore normalcy</a:t>
            </a:r>
            <a:r>
              <a:rPr lang="en-US" dirty="0" smtClean="0">
                <a:latin typeface="Arial Narrow" pitchFamily="34" charset="0"/>
              </a:rPr>
              <a:t>. And its consequence is a </a:t>
            </a:r>
            <a:r>
              <a:rPr lang="en-US" b="1" dirty="0" smtClean="0">
                <a:latin typeface="Arial Narrow" pitchFamily="34" charset="0"/>
              </a:rPr>
              <a:t>temporary but a total  suspension of the rights in question</a:t>
            </a:r>
            <a:r>
              <a:rPr lang="en-US" dirty="0" smtClean="0">
                <a:latin typeface="Arial Narrow" pitchFamily="34" charset="0"/>
              </a:rPr>
              <a:t>.</a:t>
            </a:r>
          </a:p>
          <a:p>
            <a:pPr algn="just"/>
            <a:r>
              <a:rPr lang="en-US" b="1" dirty="0" smtClean="0">
                <a:latin typeface="Arial Narrow" pitchFamily="34" charset="0"/>
              </a:rPr>
              <a:t>Hence, Normalcy is a rule and emergence is an exception </a:t>
            </a:r>
          </a:p>
          <a:p>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latin typeface="Arial Narrow" pitchFamily="34" charset="0"/>
              </a:rPr>
              <a:t>Claw back clause, Margin of appreciation</a:t>
            </a:r>
            <a:endParaRPr lang="en-US" dirty="0">
              <a:latin typeface="Arial Narrow" pitchFamily="34" charset="0"/>
            </a:endParaRPr>
          </a:p>
        </p:txBody>
      </p:sp>
      <p:sp>
        <p:nvSpPr>
          <p:cNvPr id="3" name="Content Placeholder 2"/>
          <p:cNvSpPr>
            <a:spLocks noGrp="1"/>
          </p:cNvSpPr>
          <p:nvPr>
            <p:ph idx="1"/>
          </p:nvPr>
        </p:nvSpPr>
        <p:spPr>
          <a:xfrm>
            <a:off x="0" y="838200"/>
            <a:ext cx="8763000" cy="6019800"/>
          </a:xfrm>
        </p:spPr>
        <p:txBody>
          <a:bodyPr>
            <a:normAutofit fontScale="85000" lnSpcReduction="20000"/>
          </a:bodyPr>
          <a:lstStyle/>
          <a:p>
            <a:pPr algn="just"/>
            <a:r>
              <a:rPr lang="en-US" b="1" dirty="0" smtClean="0">
                <a:latin typeface="Arial Narrow" pitchFamily="34" charset="0"/>
              </a:rPr>
              <a:t>Claw back clauses </a:t>
            </a:r>
            <a:r>
              <a:rPr lang="en-US" dirty="0" smtClean="0">
                <a:latin typeface="Arial Narrow" pitchFamily="34" charset="0"/>
              </a:rPr>
              <a:t>–are </a:t>
            </a:r>
            <a:r>
              <a:rPr lang="en-US" b="1" dirty="0" smtClean="0">
                <a:latin typeface="Arial Narrow" pitchFamily="34" charset="0"/>
              </a:rPr>
              <a:t>vague  phrases </a:t>
            </a:r>
            <a:r>
              <a:rPr lang="en-US" dirty="0" smtClean="0">
                <a:latin typeface="Arial Narrow" pitchFamily="34" charset="0"/>
              </a:rPr>
              <a:t>which allows </a:t>
            </a:r>
            <a:r>
              <a:rPr lang="en-US" b="1" dirty="0" smtClean="0">
                <a:latin typeface="Arial Narrow" pitchFamily="34" charset="0"/>
              </a:rPr>
              <a:t>high discretion to enact laws </a:t>
            </a:r>
            <a:r>
              <a:rPr lang="en-US" dirty="0" smtClean="0">
                <a:latin typeface="Arial Narrow" pitchFamily="34" charset="0"/>
              </a:rPr>
              <a:t>on certain rights by member states in the African Charter. These vague phrases are loopholes for systematic violations of rights under the African Charter by member states exaggerating sovereignty. Prevalent in the ACHPRs</a:t>
            </a:r>
          </a:p>
          <a:p>
            <a:pPr algn="just"/>
            <a:r>
              <a:rPr lang="en-US" dirty="0" smtClean="0">
                <a:latin typeface="Arial Narrow" pitchFamily="34" charset="0"/>
              </a:rPr>
              <a:t>Article 6 every individual shall have the right to liberty and to the security of his person. No one may be deprived of his freedom “</a:t>
            </a:r>
            <a:r>
              <a:rPr lang="en-US" b="1" dirty="0" smtClean="0">
                <a:latin typeface="Arial Narrow" pitchFamily="34" charset="0"/>
              </a:rPr>
              <a:t>except for reasons and conditions previously laid down by law</a:t>
            </a:r>
            <a:r>
              <a:rPr lang="en-US" dirty="0" smtClean="0">
                <a:latin typeface="Arial Narrow" pitchFamily="34" charset="0"/>
              </a:rPr>
              <a:t>. …. Which is similarly phrased with Article 17(1) of the FDRE Constitution.</a:t>
            </a:r>
          </a:p>
          <a:p>
            <a:pPr algn="just"/>
            <a:r>
              <a:rPr lang="en-US" b="1" dirty="0" smtClean="0">
                <a:latin typeface="Arial Narrow" pitchFamily="34" charset="0"/>
              </a:rPr>
              <a:t>The Doctrine Margin of Appreciation </a:t>
            </a:r>
            <a:r>
              <a:rPr lang="en-US" dirty="0" smtClean="0">
                <a:latin typeface="Arial Narrow" pitchFamily="34" charset="0"/>
              </a:rPr>
              <a:t>–was developed by </a:t>
            </a:r>
            <a:r>
              <a:rPr lang="en-US" dirty="0" err="1" smtClean="0">
                <a:latin typeface="Arial Narrow" pitchFamily="34" charset="0"/>
              </a:rPr>
              <a:t>ECtHRs</a:t>
            </a:r>
            <a:r>
              <a:rPr lang="en-US" dirty="0" smtClean="0">
                <a:latin typeface="Arial Narrow" pitchFamily="34" charset="0"/>
              </a:rPr>
              <a:t> to restrict arbitrariness over the implementation of rights. This doctrine serves two ends</a:t>
            </a:r>
          </a:p>
          <a:p>
            <a:pPr lvl="1" algn="just"/>
            <a:r>
              <a:rPr lang="en-US" dirty="0" smtClean="0">
                <a:latin typeface="Arial Narrow" pitchFamily="34" charset="0"/>
              </a:rPr>
              <a:t>Restrict states from arbitrary implementation of rights </a:t>
            </a:r>
          </a:p>
          <a:p>
            <a:pPr lvl="1" algn="just"/>
            <a:r>
              <a:rPr lang="en-US" dirty="0" smtClean="0">
                <a:latin typeface="Arial Narrow" pitchFamily="34" charset="0"/>
              </a:rPr>
              <a:t>Place states at better position for implementation of rights-discretion of states for implementation.</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dirty="0" smtClean="0">
                <a:latin typeface="Arial Narrow" pitchFamily="34" charset="0"/>
              </a:rPr>
              <a:t>Systems of Protection for Vulnerable Groups </a:t>
            </a:r>
            <a:endParaRPr lang="en-US"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85000" lnSpcReduction="20000"/>
          </a:bodyPr>
          <a:lstStyle/>
          <a:p>
            <a:pPr algn="just"/>
            <a:r>
              <a:rPr lang="en-US" b="1" dirty="0" smtClean="0">
                <a:latin typeface="Arial Narrow" pitchFamily="34" charset="0"/>
              </a:rPr>
              <a:t>Reason for additional Protection </a:t>
            </a:r>
          </a:p>
          <a:p>
            <a:pPr lvl="1" algn="just"/>
            <a:r>
              <a:rPr lang="en-US" dirty="0" smtClean="0">
                <a:latin typeface="Arial Narrow" pitchFamily="34" charset="0"/>
              </a:rPr>
              <a:t>Degree of Vulnerability </a:t>
            </a:r>
          </a:p>
          <a:p>
            <a:pPr algn="just"/>
            <a:r>
              <a:rPr lang="en-US" b="1" dirty="0" smtClean="0">
                <a:latin typeface="Arial Narrow" pitchFamily="34" charset="0"/>
              </a:rPr>
              <a:t>Gender Equality </a:t>
            </a:r>
          </a:p>
          <a:p>
            <a:pPr lvl="1" algn="just"/>
            <a:r>
              <a:rPr lang="en-US" b="1" dirty="0" smtClean="0">
                <a:latin typeface="Arial Narrow" pitchFamily="34" charset="0"/>
              </a:rPr>
              <a:t>UN Charter </a:t>
            </a:r>
          </a:p>
          <a:p>
            <a:pPr algn="just"/>
            <a:r>
              <a:rPr lang="en-US" b="1" dirty="0" smtClean="0">
                <a:latin typeface="Arial Narrow" pitchFamily="34" charset="0"/>
              </a:rPr>
              <a:t>Women’s HRs</a:t>
            </a:r>
          </a:p>
          <a:p>
            <a:pPr lvl="1" algn="just"/>
            <a:r>
              <a:rPr lang="en-US" b="1" dirty="0" smtClean="0">
                <a:latin typeface="Arial Narrow" pitchFamily="34" charset="0"/>
              </a:rPr>
              <a:t>CEDAW’s(1981)  </a:t>
            </a:r>
            <a:r>
              <a:rPr lang="en-US" dirty="0" smtClean="0">
                <a:latin typeface="Arial Narrow" pitchFamily="34" charset="0"/>
              </a:rPr>
              <a:t>core objective  is to </a:t>
            </a:r>
            <a:r>
              <a:rPr lang="en-US" b="1" dirty="0" smtClean="0">
                <a:latin typeface="Arial Narrow" pitchFamily="34" charset="0"/>
              </a:rPr>
              <a:t>prohibit discrimination against women</a:t>
            </a:r>
            <a:r>
              <a:rPr lang="en-US" dirty="0" smtClean="0">
                <a:latin typeface="Arial Narrow" pitchFamily="34" charset="0"/>
              </a:rPr>
              <a:t> in the enjoyment of HRs and Fundamental Freedoms</a:t>
            </a:r>
          </a:p>
          <a:p>
            <a:pPr lvl="1" algn="just"/>
            <a:r>
              <a:rPr lang="en-US" dirty="0" smtClean="0">
                <a:latin typeface="Arial Narrow" pitchFamily="34" charset="0"/>
              </a:rPr>
              <a:t>Discrimination against women shall mean </a:t>
            </a:r>
            <a:r>
              <a:rPr lang="en-US" b="1" dirty="0" smtClean="0">
                <a:latin typeface="Arial Narrow" pitchFamily="34" charset="0"/>
              </a:rPr>
              <a:t>any distinction, exclusion or restriction made on the basis of sex which has the effect or purpose of impairing or nullifying the recognition, enjoyment or exercise by women, irrespective of their martial status, on a basis of equality of man and women, of human rights and fundamental freedoms in the political economic social cultural civil or any other filed</a:t>
            </a:r>
            <a:r>
              <a:rPr lang="en-US" dirty="0" smtClean="0">
                <a:latin typeface="Arial Narrow" pitchFamily="34" charset="0"/>
              </a:rPr>
              <a:t>. </a:t>
            </a:r>
            <a:r>
              <a:rPr lang="en-US" b="1" dirty="0" smtClean="0">
                <a:latin typeface="Arial Narrow" pitchFamily="34" charset="0"/>
              </a:rPr>
              <a:t>Art 1 CEDAW</a:t>
            </a:r>
          </a:p>
          <a:p>
            <a:pPr lvl="1" algn="just"/>
            <a:r>
              <a:rPr lang="en-US" b="1" dirty="0" smtClean="0">
                <a:latin typeface="Arial Narrow" pitchFamily="34" charset="0"/>
              </a:rPr>
              <a:t>Does the definition of discrimination against women in CEDAW prohibit laws or polices that give a preference to women and girls ? No as per  Art 4 CEDAW </a:t>
            </a:r>
          </a:p>
          <a:p>
            <a:pPr lvl="2" algn="just"/>
            <a:endParaRPr lang="en-US" b="1" dirty="0" smtClean="0">
              <a:latin typeface="Arial Narrow" pitchFamily="34" charset="0"/>
            </a:endParaRPr>
          </a:p>
          <a:p>
            <a:pPr lvl="1" algn="just"/>
            <a:endParaRPr lang="en-US" b="1" dirty="0" smtClean="0">
              <a:latin typeface="Arial Narrow" pitchFamily="34" charset="0"/>
            </a:endParaRPr>
          </a:p>
          <a:p>
            <a:pPr lvl="1" algn="just"/>
            <a:endParaRPr lang="en-US" b="1" dirty="0" smtClean="0">
              <a:latin typeface="Arial Narrow" pitchFamily="34" charset="0"/>
            </a:endParaRPr>
          </a:p>
          <a:p>
            <a:pPr lvl="1" algn="just"/>
            <a:endParaRPr lang="en-US" b="1" dirty="0" smtClean="0">
              <a:latin typeface="Arial Narrow" pitchFamily="34" charset="0"/>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normAutofit fontScale="92500" lnSpcReduction="10000"/>
          </a:bodyPr>
          <a:lstStyle/>
          <a:p>
            <a:pPr algn="just"/>
            <a:r>
              <a:rPr lang="en-US" b="1" dirty="0" smtClean="0">
                <a:latin typeface="Arial Narrow" pitchFamily="34" charset="0"/>
              </a:rPr>
              <a:t>Rights encompassed /protected in the CEDAW</a:t>
            </a:r>
          </a:p>
          <a:p>
            <a:pPr lvl="1" algn="just"/>
            <a:r>
              <a:rPr lang="en-US" b="1" dirty="0" smtClean="0">
                <a:latin typeface="Arial Narrow" pitchFamily="34" charset="0"/>
              </a:rPr>
              <a:t>Civil and Political rights –Art 7, 15 16</a:t>
            </a:r>
          </a:p>
          <a:p>
            <a:pPr lvl="1" algn="just"/>
            <a:r>
              <a:rPr lang="en-US" b="1" dirty="0" smtClean="0">
                <a:latin typeface="Arial Narrow" pitchFamily="34" charset="0"/>
              </a:rPr>
              <a:t>ESRs –Art.10, 11 and 12</a:t>
            </a:r>
          </a:p>
          <a:p>
            <a:pPr algn="just"/>
            <a:r>
              <a:rPr lang="en-US" b="1" dirty="0" smtClean="0">
                <a:latin typeface="Arial Narrow" pitchFamily="34" charset="0"/>
              </a:rPr>
              <a:t>Which kind of laws, policies and practices discriminate against women and therefore violate CEDAW? State must take measures to eliminate discriminatory laws,  policies and practices </a:t>
            </a:r>
          </a:p>
          <a:p>
            <a:pPr lvl="1" algn="just"/>
            <a:r>
              <a:rPr lang="en-US" b="1" dirty="0" smtClean="0">
                <a:latin typeface="Arial Narrow" pitchFamily="34" charset="0"/>
              </a:rPr>
              <a:t>In the public sphere/platform- </a:t>
            </a:r>
            <a:r>
              <a:rPr lang="en-US" dirty="0" smtClean="0">
                <a:latin typeface="Arial Narrow" pitchFamily="34" charset="0"/>
              </a:rPr>
              <a:t>in national Constitutions and laws, </a:t>
            </a:r>
            <a:r>
              <a:rPr lang="en-US" dirty="0" err="1" smtClean="0">
                <a:latin typeface="Arial Narrow" pitchFamily="34" charset="0"/>
              </a:rPr>
              <a:t>gov’t</a:t>
            </a:r>
            <a:r>
              <a:rPr lang="en-US" dirty="0" smtClean="0">
                <a:latin typeface="Arial Narrow" pitchFamily="34" charset="0"/>
              </a:rPr>
              <a:t> policies, public institutions and participation of women in political life –</a:t>
            </a:r>
            <a:r>
              <a:rPr lang="en-US" b="1" dirty="0" smtClean="0">
                <a:latin typeface="Arial Narrow" pitchFamily="34" charset="0"/>
              </a:rPr>
              <a:t>Art. 2</a:t>
            </a:r>
          </a:p>
          <a:p>
            <a:pPr lvl="1" algn="just"/>
            <a:r>
              <a:rPr lang="en-US" b="1" dirty="0" smtClean="0">
                <a:latin typeface="Arial Narrow" pitchFamily="34" charset="0"/>
              </a:rPr>
              <a:t>In the private sphere</a:t>
            </a:r>
            <a:r>
              <a:rPr lang="en-US" dirty="0" smtClean="0">
                <a:latin typeface="Arial Narrow" pitchFamily="34" charset="0"/>
              </a:rPr>
              <a:t>- by private individuals, businesses associations and groups –</a:t>
            </a:r>
            <a:r>
              <a:rPr lang="en-US" b="1" dirty="0" smtClean="0">
                <a:latin typeface="Arial Narrow" pitchFamily="34" charset="0"/>
              </a:rPr>
              <a:t>Art. 2(e) cum 16</a:t>
            </a:r>
          </a:p>
          <a:p>
            <a:pPr lvl="1" algn="just"/>
            <a:r>
              <a:rPr lang="en-US" b="1" dirty="0" smtClean="0">
                <a:latin typeface="Arial Narrow" pitchFamily="34" charset="0"/>
              </a:rPr>
              <a:t>In the cultural sphere –</a:t>
            </a:r>
            <a:r>
              <a:rPr lang="en-US" dirty="0" smtClean="0">
                <a:latin typeface="Arial Narrow" pitchFamily="34" charset="0"/>
              </a:rPr>
              <a:t>prejudices, stereotypes and customary practices and beliefs –</a:t>
            </a:r>
            <a:r>
              <a:rPr lang="en-US" b="1" dirty="0" smtClean="0">
                <a:latin typeface="Arial Narrow" pitchFamily="34" charset="0"/>
              </a:rPr>
              <a:t>Art. 5(a)</a:t>
            </a:r>
          </a:p>
          <a:p>
            <a:endParaRPr 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lnSpcReduction="20000"/>
          </a:bodyPr>
          <a:lstStyle/>
          <a:p>
            <a:pPr algn="just"/>
            <a:r>
              <a:rPr lang="en-US" b="1" dirty="0" smtClean="0">
                <a:latin typeface="Arial Narrow" pitchFamily="34" charset="0"/>
              </a:rPr>
              <a:t>Committee on CEDAW- Does CEDAW adequately respond to the challenges of protecting the HRs of women and girls? </a:t>
            </a:r>
          </a:p>
          <a:p>
            <a:pPr lvl="1" algn="just"/>
            <a:r>
              <a:rPr lang="en-US" b="1" dirty="0" smtClean="0">
                <a:latin typeface="Arial Narrow" pitchFamily="34" charset="0"/>
              </a:rPr>
              <a:t>CEDAW and its monitoring mechanisms have acted as a catalyst for eliminating or reducing inequality in many countries. But significant obstacles remain , including </a:t>
            </a:r>
          </a:p>
          <a:p>
            <a:pPr lvl="2" algn="just"/>
            <a:r>
              <a:rPr lang="en-US" b="1" dirty="0" smtClean="0">
                <a:latin typeface="Arial Narrow" pitchFamily="34" charset="0"/>
              </a:rPr>
              <a:t>Discrimination in the cultural sphere and </a:t>
            </a:r>
          </a:p>
          <a:p>
            <a:pPr lvl="2" algn="just"/>
            <a:r>
              <a:rPr lang="en-US" b="1" dirty="0" smtClean="0">
                <a:latin typeface="Arial Narrow" pitchFamily="34" charset="0"/>
              </a:rPr>
              <a:t>Broad reservations </a:t>
            </a:r>
          </a:p>
          <a:p>
            <a:r>
              <a:rPr lang="en-US" b="1" dirty="0" smtClean="0">
                <a:latin typeface="Arial Narrow" pitchFamily="34" charset="0"/>
              </a:rPr>
              <a:t>CEDAW Committee</a:t>
            </a:r>
          </a:p>
          <a:p>
            <a:pPr lvl="1"/>
            <a:r>
              <a:rPr lang="en-US" dirty="0" smtClean="0">
                <a:latin typeface="Arial Narrow" pitchFamily="34" charset="0"/>
              </a:rPr>
              <a:t>Reviews Reports from States Parties regarding implementation of CEDAW</a:t>
            </a:r>
          </a:p>
          <a:p>
            <a:pPr lvl="1"/>
            <a:r>
              <a:rPr lang="en-US" dirty="0" smtClean="0">
                <a:latin typeface="Arial Narrow" pitchFamily="34" charset="0"/>
              </a:rPr>
              <a:t>Issues General Recommendations </a:t>
            </a:r>
          </a:p>
          <a:p>
            <a:pPr lvl="1"/>
            <a:r>
              <a:rPr lang="en-US" dirty="0" smtClean="0">
                <a:latin typeface="Arial Narrow" pitchFamily="34" charset="0"/>
              </a:rPr>
              <a:t>Review Complaints from Individuals and NGOs alleging violations of CEDAW</a:t>
            </a:r>
          </a:p>
          <a:p>
            <a:pPr lvl="1"/>
            <a:r>
              <a:rPr lang="en-US" dirty="0" smtClean="0">
                <a:latin typeface="Arial Narrow" pitchFamily="34" charset="0"/>
              </a:rPr>
              <a:t>Investigates gross or systematic violations </a:t>
            </a:r>
          </a:p>
          <a:p>
            <a:pPr lvl="1"/>
            <a:endParaRPr lang="en-US" dirty="0" smtClean="0">
              <a:latin typeface="Arial Narrow" pitchFamily="34" charset="0"/>
            </a:endParaRPr>
          </a:p>
          <a:p>
            <a:pPr lvl="1"/>
            <a:endParaRPr 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latin typeface="Arial Narrow" pitchFamily="34" charset="0"/>
              </a:rPr>
              <a:t>Positive Steps </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a:bodyPr>
          <a:lstStyle/>
          <a:p>
            <a:pPr algn="just"/>
            <a:r>
              <a:rPr lang="en-US" dirty="0" smtClean="0">
                <a:latin typeface="Arial Narrow" pitchFamily="34" charset="0"/>
              </a:rPr>
              <a:t>Educational Opportunities in </a:t>
            </a:r>
            <a:r>
              <a:rPr lang="en-US" b="1" dirty="0" smtClean="0">
                <a:latin typeface="Arial Narrow" pitchFamily="34" charset="0"/>
              </a:rPr>
              <a:t>Bangladesh</a:t>
            </a:r>
            <a:r>
              <a:rPr lang="en-US" dirty="0" smtClean="0">
                <a:latin typeface="Arial Narrow" pitchFamily="34" charset="0"/>
              </a:rPr>
              <a:t> used CEDAW to help attain gender equality in primary school enrolment </a:t>
            </a:r>
          </a:p>
          <a:p>
            <a:pPr algn="just"/>
            <a:r>
              <a:rPr lang="en-US" dirty="0" smtClean="0">
                <a:latin typeface="Arial Narrow" pitchFamily="34" charset="0"/>
              </a:rPr>
              <a:t>Violence against women in </a:t>
            </a:r>
            <a:r>
              <a:rPr lang="en-US" b="1" dirty="0" smtClean="0">
                <a:latin typeface="Arial Narrow" pitchFamily="34" charset="0"/>
              </a:rPr>
              <a:t>Mexico</a:t>
            </a:r>
            <a:r>
              <a:rPr lang="en-US" dirty="0" smtClean="0">
                <a:latin typeface="Arial Narrow" pitchFamily="34" charset="0"/>
              </a:rPr>
              <a:t> referenced CEDAW in a model law to combat gender based violence </a:t>
            </a:r>
          </a:p>
          <a:p>
            <a:pPr algn="just"/>
            <a:r>
              <a:rPr lang="en-US" dirty="0" smtClean="0">
                <a:latin typeface="Arial Narrow" pitchFamily="34" charset="0"/>
              </a:rPr>
              <a:t>Marriage and family relations </a:t>
            </a:r>
            <a:r>
              <a:rPr lang="en-US" b="1" dirty="0" smtClean="0">
                <a:latin typeface="Arial Narrow" pitchFamily="34" charset="0"/>
              </a:rPr>
              <a:t>Kenya</a:t>
            </a:r>
            <a:r>
              <a:rPr lang="en-US" dirty="0" smtClean="0">
                <a:latin typeface="Arial Narrow" pitchFamily="34" charset="0"/>
              </a:rPr>
              <a:t> relied on CEDAW to eliminate discrimination in inheritance rights</a:t>
            </a:r>
          </a:p>
          <a:p>
            <a:pPr algn="just"/>
            <a:r>
              <a:rPr lang="en-US" dirty="0" smtClean="0">
                <a:latin typeface="Arial Narrow" pitchFamily="34" charset="0"/>
              </a:rPr>
              <a:t>Political participation in </a:t>
            </a:r>
            <a:r>
              <a:rPr lang="en-US" b="1" dirty="0" smtClean="0">
                <a:latin typeface="Arial Narrow" pitchFamily="34" charset="0"/>
              </a:rPr>
              <a:t>Kuwait </a:t>
            </a:r>
            <a:r>
              <a:rPr lang="en-US" dirty="0" smtClean="0">
                <a:latin typeface="Arial Narrow" pitchFamily="34" charset="0"/>
              </a:rPr>
              <a:t>extended voting rights to women in 2005 in response to a CEDAW Committee Recommendation </a:t>
            </a:r>
          </a:p>
          <a:p>
            <a:pPr lvl="2" algn="just"/>
            <a:endParaRPr lang="en-US" dirty="0" smtClean="0">
              <a:latin typeface="Arial Narrow" pitchFamily="34" charset="0"/>
            </a:endParaRPr>
          </a:p>
          <a:p>
            <a:pPr lvl="2"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latin typeface="Arial Narrow" pitchFamily="34" charset="0"/>
              </a:rPr>
              <a:t>Challenges to CEDAW</a:t>
            </a:r>
            <a:r>
              <a:rPr lang="en-US" dirty="0" smtClean="0">
                <a:latin typeface="Arial Narrow" pitchFamily="34" charset="0"/>
              </a:rPr>
              <a:t/>
            </a:r>
            <a:br>
              <a:rPr lang="en-US" dirty="0" smtClean="0">
                <a:latin typeface="Arial Narrow" pitchFamily="34" charset="0"/>
              </a:rPr>
            </a:br>
            <a:endParaRPr lang="en-US" dirty="0"/>
          </a:p>
        </p:txBody>
      </p:sp>
      <p:sp>
        <p:nvSpPr>
          <p:cNvPr id="3" name="Content Placeholder 2"/>
          <p:cNvSpPr>
            <a:spLocks noGrp="1"/>
          </p:cNvSpPr>
          <p:nvPr>
            <p:ph idx="1"/>
          </p:nvPr>
        </p:nvSpPr>
        <p:spPr>
          <a:xfrm>
            <a:off x="0" y="457200"/>
            <a:ext cx="9144000" cy="6400800"/>
          </a:xfrm>
        </p:spPr>
        <p:txBody>
          <a:bodyPr>
            <a:normAutofit fontScale="77500" lnSpcReduction="20000"/>
          </a:bodyPr>
          <a:lstStyle/>
          <a:p>
            <a:pPr marL="514350" indent="-514350" algn="just">
              <a:buAutoNum type="arabicPeriod"/>
            </a:pPr>
            <a:r>
              <a:rPr lang="en-US" b="1" dirty="0" smtClean="0">
                <a:latin typeface="Arial Narrow" pitchFamily="34" charset="0"/>
              </a:rPr>
              <a:t>Gender discrimination and Culture </a:t>
            </a:r>
            <a:r>
              <a:rPr lang="en-US" dirty="0" smtClean="0">
                <a:latin typeface="Arial Narrow" pitchFamily="34" charset="0"/>
              </a:rPr>
              <a:t>–infanticide, FGM, sale of daughter, honor killings, marital rape, witch hunting, early marriage and domestic violence, abduction etc</a:t>
            </a:r>
          </a:p>
          <a:p>
            <a:pPr marL="514350" indent="-514350" algn="just">
              <a:buAutoNum type="arabicPeriod"/>
            </a:pPr>
            <a:r>
              <a:rPr lang="en-US" b="1" dirty="0" smtClean="0">
                <a:latin typeface="Arial Narrow" pitchFamily="34" charset="0"/>
              </a:rPr>
              <a:t>Reservation</a:t>
            </a:r>
            <a:r>
              <a:rPr lang="en-US" dirty="0" smtClean="0">
                <a:latin typeface="Arial Narrow" pitchFamily="34" charset="0"/>
              </a:rPr>
              <a:t> –</a:t>
            </a:r>
            <a:r>
              <a:rPr lang="en-US" b="1" dirty="0" smtClean="0">
                <a:latin typeface="Arial Narrow" pitchFamily="34" charset="0"/>
              </a:rPr>
              <a:t>Art. 2 Vienna Convention on the Laws of Treaties </a:t>
            </a:r>
            <a:r>
              <a:rPr lang="en-US" dirty="0" smtClean="0">
                <a:latin typeface="Arial Narrow" pitchFamily="34" charset="0"/>
              </a:rPr>
              <a:t>– “a unilateral statement … mad by a State, when… ratifying … a treaty, whereby it purports to exclude or to modify the legal effect of certain provisions of the treaty in their application to the State”</a:t>
            </a:r>
          </a:p>
          <a:p>
            <a:pPr lvl="1" algn="just"/>
            <a:r>
              <a:rPr lang="en-US" b="1" dirty="0" smtClean="0">
                <a:latin typeface="Arial Narrow" pitchFamily="34" charset="0"/>
              </a:rPr>
              <a:t>Which reservation are permitted ?</a:t>
            </a:r>
            <a:r>
              <a:rPr lang="en-US" dirty="0" smtClean="0">
                <a:latin typeface="Arial Narrow" pitchFamily="34" charset="0"/>
              </a:rPr>
              <a:t>–Art 28(2)- A reservation incompatible with the object and purpose of the present Convention shall not be permitted. Broad and core obligation of are taken reservation </a:t>
            </a:r>
          </a:p>
          <a:p>
            <a:pPr lvl="2" algn="just"/>
            <a:r>
              <a:rPr lang="en-US" b="1" dirty="0" smtClean="0">
                <a:latin typeface="Arial Narrow" pitchFamily="34" charset="0"/>
              </a:rPr>
              <a:t>EX Saudi Arabia. Islamic Law or </a:t>
            </a:r>
            <a:r>
              <a:rPr lang="en-US" b="1" dirty="0" err="1" smtClean="0">
                <a:latin typeface="Arial Narrow" pitchFamily="34" charset="0"/>
              </a:rPr>
              <a:t>sharia</a:t>
            </a:r>
            <a:r>
              <a:rPr lang="en-US" b="1" dirty="0" smtClean="0">
                <a:latin typeface="Arial Narrow" pitchFamily="34" charset="0"/>
              </a:rPr>
              <a:t> </a:t>
            </a:r>
            <a:r>
              <a:rPr lang="en-US" dirty="0" smtClean="0">
                <a:latin typeface="Arial Narrow" pitchFamily="34" charset="0"/>
              </a:rPr>
              <a:t>– in </a:t>
            </a:r>
            <a:r>
              <a:rPr lang="en-US" b="1" dirty="0" smtClean="0">
                <a:latin typeface="Arial Narrow" pitchFamily="34" charset="0"/>
              </a:rPr>
              <a:t>marriage, divorce, custody , adoption or inheritance </a:t>
            </a:r>
            <a:r>
              <a:rPr lang="en-US" dirty="0" smtClean="0">
                <a:latin typeface="Arial Narrow" pitchFamily="34" charset="0"/>
              </a:rPr>
              <a:t>reservation </a:t>
            </a:r>
          </a:p>
          <a:p>
            <a:pPr lvl="2" algn="just"/>
            <a:r>
              <a:rPr lang="en-US" b="1" dirty="0" smtClean="0">
                <a:latin typeface="Arial Narrow" pitchFamily="34" charset="0"/>
              </a:rPr>
              <a:t>Cultural Practices and discrimination in the family EX. India</a:t>
            </a:r>
            <a:r>
              <a:rPr lang="en-US" dirty="0" smtClean="0">
                <a:latin typeface="Arial Narrow" pitchFamily="34" charset="0"/>
              </a:rPr>
              <a:t> reserving </a:t>
            </a:r>
            <a:r>
              <a:rPr lang="en-US" b="1" dirty="0" smtClean="0">
                <a:latin typeface="Arial Narrow" pitchFamily="34" charset="0"/>
              </a:rPr>
              <a:t>Art. 5(a) and 16(1)-non interference </a:t>
            </a:r>
          </a:p>
          <a:p>
            <a:pPr lvl="2" algn="just"/>
            <a:r>
              <a:rPr lang="en-US" b="1" dirty="0" smtClean="0">
                <a:latin typeface="Arial Narrow" pitchFamily="34" charset="0"/>
              </a:rPr>
              <a:t>France –Art. 5 – Family Education (public education)-Privacy Rights</a:t>
            </a:r>
          </a:p>
          <a:p>
            <a:pPr algn="just"/>
            <a:r>
              <a:rPr lang="en-US" b="1" dirty="0" smtClean="0">
                <a:latin typeface="Arial Narrow" pitchFamily="34" charset="0"/>
              </a:rPr>
              <a:t>Why So many Broad Reservation?</a:t>
            </a:r>
          </a:p>
          <a:p>
            <a:pPr lvl="1" algn="just"/>
            <a:r>
              <a:rPr lang="en-US" dirty="0" smtClean="0">
                <a:latin typeface="Arial Narrow" pitchFamily="34" charset="0"/>
              </a:rPr>
              <a:t>Because affects deeply –rooted/held national values relating to culture, religion and society. In order to mediate between these values –reservation is one</a:t>
            </a:r>
          </a:p>
          <a:p>
            <a:pPr lvl="1" algn="just"/>
            <a:r>
              <a:rPr lang="en-US" dirty="0" smtClean="0">
                <a:latin typeface="Arial Narrow" pitchFamily="34" charset="0"/>
              </a:rPr>
              <a:t>State need more time to implement fully the expansive rights and obligations in CEDAW</a:t>
            </a:r>
          </a:p>
          <a:p>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smtClean="0">
                <a:latin typeface="Arial Narrow" pitchFamily="34" charset="0"/>
              </a:rPr>
              <a:t>Reservation to CEDAW</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lstStyle/>
          <a:p>
            <a:pPr algn="just"/>
            <a:r>
              <a:rPr lang="en-US" b="1" dirty="0" smtClean="0">
                <a:latin typeface="Arial Narrow" pitchFamily="34" charset="0"/>
              </a:rPr>
              <a:t>Responses to Broad CEDAW Reservations </a:t>
            </a:r>
          </a:p>
          <a:p>
            <a:pPr lvl="1" algn="just"/>
            <a:r>
              <a:rPr lang="en-US" dirty="0" smtClean="0">
                <a:latin typeface="Arial Narrow" pitchFamily="34" charset="0"/>
              </a:rPr>
              <a:t>Several States Parties, especially in Europe, have filed </a:t>
            </a:r>
            <a:r>
              <a:rPr lang="en-US" b="1" dirty="0" smtClean="0">
                <a:latin typeface="Arial Narrow" pitchFamily="34" charset="0"/>
              </a:rPr>
              <a:t>objections</a:t>
            </a:r>
            <a:r>
              <a:rPr lang="en-US" dirty="0" smtClean="0">
                <a:latin typeface="Arial Narrow" pitchFamily="34" charset="0"/>
              </a:rPr>
              <a:t> to broad reservations. The legal effect of these objections is uncertain however.</a:t>
            </a:r>
          </a:p>
          <a:p>
            <a:pPr lvl="1" algn="just"/>
            <a:r>
              <a:rPr lang="en-US" dirty="0" smtClean="0">
                <a:latin typeface="Arial Narrow" pitchFamily="34" charset="0"/>
              </a:rPr>
              <a:t>The CEDAW Committee has pressed States on whether reservations are necessary or are overly broad. The Committee has also indicated that reservations to Arts.2 and 16 are </a:t>
            </a:r>
            <a:r>
              <a:rPr lang="en-US" b="1" dirty="0" smtClean="0">
                <a:latin typeface="Arial Narrow" pitchFamily="34" charset="0"/>
              </a:rPr>
              <a:t>incompatible with the “object and purpose</a:t>
            </a:r>
            <a:r>
              <a:rPr lang="en-US" dirty="0" smtClean="0">
                <a:latin typeface="Arial Narrow" pitchFamily="34" charset="0"/>
              </a:rPr>
              <a:t>” of CEDAW</a:t>
            </a:r>
          </a:p>
          <a:p>
            <a:pPr lvl="1" algn="just"/>
            <a:r>
              <a:rPr lang="en-US" dirty="0" smtClean="0">
                <a:latin typeface="Arial Narrow" pitchFamily="34" charset="0"/>
              </a:rPr>
              <a:t>Several  States have </a:t>
            </a:r>
            <a:r>
              <a:rPr lang="en-US" b="1" dirty="0" smtClean="0">
                <a:latin typeface="Arial Narrow" pitchFamily="34" charset="0"/>
              </a:rPr>
              <a:t>withdrawn or narrowed reservation </a:t>
            </a:r>
            <a:r>
              <a:rPr lang="en-US" dirty="0" smtClean="0">
                <a:latin typeface="Arial Narrow" pitchFamily="34" charset="0"/>
              </a:rPr>
              <a:t>after a dialogue with the Committee.</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144000" cy="1470025"/>
          </a:xfrm>
        </p:spPr>
        <p:txBody>
          <a:bodyPr/>
          <a:lstStyle/>
          <a:p>
            <a:r>
              <a:rPr lang="en-US" b="1" dirty="0" smtClean="0">
                <a:latin typeface="Arial Narrow" pitchFamily="34" charset="0"/>
              </a:rPr>
              <a:t>Children’s Rights</a:t>
            </a:r>
            <a:endParaRPr lang="en-US" b="1" dirty="0">
              <a:latin typeface="Arial Narrow" pitchFamily="34" charset="0"/>
            </a:endParaRPr>
          </a:p>
        </p:txBody>
      </p:sp>
      <p:sp>
        <p:nvSpPr>
          <p:cNvPr id="3" name="Subtitle 2"/>
          <p:cNvSpPr>
            <a:spLocks noGrp="1"/>
          </p:cNvSpPr>
          <p:nvPr>
            <p:ph type="subTitle" idx="1"/>
          </p:nvPr>
        </p:nvSpPr>
        <p:spPr>
          <a:xfrm>
            <a:off x="0" y="3886200"/>
            <a:ext cx="9144000" cy="1752600"/>
          </a:xfrm>
        </p:spPr>
        <p:txBody>
          <a:bodyPr/>
          <a:lstStyle/>
          <a:p>
            <a:r>
              <a:rPr lang="en-US" dirty="0" smtClean="0">
                <a:solidFill>
                  <a:schemeClr val="tx1"/>
                </a:solidFill>
                <a:latin typeface="Arial Narrow" pitchFamily="34" charset="0"/>
              </a:rPr>
              <a:t>Definition</a:t>
            </a:r>
            <a:r>
              <a:rPr lang="en-US" dirty="0" smtClean="0">
                <a:latin typeface="Arial Narrow" pitchFamily="34" charset="0"/>
              </a:rPr>
              <a:t> </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b="1" dirty="0" smtClean="0">
                <a:latin typeface="Times New Roman" pitchFamily="18" charset="0"/>
                <a:cs typeface="Times New Roman" pitchFamily="18" charset="0"/>
              </a:rPr>
              <a:t>Definition of a Child </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838200"/>
            <a:ext cx="9144000" cy="6019800"/>
          </a:xfrm>
        </p:spPr>
        <p:txBody>
          <a:bodyPr>
            <a:normAutofit/>
          </a:bodyPr>
          <a:lstStyle/>
          <a:p>
            <a:pPr algn="just"/>
            <a:r>
              <a:rPr lang="en-US" b="1" dirty="0" smtClean="0">
                <a:latin typeface="Times New Roman" pitchFamily="18" charset="0"/>
                <a:cs typeface="Times New Roman" pitchFamily="18" charset="0"/>
              </a:rPr>
              <a:t>Age wise Definition- It varies from state to state </a:t>
            </a:r>
          </a:p>
          <a:p>
            <a:pPr algn="just"/>
            <a:r>
              <a:rPr lang="en-US" b="1" dirty="0" smtClean="0">
                <a:latin typeface="Times New Roman" pitchFamily="18" charset="0"/>
                <a:cs typeface="Times New Roman" pitchFamily="18" charset="0"/>
              </a:rPr>
              <a:t>Biological Definition</a:t>
            </a:r>
            <a:r>
              <a:rPr lang="en-US" dirty="0" smtClean="0">
                <a:latin typeface="Times New Roman" pitchFamily="18" charset="0"/>
                <a:cs typeface="Times New Roman" pitchFamily="18" charset="0"/>
              </a:rPr>
              <a:t>(Puberty and other biological developments, including public hair).  </a:t>
            </a:r>
          </a:p>
          <a:p>
            <a:pPr algn="just"/>
            <a:r>
              <a:rPr lang="en-US" b="1" dirty="0" smtClean="0">
                <a:latin typeface="Times New Roman" pitchFamily="18" charset="0"/>
                <a:cs typeface="Times New Roman" pitchFamily="18" charset="0"/>
              </a:rPr>
              <a:t>Social Construction – </a:t>
            </a:r>
            <a:r>
              <a:rPr lang="en-US" dirty="0" smtClean="0">
                <a:latin typeface="Times New Roman" pitchFamily="18" charset="0"/>
                <a:cs typeface="Times New Roman" pitchFamily="18" charset="0"/>
              </a:rPr>
              <a:t>Social roles allocated to children and adults. These roles are given on the basis of social competence which is characterized by the community.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b="1" dirty="0" smtClean="0">
                <a:latin typeface="Times New Roman" pitchFamily="18" charset="0"/>
                <a:cs typeface="Times New Roman" pitchFamily="18" charset="0"/>
              </a:rPr>
              <a:t>Reasons for the Existence of a Separate Child Rights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1143000"/>
            <a:ext cx="9144000" cy="5715000"/>
          </a:xfrm>
        </p:spPr>
        <p:txBody>
          <a:bodyPr>
            <a:normAutofit fontScale="85000" lnSpcReduction="20000"/>
          </a:bodyPr>
          <a:lstStyle/>
          <a:p>
            <a:pPr algn="just"/>
            <a:r>
              <a:rPr lang="en-US" sz="3300" dirty="0" smtClean="0">
                <a:latin typeface="Times New Roman" pitchFamily="18" charset="0"/>
                <a:cs typeface="Times New Roman" pitchFamily="18" charset="0"/>
              </a:rPr>
              <a:t>child is a particularly </a:t>
            </a:r>
            <a:r>
              <a:rPr lang="en-US" sz="3300" b="1" dirty="0" smtClean="0">
                <a:latin typeface="Times New Roman" pitchFamily="18" charset="0"/>
                <a:cs typeface="Times New Roman" pitchFamily="18" charset="0"/>
              </a:rPr>
              <a:t>vulnerable member of society </a:t>
            </a:r>
            <a:r>
              <a:rPr lang="en-US" sz="3300" dirty="0" smtClean="0">
                <a:latin typeface="Times New Roman" pitchFamily="18" charset="0"/>
                <a:cs typeface="Times New Roman" pitchFamily="18" charset="0"/>
              </a:rPr>
              <a:t>and, therefore, </a:t>
            </a:r>
            <a:r>
              <a:rPr lang="en-US" sz="3300" b="1" dirty="0" smtClean="0">
                <a:latin typeface="Times New Roman" pitchFamily="18" charset="0"/>
                <a:cs typeface="Times New Roman" pitchFamily="18" charset="0"/>
              </a:rPr>
              <a:t>requires and deserves special protection</a:t>
            </a:r>
            <a:r>
              <a:rPr lang="en-US" sz="3300"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Children requires </a:t>
            </a:r>
            <a:r>
              <a:rPr lang="en-US" b="1" dirty="0" smtClean="0">
                <a:solidFill>
                  <a:srgbClr val="FF0000"/>
                </a:solidFill>
                <a:latin typeface="Times New Roman" pitchFamily="18" charset="0"/>
                <a:cs typeface="Times New Roman" pitchFamily="18" charset="0"/>
              </a:rPr>
              <a:t>special care and protection </a:t>
            </a:r>
            <a:r>
              <a:rPr lang="en-US" dirty="0" smtClean="0">
                <a:latin typeface="Times New Roman" pitchFamily="18" charset="0"/>
                <a:cs typeface="Times New Roman" pitchFamily="18" charset="0"/>
              </a:rPr>
              <a:t>because of their </a:t>
            </a:r>
            <a:r>
              <a:rPr lang="en-US" b="1" dirty="0" smtClean="0">
                <a:solidFill>
                  <a:srgbClr val="FF0000"/>
                </a:solidFill>
                <a:latin typeface="Times New Roman" pitchFamily="18" charset="0"/>
                <a:cs typeface="Times New Roman" pitchFamily="18" charset="0"/>
              </a:rPr>
              <a:t>mental and physical immaturity which creates a conducive platform for vulnerability of different dangers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This </a:t>
            </a:r>
            <a:r>
              <a:rPr lang="en-US" b="1" dirty="0" smtClean="0">
                <a:solidFill>
                  <a:srgbClr val="FF0000"/>
                </a:solidFill>
                <a:latin typeface="Times New Roman" pitchFamily="18" charset="0"/>
                <a:cs typeface="Times New Roman" pitchFamily="18" charset="0"/>
              </a:rPr>
              <a:t>special care and protection </a:t>
            </a:r>
            <a:r>
              <a:rPr lang="en-US" dirty="0" smtClean="0">
                <a:latin typeface="Times New Roman" pitchFamily="18" charset="0"/>
                <a:cs typeface="Times New Roman" pitchFamily="18" charset="0"/>
              </a:rPr>
              <a:t>is within the broader human rights discourse.</a:t>
            </a:r>
          </a:p>
          <a:p>
            <a:pPr algn="just"/>
            <a:r>
              <a:rPr lang="en-US" b="1" dirty="0" smtClean="0">
                <a:solidFill>
                  <a:srgbClr val="FF0000"/>
                </a:solidFill>
                <a:latin typeface="Times New Roman" pitchFamily="18" charset="0"/>
                <a:cs typeface="Times New Roman" pitchFamily="18" charset="0"/>
              </a:rPr>
              <a:t>Child Rights vs. the Non-discrimination clause/Equality </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child rights is an exception to such clause because </a:t>
            </a:r>
            <a:r>
              <a:rPr lang="en-US" b="1" dirty="0" smtClean="0">
                <a:latin typeface="Times New Roman" pitchFamily="18" charset="0"/>
                <a:cs typeface="Times New Roman" pitchFamily="18" charset="0"/>
              </a:rPr>
              <a:t>differential treatment </a:t>
            </a:r>
            <a:r>
              <a:rPr lang="en-US" dirty="0" smtClean="0">
                <a:latin typeface="Times New Roman" pitchFamily="18" charset="0"/>
                <a:cs typeface="Times New Roman" pitchFamily="18" charset="0"/>
              </a:rPr>
              <a:t>for children is compulsory as they are </a:t>
            </a:r>
            <a:r>
              <a:rPr lang="en-US" b="1" dirty="0" smtClean="0">
                <a:latin typeface="Times New Roman" pitchFamily="18" charset="0"/>
                <a:cs typeface="Times New Roman" pitchFamily="18" charset="0"/>
              </a:rPr>
              <a:t>immature mentally and physically. </a:t>
            </a:r>
            <a:r>
              <a:rPr lang="en-US" b="1" dirty="0" smtClean="0">
                <a:solidFill>
                  <a:srgbClr val="FF0000"/>
                </a:solidFill>
                <a:latin typeface="Times New Roman" pitchFamily="18" charset="0"/>
                <a:cs typeface="Times New Roman" pitchFamily="18" charset="0"/>
              </a:rPr>
              <a:t>Legitimate Differentiation </a:t>
            </a:r>
          </a:p>
          <a:p>
            <a:pPr algn="just"/>
            <a:r>
              <a:rPr lang="en-US" b="1" dirty="0" smtClean="0">
                <a:solidFill>
                  <a:srgbClr val="FF0000"/>
                </a:solidFill>
                <a:latin typeface="Times New Roman" pitchFamily="18" charset="0"/>
                <a:cs typeface="Times New Roman" pitchFamily="18" charset="0"/>
              </a:rPr>
              <a:t>Children vs. Adults- Capacity </a:t>
            </a:r>
            <a:r>
              <a:rPr lang="en-US" dirty="0" smtClean="0">
                <a:latin typeface="Times New Roman" pitchFamily="18" charset="0"/>
                <a:cs typeface="Times New Roman" pitchFamily="18" charset="0"/>
              </a:rPr>
              <a:t>?(</a:t>
            </a:r>
            <a:r>
              <a:rPr lang="en-US" b="1" dirty="0" smtClean="0">
                <a:latin typeface="Times New Roman" pitchFamily="18" charset="0"/>
                <a:cs typeface="Times New Roman" pitchFamily="18" charset="0"/>
              </a:rPr>
              <a:t>Rationality culpability and autonomous in leading life</a:t>
            </a:r>
            <a:r>
              <a:rPr lang="en-US" dirty="0" smtClean="0">
                <a:latin typeface="Times New Roman" pitchFamily="18" charset="0"/>
                <a:cs typeface="Times New Roman" pitchFamily="18" charset="0"/>
              </a:rPr>
              <a:t> ), </a:t>
            </a:r>
            <a:r>
              <a:rPr lang="en-US" b="1" dirty="0" smtClean="0">
                <a:latin typeface="Times New Roman" pitchFamily="18" charset="0"/>
                <a:cs typeface="Times New Roman" pitchFamily="18" charset="0"/>
              </a:rPr>
              <a:t>lack of wisdom</a:t>
            </a:r>
          </a:p>
          <a:p>
            <a:pPr algn="just"/>
            <a:r>
              <a:rPr lang="en-US" b="1" dirty="0" smtClean="0">
                <a:solidFill>
                  <a:srgbClr val="FF0000"/>
                </a:solidFill>
                <a:latin typeface="Times New Roman" pitchFamily="18" charset="0"/>
                <a:cs typeface="Times New Roman" pitchFamily="18" charset="0"/>
              </a:rPr>
              <a:t>Continuation of generation (</a:t>
            </a:r>
            <a:r>
              <a:rPr lang="en-US" b="1" dirty="0" smtClean="0">
                <a:latin typeface="Times New Roman" pitchFamily="18" charset="0"/>
                <a:cs typeface="Times New Roman" pitchFamily="18" charset="0"/>
              </a:rPr>
              <a:t>Karl-Eric </a:t>
            </a:r>
            <a:r>
              <a:rPr lang="en-US" b="1" dirty="0" err="1" smtClean="0">
                <a:latin typeface="Times New Roman" pitchFamily="18" charset="0"/>
                <a:cs typeface="Times New Roman" pitchFamily="18" charset="0"/>
              </a:rPr>
              <a:t>Knutsson</a:t>
            </a:r>
            <a:r>
              <a:rPr lang="en-US" dirty="0" smtClean="0">
                <a:latin typeface="Times New Roman" pitchFamily="18" charset="0"/>
                <a:cs typeface="Times New Roman" pitchFamily="18" charset="0"/>
              </a:rPr>
              <a:t>: "Protecting the </a:t>
            </a:r>
            <a:r>
              <a:rPr lang="en-US" b="1" dirty="0" smtClean="0">
                <a:latin typeface="Times New Roman" pitchFamily="18" charset="0"/>
                <a:cs typeface="Times New Roman" pitchFamily="18" charset="0"/>
              </a:rPr>
              <a:t>health and education of today's children </a:t>
            </a:r>
            <a:r>
              <a:rPr lang="en-US" dirty="0" smtClean="0">
                <a:latin typeface="Times New Roman" pitchFamily="18" charset="0"/>
                <a:cs typeface="Times New Roman" pitchFamily="18" charset="0"/>
              </a:rPr>
              <a:t>is the most </a:t>
            </a:r>
            <a:r>
              <a:rPr lang="en-US" b="1" dirty="0" smtClean="0">
                <a:latin typeface="Times New Roman" pitchFamily="18" charset="0"/>
                <a:cs typeface="Times New Roman" pitchFamily="18" charset="0"/>
              </a:rPr>
              <a:t>basic and wisest of all investments</a:t>
            </a:r>
            <a:r>
              <a:rPr lang="en-US" b="1" dirty="0" smtClean="0">
                <a:solidFill>
                  <a:srgbClr val="FF0000"/>
                </a:solidFill>
                <a:latin typeface="Times New Roman" pitchFamily="18" charset="0"/>
                <a:cs typeface="Times New Roman" pitchFamily="18" charset="0"/>
              </a:rPr>
              <a:t>)</a:t>
            </a:r>
            <a:endParaRPr lang="en-US"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6172200"/>
          </a:xfrm>
        </p:spPr>
        <p:txBody>
          <a:bodyPr>
            <a:normAutofit fontScale="85000" lnSpcReduction="200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difference between </a:t>
            </a:r>
            <a:r>
              <a:rPr lang="en-US" b="1" dirty="0">
                <a:latin typeface="Times New Roman" pitchFamily="18" charset="0"/>
                <a:cs typeface="Times New Roman" pitchFamily="18" charset="0"/>
              </a:rPr>
              <a:t>child and adult </a:t>
            </a:r>
            <a:r>
              <a:rPr lang="en-US" dirty="0">
                <a:latin typeface="Times New Roman" pitchFamily="18" charset="0"/>
                <a:cs typeface="Times New Roman" pitchFamily="18" charset="0"/>
              </a:rPr>
              <a:t>has also been expressed much </a:t>
            </a:r>
            <a:r>
              <a:rPr lang="en-US" dirty="0" smtClean="0">
                <a:latin typeface="Times New Roman" pitchFamily="18" charset="0"/>
                <a:cs typeface="Times New Roman" pitchFamily="18" charset="0"/>
              </a:rPr>
              <a:t>more recently</a:t>
            </a:r>
            <a:r>
              <a:rPr lang="en-US" dirty="0">
                <a:latin typeface="Times New Roman" pitchFamily="18" charset="0"/>
                <a:cs typeface="Times New Roman" pitchFamily="18" charset="0"/>
              </a:rPr>
              <a:t>. According to Goldstein, Freud and </a:t>
            </a:r>
            <a:r>
              <a:rPr lang="en-US" dirty="0" err="1">
                <a:latin typeface="Times New Roman" pitchFamily="18" charset="0"/>
                <a:cs typeface="Times New Roman" pitchFamily="18" charset="0"/>
              </a:rPr>
              <a:t>Solnit</a:t>
            </a:r>
            <a:r>
              <a:rPr lang="en-US" dirty="0">
                <a:latin typeface="Times New Roman" pitchFamily="18" charset="0"/>
                <a:cs typeface="Times New Roman" pitchFamily="18" charset="0"/>
              </a:rPr>
              <a:t>, children differed </a:t>
            </a:r>
            <a:r>
              <a:rPr lang="en-US" dirty="0" smtClean="0">
                <a:latin typeface="Times New Roman" pitchFamily="18" charset="0"/>
                <a:cs typeface="Times New Roman" pitchFamily="18" charset="0"/>
              </a:rPr>
              <a:t>from adults </a:t>
            </a:r>
            <a:r>
              <a:rPr lang="en-US" dirty="0">
                <a:latin typeface="Times New Roman" pitchFamily="18" charset="0"/>
                <a:cs typeface="Times New Roman" pitchFamily="18" charset="0"/>
              </a:rPr>
              <a:t>in their </a:t>
            </a:r>
            <a:r>
              <a:rPr lang="en-US" b="1" dirty="0">
                <a:latin typeface="Times New Roman" pitchFamily="18" charset="0"/>
                <a:cs typeface="Times New Roman" pitchFamily="18" charset="0"/>
              </a:rPr>
              <a:t>mental nature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their functioning</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their understanding of </a:t>
            </a:r>
            <a:r>
              <a:rPr lang="en-US" b="1" dirty="0" smtClean="0">
                <a:latin typeface="Times New Roman" pitchFamily="18" charset="0"/>
                <a:cs typeface="Times New Roman" pitchFamily="18" charset="0"/>
              </a:rPr>
              <a:t>events and </a:t>
            </a:r>
            <a:r>
              <a:rPr lang="en-US" b="1" dirty="0">
                <a:latin typeface="Times New Roman" pitchFamily="18" charset="0"/>
                <a:cs typeface="Times New Roman" pitchFamily="18" charset="0"/>
              </a:rPr>
              <a:t>their reaction to them</a:t>
            </a:r>
            <a:r>
              <a:rPr lang="en-US" dirty="0">
                <a:latin typeface="Times New Roman" pitchFamily="18" charset="0"/>
                <a:cs typeface="Times New Roman" pitchFamily="18" charset="0"/>
              </a:rPr>
              <a:t>. In addition, children also differed amongst </a:t>
            </a:r>
            <a:r>
              <a:rPr lang="en-US" dirty="0" smtClean="0">
                <a:latin typeface="Times New Roman" pitchFamily="18" charset="0"/>
                <a:cs typeface="Times New Roman" pitchFamily="18" charset="0"/>
              </a:rPr>
              <a:t>themselves in </a:t>
            </a:r>
            <a:r>
              <a:rPr lang="en-US" dirty="0">
                <a:latin typeface="Times New Roman" pitchFamily="18" charset="0"/>
                <a:cs typeface="Times New Roman" pitchFamily="18" charset="0"/>
              </a:rPr>
              <a:t>the course of their </a:t>
            </a:r>
            <a:r>
              <a:rPr lang="en-US" b="1" dirty="0">
                <a:latin typeface="Times New Roman" pitchFamily="18" charset="0"/>
                <a:cs typeface="Times New Roman" pitchFamily="18" charset="0"/>
              </a:rPr>
              <a:t>individual growth and development</a:t>
            </a:r>
            <a:r>
              <a:rPr lang="en-US" dirty="0">
                <a:latin typeface="Times New Roman" pitchFamily="18" charset="0"/>
                <a:cs typeface="Times New Roman" pitchFamily="18" charset="0"/>
              </a:rPr>
              <a:t> as a </a:t>
            </a:r>
            <a:r>
              <a:rPr lang="en-US" dirty="0" smtClean="0">
                <a:latin typeface="Times New Roman" pitchFamily="18" charset="0"/>
                <a:cs typeface="Times New Roman" pitchFamily="18" charset="0"/>
              </a:rPr>
              <a:t>family member.</a:t>
            </a:r>
          </a:p>
          <a:p>
            <a:pPr algn="just"/>
            <a:r>
              <a:rPr lang="en-US" b="1" dirty="0" smtClean="0">
                <a:solidFill>
                  <a:srgbClr val="FF0000"/>
                </a:solidFill>
                <a:latin typeface="Times New Roman" pitchFamily="18" charset="0"/>
                <a:cs typeface="Times New Roman" pitchFamily="18" charset="0"/>
              </a:rPr>
              <a:t>Child Protectionist theory  </a:t>
            </a:r>
            <a:r>
              <a:rPr lang="en-US" dirty="0" smtClean="0">
                <a:latin typeface="Times New Roman" pitchFamily="18" charset="0"/>
                <a:cs typeface="Times New Roman" pitchFamily="18" charset="0"/>
              </a:rPr>
              <a:t>- Children are irrational, immature and dependant to the adults and hence,</a:t>
            </a:r>
            <a:r>
              <a:rPr lang="en-US" dirty="0">
                <a:latin typeface="Times New Roman" pitchFamily="18" charset="0"/>
                <a:cs typeface="Times New Roman" pitchFamily="18" charset="0"/>
              </a:rPr>
              <a:t> rational </a:t>
            </a:r>
            <a:r>
              <a:rPr lang="en-US" dirty="0" smtClean="0">
                <a:latin typeface="Times New Roman" pitchFamily="18" charset="0"/>
                <a:cs typeface="Times New Roman" pitchFamily="18" charset="0"/>
              </a:rPr>
              <a:t>autonomous adults </a:t>
            </a:r>
            <a:r>
              <a:rPr lang="en-US" dirty="0">
                <a:latin typeface="Times New Roman" pitchFamily="18" charset="0"/>
                <a:cs typeface="Times New Roman" pitchFamily="18" charset="0"/>
              </a:rPr>
              <a:t>make decisions on behalf of those irrational and dependent </a:t>
            </a:r>
            <a:r>
              <a:rPr lang="en-US" dirty="0" smtClean="0">
                <a:latin typeface="Times New Roman" pitchFamily="18" charset="0"/>
                <a:cs typeface="Times New Roman" pitchFamily="18" charset="0"/>
              </a:rPr>
              <a:t>individuals(</a:t>
            </a:r>
            <a:r>
              <a:rPr lang="en-US" b="1" dirty="0" smtClean="0">
                <a:latin typeface="Times New Roman" pitchFamily="18" charset="0"/>
                <a:cs typeface="Times New Roman" pitchFamily="18" charset="0"/>
              </a:rPr>
              <a:t>Paternalism</a:t>
            </a:r>
            <a:r>
              <a:rPr lang="en-US" dirty="0" smtClean="0">
                <a:latin typeface="Times New Roman" pitchFamily="18" charset="0"/>
                <a:cs typeface="Times New Roman" pitchFamily="18" charset="0"/>
              </a:rPr>
              <a:t>)- decision making process.</a:t>
            </a:r>
          </a:p>
          <a:p>
            <a:pPr algn="just"/>
            <a:r>
              <a:rPr lang="en-US" b="1" dirty="0" smtClean="0">
                <a:solidFill>
                  <a:srgbClr val="FF0000"/>
                </a:solidFill>
                <a:latin typeface="Times New Roman" pitchFamily="18" charset="0"/>
                <a:cs typeface="Times New Roman" pitchFamily="18" charset="0"/>
              </a:rPr>
              <a:t>Child Liberation theory</a:t>
            </a:r>
            <a:r>
              <a:rPr lang="en-US" dirty="0" smtClean="0">
                <a:latin typeface="Times New Roman" pitchFamily="18" charset="0"/>
                <a:cs typeface="Times New Roman" pitchFamily="18" charset="0"/>
              </a:rPr>
              <a:t>-Historically children were property of their parents and hence, denied participation in the decision making process</a:t>
            </a:r>
            <a:r>
              <a:rPr lang="en-US" b="1" dirty="0" smtClean="0">
                <a:latin typeface="Times New Roman" pitchFamily="18" charset="0"/>
                <a:cs typeface="Times New Roman" pitchFamily="18" charset="0"/>
              </a:rPr>
              <a:t>.  This was considered as a form of oppression equal to women and minorities in history.</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762000"/>
            <a:ext cx="9144000" cy="6096000"/>
          </a:xfrm>
        </p:spPr>
        <p:txBody>
          <a:bodyPr/>
          <a:lstStyle/>
          <a:p>
            <a:pPr algn="just"/>
            <a:r>
              <a:rPr lang="en-US" dirty="0">
                <a:latin typeface="Times New Roman" pitchFamily="18" charset="0"/>
                <a:cs typeface="Times New Roman" pitchFamily="18" charset="0"/>
              </a:rPr>
              <a:t>They further argued </a:t>
            </a:r>
            <a:r>
              <a:rPr lang="en-US" dirty="0" smtClean="0">
                <a:latin typeface="Times New Roman" pitchFamily="18" charset="0"/>
                <a:cs typeface="Times New Roman" pitchFamily="18" charset="0"/>
              </a:rPr>
              <a:t>that children </a:t>
            </a:r>
            <a:r>
              <a:rPr lang="en-US" dirty="0">
                <a:latin typeface="Times New Roman" pitchFamily="18" charset="0"/>
                <a:cs typeface="Times New Roman" pitchFamily="18" charset="0"/>
              </a:rPr>
              <a:t>should be allowed to </a:t>
            </a:r>
            <a:r>
              <a:rPr lang="en-US" b="1" dirty="0">
                <a:latin typeface="Times New Roman" pitchFamily="18" charset="0"/>
                <a:cs typeface="Times New Roman" pitchFamily="18" charset="0"/>
              </a:rPr>
              <a:t>make decisions, even incorrect ones, </a:t>
            </a:r>
            <a:r>
              <a:rPr lang="en-US" b="1" dirty="0" smtClean="0">
                <a:latin typeface="Times New Roman" pitchFamily="18" charset="0"/>
                <a:cs typeface="Times New Roman" pitchFamily="18" charset="0"/>
              </a:rPr>
              <a:t>because they </a:t>
            </a:r>
            <a:r>
              <a:rPr lang="en-US" b="1" dirty="0">
                <a:latin typeface="Times New Roman" pitchFamily="18" charset="0"/>
                <a:cs typeface="Times New Roman" pitchFamily="18" charset="0"/>
              </a:rPr>
              <a:t>would never gain </a:t>
            </a:r>
            <a:r>
              <a:rPr lang="en-US" b="1" dirty="0" smtClean="0">
                <a:latin typeface="Times New Roman" pitchFamily="18" charset="0"/>
                <a:cs typeface="Times New Roman" pitchFamily="18" charset="0"/>
              </a:rPr>
              <a:t>experience</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in such matters otherwise and that </a:t>
            </a:r>
            <a:r>
              <a:rPr lang="en-US" dirty="0" smtClean="0">
                <a:latin typeface="Times New Roman" pitchFamily="18" charset="0"/>
                <a:cs typeface="Times New Roman" pitchFamily="18" charset="0"/>
              </a:rPr>
              <a:t>children should </a:t>
            </a:r>
            <a:r>
              <a:rPr lang="en-US" dirty="0">
                <a:latin typeface="Times New Roman" pitchFamily="18" charset="0"/>
                <a:cs typeface="Times New Roman" pitchFamily="18" charset="0"/>
              </a:rPr>
              <a:t>not be prevented from making decisions simply because they might </a:t>
            </a:r>
            <a:r>
              <a:rPr lang="en-US" dirty="0" smtClean="0">
                <a:latin typeface="Times New Roman" pitchFamily="18" charset="0"/>
                <a:cs typeface="Times New Roman" pitchFamily="18" charset="0"/>
              </a:rPr>
              <a:t>make the </a:t>
            </a:r>
            <a:r>
              <a:rPr lang="en-US" b="1" dirty="0">
                <a:latin typeface="Times New Roman" pitchFamily="18" charset="0"/>
                <a:cs typeface="Times New Roman" pitchFamily="18" charset="0"/>
              </a:rPr>
              <a:t>wrong </a:t>
            </a:r>
            <a:r>
              <a:rPr lang="en-US" b="1" dirty="0" smtClean="0">
                <a:latin typeface="Times New Roman" pitchFamily="18" charset="0"/>
                <a:cs typeface="Times New Roman" pitchFamily="18" charset="0"/>
              </a:rPr>
              <a:t>ones</a:t>
            </a:r>
            <a:r>
              <a:rPr lang="en-US" dirty="0" smtClean="0">
                <a:latin typeface="Times New Roman" pitchFamily="18" charset="0"/>
                <a:cs typeface="Times New Roman" pitchFamily="18" charset="0"/>
              </a:rPr>
              <a:t>. Adults are not error free, they commit mistakes in passing decisions.</a:t>
            </a:r>
          </a:p>
          <a:p>
            <a:pPr algn="just"/>
            <a:r>
              <a:rPr lang="en-US" b="1" dirty="0" smtClean="0">
                <a:latin typeface="Times New Roman" pitchFamily="18" charset="0"/>
                <a:cs typeface="Times New Roman" pitchFamily="18" charset="0"/>
              </a:rPr>
              <a:t>Welfare Rights(Right to Protection) vs. Liberty Rights (Rights to Participation; child self-determination)- children as right –holders/possessors of rights!</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09600"/>
            <a:ext cx="9144000" cy="6248400"/>
          </a:xfrm>
        </p:spPr>
        <p:txBody>
          <a:bodyPr>
            <a:normAutofit fontScale="92500" lnSpcReduction="20000"/>
          </a:bodyPr>
          <a:lstStyle/>
          <a:p>
            <a:pPr algn="just"/>
            <a:r>
              <a:rPr lang="en-US" dirty="0" smtClean="0">
                <a:latin typeface="Times New Roman" pitchFamily="18" charset="0"/>
                <a:cs typeface="Times New Roman" pitchFamily="18" charset="0"/>
              </a:rPr>
              <a:t>Children are not rational and are incapable of </a:t>
            </a:r>
            <a:r>
              <a:rPr lang="en-US" b="1" dirty="0" smtClean="0">
                <a:latin typeface="Times New Roman" pitchFamily="18" charset="0"/>
                <a:cs typeface="Times New Roman" pitchFamily="18" charset="0"/>
              </a:rPr>
              <a:t>making reasonable and informed decisions </a:t>
            </a:r>
            <a:r>
              <a:rPr lang="en-US" dirty="0" smtClean="0">
                <a:latin typeface="Times New Roman" pitchFamily="18" charset="0"/>
                <a:cs typeface="Times New Roman" pitchFamily="18" charset="0"/>
              </a:rPr>
              <a:t>and that </a:t>
            </a:r>
            <a:r>
              <a:rPr lang="en-US" b="1" dirty="0" smtClean="0">
                <a:latin typeface="Times New Roman" pitchFamily="18" charset="0"/>
                <a:cs typeface="Times New Roman" pitchFamily="18" charset="0"/>
              </a:rPr>
              <a:t>lack of maturity </a:t>
            </a:r>
            <a:r>
              <a:rPr lang="en-US" dirty="0" smtClean="0">
                <a:latin typeface="Times New Roman" pitchFamily="18" charset="0"/>
                <a:cs typeface="Times New Roman" pitchFamily="18" charset="0"/>
              </a:rPr>
              <a:t>was </a:t>
            </a:r>
            <a:r>
              <a:rPr lang="en-US" b="1" dirty="0" smtClean="0">
                <a:latin typeface="Times New Roman" pitchFamily="18" charset="0"/>
                <a:cs typeface="Times New Roman" pitchFamily="18" charset="0"/>
              </a:rPr>
              <a:t>sufficient reason to deny autonomy to children</a:t>
            </a:r>
            <a:r>
              <a:rPr lang="en-US" dirty="0" smtClean="0">
                <a:latin typeface="Times New Roman" pitchFamily="18" charset="0"/>
                <a:cs typeface="Times New Roman" pitchFamily="18" charset="0"/>
              </a:rPr>
              <a:t>. Secondly, children are </a:t>
            </a:r>
            <a:r>
              <a:rPr lang="en-US" b="1" dirty="0" smtClean="0">
                <a:latin typeface="Times New Roman" pitchFamily="18" charset="0"/>
                <a:cs typeface="Times New Roman" pitchFamily="18" charset="0"/>
              </a:rPr>
              <a:t>prone to make mistakes than adults </a:t>
            </a:r>
            <a:r>
              <a:rPr lang="en-US" dirty="0" smtClean="0">
                <a:latin typeface="Times New Roman" pitchFamily="18" charset="0"/>
                <a:cs typeface="Times New Roman" pitchFamily="18" charset="0"/>
              </a:rPr>
              <a:t>because they lack the </a:t>
            </a:r>
            <a:r>
              <a:rPr lang="en-US" b="1" dirty="0" smtClean="0">
                <a:latin typeface="Times New Roman" pitchFamily="18" charset="0"/>
                <a:cs typeface="Times New Roman" pitchFamily="18" charset="0"/>
              </a:rPr>
              <a:t>wisdom</a:t>
            </a:r>
            <a:r>
              <a:rPr lang="en-US" dirty="0" smtClean="0">
                <a:latin typeface="Times New Roman" pitchFamily="18" charset="0"/>
                <a:cs typeface="Times New Roman" pitchFamily="18" charset="0"/>
              </a:rPr>
              <a:t> that come with the </a:t>
            </a:r>
            <a:r>
              <a:rPr lang="en-US" b="1" dirty="0" smtClean="0">
                <a:latin typeface="Times New Roman" pitchFamily="18" charset="0"/>
                <a:cs typeface="Times New Roman" pitchFamily="18" charset="0"/>
              </a:rPr>
              <a:t>experience of life </a:t>
            </a:r>
            <a:r>
              <a:rPr lang="en-US" dirty="0" smtClean="0">
                <a:latin typeface="Times New Roman" pitchFamily="18" charset="0"/>
                <a:cs typeface="Times New Roman" pitchFamily="18" charset="0"/>
              </a:rPr>
              <a:t>and that children should be protected from their </a:t>
            </a:r>
            <a:r>
              <a:rPr lang="en-US" b="1" dirty="0" smtClean="0">
                <a:latin typeface="Times New Roman" pitchFamily="18" charset="0"/>
                <a:cs typeface="Times New Roman" pitchFamily="18" charset="0"/>
              </a:rPr>
              <a:t>own incompetence</a:t>
            </a:r>
            <a:r>
              <a:rPr lang="en-US" dirty="0" smtClean="0">
                <a:latin typeface="Times New Roman" pitchFamily="18" charset="0"/>
                <a:cs typeface="Times New Roman" pitchFamily="18" charset="0"/>
              </a:rPr>
              <a:t>. But to what degree should children be allowed to participate in their own affairs? Locke’s reasoning that individuals are usually </a:t>
            </a:r>
            <a:r>
              <a:rPr lang="en-US" b="1" dirty="0" smtClean="0">
                <a:latin typeface="Times New Roman" pitchFamily="18" charset="0"/>
                <a:cs typeface="Times New Roman" pitchFamily="18" charset="0"/>
              </a:rPr>
              <a:t>the best judges of what is in their interests</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acting on the contrary assumption</a:t>
            </a:r>
            <a:r>
              <a:rPr lang="en-US" dirty="0" smtClean="0">
                <a:latin typeface="Times New Roman" pitchFamily="18" charset="0"/>
                <a:cs typeface="Times New Roman" pitchFamily="18" charset="0"/>
              </a:rPr>
              <a:t>, that </a:t>
            </a:r>
            <a:r>
              <a:rPr lang="en-US" b="1" dirty="0" smtClean="0">
                <a:latin typeface="Times New Roman" pitchFamily="18" charset="0"/>
                <a:cs typeface="Times New Roman" pitchFamily="18" charset="0"/>
              </a:rPr>
              <a:t>others may know better</a:t>
            </a:r>
            <a:r>
              <a:rPr lang="en-US" dirty="0" smtClean="0">
                <a:latin typeface="Times New Roman" pitchFamily="18" charset="0"/>
                <a:cs typeface="Times New Roman" pitchFamily="18" charset="0"/>
              </a:rPr>
              <a:t>, is </a:t>
            </a:r>
            <a:r>
              <a:rPr lang="en-US" b="1" dirty="0" smtClean="0">
                <a:latin typeface="Times New Roman" pitchFamily="18" charset="0"/>
                <a:cs typeface="Times New Roman" pitchFamily="18" charset="0"/>
              </a:rPr>
              <a:t>likely to lead to far worse outcomes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Generally, a balance should be made between </a:t>
            </a:r>
            <a:r>
              <a:rPr lang="en-US" b="1" dirty="0" smtClean="0">
                <a:solidFill>
                  <a:srgbClr val="FF0000"/>
                </a:solidFill>
                <a:latin typeface="Times New Roman" pitchFamily="18" charset="0"/>
                <a:cs typeface="Times New Roman" pitchFamily="18" charset="0"/>
              </a:rPr>
              <a:t>paternalism and autonomy</a:t>
            </a:r>
            <a:r>
              <a:rPr lang="en-US" dirty="0" smtClean="0">
                <a:latin typeface="Times New Roman" pitchFamily="18" charset="0"/>
                <a:cs typeface="Times New Roman" pitchFamily="18" charset="0"/>
              </a:rPr>
              <a:t> by crafting the best interest principle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Times New Roman" pitchFamily="18" charset="0"/>
                <a:cs typeface="Times New Roman" pitchFamily="18" charset="0"/>
              </a:rPr>
              <a:t>What is Protected?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9144000" cy="5562600"/>
          </a:xfrm>
        </p:spPr>
        <p:txBody>
          <a:bodyPr/>
          <a:lstStyle/>
          <a:p>
            <a:pPr marL="342900" lvl="1" indent="-342900">
              <a:buNone/>
            </a:pPr>
            <a:r>
              <a:rPr lang="en-US" sz="3200" b="1" dirty="0" smtClean="0">
                <a:solidFill>
                  <a:srgbClr val="FF0000"/>
                </a:solidFill>
                <a:latin typeface="Times New Roman" pitchFamily="18" charset="0"/>
                <a:cs typeface="Times New Roman" pitchFamily="18" charset="0"/>
              </a:rPr>
              <a:t>Rights vs. Interests </a:t>
            </a:r>
            <a:endParaRPr lang="en-US" sz="2400" b="1" dirty="0" smtClean="0">
              <a:solidFill>
                <a:srgbClr val="FF0000"/>
              </a:solidFill>
              <a:latin typeface="Times New Roman" pitchFamily="18" charset="0"/>
              <a:cs typeface="Times New Roman" pitchFamily="18" charset="0"/>
            </a:endParaRPr>
          </a:p>
          <a:p>
            <a:pPr algn="just"/>
            <a:r>
              <a:rPr lang="en-US" sz="2800" b="1" dirty="0" smtClean="0">
                <a:solidFill>
                  <a:srgbClr val="FF0000"/>
                </a:solidFill>
                <a:latin typeface="Times New Roman" pitchFamily="18" charset="0"/>
                <a:cs typeface="Times New Roman" pitchFamily="18" charset="0"/>
              </a:rPr>
              <a:t>Will/Choice </a:t>
            </a:r>
            <a:r>
              <a:rPr lang="en-US" b="1" dirty="0" smtClean="0">
                <a:solidFill>
                  <a:srgbClr val="FF0000"/>
                </a:solidFill>
                <a:latin typeface="Times New Roman" pitchFamily="18" charset="0"/>
                <a:cs typeface="Times New Roman" pitchFamily="18" charset="0"/>
              </a:rPr>
              <a:t>theory</a:t>
            </a:r>
            <a:r>
              <a:rPr lang="en-US" sz="2000" dirty="0" smtClean="0">
                <a:solidFill>
                  <a:srgbClr val="FF0000"/>
                </a:solidFill>
                <a:latin typeface="Times New Roman" pitchFamily="18" charset="0"/>
                <a:cs typeface="Times New Roman" pitchFamily="18" charset="0"/>
              </a:rPr>
              <a:t>-</a:t>
            </a:r>
            <a:r>
              <a:rPr lang="en-US" dirty="0" smtClean="0">
                <a:solidFill>
                  <a:srgbClr val="FF0000"/>
                </a:solidFill>
                <a:latin typeface="Times New Roman" pitchFamily="18" charset="0"/>
                <a:cs typeface="Times New Roman" pitchFamily="18" charset="0"/>
              </a:rPr>
              <a:t>The </a:t>
            </a:r>
            <a:r>
              <a:rPr lang="en-US" sz="2400" dirty="0" smtClean="0">
                <a:latin typeface="Times New Roman" pitchFamily="18" charset="0"/>
                <a:cs typeface="Times New Roman" pitchFamily="18" charset="0"/>
              </a:rPr>
              <a:t>will theory is subscribed to by those who view the </a:t>
            </a:r>
            <a:r>
              <a:rPr lang="en-US" sz="2400" b="1" dirty="0" smtClean="0">
                <a:latin typeface="Times New Roman" pitchFamily="18" charset="0"/>
                <a:cs typeface="Times New Roman" pitchFamily="18" charset="0"/>
              </a:rPr>
              <a:t>purpose of law as being to grant the widest possible means of self-expression </a:t>
            </a:r>
            <a:r>
              <a:rPr lang="en-US" sz="2400" dirty="0" smtClean="0">
                <a:latin typeface="Times New Roman" pitchFamily="18" charset="0"/>
                <a:cs typeface="Times New Roman" pitchFamily="18" charset="0"/>
              </a:rPr>
              <a:t>to the individual. Individual </a:t>
            </a:r>
            <a:r>
              <a:rPr lang="en-US" sz="2400" b="1" dirty="0" smtClean="0">
                <a:latin typeface="Times New Roman" pitchFamily="18" charset="0"/>
                <a:cs typeface="Times New Roman" pitchFamily="18" charset="0"/>
              </a:rPr>
              <a:t>discretion</a:t>
            </a:r>
            <a:r>
              <a:rPr lang="en-US" sz="2400" dirty="0" smtClean="0">
                <a:latin typeface="Times New Roman" pitchFamily="18" charset="0"/>
                <a:cs typeface="Times New Roman" pitchFamily="18" charset="0"/>
              </a:rPr>
              <a:t> is the single most distinctive feature of the concept of rights in this view</a:t>
            </a:r>
            <a:r>
              <a:rPr lang="en-US" sz="2400" dirty="0" smtClean="0"/>
              <a:t>.</a:t>
            </a:r>
            <a:endParaRPr lang="en-US" sz="9600" dirty="0" smtClean="0">
              <a:latin typeface="Times New Roman" pitchFamily="18" charset="0"/>
              <a:cs typeface="Times New Roman" pitchFamily="18" charset="0"/>
            </a:endParaRPr>
          </a:p>
          <a:p>
            <a:pPr algn="just"/>
            <a:r>
              <a:rPr lang="en-US" b="1" dirty="0" smtClean="0">
                <a:solidFill>
                  <a:srgbClr val="FF0000"/>
                </a:solidFill>
                <a:latin typeface="Times New Roman" pitchFamily="18" charset="0"/>
                <a:cs typeface="Times New Roman" pitchFamily="18" charset="0"/>
              </a:rPr>
              <a:t>Right/benefit theory-</a:t>
            </a:r>
            <a:r>
              <a:rPr lang="en-US" dirty="0" smtClean="0">
                <a:solidFill>
                  <a:srgbClr val="FF0000"/>
                </a:solidFill>
                <a:latin typeface="Times New Roman" pitchFamily="18" charset="0"/>
                <a:cs typeface="Times New Roman" pitchFamily="18" charset="0"/>
              </a:rPr>
              <a:t>argues </a:t>
            </a:r>
            <a:r>
              <a:rPr lang="en-US" dirty="0" smtClean="0">
                <a:latin typeface="Times New Roman" pitchFamily="18" charset="0"/>
                <a:cs typeface="Times New Roman" pitchFamily="18" charset="0"/>
              </a:rPr>
              <a:t>that the purpose of rights is not to protect individual assertion but certain </a:t>
            </a:r>
            <a:r>
              <a:rPr lang="en-US" b="1" dirty="0" smtClean="0">
                <a:latin typeface="Times New Roman" pitchFamily="18" charset="0"/>
                <a:cs typeface="Times New Roman" pitchFamily="18" charset="0"/>
              </a:rPr>
              <a:t>interests</a:t>
            </a:r>
            <a:r>
              <a:rPr lang="en-US" dirty="0" smtClean="0">
                <a:latin typeface="Times New Roman" pitchFamily="18" charset="0"/>
                <a:cs typeface="Times New Roman" pitchFamily="18" charset="0"/>
              </a:rPr>
              <a:t>.-</a:t>
            </a:r>
            <a:r>
              <a:rPr lang="en-US" sz="3000" dirty="0" smtClean="0">
                <a:solidFill>
                  <a:srgbClr val="FF0000"/>
                </a:solidFill>
                <a:latin typeface="Times New Roman" pitchFamily="18" charset="0"/>
                <a:cs typeface="Times New Roman" pitchFamily="18" charset="0"/>
              </a:rPr>
              <a:t>Rights</a:t>
            </a:r>
            <a:r>
              <a:rPr lang="en-US" sz="3000" dirty="0" smtClean="0">
                <a:latin typeface="Times New Roman" pitchFamily="18" charset="0"/>
                <a:cs typeface="Times New Roman" pitchFamily="18" charset="0"/>
              </a:rPr>
              <a:t> are said to be </a:t>
            </a:r>
            <a:r>
              <a:rPr lang="en-US" sz="3000" b="1" dirty="0" smtClean="0">
                <a:latin typeface="Times New Roman" pitchFamily="18" charset="0"/>
                <a:cs typeface="Times New Roman" pitchFamily="18" charset="0"/>
              </a:rPr>
              <a:t>benefits secured for persons by rules regulating relationships.</a:t>
            </a:r>
            <a:endParaRPr lang="en-US" b="1" dirty="0" smtClean="0"/>
          </a:p>
          <a:p>
            <a:endParaRPr 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dirty="0" smtClean="0">
                <a:latin typeface="Times New Roman" pitchFamily="18" charset="0"/>
                <a:cs typeface="Times New Roman" pitchFamily="18" charset="0"/>
              </a:rPr>
              <a:t>Historical Antecedent of Child Rights </a:t>
            </a:r>
            <a:endParaRPr lang="en-US" dirty="0"/>
          </a:p>
        </p:txBody>
      </p:sp>
      <p:sp>
        <p:nvSpPr>
          <p:cNvPr id="3" name="Content Placeholder 2"/>
          <p:cNvSpPr>
            <a:spLocks noGrp="1"/>
          </p:cNvSpPr>
          <p:nvPr>
            <p:ph idx="1"/>
          </p:nvPr>
        </p:nvSpPr>
        <p:spPr>
          <a:xfrm>
            <a:off x="0" y="838200"/>
            <a:ext cx="8991600" cy="6019800"/>
          </a:xfrm>
        </p:spPr>
        <p:txBody>
          <a:bodyPr>
            <a:normAutofit fontScale="85000" lnSpcReduction="10000"/>
          </a:bodyPr>
          <a:lstStyle/>
          <a:p>
            <a:pPr algn="just"/>
            <a:r>
              <a:rPr lang="en-US" dirty="0" smtClean="0">
                <a:latin typeface="Times New Roman" pitchFamily="18" charset="0"/>
                <a:cs typeface="Times New Roman" pitchFamily="18" charset="0"/>
              </a:rPr>
              <a:t>The </a:t>
            </a:r>
            <a:r>
              <a:rPr lang="en-US" b="1" dirty="0" smtClean="0">
                <a:solidFill>
                  <a:srgbClr val="FF0000"/>
                </a:solidFill>
                <a:latin typeface="Times New Roman" pitchFamily="18" charset="0"/>
                <a:cs typeface="Times New Roman" pitchFamily="18" charset="0"/>
              </a:rPr>
              <a:t>Ten Commandments</a:t>
            </a:r>
            <a:r>
              <a:rPr lang="en-US" dirty="0" smtClean="0">
                <a:solidFill>
                  <a:srgbClr val="FF0000"/>
                </a:solidFill>
                <a:latin typeface="Times New Roman" pitchFamily="18" charset="0"/>
                <a:cs typeface="Times New Roman" pitchFamily="18" charset="0"/>
              </a:rPr>
              <a:t>, arguably the </a:t>
            </a:r>
            <a:r>
              <a:rPr lang="en-US" b="1" dirty="0" smtClean="0">
                <a:solidFill>
                  <a:srgbClr val="FF0000"/>
                </a:solidFill>
                <a:latin typeface="Times New Roman" pitchFamily="18" charset="0"/>
                <a:cs typeface="Times New Roman" pitchFamily="18" charset="0"/>
              </a:rPr>
              <a:t>most influential of all legal codes contains a clear normative pronouncement on parent-child relations but it is in terms of respect for parents, and is silent on the obligation of parents to love and nurture their children.</a:t>
            </a:r>
          </a:p>
          <a:p>
            <a:pPr algn="just"/>
            <a:r>
              <a:rPr lang="en-US" dirty="0" smtClean="0">
                <a:latin typeface="Times New Roman" pitchFamily="18" charset="0"/>
                <a:cs typeface="Times New Roman" pitchFamily="18" charset="0"/>
              </a:rPr>
              <a:t>It was not until the </a:t>
            </a:r>
            <a:r>
              <a:rPr lang="en-US" b="1" dirty="0" smtClean="0">
                <a:latin typeface="Times New Roman" pitchFamily="18" charset="0"/>
                <a:cs typeface="Times New Roman" pitchFamily="18" charset="0"/>
              </a:rPr>
              <a:t>last half of the twentieth century</a:t>
            </a:r>
            <a:r>
              <a:rPr lang="en-US" dirty="0" smtClean="0">
                <a:latin typeface="Times New Roman" pitchFamily="18" charset="0"/>
                <a:cs typeface="Times New Roman" pitchFamily="18" charset="0"/>
              </a:rPr>
              <a:t>, however, that the child was </a:t>
            </a:r>
            <a:r>
              <a:rPr lang="en-US" b="1" dirty="0" smtClean="0">
                <a:latin typeface="Times New Roman" pitchFamily="18" charset="0"/>
                <a:cs typeface="Times New Roman" pitchFamily="18" charset="0"/>
              </a:rPr>
              <a:t>accorded status as a person under the law</a:t>
            </a:r>
            <a:r>
              <a:rPr lang="en-US" dirty="0" smtClean="0">
                <a:latin typeface="Times New Roman" pitchFamily="18" charset="0"/>
                <a:cs typeface="Times New Roman" pitchFamily="18" charset="0"/>
              </a:rPr>
              <a:t>. This century also witnessed the expansion of the </a:t>
            </a:r>
            <a:r>
              <a:rPr lang="en-US" b="1" dirty="0" smtClean="0">
                <a:latin typeface="Times New Roman" pitchFamily="18" charset="0"/>
                <a:cs typeface="Times New Roman" pitchFamily="18" charset="0"/>
              </a:rPr>
              <a:t>human rights movement to include the rights of the child.</a:t>
            </a:r>
            <a:r>
              <a:rPr lang="en-US" dirty="0" smtClean="0">
                <a:latin typeface="Times New Roman" pitchFamily="18" charset="0"/>
                <a:cs typeface="Times New Roman" pitchFamily="18" charset="0"/>
              </a:rPr>
              <a:t> The sympathy felt by England's </a:t>
            </a:r>
            <a:r>
              <a:rPr lang="en-US" b="1" dirty="0" err="1" smtClean="0">
                <a:latin typeface="Times New Roman" pitchFamily="18" charset="0"/>
                <a:cs typeface="Times New Roman" pitchFamily="18" charset="0"/>
              </a:rPr>
              <a:t>Eglantyne</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Jebb</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for these defenseless victims of World War I led her to start a campaign for better protection of the world's children</a:t>
            </a:r>
            <a:r>
              <a:rPr lang="en-US" b="1" dirty="0" smtClean="0">
                <a:latin typeface="Times New Roman" pitchFamily="18" charset="0"/>
                <a:cs typeface="Times New Roman" pitchFamily="18" charset="0"/>
              </a:rPr>
              <a:t>. Save the Children International </a:t>
            </a:r>
            <a:r>
              <a:rPr lang="en-US" dirty="0" smtClean="0">
                <a:latin typeface="Times New Roman" pitchFamily="18" charset="0"/>
                <a:cs typeface="Times New Roman" pitchFamily="18" charset="0"/>
              </a:rPr>
              <a:t> in 1923 which is a basis for the </a:t>
            </a:r>
            <a:r>
              <a:rPr lang="en-US" b="1" dirty="0" smtClean="0">
                <a:latin typeface="Times New Roman" pitchFamily="18" charset="0"/>
                <a:cs typeface="Times New Roman" pitchFamily="18" charset="0"/>
              </a:rPr>
              <a:t>UN Convention on the Rights of the Child 1990</a:t>
            </a:r>
            <a:r>
              <a:rPr lang="en-US" dirty="0" smtClean="0">
                <a:latin typeface="Times New Roman" pitchFamily="18" charset="0"/>
                <a:cs typeface="Times New Roman" pitchFamily="18" charset="0"/>
              </a:rPr>
              <a:t>.</a:t>
            </a:r>
            <a:endParaRPr lang="en-US" b="1" dirty="0" smtClean="0">
              <a:solidFill>
                <a:srgbClr val="FF0000"/>
              </a:solidFill>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dirty="0" smtClean="0">
                <a:latin typeface="Times New Roman" pitchFamily="18" charset="0"/>
                <a:cs typeface="Times New Roman" pitchFamily="18" charset="0"/>
              </a:rPr>
              <a:t>Children in the World Wars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609600"/>
            <a:ext cx="9144000" cy="6248400"/>
          </a:xfrm>
        </p:spPr>
        <p:txBody>
          <a:bodyPr>
            <a:normAutofit fontScale="92500" lnSpcReduction="20000"/>
          </a:bodyPr>
          <a:lstStyle/>
          <a:p>
            <a:pPr lvl="1" algn="just">
              <a:buNone/>
            </a:pPr>
            <a:r>
              <a:rPr lang="en-US" b="1" dirty="0" smtClean="0">
                <a:latin typeface="Times New Roman" pitchFamily="18" charset="0"/>
                <a:cs typeface="Times New Roman" pitchFamily="18" charset="0"/>
              </a:rPr>
              <a:t>Children were most vulnerable than adults in the world wars. The follow was a fact children painfully experienced in the 1990s</a:t>
            </a:r>
          </a:p>
          <a:p>
            <a:pPr lvl="1" algn="just"/>
            <a:r>
              <a:rPr lang="en-US" b="1" dirty="0" smtClean="0">
                <a:latin typeface="Times New Roman" pitchFamily="18" charset="0"/>
                <a:cs typeface="Times New Roman" pitchFamily="18" charset="0"/>
              </a:rPr>
              <a:t>100 million abandoned children were driven to resort to hard labor, petty crime, prostitution, or begging in order to survive;</a:t>
            </a:r>
          </a:p>
          <a:p>
            <a:pPr lvl="1" algn="just"/>
            <a:r>
              <a:rPr lang="en-US" b="1" dirty="0" smtClean="0">
                <a:latin typeface="Times New Roman" pitchFamily="18" charset="0"/>
                <a:cs typeface="Times New Roman" pitchFamily="18" charset="0"/>
              </a:rPr>
              <a:t>50 million children worked under unsafe or unhealthy conditions;</a:t>
            </a:r>
          </a:p>
          <a:p>
            <a:pPr lvl="1" algn="just"/>
            <a:r>
              <a:rPr lang="en-US" b="1" dirty="0" smtClean="0">
                <a:latin typeface="Times New Roman" pitchFamily="18" charset="0"/>
                <a:cs typeface="Times New Roman" pitchFamily="18" charset="0"/>
              </a:rPr>
              <a:t>120 million children 6-11 years of age were not in school;</a:t>
            </a:r>
          </a:p>
          <a:p>
            <a:pPr lvl="1" algn="just"/>
            <a:r>
              <a:rPr lang="en-US" b="1" dirty="0" smtClean="0">
                <a:latin typeface="Times New Roman" pitchFamily="18" charset="0"/>
                <a:cs typeface="Times New Roman" pitchFamily="18" charset="0"/>
              </a:rPr>
              <a:t>3.5 million children died annually from preventable or curable diseases;</a:t>
            </a:r>
          </a:p>
          <a:p>
            <a:pPr lvl="1" algn="just"/>
            <a:r>
              <a:rPr lang="en-US" b="1" dirty="0" smtClean="0">
                <a:latin typeface="Times New Roman" pitchFamily="18" charset="0"/>
                <a:cs typeface="Times New Roman" pitchFamily="18" charset="0"/>
              </a:rPr>
              <a:t>155 million children under five years of age lived in absolute poverty; and</a:t>
            </a:r>
          </a:p>
          <a:p>
            <a:pPr lvl="1" algn="just"/>
            <a:r>
              <a:rPr lang="en-US" b="1" dirty="0" smtClean="0">
                <a:latin typeface="Times New Roman" pitchFamily="18" charset="0"/>
                <a:cs typeface="Times New Roman" pitchFamily="18" charset="0"/>
              </a:rPr>
              <a:t>millions, including many in wealthier countries, were maltreated or neglected, sexually exploited, or victims of drug abuse</a:t>
            </a:r>
            <a:r>
              <a:rPr lang="en-US" dirty="0" smtClean="0"/>
              <a:t>.</a:t>
            </a:r>
          </a:p>
          <a:p>
            <a:endParaRPr lang="en-US" dirty="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b="1" dirty="0" err="1" smtClean="0">
                <a:latin typeface="Times New Roman" pitchFamily="18" charset="0"/>
                <a:cs typeface="Times New Roman" pitchFamily="18" charset="0"/>
              </a:rPr>
              <a:t>Cont’ed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1371600"/>
            <a:ext cx="9144000" cy="5486400"/>
          </a:xfrm>
        </p:spPr>
        <p:txBody>
          <a:bodyPr>
            <a:normAutofit fontScale="92500" lnSpcReduction="10000"/>
          </a:bodyPr>
          <a:lstStyle/>
          <a:p>
            <a:r>
              <a:rPr lang="en-US" i="1" dirty="0" smtClean="0">
                <a:solidFill>
                  <a:srgbClr val="FF0000"/>
                </a:solidFill>
                <a:latin typeface="Times New Roman" pitchFamily="18" charset="0"/>
                <a:cs typeface="Times New Roman" pitchFamily="18" charset="0"/>
              </a:rPr>
              <a:t>The United Nations Declaration on the Rights of the Child-1959</a:t>
            </a:r>
          </a:p>
          <a:p>
            <a:pPr lvl="1"/>
            <a:r>
              <a:rPr lang="en-US" b="1" dirty="0" smtClean="0">
                <a:solidFill>
                  <a:srgbClr val="FF0000"/>
                </a:solidFill>
                <a:latin typeface="Times New Roman" pitchFamily="18" charset="0"/>
                <a:cs typeface="Times New Roman" pitchFamily="18" charset="0"/>
              </a:rPr>
              <a:t>Principle 2 </a:t>
            </a:r>
          </a:p>
          <a:p>
            <a:pPr lvl="1" algn="just"/>
            <a:r>
              <a:rPr lang="en-US" dirty="0" smtClean="0">
                <a:latin typeface="Times New Roman" pitchFamily="18" charset="0"/>
                <a:cs typeface="Times New Roman" pitchFamily="18" charset="0"/>
              </a:rPr>
              <a:t>States ‘</a:t>
            </a:r>
            <a:r>
              <a:rPr lang="en-US" dirty="0" smtClean="0">
                <a:solidFill>
                  <a:srgbClr val="FF0000"/>
                </a:solidFill>
                <a:latin typeface="Times New Roman" pitchFamily="18" charset="0"/>
                <a:cs typeface="Times New Roman" pitchFamily="18" charset="0"/>
              </a:rPr>
              <a:t>The child shall enjoy special protection</a:t>
            </a:r>
            <a:r>
              <a:rPr lang="en-US" dirty="0" smtClean="0">
                <a:latin typeface="Times New Roman" pitchFamily="18" charset="0"/>
                <a:cs typeface="Times New Roman" pitchFamily="18" charset="0"/>
              </a:rPr>
              <a:t>, and shall be given opportunities and facilities, by law and by other means, to enable him to </a:t>
            </a:r>
            <a:r>
              <a:rPr lang="en-US" dirty="0" smtClean="0">
                <a:solidFill>
                  <a:srgbClr val="FF0000"/>
                </a:solidFill>
                <a:latin typeface="Times New Roman" pitchFamily="18" charset="0"/>
                <a:cs typeface="Times New Roman" pitchFamily="18" charset="0"/>
              </a:rPr>
              <a:t>develop</a:t>
            </a:r>
            <a:r>
              <a:rPr lang="en-US" dirty="0" smtClean="0">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physically, mentally, morally, spiritually and socially in a healthy and normal manner </a:t>
            </a:r>
            <a:r>
              <a:rPr lang="en-US" dirty="0" smtClean="0">
                <a:latin typeface="Times New Roman" pitchFamily="18" charset="0"/>
                <a:cs typeface="Times New Roman" pitchFamily="18" charset="0"/>
              </a:rPr>
              <a:t>and in conditions of freedom and dignity. In the enactment of laws for this purpose, the </a:t>
            </a:r>
            <a:r>
              <a:rPr lang="en-US" b="1" dirty="0" smtClean="0">
                <a:latin typeface="Times New Roman" pitchFamily="18" charset="0"/>
                <a:cs typeface="Times New Roman" pitchFamily="18" charset="0"/>
              </a:rPr>
              <a:t>best interests of the child shall be </a:t>
            </a:r>
            <a:r>
              <a:rPr lang="en-US" b="1" dirty="0" smtClean="0">
                <a:solidFill>
                  <a:srgbClr val="FF0000"/>
                </a:solidFill>
                <a:latin typeface="Times New Roman" pitchFamily="18" charset="0"/>
                <a:cs typeface="Times New Roman" pitchFamily="18" charset="0"/>
              </a:rPr>
              <a:t>the paramount </a:t>
            </a:r>
            <a:r>
              <a:rPr lang="en-US" b="1" dirty="0" smtClean="0">
                <a:latin typeface="Times New Roman" pitchFamily="18" charset="0"/>
                <a:cs typeface="Times New Roman" pitchFamily="18" charset="0"/>
              </a:rPr>
              <a:t>consideration. </a:t>
            </a:r>
            <a:r>
              <a:rPr lang="en-US" b="1" dirty="0" smtClean="0">
                <a:solidFill>
                  <a:srgbClr val="FF0000"/>
                </a:solidFill>
                <a:latin typeface="Times New Roman" pitchFamily="18" charset="0"/>
                <a:cs typeface="Times New Roman" pitchFamily="18" charset="0"/>
              </a:rPr>
              <a:t>This was for the 1</a:t>
            </a:r>
            <a:r>
              <a:rPr lang="en-US" b="1" baseline="30000" dirty="0" smtClean="0">
                <a:solidFill>
                  <a:srgbClr val="FF0000"/>
                </a:solidFill>
                <a:latin typeface="Times New Roman" pitchFamily="18" charset="0"/>
                <a:cs typeface="Times New Roman" pitchFamily="18" charset="0"/>
              </a:rPr>
              <a:t>st</a:t>
            </a:r>
            <a:r>
              <a:rPr lang="en-US" b="1" dirty="0" smtClean="0">
                <a:solidFill>
                  <a:srgbClr val="FF0000"/>
                </a:solidFill>
                <a:latin typeface="Times New Roman" pitchFamily="18" charset="0"/>
                <a:cs typeface="Times New Roman" pitchFamily="18" charset="0"/>
              </a:rPr>
              <a:t> time </a:t>
            </a:r>
            <a:r>
              <a:rPr lang="en-US" b="1" dirty="0" smtClean="0">
                <a:latin typeface="Times New Roman" pitchFamily="18" charset="0"/>
                <a:cs typeface="Times New Roman" pitchFamily="18" charset="0"/>
              </a:rPr>
              <a:t>where specific mention was made to BIP in the International Arena. </a:t>
            </a:r>
            <a:r>
              <a:rPr lang="en-US" b="1" dirty="0" smtClean="0">
                <a:solidFill>
                  <a:srgbClr val="FF0000"/>
                </a:solidFill>
                <a:latin typeface="Times New Roman" pitchFamily="18" charset="0"/>
                <a:cs typeface="Times New Roman" pitchFamily="18" charset="0"/>
              </a:rPr>
              <a:t>Principle 7 </a:t>
            </a:r>
            <a:r>
              <a:rPr lang="en-US" b="1" dirty="0" smtClean="0">
                <a:latin typeface="Times New Roman" pitchFamily="18" charset="0"/>
                <a:cs typeface="Times New Roman" pitchFamily="18" charset="0"/>
              </a:rPr>
              <a:t>on the right to education also embraced the BIP.</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b="1" dirty="0" smtClean="0">
                <a:latin typeface="Arial Narrow" pitchFamily="34" charset="0"/>
              </a:rPr>
              <a:t>Significance of the UN-CRC</a:t>
            </a:r>
            <a:endParaRPr lang="en-US" b="1"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70000" lnSpcReduction="20000"/>
          </a:bodyPr>
          <a:lstStyle/>
          <a:p>
            <a:pPr algn="just"/>
            <a:r>
              <a:rPr lang="en-US" b="1" dirty="0" smtClean="0">
                <a:latin typeface="Arial Narrow" pitchFamily="34" charset="0"/>
              </a:rPr>
              <a:t>The Identity of the Convention’s Subject</a:t>
            </a:r>
          </a:p>
          <a:p>
            <a:pPr lvl="1" algn="just"/>
            <a:r>
              <a:rPr lang="en-US" sz="3400" dirty="0" smtClean="0">
                <a:latin typeface="Arial Narrow" pitchFamily="34" charset="0"/>
              </a:rPr>
              <a:t>Child is considered as possessing rights and enable to participate in affairs affecting her interest(Judicial, administrative or any other). Hence, a child is an independent person from parents. The Convention transforms a child from passive object of law to active subject of law. Articles 1, 12, 42 and 3(1) of the UN-CRC</a:t>
            </a:r>
          </a:p>
          <a:p>
            <a:pPr lvl="1" algn="just">
              <a:buNone/>
            </a:pPr>
            <a:endParaRPr lang="en-US" dirty="0" smtClean="0">
              <a:latin typeface="Arial Narrow" pitchFamily="34" charset="0"/>
            </a:endParaRPr>
          </a:p>
          <a:p>
            <a:pPr algn="just"/>
            <a:r>
              <a:rPr lang="en-US" b="1" dirty="0" smtClean="0">
                <a:latin typeface="Arial Narrow" pitchFamily="34" charset="0"/>
              </a:rPr>
              <a:t>The Scope and Content of the Rights Set Forth in the Convention </a:t>
            </a:r>
          </a:p>
          <a:p>
            <a:pPr lvl="1" algn="just"/>
            <a:r>
              <a:rPr lang="en-US" sz="3400" dirty="0" smtClean="0">
                <a:latin typeface="Arial Narrow" pitchFamily="34" charset="0"/>
              </a:rPr>
              <a:t>The Convention is both an innovator and consolidator of existing norms. It consolidate by bringing together “in one up to date global perspective the rights of the child expressed in 80 texts that deal directly or indirectly with the rights of the child(ILO for minimum Age, working conditions, child </a:t>
            </a:r>
            <a:r>
              <a:rPr lang="en-US" sz="3400" dirty="0" err="1" smtClean="0">
                <a:latin typeface="Arial Narrow" pitchFamily="34" charset="0"/>
              </a:rPr>
              <a:t>labour</a:t>
            </a:r>
            <a:r>
              <a:rPr lang="en-US" sz="3400" dirty="0" smtClean="0">
                <a:latin typeface="Arial Narrow" pitchFamily="34" charset="0"/>
              </a:rPr>
              <a:t> and exploitation, traffic in children and on slavery; on refugees and stateless persons; on the rules of war; against discrimination in education; on child custody, abduction, support, illegitimacy, and adoption; and on consent to marriage, minimum age for marriage, and registration of marriages.); it puts the whole gamut of HRs(both Civil, political and socio-economic rights- Considering the indivisibility, interdependence and interrelatedness of HRs in the Vienna Declaration and Program of Action 1993</a:t>
            </a:r>
            <a:r>
              <a:rPr lang="en-US" sz="3400" b="1" dirty="0" smtClean="0">
                <a:latin typeface="Arial Narrow" pitchFamily="34" charset="0"/>
              </a:rPr>
              <a:t>). </a:t>
            </a:r>
          </a:p>
          <a:p>
            <a:pPr lvl="1" algn="just"/>
            <a:endParaRPr lang="en-US" sz="3400" b="1" dirty="0" smtClean="0">
              <a:latin typeface="Arial Narrow" pitchFamily="34" charset="0"/>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lstStyle/>
          <a:p>
            <a:pPr marL="342900" lvl="1" indent="-342900" algn="just">
              <a:buFont typeface="Arial" pitchFamily="34" charset="0"/>
              <a:buChar char="•"/>
            </a:pPr>
            <a:r>
              <a:rPr lang="en-US" sz="3400" dirty="0" smtClean="0">
                <a:latin typeface="Arial Narrow" pitchFamily="34" charset="0"/>
              </a:rPr>
              <a:t>It </a:t>
            </a:r>
            <a:r>
              <a:rPr lang="en-US" sz="3400" b="1" dirty="0" smtClean="0">
                <a:latin typeface="Arial Narrow" pitchFamily="34" charset="0"/>
              </a:rPr>
              <a:t>innovates</a:t>
            </a:r>
            <a:r>
              <a:rPr lang="en-US" sz="3400" dirty="0" smtClean="0">
                <a:latin typeface="Arial Narrow" pitchFamily="34" charset="0"/>
              </a:rPr>
              <a:t> by going beyond </a:t>
            </a:r>
            <a:r>
              <a:rPr lang="en-US" sz="3400" b="1" dirty="0" smtClean="0">
                <a:latin typeface="Arial Narrow" pitchFamily="34" charset="0"/>
              </a:rPr>
              <a:t>existing standards and practices</a:t>
            </a:r>
            <a:r>
              <a:rPr lang="en-US" sz="3400" dirty="0" smtClean="0">
                <a:latin typeface="Arial Narrow" pitchFamily="34" charset="0"/>
              </a:rPr>
              <a:t> – the child’s right to live and develop, to name and nationality from birth; in adoption proceedings; if disabled, a refugee, or in trouble with the law; to protection from all forms of exploitation; as a member of a minority or indigenous group; and in relation to the problems of drug abuse and child neglect</a:t>
            </a:r>
          </a:p>
          <a:p>
            <a:endParaRPr 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85000" lnSpcReduction="10000"/>
          </a:bodyPr>
          <a:lstStyle/>
          <a:p>
            <a:pPr algn="just"/>
            <a:r>
              <a:rPr lang="en-US" b="1" dirty="0" smtClean="0">
                <a:latin typeface="Arial Narrow" pitchFamily="34" charset="0"/>
              </a:rPr>
              <a:t>The Convention’s Potential Impact on the World’s Economic and Social Life </a:t>
            </a:r>
          </a:p>
          <a:p>
            <a:pPr lvl="1" algn="just"/>
            <a:r>
              <a:rPr lang="en-US" b="1" dirty="0" smtClean="0">
                <a:latin typeface="Arial Narrow" pitchFamily="34" charset="0"/>
              </a:rPr>
              <a:t>i</a:t>
            </a:r>
            <a:r>
              <a:rPr lang="en-US" dirty="0" smtClean="0">
                <a:latin typeface="Arial Narrow" pitchFamily="34" charset="0"/>
              </a:rPr>
              <a:t>n terms of the </a:t>
            </a:r>
            <a:r>
              <a:rPr lang="en-US" b="1" dirty="0" smtClean="0">
                <a:latin typeface="Arial Narrow" pitchFamily="34" charset="0"/>
              </a:rPr>
              <a:t>present and future economic and social health of the world society. From Utilitarian stand point, </a:t>
            </a:r>
            <a:r>
              <a:rPr lang="en-US" dirty="0" smtClean="0">
                <a:latin typeface="Arial Narrow" pitchFamily="34" charset="0"/>
              </a:rPr>
              <a:t> it is today's children who will, in the years ahead, make the decisions and perform the services necessary to </a:t>
            </a:r>
            <a:r>
              <a:rPr lang="en-US" b="1" dirty="0" smtClean="0">
                <a:latin typeface="Arial Narrow" pitchFamily="34" charset="0"/>
              </a:rPr>
              <a:t>lift the level of life for all humankind</a:t>
            </a:r>
            <a:r>
              <a:rPr lang="en-US" dirty="0" smtClean="0">
                <a:latin typeface="Arial Narrow" pitchFamily="34" charset="0"/>
              </a:rPr>
              <a:t>. </a:t>
            </a:r>
            <a:r>
              <a:rPr lang="en-US" b="1" dirty="0" smtClean="0">
                <a:latin typeface="Arial Narrow" pitchFamily="34" charset="0"/>
              </a:rPr>
              <a:t>Karl-Eric </a:t>
            </a:r>
            <a:r>
              <a:rPr lang="en-US" b="1" dirty="0" err="1" smtClean="0">
                <a:latin typeface="Arial Narrow" pitchFamily="34" charset="0"/>
              </a:rPr>
              <a:t>Knutsson</a:t>
            </a:r>
            <a:r>
              <a:rPr lang="en-US" dirty="0" smtClean="0">
                <a:latin typeface="Arial Narrow" pitchFamily="34" charset="0"/>
              </a:rPr>
              <a:t>: "Protecting the health and education of today's children is the </a:t>
            </a:r>
            <a:r>
              <a:rPr lang="en-US" b="1" dirty="0" smtClean="0">
                <a:latin typeface="Arial Narrow" pitchFamily="34" charset="0"/>
              </a:rPr>
              <a:t>most basic and wisest of all investments.</a:t>
            </a:r>
          </a:p>
          <a:p>
            <a:pPr lvl="1" algn="just"/>
            <a:r>
              <a:rPr lang="en-US" b="1" dirty="0" smtClean="0">
                <a:latin typeface="Arial Narrow" pitchFamily="34" charset="0"/>
              </a:rPr>
              <a:t>The Right to Education - the World Bank</a:t>
            </a:r>
            <a:r>
              <a:rPr lang="en-US" dirty="0" smtClean="0">
                <a:latin typeface="Arial Narrow" pitchFamily="34" charset="0"/>
              </a:rPr>
              <a:t>. "The educated child," in the opinion of this institution, "</a:t>
            </a:r>
            <a:r>
              <a:rPr lang="en-US" b="1" dirty="0" smtClean="0">
                <a:latin typeface="Arial Narrow" pitchFamily="34" charset="0"/>
              </a:rPr>
              <a:t>would make a greater contribution to the world economy, increasing economic production to the benefit of all.</a:t>
            </a:r>
            <a:r>
              <a:rPr lang="en-US" dirty="0" smtClean="0">
                <a:latin typeface="Arial Narrow" pitchFamily="34" charset="0"/>
              </a:rPr>
              <a:t>" More specifically, the bank has estimated that "an increase of one year in the average years of education may lead to a 3% increase in GDP [gross domestic product]. The convention's rights are, thus, linked significantly with </a:t>
            </a:r>
            <a:r>
              <a:rPr lang="en-US" b="1" dirty="0" smtClean="0">
                <a:latin typeface="Arial Narrow" pitchFamily="34" charset="0"/>
              </a:rPr>
              <a:t>economic and social problems and needs. International Cooperation in the final paragraph of the Convention cum Art. 4</a:t>
            </a:r>
          </a:p>
          <a:p>
            <a:pPr lvl="1" algn="just"/>
            <a:endParaRPr lang="en-US" b="1"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b="1" dirty="0" err="1" smtClean="0">
                <a:latin typeface="Arial Narrow" pitchFamily="34" charset="0"/>
              </a:rPr>
              <a:t>Cont’ed</a:t>
            </a:r>
            <a:r>
              <a:rPr lang="en-US" dirty="0" smtClean="0"/>
              <a:t> </a:t>
            </a:r>
            <a:endParaRPr lang="en-US" dirty="0"/>
          </a:p>
        </p:txBody>
      </p:sp>
      <p:sp>
        <p:nvSpPr>
          <p:cNvPr id="3" name="Content Placeholder 2"/>
          <p:cNvSpPr>
            <a:spLocks noGrp="1"/>
          </p:cNvSpPr>
          <p:nvPr>
            <p:ph idx="1"/>
          </p:nvPr>
        </p:nvSpPr>
        <p:spPr>
          <a:xfrm>
            <a:off x="0" y="838200"/>
            <a:ext cx="9144000" cy="6019800"/>
          </a:xfrm>
        </p:spPr>
        <p:txBody>
          <a:bodyPr>
            <a:normAutofit/>
          </a:bodyPr>
          <a:lstStyle/>
          <a:p>
            <a:pPr algn="just"/>
            <a:r>
              <a:rPr lang="en-US" b="1" dirty="0" smtClean="0">
                <a:latin typeface="Arial Narrow" pitchFamily="34" charset="0"/>
              </a:rPr>
              <a:t>The Convention's Potential Impact on the Domestic Life of Its Parties: Their Laws, Procedures, Practices, and Institutions</a:t>
            </a:r>
          </a:p>
          <a:p>
            <a:pPr lvl="1" algn="just"/>
            <a:r>
              <a:rPr lang="en-US" dirty="0" smtClean="0">
                <a:latin typeface="Arial Narrow" pitchFamily="34" charset="0"/>
              </a:rPr>
              <a:t>Process of incorporation, the rights set forth in the convention can be cited in the courts of these nations and, in general, find enforcement through their domestic procedures. Art. 9(4) of the FDRE Constitution cum Art. 13(3)for better standards - Obligations of a ratifying country –Core Minimum Obligations –</a:t>
            </a:r>
            <a:r>
              <a:rPr lang="en-US" b="1" dirty="0" smtClean="0">
                <a:latin typeface="Arial Narrow" pitchFamily="34" charset="0"/>
              </a:rPr>
              <a:t> Pressures </a:t>
            </a:r>
            <a:r>
              <a:rPr lang="en-US" dirty="0" smtClean="0">
                <a:latin typeface="Arial Narrow" pitchFamily="34" charset="0"/>
              </a:rPr>
              <a:t>will be created at home to force the government to respect the binding laws of the nation including HRs. NGOs and Civil Society Organizations.</a:t>
            </a:r>
          </a:p>
          <a:p>
            <a:pPr lvl="1" algn="just"/>
            <a:r>
              <a:rPr lang="en-US" dirty="0" smtClean="0">
                <a:latin typeface="Arial Narrow" pitchFamily="34" charset="0"/>
              </a:rPr>
              <a:t>Obligation of Parties- Article 42 cum 12(Participatory proceedings)</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fontScale="90000"/>
          </a:bodyPr>
          <a:lstStyle/>
          <a:p>
            <a:r>
              <a:rPr lang="en-US" b="1" dirty="0" smtClean="0">
                <a:latin typeface="Arial Narrow" pitchFamily="34" charset="0"/>
              </a:rPr>
              <a:t>Instruments Concerning Rights of the Child</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77500" lnSpcReduction="20000"/>
          </a:bodyPr>
          <a:lstStyle/>
          <a:p>
            <a:pPr algn="just"/>
            <a:r>
              <a:rPr lang="en-US" dirty="0" smtClean="0">
                <a:latin typeface="Arial Narrow" pitchFamily="34" charset="0"/>
              </a:rPr>
              <a:t>ILO for minimum Age, working conditions, child </a:t>
            </a:r>
            <a:r>
              <a:rPr lang="en-US" dirty="0" err="1" smtClean="0">
                <a:latin typeface="Arial Narrow" pitchFamily="34" charset="0"/>
              </a:rPr>
              <a:t>labour</a:t>
            </a:r>
            <a:r>
              <a:rPr lang="en-US" dirty="0" smtClean="0">
                <a:latin typeface="Arial Narrow" pitchFamily="34" charset="0"/>
              </a:rPr>
              <a:t> and exploitation.</a:t>
            </a:r>
          </a:p>
          <a:p>
            <a:pPr algn="just"/>
            <a:r>
              <a:rPr lang="en-US" dirty="0" smtClean="0">
                <a:latin typeface="Arial Narrow" pitchFamily="34" charset="0"/>
              </a:rPr>
              <a:t>Treaties on the elimination of all forms of discrimination against women and against genocide, torture, and all forms of racial  discrimination. In addition, the terms of two major United Nations (UN) human rights treaties, the Covenants on Civil/Political Rights and on Economic/Social/Cultural Rights, </a:t>
            </a:r>
            <a:r>
              <a:rPr lang="en-US" b="1" dirty="0" smtClean="0">
                <a:latin typeface="Arial Narrow" pitchFamily="34" charset="0"/>
              </a:rPr>
              <a:t>apply either directly or indirectly to children. </a:t>
            </a:r>
            <a:r>
              <a:rPr lang="en-US" b="1" dirty="0" smtClean="0">
                <a:latin typeface="Arial Narrow" pitchFamily="34" charset="0"/>
                <a:cs typeface="Times New Roman" pitchFamily="18" charset="0"/>
              </a:rPr>
              <a:t>UDHR 1948- </a:t>
            </a:r>
            <a:r>
              <a:rPr lang="en-US" dirty="0" smtClean="0">
                <a:latin typeface="Arial Narrow" pitchFamily="34" charset="0"/>
                <a:cs typeface="Times New Roman" pitchFamily="18" charset="0"/>
              </a:rPr>
              <a:t>There are provisions in this tailored to children. Motherhood and childhood are to be entitled to </a:t>
            </a:r>
            <a:r>
              <a:rPr lang="en-US" b="1" dirty="0" smtClean="0">
                <a:solidFill>
                  <a:srgbClr val="FF0000"/>
                </a:solidFill>
                <a:latin typeface="Arial Narrow" pitchFamily="34" charset="0"/>
                <a:cs typeface="Times New Roman" pitchFamily="18" charset="0"/>
              </a:rPr>
              <a:t>special care and assistance</a:t>
            </a:r>
            <a:r>
              <a:rPr lang="en-US" dirty="0" smtClean="0">
                <a:latin typeface="Arial Narrow" pitchFamily="34" charset="0"/>
                <a:cs typeface="Times New Roman" pitchFamily="18" charset="0"/>
              </a:rPr>
              <a:t>, and  children born out of wedlock are to enjoy the </a:t>
            </a:r>
            <a:r>
              <a:rPr lang="en-US" b="1" dirty="0" smtClean="0">
                <a:solidFill>
                  <a:srgbClr val="FF0000"/>
                </a:solidFill>
                <a:latin typeface="Arial Narrow" pitchFamily="34" charset="0"/>
                <a:cs typeface="Times New Roman" pitchFamily="18" charset="0"/>
              </a:rPr>
              <a:t>same social protection Art. 25(2) </a:t>
            </a:r>
          </a:p>
          <a:p>
            <a:pPr algn="just">
              <a:buNone/>
            </a:pPr>
            <a:endParaRPr lang="en-US" b="1" dirty="0" smtClean="0">
              <a:latin typeface="Arial Narrow" pitchFamily="34" charset="0"/>
            </a:endParaRPr>
          </a:p>
          <a:p>
            <a:pPr algn="just"/>
            <a:r>
              <a:rPr lang="en-US" b="1" dirty="0" smtClean="0">
                <a:latin typeface="Arial Narrow" pitchFamily="34" charset="0"/>
              </a:rPr>
              <a:t>Intergovernmental Organizations which helped the Convention’s Background </a:t>
            </a:r>
          </a:p>
          <a:p>
            <a:pPr lvl="1" algn="just"/>
            <a:r>
              <a:rPr lang="en-US" dirty="0" smtClean="0">
                <a:latin typeface="Arial Narrow" pitchFamily="34" charset="0"/>
              </a:rPr>
              <a:t>United Nations International Children's Emergency Fund, established in 1946, The League of Nations(adoption in 1924 of the Declaration of the Rights of the Child, drafted by the Save the Children International Union), UN Charter in 1946 and Draft the UN- CRC by the help the </a:t>
            </a:r>
            <a:r>
              <a:rPr lang="en-US" b="1" dirty="0" smtClean="0">
                <a:latin typeface="Arial Narrow" pitchFamily="34" charset="0"/>
              </a:rPr>
              <a:t>ECOSOC</a:t>
            </a:r>
            <a:r>
              <a:rPr lang="en-US" dirty="0" smtClean="0">
                <a:latin typeface="Arial Narrow" pitchFamily="34" charset="0"/>
              </a:rPr>
              <a:t>(</a:t>
            </a:r>
            <a:r>
              <a:rPr lang="en-US" b="1" dirty="0" smtClean="0">
                <a:latin typeface="Arial Narrow" pitchFamily="34" charset="0"/>
              </a:rPr>
              <a:t>Economic and Social Council</a:t>
            </a:r>
            <a:r>
              <a:rPr lang="en-US" dirty="0" smtClean="0">
                <a:latin typeface="Arial Narrow" pitchFamily="34" charset="0"/>
              </a:rPr>
              <a:t>)-</a:t>
            </a:r>
            <a:r>
              <a:rPr lang="en-US" dirty="0" smtClean="0"/>
              <a:t> </a:t>
            </a:r>
            <a:r>
              <a:rPr lang="en-US" dirty="0" smtClean="0">
                <a:latin typeface="Arial Narrow" pitchFamily="34" charset="0"/>
              </a:rPr>
              <a:t>UN General Assembly, which, on November 20, 1959, proclaimed the Declaration of the Rights of the Child(consciousness-raising effort)</a:t>
            </a:r>
            <a:endParaRPr lang="en-US" b="1" dirty="0" smtClean="0">
              <a:latin typeface="Arial Narrow" pitchFamily="34" charset="0"/>
            </a:endParaRPr>
          </a:p>
          <a:p>
            <a:pPr algn="just"/>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smtClean="0">
                <a:latin typeface="Arial Narrow" pitchFamily="34" charset="0"/>
              </a:rPr>
              <a:t>Legal Definition of A Child: Age Wise</a:t>
            </a:r>
            <a:endParaRPr lang="en-US" b="1"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normAutofit fontScale="92500" lnSpcReduction="20000"/>
          </a:bodyPr>
          <a:lstStyle/>
          <a:p>
            <a:pPr algn="just"/>
            <a:r>
              <a:rPr lang="en-US" dirty="0" smtClean="0">
                <a:latin typeface="Arial Narrow" pitchFamily="34" charset="0"/>
                <a:cs typeface="Times New Roman" pitchFamily="18" charset="0"/>
              </a:rPr>
              <a:t>A “child” as defined in Article 1 of the Convention on the Rights of the Child (CRC), means </a:t>
            </a:r>
            <a:r>
              <a:rPr lang="en-US" i="1" dirty="0" smtClean="0">
                <a:latin typeface="Arial Narrow" pitchFamily="34" charset="0"/>
                <a:cs typeface="Times New Roman" pitchFamily="18" charset="0"/>
              </a:rPr>
              <a:t>“</a:t>
            </a:r>
            <a:r>
              <a:rPr lang="en-US" b="1" i="1" dirty="0" smtClean="0">
                <a:latin typeface="Arial Narrow" pitchFamily="34" charset="0"/>
                <a:cs typeface="Times New Roman" pitchFamily="18" charset="0"/>
              </a:rPr>
              <a:t>every human being below the age of 18 </a:t>
            </a:r>
            <a:r>
              <a:rPr lang="en-US" i="1" dirty="0" smtClean="0">
                <a:latin typeface="Arial Narrow" pitchFamily="34" charset="0"/>
                <a:cs typeface="Times New Roman" pitchFamily="18" charset="0"/>
              </a:rPr>
              <a:t>years </a:t>
            </a:r>
            <a:r>
              <a:rPr lang="en-US" b="1" i="1" dirty="0" smtClean="0">
                <a:latin typeface="Arial Narrow" pitchFamily="34" charset="0"/>
                <a:cs typeface="Times New Roman" pitchFamily="18" charset="0"/>
              </a:rPr>
              <a:t>unless, </a:t>
            </a:r>
            <a:r>
              <a:rPr lang="en-US" dirty="0" smtClean="0">
                <a:latin typeface="Arial Narrow" pitchFamily="34" charset="0"/>
                <a:cs typeface="Times New Roman" pitchFamily="18" charset="0"/>
              </a:rPr>
              <a:t>under the </a:t>
            </a:r>
            <a:r>
              <a:rPr lang="en-US" b="1" dirty="0" smtClean="0">
                <a:latin typeface="Arial Narrow" pitchFamily="34" charset="0"/>
                <a:cs typeface="Times New Roman" pitchFamily="18" charset="0"/>
              </a:rPr>
              <a:t>law applicable to the child, </a:t>
            </a:r>
            <a:r>
              <a:rPr lang="en-US" b="1" dirty="0" smtClean="0">
                <a:solidFill>
                  <a:srgbClr val="FF0000"/>
                </a:solidFill>
                <a:latin typeface="Arial Narrow" pitchFamily="34" charset="0"/>
                <a:cs typeface="Times New Roman" pitchFamily="18" charset="0"/>
              </a:rPr>
              <a:t>majority is attained earlier</a:t>
            </a:r>
            <a:r>
              <a:rPr lang="en-US" dirty="0" smtClean="0">
                <a:latin typeface="Arial Narrow" pitchFamily="34" charset="0"/>
                <a:cs typeface="Times New Roman" pitchFamily="18" charset="0"/>
              </a:rPr>
              <a:t>”.</a:t>
            </a:r>
          </a:p>
          <a:p>
            <a:pPr algn="just">
              <a:buNone/>
            </a:pPr>
            <a:endParaRPr lang="en-US" dirty="0" smtClean="0">
              <a:solidFill>
                <a:srgbClr val="FF0000"/>
              </a:solidFill>
              <a:latin typeface="Arial Narrow" pitchFamily="34" charset="0"/>
              <a:cs typeface="Times New Roman" pitchFamily="18" charset="0"/>
            </a:endParaRPr>
          </a:p>
          <a:p>
            <a:pPr algn="just"/>
            <a:r>
              <a:rPr lang="en-US" dirty="0" smtClean="0">
                <a:latin typeface="Arial Narrow" pitchFamily="34" charset="0"/>
                <a:cs typeface="Times New Roman" pitchFamily="18" charset="0"/>
              </a:rPr>
              <a:t>For the purposes of this Charter, a </a:t>
            </a:r>
            <a:r>
              <a:rPr lang="en-US" b="1" dirty="0" smtClean="0">
                <a:latin typeface="Arial Narrow" pitchFamily="34" charset="0"/>
                <a:cs typeface="Times New Roman" pitchFamily="18" charset="0"/>
              </a:rPr>
              <a:t>child</a:t>
            </a:r>
            <a:r>
              <a:rPr lang="en-US" dirty="0" smtClean="0">
                <a:latin typeface="Arial Narrow" pitchFamily="34" charset="0"/>
                <a:cs typeface="Times New Roman" pitchFamily="18" charset="0"/>
              </a:rPr>
              <a:t> means </a:t>
            </a:r>
            <a:r>
              <a:rPr lang="en-US" b="1" dirty="0" smtClean="0">
                <a:latin typeface="Arial Narrow" pitchFamily="34" charset="0"/>
                <a:cs typeface="Times New Roman" pitchFamily="18" charset="0"/>
              </a:rPr>
              <a:t>every human being </a:t>
            </a:r>
            <a:r>
              <a:rPr lang="en-US" dirty="0" smtClean="0">
                <a:latin typeface="Arial Narrow" pitchFamily="34" charset="0"/>
                <a:cs typeface="Times New Roman" pitchFamily="18" charset="0"/>
              </a:rPr>
              <a:t>below the </a:t>
            </a:r>
            <a:r>
              <a:rPr lang="en-US" b="1" dirty="0" smtClean="0">
                <a:latin typeface="Arial Narrow" pitchFamily="34" charset="0"/>
                <a:cs typeface="Times New Roman" pitchFamily="18" charset="0"/>
              </a:rPr>
              <a:t>age of 18 </a:t>
            </a:r>
            <a:r>
              <a:rPr lang="en-US" dirty="0" smtClean="0">
                <a:latin typeface="Arial Narrow" pitchFamily="34" charset="0"/>
                <a:cs typeface="Times New Roman" pitchFamily="18" charset="0"/>
              </a:rPr>
              <a:t>years. Art. 2 of the </a:t>
            </a:r>
            <a:r>
              <a:rPr lang="en-US" b="1" dirty="0" smtClean="0">
                <a:latin typeface="Arial Narrow" pitchFamily="34" charset="0"/>
                <a:cs typeface="Times New Roman" pitchFamily="18" charset="0"/>
              </a:rPr>
              <a:t>ACRWC and hence, no emancipation mechanism under ACRWC</a:t>
            </a:r>
          </a:p>
          <a:p>
            <a:pPr algn="just"/>
            <a:r>
              <a:rPr lang="en-US" b="1" dirty="0" smtClean="0">
                <a:latin typeface="Arial Narrow" pitchFamily="34" charset="0"/>
                <a:cs typeface="Times New Roman" pitchFamily="18" charset="0"/>
              </a:rPr>
              <a:t>Art. 215 RFC- A minor is a person of either sex who has not attained the full age of eighteen years.</a:t>
            </a:r>
          </a:p>
          <a:p>
            <a:pPr algn="just"/>
            <a:r>
              <a:rPr lang="en-US" b="1" dirty="0" smtClean="0">
                <a:latin typeface="Arial Narrow" pitchFamily="34" charset="0"/>
                <a:cs typeface="Times New Roman" pitchFamily="18" charset="0"/>
              </a:rPr>
              <a:t>Child- group ( Scope of applicability and extent of liability)</a:t>
            </a:r>
          </a:p>
          <a:p>
            <a:pPr algn="just"/>
            <a:r>
              <a:rPr lang="en-US" dirty="0" smtClean="0">
                <a:latin typeface="Arial Narrow" pitchFamily="34" charset="0"/>
                <a:cs typeface="Times New Roman" pitchFamily="18" charset="0"/>
              </a:rPr>
              <a:t>Q. </a:t>
            </a:r>
            <a:r>
              <a:rPr lang="en-US" b="1" dirty="0" smtClean="0">
                <a:solidFill>
                  <a:srgbClr val="FF0000"/>
                </a:solidFill>
                <a:latin typeface="Arial Narrow" pitchFamily="34" charset="0"/>
                <a:cs typeface="Times New Roman" pitchFamily="18" charset="0"/>
              </a:rPr>
              <a:t>Emancipation</a:t>
            </a:r>
            <a:r>
              <a:rPr lang="en-US" dirty="0" smtClean="0">
                <a:solidFill>
                  <a:srgbClr val="FF0000"/>
                </a:solidFill>
                <a:latin typeface="Arial Narrow" pitchFamily="34" charset="0"/>
                <a:cs typeface="Times New Roman" pitchFamily="18" charset="0"/>
              </a:rPr>
              <a:t>?  7(2) RFC cum 312 RFC- BIC?</a:t>
            </a:r>
            <a:endParaRPr lang="en-US" b="1" dirty="0" smtClean="0">
              <a:latin typeface="Arial Narrow" pitchFamily="34"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smtClean="0">
                <a:latin typeface="Arial Narrow" pitchFamily="34" charset="0"/>
              </a:rPr>
              <a:t>The Substance of the Convention</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a:bodyPr>
          <a:lstStyle/>
          <a:p>
            <a:pPr algn="just">
              <a:buNone/>
            </a:pPr>
            <a:r>
              <a:rPr lang="en-US" b="1" dirty="0" smtClean="0">
                <a:latin typeface="Arial Narrow" pitchFamily="34" charset="0"/>
                <a:cs typeface="Times New Roman" pitchFamily="18" charset="0"/>
              </a:rPr>
              <a:t>1. The Non-discrimination Clause- Equality (substantive and Procedural) -Unfounded grounds –sex, color, gender etc</a:t>
            </a:r>
            <a:endParaRPr lang="en-US" dirty="0" smtClean="0">
              <a:latin typeface="Arial Narrow" pitchFamily="34" charset="0"/>
            </a:endParaRPr>
          </a:p>
          <a:p>
            <a:pPr algn="just"/>
            <a:r>
              <a:rPr lang="en-US" dirty="0" smtClean="0">
                <a:latin typeface="Arial Narrow" pitchFamily="34" charset="0"/>
              </a:rPr>
              <a:t>It is important to note that the principle of nondiscrimination does not require that </a:t>
            </a:r>
            <a:r>
              <a:rPr lang="en-US" b="1" dirty="0" smtClean="0">
                <a:latin typeface="Arial Narrow" pitchFamily="34" charset="0"/>
              </a:rPr>
              <a:t>all children receive identical treatment in all case</a:t>
            </a:r>
            <a:r>
              <a:rPr lang="en-US" dirty="0" smtClean="0">
                <a:latin typeface="Arial Narrow" pitchFamily="34" charset="0"/>
              </a:rPr>
              <a:t>s; rather, the implementation of certain rights will vary from child to child because </a:t>
            </a:r>
            <a:r>
              <a:rPr lang="en-US" b="1" dirty="0" smtClean="0">
                <a:latin typeface="Arial Narrow" pitchFamily="34" charset="0"/>
              </a:rPr>
              <a:t>of differences in age, maturity, and "evolving capacities,</a:t>
            </a:r>
            <a:r>
              <a:rPr lang="en-US" dirty="0" smtClean="0">
                <a:latin typeface="Arial Narrow" pitchFamily="34" charset="0"/>
              </a:rPr>
              <a:t>" as cited in </a:t>
            </a:r>
            <a:r>
              <a:rPr lang="en-US" b="1" dirty="0" smtClean="0">
                <a:latin typeface="Arial Narrow" pitchFamily="34" charset="0"/>
              </a:rPr>
              <a:t>Articles 5 and 12</a:t>
            </a:r>
            <a:r>
              <a:rPr lang="en-US" dirty="0" smtClean="0">
                <a:latin typeface="Arial Narrow" pitchFamily="34" charset="0"/>
              </a:rPr>
              <a:t>. The  Convention also recognizes the </a:t>
            </a:r>
            <a:r>
              <a:rPr lang="en-US" b="1" dirty="0" smtClean="0">
                <a:latin typeface="Arial Narrow" pitchFamily="34" charset="0"/>
              </a:rPr>
              <a:t>need for special treatment for children in certain categories</a:t>
            </a:r>
            <a:r>
              <a:rPr lang="en-US" dirty="0" smtClean="0">
                <a:latin typeface="Arial Narrow" pitchFamily="34" charset="0"/>
              </a:rPr>
              <a:t>: the </a:t>
            </a:r>
            <a:r>
              <a:rPr lang="en-US" b="1" dirty="0" smtClean="0">
                <a:latin typeface="Arial Narrow" pitchFamily="34" charset="0"/>
              </a:rPr>
              <a:t>disabled, for example (Article 23), and those who have been temporarily or permanently deprived of their  family environment (Article 20).</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1066800"/>
            <a:ext cx="9144000" cy="5791200"/>
          </a:xfrm>
        </p:spPr>
        <p:txBody>
          <a:bodyPr/>
          <a:lstStyle/>
          <a:p>
            <a:pPr>
              <a:buNone/>
            </a:pPr>
            <a:r>
              <a:rPr lang="en-US" b="1" dirty="0" smtClean="0">
                <a:latin typeface="Arial Narrow" pitchFamily="34" charset="0"/>
              </a:rPr>
              <a:t>2.The Relativity of the Convention's Obligations and Rights</a:t>
            </a:r>
          </a:p>
          <a:p>
            <a:pPr lvl="1" algn="just"/>
            <a:r>
              <a:rPr lang="en-US" b="1" dirty="0" smtClean="0">
                <a:latin typeface="Arial Narrow" pitchFamily="34" charset="0"/>
              </a:rPr>
              <a:t>Obligations and Rights in the Convention are not absolute-</a:t>
            </a:r>
            <a:r>
              <a:rPr lang="en-US" dirty="0" smtClean="0">
                <a:latin typeface="Arial Narrow" pitchFamily="34" charset="0"/>
              </a:rPr>
              <a:t>but are subject to certain qualifications. </a:t>
            </a:r>
            <a:r>
              <a:rPr lang="en-US" b="1" dirty="0" smtClean="0">
                <a:latin typeface="Arial Narrow" pitchFamily="34" charset="0"/>
              </a:rPr>
              <a:t>Art. 2 </a:t>
            </a:r>
            <a:r>
              <a:rPr lang="en-US" dirty="0" smtClean="0">
                <a:latin typeface="Arial Narrow" pitchFamily="34" charset="0"/>
              </a:rPr>
              <a:t>puts obligations to States to respect and ensure of the Convention. Obligation is qualified by certain </a:t>
            </a:r>
            <a:r>
              <a:rPr lang="en-US" b="1" dirty="0" smtClean="0">
                <a:latin typeface="Arial Narrow" pitchFamily="34" charset="0"/>
              </a:rPr>
              <a:t>limitation</a:t>
            </a:r>
            <a:r>
              <a:rPr lang="en-US" dirty="0" smtClean="0">
                <a:latin typeface="Arial Narrow" pitchFamily="34" charset="0"/>
              </a:rPr>
              <a:t>s on  what they can or must do in order to fulfill this undertaking. Articles 3(2) cum 4 ("</a:t>
            </a:r>
            <a:r>
              <a:rPr lang="en-US" b="1" dirty="0" smtClean="0">
                <a:latin typeface="Arial Narrow" pitchFamily="34" charset="0"/>
              </a:rPr>
              <a:t>to the maximum extent of their available resources vs. Core Minimum Obligations). Article 9,10, 14</a:t>
            </a:r>
          </a:p>
          <a:p>
            <a:pPr lvl="1" algn="just">
              <a:buNone/>
            </a:pPr>
            <a:endParaRPr lang="en-US" sz="3200" b="1" dirty="0" smtClean="0">
              <a:latin typeface="Arial Narrow" pitchFamily="34" charset="0"/>
              <a:cs typeface="Times New Roman" pitchFamily="18" charset="0"/>
            </a:endParaRPr>
          </a:p>
          <a:p>
            <a:pPr lvl="1" algn="just">
              <a:buNone/>
            </a:pPr>
            <a:endParaRPr lang="en-US" b="1" dirty="0" smtClean="0">
              <a:latin typeface="Arial Narrow" pitchFamily="34" charset="0"/>
            </a:endParaRP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err="1" smtClean="0">
                <a:latin typeface="Arial Narrow" pitchFamily="34" charset="0"/>
              </a:rPr>
              <a:t>Cont’ed</a:t>
            </a:r>
            <a:r>
              <a:rPr lang="en-US" b="1" dirty="0" smtClean="0">
                <a:latin typeface="Arial Narrow" pitchFamily="34" charset="0"/>
              </a:rPr>
              <a:t> </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lnSpcReduction="10000"/>
          </a:bodyPr>
          <a:lstStyle/>
          <a:p>
            <a:pPr marL="342900" lvl="1" indent="-342900">
              <a:buNone/>
            </a:pPr>
            <a:r>
              <a:rPr lang="en-US" sz="3200" b="1" dirty="0" smtClean="0">
                <a:latin typeface="Arial Narrow" pitchFamily="34" charset="0"/>
              </a:rPr>
              <a:t>3.</a:t>
            </a:r>
            <a:r>
              <a:rPr lang="en-US" sz="3200" b="1" dirty="0" smtClean="0">
                <a:latin typeface="Arial Narrow" pitchFamily="34" charset="0"/>
                <a:cs typeface="Times New Roman" pitchFamily="18" charset="0"/>
              </a:rPr>
              <a:t> The Best Interest of the Child Article 3(1) cum other Articles </a:t>
            </a:r>
          </a:p>
          <a:p>
            <a:pPr lvl="1" algn="just"/>
            <a:r>
              <a:rPr lang="en-US" dirty="0" smtClean="0">
                <a:latin typeface="Arial Narrow" pitchFamily="34" charset="0"/>
                <a:cs typeface="Times New Roman" pitchFamily="18" charset="0"/>
              </a:rPr>
              <a:t>Although there is no standard definition of “</a:t>
            </a:r>
            <a:r>
              <a:rPr lang="en-US" b="1" dirty="0" smtClean="0">
                <a:latin typeface="Arial Narrow" pitchFamily="34" charset="0"/>
                <a:cs typeface="Times New Roman" pitchFamily="18" charset="0"/>
              </a:rPr>
              <a:t>best interests of the child</a:t>
            </a:r>
            <a:r>
              <a:rPr lang="en-US" dirty="0" smtClean="0">
                <a:latin typeface="Arial Narrow" pitchFamily="34" charset="0"/>
                <a:cs typeface="Times New Roman" pitchFamily="18" charset="0"/>
              </a:rPr>
              <a:t>,” the term generally refers to the </a:t>
            </a:r>
            <a:r>
              <a:rPr lang="en-US" b="1" dirty="0" smtClean="0">
                <a:latin typeface="Arial Narrow" pitchFamily="34" charset="0"/>
                <a:cs typeface="Times New Roman" pitchFamily="18" charset="0"/>
              </a:rPr>
              <a:t>deliberation that courts undertake when deciding what type of services, actions, and orders will best serve a child as well as who is best suited to take care of a child.</a:t>
            </a:r>
          </a:p>
          <a:p>
            <a:pPr lvl="1" algn="just"/>
            <a:r>
              <a:rPr lang="en-US" b="1" dirty="0" smtClean="0">
                <a:latin typeface="Arial Narrow" pitchFamily="34" charset="0"/>
                <a:cs typeface="Times New Roman" pitchFamily="18" charset="0"/>
              </a:rPr>
              <a:t>Best Interest Factors </a:t>
            </a:r>
          </a:p>
          <a:p>
            <a:pPr lvl="2" algn="just"/>
            <a:r>
              <a:rPr lang="en-US" dirty="0" smtClean="0">
                <a:latin typeface="Arial Narrow" pitchFamily="34" charset="0"/>
                <a:cs typeface="Times New Roman" pitchFamily="18" charset="0"/>
              </a:rPr>
              <a:t>The </a:t>
            </a:r>
            <a:r>
              <a:rPr lang="en-US" b="1" dirty="0" smtClean="0">
                <a:latin typeface="Arial Narrow" pitchFamily="34" charset="0"/>
                <a:cs typeface="Times New Roman" pitchFamily="18" charset="0"/>
              </a:rPr>
              <a:t>emotional ties and relationships </a:t>
            </a:r>
            <a:r>
              <a:rPr lang="en-US" dirty="0" smtClean="0">
                <a:latin typeface="Arial Narrow" pitchFamily="34" charset="0"/>
                <a:cs typeface="Times New Roman" pitchFamily="18" charset="0"/>
              </a:rPr>
              <a:t>between the child and his or </a:t>
            </a:r>
            <a:r>
              <a:rPr lang="en-US" b="1" dirty="0" smtClean="0">
                <a:latin typeface="Arial Narrow" pitchFamily="34" charset="0"/>
                <a:cs typeface="Times New Roman" pitchFamily="18" charset="0"/>
              </a:rPr>
              <a:t>her parents, siblings, family and household members, or other caregivers </a:t>
            </a:r>
          </a:p>
          <a:p>
            <a:pPr lvl="2" algn="just"/>
            <a:r>
              <a:rPr lang="en-US" dirty="0" smtClean="0">
                <a:latin typeface="Arial Narrow" pitchFamily="34" charset="0"/>
                <a:cs typeface="Times New Roman" pitchFamily="18" charset="0"/>
              </a:rPr>
              <a:t>The </a:t>
            </a:r>
            <a:r>
              <a:rPr lang="en-US" b="1" dirty="0" smtClean="0">
                <a:latin typeface="Arial Narrow" pitchFamily="34" charset="0"/>
                <a:cs typeface="Times New Roman" pitchFamily="18" charset="0"/>
              </a:rPr>
              <a:t>mental and physical health needs of the child </a:t>
            </a:r>
          </a:p>
          <a:p>
            <a:pPr lvl="2" algn="just"/>
            <a:r>
              <a:rPr lang="en-US" dirty="0" smtClean="0">
                <a:latin typeface="Arial Narrow" pitchFamily="34" charset="0"/>
                <a:cs typeface="Times New Roman" pitchFamily="18" charset="0"/>
              </a:rPr>
              <a:t>The </a:t>
            </a:r>
            <a:r>
              <a:rPr lang="en-US" b="1" dirty="0" smtClean="0">
                <a:latin typeface="Arial Narrow" pitchFamily="34" charset="0"/>
                <a:cs typeface="Times New Roman" pitchFamily="18" charset="0"/>
              </a:rPr>
              <a:t>mental and physical health of the parents </a:t>
            </a:r>
          </a:p>
          <a:p>
            <a:pPr lvl="2" algn="just"/>
            <a:r>
              <a:rPr lang="en-US" dirty="0" smtClean="0">
                <a:latin typeface="Arial Narrow" pitchFamily="34" charset="0"/>
                <a:cs typeface="Times New Roman" pitchFamily="18" charset="0"/>
              </a:rPr>
              <a:t>The </a:t>
            </a:r>
            <a:r>
              <a:rPr lang="en-US" b="1" dirty="0" smtClean="0">
                <a:latin typeface="Arial Narrow" pitchFamily="34" charset="0"/>
                <a:cs typeface="Times New Roman" pitchFamily="18" charset="0"/>
              </a:rPr>
              <a:t>presence of domestic violence in the home </a:t>
            </a:r>
          </a:p>
          <a:p>
            <a:pPr lvl="2" algn="just"/>
            <a:r>
              <a:rPr lang="en-US" dirty="0" smtClean="0">
                <a:latin typeface="Arial Narrow" pitchFamily="34" charset="0"/>
                <a:cs typeface="Times New Roman" pitchFamily="18" charset="0"/>
              </a:rPr>
              <a:t>The </a:t>
            </a:r>
            <a:r>
              <a:rPr lang="en-US" b="1" dirty="0" smtClean="0">
                <a:latin typeface="Arial Narrow" pitchFamily="34" charset="0"/>
                <a:cs typeface="Times New Roman" pitchFamily="18" charset="0"/>
              </a:rPr>
              <a:t>capacity of the parents to provide a safe home and adequate food, clothing, and medical care</a:t>
            </a:r>
            <a:r>
              <a:rPr lang="en-US" b="1" dirty="0" smtClean="0">
                <a:latin typeface="Times New Roman" pitchFamily="18" charset="0"/>
                <a:cs typeface="Times New Roman" pitchFamily="18" charset="0"/>
              </a:rPr>
              <a:t>. </a:t>
            </a:r>
          </a:p>
          <a:p>
            <a:pPr lvl="2"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cs typeface="Times New Roman" pitchFamily="18" charset="0"/>
              </a:rPr>
              <a:t>The Role of the BIC</a:t>
            </a:r>
            <a:endParaRPr lang="en-US" dirty="0">
              <a:latin typeface="Arial Narrow" pitchFamily="34" charset="0"/>
            </a:endParaRPr>
          </a:p>
        </p:txBody>
      </p:sp>
      <p:sp>
        <p:nvSpPr>
          <p:cNvPr id="3" name="Content Placeholder 2"/>
          <p:cNvSpPr>
            <a:spLocks noGrp="1"/>
          </p:cNvSpPr>
          <p:nvPr>
            <p:ph idx="1"/>
          </p:nvPr>
        </p:nvSpPr>
        <p:spPr>
          <a:xfrm>
            <a:off x="0" y="1066800"/>
            <a:ext cx="9144000" cy="5791200"/>
          </a:xfrm>
        </p:spPr>
        <p:txBody>
          <a:bodyPr>
            <a:normAutofit fontScale="85000" lnSpcReduction="20000"/>
          </a:bodyPr>
          <a:lstStyle/>
          <a:p>
            <a:pPr algn="just"/>
            <a:r>
              <a:rPr lang="en-US" b="1" dirty="0" smtClean="0">
                <a:latin typeface="Arial Narrow" pitchFamily="34" charset="0"/>
                <a:cs typeface="Times New Roman" pitchFamily="18" charset="0"/>
              </a:rPr>
              <a:t>A Substantive Right </a:t>
            </a:r>
            <a:r>
              <a:rPr lang="en-US" dirty="0" smtClean="0">
                <a:latin typeface="Arial Narrow" pitchFamily="34" charset="0"/>
                <a:cs typeface="Times New Roman" pitchFamily="18" charset="0"/>
              </a:rPr>
              <a:t>– </a:t>
            </a:r>
            <a:r>
              <a:rPr lang="en-US" b="1" dirty="0" smtClean="0">
                <a:latin typeface="Arial Narrow" pitchFamily="34" charset="0"/>
                <a:cs typeface="Times New Roman" pitchFamily="18" charset="0"/>
              </a:rPr>
              <a:t>BIC</a:t>
            </a:r>
            <a:r>
              <a:rPr lang="en-US" dirty="0" smtClean="0">
                <a:latin typeface="Arial Narrow" pitchFamily="34" charset="0"/>
                <a:cs typeface="Times New Roman" pitchFamily="18" charset="0"/>
              </a:rPr>
              <a:t> is by </a:t>
            </a:r>
            <a:r>
              <a:rPr lang="en-US" b="1" dirty="0" smtClean="0">
                <a:latin typeface="Arial Narrow" pitchFamily="34" charset="0"/>
                <a:cs typeface="Times New Roman" pitchFamily="18" charset="0"/>
              </a:rPr>
              <a:t>itself a right </a:t>
            </a:r>
            <a:r>
              <a:rPr lang="en-US" dirty="0" smtClean="0">
                <a:latin typeface="Arial Narrow" pitchFamily="34" charset="0"/>
                <a:cs typeface="Times New Roman" pitchFamily="18" charset="0"/>
              </a:rPr>
              <a:t>where it can be </a:t>
            </a:r>
            <a:r>
              <a:rPr lang="en-US" b="1" dirty="0" smtClean="0">
                <a:latin typeface="Arial Narrow" pitchFamily="34" charset="0"/>
                <a:cs typeface="Times New Roman" pitchFamily="18" charset="0"/>
              </a:rPr>
              <a:t>invoked in court of law </a:t>
            </a:r>
            <a:r>
              <a:rPr lang="en-US" dirty="0" smtClean="0">
                <a:latin typeface="Arial Narrow" pitchFamily="34" charset="0"/>
                <a:cs typeface="Times New Roman" pitchFamily="18" charset="0"/>
              </a:rPr>
              <a:t>for decisions to be assessed and taken as a primary .</a:t>
            </a:r>
          </a:p>
          <a:p>
            <a:pPr algn="just"/>
            <a:r>
              <a:rPr lang="en-US" b="1" dirty="0" smtClean="0">
                <a:latin typeface="Arial Narrow" pitchFamily="34" charset="0"/>
                <a:cs typeface="Times New Roman" pitchFamily="18" charset="0"/>
              </a:rPr>
              <a:t>A Fundamental, Interpretive Legal Principle </a:t>
            </a:r>
            <a:r>
              <a:rPr lang="en-US" dirty="0" smtClean="0">
                <a:latin typeface="Arial Narrow" pitchFamily="34" charset="0"/>
                <a:cs typeface="Times New Roman" pitchFamily="18" charset="0"/>
              </a:rPr>
              <a:t>– If a legal provisions opens a </a:t>
            </a:r>
            <a:r>
              <a:rPr lang="en-US" b="1" dirty="0" smtClean="0">
                <a:latin typeface="Arial Narrow" pitchFamily="34" charset="0"/>
                <a:cs typeface="Times New Roman" pitchFamily="18" charset="0"/>
              </a:rPr>
              <a:t>lacuna</a:t>
            </a:r>
            <a:r>
              <a:rPr lang="en-US" dirty="0" smtClean="0">
                <a:latin typeface="Arial Narrow" pitchFamily="34" charset="0"/>
                <a:cs typeface="Times New Roman" pitchFamily="18" charset="0"/>
              </a:rPr>
              <a:t>e as to its interpretation, interpretation should satisfy </a:t>
            </a:r>
            <a:r>
              <a:rPr lang="en-US" b="1" dirty="0" smtClean="0">
                <a:latin typeface="Arial Narrow" pitchFamily="34" charset="0"/>
                <a:cs typeface="Times New Roman" pitchFamily="18" charset="0"/>
              </a:rPr>
              <a:t>BIC</a:t>
            </a:r>
            <a:r>
              <a:rPr lang="en-US" dirty="0" smtClean="0">
                <a:latin typeface="Arial Narrow" pitchFamily="34" charset="0"/>
                <a:cs typeface="Times New Roman" pitchFamily="18" charset="0"/>
              </a:rPr>
              <a:t>.</a:t>
            </a:r>
          </a:p>
          <a:p>
            <a:pPr algn="just"/>
            <a:r>
              <a:rPr lang="en-US" b="1" dirty="0" smtClean="0">
                <a:latin typeface="Arial Narrow" pitchFamily="34" charset="0"/>
                <a:cs typeface="Times New Roman" pitchFamily="18" charset="0"/>
              </a:rPr>
              <a:t>A Rule of Procedure </a:t>
            </a:r>
            <a:r>
              <a:rPr lang="en-US" dirty="0" smtClean="0">
                <a:latin typeface="Arial Narrow" pitchFamily="34" charset="0"/>
                <a:cs typeface="Times New Roman" pitchFamily="18" charset="0"/>
              </a:rPr>
              <a:t>– </a:t>
            </a:r>
            <a:r>
              <a:rPr lang="en-US" b="1" dirty="0" smtClean="0">
                <a:latin typeface="Arial Narrow" pitchFamily="34" charset="0"/>
                <a:cs typeface="Times New Roman" pitchFamily="18" charset="0"/>
              </a:rPr>
              <a:t>Justifications</a:t>
            </a:r>
            <a:r>
              <a:rPr lang="en-US" dirty="0" smtClean="0">
                <a:latin typeface="Arial Narrow" pitchFamily="34" charset="0"/>
                <a:cs typeface="Times New Roman" pitchFamily="18" charset="0"/>
              </a:rPr>
              <a:t> must be made as to different child related decisions taken including </a:t>
            </a:r>
            <a:r>
              <a:rPr lang="en-US" b="1" dirty="0" smtClean="0">
                <a:latin typeface="Arial Narrow" pitchFamily="34" charset="0"/>
                <a:cs typeface="Times New Roman" pitchFamily="18" charset="0"/>
              </a:rPr>
              <a:t>possible evaluation of the impact of the decision-various criteria</a:t>
            </a:r>
            <a:r>
              <a:rPr lang="en-US" dirty="0" smtClean="0">
                <a:latin typeface="Arial Narrow" pitchFamily="34" charset="0"/>
                <a:cs typeface="Times New Roman" pitchFamily="18" charset="0"/>
              </a:rPr>
              <a:t>.  </a:t>
            </a:r>
          </a:p>
          <a:p>
            <a:pPr algn="just"/>
            <a:r>
              <a:rPr lang="en-US" b="1" i="1" dirty="0" smtClean="0">
                <a:latin typeface="Arial Narrow" pitchFamily="34" charset="0"/>
                <a:cs typeface="Times New Roman" pitchFamily="18" charset="0"/>
              </a:rPr>
              <a:t>the</a:t>
            </a:r>
            <a:r>
              <a:rPr lang="en-US" dirty="0" smtClean="0">
                <a:latin typeface="Arial Narrow" pitchFamily="34" charset="0"/>
                <a:cs typeface="Times New Roman" pitchFamily="18" charset="0"/>
              </a:rPr>
              <a:t> – </a:t>
            </a:r>
            <a:r>
              <a:rPr lang="en-US" b="1" dirty="0" smtClean="0">
                <a:latin typeface="Arial Narrow" pitchFamily="34" charset="0"/>
                <a:cs typeface="Times New Roman" pitchFamily="18" charset="0"/>
              </a:rPr>
              <a:t>BIP</a:t>
            </a:r>
            <a:r>
              <a:rPr lang="en-US" dirty="0" smtClean="0">
                <a:latin typeface="Arial Narrow" pitchFamily="34" charset="0"/>
                <a:cs typeface="Times New Roman" pitchFamily="18" charset="0"/>
              </a:rPr>
              <a:t> is </a:t>
            </a:r>
            <a:r>
              <a:rPr lang="en-US" b="1" dirty="0" smtClean="0">
                <a:latin typeface="Arial Narrow" pitchFamily="34" charset="0"/>
                <a:cs typeface="Times New Roman" pitchFamily="18" charset="0"/>
              </a:rPr>
              <a:t>the basis of determining factor for specific actions, notably adoption (Article 21) and separation of a child </a:t>
            </a:r>
            <a:r>
              <a:rPr lang="en-US" dirty="0" smtClean="0">
                <a:latin typeface="Arial Narrow" pitchFamily="34" charset="0"/>
                <a:cs typeface="Times New Roman" pitchFamily="18" charset="0"/>
              </a:rPr>
              <a:t>from parents against their will (Article 9)</a:t>
            </a:r>
          </a:p>
          <a:p>
            <a:pPr algn="just"/>
            <a:r>
              <a:rPr lang="en-US" b="1" i="1" dirty="0" smtClean="0">
                <a:latin typeface="Arial Narrow" pitchFamily="34" charset="0"/>
                <a:cs typeface="Times New Roman" pitchFamily="18" charset="0"/>
              </a:rPr>
              <a:t>a</a:t>
            </a:r>
            <a:r>
              <a:rPr lang="en-US" dirty="0" smtClean="0">
                <a:latin typeface="Arial Narrow" pitchFamily="34" charset="0"/>
                <a:cs typeface="Times New Roman" pitchFamily="18" charset="0"/>
              </a:rPr>
              <a:t>- </a:t>
            </a:r>
            <a:r>
              <a:rPr lang="en-US" b="1" dirty="0" smtClean="0">
                <a:latin typeface="Arial Narrow" pitchFamily="34" charset="0"/>
                <a:cs typeface="Times New Roman" pitchFamily="18" charset="0"/>
              </a:rPr>
              <a:t>BIP</a:t>
            </a:r>
            <a:r>
              <a:rPr lang="en-US" dirty="0" smtClean="0">
                <a:latin typeface="Arial Narrow" pitchFamily="34" charset="0"/>
                <a:cs typeface="Times New Roman" pitchFamily="18" charset="0"/>
              </a:rPr>
              <a:t> is </a:t>
            </a:r>
            <a:r>
              <a:rPr lang="en-US" b="1" dirty="0" smtClean="0">
                <a:latin typeface="Arial Narrow" pitchFamily="34" charset="0"/>
                <a:cs typeface="Times New Roman" pitchFamily="18" charset="0"/>
              </a:rPr>
              <a:t>a primary (but not the sole) consideration for all other actions affecting children. This is especially true for extreme cases</a:t>
            </a:r>
            <a:r>
              <a:rPr lang="en-US" b="1"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endParaRPr lang="en-US" dirty="0" smtClean="0">
              <a:latin typeface="Arial Narrow" pitchFamily="34" charset="0"/>
              <a:cs typeface="Times New Roman" pitchFamily="18" charset="0"/>
            </a:endParaRP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cs typeface="Times New Roman" pitchFamily="18" charset="0"/>
              </a:rPr>
              <a:t>The Right to Life (Art. 6)</a:t>
            </a:r>
          </a:p>
        </p:txBody>
      </p:sp>
      <p:sp>
        <p:nvSpPr>
          <p:cNvPr id="3" name="Content Placeholder 2"/>
          <p:cNvSpPr>
            <a:spLocks noGrp="1"/>
          </p:cNvSpPr>
          <p:nvPr>
            <p:ph idx="1"/>
          </p:nvPr>
        </p:nvSpPr>
        <p:spPr>
          <a:xfrm>
            <a:off x="0" y="838200"/>
            <a:ext cx="9144000" cy="6019800"/>
          </a:xfrm>
        </p:spPr>
        <p:txBody>
          <a:bodyPr>
            <a:normAutofit fontScale="92500" lnSpcReduction="10000"/>
          </a:bodyPr>
          <a:lstStyle/>
          <a:p>
            <a:pPr algn="just"/>
            <a:r>
              <a:rPr lang="en-US" dirty="0" smtClean="0">
                <a:latin typeface="Arial Narrow" pitchFamily="34" charset="0"/>
              </a:rPr>
              <a:t>The Consequence of the wars (WW I and II) compels the Convention to focus on the Right to Life. "recognize that every child has </a:t>
            </a:r>
            <a:r>
              <a:rPr lang="en-US" b="1" dirty="0" smtClean="0">
                <a:latin typeface="Arial Narrow" pitchFamily="34" charset="0"/>
              </a:rPr>
              <a:t>the inherent right to life</a:t>
            </a:r>
            <a:r>
              <a:rPr lang="en-US" dirty="0" smtClean="0">
                <a:latin typeface="Arial Narrow" pitchFamily="34" charset="0"/>
              </a:rPr>
              <a:t>.” it places parties under an obligation "</a:t>
            </a:r>
            <a:r>
              <a:rPr lang="en-US" b="1" dirty="0" smtClean="0">
                <a:latin typeface="Arial Narrow" pitchFamily="34" charset="0"/>
              </a:rPr>
              <a:t>to ensure to the maximum extent possible the survival and development of the child</a:t>
            </a:r>
            <a:r>
              <a:rPr lang="en-US" dirty="0" smtClean="0">
                <a:latin typeface="Arial Narrow" pitchFamily="34" charset="0"/>
              </a:rPr>
              <a:t>.“</a:t>
            </a:r>
          </a:p>
          <a:p>
            <a:pPr algn="just"/>
            <a:r>
              <a:rPr lang="en-US" b="1" dirty="0" smtClean="0">
                <a:latin typeface="Arial Narrow" pitchFamily="34" charset="0"/>
              </a:rPr>
              <a:t>The Right of the unborn child vs. Abortion . Art. 1 Definition over the beginning of childhood</a:t>
            </a:r>
            <a:r>
              <a:rPr lang="en-US" dirty="0" smtClean="0">
                <a:latin typeface="Arial Narrow" pitchFamily="34" charset="0"/>
              </a:rPr>
              <a:t>. </a:t>
            </a:r>
            <a:r>
              <a:rPr lang="en-US" b="1" dirty="0" smtClean="0">
                <a:latin typeface="Arial Narrow" pitchFamily="34" charset="0"/>
              </a:rPr>
              <a:t>Paragraph 9 of the convention's preamble </a:t>
            </a:r>
            <a:r>
              <a:rPr lang="en-US" dirty="0" smtClean="0">
                <a:latin typeface="Arial Narrow" pitchFamily="34" charset="0"/>
              </a:rPr>
              <a:t>calling attention to the fact that "the child . . . needs safeguards and care, including appropriate legal protection, </a:t>
            </a:r>
            <a:r>
              <a:rPr lang="en-US" b="1" dirty="0" smtClean="0">
                <a:latin typeface="Arial Narrow" pitchFamily="34" charset="0"/>
              </a:rPr>
              <a:t>before as well as after birth</a:t>
            </a:r>
            <a:r>
              <a:rPr lang="en-US" dirty="0" smtClean="0">
                <a:latin typeface="Arial Narrow" pitchFamily="34" charset="0"/>
              </a:rPr>
              <a:t>.“</a:t>
            </a:r>
            <a:r>
              <a:rPr lang="en-US" b="1" dirty="0" smtClean="0">
                <a:latin typeface="Arial Narrow" pitchFamily="34" charset="0"/>
              </a:rPr>
              <a:t>Article 24, Paragraph 2(d</a:t>
            </a:r>
            <a:r>
              <a:rPr lang="en-US" dirty="0" smtClean="0">
                <a:latin typeface="Arial Narrow" pitchFamily="34" charset="0"/>
              </a:rPr>
              <a:t>), which commits parties to ensuring appropriate prenatal care for mothers indicates about prolife concern.</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err="1" smtClean="0">
                <a:latin typeface="Arial Narrow" pitchFamily="34" charset="0"/>
              </a:rPr>
              <a:t>Cont’ed</a:t>
            </a:r>
            <a:r>
              <a:rPr lang="en-US" dirty="0" smtClean="0"/>
              <a:t> </a:t>
            </a:r>
            <a:endParaRPr lang="en-US" dirty="0"/>
          </a:p>
        </p:txBody>
      </p:sp>
      <p:sp>
        <p:nvSpPr>
          <p:cNvPr id="3" name="Content Placeholder 2"/>
          <p:cNvSpPr>
            <a:spLocks noGrp="1"/>
          </p:cNvSpPr>
          <p:nvPr>
            <p:ph idx="1"/>
          </p:nvPr>
        </p:nvSpPr>
        <p:spPr>
          <a:xfrm>
            <a:off x="0" y="838200"/>
            <a:ext cx="9144000" cy="6019800"/>
          </a:xfrm>
        </p:spPr>
        <p:txBody>
          <a:bodyPr>
            <a:normAutofit/>
          </a:bodyPr>
          <a:lstStyle/>
          <a:p>
            <a:pPr algn="just"/>
            <a:r>
              <a:rPr lang="en-US" dirty="0" smtClean="0">
                <a:latin typeface="Arial Narrow" pitchFamily="34" charset="0"/>
              </a:rPr>
              <a:t>Article 7 states that "the child shall be </a:t>
            </a:r>
            <a:r>
              <a:rPr lang="en-US" b="1" dirty="0" smtClean="0">
                <a:latin typeface="Arial Narrow" pitchFamily="34" charset="0"/>
              </a:rPr>
              <a:t>registered immediately after birth and shall have the right to a name, (and) to acquire a nationality</a:t>
            </a:r>
            <a:r>
              <a:rPr lang="en-US" dirty="0" smtClean="0">
                <a:latin typeface="Arial Narrow" pitchFamily="34" charset="0"/>
              </a:rPr>
              <a:t>," and Article 8 states that "</a:t>
            </a:r>
            <a:r>
              <a:rPr lang="en-US" b="1" dirty="0" smtClean="0">
                <a:latin typeface="Arial Narrow" pitchFamily="34" charset="0"/>
              </a:rPr>
              <a:t>States Parties undertake to respect the right of the child to preserve his or her identity, including nationality, name and family relations as recognized by law without unlawful interference</a:t>
            </a:r>
            <a:r>
              <a:rPr lang="en-US" dirty="0" smtClean="0">
                <a:latin typeface="Arial Narrow" pitchFamily="34" charset="0"/>
              </a:rPr>
              <a:t>.“</a:t>
            </a:r>
          </a:p>
          <a:p>
            <a:r>
              <a:rPr lang="en-US" b="1" dirty="0" smtClean="0">
                <a:latin typeface="Arial Narrow" pitchFamily="34" charset="0"/>
              </a:rPr>
              <a:t>The Right to Survival and Development</a:t>
            </a:r>
          </a:p>
          <a:p>
            <a:pPr lvl="1"/>
            <a:r>
              <a:rPr lang="en-US" b="1" dirty="0" smtClean="0">
                <a:latin typeface="Arial Narrow" pitchFamily="34" charset="0"/>
              </a:rPr>
              <a:t>Physical Survival: The Right to Health Cum Art. 24</a:t>
            </a:r>
          </a:p>
          <a:p>
            <a:pPr lvl="2"/>
            <a:r>
              <a:rPr lang="en-US" dirty="0" smtClean="0">
                <a:latin typeface="Arial Narrow" pitchFamily="34" charset="0"/>
              </a:rPr>
              <a:t>The </a:t>
            </a:r>
            <a:r>
              <a:rPr lang="en-US" b="1" dirty="0" smtClean="0">
                <a:latin typeface="Arial Narrow" pitchFamily="34" charset="0"/>
              </a:rPr>
              <a:t>denial of medicine, clean water, or adequate nutrition </a:t>
            </a:r>
            <a:r>
              <a:rPr lang="en-US" dirty="0" smtClean="0">
                <a:latin typeface="Arial Narrow" pitchFamily="34" charset="0"/>
              </a:rPr>
              <a:t>is as clearly a violation of a person's right to life as </a:t>
            </a:r>
            <a:r>
              <a:rPr lang="en-US" b="1" dirty="0" smtClean="0">
                <a:latin typeface="Arial Narrow" pitchFamily="34" charset="0"/>
              </a:rPr>
              <a:t>is execution by a death squad.</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err="1" smtClean="0">
                <a:latin typeface="Arial Narrow" pitchFamily="34" charset="0"/>
              </a:rPr>
              <a:t>Cont’ed</a:t>
            </a:r>
            <a:r>
              <a:rPr lang="en-US" dirty="0" smtClean="0">
                <a:latin typeface="Arial Narrow" pitchFamily="34" charset="0"/>
              </a:rPr>
              <a:t> </a:t>
            </a:r>
            <a:endParaRPr lang="en-US"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lstStyle/>
          <a:p>
            <a:pPr lvl="1"/>
            <a:r>
              <a:rPr lang="en-US" b="1" dirty="0" smtClean="0">
                <a:latin typeface="Arial Narrow" pitchFamily="34" charset="0"/>
              </a:rPr>
              <a:t>Qualitative Survival: The Right to Development Art. 23 cum 27</a:t>
            </a:r>
          </a:p>
          <a:p>
            <a:pPr lvl="1"/>
            <a:r>
              <a:rPr lang="en-US" b="1" dirty="0" smtClean="0">
                <a:latin typeface="Arial Narrow" pitchFamily="34" charset="0"/>
              </a:rPr>
              <a:t>Physical Development Art. 27(3) cum Art. 24(2c) and 26</a:t>
            </a:r>
          </a:p>
          <a:p>
            <a:pPr lvl="2" algn="just"/>
            <a:r>
              <a:rPr lang="en-US" dirty="0" smtClean="0">
                <a:latin typeface="Arial Narrow" pitchFamily="34" charset="0"/>
              </a:rPr>
              <a:t>with regard to nutrition, clothing, and housing." The obligation thus assumed by parties is qualified by the phrase "in accordance with national  conditions and within their means. This is because hanger and malnutrition are inimical to physical development of the child.</a:t>
            </a:r>
          </a:p>
          <a:p>
            <a:pPr lvl="1" algn="just"/>
            <a:r>
              <a:rPr lang="en-US" b="1" dirty="0" smtClean="0">
                <a:latin typeface="Arial Narrow" pitchFamily="34" charset="0"/>
              </a:rPr>
              <a:t>Mental Development ( The Right to Education Art. 28 and 29 cum 23)</a:t>
            </a:r>
          </a:p>
          <a:p>
            <a:pPr lvl="1" algn="just"/>
            <a:r>
              <a:rPr lang="en-US" b="1" dirty="0" smtClean="0">
                <a:latin typeface="Arial Narrow" pitchFamily="34" charset="0"/>
              </a:rPr>
              <a:t>Spiritual and Moral Development Art. 14 cum 30</a:t>
            </a:r>
          </a:p>
          <a:p>
            <a:pPr lvl="1" algn="just"/>
            <a:r>
              <a:rPr lang="en-US" b="1" dirty="0" smtClean="0">
                <a:latin typeface="Arial Narrow" pitchFamily="34" charset="0"/>
              </a:rPr>
              <a:t>Social Development Art. 17, 13 ,12,15 and 30 and 31</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latin typeface="Arial Narrow" pitchFamily="34" charset="0"/>
              </a:rPr>
              <a:t>The Right to Protection</a:t>
            </a:r>
            <a:endParaRPr lang="en-US" b="1"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lnSpcReduction="10000"/>
          </a:bodyPr>
          <a:lstStyle/>
          <a:p>
            <a:pPr algn="just"/>
            <a:r>
              <a:rPr lang="en-US" b="1" dirty="0" smtClean="0">
                <a:latin typeface="Arial Narrow" pitchFamily="34" charset="0"/>
              </a:rPr>
              <a:t>Article 19 cum 39 </a:t>
            </a:r>
            <a:r>
              <a:rPr lang="en-US" dirty="0" smtClean="0">
                <a:latin typeface="Arial Narrow" pitchFamily="34" charset="0"/>
              </a:rPr>
              <a:t>("States Parties shall take all appropriate legislative, administrative, social and educational measures to protect the child from </a:t>
            </a:r>
            <a:r>
              <a:rPr lang="en-US" b="1" dirty="0" smtClean="0">
                <a:latin typeface="Arial Narrow" pitchFamily="34" charset="0"/>
              </a:rPr>
              <a:t>all forms of physical or mental violence, injury or abuse, neglect or negligent treatment, maltreatment or exploitation, including sexual abuse, while in the care of parent(s), legal guardian(s) or any other person who has the care of the child."</a:t>
            </a:r>
            <a:r>
              <a:rPr lang="en-US" dirty="0" smtClean="0">
                <a:latin typeface="Arial Narrow" pitchFamily="34" charset="0"/>
              </a:rPr>
              <a:t>) </a:t>
            </a:r>
            <a:r>
              <a:rPr lang="en-US" b="1" dirty="0" smtClean="0">
                <a:latin typeface="Arial Narrow" pitchFamily="34" charset="0"/>
              </a:rPr>
              <a:t>Optional Protocol to the CRC the sale of children, child prostitution and child pornography (2000 and entered into force in 2002)</a:t>
            </a:r>
          </a:p>
          <a:p>
            <a:pPr algn="just"/>
            <a:r>
              <a:rPr lang="en-US" b="1" dirty="0" smtClean="0">
                <a:latin typeface="Arial Narrow" pitchFamily="34" charset="0"/>
              </a:rPr>
              <a:t>Optional Protocol to the CRC on the involvement of children in armed conflict (2000 and entered into 2002)</a:t>
            </a:r>
          </a:p>
          <a:p>
            <a:pPr algn="just"/>
            <a:r>
              <a:rPr lang="en-US" b="1" dirty="0" smtClean="0">
                <a:latin typeface="Arial Narrow" pitchFamily="34" charset="0"/>
              </a:rPr>
              <a:t>Optional Protocol to the CRC on Communication Procedure (2011)</a:t>
            </a:r>
          </a:p>
          <a:p>
            <a:pPr algn="just"/>
            <a:endParaRPr lang="en-US" dirty="0" smtClean="0">
              <a:latin typeface="Arial Narrow" pitchFamily="34" charset="0"/>
            </a:endParaRP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latin typeface="Arial Narrow" pitchFamily="34" charset="0"/>
              </a:rPr>
              <a:t>Economic Exploitation</a:t>
            </a:r>
            <a:endParaRPr lang="en-US"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lstStyle/>
          <a:p>
            <a:pPr algn="just"/>
            <a:r>
              <a:rPr lang="en-US" b="1" dirty="0" smtClean="0">
                <a:latin typeface="Arial Narrow" pitchFamily="34" charset="0"/>
              </a:rPr>
              <a:t>Article 32- State parties </a:t>
            </a:r>
            <a:r>
              <a:rPr lang="en-US" dirty="0" smtClean="0">
                <a:latin typeface="Arial Narrow" pitchFamily="34" charset="0"/>
              </a:rPr>
              <a:t>commit themselves to provide a </a:t>
            </a:r>
            <a:r>
              <a:rPr lang="en-US" b="1" dirty="0" smtClean="0">
                <a:latin typeface="Arial Narrow" pitchFamily="34" charset="0"/>
              </a:rPr>
              <a:t>minimum age or ages for employment</a:t>
            </a:r>
            <a:r>
              <a:rPr lang="en-US" dirty="0" smtClean="0">
                <a:latin typeface="Arial Narrow" pitchFamily="34" charset="0"/>
              </a:rPr>
              <a:t>, appropriate regulation of hours and conditions, and appropriate penalties or other sanctions to ensure the effective  enforcement of the present article. Birth Registration is important (Art. 7) </a:t>
            </a:r>
          </a:p>
          <a:p>
            <a:pPr algn="just"/>
            <a:r>
              <a:rPr lang="en-US" dirty="0" smtClean="0">
                <a:latin typeface="Arial Narrow" pitchFamily="34" charset="0"/>
              </a:rPr>
              <a:t>(</a:t>
            </a:r>
            <a:r>
              <a:rPr lang="en-US" b="1" dirty="0" smtClean="0">
                <a:latin typeface="Arial Narrow" pitchFamily="34" charset="0"/>
              </a:rPr>
              <a:t>Proc. No. 760/2012 Vital Events Registration and National Identity Card Proclamation)</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latin typeface="Arial Narrow" pitchFamily="34" charset="0"/>
              </a:rPr>
              <a:t>Sexual Exploitation (Art.34)</a:t>
            </a:r>
            <a:br>
              <a:rPr lang="en-US" b="1" dirty="0" smtClean="0">
                <a:latin typeface="Arial Narrow" pitchFamily="34" charset="0"/>
              </a:rPr>
            </a:br>
            <a:endParaRPr lang="en-US" dirty="0"/>
          </a:p>
        </p:txBody>
      </p:sp>
      <p:sp>
        <p:nvSpPr>
          <p:cNvPr id="3" name="Content Placeholder 2"/>
          <p:cNvSpPr>
            <a:spLocks noGrp="1"/>
          </p:cNvSpPr>
          <p:nvPr>
            <p:ph idx="1"/>
          </p:nvPr>
        </p:nvSpPr>
        <p:spPr>
          <a:xfrm>
            <a:off x="0" y="685800"/>
            <a:ext cx="9144000" cy="6172200"/>
          </a:xfrm>
        </p:spPr>
        <p:txBody>
          <a:bodyPr>
            <a:normAutofit fontScale="92500" lnSpcReduction="10000"/>
          </a:bodyPr>
          <a:lstStyle/>
          <a:p>
            <a:pPr algn="just"/>
            <a:r>
              <a:rPr lang="en-US" dirty="0" smtClean="0">
                <a:latin typeface="Arial Narrow" pitchFamily="34" charset="0"/>
              </a:rPr>
              <a:t>states parties undertake to take "all appropriate measures" to prevent the inducement or coercion of a child to engage in any unlawful sexual activity, the exploitative use of children in prostitution or other unlawful sexual activity, and the exploitative use of children in pornographic performances and materials.</a:t>
            </a:r>
          </a:p>
          <a:p>
            <a:pPr algn="just"/>
            <a:r>
              <a:rPr lang="en-US" b="1" dirty="0" smtClean="0">
                <a:latin typeface="Arial Narrow" pitchFamily="34" charset="0"/>
              </a:rPr>
              <a:t>Traffic In Children (Art. 11 cum 35)</a:t>
            </a:r>
          </a:p>
          <a:p>
            <a:pPr algn="just"/>
            <a:r>
              <a:rPr lang="en-US" b="1" dirty="0" smtClean="0">
                <a:latin typeface="Arial Narrow" pitchFamily="34" charset="0"/>
              </a:rPr>
              <a:t>Abandoned Children (Art. 20) cum General Comment No.6</a:t>
            </a:r>
          </a:p>
          <a:p>
            <a:pPr algn="just"/>
            <a:r>
              <a:rPr lang="en-US" b="1" dirty="0" smtClean="0">
                <a:latin typeface="Arial Narrow" pitchFamily="34" charset="0"/>
              </a:rPr>
              <a:t>Adopted Children(21) Cum GC</a:t>
            </a:r>
          </a:p>
          <a:p>
            <a:pPr algn="just"/>
            <a:r>
              <a:rPr lang="en-US" b="1" dirty="0" smtClean="0">
                <a:latin typeface="Arial Narrow" pitchFamily="34" charset="0"/>
              </a:rPr>
              <a:t>Children Involved in the Juvenile Justice System (Art. 37 cum 40) cum General Comment No.10</a:t>
            </a:r>
          </a:p>
          <a:p>
            <a:pPr algn="just"/>
            <a:r>
              <a:rPr lang="en-US" b="1" dirty="0" smtClean="0">
                <a:latin typeface="Arial Narrow" pitchFamily="34" charset="0"/>
              </a:rPr>
              <a:t>Children and Drug (Art.33)</a:t>
            </a:r>
          </a:p>
          <a:p>
            <a:pPr algn="just"/>
            <a:r>
              <a:rPr lang="en-US" b="1" dirty="0" smtClean="0">
                <a:latin typeface="Arial Narrow" pitchFamily="34" charset="0"/>
              </a:rPr>
              <a:t>The Child’s Privacy (Art. 16)</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rPr>
              <a:t>Implementation of the Convention </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lnSpcReduction="10000"/>
          </a:bodyPr>
          <a:lstStyle/>
          <a:p>
            <a:r>
              <a:rPr lang="en-US" b="1" dirty="0" smtClean="0">
                <a:latin typeface="Arial Narrow" pitchFamily="34" charset="0"/>
              </a:rPr>
              <a:t>Article 43-45</a:t>
            </a:r>
          </a:p>
          <a:p>
            <a:r>
              <a:rPr lang="en-US" b="1" dirty="0" smtClean="0">
                <a:latin typeface="Arial Narrow" pitchFamily="34" charset="0"/>
              </a:rPr>
              <a:t>The Committee on the Rights of the Child</a:t>
            </a:r>
          </a:p>
          <a:p>
            <a:pPr lvl="1"/>
            <a:r>
              <a:rPr lang="en-US" b="1" dirty="0" smtClean="0">
                <a:latin typeface="Arial Narrow" pitchFamily="34" charset="0"/>
              </a:rPr>
              <a:t>Structure </a:t>
            </a:r>
          </a:p>
          <a:p>
            <a:pPr lvl="1"/>
            <a:r>
              <a:rPr lang="en-US" b="1" dirty="0" smtClean="0">
                <a:latin typeface="Arial Narrow" pitchFamily="34" charset="0"/>
              </a:rPr>
              <a:t>Function of the Committee</a:t>
            </a:r>
          </a:p>
          <a:p>
            <a:pPr lvl="2"/>
            <a:r>
              <a:rPr lang="en-US" dirty="0" smtClean="0">
                <a:latin typeface="Arial Narrow" pitchFamily="34" charset="0"/>
              </a:rPr>
              <a:t>Submission and Non-submission of Reports by States Parties</a:t>
            </a:r>
          </a:p>
          <a:p>
            <a:pPr lvl="2"/>
            <a:r>
              <a:rPr lang="en-US" dirty="0" smtClean="0">
                <a:latin typeface="Arial Narrow" pitchFamily="34" charset="0"/>
              </a:rPr>
              <a:t>Attendance by States Parties at the Examination of Reports</a:t>
            </a:r>
          </a:p>
          <a:p>
            <a:pPr lvl="2"/>
            <a:r>
              <a:rPr lang="en-US" dirty="0" smtClean="0">
                <a:latin typeface="Arial Narrow" pitchFamily="34" charset="0"/>
              </a:rPr>
              <a:t>Request for Additional Reports or Information</a:t>
            </a:r>
          </a:p>
          <a:p>
            <a:pPr lvl="2"/>
            <a:r>
              <a:rPr lang="en-US" dirty="0" smtClean="0">
                <a:latin typeface="Arial Narrow" pitchFamily="34" charset="0"/>
              </a:rPr>
              <a:t>Request for Other Reports or Advice</a:t>
            </a:r>
          </a:p>
          <a:p>
            <a:pPr lvl="2"/>
            <a:r>
              <a:rPr lang="en-US" dirty="0" smtClean="0">
                <a:latin typeface="Arial Narrow" pitchFamily="34" charset="0"/>
              </a:rPr>
              <a:t>Suggestions and General Recommendations on a State Party's Report</a:t>
            </a:r>
          </a:p>
          <a:p>
            <a:pPr lvl="2"/>
            <a:r>
              <a:rPr lang="en-US" dirty="0" smtClean="0">
                <a:latin typeface="Arial Narrow" pitchFamily="34" charset="0"/>
              </a:rPr>
              <a:t>Other General Recommendations</a:t>
            </a:r>
          </a:p>
          <a:p>
            <a:pPr lvl="2"/>
            <a:r>
              <a:rPr lang="en-US" dirty="0" smtClean="0">
                <a:latin typeface="Arial Narrow" pitchFamily="34" charset="0"/>
              </a:rPr>
              <a:t>General Comments on the Convention</a:t>
            </a:r>
          </a:p>
          <a:p>
            <a:pPr lvl="2"/>
            <a:r>
              <a:rPr lang="en-US" dirty="0" smtClean="0">
                <a:latin typeface="Arial Narrow" pitchFamily="34" charset="0"/>
              </a:rPr>
              <a:t>Transmission of States Parties' Reports that Contain a Request or Indicate a Need for Technical Advice or Assistance</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latin typeface="Arial Narrow" pitchFamily="34" charset="0"/>
              </a:rPr>
              <a:t>African Charter on Rights and Welfare of the Child</a:t>
            </a:r>
            <a:endParaRPr lang="en-US" b="1"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normAutofit fontScale="77500" lnSpcReduction="20000"/>
          </a:bodyPr>
          <a:lstStyle/>
          <a:p>
            <a:pPr algn="just"/>
            <a:r>
              <a:rPr lang="en-US" b="1" dirty="0" smtClean="0">
                <a:latin typeface="Arial Narrow" pitchFamily="34" charset="0"/>
              </a:rPr>
              <a:t>Protection before the ACRWC </a:t>
            </a:r>
          </a:p>
          <a:p>
            <a:pPr lvl="1" algn="just"/>
            <a:r>
              <a:rPr lang="en-US" b="1" dirty="0" smtClean="0">
                <a:latin typeface="Arial Narrow" pitchFamily="34" charset="0"/>
              </a:rPr>
              <a:t>First</a:t>
            </a:r>
            <a:r>
              <a:rPr lang="en-US" dirty="0" smtClean="0">
                <a:latin typeface="Arial Narrow" pitchFamily="34" charset="0"/>
              </a:rPr>
              <a:t> </a:t>
            </a:r>
            <a:r>
              <a:rPr lang="en-US" b="1" dirty="0" smtClean="0">
                <a:latin typeface="Arial Narrow" pitchFamily="34" charset="0"/>
              </a:rPr>
              <a:t>Declaration on the Rights and Welfare of the Child</a:t>
            </a:r>
            <a:r>
              <a:rPr lang="en-US" dirty="0" smtClean="0">
                <a:latin typeface="Arial Narrow" pitchFamily="34" charset="0"/>
              </a:rPr>
              <a:t> having been adopted by the </a:t>
            </a:r>
            <a:r>
              <a:rPr lang="en-US" b="1" dirty="0" smtClean="0">
                <a:latin typeface="Arial Narrow" pitchFamily="34" charset="0"/>
              </a:rPr>
              <a:t>Assembly of Heads of State and Government in 1979</a:t>
            </a:r>
            <a:r>
              <a:rPr lang="en-US" dirty="0" smtClean="0">
                <a:latin typeface="Arial Narrow" pitchFamily="34" charset="0"/>
              </a:rPr>
              <a:t>.</a:t>
            </a:r>
          </a:p>
          <a:p>
            <a:pPr algn="just"/>
            <a:r>
              <a:rPr lang="en-US" dirty="0" smtClean="0">
                <a:latin typeface="Arial Narrow" pitchFamily="34" charset="0"/>
              </a:rPr>
              <a:t>a number of </a:t>
            </a:r>
            <a:r>
              <a:rPr lang="en-US" b="1" dirty="0" smtClean="0">
                <a:latin typeface="Arial Narrow" pitchFamily="34" charset="0"/>
              </a:rPr>
              <a:t>Declarations and Resolutions </a:t>
            </a:r>
            <a:r>
              <a:rPr lang="en-US" dirty="0" smtClean="0">
                <a:latin typeface="Arial Narrow" pitchFamily="34" charset="0"/>
              </a:rPr>
              <a:t>adopted by </a:t>
            </a:r>
            <a:r>
              <a:rPr lang="en-US" b="1" dirty="0" smtClean="0">
                <a:latin typeface="Arial Narrow" pitchFamily="34" charset="0"/>
              </a:rPr>
              <a:t>OAU/AU(</a:t>
            </a:r>
            <a:r>
              <a:rPr lang="en-US" dirty="0" smtClean="0">
                <a:latin typeface="Arial Narrow" pitchFamily="34" charset="0"/>
              </a:rPr>
              <a:t>primarily related to d</a:t>
            </a:r>
            <a:r>
              <a:rPr lang="en-US" b="1" dirty="0" smtClean="0">
                <a:latin typeface="Arial Narrow" pitchFamily="34" charset="0"/>
              </a:rPr>
              <a:t>evelopment, health and children affected by armed conflict) and ILO</a:t>
            </a:r>
          </a:p>
          <a:p>
            <a:pPr algn="just"/>
            <a:r>
              <a:rPr lang="en-US" b="1" dirty="0" smtClean="0">
                <a:latin typeface="Arial Narrow" pitchFamily="34" charset="0"/>
              </a:rPr>
              <a:t>Why Regional Protection ? ACRWC(1990)- </a:t>
            </a:r>
          </a:p>
          <a:p>
            <a:pPr lvl="1" algn="just"/>
            <a:r>
              <a:rPr lang="en-US" b="1" dirty="0" smtClean="0">
                <a:latin typeface="Arial Narrow" pitchFamily="34" charset="0"/>
              </a:rPr>
              <a:t>CRC ignored vital socio-cultural and economic realities of the African milieu</a:t>
            </a:r>
          </a:p>
          <a:p>
            <a:pPr lvl="1" algn="just"/>
            <a:r>
              <a:rPr lang="en-US" b="1" dirty="0" smtClean="0">
                <a:latin typeface="Arial Narrow" pitchFamily="34" charset="0"/>
              </a:rPr>
              <a:t>ACRWC</a:t>
            </a:r>
            <a:r>
              <a:rPr lang="en-US" dirty="0" smtClean="0">
                <a:latin typeface="Arial Narrow" pitchFamily="34" charset="0"/>
              </a:rPr>
              <a:t> stresses the need to </a:t>
            </a:r>
            <a:r>
              <a:rPr lang="en-US" b="1" dirty="0" smtClean="0">
                <a:latin typeface="Arial Narrow" pitchFamily="34" charset="0"/>
              </a:rPr>
              <a:t>consider African cultural peculiarities in matters relating to the rights of children(</a:t>
            </a:r>
            <a:r>
              <a:rPr lang="en-US" dirty="0" smtClean="0">
                <a:latin typeface="Arial Narrow" pitchFamily="34" charset="0"/>
              </a:rPr>
              <a:t>African historical and cultural values.</a:t>
            </a:r>
            <a:r>
              <a:rPr lang="en-US" b="1" dirty="0" smtClean="0">
                <a:latin typeface="Arial Narrow" pitchFamily="34" charset="0"/>
              </a:rPr>
              <a:t>)</a:t>
            </a:r>
          </a:p>
          <a:p>
            <a:pPr lvl="1" algn="just"/>
            <a:r>
              <a:rPr lang="en-US" b="1" dirty="0" smtClean="0">
                <a:latin typeface="Arial Narrow" pitchFamily="34" charset="0"/>
              </a:rPr>
              <a:t>ACRWC ‘offers a higher level of protection than that offered by the CRC</a:t>
            </a:r>
          </a:p>
          <a:p>
            <a:pPr lvl="1" algn="just"/>
            <a:r>
              <a:rPr lang="en-US" b="1" dirty="0" smtClean="0">
                <a:latin typeface="Arial Narrow" pitchFamily="34" charset="0"/>
              </a:rPr>
              <a:t>African was in a state of  </a:t>
            </a:r>
            <a:r>
              <a:rPr lang="en-US" dirty="0" smtClean="0">
                <a:latin typeface="Arial Narrow" pitchFamily="34" charset="0"/>
              </a:rPr>
              <a:t>devastating impact and economic consequences of Structural Adjustment  programmes (a </a:t>
            </a:r>
            <a:r>
              <a:rPr lang="en-US" b="1" dirty="0" smtClean="0">
                <a:latin typeface="Arial Narrow" pitchFamily="34" charset="0"/>
              </a:rPr>
              <a:t>complementary mechanism to that of the UN </a:t>
            </a:r>
            <a:r>
              <a:rPr lang="en-US" dirty="0" smtClean="0">
                <a:latin typeface="Arial Narrow" pitchFamily="34" charset="0"/>
              </a:rPr>
              <a:t>in order to enhance the enjoyment of the rights of children in Africa)</a:t>
            </a:r>
          </a:p>
          <a:p>
            <a:pPr lvl="1" algn="just"/>
            <a:r>
              <a:rPr lang="en-US" b="1" dirty="0" smtClean="0">
                <a:latin typeface="Arial Narrow" pitchFamily="34" charset="0"/>
              </a:rPr>
              <a:t>International Law is subsidiary to regional mechanism which more effective than the international for a(less attractive)</a:t>
            </a:r>
          </a:p>
          <a:p>
            <a:pPr lvl="1" algn="just"/>
            <a:r>
              <a:rPr lang="en-US" dirty="0" smtClean="0">
                <a:latin typeface="Arial Narrow" pitchFamily="34" charset="0"/>
              </a:rPr>
              <a:t>Some substantive provisions are  in the CRC are vague</a:t>
            </a:r>
            <a:endParaRPr lang="en-US" b="1" dirty="0" smtClean="0">
              <a:latin typeface="Arial Narrow" pitchFamily="34" charset="0"/>
            </a:endParaRPr>
          </a:p>
          <a:p>
            <a:pPr algn="just"/>
            <a:endParaRPr lang="en-US" b="1" dirty="0" smtClean="0">
              <a:latin typeface="Arial Narrow" pitchFamily="34" charset="0"/>
            </a:endParaRPr>
          </a:p>
          <a:p>
            <a:pPr lvl="1"/>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fontScale="92500" lnSpcReduction="10000"/>
          </a:bodyPr>
          <a:lstStyle/>
          <a:p>
            <a:pPr algn="just"/>
            <a:r>
              <a:rPr lang="en-US" dirty="0" smtClean="0">
                <a:latin typeface="Arial Narrow" pitchFamily="34" charset="0"/>
              </a:rPr>
              <a:t>In many respects, children are more likely to be victims of human rights violations than adults, and </a:t>
            </a:r>
            <a:r>
              <a:rPr lang="en-US" b="1" dirty="0" smtClean="0">
                <a:latin typeface="Arial Narrow" pitchFamily="34" charset="0"/>
              </a:rPr>
              <a:t>African children </a:t>
            </a:r>
            <a:r>
              <a:rPr lang="en-US" dirty="0" smtClean="0">
                <a:latin typeface="Arial Narrow" pitchFamily="34" charset="0"/>
              </a:rPr>
              <a:t>are </a:t>
            </a:r>
            <a:r>
              <a:rPr lang="en-US" b="1" dirty="0" smtClean="0">
                <a:latin typeface="Arial Narrow" pitchFamily="34" charset="0"/>
              </a:rPr>
              <a:t>more likely to be victims than children on other continents</a:t>
            </a:r>
            <a:r>
              <a:rPr lang="en-US" dirty="0" smtClean="0">
                <a:latin typeface="Arial Narrow" pitchFamily="34" charset="0"/>
              </a:rPr>
              <a:t>. </a:t>
            </a:r>
            <a:r>
              <a:rPr lang="en-US" b="1" dirty="0" smtClean="0">
                <a:latin typeface="Arial Narrow" pitchFamily="34" charset="0"/>
              </a:rPr>
              <a:t>Causes</a:t>
            </a:r>
            <a:r>
              <a:rPr lang="en-US" dirty="0" smtClean="0">
                <a:latin typeface="Arial Narrow" pitchFamily="34" charset="0"/>
              </a:rPr>
              <a:t> of human rights violations in Africa, such as </a:t>
            </a:r>
            <a:r>
              <a:rPr lang="en-US" b="1" dirty="0" smtClean="0">
                <a:latin typeface="Arial Narrow" pitchFamily="34" charset="0"/>
              </a:rPr>
              <a:t>poverty, HIV/Aids, warfare, famine and harmful cultural practices have a disproportionate impact on the continent’s children</a:t>
            </a:r>
            <a:r>
              <a:rPr lang="en-US" dirty="0" smtClean="0">
                <a:latin typeface="Arial Narrow" pitchFamily="34" charset="0"/>
              </a:rPr>
              <a:t>.(</a:t>
            </a:r>
            <a:r>
              <a:rPr lang="en-US" b="1" dirty="0" smtClean="0">
                <a:latin typeface="Arial Narrow" pitchFamily="34" charset="0"/>
              </a:rPr>
              <a:t>Francis </a:t>
            </a:r>
            <a:r>
              <a:rPr lang="en-US" b="1" dirty="0" err="1" smtClean="0">
                <a:latin typeface="Arial Narrow" pitchFamily="34" charset="0"/>
              </a:rPr>
              <a:t>Viljoen</a:t>
            </a:r>
            <a:r>
              <a:rPr lang="en-US" b="1" dirty="0" smtClean="0">
                <a:latin typeface="Arial Narrow" pitchFamily="34" charset="0"/>
              </a:rPr>
              <a:t> 2000)</a:t>
            </a:r>
          </a:p>
          <a:p>
            <a:pPr algn="just"/>
            <a:r>
              <a:rPr lang="en-US" b="1" dirty="0" smtClean="0">
                <a:latin typeface="Arial Narrow" pitchFamily="34" charset="0"/>
              </a:rPr>
              <a:t>OAU to AU- (1963/2001)</a:t>
            </a:r>
          </a:p>
          <a:p>
            <a:pPr lvl="1" algn="just"/>
            <a:r>
              <a:rPr lang="en-US" dirty="0" smtClean="0">
                <a:latin typeface="Arial Narrow" pitchFamily="34" charset="0"/>
              </a:rPr>
              <a:t>one of the causes for this transformation was among other things, the less focus for human rights including child rights in the OAU.</a:t>
            </a:r>
          </a:p>
          <a:p>
            <a:pPr lvl="1" algn="just"/>
            <a:r>
              <a:rPr lang="en-US" dirty="0" smtClean="0">
                <a:latin typeface="Arial Narrow" pitchFamily="34" charset="0"/>
              </a:rPr>
              <a:t>OAU’s agendas were already solved(decolonization and self-determination)</a:t>
            </a:r>
          </a:p>
          <a:p>
            <a:pPr lvl="1" algn="just"/>
            <a:r>
              <a:rPr lang="en-US" dirty="0" smtClean="0">
                <a:latin typeface="Arial Narrow" pitchFamily="34" charset="0"/>
              </a:rPr>
              <a:t>1970s Africans were once again hardly affected by economic crisis and the need to focus on economic integration </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b="1" dirty="0" smtClean="0">
                <a:latin typeface="Arial Narrow" pitchFamily="34" charset="0"/>
              </a:rPr>
              <a:t>Legal Frameworks/Treaties on Human Rights in Africa</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92500" lnSpcReduction="20000"/>
          </a:bodyPr>
          <a:lstStyle/>
          <a:p>
            <a:pPr algn="just"/>
            <a:r>
              <a:rPr lang="en-US" b="1" dirty="0" smtClean="0">
                <a:latin typeface="Arial Narrow" pitchFamily="34" charset="0"/>
              </a:rPr>
              <a:t>the African Charter Governing Specific Aspects of the Refugee Problem in Africa, 1969, which entered into force in 1974;</a:t>
            </a:r>
          </a:p>
          <a:p>
            <a:pPr algn="just"/>
            <a:r>
              <a:rPr lang="en-US" b="1" dirty="0" smtClean="0">
                <a:latin typeface="Arial Narrow" pitchFamily="34" charset="0"/>
              </a:rPr>
              <a:t>the African Charter on Human and Peoples’ Rights, 1981, (ACHPR) which entered into force in 1986;</a:t>
            </a:r>
          </a:p>
          <a:p>
            <a:pPr algn="just"/>
            <a:r>
              <a:rPr lang="en-US" b="1" dirty="0" smtClean="0">
                <a:latin typeface="Arial Narrow" pitchFamily="34" charset="0"/>
              </a:rPr>
              <a:t>the African Charter on the Rights and Welfare of the Child, 1990, (ACRWC) which entered into force in 1999;</a:t>
            </a:r>
          </a:p>
          <a:p>
            <a:pPr algn="just"/>
            <a:r>
              <a:rPr lang="en-US" b="1" dirty="0" smtClean="0">
                <a:latin typeface="Arial Narrow" pitchFamily="34" charset="0"/>
              </a:rPr>
              <a:t>the Protocol to the African Charter on Human and Peoples’ Rights Establishing the African Court on Human and Peoples’ Rights, 1998, which entered into force in 2004;</a:t>
            </a:r>
          </a:p>
          <a:p>
            <a:pPr algn="just"/>
            <a:r>
              <a:rPr lang="en-US" b="1" dirty="0" smtClean="0">
                <a:latin typeface="Arial Narrow" pitchFamily="34" charset="0"/>
              </a:rPr>
              <a:t>the Protocol to the African Charter on Human and Peoples’ Rights on the Rights of Women, 2003, (AWP) which entered into force in 2005.</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latin typeface="Arial Narrow" pitchFamily="34" charset="0"/>
              </a:rPr>
              <a:t>Institutional Frameworks</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lstStyle/>
          <a:p>
            <a:pPr algn="just"/>
            <a:r>
              <a:rPr lang="en-US" b="1" dirty="0" smtClean="0">
                <a:latin typeface="Arial Narrow" pitchFamily="34" charset="0"/>
              </a:rPr>
              <a:t>the African Union (AU), the Pan-African organization that succeeded the defunct Organization of African Unity (OAU(1963-decolonization and self- determination for all African peoples- which was intending political independence than HRs)) in 2001;</a:t>
            </a:r>
          </a:p>
          <a:p>
            <a:pPr algn="just"/>
            <a:r>
              <a:rPr lang="en-US" b="1" dirty="0" smtClean="0">
                <a:latin typeface="Arial Narrow" pitchFamily="34" charset="0"/>
              </a:rPr>
              <a:t>the African Commission on Human and Peoples’ Rights (the African Commission);</a:t>
            </a:r>
          </a:p>
          <a:p>
            <a:pPr algn="just"/>
            <a:r>
              <a:rPr lang="en-US" b="1" dirty="0" smtClean="0">
                <a:latin typeface="Arial Narrow" pitchFamily="34" charset="0"/>
              </a:rPr>
              <a:t>the African Court on Human and Peoples’ Rights (the African Court); and </a:t>
            </a:r>
          </a:p>
          <a:p>
            <a:pPr algn="just"/>
            <a:r>
              <a:rPr lang="en-US" b="1" dirty="0" smtClean="0">
                <a:latin typeface="Arial Narrow" pitchFamily="34" charset="0"/>
              </a:rPr>
              <a:t>the African Committee of Experts on the Rights and Welfare of the Child</a:t>
            </a:r>
            <a:r>
              <a:rPr lang="en-US" dirty="0" smtClean="0">
                <a:latin typeface="Arial Narrow" pitchFamily="34" charset="0"/>
              </a:rPr>
              <a:t>.</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62000"/>
          </a:xfrm>
        </p:spPr>
        <p:txBody>
          <a:bodyPr>
            <a:normAutofit fontScale="90000"/>
          </a:bodyPr>
          <a:lstStyle/>
          <a:p>
            <a:r>
              <a:rPr lang="en-US" b="1" dirty="0" smtClean="0">
                <a:latin typeface="Arial Narrow" pitchFamily="34" charset="0"/>
              </a:rPr>
              <a:t>ACRWC(Adopted in 1990 and entered into force 1999)</a:t>
            </a:r>
            <a:endParaRPr lang="en-US" b="1" dirty="0">
              <a:latin typeface="Arial Narrow" pitchFamily="34" charset="0"/>
            </a:endParaRPr>
          </a:p>
        </p:txBody>
      </p:sp>
      <p:sp>
        <p:nvSpPr>
          <p:cNvPr id="3" name="Content Placeholder 2"/>
          <p:cNvSpPr>
            <a:spLocks noGrp="1"/>
          </p:cNvSpPr>
          <p:nvPr>
            <p:ph idx="1"/>
          </p:nvPr>
        </p:nvSpPr>
        <p:spPr>
          <a:xfrm>
            <a:off x="0" y="1219200"/>
            <a:ext cx="9144000" cy="5638800"/>
          </a:xfrm>
        </p:spPr>
        <p:txBody>
          <a:bodyPr>
            <a:normAutofit lnSpcReduction="10000"/>
          </a:bodyPr>
          <a:lstStyle/>
          <a:p>
            <a:pPr algn="just"/>
            <a:r>
              <a:rPr lang="en-US" dirty="0" smtClean="0">
                <a:latin typeface="Arial Narrow" pitchFamily="34" charset="0"/>
              </a:rPr>
              <a:t>Couches </a:t>
            </a:r>
            <a:r>
              <a:rPr lang="en-US" b="1" dirty="0" smtClean="0">
                <a:latin typeface="Arial Narrow" pitchFamily="34" charset="0"/>
              </a:rPr>
              <a:t>children’s rights and welfare issues </a:t>
            </a:r>
            <a:r>
              <a:rPr lang="en-US" dirty="0" smtClean="0">
                <a:latin typeface="Arial Narrow" pitchFamily="34" charset="0"/>
              </a:rPr>
              <a:t>in familiar </a:t>
            </a:r>
            <a:r>
              <a:rPr lang="en-US" b="1" dirty="0" smtClean="0">
                <a:latin typeface="Arial Narrow" pitchFamily="34" charset="0"/>
              </a:rPr>
              <a:t>African language</a:t>
            </a:r>
            <a:r>
              <a:rPr lang="en-US" dirty="0" smtClean="0">
                <a:latin typeface="Arial Narrow" pitchFamily="34" charset="0"/>
              </a:rPr>
              <a:t>, allowing for the </a:t>
            </a:r>
            <a:r>
              <a:rPr lang="en-US" b="1" dirty="0" smtClean="0">
                <a:latin typeface="Arial Narrow" pitchFamily="34" charset="0"/>
              </a:rPr>
              <a:t>virtues of children’s cultural heritage, historical background and the values of African civilization to be given priority</a:t>
            </a:r>
            <a:r>
              <a:rPr lang="en-US" dirty="0" smtClean="0">
                <a:latin typeface="Arial Narrow" pitchFamily="34" charset="0"/>
              </a:rPr>
              <a:t>.</a:t>
            </a:r>
          </a:p>
          <a:p>
            <a:pPr algn="just"/>
            <a:r>
              <a:rPr lang="en-US" dirty="0" smtClean="0">
                <a:latin typeface="Arial Narrow" pitchFamily="34" charset="0"/>
              </a:rPr>
              <a:t>Recognizes children in Africa as </a:t>
            </a:r>
            <a:r>
              <a:rPr lang="en-US" b="1" dirty="0" smtClean="0">
                <a:latin typeface="Arial Narrow" pitchFamily="34" charset="0"/>
              </a:rPr>
              <a:t>direct bearers of rights </a:t>
            </a:r>
            <a:r>
              <a:rPr lang="en-US" dirty="0" smtClean="0">
                <a:latin typeface="Arial Narrow" pitchFamily="34" charset="0"/>
              </a:rPr>
              <a:t>and, in turn, children </a:t>
            </a:r>
            <a:r>
              <a:rPr lang="en-US" b="1" dirty="0" smtClean="0">
                <a:latin typeface="Arial Narrow" pitchFamily="34" charset="0"/>
              </a:rPr>
              <a:t>bear responsibilities to others.</a:t>
            </a:r>
          </a:p>
          <a:p>
            <a:pPr algn="just"/>
            <a:r>
              <a:rPr lang="en-US" b="1" dirty="0" smtClean="0">
                <a:latin typeface="Arial Narrow" pitchFamily="34" charset="0"/>
              </a:rPr>
              <a:t>The definition of a child under Art. 2 is more better than the CRC because it secures among others things,</a:t>
            </a:r>
            <a:r>
              <a:rPr lang="en-US" dirty="0" smtClean="0">
                <a:latin typeface="Arial Narrow" pitchFamily="34" charset="0"/>
              </a:rPr>
              <a:t>  prohibition of </a:t>
            </a:r>
            <a:r>
              <a:rPr lang="en-US" b="1" dirty="0" smtClean="0">
                <a:latin typeface="Arial Narrow" pitchFamily="34" charset="0"/>
              </a:rPr>
              <a:t>child betrothals</a:t>
            </a:r>
            <a:r>
              <a:rPr lang="en-US" dirty="0" smtClean="0">
                <a:latin typeface="Arial Narrow" pitchFamily="34" charset="0"/>
              </a:rPr>
              <a:t>, children participating in </a:t>
            </a:r>
            <a:r>
              <a:rPr lang="en-US" b="1" dirty="0" smtClean="0">
                <a:latin typeface="Arial Narrow" pitchFamily="34" charset="0"/>
              </a:rPr>
              <a:t>armed conflicts</a:t>
            </a:r>
            <a:r>
              <a:rPr lang="en-US" dirty="0" smtClean="0">
                <a:latin typeface="Arial Narrow" pitchFamily="34" charset="0"/>
              </a:rPr>
              <a:t>, </a:t>
            </a:r>
            <a:r>
              <a:rPr lang="en-US" b="1" dirty="0" smtClean="0">
                <a:latin typeface="Arial Narrow" pitchFamily="34" charset="0"/>
              </a:rPr>
              <a:t>child </a:t>
            </a:r>
            <a:r>
              <a:rPr lang="en-US" b="1" dirty="0" err="1" smtClean="0">
                <a:latin typeface="Arial Narrow" pitchFamily="34" charset="0"/>
              </a:rPr>
              <a:t>labour</a:t>
            </a:r>
            <a:r>
              <a:rPr lang="en-US" b="1" dirty="0" smtClean="0">
                <a:latin typeface="Arial Narrow" pitchFamily="34" charset="0"/>
              </a:rPr>
              <a:t> practices and child  trafficking</a:t>
            </a:r>
            <a:r>
              <a:rPr lang="en-US" dirty="0" smtClean="0">
                <a:latin typeface="Arial Narrow" pitchFamily="34" charset="0"/>
              </a:rPr>
              <a:t>, which are dangerous situations facing children in Africa.</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Child Protection in other texts</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lstStyle/>
          <a:p>
            <a:pPr algn="just"/>
            <a:r>
              <a:rPr lang="en-US" dirty="0" smtClean="0">
                <a:latin typeface="Arial Narrow" pitchFamily="34" charset="0"/>
              </a:rPr>
              <a:t>The 1979 Declaration on the Rights and Welfare of the African Child (Declaration) developed by Assembly of Heads of State and Government of the OAU</a:t>
            </a:r>
          </a:p>
          <a:p>
            <a:pPr algn="just"/>
            <a:r>
              <a:rPr lang="en-US" dirty="0" smtClean="0">
                <a:latin typeface="Arial Narrow" pitchFamily="34" charset="0"/>
              </a:rPr>
              <a:t>International </a:t>
            </a:r>
            <a:r>
              <a:rPr lang="en-US" dirty="0" err="1" smtClean="0">
                <a:latin typeface="Arial Narrow" pitchFamily="34" charset="0"/>
              </a:rPr>
              <a:t>Labour</a:t>
            </a:r>
            <a:r>
              <a:rPr lang="en-US" dirty="0" smtClean="0">
                <a:latin typeface="Arial Narrow" pitchFamily="34" charset="0"/>
              </a:rPr>
              <a:t> Organization’s International </a:t>
            </a:r>
            <a:r>
              <a:rPr lang="en-US" dirty="0" err="1" smtClean="0">
                <a:latin typeface="Arial Narrow" pitchFamily="34" charset="0"/>
              </a:rPr>
              <a:t>Programme</a:t>
            </a:r>
            <a:r>
              <a:rPr lang="en-US" dirty="0" smtClean="0">
                <a:latin typeface="Arial Narrow" pitchFamily="34" charset="0"/>
              </a:rPr>
              <a:t> on the Elimination of Child </a:t>
            </a:r>
            <a:r>
              <a:rPr lang="en-US" dirty="0" err="1" smtClean="0">
                <a:latin typeface="Arial Narrow" pitchFamily="34" charset="0"/>
              </a:rPr>
              <a:t>Labour</a:t>
            </a:r>
            <a:r>
              <a:rPr lang="en-US" dirty="0" smtClean="0">
                <a:latin typeface="Arial Narrow" pitchFamily="34" charset="0"/>
              </a:rPr>
              <a:t> (ILO-IPEC)</a:t>
            </a:r>
          </a:p>
          <a:p>
            <a:pPr algn="just"/>
            <a:r>
              <a:rPr lang="en-US" smtClean="0">
                <a:latin typeface="Arial Narrow" pitchFamily="34" charset="0"/>
              </a:rPr>
              <a:t>The then </a:t>
            </a:r>
            <a:r>
              <a:rPr lang="en-US" dirty="0" smtClean="0">
                <a:latin typeface="Arial Narrow" pitchFamily="34" charset="0"/>
              </a:rPr>
              <a:t>OAU </a:t>
            </a:r>
            <a:r>
              <a:rPr lang="en-US" dirty="0" err="1" smtClean="0">
                <a:latin typeface="Arial Narrow" pitchFamily="34" charset="0"/>
              </a:rPr>
              <a:t>Labour</a:t>
            </a:r>
            <a:r>
              <a:rPr lang="en-US" dirty="0" smtClean="0">
                <a:latin typeface="Arial Narrow" pitchFamily="34" charset="0"/>
              </a:rPr>
              <a:t> and Social Affairs Commission</a:t>
            </a:r>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b="1" dirty="0" smtClean="0">
                <a:latin typeface="Arial Narrow" pitchFamily="34" charset="0"/>
              </a:rPr>
              <a:t>ACRWC Rational For Child Protection</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normAutofit lnSpcReduction="10000"/>
          </a:bodyPr>
          <a:lstStyle/>
          <a:p>
            <a:pPr algn="just"/>
            <a:r>
              <a:rPr lang="en-US" dirty="0" smtClean="0">
                <a:latin typeface="Arial Narrow" pitchFamily="34" charset="0"/>
              </a:rPr>
              <a:t>Preamble +Rights and Duties –Part I, African Committee of experts –Part II, Mandate and Procedure- Part III and Miscellaneous –Part IV.</a:t>
            </a:r>
          </a:p>
          <a:p>
            <a:pPr algn="just"/>
            <a:r>
              <a:rPr lang="en-US" dirty="0" smtClean="0">
                <a:latin typeface="Arial Narrow" pitchFamily="34" charset="0"/>
              </a:rPr>
              <a:t>the child should grow up in </a:t>
            </a:r>
            <a:r>
              <a:rPr lang="en-US" b="1" dirty="0" smtClean="0">
                <a:latin typeface="Arial Narrow" pitchFamily="34" charset="0"/>
              </a:rPr>
              <a:t>a family environment </a:t>
            </a:r>
            <a:r>
              <a:rPr lang="en-US" dirty="0" smtClean="0">
                <a:latin typeface="Arial Narrow" pitchFamily="34" charset="0"/>
              </a:rPr>
              <a:t>in an atmosphere of </a:t>
            </a:r>
            <a:r>
              <a:rPr lang="en-US" b="1" dirty="0" smtClean="0">
                <a:latin typeface="Arial Narrow" pitchFamily="34" charset="0"/>
              </a:rPr>
              <a:t>happiness, love and understanding </a:t>
            </a:r>
            <a:r>
              <a:rPr lang="en-US" dirty="0" smtClean="0">
                <a:latin typeface="Arial Narrow" pitchFamily="34" charset="0"/>
              </a:rPr>
              <a:t>(Preamble of the ACRWC)</a:t>
            </a:r>
          </a:p>
          <a:p>
            <a:pPr algn="just"/>
            <a:r>
              <a:rPr lang="en-US" dirty="0" smtClean="0">
                <a:latin typeface="Arial Narrow" pitchFamily="34" charset="0"/>
              </a:rPr>
              <a:t>The </a:t>
            </a:r>
            <a:r>
              <a:rPr lang="en-US" b="1" dirty="0" smtClean="0">
                <a:latin typeface="Arial Narrow" pitchFamily="34" charset="0"/>
              </a:rPr>
              <a:t>critical situation facing most children in Africa </a:t>
            </a:r>
            <a:r>
              <a:rPr lang="en-US" dirty="0" smtClean="0">
                <a:latin typeface="Arial Narrow" pitchFamily="34" charset="0"/>
              </a:rPr>
              <a:t>due to unique factors of their </a:t>
            </a:r>
            <a:r>
              <a:rPr lang="en-US" b="1" dirty="0" smtClean="0">
                <a:latin typeface="Arial Narrow" pitchFamily="34" charset="0"/>
              </a:rPr>
              <a:t>socio-economic, cultural, traditional and developmental circumstances, natural disasters, armed conflicts, exploitation and hunger</a:t>
            </a:r>
            <a:r>
              <a:rPr lang="en-US" dirty="0" smtClean="0">
                <a:latin typeface="Arial Narrow" pitchFamily="34" charset="0"/>
              </a:rPr>
              <a:t>, and that on account of children’s </a:t>
            </a:r>
            <a:r>
              <a:rPr lang="en-US" b="1" dirty="0" smtClean="0">
                <a:latin typeface="Arial Narrow" pitchFamily="34" charset="0"/>
              </a:rPr>
              <a:t>physical and mental immaturity</a:t>
            </a:r>
            <a:r>
              <a:rPr lang="en-US" dirty="0" smtClean="0">
                <a:latin typeface="Arial Narrow" pitchFamily="34" charset="0"/>
              </a:rPr>
              <a:t>, they need </a:t>
            </a:r>
            <a:r>
              <a:rPr lang="en-US" b="1" dirty="0" smtClean="0">
                <a:latin typeface="Arial Narrow" pitchFamily="34" charset="0"/>
              </a:rPr>
              <a:t>special safeguards and care</a:t>
            </a:r>
            <a:r>
              <a:rPr lang="en-US" dirty="0" smtClean="0">
                <a:latin typeface="Arial Narrow" pitchFamily="34" charset="0"/>
              </a:rPr>
              <a:t>.</a:t>
            </a:r>
          </a:p>
          <a:p>
            <a:pPr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smtClean="0">
                <a:latin typeface="Arial Narrow" pitchFamily="34" charset="0"/>
              </a:rPr>
              <a:t>Substantive Elements of ACRWC</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85000" lnSpcReduction="20000"/>
          </a:bodyPr>
          <a:lstStyle/>
          <a:p>
            <a:pPr algn="just"/>
            <a:r>
              <a:rPr lang="en-US" dirty="0" smtClean="0">
                <a:latin typeface="Arial Narrow" pitchFamily="34" charset="0"/>
              </a:rPr>
              <a:t>Definition- Art. 2 a child is ‘every human being under 18 years. </a:t>
            </a:r>
            <a:r>
              <a:rPr lang="en-US" b="1" dirty="0" smtClean="0">
                <a:latin typeface="Arial Narrow" pitchFamily="34" charset="0"/>
              </a:rPr>
              <a:t>Bottleneck –Registration problem?</a:t>
            </a:r>
          </a:p>
          <a:p>
            <a:pPr algn="just"/>
            <a:r>
              <a:rPr lang="en-US" b="1" dirty="0" smtClean="0">
                <a:latin typeface="Arial Narrow" pitchFamily="34" charset="0"/>
              </a:rPr>
              <a:t>Nature of State Obligation- </a:t>
            </a:r>
            <a:r>
              <a:rPr lang="en-US" dirty="0" smtClean="0">
                <a:latin typeface="Arial Narrow" pitchFamily="34" charset="0"/>
              </a:rPr>
              <a:t>Core Minimum obligations(incorporation into domestic laws) and necessary steps</a:t>
            </a:r>
          </a:p>
          <a:p>
            <a:pPr algn="just"/>
            <a:r>
              <a:rPr lang="en-US" b="1" dirty="0" smtClean="0">
                <a:latin typeface="Arial Narrow" pitchFamily="34" charset="0"/>
              </a:rPr>
              <a:t>Core/general Principles-</a:t>
            </a:r>
            <a:r>
              <a:rPr lang="en-US" dirty="0" smtClean="0"/>
              <a:t> </a:t>
            </a:r>
            <a:r>
              <a:rPr lang="en-US" dirty="0" smtClean="0">
                <a:latin typeface="Arial Narrow" pitchFamily="34" charset="0"/>
              </a:rPr>
              <a:t>underpin, inform and guide all the other provisions in the interpretation and enforcement.</a:t>
            </a:r>
          </a:p>
          <a:p>
            <a:pPr lvl="1" algn="just"/>
            <a:r>
              <a:rPr lang="en-US" b="1" dirty="0" smtClean="0">
                <a:latin typeface="Arial Narrow" pitchFamily="34" charset="0"/>
              </a:rPr>
              <a:t>Non-discrimination(Art. 3 cum 26)- Within their jurisdiction (Art. 2(1) of the ACRWC)</a:t>
            </a:r>
          </a:p>
          <a:p>
            <a:pPr lvl="1" algn="just"/>
            <a:r>
              <a:rPr lang="en-US" b="1" dirty="0" smtClean="0">
                <a:latin typeface="Arial Narrow" pitchFamily="34" charset="0"/>
              </a:rPr>
              <a:t>Best Interest of the Child (Art. 4)-Comprehensive approach than the CRC by encompassing </a:t>
            </a:r>
            <a:r>
              <a:rPr lang="en-US" b="1" i="1" dirty="0" smtClean="0">
                <a:latin typeface="Arial Narrow" pitchFamily="34" charset="0"/>
              </a:rPr>
              <a:t>the</a:t>
            </a:r>
            <a:r>
              <a:rPr lang="en-US" b="1" dirty="0" smtClean="0">
                <a:latin typeface="Arial Narrow" pitchFamily="34" charset="0"/>
              </a:rPr>
              <a:t> than </a:t>
            </a:r>
            <a:r>
              <a:rPr lang="en-US" b="1" i="1" dirty="0" smtClean="0">
                <a:latin typeface="Arial Narrow" pitchFamily="34" charset="0"/>
              </a:rPr>
              <a:t>a</a:t>
            </a:r>
          </a:p>
          <a:p>
            <a:pPr lvl="1" algn="just"/>
            <a:r>
              <a:rPr lang="en-US" b="1" dirty="0" smtClean="0">
                <a:latin typeface="Arial Narrow" pitchFamily="34" charset="0"/>
              </a:rPr>
              <a:t>life, survival and development (article 5)( Including the right to life and abolishment of death penalty)- Capital punishment? Art. 5(3) of the ACRWC (Art. 117 FDRE Criminal Code cum Art. 6(5) of the ICCPR) and life imprisonment also violates Art. 17(3) of the ACRWC</a:t>
            </a:r>
          </a:p>
          <a:p>
            <a:pPr lvl="1"/>
            <a:r>
              <a:rPr lang="en-US" b="1" dirty="0" smtClean="0">
                <a:latin typeface="Arial Narrow" pitchFamily="34" charset="0"/>
              </a:rPr>
              <a:t>respect for the views of the child (article 7)- Participation (Children are engaged actors than passive beneficiaries –children must be allowed to voice their respective views)</a:t>
            </a:r>
          </a:p>
          <a:p>
            <a:pPr lvl="1" algn="just"/>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b="1" dirty="0" smtClean="0">
                <a:latin typeface="Arial Narrow" pitchFamily="34" charset="0"/>
              </a:rPr>
              <a:t>ACRWC vs.CRC</a:t>
            </a:r>
            <a:r>
              <a:rPr lang="en-US" b="1" dirty="0" smtClean="0"/>
              <a:t> </a:t>
            </a:r>
            <a:endParaRPr lang="en-US" b="1" dirty="0"/>
          </a:p>
        </p:txBody>
      </p:sp>
      <p:sp>
        <p:nvSpPr>
          <p:cNvPr id="3" name="Content Placeholder 2"/>
          <p:cNvSpPr>
            <a:spLocks noGrp="1"/>
          </p:cNvSpPr>
          <p:nvPr>
            <p:ph idx="1"/>
          </p:nvPr>
        </p:nvSpPr>
        <p:spPr>
          <a:xfrm>
            <a:off x="0" y="838200"/>
            <a:ext cx="9144000" cy="6019800"/>
          </a:xfrm>
        </p:spPr>
        <p:txBody>
          <a:bodyPr>
            <a:normAutofit fontScale="77500" lnSpcReduction="20000"/>
          </a:bodyPr>
          <a:lstStyle/>
          <a:p>
            <a:pPr algn="just"/>
            <a:r>
              <a:rPr lang="en-US" b="1" dirty="0" smtClean="0">
                <a:latin typeface="Arial Narrow" pitchFamily="34" charset="0"/>
              </a:rPr>
              <a:t>Nationalit</a:t>
            </a:r>
            <a:r>
              <a:rPr lang="en-US" dirty="0" smtClean="0">
                <a:latin typeface="Arial Narrow" pitchFamily="34" charset="0"/>
              </a:rPr>
              <a:t>y (art. 7(2) CRC. Vs. Art. 6(4) of the ACRWC- the right to acquire nationality is </a:t>
            </a:r>
            <a:r>
              <a:rPr lang="en-US" b="1" dirty="0" smtClean="0">
                <a:latin typeface="Arial Narrow" pitchFamily="34" charset="0"/>
              </a:rPr>
              <a:t>worthless</a:t>
            </a:r>
            <a:r>
              <a:rPr lang="en-US" dirty="0" smtClean="0">
                <a:latin typeface="Arial Narrow" pitchFamily="34" charset="0"/>
              </a:rPr>
              <a:t> if there is no </a:t>
            </a:r>
            <a:r>
              <a:rPr lang="en-US" b="1" dirty="0" smtClean="0">
                <a:latin typeface="Arial Narrow" pitchFamily="34" charset="0"/>
              </a:rPr>
              <a:t>recognizable state </a:t>
            </a:r>
            <a:r>
              <a:rPr lang="en-US" dirty="0" smtClean="0">
                <a:latin typeface="Arial Narrow" pitchFamily="34" charset="0"/>
              </a:rPr>
              <a:t>to which to make an application whereas ACRWC explicitly providing for citizenship from the </a:t>
            </a:r>
            <a:r>
              <a:rPr lang="en-US" b="1" dirty="0" smtClean="0">
                <a:latin typeface="Arial Narrow" pitchFamily="34" charset="0"/>
              </a:rPr>
              <a:t>territory or residence </a:t>
            </a:r>
            <a:r>
              <a:rPr lang="en-US" dirty="0" smtClean="0">
                <a:latin typeface="Arial Narrow" pitchFamily="34" charset="0"/>
              </a:rPr>
              <a:t>in which the child is born</a:t>
            </a:r>
            <a:r>
              <a:rPr lang="en-US" dirty="0" smtClean="0"/>
              <a:t>.</a:t>
            </a:r>
          </a:p>
          <a:p>
            <a:pPr algn="just"/>
            <a:r>
              <a:rPr lang="en-US" b="1" dirty="0" smtClean="0">
                <a:latin typeface="Arial Narrow" pitchFamily="34" charset="0"/>
              </a:rPr>
              <a:t>Educatio</a:t>
            </a:r>
            <a:r>
              <a:rPr lang="en-US" dirty="0" smtClean="0">
                <a:latin typeface="Arial Narrow" pitchFamily="34" charset="0"/>
              </a:rPr>
              <a:t>n (Article 11(3)(e) cum Article 11(6) of the ACRWC)- Very comprehensive </a:t>
            </a:r>
          </a:p>
          <a:p>
            <a:pPr algn="just"/>
            <a:r>
              <a:rPr lang="en-US" b="1" dirty="0" smtClean="0">
                <a:latin typeface="Arial Narrow" pitchFamily="34" charset="0"/>
              </a:rPr>
              <a:t>Disabled children(</a:t>
            </a:r>
            <a:r>
              <a:rPr lang="en-US" dirty="0" smtClean="0">
                <a:latin typeface="Arial Narrow" pitchFamily="34" charset="0"/>
              </a:rPr>
              <a:t>Article 13(1) cum 13(3) of the ACRWC (Mental or physical disability</a:t>
            </a:r>
            <a:r>
              <a:rPr lang="en-US" b="1" dirty="0" smtClean="0">
                <a:latin typeface="Arial Narrow" pitchFamily="34" charset="0"/>
              </a:rPr>
              <a:t>)</a:t>
            </a:r>
          </a:p>
          <a:p>
            <a:pPr algn="just"/>
            <a:r>
              <a:rPr lang="en-US" b="1" dirty="0" smtClean="0">
                <a:latin typeface="Arial Narrow" pitchFamily="34" charset="0"/>
              </a:rPr>
              <a:t>Health and Health Services (</a:t>
            </a:r>
            <a:r>
              <a:rPr lang="en-US" dirty="0" smtClean="0">
                <a:latin typeface="Arial Narrow" pitchFamily="34" charset="0"/>
              </a:rPr>
              <a:t>Article 14(2)(g) of the ACRWC</a:t>
            </a:r>
            <a:r>
              <a:rPr lang="en-US" b="1" dirty="0" smtClean="0">
                <a:latin typeface="Arial Narrow" pitchFamily="34" charset="0"/>
              </a:rPr>
              <a:t>)</a:t>
            </a:r>
          </a:p>
          <a:p>
            <a:r>
              <a:rPr lang="en-US" b="1" dirty="0" smtClean="0">
                <a:latin typeface="Arial Narrow" pitchFamily="34" charset="0"/>
              </a:rPr>
              <a:t>Child </a:t>
            </a:r>
            <a:r>
              <a:rPr lang="en-US" b="1" dirty="0" err="1" smtClean="0">
                <a:latin typeface="Arial Narrow" pitchFamily="34" charset="0"/>
              </a:rPr>
              <a:t>Labour</a:t>
            </a:r>
            <a:r>
              <a:rPr lang="en-US" b="1" dirty="0" smtClean="0">
                <a:latin typeface="Arial Narrow" pitchFamily="34" charset="0"/>
              </a:rPr>
              <a:t> </a:t>
            </a:r>
            <a:r>
              <a:rPr lang="en-US" dirty="0" smtClean="0">
                <a:latin typeface="Arial Narrow" pitchFamily="34" charset="0"/>
              </a:rPr>
              <a:t>(Article 15)</a:t>
            </a:r>
          </a:p>
          <a:p>
            <a:r>
              <a:rPr lang="en-US" b="1" dirty="0" smtClean="0">
                <a:latin typeface="Arial Narrow" pitchFamily="34" charset="0"/>
              </a:rPr>
              <a:t>Parental responsibilities(Article 20(2a))</a:t>
            </a:r>
          </a:p>
          <a:p>
            <a:r>
              <a:rPr lang="en-US" b="1" dirty="0" smtClean="0">
                <a:latin typeface="Arial Narrow" pitchFamily="34" charset="0"/>
              </a:rPr>
              <a:t>Harmful social and cultural practices(Article 21</a:t>
            </a:r>
            <a:r>
              <a:rPr lang="en-US" i="1" dirty="0" smtClean="0"/>
              <a:t>)</a:t>
            </a:r>
          </a:p>
          <a:p>
            <a:r>
              <a:rPr lang="en-US" b="1" dirty="0" smtClean="0">
                <a:latin typeface="Arial Narrow" pitchFamily="34" charset="0"/>
              </a:rPr>
              <a:t>Children in armed conflict(Art</a:t>
            </a:r>
            <a:r>
              <a:rPr lang="en-US" b="1" i="1" dirty="0" smtClean="0">
                <a:latin typeface="Arial Narrow" pitchFamily="34" charset="0"/>
              </a:rPr>
              <a:t>. 22(2) ACRWC vs. Art. 38 CRC</a:t>
            </a:r>
            <a:r>
              <a:rPr lang="en-US" i="1" dirty="0" smtClean="0"/>
              <a:t>)</a:t>
            </a:r>
          </a:p>
          <a:p>
            <a:r>
              <a:rPr lang="en-US" b="1" dirty="0" smtClean="0">
                <a:latin typeface="Arial Narrow" pitchFamily="34" charset="0"/>
              </a:rPr>
              <a:t>Children’s duties(Article 31)</a:t>
            </a:r>
          </a:p>
          <a:p>
            <a:r>
              <a:rPr lang="en-US" b="1" i="1" dirty="0" smtClean="0">
                <a:latin typeface="Arial Narrow" pitchFamily="34" charset="0"/>
              </a:rPr>
              <a:t>Child victims(Art. 39 CRC must be fetched ) where the ACRWC failed to have – Rehabilitation Centers</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p:spPr>
        <p:txBody>
          <a:bodyPr>
            <a:normAutofit fontScale="90000"/>
          </a:bodyPr>
          <a:lstStyle/>
          <a:p>
            <a:r>
              <a:rPr lang="en-US" b="1" dirty="0" smtClean="0">
                <a:latin typeface="Arial Narrow" pitchFamily="34" charset="0"/>
              </a:rPr>
              <a:t>Treaty’s monitoring and enforcement mechanism(ACERWC)</a:t>
            </a:r>
            <a:endParaRPr lang="en-US" b="1" dirty="0">
              <a:latin typeface="Arial Narrow" pitchFamily="34" charset="0"/>
            </a:endParaRPr>
          </a:p>
        </p:txBody>
      </p:sp>
      <p:sp>
        <p:nvSpPr>
          <p:cNvPr id="3" name="Content Placeholder 2"/>
          <p:cNvSpPr>
            <a:spLocks noGrp="1"/>
          </p:cNvSpPr>
          <p:nvPr>
            <p:ph idx="1"/>
          </p:nvPr>
        </p:nvSpPr>
        <p:spPr>
          <a:xfrm>
            <a:off x="0" y="1295400"/>
            <a:ext cx="9144000" cy="5562600"/>
          </a:xfrm>
        </p:spPr>
        <p:txBody>
          <a:bodyPr/>
          <a:lstStyle/>
          <a:p>
            <a:pPr algn="just"/>
            <a:r>
              <a:rPr lang="en-US" b="1" dirty="0" smtClean="0">
                <a:latin typeface="Arial Narrow" pitchFamily="34" charset="0"/>
              </a:rPr>
              <a:t>The African Committee of Experts on the Rights and Welfare of the Child (ACERWC)-</a:t>
            </a:r>
            <a:r>
              <a:rPr lang="en-US" dirty="0" smtClean="0">
                <a:latin typeface="Arial Narrow" pitchFamily="34" charset="0"/>
              </a:rPr>
              <a:t> (article 42 supplemented by Rules 65, 70, 72 and 73, 75, 76 and 77)</a:t>
            </a:r>
            <a:endParaRPr lang="en-US" b="1" dirty="0" smtClean="0">
              <a:latin typeface="Arial Narrow" pitchFamily="34" charset="0"/>
            </a:endParaRPr>
          </a:p>
          <a:p>
            <a:pPr lvl="1" algn="just"/>
            <a:r>
              <a:rPr lang="en-US" dirty="0" smtClean="0">
                <a:latin typeface="Arial Narrow" pitchFamily="34" charset="0"/>
              </a:rPr>
              <a:t>receive state reports, </a:t>
            </a:r>
            <a:r>
              <a:rPr lang="en-US" b="1" dirty="0" smtClean="0">
                <a:latin typeface="Arial Narrow" pitchFamily="34" charset="0"/>
              </a:rPr>
              <a:t>individual communications</a:t>
            </a:r>
            <a:r>
              <a:rPr lang="en-US" dirty="0" smtClean="0">
                <a:latin typeface="Arial Narrow" pitchFamily="34" charset="0"/>
              </a:rPr>
              <a:t>, as well as conduct </a:t>
            </a:r>
            <a:r>
              <a:rPr lang="en-US" b="1" dirty="0" smtClean="0">
                <a:latin typeface="Arial Narrow" pitchFamily="34" charset="0"/>
              </a:rPr>
              <a:t>ad hoc missions and onsite visits to states considered to be violating their treaty obligations.</a:t>
            </a:r>
          </a:p>
          <a:p>
            <a:pPr lvl="1" algn="just"/>
            <a:r>
              <a:rPr lang="en-US" dirty="0" smtClean="0">
                <a:latin typeface="Arial Narrow" pitchFamily="34" charset="0"/>
              </a:rPr>
              <a:t>has </a:t>
            </a:r>
            <a:r>
              <a:rPr lang="en-US" b="1" dirty="0" smtClean="0">
                <a:latin typeface="Arial Narrow" pitchFamily="34" charset="0"/>
              </a:rPr>
              <a:t>standing before </a:t>
            </a:r>
            <a:r>
              <a:rPr lang="en-US" dirty="0" smtClean="0">
                <a:latin typeface="Arial Narrow" pitchFamily="34" charset="0"/>
              </a:rPr>
              <a:t>the newly established African Court on Human and Peoples’ Rights. These shows better mechanism of enforcement than the CRC.</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b="1" dirty="0" err="1" smtClean="0">
                <a:latin typeface="Arial Narrow" pitchFamily="34" charset="0"/>
              </a:rPr>
              <a:t>Cont’ed</a:t>
            </a:r>
            <a:endParaRPr lang="en-US" b="1" dirty="0">
              <a:latin typeface="Arial Narrow" pitchFamily="34" charset="0"/>
            </a:endParaRPr>
          </a:p>
        </p:txBody>
      </p:sp>
      <p:sp>
        <p:nvSpPr>
          <p:cNvPr id="3" name="Content Placeholder 2"/>
          <p:cNvSpPr>
            <a:spLocks noGrp="1"/>
          </p:cNvSpPr>
          <p:nvPr>
            <p:ph idx="1"/>
          </p:nvPr>
        </p:nvSpPr>
        <p:spPr>
          <a:xfrm>
            <a:off x="0" y="533400"/>
            <a:ext cx="9144000" cy="6324600"/>
          </a:xfrm>
        </p:spPr>
        <p:txBody>
          <a:bodyPr>
            <a:normAutofit fontScale="70000" lnSpcReduction="20000"/>
          </a:bodyPr>
          <a:lstStyle/>
          <a:p>
            <a:pPr algn="just">
              <a:buFont typeface="Wingdings" pitchFamily="2" charset="2"/>
              <a:buChar char="v"/>
            </a:pPr>
            <a:r>
              <a:rPr lang="en-US" b="1" dirty="0" smtClean="0">
                <a:latin typeface="Arial Narrow" pitchFamily="34" charset="0"/>
              </a:rPr>
              <a:t>Indigenous Peoples Rights(ILO Convention No.169, 1989)</a:t>
            </a:r>
          </a:p>
          <a:p>
            <a:pPr lvl="1" algn="just"/>
            <a:r>
              <a:rPr lang="en-US" dirty="0" smtClean="0">
                <a:latin typeface="Arial Narrow" pitchFamily="34" charset="0"/>
              </a:rPr>
              <a:t>Consultation rights against measures of government – </a:t>
            </a:r>
            <a:r>
              <a:rPr lang="en-US" b="1" dirty="0" smtClean="0">
                <a:latin typeface="Arial Narrow" pitchFamily="34" charset="0"/>
              </a:rPr>
              <a:t>a procedural rights</a:t>
            </a:r>
          </a:p>
          <a:p>
            <a:pPr lvl="1" algn="just"/>
            <a:r>
              <a:rPr lang="en-US" b="1" dirty="0" smtClean="0">
                <a:latin typeface="Arial Narrow" pitchFamily="34" charset="0"/>
              </a:rPr>
              <a:t>Exogenous and indigenous </a:t>
            </a:r>
          </a:p>
          <a:p>
            <a:pPr algn="just"/>
            <a:r>
              <a:rPr lang="en-US" dirty="0" smtClean="0">
                <a:latin typeface="Arial Narrow" pitchFamily="34" charset="0"/>
              </a:rPr>
              <a:t>Declaration on the rights of Indigenous peoples in 2007(Categories of </a:t>
            </a:r>
            <a:r>
              <a:rPr lang="en-US" b="1" dirty="0" smtClean="0">
                <a:latin typeface="Arial Narrow" pitchFamily="34" charset="0"/>
              </a:rPr>
              <a:t>Rights protected for indigenous peoples</a:t>
            </a:r>
            <a:r>
              <a:rPr lang="en-US" dirty="0" smtClean="0">
                <a:latin typeface="Arial Narrow" pitchFamily="34" charset="0"/>
              </a:rPr>
              <a:t> )- are </a:t>
            </a:r>
            <a:r>
              <a:rPr lang="en-US" b="1" dirty="0" smtClean="0">
                <a:latin typeface="Arial Narrow" pitchFamily="34" charset="0"/>
              </a:rPr>
              <a:t>collective rights </a:t>
            </a:r>
          </a:p>
          <a:p>
            <a:pPr lvl="1" algn="just"/>
            <a:r>
              <a:rPr lang="en-US" b="1" dirty="0" smtClean="0">
                <a:latin typeface="Arial Narrow" pitchFamily="34" charset="0"/>
              </a:rPr>
              <a:t>Property rights- </a:t>
            </a:r>
            <a:r>
              <a:rPr lang="en-US" dirty="0" smtClean="0">
                <a:latin typeface="Arial Narrow" pitchFamily="34" charset="0"/>
              </a:rPr>
              <a:t>Land and natural resources </a:t>
            </a:r>
          </a:p>
          <a:p>
            <a:pPr lvl="1" algn="just"/>
            <a:r>
              <a:rPr lang="en-US" b="1" dirty="0" smtClean="0">
                <a:latin typeface="Arial Narrow" pitchFamily="34" charset="0"/>
              </a:rPr>
              <a:t>Cultural rights </a:t>
            </a:r>
            <a:r>
              <a:rPr lang="en-US" dirty="0" smtClean="0">
                <a:latin typeface="Arial Narrow" pitchFamily="34" charset="0"/>
              </a:rPr>
              <a:t>–Heritage preservation and development </a:t>
            </a:r>
          </a:p>
          <a:p>
            <a:pPr lvl="1" algn="just"/>
            <a:r>
              <a:rPr lang="en-US" b="1" dirty="0" smtClean="0">
                <a:latin typeface="Arial Narrow" pitchFamily="34" charset="0"/>
              </a:rPr>
              <a:t>Political rights </a:t>
            </a:r>
            <a:r>
              <a:rPr lang="en-US" dirty="0" smtClean="0">
                <a:latin typeface="Arial Narrow" pitchFamily="34" charset="0"/>
              </a:rPr>
              <a:t>–self-government and self-determination including succession</a:t>
            </a:r>
          </a:p>
          <a:p>
            <a:pPr algn="just"/>
            <a:r>
              <a:rPr lang="en-US" b="1" dirty="0" smtClean="0">
                <a:latin typeface="Arial Narrow" pitchFamily="34" charset="0"/>
              </a:rPr>
              <a:t>Corporations and investments exploitations vs. Indigenous Peoples Rights</a:t>
            </a:r>
          </a:p>
          <a:p>
            <a:pPr algn="just"/>
            <a:r>
              <a:rPr lang="en-US" b="1" dirty="0" smtClean="0">
                <a:latin typeface="Arial Narrow" pitchFamily="34" charset="0"/>
              </a:rPr>
              <a:t>Rights of Indigenous Peoples is monitored by charter based special </a:t>
            </a:r>
            <a:r>
              <a:rPr lang="en-US" b="1" dirty="0" err="1" smtClean="0">
                <a:latin typeface="Arial Narrow" pitchFamily="34" charset="0"/>
              </a:rPr>
              <a:t>rapporteur</a:t>
            </a:r>
            <a:endParaRPr lang="en-US" b="1" dirty="0" smtClean="0">
              <a:latin typeface="Arial Narrow" pitchFamily="34" charset="0"/>
            </a:endParaRPr>
          </a:p>
          <a:p>
            <a:pPr algn="just">
              <a:buFont typeface="Wingdings" pitchFamily="2" charset="2"/>
              <a:buChar char="v"/>
            </a:pPr>
            <a:r>
              <a:rPr lang="en-US" b="1" dirty="0" smtClean="0">
                <a:latin typeface="Arial Narrow" pitchFamily="34" charset="0"/>
              </a:rPr>
              <a:t>Minority Rights (Article 27 of the ICCPR vs. Article 1 of the ICCPR and ICESCR)</a:t>
            </a:r>
          </a:p>
          <a:p>
            <a:pPr algn="just"/>
            <a:r>
              <a:rPr lang="en-US" dirty="0" smtClean="0">
                <a:latin typeface="Arial Narrow" pitchFamily="34" charset="0"/>
              </a:rPr>
              <a:t>It is not about numbers but </a:t>
            </a:r>
            <a:r>
              <a:rPr lang="en-US" b="1" dirty="0" smtClean="0">
                <a:latin typeface="Arial Narrow" pitchFamily="34" charset="0"/>
              </a:rPr>
              <a:t>disempowerment </a:t>
            </a:r>
            <a:r>
              <a:rPr lang="en-US" dirty="0" smtClean="0">
                <a:latin typeface="Arial Narrow" pitchFamily="34" charset="0"/>
              </a:rPr>
              <a:t>(due </a:t>
            </a:r>
            <a:r>
              <a:rPr lang="en-US" b="1" dirty="0" smtClean="0">
                <a:latin typeface="Arial Narrow" pitchFamily="34" charset="0"/>
              </a:rPr>
              <a:t>to ethnic, religion, or linguistic</a:t>
            </a:r>
            <a:r>
              <a:rPr lang="en-US" dirty="0" smtClean="0">
                <a:latin typeface="Arial Narrow" pitchFamily="34" charset="0"/>
              </a:rPr>
              <a:t>)- neglecting a certain member of the group from participation and enjoyment of fundamental rights and freedoms- </a:t>
            </a:r>
            <a:r>
              <a:rPr lang="en-US" b="1" dirty="0" smtClean="0">
                <a:latin typeface="Arial Narrow" pitchFamily="34" charset="0"/>
              </a:rPr>
              <a:t>discrimination on these bases- Minority rights are rights of individual members of a certain ethnic, religious or linguistic groups.</a:t>
            </a:r>
          </a:p>
          <a:p>
            <a:pPr algn="just"/>
            <a:r>
              <a:rPr lang="en-US" dirty="0" smtClean="0">
                <a:latin typeface="Arial Narrow" pitchFamily="34" charset="0"/>
              </a:rPr>
              <a:t>Decision making and participation and questions of empowerment </a:t>
            </a:r>
          </a:p>
          <a:p>
            <a:pPr algn="just"/>
            <a:r>
              <a:rPr lang="en-US" b="1" dirty="0" smtClean="0">
                <a:latin typeface="Arial Narrow" pitchFamily="34" charset="0"/>
              </a:rPr>
              <a:t>General Comment Number 23</a:t>
            </a:r>
          </a:p>
          <a:p>
            <a:pPr algn="just"/>
            <a:r>
              <a:rPr lang="en-US" b="1" dirty="0" smtClean="0">
                <a:latin typeface="Arial Narrow" pitchFamily="34" charset="0"/>
              </a:rPr>
              <a:t>Declaration on the Rights of Persons belonging to national, ethnic and linguistic minority in 1992</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lnSpcReduction="10000"/>
          </a:bodyPr>
          <a:lstStyle/>
          <a:p>
            <a:pPr>
              <a:buFont typeface="Wingdings" pitchFamily="2" charset="2"/>
              <a:buChar char="v"/>
            </a:pPr>
            <a:r>
              <a:rPr lang="en-US" b="1" dirty="0" smtClean="0">
                <a:latin typeface="Arial Narrow" pitchFamily="34" charset="0"/>
              </a:rPr>
              <a:t>Persons with Disabilities</a:t>
            </a:r>
          </a:p>
          <a:p>
            <a:pPr algn="just"/>
            <a:r>
              <a:rPr lang="en-US" dirty="0" smtClean="0">
                <a:latin typeface="Arial Narrow" pitchFamily="34" charset="0"/>
              </a:rPr>
              <a:t>Types of disability includes mental, intellectual, sensory and physical disability  which are long term in nature.</a:t>
            </a:r>
          </a:p>
          <a:p>
            <a:pPr algn="just"/>
            <a:r>
              <a:rPr lang="en-US" dirty="0" smtClean="0">
                <a:latin typeface="Arial Narrow" pitchFamily="34" charset="0"/>
              </a:rPr>
              <a:t>Is regulated by UN Convention on the Rights of Persons with Disability which entered into force in 2008</a:t>
            </a:r>
          </a:p>
          <a:p>
            <a:pPr algn="just"/>
            <a:r>
              <a:rPr lang="en-US" dirty="0" smtClean="0">
                <a:latin typeface="Arial Narrow" pitchFamily="34" charset="0"/>
              </a:rPr>
              <a:t>Optional Protocol on UN Convention on the Rights of Persons with Disability gives competence to the Committee to receive individual complaints </a:t>
            </a:r>
          </a:p>
          <a:p>
            <a:pPr algn="just"/>
            <a:r>
              <a:rPr lang="en-US" dirty="0" smtClean="0">
                <a:latin typeface="Arial Narrow" pitchFamily="34" charset="0"/>
              </a:rPr>
              <a:t>The Committee on the Convention on the Rights of Persons with Disability monitors the implementation of the Convention by way of receiving state reports, individual complaints, inquiry, non-binding recommendation and general comments for interpretation guidelines  </a:t>
            </a:r>
          </a:p>
          <a:p>
            <a:endParaRPr lang="en-US"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b="1" dirty="0" smtClean="0">
                <a:latin typeface="Arial Narrow" pitchFamily="34" charset="0"/>
              </a:rPr>
              <a:t>Human Rights, Culture and Globalization</a:t>
            </a:r>
            <a:endParaRPr lang="en-US" dirty="0">
              <a:latin typeface="Arial Narrow" pitchFamily="34" charset="0"/>
            </a:endParaRPr>
          </a:p>
        </p:txBody>
      </p:sp>
      <p:sp>
        <p:nvSpPr>
          <p:cNvPr id="3" name="Content Placeholder 2"/>
          <p:cNvSpPr>
            <a:spLocks noGrp="1"/>
          </p:cNvSpPr>
          <p:nvPr>
            <p:ph idx="1"/>
          </p:nvPr>
        </p:nvSpPr>
        <p:spPr>
          <a:xfrm>
            <a:off x="0" y="990600"/>
            <a:ext cx="9144000" cy="5867400"/>
          </a:xfrm>
        </p:spPr>
        <p:txBody>
          <a:bodyPr>
            <a:normAutofit fontScale="62500" lnSpcReduction="20000"/>
          </a:bodyPr>
          <a:lstStyle/>
          <a:p>
            <a:pPr algn="just"/>
            <a:r>
              <a:rPr lang="en-US" b="1" i="1" dirty="0" smtClean="0">
                <a:latin typeface="Arial Narrow" pitchFamily="34" charset="0"/>
              </a:rPr>
              <a:t>We all  do no end of feeling, and we mistake it for thinking . Mark </a:t>
            </a:r>
            <a:r>
              <a:rPr lang="en-US" b="1" i="1" dirty="0" err="1" smtClean="0">
                <a:latin typeface="Arial Narrow" pitchFamily="34" charset="0"/>
              </a:rPr>
              <a:t>Twam</a:t>
            </a:r>
            <a:r>
              <a:rPr lang="en-US" b="1" i="1" dirty="0" smtClean="0">
                <a:latin typeface="Arial Narrow" pitchFamily="34" charset="0"/>
              </a:rPr>
              <a:t> </a:t>
            </a:r>
          </a:p>
          <a:p>
            <a:pPr algn="just"/>
            <a:r>
              <a:rPr lang="en-US" b="1" i="1" dirty="0" smtClean="0">
                <a:latin typeface="Arial Narrow" pitchFamily="34" charset="0"/>
              </a:rPr>
              <a:t>Claims can be categorized into:</a:t>
            </a:r>
          </a:p>
          <a:p>
            <a:pPr lvl="1" algn="just"/>
            <a:r>
              <a:rPr lang="en-US" b="1" dirty="0" smtClean="0">
                <a:latin typeface="Arial Narrow" pitchFamily="34" charset="0"/>
              </a:rPr>
              <a:t>Subjective</a:t>
            </a:r>
            <a:r>
              <a:rPr lang="en-US" dirty="0" smtClean="0">
                <a:latin typeface="Arial Narrow" pitchFamily="34" charset="0"/>
              </a:rPr>
              <a:t>- a claim or judgment is subjective if </a:t>
            </a:r>
            <a:r>
              <a:rPr lang="en-US" b="1" dirty="0" smtClean="0">
                <a:latin typeface="Arial Narrow" pitchFamily="34" charset="0"/>
              </a:rPr>
              <a:t>its truth depends on whether or not it conforms to the tastes, attitudes, and beliefs of the claimer ( the person making the claim</a:t>
            </a:r>
            <a:r>
              <a:rPr lang="en-US" dirty="0" smtClean="0">
                <a:latin typeface="Arial Narrow" pitchFamily="34" charset="0"/>
              </a:rPr>
              <a:t>)</a:t>
            </a:r>
          </a:p>
          <a:p>
            <a:pPr lvl="1" algn="just"/>
            <a:r>
              <a:rPr lang="en-US" b="1" i="1" dirty="0" smtClean="0">
                <a:latin typeface="Arial Narrow" pitchFamily="34" charset="0"/>
              </a:rPr>
              <a:t>Inter -subjective –</a:t>
            </a:r>
            <a:r>
              <a:rPr lang="en-US" dirty="0" smtClean="0">
                <a:latin typeface="Arial Narrow" pitchFamily="34" charset="0"/>
              </a:rPr>
              <a:t>A claim or judgment is inter-subjective if its truth depends on whether or not it confirms to the </a:t>
            </a:r>
            <a:r>
              <a:rPr lang="en-US" b="1" dirty="0" smtClean="0">
                <a:latin typeface="Arial Narrow" pitchFamily="34" charset="0"/>
              </a:rPr>
              <a:t>beliefs, attitudes, and conventions of the group  to which the claim  belong</a:t>
            </a:r>
            <a:r>
              <a:rPr lang="en-US" dirty="0" smtClean="0">
                <a:latin typeface="Arial Narrow" pitchFamily="34" charset="0"/>
              </a:rPr>
              <a:t>s. Example, it is rude to belch at the dinner table which is a matter of custom.</a:t>
            </a:r>
          </a:p>
          <a:p>
            <a:pPr lvl="1" algn="just"/>
            <a:r>
              <a:rPr lang="en-US" b="1" i="1" dirty="0" smtClean="0">
                <a:latin typeface="Arial Narrow" pitchFamily="34" charset="0"/>
              </a:rPr>
              <a:t>Objective – </a:t>
            </a:r>
            <a:r>
              <a:rPr lang="en-US" dirty="0" smtClean="0">
                <a:latin typeface="Arial Narrow" pitchFamily="34" charset="0"/>
              </a:rPr>
              <a:t>A claim or judgment is objective if its truth </a:t>
            </a:r>
            <a:r>
              <a:rPr lang="en-US" b="1" dirty="0" smtClean="0">
                <a:latin typeface="Arial Narrow" pitchFamily="34" charset="0"/>
              </a:rPr>
              <a:t>does NOT </a:t>
            </a:r>
            <a:r>
              <a:rPr lang="en-US" dirty="0" smtClean="0">
                <a:latin typeface="Arial Narrow" pitchFamily="34" charset="0"/>
              </a:rPr>
              <a:t>depend on whether it conforms to the </a:t>
            </a:r>
            <a:r>
              <a:rPr lang="en-US" b="1" dirty="0" smtClean="0">
                <a:latin typeface="Arial Narrow" pitchFamily="34" charset="0"/>
              </a:rPr>
              <a:t>beliefs or attitudes of any group of individual. </a:t>
            </a:r>
            <a:r>
              <a:rPr lang="en-US" dirty="0" smtClean="0">
                <a:latin typeface="Arial Narrow" pitchFamily="34" charset="0"/>
              </a:rPr>
              <a:t>Example, the earth is spherical which is a matter of fact.</a:t>
            </a:r>
          </a:p>
          <a:p>
            <a:pPr algn="just"/>
            <a:r>
              <a:rPr lang="en-US" b="1" dirty="0" smtClean="0">
                <a:latin typeface="Arial Narrow" pitchFamily="34" charset="0"/>
              </a:rPr>
              <a:t>Categories of Ethics</a:t>
            </a:r>
          </a:p>
          <a:p>
            <a:pPr lvl="1" algn="just"/>
            <a:r>
              <a:rPr lang="en-US" dirty="0" smtClean="0">
                <a:latin typeface="Arial Narrow" pitchFamily="34" charset="0"/>
              </a:rPr>
              <a:t>Ethical Relativism-  is the view  that al moral claims are inter-subjective.</a:t>
            </a:r>
          </a:p>
          <a:p>
            <a:pPr lvl="1" algn="just"/>
            <a:r>
              <a:rPr lang="en-US" dirty="0" smtClean="0">
                <a:latin typeface="Arial Narrow" pitchFamily="34" charset="0"/>
              </a:rPr>
              <a:t>Conventional Ethical Relativism- is the view that  a more specific type of ethical relativism, holds that the moral conventions of a culture determine what is </a:t>
            </a:r>
            <a:r>
              <a:rPr lang="en-US" b="1" dirty="0" smtClean="0">
                <a:latin typeface="Arial Narrow" pitchFamily="34" charset="0"/>
              </a:rPr>
              <a:t>right and wrong for the members of that culture to do. On this view seemingly  conflicting moral judgments can be equally correct when made from within different cultural contexts . For instance, consider the claim  it is wrong to eat beef, which is true from within Orthodox Hinduism but false from within certain other cultures. This type of relativism claims moral reformers are simply misguided and that moral progress is impossible. It also claim there is little, if any, point to moral argument moral deliberation.</a:t>
            </a:r>
          </a:p>
          <a:p>
            <a:pPr algn="just"/>
            <a:r>
              <a:rPr lang="en-US" b="1" dirty="0" smtClean="0">
                <a:latin typeface="Arial Narrow" pitchFamily="34" charset="0"/>
              </a:rPr>
              <a:t>The Term Cultural Relativism is borrowed from anthropology and moral philosophy. Culture as a manifestation of identity and the universal standards of HRs(Cultural Rights). </a:t>
            </a: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62500" lnSpcReduction="20000"/>
          </a:bodyPr>
          <a:lstStyle/>
          <a:p>
            <a:pPr algn="just"/>
            <a:r>
              <a:rPr lang="en-US" b="1" dirty="0" smtClean="0">
                <a:latin typeface="Arial Narrow" pitchFamily="34" charset="0"/>
              </a:rPr>
              <a:t>Cultural Relativism – a position according to which local cultural traditions (including religious, political, and legal practices) properly determine the existence and scope of rights enjoyed by individuals in a given society. A central tenet of relativism is that no </a:t>
            </a:r>
            <a:r>
              <a:rPr lang="en-US" b="1" dirty="0" err="1" smtClean="0">
                <a:latin typeface="Arial Narrow" pitchFamily="34" charset="0"/>
              </a:rPr>
              <a:t>transboundary</a:t>
            </a:r>
            <a:r>
              <a:rPr lang="en-US" b="1" dirty="0" smtClean="0">
                <a:latin typeface="Arial Narrow" pitchFamily="34" charset="0"/>
              </a:rPr>
              <a:t> legal or moral standards exist against which human rights practices may be judged acceptable or unacceptable. Hence, substantive HRs standards vary among different cultures and necessarily reflect national idiosyncrasies. And difference exists in the meaning making or construction of HRs Standards. </a:t>
            </a:r>
          </a:p>
          <a:p>
            <a:pPr algn="just"/>
            <a:r>
              <a:rPr lang="en-US" b="1" dirty="0" smtClean="0">
                <a:latin typeface="Arial Narrow" pitchFamily="34" charset="0"/>
              </a:rPr>
              <a:t>Cultural Relativism </a:t>
            </a:r>
            <a:r>
              <a:rPr lang="en-US" dirty="0" smtClean="0">
                <a:latin typeface="Arial Narrow" pitchFamily="34" charset="0"/>
              </a:rPr>
              <a:t>is the claim that different cultures have </a:t>
            </a:r>
            <a:r>
              <a:rPr lang="en-US" b="1" dirty="0" smtClean="0">
                <a:latin typeface="Arial Narrow" pitchFamily="34" charset="0"/>
              </a:rPr>
              <a:t>different moral codes</a:t>
            </a:r>
            <a:r>
              <a:rPr lang="en-US" dirty="0" smtClean="0">
                <a:latin typeface="Arial Narrow" pitchFamily="34" charset="0"/>
              </a:rPr>
              <a:t>. It says there are </a:t>
            </a:r>
            <a:r>
              <a:rPr lang="en-US" b="1" dirty="0" smtClean="0">
                <a:latin typeface="Arial Narrow" pitchFamily="34" charset="0"/>
              </a:rPr>
              <a:t>no independent standards by which to judge correct or incorrect actions</a:t>
            </a:r>
            <a:r>
              <a:rPr lang="en-US" dirty="0" smtClean="0">
                <a:latin typeface="Arial Narrow" pitchFamily="34" charset="0"/>
              </a:rPr>
              <a:t>. All standards are </a:t>
            </a:r>
            <a:r>
              <a:rPr lang="en-US" b="1" dirty="0" smtClean="0">
                <a:latin typeface="Arial Narrow" pitchFamily="34" charset="0"/>
              </a:rPr>
              <a:t>culture bounded.</a:t>
            </a:r>
          </a:p>
          <a:p>
            <a:pPr algn="just"/>
            <a:r>
              <a:rPr lang="en-US" b="1" dirty="0" smtClean="0">
                <a:latin typeface="Arial Narrow" pitchFamily="34" charset="0"/>
              </a:rPr>
              <a:t>Claims of Cultural Relativism </a:t>
            </a:r>
          </a:p>
          <a:p>
            <a:pPr lvl="1" algn="just"/>
            <a:r>
              <a:rPr lang="en-US" b="1" dirty="0" smtClean="0">
                <a:latin typeface="Arial Narrow" pitchFamily="34" charset="0"/>
              </a:rPr>
              <a:t>Absence of objective truth in morality – Rights and Wrongs are only matter of opinion, and opinions vary from culture to culture. Hence, there </a:t>
            </a:r>
            <a:r>
              <a:rPr lang="en-US" dirty="0" smtClean="0">
                <a:latin typeface="Arial Narrow" pitchFamily="34" charset="0"/>
              </a:rPr>
              <a:t>is </a:t>
            </a:r>
            <a:r>
              <a:rPr lang="en-US" b="1" dirty="0" smtClean="0">
                <a:latin typeface="Arial Narrow" pitchFamily="34" charset="0"/>
              </a:rPr>
              <a:t>no  objective standards </a:t>
            </a:r>
            <a:r>
              <a:rPr lang="en-US" dirty="0" smtClean="0">
                <a:latin typeface="Arial Narrow" pitchFamily="34" charset="0"/>
              </a:rPr>
              <a:t>that can be used to judge one </a:t>
            </a:r>
            <a:r>
              <a:rPr lang="en-US" b="1" dirty="0" smtClean="0">
                <a:latin typeface="Arial Narrow" pitchFamily="34" charset="0"/>
              </a:rPr>
              <a:t>societal code better than another</a:t>
            </a:r>
            <a:r>
              <a:rPr lang="en-US" dirty="0" smtClean="0">
                <a:latin typeface="Arial Narrow" pitchFamily="34" charset="0"/>
              </a:rPr>
              <a:t>. </a:t>
            </a:r>
          </a:p>
          <a:p>
            <a:pPr lvl="1" algn="just"/>
            <a:r>
              <a:rPr lang="en-US" b="1" dirty="0" smtClean="0">
                <a:latin typeface="Arial Narrow" pitchFamily="34" charset="0"/>
              </a:rPr>
              <a:t>Different cultures have different moral codes, and the moral code of a society determines what is right within that society. So the moral code of our own society has no special status.</a:t>
            </a:r>
          </a:p>
          <a:p>
            <a:pPr lvl="1" algn="just"/>
            <a:r>
              <a:rPr lang="en-US" b="1" dirty="0" smtClean="0">
                <a:latin typeface="Arial Narrow" pitchFamily="34" charset="0"/>
              </a:rPr>
              <a:t>It is mere arrogance for us to try to judge the conduct of other peoples. We should, therefore, adopt an attitude of tolerance toward practice of other cultures.</a:t>
            </a:r>
          </a:p>
          <a:p>
            <a:pPr algn="just"/>
            <a:r>
              <a:rPr lang="en-US" b="1" dirty="0" smtClean="0">
                <a:latin typeface="Arial Narrow" pitchFamily="34" charset="0"/>
              </a:rPr>
              <a:t>Does it follow that just because  people disagree that there is no objective truth? Relativism of this type, sometimes leads to truths that are later disproved.</a:t>
            </a:r>
          </a:p>
          <a:p>
            <a:pPr lvl="1" algn="just"/>
            <a:r>
              <a:rPr lang="en-US" b="1" dirty="0" smtClean="0">
                <a:latin typeface="Arial Narrow" pitchFamily="34" charset="0"/>
              </a:rPr>
              <a:t>Example the world is flat like a pizza – the world is round, like a ball</a:t>
            </a:r>
          </a:p>
          <a:p>
            <a:r>
              <a:rPr lang="en-US" b="1" dirty="0" smtClean="0">
                <a:latin typeface="Arial Narrow" pitchFamily="34" charset="0"/>
              </a:rPr>
              <a:t> </a:t>
            </a:r>
          </a:p>
          <a:p>
            <a:endParaRPr lang="en-US"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92500" lnSpcReduction="10000"/>
          </a:bodyPr>
          <a:lstStyle/>
          <a:p>
            <a:pPr algn="just"/>
            <a:r>
              <a:rPr lang="en-US" b="1" dirty="0" smtClean="0">
                <a:latin typeface="Arial Narrow" pitchFamily="34" charset="0"/>
              </a:rPr>
              <a:t>Can we take cultural relativism seriously? If we did, we could no longer say that the customs of other societies are morally inferior to our own that means any customs!</a:t>
            </a:r>
          </a:p>
          <a:p>
            <a:pPr algn="just"/>
            <a:r>
              <a:rPr lang="en-US" b="1" dirty="0" smtClean="0">
                <a:latin typeface="Arial Narrow" pitchFamily="34" charset="0"/>
              </a:rPr>
              <a:t>Is there anything good about cultural relativism?  Ye we become  more tolerant of other people and realize that we may be blinded by our own cultural prejudices.</a:t>
            </a:r>
          </a:p>
          <a:p>
            <a:pPr algn="just"/>
            <a:r>
              <a:rPr lang="en-US" b="1" dirty="0" smtClean="0">
                <a:latin typeface="Arial Narrow" pitchFamily="34" charset="0"/>
              </a:rPr>
              <a:t>Are there any values that all cultures might have in common? There are few universal moral principles. For instance</a:t>
            </a:r>
          </a:p>
          <a:p>
            <a:pPr lvl="1" algn="just"/>
            <a:r>
              <a:rPr lang="en-US" b="1" dirty="0" smtClean="0">
                <a:latin typeface="Arial Narrow" pitchFamily="34" charset="0"/>
              </a:rPr>
              <a:t>Care for young</a:t>
            </a:r>
          </a:p>
          <a:p>
            <a:pPr lvl="1" algn="just"/>
            <a:r>
              <a:rPr lang="en-US" b="1" dirty="0" smtClean="0">
                <a:latin typeface="Arial Narrow" pitchFamily="34" charset="0"/>
              </a:rPr>
              <a:t>Truth telling </a:t>
            </a:r>
          </a:p>
          <a:p>
            <a:pPr lvl="1" algn="just"/>
            <a:r>
              <a:rPr lang="en-US" b="1" dirty="0" smtClean="0">
                <a:latin typeface="Arial Narrow" pitchFamily="34" charset="0"/>
              </a:rPr>
              <a:t>The Prohibition against murder</a:t>
            </a:r>
          </a:p>
          <a:p>
            <a:pPr lvl="1" algn="just"/>
            <a:r>
              <a:rPr lang="en-US" b="1" dirty="0" smtClean="0">
                <a:latin typeface="Arial Narrow" pitchFamily="34" charset="0"/>
              </a:rPr>
              <a:t>Can you think about others?</a:t>
            </a:r>
          </a:p>
          <a:p>
            <a:endParaRPr lang="en-US"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77500" lnSpcReduction="20000"/>
          </a:bodyPr>
          <a:lstStyle/>
          <a:p>
            <a:pPr algn="just"/>
            <a:r>
              <a:rPr lang="en-US" b="1" dirty="0" smtClean="0">
                <a:latin typeface="Arial Narrow" pitchFamily="34" charset="0"/>
              </a:rPr>
              <a:t>If we would to try to develop a culture- neutral standard of rightness,  what might be it like?</a:t>
            </a:r>
          </a:p>
          <a:p>
            <a:pPr algn="just"/>
            <a:r>
              <a:rPr lang="en-US" b="1" dirty="0" smtClean="0">
                <a:latin typeface="Arial Narrow" pitchFamily="34" charset="0"/>
              </a:rPr>
              <a:t>Objective valid moral principles are those that promote and protect the interests of all relevant beings. On this view, whether a cultural practice is morally good or bad depends on whether it promotes or hinders the welfare of those who are affected by it.</a:t>
            </a:r>
          </a:p>
          <a:p>
            <a:pPr algn="just"/>
            <a:r>
              <a:rPr lang="en-US" b="1" dirty="0" smtClean="0">
                <a:latin typeface="Arial Narrow" pitchFamily="34" charset="0"/>
              </a:rPr>
              <a:t>Ethical subjectivism- is the idea that our moral opinions are based on our feelings, and nothing more. There is no right or wrong , only expressions of our feelings. Therefore, we can’t judge another’s opinion as being wrong or right since it is merely an opinion and nothing else. Thus, there are not such things as moral facts only our attitude about morality.</a:t>
            </a:r>
          </a:p>
          <a:p>
            <a:pPr algn="just"/>
            <a:r>
              <a:rPr lang="en-US" b="1" dirty="0" smtClean="0">
                <a:latin typeface="Arial Narrow" pitchFamily="34" charset="0"/>
              </a:rPr>
              <a:t>The problem is that subjectivism assumes only two possibilities:</a:t>
            </a:r>
          </a:p>
          <a:p>
            <a:pPr lvl="1" algn="just"/>
            <a:r>
              <a:rPr lang="en-US" b="1" dirty="0" smtClean="0">
                <a:latin typeface="Arial Narrow" pitchFamily="34" charset="0"/>
              </a:rPr>
              <a:t> There are moral facts  in same way that there are fact about stars and planets;</a:t>
            </a:r>
          </a:p>
          <a:p>
            <a:pPr lvl="1" algn="just"/>
            <a:r>
              <a:rPr lang="en-US" b="1" dirty="0" smtClean="0">
                <a:latin typeface="Arial Narrow" pitchFamily="34" charset="0"/>
              </a:rPr>
              <a:t> Our values are nothing more than the expression of our subjective feelings.</a:t>
            </a:r>
          </a:p>
          <a:p>
            <a:endParaRPr lang="en-US" dirty="0"/>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533400"/>
            <a:ext cx="9144000" cy="6324600"/>
          </a:xfrm>
        </p:spPr>
        <p:txBody>
          <a:bodyPr>
            <a:normAutofit fontScale="62500" lnSpcReduction="20000"/>
          </a:bodyPr>
          <a:lstStyle/>
          <a:p>
            <a:pPr algn="just"/>
            <a:r>
              <a:rPr lang="en-US" b="1" dirty="0" smtClean="0">
                <a:latin typeface="Arial Narrow" pitchFamily="34" charset="0"/>
              </a:rPr>
              <a:t>There is a third crucial possibility which the argument overlooks – Moral truths are in fact truths of reason. That is a moral judgment is true if it is backed by better reasons than the alternatives..</a:t>
            </a:r>
          </a:p>
          <a:p>
            <a:pPr algn="just"/>
            <a:r>
              <a:rPr lang="en-US" b="1" dirty="0" smtClean="0">
                <a:latin typeface="Arial Narrow" pitchFamily="34" charset="0"/>
              </a:rPr>
              <a:t>Think of accepting Ethical Subjectivism as an excuse… We did not usually allow people to do things simply because they feel they are right. But rather reason should be attached. </a:t>
            </a:r>
          </a:p>
          <a:p>
            <a:pPr algn="just"/>
            <a:r>
              <a:rPr lang="en-US" b="1" dirty="0" smtClean="0">
                <a:latin typeface="Arial Narrow" pitchFamily="34" charset="0"/>
              </a:rPr>
              <a:t> What we have done instead is to develop theories of rightness and obligation based on the notion of reason:</a:t>
            </a:r>
          </a:p>
          <a:p>
            <a:pPr lvl="1" algn="just"/>
            <a:r>
              <a:rPr lang="en-US" b="1" dirty="0" smtClean="0">
                <a:latin typeface="Arial Narrow" pitchFamily="34" charset="0"/>
              </a:rPr>
              <a:t>Ethical egoism – each person ought to do whatever will best promote his or her own interests.</a:t>
            </a:r>
          </a:p>
          <a:p>
            <a:pPr lvl="1" algn="just"/>
            <a:r>
              <a:rPr lang="en-US" b="1" dirty="0" smtClean="0">
                <a:latin typeface="Arial Narrow" pitchFamily="34" charset="0"/>
              </a:rPr>
              <a:t>Utilitarianism- we ought to do whatever will promote the greatest happiness for the greatest number of people.</a:t>
            </a:r>
          </a:p>
          <a:p>
            <a:pPr lvl="1" algn="just"/>
            <a:r>
              <a:rPr lang="en-US" b="1" dirty="0" smtClean="0">
                <a:latin typeface="Arial Narrow" pitchFamily="34" charset="0"/>
              </a:rPr>
              <a:t>Kant’s moral theory –our duty is to follow rules that we could consistently will to be universal laws- that is, rules that we would be willing to have followed by all people in all circumstance .</a:t>
            </a:r>
          </a:p>
          <a:p>
            <a:pPr lvl="1" algn="just"/>
            <a:r>
              <a:rPr lang="en-US" b="1" dirty="0" smtClean="0">
                <a:latin typeface="Arial Narrow" pitchFamily="34" charset="0"/>
              </a:rPr>
              <a:t>Virtue Ethics-we ought to strive to develop a good character.</a:t>
            </a:r>
          </a:p>
          <a:p>
            <a:pPr algn="just"/>
            <a:r>
              <a:rPr lang="en-US" b="1" dirty="0" smtClean="0">
                <a:latin typeface="Arial Narrow" pitchFamily="34" charset="0"/>
              </a:rPr>
              <a:t>A theory is a model, based on and representing reality if it works as a model, it can be used to guide and/` or predict reality.</a:t>
            </a:r>
          </a:p>
          <a:p>
            <a:pPr algn="just">
              <a:buFont typeface="Wingdings" pitchFamily="2" charset="2"/>
              <a:buChar char="v"/>
            </a:pPr>
            <a:r>
              <a:rPr lang="en-US" b="1" dirty="0" smtClean="0">
                <a:latin typeface="Arial Narrow" pitchFamily="34" charset="0"/>
              </a:rPr>
              <a:t>Theories of Ethics</a:t>
            </a:r>
          </a:p>
          <a:p>
            <a:pPr algn="just"/>
            <a:r>
              <a:rPr lang="en-US" dirty="0" smtClean="0">
                <a:latin typeface="Arial Narrow" pitchFamily="34" charset="0"/>
              </a:rPr>
              <a:t>Consequential theories </a:t>
            </a:r>
          </a:p>
          <a:p>
            <a:pPr algn="just"/>
            <a:r>
              <a:rPr lang="en-US" dirty="0" smtClean="0">
                <a:latin typeface="Arial Narrow" pitchFamily="34" charset="0"/>
              </a:rPr>
              <a:t>Non-consequential theories </a:t>
            </a:r>
          </a:p>
          <a:p>
            <a:pPr algn="just"/>
            <a:r>
              <a:rPr lang="en-US" dirty="0" smtClean="0">
                <a:latin typeface="Arial Narrow" pitchFamily="34" charset="0"/>
              </a:rPr>
              <a:t>Social Contract theory</a:t>
            </a:r>
          </a:p>
          <a:p>
            <a:pPr algn="just"/>
            <a:r>
              <a:rPr lang="en-US" dirty="0" smtClean="0">
                <a:latin typeface="Arial Narrow" pitchFamily="34" charset="0"/>
              </a:rPr>
              <a:t>Virtue/Character ethics</a:t>
            </a:r>
          </a:p>
          <a:p>
            <a:pPr algn="just"/>
            <a:endParaRPr lang="en-US" b="1" dirty="0" smtClean="0">
              <a:latin typeface="Arial Narrow" pitchFamily="34" charset="0"/>
            </a:endParaRPr>
          </a:p>
          <a:p>
            <a:pPr algn="just"/>
            <a:endParaRPr lang="en-US" b="1" dirty="0" smtClean="0">
              <a:latin typeface="Arial Narrow" pitchFamily="34" charset="0"/>
            </a:endParaRPr>
          </a:p>
          <a:p>
            <a:pPr lvl="1" algn="just"/>
            <a:endParaRPr lang="en-US" b="1" dirty="0" smtClean="0">
              <a:latin typeface="Arial Narrow" pitchFamily="34" charset="0"/>
            </a:endParaRPr>
          </a:p>
          <a:p>
            <a:endParaRPr lang="en-US" dirty="0"/>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rPr>
              <a:t>Culture, HRs and Globalization</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fontScale="77500" lnSpcReduction="20000"/>
          </a:bodyPr>
          <a:lstStyle/>
          <a:p>
            <a:pPr algn="just"/>
            <a:r>
              <a:rPr lang="en-US" b="1" dirty="0" smtClean="0">
                <a:latin typeface="Arial Narrow" pitchFamily="34" charset="0"/>
              </a:rPr>
              <a:t>Universalism vs. Universality of HRs (Cultural Rights vs. Standards of HRs in UN Charter, UDHR and Vienna Declaration and Program of Action 1993</a:t>
            </a:r>
            <a:r>
              <a:rPr lang="en-US" dirty="0" smtClean="0">
                <a:latin typeface="Arial Narrow" pitchFamily="34" charset="0"/>
              </a:rPr>
              <a:t>)</a:t>
            </a:r>
          </a:p>
          <a:p>
            <a:pPr algn="just"/>
            <a:r>
              <a:rPr lang="en-US" b="1" dirty="0" smtClean="0">
                <a:latin typeface="Arial Narrow" pitchFamily="34" charset="0"/>
              </a:rPr>
              <a:t>Culture, HRs and Globalization for Development, Investment and Trade-Cultural Transformation? And Cross-cultural dialogue </a:t>
            </a:r>
            <a:r>
              <a:rPr lang="en-US" b="1" dirty="0" err="1" smtClean="0">
                <a:latin typeface="Arial Narrow" pitchFamily="34" charset="0"/>
              </a:rPr>
              <a:t>vs.effect</a:t>
            </a:r>
            <a:endParaRPr lang="en-US" b="1" dirty="0" smtClean="0">
              <a:latin typeface="Arial Narrow" pitchFamily="34" charset="0"/>
            </a:endParaRPr>
          </a:p>
          <a:p>
            <a:pPr algn="just"/>
            <a:r>
              <a:rPr lang="en-US" dirty="0" smtClean="0">
                <a:latin typeface="Arial Narrow" pitchFamily="34" charset="0"/>
              </a:rPr>
              <a:t>Globalization, comprehensive term for the emergence of a global society in which </a:t>
            </a:r>
            <a:r>
              <a:rPr lang="en-US" b="1" dirty="0" smtClean="0">
                <a:latin typeface="Arial Narrow" pitchFamily="34" charset="0"/>
              </a:rPr>
              <a:t>economic, political, environmental, and cultural events in one part </a:t>
            </a:r>
            <a:r>
              <a:rPr lang="en-US" dirty="0" smtClean="0">
                <a:latin typeface="Arial Narrow" pitchFamily="34" charset="0"/>
              </a:rPr>
              <a:t>of the world quickly come to have significance for people in other parts of the world. Globalization is the result of advances in </a:t>
            </a:r>
            <a:r>
              <a:rPr lang="en-US" b="1" dirty="0" smtClean="0">
                <a:latin typeface="Arial Narrow" pitchFamily="34" charset="0"/>
              </a:rPr>
              <a:t>communication, transportation, and information technologies</a:t>
            </a:r>
            <a:r>
              <a:rPr lang="en-US" dirty="0" smtClean="0">
                <a:latin typeface="Arial Narrow" pitchFamily="34" charset="0"/>
              </a:rPr>
              <a:t>. It describes the growing </a:t>
            </a:r>
            <a:r>
              <a:rPr lang="en-US" b="1" dirty="0" smtClean="0">
                <a:latin typeface="Arial Narrow" pitchFamily="34" charset="0"/>
              </a:rPr>
              <a:t>economic, political, technological, and cultural linkages that connect individuals, communities, businesses, and governments around the world</a:t>
            </a:r>
            <a:r>
              <a:rPr lang="en-US" dirty="0" smtClean="0">
                <a:latin typeface="Arial Narrow" pitchFamily="34" charset="0"/>
              </a:rPr>
              <a:t>. Globalization also involves the growth of </a:t>
            </a:r>
            <a:r>
              <a:rPr lang="en-US" b="1" i="1" dirty="0" smtClean="0">
                <a:latin typeface="Arial Narrow" pitchFamily="34" charset="0"/>
              </a:rPr>
              <a:t>multinational corporations</a:t>
            </a:r>
            <a:r>
              <a:rPr lang="en-US" b="1" dirty="0" smtClean="0">
                <a:latin typeface="Arial Narrow" pitchFamily="34" charset="0"/>
              </a:rPr>
              <a:t> (businesses that have operations or investments in many countries) and </a:t>
            </a:r>
            <a:r>
              <a:rPr lang="en-US" b="1" i="1" dirty="0" smtClean="0">
                <a:latin typeface="Arial Narrow" pitchFamily="34" charset="0"/>
              </a:rPr>
              <a:t>transnational corporations</a:t>
            </a:r>
            <a:r>
              <a:rPr lang="en-US" b="1" dirty="0" smtClean="0">
                <a:latin typeface="Arial Narrow" pitchFamily="34" charset="0"/>
              </a:rPr>
              <a:t> (businesses that see themselves functioning in a global marketplace). </a:t>
            </a:r>
            <a:r>
              <a:rPr lang="en-US" dirty="0" smtClean="0">
                <a:latin typeface="Arial Narrow" pitchFamily="34" charset="0"/>
              </a:rPr>
              <a:t>The most dramatic evidence of globalization is the </a:t>
            </a:r>
            <a:r>
              <a:rPr lang="en-US" b="1" dirty="0" smtClean="0">
                <a:latin typeface="Arial Narrow" pitchFamily="34" charset="0"/>
              </a:rPr>
              <a:t>increase in trade and the movement of </a:t>
            </a:r>
            <a:r>
              <a:rPr lang="en-US" b="1" i="1" dirty="0" smtClean="0">
                <a:latin typeface="Arial Narrow" pitchFamily="34" charset="0"/>
              </a:rPr>
              <a:t>capital</a:t>
            </a:r>
            <a:r>
              <a:rPr lang="en-US" b="1" dirty="0" smtClean="0">
                <a:latin typeface="Arial Narrow" pitchFamily="34" charset="0"/>
              </a:rPr>
              <a:t> (stocks, bonds, currencies, and other investments)</a:t>
            </a:r>
            <a:r>
              <a:rPr lang="en-US" dirty="0" smtClean="0">
                <a:latin typeface="Arial Narrow" pitchFamily="34" charset="0"/>
              </a:rPr>
              <a:t>.</a:t>
            </a:r>
          </a:p>
          <a:p>
            <a:pPr algn="just"/>
            <a:endParaRPr lang="en-US" dirty="0" smtClean="0"/>
          </a:p>
          <a:p>
            <a:pPr algn="just"/>
            <a:endParaRPr lang="en-US" b="1" dirty="0" smtClean="0">
              <a:latin typeface="Arial Narrow" pitchFamily="34" charset="0"/>
            </a:endParaRP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Doctrines Associated with Relativism</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85000" lnSpcReduction="10000"/>
          </a:bodyPr>
          <a:lstStyle/>
          <a:p>
            <a:pPr algn="just"/>
            <a:r>
              <a:rPr lang="en-US" b="1" dirty="0" smtClean="0">
                <a:latin typeface="Arial Narrow" pitchFamily="34" charset="0"/>
              </a:rPr>
              <a:t>Elitist Theory </a:t>
            </a:r>
            <a:r>
              <a:rPr lang="en-US" dirty="0" smtClean="0">
                <a:latin typeface="Arial Narrow" pitchFamily="34" charset="0"/>
              </a:rPr>
              <a:t>–(necessarily emanates from cultural relativism) asserts that one can appropriately honor HRs in certain societies usually the most sophisticated ones but not in others, on account, for example, of </a:t>
            </a:r>
            <a:r>
              <a:rPr lang="en-US" b="1" dirty="0" smtClean="0">
                <a:latin typeface="Arial Narrow" pitchFamily="34" charset="0"/>
              </a:rPr>
              <a:t>the latter’s insufficient economic development. HRs are good for those West but not for much of the Non-West world.</a:t>
            </a:r>
          </a:p>
          <a:p>
            <a:pPr lvl="1" algn="just"/>
            <a:r>
              <a:rPr lang="en-US" b="1" dirty="0" smtClean="0">
                <a:latin typeface="Arial Narrow" pitchFamily="34" charset="0"/>
              </a:rPr>
              <a:t>Two Versions of Elitism </a:t>
            </a:r>
          </a:p>
          <a:p>
            <a:pPr lvl="2" algn="just"/>
            <a:r>
              <a:rPr lang="en-US" b="1" dirty="0" smtClean="0">
                <a:latin typeface="Arial Narrow" pitchFamily="34" charset="0"/>
              </a:rPr>
              <a:t>The Right wing – associate HRs with Colonialism that backward people can’t govern themselves and that democracy only works for superior cultures.</a:t>
            </a:r>
          </a:p>
          <a:p>
            <a:pPr lvl="2" algn="just"/>
            <a:r>
              <a:rPr lang="en-US" b="1" dirty="0" smtClean="0">
                <a:latin typeface="Arial Narrow" pitchFamily="34" charset="0"/>
              </a:rPr>
              <a:t>The Left –Wing Version liberals for Western Countries but support leftist dictatorships abroad – we should be tolerant of and respect the cultural identity and political self-determination of the Third Word Countries .</a:t>
            </a:r>
          </a:p>
          <a:p>
            <a:pPr lvl="1" algn="just"/>
            <a:r>
              <a:rPr lang="en-US" b="1" dirty="0" smtClean="0">
                <a:latin typeface="Arial Narrow" pitchFamily="34" charset="0"/>
              </a:rPr>
              <a:t>Dilemma of This theory- is immoral and replete with racist overtones- West phobia  </a:t>
            </a:r>
          </a:p>
          <a:p>
            <a:pPr lvl="2" algn="just"/>
            <a:r>
              <a:rPr lang="en-US" b="1" dirty="0" smtClean="0">
                <a:latin typeface="Arial Narrow" pitchFamily="34" charset="0"/>
              </a:rPr>
              <a:t>They are anxious to articulate an international HRs Standard</a:t>
            </a:r>
          </a:p>
          <a:p>
            <a:pPr lvl="2" algn="just"/>
            <a:r>
              <a:rPr lang="en-US" b="1" dirty="0" smtClean="0">
                <a:latin typeface="Arial Narrow" pitchFamily="34" charset="0"/>
              </a:rPr>
              <a:t>They wish to respect the autonomy of individual cultures.</a:t>
            </a: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609600"/>
            <a:ext cx="9144000" cy="6248400"/>
          </a:xfrm>
        </p:spPr>
        <p:txBody>
          <a:bodyPr>
            <a:normAutofit/>
          </a:bodyPr>
          <a:lstStyle/>
          <a:p>
            <a:pPr algn="just"/>
            <a:r>
              <a:rPr lang="en-US" b="1" dirty="0" smtClean="0">
                <a:latin typeface="Arial Narrow" pitchFamily="34" charset="0"/>
              </a:rPr>
              <a:t>Conspiracy Theory-</a:t>
            </a:r>
            <a:r>
              <a:rPr lang="en-US" dirty="0" smtClean="0">
                <a:latin typeface="Arial Narrow" pitchFamily="34" charset="0"/>
              </a:rPr>
              <a:t> asserts that the law of HRs results from a conspiracy of the </a:t>
            </a:r>
            <a:r>
              <a:rPr lang="en-US" b="1" dirty="0" smtClean="0">
                <a:latin typeface="Arial Narrow" pitchFamily="34" charset="0"/>
              </a:rPr>
              <a:t>West to perpetuate imperialism</a:t>
            </a:r>
            <a:r>
              <a:rPr lang="en-US" dirty="0" smtClean="0">
                <a:latin typeface="Arial Narrow" pitchFamily="34" charset="0"/>
              </a:rPr>
              <a:t>. HRs Standards are used as an instrument of domination to the Third World Countries by the West. HRs Standards are Machiavellian creation of the West calculated to impair the economic development of the Third World Countries. HRs Standards are used as moral imperialism used to foster free and unrestricted trade which could possibly exploit the Third World.</a:t>
            </a:r>
            <a:endParaRPr lang="en-US" b="1" dirty="0" smtClean="0">
              <a:latin typeface="Arial Narrow" pitchFamily="34" charset="0"/>
            </a:endParaRPr>
          </a:p>
          <a:p>
            <a:endParaRPr lang="en-US" dirty="0"/>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838200"/>
          </a:xfrm>
        </p:spPr>
        <p:txBody>
          <a:bodyPr>
            <a:normAutofit/>
          </a:bodyPr>
          <a:lstStyle/>
          <a:p>
            <a:r>
              <a:rPr lang="en-US" b="1" dirty="0" smtClean="0">
                <a:latin typeface="Arial Narrow" pitchFamily="34" charset="0"/>
              </a:rPr>
              <a:t>Responses to Gross Violations of HRs</a:t>
            </a:r>
            <a:endParaRPr lang="en-US" dirty="0">
              <a:latin typeface="Arial Narrow" pitchFamily="34" charset="0"/>
            </a:endParaRPr>
          </a:p>
        </p:txBody>
      </p:sp>
      <p:sp>
        <p:nvSpPr>
          <p:cNvPr id="3" name="Content Placeholder 2"/>
          <p:cNvSpPr>
            <a:spLocks noGrp="1"/>
          </p:cNvSpPr>
          <p:nvPr>
            <p:ph idx="1"/>
          </p:nvPr>
        </p:nvSpPr>
        <p:spPr>
          <a:xfrm>
            <a:off x="0" y="685800"/>
            <a:ext cx="9144000" cy="6172200"/>
          </a:xfrm>
        </p:spPr>
        <p:txBody>
          <a:bodyPr>
            <a:normAutofit fontScale="92500"/>
          </a:bodyPr>
          <a:lstStyle/>
          <a:p>
            <a:pPr algn="just">
              <a:buFont typeface="Wingdings" pitchFamily="2" charset="2"/>
              <a:buChar char="v"/>
            </a:pPr>
            <a:r>
              <a:rPr lang="en-US" b="1" dirty="0" smtClean="0">
                <a:latin typeface="Arial Narrow" pitchFamily="34" charset="0"/>
              </a:rPr>
              <a:t>Gross and systematic violations of HRs where the normal procedure become not enough to these violations to prosecute. State obligation includes the duty to respect, protect and fulfill (all appropriate measures) on the basis of exhaustion of local remedies.</a:t>
            </a:r>
          </a:p>
          <a:p>
            <a:pPr lvl="1" algn="just"/>
            <a:r>
              <a:rPr lang="en-US" b="1" dirty="0" smtClean="0">
                <a:latin typeface="Arial Narrow" pitchFamily="34" charset="0"/>
              </a:rPr>
              <a:t>State policy(state sponsored) and Impunity </a:t>
            </a:r>
          </a:p>
          <a:p>
            <a:pPr algn="just">
              <a:buFont typeface="Wingdings" pitchFamily="2" charset="2"/>
              <a:buChar char="v"/>
            </a:pPr>
            <a:r>
              <a:rPr lang="en-US" b="1" dirty="0" smtClean="0">
                <a:latin typeface="Arial Narrow" pitchFamily="34" charset="0"/>
              </a:rPr>
              <a:t>International Responses </a:t>
            </a:r>
          </a:p>
          <a:p>
            <a:pPr lvl="1" algn="just"/>
            <a:r>
              <a:rPr lang="en-US" dirty="0" smtClean="0">
                <a:latin typeface="Arial Narrow" pitchFamily="34" charset="0"/>
              </a:rPr>
              <a:t>Ad hoc Tribunals </a:t>
            </a:r>
          </a:p>
          <a:p>
            <a:pPr lvl="2" algn="just"/>
            <a:r>
              <a:rPr lang="en-US" dirty="0" smtClean="0">
                <a:latin typeface="Arial Narrow" pitchFamily="34" charset="0"/>
              </a:rPr>
              <a:t>Nuremberg Trial (on the basis of London Agreement and Law No. 10 Allied Controlled Council)</a:t>
            </a:r>
          </a:p>
          <a:p>
            <a:pPr lvl="2" algn="just"/>
            <a:r>
              <a:rPr lang="en-US" dirty="0" smtClean="0">
                <a:latin typeface="Arial Narrow" pitchFamily="34" charset="0"/>
              </a:rPr>
              <a:t>ICTY ( on the basis of ICTY Statute )</a:t>
            </a:r>
          </a:p>
          <a:p>
            <a:pPr lvl="2" algn="just"/>
            <a:r>
              <a:rPr lang="en-US" dirty="0" smtClean="0">
                <a:latin typeface="Arial Narrow" pitchFamily="34" charset="0"/>
              </a:rPr>
              <a:t>ICTR(on the basis of ICTR Statute )</a:t>
            </a:r>
          </a:p>
          <a:p>
            <a:pPr lvl="1" algn="just"/>
            <a:r>
              <a:rPr lang="en-US" dirty="0" smtClean="0">
                <a:latin typeface="Arial Narrow" pitchFamily="34" charset="0"/>
              </a:rPr>
              <a:t>Permanent Tribunal – ICC Rome Statute </a:t>
            </a: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p:spPr>
        <p:txBody>
          <a:bodyPr>
            <a:normAutofit fontScale="90000"/>
          </a:bodyPr>
          <a:lstStyle/>
          <a:p>
            <a:r>
              <a:rPr lang="en-US" b="1" dirty="0" smtClean="0">
                <a:latin typeface="Arial Narrow" pitchFamily="34" charset="0"/>
              </a:rPr>
              <a:t>Main difference between Ad hoc Tribunals and Permanent (ICC)</a:t>
            </a:r>
            <a:endParaRPr lang="en-US" b="1" dirty="0">
              <a:latin typeface="Arial Narrow" pitchFamily="34" charset="0"/>
            </a:endParaRPr>
          </a:p>
        </p:txBody>
      </p:sp>
      <p:sp>
        <p:nvSpPr>
          <p:cNvPr id="3" name="Content Placeholder 2"/>
          <p:cNvSpPr>
            <a:spLocks noGrp="1"/>
          </p:cNvSpPr>
          <p:nvPr>
            <p:ph idx="1"/>
          </p:nvPr>
        </p:nvSpPr>
        <p:spPr>
          <a:xfrm>
            <a:off x="0" y="1295400"/>
            <a:ext cx="9144000" cy="5562600"/>
          </a:xfrm>
        </p:spPr>
        <p:txBody>
          <a:bodyPr>
            <a:normAutofit fontScale="92500"/>
          </a:bodyPr>
          <a:lstStyle/>
          <a:p>
            <a:pPr algn="just"/>
            <a:r>
              <a:rPr lang="en-US" dirty="0" smtClean="0">
                <a:latin typeface="Arial Narrow" pitchFamily="34" charset="0"/>
              </a:rPr>
              <a:t>Almost all Ad hoc tribunals were set up by UNSC using its mandate under chapter VII whereas ICC is an independent court outside the UN</a:t>
            </a:r>
          </a:p>
          <a:p>
            <a:pPr algn="just"/>
            <a:r>
              <a:rPr lang="en-US" dirty="0" smtClean="0">
                <a:latin typeface="Arial Narrow" pitchFamily="34" charset="0"/>
              </a:rPr>
              <a:t>Almost all Ad hoc tribunals had primary jurisdiction unlike the ICC which has complementary jurisdiction to domestic</a:t>
            </a:r>
          </a:p>
          <a:p>
            <a:pPr algn="just"/>
            <a:r>
              <a:rPr lang="en-US" dirty="0" smtClean="0">
                <a:latin typeface="Arial Narrow" pitchFamily="34" charset="0"/>
              </a:rPr>
              <a:t>Almost all ad hoc tribunals were created </a:t>
            </a:r>
            <a:r>
              <a:rPr lang="en-US" dirty="0" err="1" smtClean="0">
                <a:latin typeface="Arial Narrow" pitchFamily="34" charset="0"/>
              </a:rPr>
              <a:t>exposto</a:t>
            </a:r>
            <a:r>
              <a:rPr lang="en-US" dirty="0" smtClean="0">
                <a:latin typeface="Arial Narrow" pitchFamily="34" charset="0"/>
              </a:rPr>
              <a:t> facto to address particularly case whereas the ICC prosecutes </a:t>
            </a:r>
            <a:r>
              <a:rPr lang="en-US" b="1" i="1" dirty="0" err="1" smtClean="0">
                <a:latin typeface="Arial Narrow" pitchFamily="34" charset="0"/>
              </a:rPr>
              <a:t>ratione</a:t>
            </a:r>
            <a:r>
              <a:rPr lang="en-US" b="1" i="1" dirty="0" smtClean="0">
                <a:latin typeface="Arial Narrow" pitchFamily="34" charset="0"/>
              </a:rPr>
              <a:t> </a:t>
            </a:r>
            <a:r>
              <a:rPr lang="en-US" b="1" i="1" dirty="0" err="1" smtClean="0">
                <a:latin typeface="Arial Narrow" pitchFamily="34" charset="0"/>
              </a:rPr>
              <a:t>temporis</a:t>
            </a:r>
            <a:endParaRPr lang="en-US" b="1" i="1" dirty="0" smtClean="0">
              <a:latin typeface="Arial Narrow" pitchFamily="34" charset="0"/>
            </a:endParaRPr>
          </a:p>
          <a:p>
            <a:pPr algn="just"/>
            <a:r>
              <a:rPr lang="en-US" i="1" dirty="0" smtClean="0">
                <a:latin typeface="Arial Narrow" pitchFamily="34" charset="0"/>
              </a:rPr>
              <a:t>Almost all ad hoc tribunals had limited jurisdiction whereas ICC have subject matter jurisdiction(genocide, crimes against humanity, war crimes and crime of aggression)</a:t>
            </a:r>
          </a:p>
          <a:p>
            <a:pPr algn="just"/>
            <a:endParaRPr lang="en-US" i="1" dirty="0" smtClean="0">
              <a:latin typeface="Arial Narrow" pitchFamily="34" charset="0"/>
            </a:endParaRPr>
          </a:p>
          <a:p>
            <a:pPr algn="just"/>
            <a:endParaRPr lang="en-US" dirty="0" smtClean="0">
              <a:latin typeface="Arial Narrow" pitchFamily="34" charset="0"/>
            </a:endParaRPr>
          </a:p>
          <a:p>
            <a:endParaRPr lang="en-US" dirty="0">
              <a:latin typeface="Arial Narrow" pitchFamily="34"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Importance of Transitional Justice </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normAutofit lnSpcReduction="10000"/>
          </a:bodyPr>
          <a:lstStyle/>
          <a:p>
            <a:pPr algn="just">
              <a:buFont typeface="Wingdings" pitchFamily="2" charset="2"/>
              <a:buChar char="v"/>
            </a:pPr>
            <a:r>
              <a:rPr lang="en-US" b="1" dirty="0" smtClean="0">
                <a:latin typeface="Arial Narrow" pitchFamily="34" charset="0"/>
              </a:rPr>
              <a:t>Regional Responses </a:t>
            </a:r>
          </a:p>
          <a:p>
            <a:pPr algn="just">
              <a:buFont typeface="Wingdings" pitchFamily="2" charset="2"/>
              <a:buChar char="v"/>
            </a:pPr>
            <a:r>
              <a:rPr lang="en-US" b="1" dirty="0" smtClean="0">
                <a:latin typeface="Arial Narrow" pitchFamily="34" charset="0"/>
              </a:rPr>
              <a:t>National Responses</a:t>
            </a:r>
          </a:p>
          <a:p>
            <a:pPr algn="just">
              <a:buFont typeface="Wingdings" pitchFamily="2" charset="2"/>
              <a:buChar char="v"/>
            </a:pPr>
            <a:r>
              <a:rPr lang="en-US" b="1" dirty="0" smtClean="0">
                <a:latin typeface="Arial Narrow" pitchFamily="34" charset="0"/>
              </a:rPr>
              <a:t>Modalities  of Responses towards Gross HRs Violations </a:t>
            </a:r>
          </a:p>
          <a:p>
            <a:pPr lvl="1" algn="just"/>
            <a:r>
              <a:rPr lang="en-US" b="1" dirty="0" smtClean="0">
                <a:latin typeface="Arial Narrow" pitchFamily="34" charset="0"/>
              </a:rPr>
              <a:t>Prosecution </a:t>
            </a:r>
          </a:p>
          <a:p>
            <a:pPr lvl="1" algn="just"/>
            <a:r>
              <a:rPr lang="en-US" b="1" dirty="0" smtClean="0">
                <a:latin typeface="Arial Narrow" pitchFamily="34" charset="0"/>
              </a:rPr>
              <a:t>Truth and Reconciliation </a:t>
            </a:r>
          </a:p>
          <a:p>
            <a:pPr lvl="1" algn="just"/>
            <a:r>
              <a:rPr lang="en-US" b="1" dirty="0" smtClean="0">
                <a:latin typeface="Arial Narrow" pitchFamily="34" charset="0"/>
              </a:rPr>
              <a:t>Amnesty </a:t>
            </a:r>
            <a:endParaRPr lang="en-US" dirty="0" smtClean="0">
              <a:latin typeface="Arial Narrow" pitchFamily="34" charset="0"/>
            </a:endParaRPr>
          </a:p>
          <a:p>
            <a:pPr algn="just"/>
            <a:r>
              <a:rPr lang="en-US" dirty="0" smtClean="0">
                <a:latin typeface="Arial Narrow" pitchFamily="34" charset="0"/>
              </a:rPr>
              <a:t>Th</a:t>
            </a:r>
            <a:r>
              <a:rPr lang="en-US" b="1" dirty="0" smtClean="0">
                <a:latin typeface="Arial Narrow" pitchFamily="34" charset="0"/>
              </a:rPr>
              <a:t>e need for justice – between victims and perpetrators </a:t>
            </a:r>
          </a:p>
          <a:p>
            <a:pPr algn="just"/>
            <a:r>
              <a:rPr lang="en-US" b="1" dirty="0" smtClean="0">
                <a:latin typeface="Arial Narrow" pitchFamily="34" charset="0"/>
              </a:rPr>
              <a:t>The need to know the truth-society at large, victims  or parents wants to know who were the participators </a:t>
            </a:r>
          </a:p>
          <a:p>
            <a:pPr algn="just"/>
            <a:r>
              <a:rPr lang="en-US" b="1" dirty="0" smtClean="0">
                <a:latin typeface="Arial Narrow" pitchFamily="34" charset="0"/>
              </a:rPr>
              <a:t>The need for conciliation </a:t>
            </a: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latin typeface="Arial Narrow" pitchFamily="34" charset="0"/>
              </a:rPr>
              <a:t>ICC Jurisdiction </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lstStyle/>
          <a:p>
            <a:r>
              <a:rPr lang="en-US" b="1" dirty="0" smtClean="0">
                <a:latin typeface="Arial Narrow" pitchFamily="34" charset="0"/>
              </a:rPr>
              <a:t>Complementarirt</a:t>
            </a:r>
            <a:r>
              <a:rPr lang="en-US" dirty="0" smtClean="0">
                <a:latin typeface="Arial Narrow" pitchFamily="34" charset="0"/>
              </a:rPr>
              <a:t>y (unable(failure of state machineries) or unwilling test)</a:t>
            </a:r>
          </a:p>
          <a:p>
            <a:r>
              <a:rPr lang="en-US" dirty="0" smtClean="0">
                <a:latin typeface="Arial Narrow" pitchFamily="34" charset="0"/>
              </a:rPr>
              <a:t>State Referral </a:t>
            </a:r>
            <a:r>
              <a:rPr lang="en-US" smtClean="0">
                <a:latin typeface="Arial Narrow" pitchFamily="34" charset="0"/>
              </a:rPr>
              <a:t>/self-referral</a:t>
            </a:r>
            <a:endParaRPr lang="en-US" dirty="0" smtClean="0">
              <a:latin typeface="Arial Narrow" pitchFamily="34" charset="0"/>
            </a:endParaRPr>
          </a:p>
          <a:p>
            <a:r>
              <a:rPr lang="en-US" dirty="0" smtClean="0">
                <a:latin typeface="Arial Narrow" pitchFamily="34" charset="0"/>
              </a:rPr>
              <a:t>UN Security Council Referral </a:t>
            </a:r>
          </a:p>
          <a:p>
            <a:r>
              <a:rPr lang="en-US" dirty="0" smtClean="0">
                <a:latin typeface="Arial Narrow" pitchFamily="34" charset="0"/>
              </a:rPr>
              <a:t>Automatic Referral /Consensual –auto-referral</a:t>
            </a:r>
          </a:p>
          <a:p>
            <a:r>
              <a:rPr lang="en-US" i="1" dirty="0" err="1" smtClean="0">
                <a:latin typeface="Arial Narrow" pitchFamily="34" charset="0"/>
              </a:rPr>
              <a:t>Proprio</a:t>
            </a:r>
            <a:r>
              <a:rPr lang="en-US" i="1" dirty="0" smtClean="0">
                <a:latin typeface="Arial Narrow" pitchFamily="34" charset="0"/>
              </a:rPr>
              <a:t> </a:t>
            </a:r>
            <a:r>
              <a:rPr lang="en-US" i="1" dirty="0" err="1" smtClean="0">
                <a:latin typeface="Arial Narrow" pitchFamily="34" charset="0"/>
              </a:rPr>
              <a:t>motu</a:t>
            </a:r>
            <a:r>
              <a:rPr lang="en-US" dirty="0" smtClean="0">
                <a:latin typeface="Arial Narrow" pitchFamily="34" charset="0"/>
              </a:rPr>
              <a:t>(ICC prosecutor self-initiative)</a:t>
            </a:r>
          </a:p>
          <a:p>
            <a:endParaRPr lang="en-US" dirty="0" smtClean="0">
              <a:latin typeface="Arial Narrow" pitchFamily="34" charset="0"/>
            </a:endParaRPr>
          </a:p>
          <a:p>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Gross Human Rights Violations </a:t>
            </a:r>
            <a:endParaRPr lang="en-US" b="1" dirty="0">
              <a:latin typeface="Arial Narrow" pitchFamily="34" charset="0"/>
            </a:endParaRPr>
          </a:p>
        </p:txBody>
      </p:sp>
      <p:sp>
        <p:nvSpPr>
          <p:cNvPr id="3" name="Content Placeholder 2"/>
          <p:cNvSpPr>
            <a:spLocks noGrp="1"/>
          </p:cNvSpPr>
          <p:nvPr>
            <p:ph idx="1"/>
          </p:nvPr>
        </p:nvSpPr>
        <p:spPr>
          <a:xfrm>
            <a:off x="0" y="762000"/>
            <a:ext cx="9144000" cy="6096000"/>
          </a:xfrm>
        </p:spPr>
        <p:txBody>
          <a:bodyPr/>
          <a:lstStyle/>
          <a:p>
            <a:pPr algn="just">
              <a:buNone/>
            </a:pPr>
            <a:r>
              <a:rPr lang="en-US" b="1" dirty="0" smtClean="0">
                <a:latin typeface="Arial Narrow" pitchFamily="34" charset="0"/>
              </a:rPr>
              <a:t>1. Genocide</a:t>
            </a:r>
            <a:r>
              <a:rPr lang="en-US" dirty="0" smtClean="0">
                <a:latin typeface="Arial Narrow" pitchFamily="34" charset="0"/>
              </a:rPr>
              <a:t> </a:t>
            </a:r>
            <a:r>
              <a:rPr lang="en-US" b="1" dirty="0" smtClean="0">
                <a:latin typeface="Arial Narrow" pitchFamily="34" charset="0"/>
              </a:rPr>
              <a:t>(Convention against Genocide 1948</a:t>
            </a:r>
            <a:r>
              <a:rPr lang="en-US" dirty="0" smtClean="0">
                <a:latin typeface="Arial Narrow" pitchFamily="34" charset="0"/>
              </a:rPr>
              <a:t>)</a:t>
            </a:r>
          </a:p>
          <a:p>
            <a:pPr lvl="1" algn="just"/>
            <a:r>
              <a:rPr lang="en-US" dirty="0" smtClean="0">
                <a:latin typeface="Arial Narrow" pitchFamily="34" charset="0"/>
              </a:rPr>
              <a:t>Article 2 of Convention against Convention cum Art. 6 of the Rome Statute Definition of Genocide = is a</a:t>
            </a:r>
            <a:r>
              <a:rPr lang="en-US" b="1" dirty="0" smtClean="0">
                <a:solidFill>
                  <a:srgbClr val="FF0000"/>
                </a:solidFill>
                <a:latin typeface="Arial Narrow" pitchFamily="34" charset="0"/>
              </a:rPr>
              <a:t>ny of the following acts </a:t>
            </a:r>
            <a:r>
              <a:rPr lang="en-US" dirty="0" smtClean="0">
                <a:latin typeface="Arial Narrow" pitchFamily="34" charset="0"/>
              </a:rPr>
              <a:t>committed </a:t>
            </a:r>
            <a:r>
              <a:rPr lang="en-US" b="1" dirty="0" smtClean="0">
                <a:solidFill>
                  <a:schemeClr val="accent1"/>
                </a:solidFill>
                <a:latin typeface="Arial Narrow" pitchFamily="34" charset="0"/>
              </a:rPr>
              <a:t>with intent/motive to destroy, in whole in part, a national, ethnical, racial or religious groups such as</a:t>
            </a:r>
            <a:r>
              <a:rPr lang="en-US" dirty="0" smtClean="0">
                <a:latin typeface="Arial Narrow" pitchFamily="34" charset="0"/>
              </a:rPr>
              <a:t>: there is a special intent in genocide </a:t>
            </a:r>
          </a:p>
          <a:p>
            <a:pPr lvl="1" algn="just"/>
            <a:r>
              <a:rPr lang="en-US" b="1" dirty="0" smtClean="0">
                <a:latin typeface="Arial Narrow" pitchFamily="34" charset="0"/>
              </a:rPr>
              <a:t>Killing members of the group</a:t>
            </a:r>
          </a:p>
          <a:p>
            <a:pPr lvl="1" algn="just"/>
            <a:r>
              <a:rPr lang="en-US" b="1" dirty="0" smtClean="0">
                <a:latin typeface="Arial Narrow" pitchFamily="34" charset="0"/>
              </a:rPr>
              <a:t>Causing serious bodily or mental harm </a:t>
            </a:r>
          </a:p>
          <a:p>
            <a:pPr lvl="1" algn="just"/>
            <a:r>
              <a:rPr lang="en-US" b="1" dirty="0" smtClean="0">
                <a:latin typeface="Arial Narrow" pitchFamily="34" charset="0"/>
              </a:rPr>
              <a:t>Deliberately inflicting conditions of life calculated to bring about its physical destruction </a:t>
            </a:r>
          </a:p>
          <a:p>
            <a:pPr lvl="1" algn="just"/>
            <a:r>
              <a:rPr lang="en-US" b="1" dirty="0" smtClean="0">
                <a:latin typeface="Arial Narrow" pitchFamily="34" charset="0"/>
              </a:rPr>
              <a:t>Measures to prevent births within the group</a:t>
            </a:r>
          </a:p>
          <a:p>
            <a:pPr lvl="1" algn="just"/>
            <a:r>
              <a:rPr lang="en-US" b="1" dirty="0" smtClean="0">
                <a:latin typeface="Arial Narrow" pitchFamily="34" charset="0"/>
              </a:rPr>
              <a:t>Forcibly transferring children to another group</a:t>
            </a:r>
          </a:p>
          <a:p>
            <a:pPr lvl="1" algn="just"/>
            <a:endParaRPr lang="en-US" dirty="0">
              <a:latin typeface="Arial Narrow" pitchFamily="34" charset="0"/>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92500" lnSpcReduction="20000"/>
          </a:bodyPr>
          <a:lstStyle/>
          <a:p>
            <a:pPr algn="just"/>
            <a:r>
              <a:rPr lang="en-US" b="1" dirty="0" smtClean="0">
                <a:latin typeface="Arial Narrow" pitchFamily="34" charset="0"/>
              </a:rPr>
              <a:t>As such in the definition </a:t>
            </a:r>
            <a:r>
              <a:rPr lang="en-US" dirty="0" smtClean="0">
                <a:latin typeface="Arial Narrow" pitchFamily="34" charset="0"/>
              </a:rPr>
              <a:t>connotes the emphasis that genocide is a crime directed against a group, collective or community rather than an individual.</a:t>
            </a:r>
          </a:p>
          <a:p>
            <a:pPr algn="just"/>
            <a:r>
              <a:rPr lang="en-US" b="1" dirty="0" smtClean="0">
                <a:latin typeface="Arial Narrow" pitchFamily="34" charset="0"/>
              </a:rPr>
              <a:t>Ethnic cleansing </a:t>
            </a:r>
            <a:r>
              <a:rPr lang="en-US" dirty="0" smtClean="0">
                <a:latin typeface="Arial Narrow" pitchFamily="34" charset="0"/>
              </a:rPr>
              <a:t>is rendering an area ethnically homogeneous by using force or intimidation to remove persons of  given groups from the area. </a:t>
            </a:r>
            <a:r>
              <a:rPr lang="en-US" b="1" dirty="0" smtClean="0">
                <a:latin typeface="Arial Narrow" pitchFamily="34" charset="0"/>
              </a:rPr>
              <a:t>ICJ in Bosnia vs. Serbia (2007). However, in certain context, genocide may overlap with ethnic cleansing for example where perpetrators kill members of a protected group to create terror and induce the survivors to flee. Expulsion may not bring destruction/annihilation to the group.</a:t>
            </a:r>
          </a:p>
          <a:p>
            <a:pPr algn="just"/>
            <a:r>
              <a:rPr lang="en-US" b="1" dirty="0" smtClean="0">
                <a:latin typeface="Arial Narrow" pitchFamily="34" charset="0"/>
              </a:rPr>
              <a:t>Liabilities Article 4 persons committing genocide … shall be punished, whether they are constitutionally responsible rulers, public officials or private individuals.</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r>
              <a:rPr lang="en-US" dirty="0" err="1" smtClean="0">
                <a:latin typeface="Arial Narrow" pitchFamily="34" charset="0"/>
              </a:rPr>
              <a:t>Cont’ed</a:t>
            </a:r>
            <a:endParaRPr lang="en-US" dirty="0">
              <a:latin typeface="Arial Narrow" pitchFamily="34" charset="0"/>
            </a:endParaRPr>
          </a:p>
        </p:txBody>
      </p:sp>
      <p:sp>
        <p:nvSpPr>
          <p:cNvPr id="3" name="Content Placeholder 2"/>
          <p:cNvSpPr>
            <a:spLocks noGrp="1"/>
          </p:cNvSpPr>
          <p:nvPr>
            <p:ph idx="1"/>
          </p:nvPr>
        </p:nvSpPr>
        <p:spPr>
          <a:xfrm>
            <a:off x="0" y="457200"/>
            <a:ext cx="9144000" cy="6400800"/>
          </a:xfrm>
        </p:spPr>
        <p:txBody>
          <a:bodyPr>
            <a:normAutofit fontScale="85000" lnSpcReduction="20000"/>
          </a:bodyPr>
          <a:lstStyle/>
          <a:p>
            <a:pPr algn="just"/>
            <a:r>
              <a:rPr lang="en-US" b="1" dirty="0" smtClean="0">
                <a:latin typeface="Arial Narrow" pitchFamily="34" charset="0"/>
              </a:rPr>
              <a:t>Crimes Against Humanity- Article 7 of the Rome Statute defines </a:t>
            </a:r>
            <a:r>
              <a:rPr lang="en-US" dirty="0" smtClean="0">
                <a:latin typeface="Arial Narrow" pitchFamily="34" charset="0"/>
              </a:rPr>
              <a:t>"crime against humanity" means any of the following acts when committed </a:t>
            </a:r>
            <a:r>
              <a:rPr lang="en-US" b="1" dirty="0" smtClean="0">
                <a:latin typeface="Arial Narrow" pitchFamily="34" charset="0"/>
              </a:rPr>
              <a:t>as part of a widespread or systematic attack directed against any civilian population, with knowledge of the attack.</a:t>
            </a:r>
          </a:p>
          <a:p>
            <a:pPr algn="just"/>
            <a:r>
              <a:rPr lang="en-US" b="1" dirty="0" smtClean="0">
                <a:latin typeface="Arial Narrow" pitchFamily="34" charset="0"/>
              </a:rPr>
              <a:t>War Crimes Article 8 of the Rome Statute –(Humanitarian Law)</a:t>
            </a:r>
            <a:r>
              <a:rPr lang="en-US" dirty="0" smtClean="0">
                <a:latin typeface="Arial Narrow" pitchFamily="34" charset="0"/>
              </a:rPr>
              <a:t>Grave breaches of the Geneva Conventions of 12 August 1949, namely, any of the following acts against persons or property protected under the provisions of the relevant Geneva Convention and Hague Laws and Common Article 3:  Committed as part of a </a:t>
            </a:r>
            <a:r>
              <a:rPr lang="en-US" b="1" dirty="0" smtClean="0">
                <a:latin typeface="Arial Narrow" pitchFamily="34" charset="0"/>
              </a:rPr>
              <a:t>plan or policy or as part of a large-scale commission of such crimes in state of active hostility</a:t>
            </a:r>
            <a:r>
              <a:rPr lang="en-US" dirty="0" smtClean="0">
                <a:latin typeface="Arial Narrow" pitchFamily="34" charset="0"/>
              </a:rPr>
              <a:t>.</a:t>
            </a:r>
            <a:endParaRPr lang="en-US" b="1" dirty="0" smtClean="0">
              <a:latin typeface="Arial Narrow" pitchFamily="34" charset="0"/>
            </a:endParaRPr>
          </a:p>
          <a:p>
            <a:pPr algn="just"/>
            <a:r>
              <a:rPr lang="en-US" b="1" dirty="0" smtClean="0">
                <a:latin typeface="Arial Narrow" pitchFamily="34" charset="0"/>
              </a:rPr>
              <a:t>Crimes of Aggression Article 8bis of the Rome Statute-</a:t>
            </a:r>
            <a:r>
              <a:rPr lang="en-US" dirty="0" smtClean="0">
                <a:latin typeface="Arial Narrow" pitchFamily="34" charset="0"/>
              </a:rPr>
              <a:t>crime of aggression” means the </a:t>
            </a:r>
            <a:r>
              <a:rPr lang="en-US" b="1" dirty="0" smtClean="0">
                <a:latin typeface="Arial Narrow" pitchFamily="34" charset="0"/>
              </a:rPr>
              <a:t>planning, preparation, initiation or execution, by a person in a position effectively to exercise control over or to direct the political or military action of a State, of an act of aggression which, by its character, gravity and scale, constitutes a manifest violation of the Charter of the United Nations</a:t>
            </a:r>
            <a:r>
              <a:rPr lang="en-US" dirty="0" smtClean="0">
                <a:latin typeface="Arial Narrow" pitchFamily="34" charset="0"/>
              </a:rPr>
              <a:t>.</a:t>
            </a:r>
            <a:endParaRPr lang="en-US" b="1" dirty="0">
              <a:latin typeface="Arial Narrow" pitchFamily="34" charset="0"/>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b="1" dirty="0" smtClean="0">
                <a:latin typeface="Arial Narrow" pitchFamily="34" charset="0"/>
              </a:rPr>
              <a:t>National System of Protection</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70000" lnSpcReduction="20000"/>
          </a:bodyPr>
          <a:lstStyle/>
          <a:p>
            <a:pPr>
              <a:buFont typeface="Wingdings" pitchFamily="2" charset="2"/>
              <a:buChar char="v"/>
            </a:pPr>
            <a:r>
              <a:rPr lang="en-US" b="1" dirty="0" smtClean="0">
                <a:latin typeface="Arial Narrow" pitchFamily="34" charset="0"/>
              </a:rPr>
              <a:t>FDRE Constitution and Status of Human Rights </a:t>
            </a:r>
          </a:p>
          <a:p>
            <a:pPr>
              <a:buFont typeface="Wingdings" pitchFamily="2" charset="2"/>
              <a:buChar char="v"/>
            </a:pPr>
            <a:r>
              <a:rPr lang="en-US" b="1" dirty="0" smtClean="0">
                <a:latin typeface="Arial Narrow" pitchFamily="34" charset="0"/>
              </a:rPr>
              <a:t>Dualist vs. Monist Divided </a:t>
            </a:r>
          </a:p>
          <a:p>
            <a:pPr algn="just"/>
            <a:r>
              <a:rPr lang="en-US" b="1" dirty="0" smtClean="0">
                <a:latin typeface="Arial Narrow" pitchFamily="34" charset="0"/>
              </a:rPr>
              <a:t>The monist doctrine </a:t>
            </a:r>
            <a:r>
              <a:rPr lang="en-US" dirty="0" smtClean="0">
                <a:latin typeface="Arial Narrow" pitchFamily="34" charset="0"/>
              </a:rPr>
              <a:t>does not recognize the distinction between the domestic and the international and does not allow room for contradiction between the two sets of rules. Because domestic law and international law are part of the same system of norms. In case conflicts happens in the application and interpretation international law will be prioritized.  </a:t>
            </a:r>
            <a:r>
              <a:rPr lang="en-US" b="1" dirty="0" smtClean="0">
                <a:latin typeface="Arial Narrow" pitchFamily="34" charset="0"/>
              </a:rPr>
              <a:t>Switzerland</a:t>
            </a:r>
            <a:r>
              <a:rPr lang="en-US" dirty="0" smtClean="0">
                <a:latin typeface="Arial Narrow" pitchFamily="34" charset="0"/>
              </a:rPr>
              <a:t> </a:t>
            </a:r>
          </a:p>
          <a:p>
            <a:pPr algn="just"/>
            <a:r>
              <a:rPr lang="en-US" b="1" dirty="0" smtClean="0">
                <a:latin typeface="Arial Narrow" pitchFamily="34" charset="0"/>
              </a:rPr>
              <a:t>The dualist doctrine </a:t>
            </a:r>
            <a:r>
              <a:rPr lang="en-US" dirty="0" smtClean="0">
                <a:latin typeface="Arial Narrow" pitchFamily="34" charset="0"/>
              </a:rPr>
              <a:t>represents a contrasting approach and starts from the assumption that the national and international legal system regulate entirely different and parallel subject matters and have no room for conflict. It argues that international law regulates a horizontal state to state affairs and domestic law regulates a vertical affair of government and its inhabitants. </a:t>
            </a:r>
            <a:r>
              <a:rPr lang="en-US" b="1" dirty="0" smtClean="0">
                <a:latin typeface="Arial Narrow" pitchFamily="34" charset="0"/>
              </a:rPr>
              <a:t>It is a sibling of strict sovereignty.  Under such approach the constitution of the state accords no special  status to treaties; the rights and obligations created by them have no effect in domestic law unless legislation is in force to give effect to them by way of incorporation into domestic law</a:t>
            </a:r>
            <a:r>
              <a:rPr lang="en-US" dirty="0" smtClean="0">
                <a:latin typeface="Arial Narrow" pitchFamily="34" charset="0"/>
              </a:rPr>
              <a:t>. </a:t>
            </a:r>
            <a:r>
              <a:rPr lang="en-US" b="1" dirty="0" smtClean="0">
                <a:latin typeface="Arial Narrow" pitchFamily="34" charset="0"/>
              </a:rPr>
              <a:t>UK has purist form of dualism.</a:t>
            </a:r>
          </a:p>
          <a:p>
            <a:pPr algn="just"/>
            <a:r>
              <a:rPr lang="en-US" b="1" dirty="0" smtClean="0">
                <a:latin typeface="Arial Narrow" pitchFamily="34" charset="0"/>
              </a:rPr>
              <a:t>With dualism the provisions of a treaty which have been incorporated into domestic law have the status only of domestic law, and can be amended or repealed by later legislation. And no remedy domestically for such violations of treaties. USA embraces both dualism and monism in treaty making.</a:t>
            </a:r>
          </a:p>
          <a:p>
            <a:pPr algn="just">
              <a:buFont typeface="Wingdings" pitchFamily="2" charset="2"/>
              <a:buChar char="v"/>
            </a:pPr>
            <a:endParaRPr lang="en-US" b="1" dirty="0">
              <a:latin typeface="Arial Narrow" pitchFamily="34"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latin typeface="Arial Narrow" pitchFamily="34" charset="0"/>
              </a:rPr>
              <a:t>Relative Merit and Demerit</a:t>
            </a:r>
            <a:endParaRPr lang="en-US" b="1" dirty="0">
              <a:latin typeface="Arial Narrow" pitchFamily="34" charset="0"/>
            </a:endParaRPr>
          </a:p>
        </p:txBody>
      </p:sp>
      <p:sp>
        <p:nvSpPr>
          <p:cNvPr id="3" name="Content Placeholder 2"/>
          <p:cNvSpPr>
            <a:spLocks noGrp="1"/>
          </p:cNvSpPr>
          <p:nvPr>
            <p:ph idx="1"/>
          </p:nvPr>
        </p:nvSpPr>
        <p:spPr>
          <a:xfrm>
            <a:off x="0" y="838200"/>
            <a:ext cx="9144000" cy="6019800"/>
          </a:xfrm>
        </p:spPr>
        <p:txBody>
          <a:bodyPr/>
          <a:lstStyle/>
          <a:p>
            <a:pPr algn="just"/>
            <a:r>
              <a:rPr lang="en-US" dirty="0" smtClean="0">
                <a:latin typeface="Arial Narrow" pitchFamily="34" charset="0"/>
              </a:rPr>
              <a:t>Dualism promotes certainty  and precision. However, dualism is more complicated as compared to monism in the practical world and defeating the very aims of treaties at the international level.</a:t>
            </a:r>
          </a:p>
          <a:p>
            <a:pPr algn="just"/>
            <a:r>
              <a:rPr lang="en-US" dirty="0" smtClean="0">
                <a:latin typeface="Arial Narrow" pitchFamily="34" charset="0"/>
              </a:rPr>
              <a:t>Proclamation No.114/1998- Accession to the African Charter on Human and Peoples Rights Proclamation. But we can’t find the full </a:t>
            </a:r>
            <a:r>
              <a:rPr lang="en-US" smtClean="0">
                <a:latin typeface="Arial Narrow" pitchFamily="34" charset="0"/>
              </a:rPr>
              <a:t>version  of the </a:t>
            </a:r>
            <a:r>
              <a:rPr lang="en-US" dirty="0" smtClean="0">
                <a:latin typeface="Arial Narrow" pitchFamily="34" charset="0"/>
              </a:rPr>
              <a:t>charter </a:t>
            </a:r>
            <a:endParaRPr lang="en-US" dirty="0">
              <a:latin typeface="Arial Narrow" pitchFamily="34" charset="0"/>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latin typeface="Arial Narrow" pitchFamily="34" charset="0"/>
              </a:rPr>
              <a:t>Self-executing and Non-self-executing</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normAutofit fontScale="92500" lnSpcReduction="20000"/>
          </a:bodyPr>
          <a:lstStyle/>
          <a:p>
            <a:pPr algn="just"/>
            <a:r>
              <a:rPr lang="en-US" b="1" dirty="0" smtClean="0">
                <a:latin typeface="Arial Narrow" pitchFamily="34" charset="0"/>
              </a:rPr>
              <a:t>Self-executing and non-self-executing treaties </a:t>
            </a:r>
            <a:r>
              <a:rPr lang="en-US" dirty="0" smtClean="0">
                <a:latin typeface="Arial Narrow" pitchFamily="34" charset="0"/>
              </a:rPr>
              <a:t>– where the former refers to a treaty that becomes judicially enforceable upon ratification whereas the later refers to a treaty which becomes judicially enforceable through the implementation of legislations. It is depends on the text of the treaty.</a:t>
            </a:r>
          </a:p>
          <a:p>
            <a:pPr algn="just"/>
            <a:r>
              <a:rPr lang="en-US" dirty="0" smtClean="0">
                <a:latin typeface="Arial Narrow" pitchFamily="34" charset="0"/>
              </a:rPr>
              <a:t>Power to legislate (parliament or Council of Ministers/ Executives)</a:t>
            </a:r>
          </a:p>
          <a:p>
            <a:pPr algn="just"/>
            <a:r>
              <a:rPr lang="en-US" dirty="0" smtClean="0">
                <a:latin typeface="Arial Narrow" pitchFamily="34" charset="0"/>
              </a:rPr>
              <a:t>Who is empowered to participate in treaty making in Ethiopia?</a:t>
            </a:r>
          </a:p>
          <a:p>
            <a:pPr algn="just"/>
            <a:r>
              <a:rPr lang="en-US" dirty="0" smtClean="0">
                <a:latin typeface="Arial Narrow" pitchFamily="34" charset="0"/>
              </a:rPr>
              <a:t>Delegated power? Art. </a:t>
            </a:r>
            <a:r>
              <a:rPr lang="en-US" smtClean="0">
                <a:latin typeface="Arial Narrow" pitchFamily="34" charset="0"/>
              </a:rPr>
              <a:t>77(12)?</a:t>
            </a:r>
            <a:endParaRPr lang="en-US" dirty="0" smtClean="0">
              <a:latin typeface="Arial Narrow" pitchFamily="34" charset="0"/>
            </a:endParaRPr>
          </a:p>
          <a:p>
            <a:pPr algn="just"/>
            <a:r>
              <a:rPr lang="en-US" dirty="0" smtClean="0">
                <a:latin typeface="Arial Narrow" pitchFamily="34" charset="0"/>
              </a:rPr>
              <a:t>Art. 51(8)- FDRE Constitution- the </a:t>
            </a:r>
            <a:r>
              <a:rPr lang="en-US" b="1" dirty="0" smtClean="0">
                <a:latin typeface="Arial Narrow" pitchFamily="34" charset="0"/>
              </a:rPr>
              <a:t>federal government </a:t>
            </a:r>
            <a:r>
              <a:rPr lang="en-US" dirty="0" smtClean="0">
                <a:latin typeface="Arial Narrow" pitchFamily="34" charset="0"/>
              </a:rPr>
              <a:t>shall formulate and implement </a:t>
            </a:r>
            <a:r>
              <a:rPr lang="en-US" b="1" dirty="0" smtClean="0">
                <a:latin typeface="Arial Narrow" pitchFamily="34" charset="0"/>
              </a:rPr>
              <a:t>foreign policy</a:t>
            </a:r>
            <a:r>
              <a:rPr lang="en-US" dirty="0" smtClean="0">
                <a:latin typeface="Arial Narrow" pitchFamily="34" charset="0"/>
              </a:rPr>
              <a:t>; it shall </a:t>
            </a:r>
            <a:r>
              <a:rPr lang="en-US" b="1" dirty="0" smtClean="0">
                <a:latin typeface="Arial Narrow" pitchFamily="34" charset="0"/>
              </a:rPr>
              <a:t>negotiate and ratify international agreement</a:t>
            </a:r>
            <a:r>
              <a:rPr lang="en-US" dirty="0" smtClean="0">
                <a:latin typeface="Arial Narrow" pitchFamily="34" charset="0"/>
              </a:rPr>
              <a:t>s. </a:t>
            </a:r>
            <a:r>
              <a:rPr lang="en-US" b="1" dirty="0" smtClean="0">
                <a:latin typeface="Arial Narrow" pitchFamily="34" charset="0"/>
              </a:rPr>
              <a:t>Art. 55(12) the HPR shall ratify international agreements concluded by the Executive</a:t>
            </a:r>
            <a:r>
              <a:rPr lang="en-US" dirty="0" smtClean="0">
                <a:latin typeface="Arial Narrow" pitchFamily="34" charset="0"/>
              </a:rPr>
              <a:t>. Art. 72(2) cum Art. 76(3) Responsibility to the HPR.</a:t>
            </a:r>
          </a:p>
          <a:p>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latin typeface="Arial Narrow" pitchFamily="34" charset="0"/>
              </a:rPr>
              <a:t>Vienna Convention on the Laws of Treaties 1969</a:t>
            </a:r>
            <a:endParaRPr lang="en-US" b="1" dirty="0">
              <a:latin typeface="Arial Narrow" pitchFamily="34" charset="0"/>
            </a:endParaRPr>
          </a:p>
        </p:txBody>
      </p:sp>
      <p:sp>
        <p:nvSpPr>
          <p:cNvPr id="3" name="Content Placeholder 2"/>
          <p:cNvSpPr>
            <a:spLocks noGrp="1"/>
          </p:cNvSpPr>
          <p:nvPr>
            <p:ph idx="1"/>
          </p:nvPr>
        </p:nvSpPr>
        <p:spPr>
          <a:xfrm>
            <a:off x="0" y="1066800"/>
            <a:ext cx="9144000" cy="5791200"/>
          </a:xfrm>
        </p:spPr>
        <p:txBody>
          <a:bodyPr>
            <a:normAutofit/>
          </a:bodyPr>
          <a:lstStyle/>
          <a:p>
            <a:pPr algn="just">
              <a:buFont typeface="Wingdings" pitchFamily="2" charset="2"/>
              <a:buChar char="v"/>
            </a:pPr>
            <a:r>
              <a:rPr lang="en-US" b="1" dirty="0" smtClean="0">
                <a:latin typeface="Arial Narrow" pitchFamily="34" charset="0"/>
              </a:rPr>
              <a:t>(VCLTs) Part III(Art. 26, Art. 27 and Art. 31)</a:t>
            </a:r>
          </a:p>
          <a:p>
            <a:pPr lvl="1" algn="just"/>
            <a:r>
              <a:rPr lang="en-US" dirty="0" smtClean="0">
                <a:latin typeface="Arial Narrow" pitchFamily="34" charset="0"/>
              </a:rPr>
              <a:t>Art. 27(1)-A State party to a treaty </a:t>
            </a:r>
            <a:r>
              <a:rPr lang="en-US" b="1" dirty="0" smtClean="0">
                <a:latin typeface="Arial Narrow" pitchFamily="34" charset="0"/>
              </a:rPr>
              <a:t>may not invoke </a:t>
            </a:r>
            <a:r>
              <a:rPr lang="en-US" dirty="0" smtClean="0">
                <a:latin typeface="Arial Narrow" pitchFamily="34" charset="0"/>
              </a:rPr>
              <a:t>the </a:t>
            </a:r>
            <a:r>
              <a:rPr lang="en-US" b="1" dirty="0" smtClean="0">
                <a:latin typeface="Arial Narrow" pitchFamily="34" charset="0"/>
              </a:rPr>
              <a:t>provisions of its internal law </a:t>
            </a:r>
            <a:r>
              <a:rPr lang="en-US" dirty="0" smtClean="0">
                <a:latin typeface="Arial Narrow" pitchFamily="34" charset="0"/>
              </a:rPr>
              <a:t>as justification for its failure to perform the treaty</a:t>
            </a:r>
            <a:r>
              <a:rPr lang="en-US" dirty="0" smtClean="0"/>
              <a:t>.</a:t>
            </a:r>
            <a:endParaRPr lang="en-US" dirty="0" smtClean="0">
              <a:latin typeface="Arial Narrow" pitchFamily="34" charset="0"/>
            </a:endParaRPr>
          </a:p>
          <a:p>
            <a:pPr lvl="1" algn="just"/>
            <a:r>
              <a:rPr lang="en-US" dirty="0" smtClean="0">
                <a:latin typeface="Arial Narrow" pitchFamily="34" charset="0"/>
              </a:rPr>
              <a:t>Art. 31(1) -Duty of good faith –duty to ensure normative compatibility-interpreting with the </a:t>
            </a:r>
            <a:r>
              <a:rPr lang="en-US" b="1" dirty="0" smtClean="0">
                <a:latin typeface="Arial Narrow" pitchFamily="34" charset="0"/>
              </a:rPr>
              <a:t>ordinary meaning </a:t>
            </a:r>
            <a:r>
              <a:rPr lang="en-US" dirty="0" smtClean="0">
                <a:latin typeface="Arial Narrow" pitchFamily="34" charset="0"/>
              </a:rPr>
              <a:t>in their </a:t>
            </a:r>
            <a:r>
              <a:rPr lang="en-US" b="1" dirty="0" smtClean="0">
                <a:latin typeface="Arial Narrow" pitchFamily="34" charset="0"/>
              </a:rPr>
              <a:t>context</a:t>
            </a:r>
            <a:r>
              <a:rPr lang="en-US" dirty="0" smtClean="0">
                <a:latin typeface="Arial Narrow" pitchFamily="34" charset="0"/>
              </a:rPr>
              <a:t> and in the light of its </a:t>
            </a:r>
            <a:r>
              <a:rPr lang="en-US" b="1" dirty="0" smtClean="0">
                <a:latin typeface="Arial Narrow" pitchFamily="34" charset="0"/>
              </a:rPr>
              <a:t>object and purpose </a:t>
            </a:r>
          </a:p>
          <a:p>
            <a:pPr lvl="1" algn="just"/>
            <a:r>
              <a:rPr lang="en-US" dirty="0" smtClean="0">
                <a:latin typeface="Arial Narrow" pitchFamily="34" charset="0"/>
              </a:rPr>
              <a:t>Art. 31(2)- </a:t>
            </a:r>
            <a:r>
              <a:rPr lang="en-US" b="1" dirty="0" smtClean="0">
                <a:latin typeface="Arial Narrow" pitchFamily="34" charset="0"/>
              </a:rPr>
              <a:t>context</a:t>
            </a:r>
            <a:r>
              <a:rPr lang="en-US" dirty="0" smtClean="0">
                <a:latin typeface="Arial Narrow" pitchFamily="34" charset="0"/>
              </a:rPr>
              <a:t> includes the </a:t>
            </a:r>
            <a:r>
              <a:rPr lang="en-US" b="1" dirty="0" smtClean="0">
                <a:latin typeface="Arial Narrow" pitchFamily="34" charset="0"/>
              </a:rPr>
              <a:t>text, preamble and annexes</a:t>
            </a:r>
          </a:p>
          <a:p>
            <a:pPr lvl="1"/>
            <a:r>
              <a:rPr lang="en-US" b="1" dirty="0" smtClean="0">
                <a:latin typeface="Arial Narrow" pitchFamily="34" charset="0"/>
              </a:rPr>
              <a:t>Art. 26 </a:t>
            </a:r>
            <a:r>
              <a:rPr lang="en-US" b="1" dirty="0" err="1" smtClean="0">
                <a:latin typeface="Arial Narrow" pitchFamily="34" charset="0"/>
              </a:rPr>
              <a:t>Pacta</a:t>
            </a:r>
            <a:r>
              <a:rPr lang="en-US" b="1" dirty="0" smtClean="0">
                <a:latin typeface="Arial Narrow" pitchFamily="34" charset="0"/>
              </a:rPr>
              <a:t> </a:t>
            </a:r>
            <a:r>
              <a:rPr lang="en-US" b="1" dirty="0" err="1" smtClean="0">
                <a:latin typeface="Arial Narrow" pitchFamily="34" charset="0"/>
              </a:rPr>
              <a:t>sunt</a:t>
            </a:r>
            <a:r>
              <a:rPr lang="en-US" b="1" dirty="0" smtClean="0">
                <a:latin typeface="Arial Narrow" pitchFamily="34" charset="0"/>
              </a:rPr>
              <a:t> </a:t>
            </a:r>
            <a:r>
              <a:rPr lang="en-US" b="1" dirty="0" err="1" smtClean="0">
                <a:latin typeface="Arial Narrow" pitchFamily="34" charset="0"/>
              </a:rPr>
              <a:t>servanda</a:t>
            </a:r>
            <a:r>
              <a:rPr lang="en-US" b="1" dirty="0" smtClean="0">
                <a:latin typeface="Arial Narrow" pitchFamily="34" charset="0"/>
              </a:rPr>
              <a:t> -</a:t>
            </a:r>
            <a:r>
              <a:rPr lang="en-US" dirty="0" smtClean="0">
                <a:latin typeface="Arial Narrow" pitchFamily="34" charset="0"/>
              </a:rPr>
              <a:t>Every treaty in force is </a:t>
            </a:r>
            <a:r>
              <a:rPr lang="en-US" b="1" dirty="0" smtClean="0">
                <a:latin typeface="Arial Narrow" pitchFamily="34" charset="0"/>
              </a:rPr>
              <a:t>binding upon the parties </a:t>
            </a:r>
            <a:r>
              <a:rPr lang="en-US" dirty="0" smtClean="0">
                <a:latin typeface="Arial Narrow" pitchFamily="34" charset="0"/>
              </a:rPr>
              <a:t>to it and must be performed by them in </a:t>
            </a:r>
            <a:r>
              <a:rPr lang="en-US" b="1" dirty="0" smtClean="0">
                <a:latin typeface="Arial Narrow" pitchFamily="34" charset="0"/>
              </a:rPr>
              <a:t>good faith</a:t>
            </a:r>
            <a:r>
              <a:rPr lang="en-US" dirty="0" smtClean="0"/>
              <a:t>.</a:t>
            </a:r>
            <a:endParaRPr lang="en-US" b="1" dirty="0" smtClean="0">
              <a:latin typeface="Arial Narrow" pitchFamily="34" charset="0"/>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771084"/>
          </a:xfrm>
          <a:prstGeom prst="rect">
            <a:avLst/>
          </a:prstGeom>
        </p:spPr>
        <p:txBody>
          <a:bodyPr wrap="square">
            <a:spAutoFit/>
          </a:bodyPr>
          <a:lstStyle/>
          <a:p>
            <a:pPr lvl="0"/>
            <a:endParaRPr lang="en-GB" dirty="0" smtClean="0"/>
          </a:p>
          <a:p>
            <a:pPr lvl="0"/>
            <a:r>
              <a:rPr lang="en-GB" sz="1900" b="1" dirty="0" smtClean="0">
                <a:latin typeface="Arial Narrow" pitchFamily="34" charset="0"/>
                <a:cs typeface="Arial" pitchFamily="34" charset="0"/>
              </a:rPr>
              <a:t>Organization of human &amp; </a:t>
            </a:r>
            <a:r>
              <a:rPr lang="en-GB" sz="1900" b="1" dirty="0" err="1" smtClean="0">
                <a:latin typeface="Arial Narrow" pitchFamily="34" charset="0"/>
                <a:cs typeface="Arial" pitchFamily="34" charset="0"/>
              </a:rPr>
              <a:t>dem</a:t>
            </a:r>
            <a:r>
              <a:rPr lang="en-GB" sz="1900" b="1" dirty="0" smtClean="0">
                <a:latin typeface="Arial Narrow" pitchFamily="34" charset="0"/>
                <a:cs typeface="Arial" pitchFamily="34" charset="0"/>
              </a:rPr>
              <a:t>. rights under the FDRE Constitution 1995</a:t>
            </a:r>
          </a:p>
          <a:p>
            <a:pPr lvl="0"/>
            <a:endParaRPr lang="en-GB" sz="1900" dirty="0" smtClean="0">
              <a:latin typeface="Arial Narrow" pitchFamily="34" charset="0"/>
            </a:endParaRPr>
          </a:p>
          <a:p>
            <a:pPr lvl="0" algn="just">
              <a:buFont typeface="Arial" pitchFamily="34" charset="0"/>
              <a:buChar char="•"/>
            </a:pPr>
            <a:r>
              <a:rPr lang="en-GB" sz="1900" dirty="0" smtClean="0">
                <a:latin typeface="Arial Narrow" pitchFamily="34" charset="0"/>
              </a:rPr>
              <a:t> </a:t>
            </a:r>
            <a:r>
              <a:rPr lang="en-GB" sz="1900" dirty="0" smtClean="0">
                <a:latin typeface="Arial Narrow" pitchFamily="34" charset="0"/>
                <a:cs typeface="Arial" pitchFamily="34" charset="0"/>
              </a:rPr>
              <a:t>The Transition Period Charter of Ethiopia, adopted on the 22</a:t>
            </a:r>
            <a:r>
              <a:rPr lang="en-GB" sz="1900" baseline="30000" dirty="0" smtClean="0">
                <a:latin typeface="Arial Narrow" pitchFamily="34" charset="0"/>
                <a:cs typeface="Arial" pitchFamily="34" charset="0"/>
              </a:rPr>
              <a:t>nd</a:t>
            </a:r>
            <a:r>
              <a:rPr lang="en-GB" sz="1900" dirty="0" smtClean="0">
                <a:latin typeface="Arial Narrow" pitchFamily="34" charset="0"/>
                <a:cs typeface="Arial" pitchFamily="34" charset="0"/>
              </a:rPr>
              <a:t> of July 1991 following a conference held from 1-5 July 1991 established the Transitional Government, and proclaimed the dismantlement of  all ‘Institutions of repression installed by the previous regimes’.</a:t>
            </a:r>
          </a:p>
          <a:p>
            <a:pPr lvl="0" algn="just"/>
            <a:endParaRPr lang="en-GB" sz="1900" dirty="0" smtClean="0">
              <a:latin typeface="Arial Narrow" pitchFamily="34" charset="0"/>
              <a:cs typeface="Arial" pitchFamily="34" charset="0"/>
            </a:endParaRPr>
          </a:p>
          <a:p>
            <a:pPr lvl="0" algn="just">
              <a:buFont typeface="Arial" pitchFamily="34" charset="0"/>
              <a:buChar char="•"/>
            </a:pPr>
            <a:r>
              <a:rPr lang="en-GB" sz="1900" dirty="0" smtClean="0">
                <a:latin typeface="Arial Narrow" pitchFamily="34" charset="0"/>
                <a:cs typeface="Arial" pitchFamily="34" charset="0"/>
              </a:rPr>
              <a:t> Transitional Government was composed of  Council of Representatives ( from liberation </a:t>
            </a:r>
            <a:r>
              <a:rPr lang="en-GB" sz="1900" dirty="0" err="1" smtClean="0">
                <a:latin typeface="Arial Narrow" pitchFamily="34" charset="0"/>
                <a:cs typeface="Arial" pitchFamily="34" charset="0"/>
              </a:rPr>
              <a:t>mov’ts</a:t>
            </a:r>
            <a:r>
              <a:rPr lang="en-GB" sz="1900" dirty="0" smtClean="0">
                <a:latin typeface="Arial Narrow" pitchFamily="34" charset="0"/>
                <a:cs typeface="Arial" pitchFamily="34" charset="0"/>
              </a:rPr>
              <a:t>, prominent </a:t>
            </a:r>
            <a:r>
              <a:rPr lang="en-GB" sz="1900" dirty="0" err="1" smtClean="0">
                <a:latin typeface="Arial Narrow" pitchFamily="34" charset="0"/>
                <a:cs typeface="Arial" pitchFamily="34" charset="0"/>
              </a:rPr>
              <a:t>indivds</a:t>
            </a:r>
            <a:r>
              <a:rPr lang="en-GB" sz="1900" dirty="0" smtClean="0">
                <a:latin typeface="Arial Narrow" pitchFamily="34" charset="0"/>
                <a:cs typeface="Arial" pitchFamily="34" charset="0"/>
              </a:rPr>
              <a:t>. and pol. Parties) and Council of Ministers.</a:t>
            </a:r>
          </a:p>
          <a:p>
            <a:pPr lvl="0" algn="just"/>
            <a:endParaRPr lang="en-GB" sz="1900" dirty="0" smtClean="0">
              <a:latin typeface="Arial Narrow" pitchFamily="34" charset="0"/>
              <a:cs typeface="Arial" pitchFamily="34" charset="0"/>
            </a:endParaRPr>
          </a:p>
          <a:p>
            <a:pPr lvl="0" algn="just">
              <a:buFont typeface="Arial" pitchFamily="34" charset="0"/>
              <a:buChar char="•"/>
            </a:pPr>
            <a:r>
              <a:rPr lang="en-GB" sz="1900" dirty="0" smtClean="0">
                <a:latin typeface="Arial Narrow" pitchFamily="34" charset="0"/>
                <a:cs typeface="Arial" pitchFamily="34" charset="0"/>
              </a:rPr>
              <a:t> Part I of the Charter briefly addressed certain democratic rights: namely freedom of conscience, expression, association, assembly, right to engage in unrestricted political activity, and to organize political parties, and the right to self-determination.</a:t>
            </a:r>
          </a:p>
          <a:p>
            <a:pPr lvl="0" algn="just">
              <a:buFont typeface="Arial" pitchFamily="34" charset="0"/>
              <a:buChar char="•"/>
            </a:pPr>
            <a:endParaRPr lang="en-GB" sz="1900" dirty="0" smtClean="0">
              <a:latin typeface="Arial Narrow" pitchFamily="34" charset="0"/>
              <a:cs typeface="Arial" pitchFamily="34" charset="0"/>
            </a:endParaRPr>
          </a:p>
          <a:p>
            <a:pPr lvl="0" algn="just">
              <a:buFont typeface="Arial" pitchFamily="34" charset="0"/>
              <a:buChar char="•"/>
            </a:pPr>
            <a:r>
              <a:rPr lang="en-GB" sz="1900" dirty="0" smtClean="0">
                <a:latin typeface="Arial Narrow" pitchFamily="34" charset="0"/>
                <a:cs typeface="Arial" pitchFamily="34" charset="0"/>
              </a:rPr>
              <a:t> The Council of Rep. Was also empowered to constitute the Constitutional Commission which shall draw the future Constitution and submit same to the people for deliberation.</a:t>
            </a:r>
          </a:p>
          <a:p>
            <a:pPr lvl="0" algn="just">
              <a:buFont typeface="Arial" pitchFamily="34" charset="0"/>
              <a:buChar char="•"/>
            </a:pPr>
            <a:r>
              <a:rPr lang="en-GB" sz="1900" dirty="0" smtClean="0">
                <a:latin typeface="Arial Narrow" pitchFamily="34" charset="0"/>
                <a:cs typeface="Arial" pitchFamily="34" charset="0"/>
              </a:rPr>
              <a:t> The Constituent Assembly was established in June1994, and the FDRE Constitution adopted by the Transitional Government in Dec. 1994. </a:t>
            </a:r>
          </a:p>
          <a:p>
            <a:pPr lvl="0" algn="just">
              <a:buFont typeface="Arial" pitchFamily="34" charset="0"/>
              <a:buChar char="•"/>
            </a:pPr>
            <a:endParaRPr lang="en-GB" sz="1900" dirty="0" smtClean="0">
              <a:latin typeface="Arial Narrow" pitchFamily="34" charset="0"/>
              <a:cs typeface="Arial" pitchFamily="34" charset="0"/>
            </a:endParaRPr>
          </a:p>
          <a:p>
            <a:pPr lvl="0" algn="just">
              <a:buFont typeface="Arial" pitchFamily="34" charset="0"/>
              <a:buChar char="•"/>
            </a:pPr>
            <a:r>
              <a:rPr lang="en-GB" sz="1900" dirty="0" smtClean="0">
                <a:latin typeface="Arial Narrow" pitchFamily="34" charset="0"/>
                <a:cs typeface="Arial" pitchFamily="34" charset="0"/>
              </a:rPr>
              <a:t> Human and democratic rights were structured under Chapter Three under the heading of ‘Fundamental Rights and Freedoms’ (Art. 14-44) </a:t>
            </a:r>
            <a:endParaRPr lang="en-GB" sz="1900" dirty="0" smtClean="0">
              <a:latin typeface="Arial Narrow" pitchFamily="34" charset="0"/>
            </a:endParaRPr>
          </a:p>
          <a:p>
            <a:pPr lvl="0"/>
            <a:endParaRPr lang="en-GB" dirty="0" smtClean="0"/>
          </a:p>
          <a:p>
            <a:pPr lvl="0"/>
            <a:endParaRPr lang="en-GB" dirty="0" smtClean="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14290"/>
            <a:ext cx="9001156" cy="6524863"/>
          </a:xfrm>
          <a:prstGeom prst="rect">
            <a:avLst/>
          </a:prstGeom>
        </p:spPr>
        <p:txBody>
          <a:bodyPr wrap="square">
            <a:spAutoFit/>
          </a:bodyPr>
          <a:lstStyle/>
          <a:p>
            <a:pPr algn="just"/>
            <a:r>
              <a:rPr lang="en-US" sz="2000" b="1" dirty="0" smtClean="0">
                <a:latin typeface="Arial" pitchFamily="34" charset="0"/>
                <a:cs typeface="Arial" pitchFamily="34" charset="0"/>
              </a:rPr>
              <a:t>Status of human rights provisions</a:t>
            </a:r>
          </a:p>
          <a:p>
            <a:pPr algn="just"/>
            <a:endParaRPr lang="en-US" dirty="0" smtClean="0"/>
          </a:p>
          <a:p>
            <a:pPr marL="342900" indent="-342900" algn="just">
              <a:buAutoNum type="arabicPeriod"/>
            </a:pPr>
            <a:r>
              <a:rPr lang="en-US" sz="2000" b="1" i="1" dirty="0" smtClean="0">
                <a:latin typeface="Arial" pitchFamily="34" charset="0"/>
                <a:cs typeface="Arial" pitchFamily="34" charset="0"/>
              </a:rPr>
              <a:t>Extensive coverage</a:t>
            </a:r>
            <a:r>
              <a:rPr lang="en-US" sz="2000" dirty="0" smtClean="0">
                <a:latin typeface="Arial" pitchFamily="34" charset="0"/>
                <a:cs typeface="Arial" pitchFamily="34" charset="0"/>
              </a:rPr>
              <a:t>: the fact that the Ethiopian Constitution has extensively dealt with various themes of democratic and human rights under Art. 14-44 implies the degree of eminence accorded to issues of promoting and protecting human rights within the broader framework of the Constitution’s setup. </a:t>
            </a:r>
          </a:p>
          <a:p>
            <a:pPr marL="342900" indent="-342900">
              <a:buAutoNum type="arabicPeriod"/>
            </a:pPr>
            <a:r>
              <a:rPr lang="en-GB" sz="2000" b="1" i="1" dirty="0" smtClean="0">
                <a:latin typeface="Arial" pitchFamily="34" charset="0"/>
                <a:cs typeface="Arial" pitchFamily="34" charset="0"/>
              </a:rPr>
              <a:t>Reconfirming inviolability and inalienability of human and democratic rights</a:t>
            </a:r>
            <a:r>
              <a:rPr lang="en-GB" sz="2000" dirty="0" smtClean="0">
                <a:latin typeface="Arial" pitchFamily="34" charset="0"/>
                <a:cs typeface="Arial" pitchFamily="34" charset="0"/>
              </a:rPr>
              <a:t>: this is also evident from the very organization of </a:t>
            </a:r>
            <a:r>
              <a:rPr lang="en-US" sz="2000" dirty="0" smtClean="0">
                <a:latin typeface="Arial" pitchFamily="34" charset="0"/>
                <a:cs typeface="Arial" pitchFamily="34" charset="0"/>
              </a:rPr>
              <a:t>Article 10  under ‘Fundamental Principles of the Constitution (along with sovereignty of the people, constitutional supremacy, and separation of state and religion) where it was explicitly indicated that   </a:t>
            </a:r>
            <a:endParaRPr lang="en-GB" sz="2000" dirty="0" smtClean="0">
              <a:latin typeface="Arial" pitchFamily="34" charset="0"/>
              <a:cs typeface="Arial" pitchFamily="34" charset="0"/>
            </a:endParaRPr>
          </a:p>
          <a:p>
            <a:pPr marL="800100" lvl="1" indent="-342900" algn="just">
              <a:buAutoNum type="arabicPeriod"/>
            </a:pPr>
            <a:r>
              <a:rPr lang="en-US" sz="2000" dirty="0" smtClean="0">
                <a:latin typeface="Arial" pitchFamily="34" charset="0"/>
                <a:cs typeface="Arial" pitchFamily="34" charset="0"/>
              </a:rPr>
              <a:t>Human rights and freedoms, emanating from the nature of mankind,  are inviolable and inalienable;</a:t>
            </a:r>
            <a:r>
              <a:rPr lang="en-GB" sz="2000" dirty="0" smtClean="0">
                <a:latin typeface="Arial" pitchFamily="34" charset="0"/>
                <a:cs typeface="Arial" pitchFamily="34" charset="0"/>
              </a:rPr>
              <a:t> and that </a:t>
            </a:r>
          </a:p>
          <a:p>
            <a:pPr marL="800100" lvl="1" indent="-342900" algn="just">
              <a:buAutoNum type="arabicPeriod"/>
            </a:pPr>
            <a:r>
              <a:rPr lang="en-US" sz="2000" dirty="0" smtClean="0">
                <a:latin typeface="Arial" pitchFamily="34" charset="0"/>
                <a:cs typeface="Arial" pitchFamily="34" charset="0"/>
              </a:rPr>
              <a:t>Human and democratic rights of citizens and peoples shall be respected.</a:t>
            </a:r>
          </a:p>
          <a:p>
            <a:pPr>
              <a:buFont typeface="Arial" pitchFamily="34" charset="0"/>
              <a:buChar char="•"/>
            </a:pPr>
            <a:r>
              <a:rPr lang="en-US" sz="2000" dirty="0" smtClean="0">
                <a:latin typeface="Arial" pitchFamily="34" charset="0"/>
                <a:cs typeface="Arial" pitchFamily="34" charset="0"/>
              </a:rPr>
              <a:t> Note the slight differences in emphasis: ‘inviolable and inalienable’ Vs. ‘respected’.</a:t>
            </a:r>
          </a:p>
          <a:p>
            <a:pPr algn="just">
              <a:buFont typeface="Arial" pitchFamily="34" charset="0"/>
              <a:buChar char="•"/>
            </a:pPr>
            <a:r>
              <a:rPr lang="en-US" sz="2000" dirty="0" smtClean="0">
                <a:solidFill>
                  <a:srgbClr val="000000"/>
                </a:solidFill>
                <a:latin typeface="Arial" pitchFamily="34" charset="0"/>
                <a:ea typeface="Times New Roman" pitchFamily="18" charset="0"/>
                <a:cs typeface="Arial" pitchFamily="34" charset="0"/>
              </a:rPr>
              <a:t> This implies that h</a:t>
            </a:r>
            <a:r>
              <a:rPr lang="en-GB" sz="2000" dirty="0" err="1" smtClean="0">
                <a:solidFill>
                  <a:srgbClr val="000000"/>
                </a:solidFill>
                <a:latin typeface="Arial" pitchFamily="34" charset="0"/>
                <a:ea typeface="Times New Roman" pitchFamily="18" charset="0"/>
                <a:cs typeface="Arial" pitchFamily="34" charset="0"/>
              </a:rPr>
              <a:t>uman</a:t>
            </a:r>
            <a:r>
              <a:rPr lang="en-GB" sz="2000" dirty="0" smtClean="0">
                <a:solidFill>
                  <a:srgbClr val="000000"/>
                </a:solidFill>
                <a:latin typeface="Arial" pitchFamily="34" charset="0"/>
                <a:ea typeface="Times New Roman" pitchFamily="18" charset="0"/>
                <a:cs typeface="Arial" pitchFamily="34" charset="0"/>
              </a:rPr>
              <a:t> rights entail both rights and obligations; states assume obligations and duties under international law </a:t>
            </a:r>
            <a:r>
              <a:rPr lang="en-GB" sz="2000" i="1" dirty="0" smtClean="0">
                <a:solidFill>
                  <a:srgbClr val="000000"/>
                </a:solidFill>
                <a:latin typeface="Arial" pitchFamily="34" charset="0"/>
                <a:ea typeface="Times New Roman" pitchFamily="18" charset="0"/>
                <a:cs typeface="Arial" pitchFamily="34" charset="0"/>
              </a:rPr>
              <a:t>to respect, protect and fulfil human rights</a:t>
            </a:r>
            <a:r>
              <a:rPr lang="en-GB" sz="2000" dirty="0" smtClean="0">
                <a:solidFill>
                  <a:srgbClr val="000000"/>
                </a:solidFill>
                <a:latin typeface="Arial" pitchFamily="34" charset="0"/>
                <a:ea typeface="Times New Roman" pitchFamily="18" charset="0"/>
                <a:cs typeface="Arial" pitchFamily="34" charset="0"/>
              </a:rPr>
              <a:t>. </a:t>
            </a:r>
            <a:endParaRPr lang="en-GB" sz="2000" b="1" dirty="0" smtClean="0">
              <a:latin typeface="Arial" pitchFamily="34" charset="0"/>
              <a:ea typeface="Times New Roman" pitchFamily="18" charset="0"/>
              <a:cs typeface="Arial" pitchFamily="34" charset="0"/>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63417"/>
          </a:xfrm>
          <a:prstGeom prst="rect">
            <a:avLst/>
          </a:prstGeom>
        </p:spPr>
        <p:txBody>
          <a:bodyPr wrap="square">
            <a:spAutoFit/>
          </a:bodyPr>
          <a:lstStyle/>
          <a:p>
            <a:pPr lvl="0"/>
            <a:endParaRPr lang="en-GB" sz="2000" dirty="0" smtClean="0">
              <a:latin typeface="Arial" pitchFamily="34" charset="0"/>
              <a:cs typeface="Arial" pitchFamily="34" charset="0"/>
            </a:endParaRPr>
          </a:p>
          <a:p>
            <a:pPr lvl="0"/>
            <a:r>
              <a:rPr lang="en-US" sz="2000" dirty="0" smtClean="0">
                <a:latin typeface="Arial" pitchFamily="34" charset="0"/>
                <a:cs typeface="Arial" pitchFamily="34" charset="0"/>
              </a:rPr>
              <a:t>4. </a:t>
            </a:r>
            <a:r>
              <a:rPr lang="en-US" sz="2000" b="1" i="1" dirty="0" smtClean="0">
                <a:latin typeface="Arial" pitchFamily="34" charset="0"/>
                <a:cs typeface="Arial" pitchFamily="34" charset="0"/>
              </a:rPr>
              <a:t>Amendment procedures</a:t>
            </a:r>
            <a:r>
              <a:rPr lang="en-US" sz="2000" i="1" dirty="0" smtClean="0">
                <a:latin typeface="Arial" pitchFamily="34" charset="0"/>
                <a:cs typeface="Arial" pitchFamily="34" charset="0"/>
              </a:rPr>
              <a:t>: (Art. 105) </a:t>
            </a:r>
            <a:r>
              <a:rPr lang="en-US" sz="2000" dirty="0" smtClean="0">
                <a:latin typeface="Arial" pitchFamily="34" charset="0"/>
                <a:cs typeface="Arial" pitchFamily="34" charset="0"/>
              </a:rPr>
              <a:t>stipulated that ALL Chapter Three rights and freedoms would be subjected to a different and stringer amendment procedures than is applied with regard to other articles of the Constitution</a:t>
            </a:r>
            <a:r>
              <a:rPr lang="en-US" sz="2000" i="1" dirty="0" smtClean="0">
                <a:latin typeface="Arial" pitchFamily="34" charset="0"/>
                <a:cs typeface="Arial" pitchFamily="34" charset="0"/>
              </a:rPr>
              <a:t>.</a:t>
            </a:r>
          </a:p>
          <a:p>
            <a:pPr lvl="0"/>
            <a:endParaRPr lang="en-US" sz="2000" i="1" dirty="0" smtClean="0">
              <a:latin typeface="Arial" pitchFamily="34" charset="0"/>
              <a:cs typeface="Arial" pitchFamily="34" charset="0"/>
            </a:endParaRPr>
          </a:p>
          <a:p>
            <a:pPr lvl="0"/>
            <a:r>
              <a:rPr lang="en-US" sz="2000" i="1" dirty="0" smtClean="0">
                <a:latin typeface="Arial" pitchFamily="34" charset="0"/>
                <a:cs typeface="Arial" pitchFamily="34" charset="0"/>
              </a:rPr>
              <a:t>5. </a:t>
            </a:r>
            <a:r>
              <a:rPr lang="en-US" sz="2000" b="1" i="1" dirty="0" smtClean="0">
                <a:latin typeface="Arial" pitchFamily="34" charset="0"/>
                <a:cs typeface="Arial" pitchFamily="34" charset="0"/>
              </a:rPr>
              <a:t>Possible Horizontal application of human rights provisions</a:t>
            </a:r>
            <a:r>
              <a:rPr lang="en-US" sz="2000" i="1" dirty="0" smtClean="0">
                <a:latin typeface="Arial" pitchFamily="34" charset="0"/>
                <a:cs typeface="Arial" pitchFamily="34" charset="0"/>
              </a:rPr>
              <a:t>: </a:t>
            </a:r>
          </a:p>
          <a:p>
            <a:pPr lvl="0" algn="just"/>
            <a:r>
              <a:rPr lang="en-US" sz="2000" dirty="0" smtClean="0">
                <a:latin typeface="Arial" pitchFamily="34" charset="0"/>
                <a:cs typeface="Arial" pitchFamily="34" charset="0"/>
              </a:rPr>
              <a:t>Article 10.1 under Chapter Three obligates all federal and state legislative executive and judicial organs at all levels with responsibility to and duty to respect and enforce provisions of the Chapter.</a:t>
            </a:r>
          </a:p>
          <a:p>
            <a:pPr lvl="0"/>
            <a:endParaRPr lang="en-US" sz="2000" dirty="0" smtClean="0">
              <a:latin typeface="Arial" pitchFamily="34" charset="0"/>
              <a:cs typeface="Arial" pitchFamily="34" charset="0"/>
            </a:endParaRPr>
          </a:p>
          <a:p>
            <a:pPr lvl="1">
              <a:buFont typeface="Arial" pitchFamily="34" charset="0"/>
              <a:buChar char="•"/>
            </a:pPr>
            <a:r>
              <a:rPr lang="en-GB" sz="2000" dirty="0" smtClean="0">
                <a:latin typeface="Arial" pitchFamily="34" charset="0"/>
                <a:cs typeface="Arial" pitchFamily="34" charset="0"/>
              </a:rPr>
              <a:t> Most Constitutions generally regulate vertical relationship (between state, its various institutions and  the individual)</a:t>
            </a:r>
          </a:p>
          <a:p>
            <a:pPr lvl="1">
              <a:buFont typeface="Arial" pitchFamily="34" charset="0"/>
              <a:buChar char="•"/>
            </a:pPr>
            <a:r>
              <a:rPr lang="en-GB" sz="2000" dirty="0" smtClean="0">
                <a:latin typeface="Arial" pitchFamily="34" charset="0"/>
                <a:cs typeface="Arial" pitchFamily="34" charset="0"/>
              </a:rPr>
              <a:t> Some have however regulated certain aspects of horizontal relationship in the application of human rights.</a:t>
            </a:r>
          </a:p>
          <a:p>
            <a:pPr lvl="1" algn="just">
              <a:buFont typeface="Arial" pitchFamily="34" charset="0"/>
              <a:buChar char="•"/>
            </a:pPr>
            <a:r>
              <a:rPr lang="en-GB" sz="2000" dirty="0" smtClean="0">
                <a:latin typeface="Arial" pitchFamily="34" charset="0"/>
                <a:cs typeface="Arial" pitchFamily="34" charset="0"/>
              </a:rPr>
              <a:t> While the Constitution calls for application and enforcement of Chapter III provisions by all state agencies in human rights matters, and hence that horizontal application was not spelled out explicitly, the fact that the Supremacy Clause under Art. 9(2) has required ‘all citizens, state organs, political organizations, other associations as well as their officials’ to ensure observance of the Constitution and obey it ( of course, not just human rights provisions) could be interpreted as calling for possibility of horizontal application as well.</a:t>
            </a:r>
            <a:endParaRPr lang="en-GB" sz="2000" i="1" dirty="0" smtClean="0">
              <a:latin typeface="Arial" pitchFamily="34" charset="0"/>
              <a:cs typeface="Arial" pitchFamily="34" charset="0"/>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7448193"/>
          </a:xfrm>
          <a:prstGeom prst="rect">
            <a:avLst/>
          </a:prstGeom>
        </p:spPr>
        <p:txBody>
          <a:bodyPr wrap="square">
            <a:spAutoFit/>
          </a:bodyPr>
          <a:lstStyle/>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Indeed, this involves hefty responsibility laid on the government </a:t>
            </a: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to Respect - </a:t>
            </a:r>
            <a:r>
              <a:rPr lang="en-GB" sz="2000" i="1" dirty="0" smtClean="0">
                <a:solidFill>
                  <a:srgbClr val="000000"/>
                </a:solidFill>
                <a:latin typeface="Arial" pitchFamily="34" charset="0"/>
                <a:ea typeface="Times New Roman" pitchFamily="18" charset="0"/>
                <a:cs typeface="Arial" pitchFamily="34" charset="0"/>
              </a:rPr>
              <a:t>refraining</a:t>
            </a:r>
            <a:r>
              <a:rPr lang="en-GB" sz="2000" dirty="0" smtClean="0">
                <a:solidFill>
                  <a:srgbClr val="000000"/>
                </a:solidFill>
                <a:latin typeface="Arial" pitchFamily="34" charset="0"/>
                <a:ea typeface="Times New Roman" pitchFamily="18" charset="0"/>
                <a:cs typeface="Arial" pitchFamily="34" charset="0"/>
              </a:rPr>
              <a:t> from interfering with or curtailing the enjoyment of human rights,  </a:t>
            </a:r>
            <a:endParaRPr lang="en-GB" sz="2000" b="1"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Protect </a:t>
            </a:r>
            <a:r>
              <a:rPr lang="en-GB" sz="2000" i="1" dirty="0" smtClean="0">
                <a:solidFill>
                  <a:srgbClr val="000000"/>
                </a:solidFill>
                <a:latin typeface="Arial" pitchFamily="34" charset="0"/>
                <a:ea typeface="Times New Roman" pitchFamily="18" charset="0"/>
                <a:cs typeface="Arial" pitchFamily="34" charset="0"/>
              </a:rPr>
              <a:t>requiring it</a:t>
            </a:r>
            <a:r>
              <a:rPr lang="en-GB" sz="2000" dirty="0" smtClean="0">
                <a:solidFill>
                  <a:srgbClr val="000000"/>
                </a:solidFill>
                <a:latin typeface="Arial" pitchFamily="34" charset="0"/>
                <a:ea typeface="Times New Roman" pitchFamily="18" charset="0"/>
                <a:cs typeface="Arial" pitchFamily="34" charset="0"/>
              </a:rPr>
              <a:t> to shield individuals and groups against human rights abuses. and</a:t>
            </a:r>
            <a:endParaRPr lang="en-GB" sz="2000" b="1" dirty="0" smtClean="0">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r>
              <a:rPr lang="en-GB" sz="2000" dirty="0" smtClean="0">
                <a:solidFill>
                  <a:srgbClr val="000000"/>
                </a:solidFill>
                <a:latin typeface="Arial" pitchFamily="34" charset="0"/>
                <a:ea typeface="Times New Roman" pitchFamily="18" charset="0"/>
                <a:cs typeface="Arial" pitchFamily="34" charset="0"/>
              </a:rPr>
              <a:t> Fulfil, meaning that states must </a:t>
            </a:r>
            <a:r>
              <a:rPr lang="en-GB" sz="2000" i="1" dirty="0" smtClean="0">
                <a:solidFill>
                  <a:srgbClr val="000000"/>
                </a:solidFill>
                <a:latin typeface="Arial" pitchFamily="34" charset="0"/>
                <a:ea typeface="Times New Roman" pitchFamily="18" charset="0"/>
                <a:cs typeface="Arial" pitchFamily="34" charset="0"/>
              </a:rPr>
              <a:t>take positive action </a:t>
            </a:r>
            <a:r>
              <a:rPr lang="en-GB" sz="2000" dirty="0" smtClean="0">
                <a:solidFill>
                  <a:srgbClr val="000000"/>
                </a:solidFill>
                <a:latin typeface="Arial" pitchFamily="34" charset="0"/>
                <a:ea typeface="Times New Roman" pitchFamily="18" charset="0"/>
                <a:cs typeface="Arial" pitchFamily="34" charset="0"/>
              </a:rPr>
              <a:t>to facilitate the enjoyment of basic human rights. </a:t>
            </a:r>
          </a:p>
          <a:p>
            <a:pPr lvl="1" algn="just" eaLnBrk="0" fontAlgn="base" hangingPunct="0">
              <a:spcBef>
                <a:spcPct val="0"/>
              </a:spcBef>
              <a:spcAft>
                <a:spcPct val="0"/>
              </a:spcAft>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That shows the level of political commitment displayed on the part of the state in drawing a constitution that extends such a status to Human Rights values. </a:t>
            </a:r>
          </a:p>
          <a:p>
            <a:pPr lvl="1" algn="just" eaLnBrk="0" fontAlgn="base" hangingPunct="0">
              <a:spcBef>
                <a:spcPct val="0"/>
              </a:spcBef>
              <a:spcAft>
                <a:spcPct val="0"/>
              </a:spcAft>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3. </a:t>
            </a:r>
            <a:r>
              <a:rPr lang="en-GB" sz="2000" b="1" i="1" dirty="0" smtClean="0">
                <a:solidFill>
                  <a:srgbClr val="000000"/>
                </a:solidFill>
                <a:latin typeface="Arial" pitchFamily="34" charset="0"/>
                <a:ea typeface="Times New Roman" pitchFamily="18" charset="0"/>
                <a:cs typeface="Arial" pitchFamily="34" charset="0"/>
              </a:rPr>
              <a:t>Scope of application</a:t>
            </a:r>
            <a:r>
              <a:rPr lang="en-GB" sz="2000" i="1" dirty="0" smtClean="0">
                <a:solidFill>
                  <a:srgbClr val="000000"/>
                </a:solidFill>
                <a:latin typeface="Arial" pitchFamily="34" charset="0"/>
                <a:ea typeface="Times New Roman" pitchFamily="18" charset="0"/>
                <a:cs typeface="Arial" pitchFamily="34" charset="0"/>
              </a:rPr>
              <a:t>: </a:t>
            </a:r>
            <a:r>
              <a:rPr lang="en-GB" sz="2000" dirty="0" smtClean="0">
                <a:solidFill>
                  <a:srgbClr val="000000"/>
                </a:solidFill>
                <a:latin typeface="Arial" pitchFamily="34" charset="0"/>
                <a:ea typeface="Times New Roman" pitchFamily="18" charset="0"/>
                <a:cs typeface="Arial" pitchFamily="34" charset="0"/>
              </a:rPr>
              <a:t>fundamental rights and freedoms shall be interpreted in a manner conforming to the principles of UDHR, International Covenants, and instruments adopted by the country. </a:t>
            </a:r>
            <a:r>
              <a:rPr lang="en-US" sz="2000" b="1" dirty="0" smtClean="0">
                <a:latin typeface="Arial Narrow" pitchFamily="34" charset="0"/>
              </a:rPr>
              <a:t>Indivisibility of Human Rights</a:t>
            </a:r>
            <a:r>
              <a:rPr lang="en-US" sz="2000" dirty="0" smtClean="0"/>
              <a:t>.</a:t>
            </a: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endParaRPr lang="en-GB" sz="2000"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pPr>
            <a:r>
              <a:rPr lang="en-GB" sz="2000" dirty="0" smtClean="0">
                <a:solidFill>
                  <a:srgbClr val="000000"/>
                </a:solidFill>
                <a:latin typeface="Arial" pitchFamily="34" charset="0"/>
                <a:ea typeface="Times New Roman" pitchFamily="18" charset="0"/>
                <a:cs typeface="Arial" pitchFamily="34" charset="0"/>
              </a:rPr>
              <a:t>Issues remain regarding the possibility of ‘direct application’ of human rights in the national legal system, but point remains that each of those rights would need to be interpreted and applied by reference to developments in international normative standards, which obviously heightens their status in a national legal system. Horizon is elevated.</a:t>
            </a:r>
            <a:endParaRPr lang="en-GB" sz="2000" b="1" dirty="0" smtClean="0">
              <a:solidFill>
                <a:srgbClr val="000000"/>
              </a:solidFill>
              <a:latin typeface="Arial" pitchFamily="34" charset="0"/>
              <a:ea typeface="Times New Roman" pitchFamily="18" charset="0"/>
              <a:cs typeface="Arial" pitchFamily="34" charset="0"/>
            </a:endParaRPr>
          </a:p>
          <a:p>
            <a:pPr lvl="1" algn="just" eaLnBrk="0" fontAlgn="base" hangingPunct="0">
              <a:spcBef>
                <a:spcPct val="0"/>
              </a:spcBef>
              <a:spcAft>
                <a:spcPct val="0"/>
              </a:spcAft>
              <a:buFont typeface="Courier New" pitchFamily="49" charset="0"/>
              <a:buChar char="o"/>
            </a:pPr>
            <a:endParaRPr lang="en-GB" sz="2000" b="1" dirty="0" smtClean="0">
              <a:latin typeface="Arial" pitchFamily="34" charset="0"/>
              <a:ea typeface="Times New Roman" pitchFamily="18" charset="0"/>
              <a:cs typeface="Arial" pitchFamily="34" charset="0"/>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latin typeface="Arial Narrow" pitchFamily="34" charset="0"/>
              </a:rPr>
              <a:t>Regional Constitution and Laws</a:t>
            </a:r>
            <a:endParaRPr lang="en-US" b="1" dirty="0">
              <a:latin typeface="Arial Narrow" pitchFamily="34" charset="0"/>
            </a:endParaRPr>
          </a:p>
        </p:txBody>
      </p:sp>
      <p:sp>
        <p:nvSpPr>
          <p:cNvPr id="3" name="Content Placeholder 2"/>
          <p:cNvSpPr>
            <a:spLocks noGrp="1"/>
          </p:cNvSpPr>
          <p:nvPr>
            <p:ph idx="1"/>
          </p:nvPr>
        </p:nvSpPr>
        <p:spPr>
          <a:xfrm>
            <a:off x="0" y="914400"/>
            <a:ext cx="9144000" cy="5943600"/>
          </a:xfrm>
        </p:spPr>
        <p:txBody>
          <a:bodyPr/>
          <a:lstStyle/>
          <a:p>
            <a:pPr algn="just"/>
            <a:r>
              <a:rPr lang="en-US" b="1" smtClean="0">
                <a:latin typeface="Arial Narrow" pitchFamily="34" charset="0"/>
              </a:rPr>
              <a:t>Constitutional Supremacy </a:t>
            </a:r>
            <a:r>
              <a:rPr lang="en-US" b="1" dirty="0" smtClean="0">
                <a:latin typeface="Arial Narrow" pitchFamily="34" charset="0"/>
              </a:rPr>
              <a:t>Clause </a:t>
            </a:r>
          </a:p>
          <a:p>
            <a:pPr lvl="1" algn="just"/>
            <a:r>
              <a:rPr lang="en-US" b="1" dirty="0" smtClean="0">
                <a:latin typeface="Arial Narrow" pitchFamily="34" charset="0"/>
              </a:rPr>
              <a:t>Deviance </a:t>
            </a:r>
          </a:p>
          <a:p>
            <a:pPr lvl="2" algn="just"/>
            <a:r>
              <a:rPr lang="en-US" b="1" dirty="0" smtClean="0">
                <a:latin typeface="Arial Narrow" pitchFamily="34" charset="0"/>
              </a:rPr>
              <a:t>Positive</a:t>
            </a:r>
            <a:r>
              <a:rPr lang="en-US" dirty="0" smtClean="0">
                <a:latin typeface="Arial Narrow" pitchFamily="34" charset="0"/>
              </a:rPr>
              <a:t> (widens the enjoyment of rights and fundamental freedoms)-sometimes called foster doctrine </a:t>
            </a:r>
          </a:p>
          <a:p>
            <a:pPr lvl="2" algn="just"/>
            <a:r>
              <a:rPr lang="en-US" b="1" dirty="0" smtClean="0">
                <a:latin typeface="Arial Narrow" pitchFamily="34" charset="0"/>
              </a:rPr>
              <a:t>Negative </a:t>
            </a:r>
            <a:r>
              <a:rPr lang="en-US" dirty="0" smtClean="0">
                <a:latin typeface="Arial Narrow" pitchFamily="34" charset="0"/>
              </a:rPr>
              <a:t>(reduce or diminish enjoyment of fundamental rights and freedoms)</a:t>
            </a:r>
          </a:p>
          <a:p>
            <a:pPr algn="just"/>
            <a:r>
              <a:rPr lang="en-US" b="1" dirty="0" smtClean="0">
                <a:latin typeface="Arial Narrow" pitchFamily="34" charset="0"/>
              </a:rPr>
              <a:t>Federal Laws Supremacy Clause? </a:t>
            </a:r>
            <a:r>
              <a:rPr lang="en-US" dirty="0" smtClean="0">
                <a:latin typeface="Arial Narrow" pitchFamily="34" charset="0"/>
              </a:rPr>
              <a:t>What will be the scenario if regional laws contradict the federal laws in Ethiopia?</a:t>
            </a:r>
            <a:endParaRPr lang="en-US" dirty="0">
              <a:latin typeface="Arial Narrow"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2691</TotalTime>
  <Words>24277</Words>
  <Application>Microsoft Office PowerPoint</Application>
  <PresentationFormat>On-screen Show (4:3)</PresentationFormat>
  <Paragraphs>1549</Paragraphs>
  <Slides>194</Slides>
  <Notes>48</Notes>
  <HiddenSlides>0</HiddenSlides>
  <MMClips>0</MMClips>
  <ScaleCrop>false</ScaleCrop>
  <HeadingPairs>
    <vt:vector size="4" baseType="variant">
      <vt:variant>
        <vt:lpstr>Theme</vt:lpstr>
      </vt:variant>
      <vt:variant>
        <vt:i4>1</vt:i4>
      </vt:variant>
      <vt:variant>
        <vt:lpstr>Slide Titles</vt:lpstr>
      </vt:variant>
      <vt:variant>
        <vt:i4>194</vt:i4>
      </vt:variant>
    </vt:vector>
  </HeadingPairs>
  <TitlesOfParts>
    <vt:vector size="195" baseType="lpstr">
      <vt:lpstr>Office Theme</vt:lpstr>
      <vt:lpstr>Human Rights Law</vt:lpstr>
      <vt:lpstr>The Emergence of Rights Language</vt:lpstr>
      <vt:lpstr>Cont’ed</vt:lpstr>
      <vt:lpstr>Cont’ed</vt:lpstr>
      <vt:lpstr>Philosophical Foundations</vt:lpstr>
      <vt:lpstr>Evolution of the international human rights law  </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Are HRs Absolute?</vt:lpstr>
      <vt:lpstr>Cont’ed</vt:lpstr>
      <vt:lpstr>Cont’ed</vt:lpstr>
      <vt:lpstr>Cont’ed</vt:lpstr>
      <vt:lpstr>Cont’ed</vt:lpstr>
      <vt:lpstr>Philosophical Theories of HRs</vt:lpstr>
      <vt:lpstr>Cont’ed</vt:lpstr>
      <vt:lpstr>Cont’ed </vt:lpstr>
      <vt:lpstr>Cont’ed</vt:lpstr>
      <vt:lpstr>Origins of  Human Rights</vt:lpstr>
      <vt:lpstr>Cont’ed</vt:lpstr>
      <vt:lpstr>Cont’ed</vt:lpstr>
      <vt:lpstr>The Enlightenment Project on Human Rights</vt:lpstr>
      <vt:lpstr>Cont’ed</vt:lpstr>
      <vt:lpstr>Different Approaches to Explaining Rights :Substantive and Structural Accounts</vt:lpstr>
      <vt:lpstr>Cont’ed</vt:lpstr>
      <vt:lpstr>Accounts of HRs</vt:lpstr>
      <vt:lpstr>Grounds of HRs: Substantive values</vt:lpstr>
      <vt:lpstr>2nd Ground of HRs: Practicalities  </vt:lpstr>
      <vt:lpstr>Cont’ed</vt:lpstr>
      <vt:lpstr>Understanding Agency</vt:lpstr>
      <vt:lpstr>Cont’ed</vt:lpstr>
      <vt:lpstr>In What Sense are HRs Universal?</vt:lpstr>
      <vt:lpstr>What is Source?</vt:lpstr>
      <vt:lpstr>Soft Laws as a Sources of HRsL</vt:lpstr>
      <vt:lpstr>Cont’ed</vt:lpstr>
      <vt:lpstr>Henry Shue(1980)-Tripartite Obligation of Gov’t</vt:lpstr>
      <vt:lpstr>Cont’ed</vt:lpstr>
      <vt:lpstr>Drafting History of the UDHR(Int’al Bill of Rights)</vt:lpstr>
      <vt:lpstr>Why the UDHR was Bifurcated ?</vt:lpstr>
      <vt:lpstr>UN Human Rights Institutions</vt:lpstr>
      <vt:lpstr>ECOSOC</vt:lpstr>
      <vt:lpstr>Cont’ed</vt:lpstr>
      <vt:lpstr>Treaty Bodies </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Global enforcement of HRs</vt:lpstr>
      <vt:lpstr>Regional Human Rights Systems</vt:lpstr>
      <vt:lpstr>Why Regional HRs Systems ?</vt:lpstr>
      <vt:lpstr>The European HRs System</vt:lpstr>
      <vt:lpstr>Cont’ed</vt:lpstr>
      <vt:lpstr>Individual Petition System</vt:lpstr>
      <vt:lpstr>The Inter American HRs System</vt:lpstr>
      <vt:lpstr>The African HRs System</vt:lpstr>
      <vt:lpstr>Unique Features </vt:lpstr>
      <vt:lpstr>African Commission on HPRs(Art. 60 and 61)</vt:lpstr>
      <vt:lpstr>Sub-regional Integration Systems in Africa </vt:lpstr>
      <vt:lpstr>Cont’ed</vt:lpstr>
      <vt:lpstr>ARAB and ASEAN HRs System</vt:lpstr>
      <vt:lpstr>Cont’ed </vt:lpstr>
      <vt:lpstr>Arab HRs Committee </vt:lpstr>
      <vt:lpstr>Association of Southeast Asian Nations (ASEAN)</vt:lpstr>
      <vt:lpstr>Cont’ed</vt:lpstr>
      <vt:lpstr>Civil and Political Rights</vt:lpstr>
      <vt:lpstr>Cont’ed</vt:lpstr>
      <vt:lpstr>Cont’ed</vt:lpstr>
      <vt:lpstr>Economic, Social and Cultural Rights</vt:lpstr>
      <vt:lpstr>Cont’ed</vt:lpstr>
      <vt:lpstr>Challenges and Responses to ESCRs</vt:lpstr>
      <vt:lpstr>Cont’ed</vt:lpstr>
      <vt:lpstr>Responses to the Challenges  </vt:lpstr>
      <vt:lpstr>Cont’ed</vt:lpstr>
      <vt:lpstr>Cont’ed</vt:lpstr>
      <vt:lpstr>Restrictions/limitations and Derogations of HRs</vt:lpstr>
      <vt:lpstr>Cont’ed</vt:lpstr>
      <vt:lpstr>Cont’ed</vt:lpstr>
      <vt:lpstr>Claw back clause, Margin of appreciation</vt:lpstr>
      <vt:lpstr>Systems of Protection for Vulnerable Groups </vt:lpstr>
      <vt:lpstr>Cont’ed</vt:lpstr>
      <vt:lpstr>Cont’ed</vt:lpstr>
      <vt:lpstr>Positive Steps </vt:lpstr>
      <vt:lpstr>Challenges to CEDAW </vt:lpstr>
      <vt:lpstr>Reservation to CEDAW</vt:lpstr>
      <vt:lpstr>Children’s Rights</vt:lpstr>
      <vt:lpstr>Definition of a Child </vt:lpstr>
      <vt:lpstr>Reasons for the Existence of a Separate Child Rights</vt:lpstr>
      <vt:lpstr>Cont’ed</vt:lpstr>
      <vt:lpstr>Cont’ed</vt:lpstr>
      <vt:lpstr>Cont’ed</vt:lpstr>
      <vt:lpstr>What is Protected?</vt:lpstr>
      <vt:lpstr>Historical Antecedent of Child Rights </vt:lpstr>
      <vt:lpstr>Children in the World Wars</vt:lpstr>
      <vt:lpstr>Cont’ed</vt:lpstr>
      <vt:lpstr>Significance of the UN-CRC</vt:lpstr>
      <vt:lpstr>Cont’ed</vt:lpstr>
      <vt:lpstr>Cont’ed</vt:lpstr>
      <vt:lpstr>Cont’ed </vt:lpstr>
      <vt:lpstr>Instruments Concerning Rights of the Child</vt:lpstr>
      <vt:lpstr>Legal Definition of A Child: Age Wise</vt:lpstr>
      <vt:lpstr>The Substance of the Convention</vt:lpstr>
      <vt:lpstr>Cont’ed</vt:lpstr>
      <vt:lpstr>Cont’ed </vt:lpstr>
      <vt:lpstr>The Role of the BIC</vt:lpstr>
      <vt:lpstr>The Right to Life (Art. 6)</vt:lpstr>
      <vt:lpstr>Cont’ed </vt:lpstr>
      <vt:lpstr>Cont’ed </vt:lpstr>
      <vt:lpstr>The Right to Protection</vt:lpstr>
      <vt:lpstr>Economic Exploitation</vt:lpstr>
      <vt:lpstr>Sexual Exploitation (Art.34) </vt:lpstr>
      <vt:lpstr>Implementation of the Convention </vt:lpstr>
      <vt:lpstr>African Charter on Rights and Welfare of the Child</vt:lpstr>
      <vt:lpstr>Cont’ed</vt:lpstr>
      <vt:lpstr>Legal Frameworks/Treaties on Human Rights in Africa</vt:lpstr>
      <vt:lpstr>Institutional Frameworks</vt:lpstr>
      <vt:lpstr>ACRWC(Adopted in 1990 and entered into force 1999)</vt:lpstr>
      <vt:lpstr>Child Protection in other texts</vt:lpstr>
      <vt:lpstr>ACRWC Rational For Child Protection</vt:lpstr>
      <vt:lpstr>Substantive Elements of ACRWC</vt:lpstr>
      <vt:lpstr>ACRWC vs.CRC </vt:lpstr>
      <vt:lpstr>Treaty’s monitoring and enforcement mechanism(ACERWC)</vt:lpstr>
      <vt:lpstr>Cont’ed</vt:lpstr>
      <vt:lpstr>Cont’ed</vt:lpstr>
      <vt:lpstr>Human Rights, Culture and Globalization</vt:lpstr>
      <vt:lpstr>Cont’ed</vt:lpstr>
      <vt:lpstr>Cont’ed</vt:lpstr>
      <vt:lpstr>Cont’ed</vt:lpstr>
      <vt:lpstr>Cont’ed</vt:lpstr>
      <vt:lpstr>Culture, HRs and Globalization</vt:lpstr>
      <vt:lpstr>Doctrines Associated with Relativism</vt:lpstr>
      <vt:lpstr>Cont’ed</vt:lpstr>
      <vt:lpstr>Responses to Gross Violations of HRs</vt:lpstr>
      <vt:lpstr>Main difference between Ad hoc Tribunals and Permanent (ICC)</vt:lpstr>
      <vt:lpstr>Importance of Transitional Justice </vt:lpstr>
      <vt:lpstr>ICC Jurisdiction </vt:lpstr>
      <vt:lpstr>Gross Human Rights Violations </vt:lpstr>
      <vt:lpstr>Cont’ed</vt:lpstr>
      <vt:lpstr>Cont’ed</vt:lpstr>
      <vt:lpstr>National System of Protection</vt:lpstr>
      <vt:lpstr>Relative Merit and Demerit</vt:lpstr>
      <vt:lpstr>Self-executing and Non-self-executing</vt:lpstr>
      <vt:lpstr>Vienna Convention on the Laws of Treaties 1969</vt:lpstr>
      <vt:lpstr>Slide 190</vt:lpstr>
      <vt:lpstr>Slide 191</vt:lpstr>
      <vt:lpstr>Slide 192</vt:lpstr>
      <vt:lpstr>Slide 193</vt:lpstr>
      <vt:lpstr>Regional Constitution and Laws</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Philosophical Questions About Human Rights</dc:title>
  <dc:creator>user</dc:creator>
  <cp:lastModifiedBy>user</cp:lastModifiedBy>
  <cp:revision>186</cp:revision>
  <dcterms:created xsi:type="dcterms:W3CDTF">2014-09-21T06:09:47Z</dcterms:created>
  <dcterms:modified xsi:type="dcterms:W3CDTF">2018-01-17T05:49:42Z</dcterms:modified>
</cp:coreProperties>
</file>