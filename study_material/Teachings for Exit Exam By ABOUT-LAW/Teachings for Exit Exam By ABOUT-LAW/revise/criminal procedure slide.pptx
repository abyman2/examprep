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4"/>
  </p:notesMasterIdLst>
  <p:sldIdLst>
    <p:sldId id="261" r:id="rId2"/>
    <p:sldId id="476" r:id="rId3"/>
    <p:sldId id="477" r:id="rId4"/>
    <p:sldId id="478" r:id="rId5"/>
    <p:sldId id="289" r:id="rId6"/>
    <p:sldId id="491" r:id="rId7"/>
    <p:sldId id="490" r:id="rId8"/>
    <p:sldId id="493" r:id="rId9"/>
    <p:sldId id="489" r:id="rId10"/>
    <p:sldId id="304" r:id="rId11"/>
    <p:sldId id="494" r:id="rId12"/>
    <p:sldId id="496" r:id="rId13"/>
    <p:sldId id="495" r:id="rId14"/>
    <p:sldId id="479" r:id="rId15"/>
    <p:sldId id="650" r:id="rId16"/>
    <p:sldId id="638" r:id="rId17"/>
    <p:sldId id="640" r:id="rId18"/>
    <p:sldId id="642" r:id="rId19"/>
    <p:sldId id="643" r:id="rId20"/>
    <p:sldId id="644" r:id="rId21"/>
    <p:sldId id="645" r:id="rId22"/>
    <p:sldId id="646" r:id="rId23"/>
    <p:sldId id="647" r:id="rId24"/>
    <p:sldId id="649" r:id="rId25"/>
    <p:sldId id="497" r:id="rId26"/>
    <p:sldId id="501" r:id="rId27"/>
    <p:sldId id="500" r:id="rId28"/>
    <p:sldId id="529" r:id="rId29"/>
    <p:sldId id="499" r:id="rId30"/>
    <p:sldId id="502" r:id="rId31"/>
    <p:sldId id="506" r:id="rId32"/>
    <p:sldId id="511" r:id="rId33"/>
    <p:sldId id="508" r:id="rId34"/>
    <p:sldId id="510" r:id="rId35"/>
    <p:sldId id="514" r:id="rId36"/>
    <p:sldId id="536" r:id="rId37"/>
    <p:sldId id="537" r:id="rId38"/>
    <p:sldId id="538" r:id="rId39"/>
    <p:sldId id="530" r:id="rId40"/>
    <p:sldId id="515" r:id="rId41"/>
    <p:sldId id="541" r:id="rId42"/>
    <p:sldId id="528" r:id="rId43"/>
    <p:sldId id="542" r:id="rId44"/>
    <p:sldId id="543" r:id="rId45"/>
    <p:sldId id="517" r:id="rId46"/>
    <p:sldId id="544" r:id="rId47"/>
    <p:sldId id="545" r:id="rId48"/>
    <p:sldId id="546" r:id="rId49"/>
    <p:sldId id="547" r:id="rId50"/>
    <p:sldId id="548" r:id="rId51"/>
    <p:sldId id="722" r:id="rId52"/>
    <p:sldId id="518" r:id="rId53"/>
    <p:sldId id="723" r:id="rId54"/>
    <p:sldId id="520" r:id="rId55"/>
    <p:sldId id="724" r:id="rId56"/>
    <p:sldId id="549" r:id="rId57"/>
    <p:sldId id="550" r:id="rId58"/>
    <p:sldId id="551" r:id="rId59"/>
    <p:sldId id="725" r:id="rId60"/>
    <p:sldId id="552" r:id="rId61"/>
    <p:sldId id="553" r:id="rId62"/>
    <p:sldId id="726" r:id="rId63"/>
    <p:sldId id="727" r:id="rId64"/>
    <p:sldId id="554" r:id="rId65"/>
    <p:sldId id="728" r:id="rId66"/>
    <p:sldId id="521" r:id="rId67"/>
    <p:sldId id="729" r:id="rId68"/>
    <p:sldId id="522" r:id="rId69"/>
    <p:sldId id="730" r:id="rId70"/>
    <p:sldId id="731" r:id="rId71"/>
    <p:sldId id="555" r:id="rId72"/>
    <p:sldId id="523" r:id="rId73"/>
    <p:sldId id="556" r:id="rId74"/>
    <p:sldId id="732" r:id="rId75"/>
    <p:sldId id="524" r:id="rId76"/>
    <p:sldId id="735" r:id="rId77"/>
    <p:sldId id="559" r:id="rId78"/>
    <p:sldId id="721" r:id="rId79"/>
    <p:sldId id="560" r:id="rId80"/>
    <p:sldId id="736" r:id="rId81"/>
    <p:sldId id="525" r:id="rId82"/>
    <p:sldId id="720" r:id="rId83"/>
    <p:sldId id="561" r:id="rId84"/>
    <p:sldId id="737" r:id="rId85"/>
    <p:sldId id="562" r:id="rId86"/>
    <p:sldId id="526" r:id="rId87"/>
    <p:sldId id="719" r:id="rId88"/>
    <p:sldId id="652" r:id="rId89"/>
    <p:sldId id="658" r:id="rId90"/>
    <p:sldId id="654" r:id="rId91"/>
    <p:sldId id="655" r:id="rId92"/>
    <p:sldId id="659" r:id="rId93"/>
    <p:sldId id="656" r:id="rId94"/>
    <p:sldId id="738" r:id="rId95"/>
    <p:sldId id="663" r:id="rId96"/>
    <p:sldId id="664" r:id="rId97"/>
    <p:sldId id="660" r:id="rId98"/>
    <p:sldId id="661" r:id="rId99"/>
    <p:sldId id="662" r:id="rId100"/>
    <p:sldId id="739" r:id="rId101"/>
    <p:sldId id="657" r:id="rId102"/>
    <p:sldId id="740" r:id="rId103"/>
    <p:sldId id="667" r:id="rId104"/>
    <p:sldId id="741" r:id="rId105"/>
    <p:sldId id="669" r:id="rId106"/>
    <p:sldId id="665" r:id="rId107"/>
    <p:sldId id="670" r:id="rId108"/>
    <p:sldId id="743" r:id="rId109"/>
    <p:sldId id="671" r:id="rId110"/>
    <p:sldId id="682" r:id="rId111"/>
    <p:sldId id="776" r:id="rId112"/>
    <p:sldId id="696" r:id="rId113"/>
    <p:sldId id="695" r:id="rId114"/>
    <p:sldId id="744" r:id="rId115"/>
    <p:sldId id="684" r:id="rId116"/>
    <p:sldId id="699" r:id="rId117"/>
    <p:sldId id="700" r:id="rId118"/>
    <p:sldId id="701" r:id="rId119"/>
    <p:sldId id="702" r:id="rId120"/>
    <p:sldId id="698" r:id="rId121"/>
    <p:sldId id="685" r:id="rId122"/>
    <p:sldId id="697" r:id="rId123"/>
    <p:sldId id="686" r:id="rId124"/>
    <p:sldId id="777" r:id="rId125"/>
    <p:sldId id="388" r:id="rId126"/>
    <p:sldId id="391" r:id="rId127"/>
    <p:sldId id="677" r:id="rId128"/>
    <p:sldId id="393" r:id="rId129"/>
    <p:sldId id="703" r:id="rId130"/>
    <p:sldId id="778" r:id="rId131"/>
    <p:sldId id="715" r:id="rId132"/>
    <p:sldId id="745" r:id="rId133"/>
    <p:sldId id="717" r:id="rId134"/>
    <p:sldId id="716" r:id="rId135"/>
    <p:sldId id="710" r:id="rId136"/>
    <p:sldId id="704" r:id="rId137"/>
    <p:sldId id="747" r:id="rId138"/>
    <p:sldId id="705" r:id="rId139"/>
    <p:sldId id="706" r:id="rId140"/>
    <p:sldId id="707" r:id="rId141"/>
    <p:sldId id="708" r:id="rId142"/>
    <p:sldId id="718" r:id="rId143"/>
    <p:sldId id="709" r:id="rId144"/>
    <p:sldId id="746" r:id="rId145"/>
    <p:sldId id="399" r:id="rId146"/>
    <p:sldId id="400" r:id="rId147"/>
    <p:sldId id="581" r:id="rId148"/>
    <p:sldId id="401" r:id="rId149"/>
    <p:sldId id="582" r:id="rId150"/>
    <p:sldId id="402" r:id="rId151"/>
    <p:sldId id="583" r:id="rId152"/>
    <p:sldId id="403" r:id="rId153"/>
    <p:sldId id="584" r:id="rId154"/>
    <p:sldId id="405" r:id="rId155"/>
    <p:sldId id="586" r:id="rId156"/>
    <p:sldId id="406" r:id="rId157"/>
    <p:sldId id="587" r:id="rId158"/>
    <p:sldId id="407" r:id="rId159"/>
    <p:sldId id="588" r:id="rId160"/>
    <p:sldId id="408" r:id="rId161"/>
    <p:sldId id="589" r:id="rId162"/>
    <p:sldId id="409" r:id="rId163"/>
    <p:sldId id="751" r:id="rId164"/>
    <p:sldId id="410" r:id="rId165"/>
    <p:sldId id="591" r:id="rId166"/>
    <p:sldId id="592" r:id="rId167"/>
    <p:sldId id="593" r:id="rId168"/>
    <p:sldId id="595" r:id="rId169"/>
    <p:sldId id="415" r:id="rId170"/>
    <p:sldId id="596" r:id="rId171"/>
    <p:sldId id="416" r:id="rId172"/>
    <p:sldId id="417" r:id="rId173"/>
    <p:sldId id="597" r:id="rId174"/>
    <p:sldId id="420" r:id="rId175"/>
    <p:sldId id="600" r:id="rId176"/>
    <p:sldId id="771" r:id="rId177"/>
    <p:sldId id="772" r:id="rId178"/>
    <p:sldId id="774" r:id="rId179"/>
    <p:sldId id="602" r:id="rId180"/>
    <p:sldId id="603" r:id="rId181"/>
    <p:sldId id="604" r:id="rId182"/>
    <p:sldId id="779" r:id="rId183"/>
    <p:sldId id="427" r:id="rId184"/>
    <p:sldId id="428" r:id="rId185"/>
    <p:sldId id="608" r:id="rId186"/>
    <p:sldId id="429" r:id="rId187"/>
    <p:sldId id="611" r:id="rId188"/>
    <p:sldId id="430" r:id="rId189"/>
    <p:sldId id="431" r:id="rId190"/>
    <p:sldId id="432" r:id="rId191"/>
    <p:sldId id="614" r:id="rId192"/>
    <p:sldId id="775" r:id="rId193"/>
    <p:sldId id="433" r:id="rId194"/>
    <p:sldId id="615" r:id="rId195"/>
    <p:sldId id="435" r:id="rId196"/>
    <p:sldId id="780" r:id="rId197"/>
    <p:sldId id="617" r:id="rId198"/>
    <p:sldId id="436" r:id="rId199"/>
    <p:sldId id="618" r:id="rId200"/>
    <p:sldId id="437" r:id="rId201"/>
    <p:sldId id="619" r:id="rId202"/>
    <p:sldId id="438" r:id="rId203"/>
    <p:sldId id="439" r:id="rId204"/>
    <p:sldId id="621" r:id="rId205"/>
    <p:sldId id="440" r:id="rId206"/>
    <p:sldId id="622" r:id="rId207"/>
    <p:sldId id="441" r:id="rId208"/>
    <p:sldId id="623" r:id="rId209"/>
    <p:sldId id="781" r:id="rId210"/>
    <p:sldId id="442" r:id="rId211"/>
    <p:sldId id="624" r:id="rId212"/>
    <p:sldId id="782" r:id="rId213"/>
    <p:sldId id="625" r:id="rId214"/>
    <p:sldId id="783" r:id="rId215"/>
    <p:sldId id="444" r:id="rId216"/>
    <p:sldId id="446" r:id="rId217"/>
    <p:sldId id="628" r:id="rId218"/>
    <p:sldId id="447" r:id="rId219"/>
    <p:sldId id="448" r:id="rId220"/>
    <p:sldId id="630" r:id="rId221"/>
    <p:sldId id="449" r:id="rId222"/>
    <p:sldId id="631" r:id="rId223"/>
    <p:sldId id="450" r:id="rId224"/>
    <p:sldId id="632" r:id="rId225"/>
    <p:sldId id="451" r:id="rId226"/>
    <p:sldId id="633" r:id="rId227"/>
    <p:sldId id="452" r:id="rId228"/>
    <p:sldId id="634" r:id="rId229"/>
    <p:sldId id="453" r:id="rId230"/>
    <p:sldId id="454" r:id="rId231"/>
    <p:sldId id="752" r:id="rId232"/>
    <p:sldId id="455" r:id="rId233"/>
    <p:sldId id="456" r:id="rId234"/>
    <p:sldId id="754" r:id="rId235"/>
    <p:sldId id="757" r:id="rId236"/>
    <p:sldId id="609" r:id="rId237"/>
    <p:sldId id="755" r:id="rId238"/>
    <p:sldId id="574" r:id="rId239"/>
    <p:sldId id="458" r:id="rId240"/>
    <p:sldId id="459" r:id="rId241"/>
    <p:sldId id="758" r:id="rId242"/>
    <p:sldId id="760" r:id="rId243"/>
    <p:sldId id="577" r:id="rId244"/>
    <p:sldId id="762" r:id="rId245"/>
    <p:sldId id="763" r:id="rId246"/>
    <p:sldId id="764" r:id="rId247"/>
    <p:sldId id="463" r:id="rId248"/>
    <p:sldId id="566" r:id="rId249"/>
    <p:sldId id="766" r:id="rId250"/>
    <p:sldId id="767" r:id="rId251"/>
    <p:sldId id="768" r:id="rId252"/>
    <p:sldId id="467" r:id="rId253"/>
    <p:sldId id="568" r:id="rId254"/>
    <p:sldId id="469" r:id="rId255"/>
    <p:sldId id="569" r:id="rId256"/>
    <p:sldId id="470" r:id="rId257"/>
    <p:sldId id="769" r:id="rId258"/>
    <p:sldId id="471" r:id="rId259"/>
    <p:sldId id="571" r:id="rId260"/>
    <p:sldId id="472" r:id="rId261"/>
    <p:sldId id="572" r:id="rId262"/>
    <p:sldId id="765" r:id="rId2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9" d="100"/>
          <a:sy n="69" d="100"/>
        </p:scale>
        <p:origin x="-1158" y="-17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viewProps" Target="viewProp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E533EF-4811-4AF4-B53C-401BCE7F0F74}" type="datetimeFigureOut">
              <a:rPr lang="en-US" smtClean="0"/>
              <a:pPr/>
              <a:t>10/2/2019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0C7BEB-74AB-47AB-8C1B-EC800862FC95}" type="slidenum">
              <a:rPr lang="en-US" smtClean="0"/>
              <a:pPr/>
              <a:t>‹#›</a:t>
            </a:fld>
            <a:endParaRPr lang="en-US"/>
          </a:p>
        </p:txBody>
      </p:sp>
    </p:spTree>
    <p:extLst>
      <p:ext uri="{BB962C8B-B14F-4D97-AF65-F5344CB8AC3E}">
        <p14:creationId xmlns:p14="http://schemas.microsoft.com/office/powerpoint/2010/main" val="147712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0C7BEB-74AB-47AB-8C1B-EC800862FC95}" type="slidenum">
              <a:rPr lang="en-US" smtClean="0"/>
              <a:pPr/>
              <a:t>135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0C7BEB-74AB-47AB-8C1B-EC800862FC95}" type="slidenum">
              <a:rPr lang="en-US" smtClean="0"/>
              <a:pPr/>
              <a:t>256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53A08FA-C923-410E-80F4-DC7951195294}" type="datetimeFigureOut">
              <a:rPr lang="en-US" smtClean="0"/>
              <a:pPr/>
              <a:t>10/2/2019</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7AA45AC4-76EE-4BA2-A27D-F9E10CB4F89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53A08FA-C923-410E-80F4-DC7951195294}" type="datetimeFigureOut">
              <a:rPr lang="en-US" smtClean="0"/>
              <a:pPr/>
              <a:t>10/2/2019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A45AC4-76EE-4BA2-A27D-F9E10CB4F89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53A08FA-C923-410E-80F4-DC7951195294}" type="datetimeFigureOut">
              <a:rPr lang="en-US" smtClean="0"/>
              <a:pPr/>
              <a:t>10/2/2019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A45AC4-76EE-4BA2-A27D-F9E10CB4F89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53A08FA-C923-410E-80F4-DC7951195294}" type="datetimeFigureOut">
              <a:rPr lang="en-US" smtClean="0"/>
              <a:pPr/>
              <a:t>10/2/2019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A45AC4-76EE-4BA2-A27D-F9E10CB4F89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53A08FA-C923-410E-80F4-DC7951195294}" type="datetimeFigureOut">
              <a:rPr lang="en-US" smtClean="0"/>
              <a:pPr/>
              <a:t>10/2/2019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A45AC4-76EE-4BA2-A27D-F9E10CB4F89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53A08FA-C923-410E-80F4-DC7951195294}" type="datetimeFigureOut">
              <a:rPr lang="en-US" smtClean="0"/>
              <a:pPr/>
              <a:t>10/2/2019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A45AC4-76EE-4BA2-A27D-F9E10CB4F89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3A08FA-C923-410E-80F4-DC7951195294}" type="datetimeFigureOut">
              <a:rPr lang="en-US" smtClean="0"/>
              <a:pPr/>
              <a:t>10/2/2019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A45AC4-76EE-4BA2-A27D-F9E10CB4F89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53A08FA-C923-410E-80F4-DC7951195294}" type="datetimeFigureOut">
              <a:rPr lang="en-US" smtClean="0"/>
              <a:pPr/>
              <a:t>10/2/2019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A45AC4-76EE-4BA2-A27D-F9E10CB4F89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53A08FA-C923-410E-80F4-DC7951195294}" type="datetimeFigureOut">
              <a:rPr lang="en-US" smtClean="0"/>
              <a:pPr/>
              <a:t>10/2/2019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7AA45AC4-76EE-4BA2-A27D-F9E10CB4F895}"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53A08FA-C923-410E-80F4-DC7951195294}" type="datetimeFigureOut">
              <a:rPr lang="en-US" smtClean="0"/>
              <a:pPr/>
              <a:t>10/2/2019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A45AC4-76EE-4BA2-A27D-F9E10CB4F89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53A08FA-C923-410E-80F4-DC7951195294}" type="datetimeFigureOut">
              <a:rPr lang="en-US" smtClean="0"/>
              <a:pPr/>
              <a:t>10/2/2019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A45AC4-76EE-4BA2-A27D-F9E10CB4F89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53A08FA-C923-410E-80F4-DC7951195294}" type="datetimeFigureOut">
              <a:rPr lang="en-US" smtClean="0"/>
              <a:pPr/>
              <a:t>10/2/2019</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7AA45AC4-76EE-4BA2-A27D-F9E10CB4F895}"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80288"/>
            <a:ext cx="8229600" cy="1143000"/>
          </a:xfrm>
        </p:spPr>
        <p:txBody>
          <a:bodyPr>
            <a:normAutofit fontScale="90000"/>
          </a:bodyPr>
          <a:lstStyle/>
          <a:p>
            <a:r>
              <a:rPr lang="en-US" b="1" dirty="0" smtClean="0">
                <a:solidFill>
                  <a:srgbClr val="00B050"/>
                </a:solidFill>
              </a:rPr>
              <a:t>CHAPTER ONE</a:t>
            </a:r>
            <a:r>
              <a:rPr lang="en-US" dirty="0" smtClean="0"/>
              <a:t/>
            </a:r>
            <a:br>
              <a:rPr lang="en-US" dirty="0" smtClean="0"/>
            </a:br>
            <a:r>
              <a:rPr lang="en-US" b="1" dirty="0" smtClean="0">
                <a:solidFill>
                  <a:srgbClr val="0070C0"/>
                </a:solidFill>
              </a:rPr>
              <a:t>GENERAL OVERVIEW</a:t>
            </a:r>
            <a:endParaRPr lang="en-US" dirty="0">
              <a:solidFill>
                <a:srgbClr val="0070C0"/>
              </a:solidFill>
            </a:endParaRPr>
          </a:p>
        </p:txBody>
      </p:sp>
      <p:sp>
        <p:nvSpPr>
          <p:cNvPr id="3" name="Content Placeholder 2"/>
          <p:cNvSpPr>
            <a:spLocks noGrp="1"/>
          </p:cNvSpPr>
          <p:nvPr>
            <p:ph idx="1"/>
          </p:nvPr>
        </p:nvSpPr>
        <p:spPr>
          <a:xfrm>
            <a:off x="457200" y="2011680"/>
            <a:ext cx="8229600" cy="4389120"/>
          </a:xfrm>
        </p:spPr>
        <p:txBody>
          <a:bodyPr>
            <a:normAutofit/>
          </a:bodyPr>
          <a:lstStyle/>
          <a:p>
            <a:pPr algn="just">
              <a:buFont typeface="Wingdings" pitchFamily="2" charset="2"/>
              <a:buChar char="§"/>
            </a:pPr>
            <a:r>
              <a:rPr lang="en-US" b="1" i="1" dirty="0" smtClean="0"/>
              <a:t>Definition  of Criminal Procedure</a:t>
            </a:r>
          </a:p>
          <a:p>
            <a:pPr algn="just"/>
            <a:r>
              <a:rPr lang="en-US" b="1" dirty="0" smtClean="0"/>
              <a:t>The rules governing the mechanisms, under which crimes are investigated, prosecuted, adjudicated, and punished. </a:t>
            </a:r>
          </a:p>
          <a:p>
            <a:pPr algn="just"/>
            <a:r>
              <a:rPr lang="en-US" b="1" dirty="0" smtClean="0"/>
              <a:t>It includes the protection of accused persons' constitutional rights.</a:t>
            </a:r>
          </a:p>
          <a:p>
            <a:pPr algn="just"/>
            <a:r>
              <a:rPr lang="en-US" b="1" dirty="0" smtClean="0"/>
              <a:t>What makes it different from civil procedure?</a:t>
            </a:r>
          </a:p>
          <a:p>
            <a:pPr lvl="2" algn="just">
              <a:buFont typeface="Wingdings" pitchFamily="2" charset="2"/>
              <a:buChar char="Ø"/>
            </a:pPr>
            <a:r>
              <a:rPr lang="en-US" b="1" dirty="0" smtClean="0"/>
              <a:t>Public Nature</a:t>
            </a:r>
          </a:p>
          <a:p>
            <a:pPr lvl="2" algn="just">
              <a:buFont typeface="Wingdings" pitchFamily="2" charset="2"/>
              <a:buChar char="Ø"/>
            </a:pPr>
            <a:r>
              <a:rPr lang="en-US" b="1" dirty="0" smtClean="0"/>
              <a:t>Parties involved</a:t>
            </a:r>
          </a:p>
          <a:p>
            <a:pPr lvl="2" algn="just">
              <a:buFont typeface="Wingdings" pitchFamily="2" charset="2"/>
              <a:buChar char="Ø"/>
            </a:pPr>
            <a:r>
              <a:rPr lang="en-US" b="1" dirty="0" smtClean="0"/>
              <a:t>Its end result( Penalty Vs compensation)</a:t>
            </a:r>
          </a:p>
          <a:p>
            <a:pPr lvl="2" algn="just"/>
            <a:endParaRPr lang="en-US" b="1" dirty="0" smtClean="0">
              <a:solidFill>
                <a:schemeClr val="bg1"/>
              </a:solidFill>
            </a:endParaRPr>
          </a:p>
          <a:p>
            <a:pPr algn="just"/>
            <a:endParaRPr lang="en-US" b="1" dirty="0" smtClean="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solidFill>
                  <a:srgbClr val="00B050"/>
                </a:solidFill>
                <a:latin typeface="Times New Roman" pitchFamily="18" charset="0"/>
                <a:cs typeface="Times New Roman" pitchFamily="18" charset="0"/>
              </a:rPr>
              <a:t>Functions of Criminal procedure</a:t>
            </a:r>
            <a:r>
              <a:rPr lang="en-US" sz="4000" dirty="0" smtClean="0">
                <a:latin typeface="Times New Roman" pitchFamily="18" charset="0"/>
                <a:cs typeface="Times New Roman" pitchFamily="18" charset="0"/>
              </a:rPr>
              <a:t/>
            </a:r>
            <a:br>
              <a:rPr lang="en-US" sz="4000" dirty="0" smtClean="0">
                <a:latin typeface="Times New Roman" pitchFamily="18" charset="0"/>
                <a:cs typeface="Times New Roman" pitchFamily="18" charset="0"/>
              </a:rPr>
            </a:br>
            <a:r>
              <a:rPr lang="en-US" sz="4000" b="1" i="1" dirty="0" smtClean="0">
                <a:latin typeface="Times New Roman" pitchFamily="18" charset="0"/>
                <a:cs typeface="Times New Roman" pitchFamily="18" charset="0"/>
              </a:rPr>
              <a:t>1.</a:t>
            </a:r>
            <a:r>
              <a:rPr lang="en-US" sz="4000" b="1" i="1" dirty="0" smtClean="0">
                <a:solidFill>
                  <a:srgbClr val="0070C0"/>
                </a:solidFill>
                <a:latin typeface="Times New Roman" pitchFamily="18" charset="0"/>
                <a:cs typeface="Times New Roman" pitchFamily="18" charset="0"/>
              </a:rPr>
              <a:t>Enforcement of the Criminal Law</a:t>
            </a:r>
            <a:endParaRPr lang="en-US" b="1" i="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b="1" dirty="0" smtClean="0"/>
              <a:t>The purpose of the Criminal law is to protect peace, order and security of the state.</a:t>
            </a:r>
          </a:p>
          <a:p>
            <a:pPr algn="just"/>
            <a:r>
              <a:rPr lang="en-US" b="1" dirty="0" smtClean="0"/>
              <a:t> In order to achieve this, the criminal law  prescribe acts which are punishable.</a:t>
            </a:r>
          </a:p>
          <a:p>
            <a:pPr algn="just"/>
            <a:r>
              <a:rPr lang="en-US" b="1" dirty="0" smtClean="0"/>
              <a:t>These punishable acts are meaningless if they are not enforced.</a:t>
            </a:r>
          </a:p>
          <a:p>
            <a:pPr algn="just"/>
            <a:r>
              <a:rPr lang="en-US" b="1" dirty="0" smtClean="0"/>
              <a:t>Cr. Pr., therefore, Serves as a means to  such ends.</a:t>
            </a:r>
            <a:endParaRPr lang="en-US"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2. </a:t>
            </a:r>
            <a:r>
              <a:rPr lang="en-US" b="1" i="1" dirty="0" smtClean="0">
                <a:solidFill>
                  <a:srgbClr val="0070C0"/>
                </a:solidFill>
              </a:rPr>
              <a:t>Independent Functions</a:t>
            </a:r>
            <a:r>
              <a:rPr lang="en-US" i="1" dirty="0" smtClean="0"/>
              <a:t/>
            </a:r>
            <a:br>
              <a:rPr lang="en-US" i="1" dirty="0" smtClean="0"/>
            </a:br>
            <a:endParaRPr lang="en-US" i="1" dirty="0"/>
          </a:p>
        </p:txBody>
      </p:sp>
      <p:sp>
        <p:nvSpPr>
          <p:cNvPr id="3" name="Content Placeholder 2"/>
          <p:cNvSpPr>
            <a:spLocks noGrp="1"/>
          </p:cNvSpPr>
          <p:nvPr>
            <p:ph idx="1"/>
          </p:nvPr>
        </p:nvSpPr>
        <p:spPr/>
        <p:txBody>
          <a:bodyPr>
            <a:normAutofit/>
          </a:bodyPr>
          <a:lstStyle/>
          <a:p>
            <a:pPr algn="just"/>
            <a:r>
              <a:rPr lang="en-US" b="1" dirty="0" smtClean="0"/>
              <a:t>Allocating power among the actors</a:t>
            </a:r>
          </a:p>
          <a:p>
            <a:pPr lvl="2" algn="just">
              <a:buFont typeface="Wingdings" pitchFamily="2" charset="2"/>
              <a:buChar char="Ø"/>
            </a:pPr>
            <a:r>
              <a:rPr lang="en-US" b="1" dirty="0" smtClean="0"/>
              <a:t> The police </a:t>
            </a:r>
          </a:p>
          <a:p>
            <a:pPr lvl="2" algn="just">
              <a:buFont typeface="Wingdings" pitchFamily="2" charset="2"/>
              <a:buChar char="Ø"/>
            </a:pPr>
            <a:r>
              <a:rPr lang="en-US" b="1" dirty="0" smtClean="0"/>
              <a:t> The judge</a:t>
            </a:r>
          </a:p>
          <a:p>
            <a:pPr lvl="2" algn="just">
              <a:buFont typeface="Wingdings" pitchFamily="2" charset="2"/>
              <a:buChar char="Ø"/>
            </a:pPr>
            <a:r>
              <a:rPr lang="en-US" b="1" dirty="0" smtClean="0"/>
              <a:t> The Prosecutor</a:t>
            </a:r>
          </a:p>
          <a:p>
            <a:pPr algn="just"/>
            <a:r>
              <a:rPr lang="en-US" b="1" dirty="0" smtClean="0"/>
              <a:t>Limiting the State power( fair process)</a:t>
            </a:r>
          </a:p>
          <a:p>
            <a:pPr algn="just"/>
            <a:r>
              <a:rPr lang="en-US" b="1" dirty="0" smtClean="0"/>
              <a:t>It also  prescribes the rights of the Suspect and the duties of the actors.</a:t>
            </a:r>
          </a:p>
          <a:p>
            <a:pPr algn="just"/>
            <a:r>
              <a:rPr lang="en-US" b="1" dirty="0" smtClean="0"/>
              <a:t>By doing so, it protects the helpless suspect from the mighty force of the state.</a:t>
            </a:r>
          </a:p>
          <a:p>
            <a:pPr algn="just"/>
            <a:endParaRPr lang="en-US"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Question is?</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solidFill>
                  <a:srgbClr val="7030A0"/>
                </a:solidFill>
                <a:latin typeface="Times New Roman" pitchFamily="18" charset="0"/>
                <a:cs typeface="Times New Roman" pitchFamily="18" charset="0"/>
              </a:rPr>
              <a:t>Are the two functions Complementary?</a:t>
            </a:r>
          </a:p>
          <a:p>
            <a:pPr algn="just"/>
            <a:r>
              <a:rPr lang="en-US" b="1" dirty="0" smtClean="0">
                <a:solidFill>
                  <a:srgbClr val="7030A0"/>
                </a:solidFill>
                <a:latin typeface="Times New Roman" pitchFamily="18" charset="0"/>
                <a:cs typeface="Times New Roman" pitchFamily="18" charset="0"/>
              </a:rPr>
              <a:t>For which we should give priority, if not?</a:t>
            </a:r>
          </a:p>
          <a:p>
            <a:pPr algn="just"/>
            <a:r>
              <a:rPr lang="en-US" b="1" dirty="0" smtClean="0">
                <a:solidFill>
                  <a:srgbClr val="7030A0"/>
                </a:solidFill>
                <a:latin typeface="Times New Roman" pitchFamily="18" charset="0"/>
                <a:cs typeface="Times New Roman" pitchFamily="18" charset="0"/>
              </a:rPr>
              <a:t>The enforcement of the substantive law may neglect the fairness process.</a:t>
            </a:r>
          </a:p>
          <a:p>
            <a:pPr algn="just"/>
            <a:r>
              <a:rPr lang="en-US" b="1" dirty="0" smtClean="0">
                <a:solidFill>
                  <a:srgbClr val="7030A0"/>
                </a:solidFill>
                <a:latin typeface="Times New Roman" pitchFamily="18" charset="0"/>
                <a:cs typeface="Times New Roman" pitchFamily="18" charset="0"/>
              </a:rPr>
              <a:t>The fairness principle may harm enforcement of the  substantive law. So What?</a:t>
            </a:r>
          </a:p>
          <a:p>
            <a:pPr algn="just"/>
            <a:r>
              <a:rPr lang="en-US" b="1" dirty="0" smtClean="0">
                <a:solidFill>
                  <a:srgbClr val="7030A0"/>
                </a:solidFill>
                <a:latin typeface="Times New Roman" pitchFamily="18" charset="0"/>
                <a:cs typeface="Times New Roman" pitchFamily="18" charset="0"/>
              </a:rPr>
              <a:t>Which must be prioritized? What is the way out?</a:t>
            </a:r>
          </a:p>
          <a:p>
            <a:pPr algn="just"/>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i="1" dirty="0" smtClean="0"/>
              <a:t> </a:t>
            </a:r>
            <a:r>
              <a:rPr lang="en-US" sz="4000" b="1" i="1" dirty="0" smtClean="0">
                <a:solidFill>
                  <a:srgbClr val="00B050"/>
                </a:solidFill>
              </a:rPr>
              <a:t>Models of Criminal Justice Systems</a:t>
            </a:r>
            <a:endParaRPr lang="en-US" sz="4000"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Criminal justice system has dual purposes.</a:t>
            </a:r>
          </a:p>
          <a:p>
            <a:pPr lvl="1" algn="just">
              <a:buFont typeface="Wingdings" pitchFamily="2" charset="2"/>
              <a:buChar char="Ø"/>
            </a:pPr>
            <a:r>
              <a:rPr lang="en-US" sz="2400" b="1" dirty="0" smtClean="0"/>
              <a:t>Protection of the public against criminal harm.</a:t>
            </a:r>
          </a:p>
          <a:p>
            <a:pPr lvl="1" algn="just">
              <a:buFont typeface="Wingdings" pitchFamily="2" charset="2"/>
              <a:buChar char="Ø"/>
            </a:pPr>
            <a:r>
              <a:rPr lang="en-US" sz="2400" b="1" dirty="0" smtClean="0"/>
              <a:t> Protecting the accused against unfair treatment.</a:t>
            </a:r>
          </a:p>
          <a:p>
            <a:pPr algn="just"/>
            <a:r>
              <a:rPr lang="en-US" sz="2400" b="1" dirty="0" smtClean="0"/>
              <a:t>It is not easy to reconcile theses two competing and, at times, conflicting values.</a:t>
            </a:r>
          </a:p>
          <a:p>
            <a:pPr algn="just"/>
            <a:r>
              <a:rPr lang="en-US" sz="2400" b="1" dirty="0" smtClean="0"/>
              <a:t>A state is expected to strike the balance between the two.</a:t>
            </a:r>
          </a:p>
          <a:p>
            <a:pPr algn="just"/>
            <a:r>
              <a:rPr lang="en-US" sz="2400" b="1" dirty="0" smtClean="0"/>
              <a:t>But, it is unthinkable to achieve absolute balance.</a:t>
            </a:r>
          </a:p>
          <a:p>
            <a:pPr algn="just"/>
            <a:r>
              <a:rPr lang="en-US" sz="2400" b="1" dirty="0" smtClean="0"/>
              <a:t>The balance could tilt towards one over the other. </a:t>
            </a:r>
          </a:p>
          <a:p>
            <a:pPr algn="just"/>
            <a:r>
              <a:rPr lang="en-US" sz="2400" b="1" dirty="0" smtClean="0"/>
              <a:t>Depending upon the approach of the state towards the two interests, two models of criminal justice system have been developed. due process model and crime control model.</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Crime Control Model</a:t>
            </a:r>
            <a:r>
              <a:rPr lang="en-US" i="1" dirty="0" smtClean="0"/>
              <a:t/>
            </a:r>
            <a:br>
              <a:rPr lang="en-US" i="1" dirty="0" smtClean="0"/>
            </a:br>
            <a:endParaRPr lang="en-US" i="1" dirty="0"/>
          </a:p>
        </p:txBody>
      </p:sp>
      <p:sp>
        <p:nvSpPr>
          <p:cNvPr id="3" name="Content Placeholder 2"/>
          <p:cNvSpPr>
            <a:spLocks noGrp="1"/>
          </p:cNvSpPr>
          <p:nvPr>
            <p:ph idx="1"/>
          </p:nvPr>
        </p:nvSpPr>
        <p:spPr/>
        <p:txBody>
          <a:bodyPr>
            <a:noAutofit/>
          </a:bodyPr>
          <a:lstStyle/>
          <a:p>
            <a:pPr algn="just"/>
            <a:r>
              <a:rPr lang="en-US" sz="2000" b="1" dirty="0" smtClean="0"/>
              <a:t>According to the crime control model priority must be given to the law enforcement purpose over the fairness purpose.</a:t>
            </a:r>
          </a:p>
          <a:p>
            <a:pPr algn="just"/>
            <a:r>
              <a:rPr lang="en-US" sz="2000" b="1" dirty="0" smtClean="0"/>
              <a:t>Repression of the criminal conduct is very important.</a:t>
            </a:r>
          </a:p>
          <a:p>
            <a:pPr algn="just"/>
            <a:r>
              <a:rPr lang="en-US" sz="2000" b="1" dirty="0" smtClean="0"/>
              <a:t>The investigation is conducted  to get plea of guilty.</a:t>
            </a:r>
          </a:p>
          <a:p>
            <a:pPr algn="just"/>
            <a:r>
              <a:rPr lang="en-US" sz="2000" b="1" dirty="0" smtClean="0"/>
              <a:t>The police should  strive to extract confession.</a:t>
            </a:r>
          </a:p>
          <a:p>
            <a:pPr algn="just"/>
            <a:r>
              <a:rPr lang="en-US" sz="2000" b="1" dirty="0" smtClean="0"/>
              <a:t>The police plays a central role in investigation due to, </a:t>
            </a:r>
          </a:p>
          <a:p>
            <a:pPr lvl="1" algn="just">
              <a:buFont typeface="Wingdings" pitchFamily="2" charset="2"/>
              <a:buChar char="Ø"/>
            </a:pPr>
            <a:r>
              <a:rPr lang="en-US" sz="2000" b="1" dirty="0" smtClean="0"/>
              <a:t> Resource are very limited.</a:t>
            </a:r>
          </a:p>
          <a:p>
            <a:pPr lvl="1" algn="just">
              <a:buFont typeface="Wingdings" pitchFamily="2" charset="2"/>
              <a:buChar char="Ø"/>
            </a:pPr>
            <a:r>
              <a:rPr lang="en-US" sz="2000" b="1" dirty="0" smtClean="0"/>
              <a:t>There are challenges to the Governments case.</a:t>
            </a:r>
          </a:p>
          <a:p>
            <a:pPr algn="just"/>
            <a:r>
              <a:rPr lang="en-US" sz="2000" b="1" dirty="0" smtClean="0"/>
              <a:t>According to the  model</a:t>
            </a:r>
          </a:p>
          <a:p>
            <a:pPr lvl="1" algn="just">
              <a:buFont typeface="Wingdings" pitchFamily="2" charset="2"/>
              <a:buChar char="Ø"/>
            </a:pPr>
            <a:r>
              <a:rPr lang="en-US" sz="2000" b="1" dirty="0" smtClean="0"/>
              <a:t>Mistake may be committed while identifying the guilt.</a:t>
            </a:r>
          </a:p>
          <a:p>
            <a:pPr lvl="1" algn="just">
              <a:buFont typeface="Wingdings" pitchFamily="2" charset="2"/>
              <a:buChar char="Ø"/>
            </a:pPr>
            <a:r>
              <a:rPr lang="en-US" sz="2000" b="1" dirty="0" smtClean="0"/>
              <a:t>Conviction of the innocent person is not seen as a problem.</a:t>
            </a:r>
          </a:p>
          <a:p>
            <a:pPr lvl="1" algn="just">
              <a:buFont typeface="Wingdings" pitchFamily="2" charset="2"/>
              <a:buChar char="Ø"/>
            </a:pPr>
            <a:r>
              <a:rPr lang="en-US" sz="2000" b="1" dirty="0" smtClean="0"/>
              <a:t>It would be better to convict one innocent rather than letting free ten guilty individuals</a:t>
            </a:r>
          </a:p>
          <a:p>
            <a:pPr algn="just">
              <a:buFont typeface="Wingdings" pitchFamily="2" charset="2"/>
              <a:buChar char="Ø"/>
            </a:pPr>
            <a:endParaRPr lang="en-US" sz="2000"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due process model</a:t>
            </a:r>
            <a:endParaRPr lang="en-US" i="1" dirty="0">
              <a:solidFill>
                <a:srgbClr val="00B050"/>
              </a:solidFill>
            </a:endParaRPr>
          </a:p>
        </p:txBody>
      </p:sp>
      <p:sp>
        <p:nvSpPr>
          <p:cNvPr id="3" name="Content Placeholder 2"/>
          <p:cNvSpPr>
            <a:spLocks noGrp="1"/>
          </p:cNvSpPr>
          <p:nvPr>
            <p:ph idx="1"/>
          </p:nvPr>
        </p:nvSpPr>
        <p:spPr/>
        <p:txBody>
          <a:bodyPr>
            <a:normAutofit fontScale="92500"/>
          </a:bodyPr>
          <a:lstStyle/>
          <a:p>
            <a:pPr algn="just"/>
            <a:r>
              <a:rPr lang="en-US" b="1" dirty="0" smtClean="0"/>
              <a:t>The Due process model give priority to the  fairness of the proceeding.( independent function)</a:t>
            </a:r>
          </a:p>
          <a:p>
            <a:pPr algn="just"/>
            <a:r>
              <a:rPr lang="en-US" b="1" dirty="0" smtClean="0"/>
              <a:t>The due process model is distinguished for its emphasis on the avoidance of convicting innocent.</a:t>
            </a:r>
          </a:p>
          <a:p>
            <a:pPr algn="just"/>
            <a:r>
              <a:rPr lang="en-US" b="1" dirty="0" smtClean="0"/>
              <a:t>It tolerates the escape of criminals for the sake of not harming innocents. </a:t>
            </a:r>
          </a:p>
          <a:p>
            <a:pPr algn="just"/>
            <a:r>
              <a:rPr lang="en-US" b="1" dirty="0" smtClean="0"/>
              <a:t>This may affect the public interest as offenders are sent free. </a:t>
            </a:r>
          </a:p>
          <a:p>
            <a:pPr algn="just"/>
            <a:r>
              <a:rPr lang="en-US" b="1" dirty="0" smtClean="0"/>
              <a:t>Ten guilty men  should escape rather than one innocent man should suffer.</a:t>
            </a:r>
          </a:p>
          <a:p>
            <a:pPr algn="just"/>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i="1" dirty="0" smtClean="0">
                <a:solidFill>
                  <a:srgbClr val="00B050"/>
                </a:solidFill>
              </a:rPr>
              <a:t>Comparing the Two</a:t>
            </a:r>
            <a:r>
              <a:rPr lang="en-US" b="1" dirty="0" smtClean="0">
                <a:solidFill>
                  <a:srgbClr val="00B050"/>
                </a:solidFill>
              </a:rPr>
              <a:t> </a:t>
            </a:r>
            <a:endParaRPr lang="en-US" b="1" dirty="0">
              <a:solidFill>
                <a:srgbClr val="00B050"/>
              </a:solidFill>
            </a:endParaRPr>
          </a:p>
        </p:txBody>
      </p:sp>
      <p:sp>
        <p:nvSpPr>
          <p:cNvPr id="5" name="Content Placeholder 4"/>
          <p:cNvSpPr>
            <a:spLocks noGrp="1"/>
          </p:cNvSpPr>
          <p:nvPr>
            <p:ph sz="half" idx="1"/>
          </p:nvPr>
        </p:nvSpPr>
        <p:spPr/>
        <p:txBody>
          <a:bodyPr>
            <a:normAutofit/>
          </a:bodyPr>
          <a:lstStyle/>
          <a:p>
            <a:pPr algn="just"/>
            <a:r>
              <a:rPr lang="en-US" b="1" dirty="0" smtClean="0"/>
              <a:t> </a:t>
            </a:r>
            <a:r>
              <a:rPr lang="en-US" b="1" dirty="0" smtClean="0">
                <a:solidFill>
                  <a:srgbClr val="7030A0"/>
                </a:solidFill>
              </a:rPr>
              <a:t>Crime Control Model</a:t>
            </a:r>
          </a:p>
          <a:p>
            <a:pPr lvl="1" algn="just">
              <a:buFont typeface="Wingdings" pitchFamily="2" charset="2"/>
              <a:buChar char="Ø"/>
            </a:pPr>
            <a:r>
              <a:rPr lang="en-US" dirty="0" smtClean="0">
                <a:solidFill>
                  <a:srgbClr val="0070C0"/>
                </a:solidFill>
              </a:rPr>
              <a:t>More efficient in repression.</a:t>
            </a:r>
          </a:p>
          <a:p>
            <a:pPr lvl="1" algn="just">
              <a:buFont typeface="Wingdings" pitchFamily="2" charset="2"/>
              <a:buChar char="Ø"/>
            </a:pPr>
            <a:r>
              <a:rPr lang="en-US" dirty="0" smtClean="0">
                <a:solidFill>
                  <a:srgbClr val="0070C0"/>
                </a:solidFill>
              </a:rPr>
              <a:t>Poorly protect rights</a:t>
            </a:r>
          </a:p>
          <a:p>
            <a:pPr lvl="1" algn="just">
              <a:buFont typeface="Wingdings" pitchFamily="2" charset="2"/>
              <a:buChar char="Ø"/>
            </a:pPr>
            <a:r>
              <a:rPr lang="en-US" dirty="0" smtClean="0">
                <a:solidFill>
                  <a:srgbClr val="0070C0"/>
                </a:solidFill>
              </a:rPr>
              <a:t>Poorly bring equality</a:t>
            </a:r>
          </a:p>
          <a:p>
            <a:pPr lvl="1" algn="just">
              <a:buFont typeface="Wingdings" pitchFamily="2" charset="2"/>
              <a:buChar char="Ø"/>
            </a:pPr>
            <a:r>
              <a:rPr lang="en-US" dirty="0" smtClean="0">
                <a:solidFill>
                  <a:srgbClr val="0070C0"/>
                </a:solidFill>
              </a:rPr>
              <a:t> More conviction of innocent</a:t>
            </a:r>
          </a:p>
          <a:p>
            <a:pPr lvl="1" algn="just">
              <a:buFont typeface="Wingdings" pitchFamily="2" charset="2"/>
              <a:buChar char="Ø"/>
            </a:pPr>
            <a:r>
              <a:rPr lang="en-US" dirty="0" smtClean="0">
                <a:solidFill>
                  <a:srgbClr val="0070C0"/>
                </a:solidFill>
              </a:rPr>
              <a:t>Less likely to let the guilty  free</a:t>
            </a:r>
          </a:p>
          <a:p>
            <a:pPr algn="just"/>
            <a:endParaRPr lang="en-US" dirty="0" smtClean="0"/>
          </a:p>
          <a:p>
            <a:pPr algn="just"/>
            <a:endParaRPr lang="en-US" dirty="0"/>
          </a:p>
        </p:txBody>
      </p:sp>
      <p:sp>
        <p:nvSpPr>
          <p:cNvPr id="6" name="Content Placeholder 5"/>
          <p:cNvSpPr>
            <a:spLocks noGrp="1"/>
          </p:cNvSpPr>
          <p:nvPr>
            <p:ph sz="half" idx="2"/>
          </p:nvPr>
        </p:nvSpPr>
        <p:spPr/>
        <p:txBody>
          <a:bodyPr>
            <a:normAutofit/>
          </a:bodyPr>
          <a:lstStyle/>
          <a:p>
            <a:r>
              <a:rPr lang="en-US" b="1" dirty="0" smtClean="0">
                <a:solidFill>
                  <a:srgbClr val="7030A0"/>
                </a:solidFill>
              </a:rPr>
              <a:t>Due Proceeds Model</a:t>
            </a:r>
          </a:p>
          <a:p>
            <a:pPr lvl="1">
              <a:buFont typeface="Wingdings" pitchFamily="2" charset="2"/>
              <a:buChar char="Ø"/>
            </a:pPr>
            <a:r>
              <a:rPr lang="en-US" dirty="0" smtClean="0">
                <a:solidFill>
                  <a:srgbClr val="00B050"/>
                </a:solidFill>
              </a:rPr>
              <a:t>Less efficient in repression.</a:t>
            </a:r>
          </a:p>
          <a:p>
            <a:pPr lvl="1">
              <a:buFont typeface="Wingdings" pitchFamily="2" charset="2"/>
              <a:buChar char="Ø"/>
            </a:pPr>
            <a:r>
              <a:rPr lang="en-US" dirty="0" smtClean="0">
                <a:solidFill>
                  <a:srgbClr val="00B050"/>
                </a:solidFill>
              </a:rPr>
              <a:t>Better to protect rights.</a:t>
            </a:r>
          </a:p>
          <a:p>
            <a:pPr lvl="1">
              <a:buFont typeface="Wingdings" pitchFamily="2" charset="2"/>
              <a:buChar char="Ø"/>
            </a:pPr>
            <a:r>
              <a:rPr lang="en-US" dirty="0" smtClean="0">
                <a:solidFill>
                  <a:srgbClr val="00B050"/>
                </a:solidFill>
              </a:rPr>
              <a:t>Better to bring equality.</a:t>
            </a:r>
          </a:p>
          <a:p>
            <a:pPr lvl="1">
              <a:buFont typeface="Wingdings" pitchFamily="2" charset="2"/>
              <a:buChar char="Ø"/>
            </a:pPr>
            <a:r>
              <a:rPr lang="en-US" dirty="0" smtClean="0">
                <a:solidFill>
                  <a:srgbClr val="00B050"/>
                </a:solidFill>
              </a:rPr>
              <a:t> Less conviction of innocent.</a:t>
            </a:r>
          </a:p>
          <a:p>
            <a:pPr lvl="1">
              <a:buFont typeface="Wingdings" pitchFamily="2" charset="2"/>
              <a:buChar char="Ø"/>
            </a:pPr>
            <a:r>
              <a:rPr lang="en-US" dirty="0" smtClean="0">
                <a:solidFill>
                  <a:srgbClr val="00B050"/>
                </a:solidFill>
              </a:rPr>
              <a:t>More likely to let the guilty free</a:t>
            </a:r>
            <a:r>
              <a:rPr lang="en-US" dirty="0" smtClean="0"/>
              <a:t>.</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So What?</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i="1" dirty="0" smtClean="0">
                <a:solidFill>
                  <a:srgbClr val="FF0000"/>
                </a:solidFill>
              </a:rPr>
              <a:t>Herbert Packer  </a:t>
            </a:r>
            <a:r>
              <a:rPr lang="en-US" sz="2400" b="1" dirty="0" smtClean="0"/>
              <a:t>“The Polarity between the two models is not absolute and that the ideology of one is not the converse of the other and, therefore, it would be wrong to support one to the exclusion to the other</a:t>
            </a:r>
            <a:r>
              <a:rPr lang="en-US" sz="2400" dirty="0" smtClean="0"/>
              <a:t>.”</a:t>
            </a:r>
          </a:p>
          <a:p>
            <a:pPr algn="just"/>
            <a:r>
              <a:rPr lang="en-US" sz="2400" b="1" i="1" dirty="0" smtClean="0">
                <a:solidFill>
                  <a:srgbClr val="FF0000"/>
                </a:solidFill>
              </a:rPr>
              <a:t>Smith</a:t>
            </a:r>
            <a:r>
              <a:rPr lang="en-US" sz="2400" dirty="0" smtClean="0"/>
              <a:t> “</a:t>
            </a:r>
            <a:r>
              <a:rPr lang="en-US" sz="2400" b="1" dirty="0" smtClean="0"/>
              <a:t>Crime control model is concerned with the fundamental goal of the criminal justice system, where as due process is concerned with setting limit to the pursuit of this goal. Therefore due process is not a goal in itself</a:t>
            </a:r>
            <a:r>
              <a:rPr lang="en-US" sz="2400" i="1" dirty="0" smtClean="0"/>
              <a:t>.</a:t>
            </a:r>
            <a:r>
              <a:rPr lang="en-US" sz="2400" dirty="0" smtClean="0"/>
              <a:t>”</a:t>
            </a:r>
          </a:p>
          <a:p>
            <a:pPr algn="just"/>
            <a:r>
              <a:rPr lang="en-US" sz="2400" b="1" i="1" dirty="0" smtClean="0">
                <a:solidFill>
                  <a:srgbClr val="FF0000"/>
                </a:solidFill>
              </a:rPr>
              <a:t>Awtosh</a:t>
            </a:r>
            <a:r>
              <a:rPr lang="en-US" sz="2400" dirty="0" smtClean="0"/>
              <a:t> “ </a:t>
            </a:r>
            <a:r>
              <a:rPr lang="en-US" sz="2400" b="1" dirty="0" smtClean="0"/>
              <a:t>The two models can be reconciled in such manner that crime control is the underlining purpose of the system. But the pursuit of this purpose should be qualified by respecting  the due process</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a:t>
            </a:r>
            <a:r>
              <a:rPr lang="en-US" b="1" i="1" dirty="0" smtClean="0">
                <a:solidFill>
                  <a:srgbClr val="00B050"/>
                </a:solidFill>
              </a:rPr>
              <a:t>Systems of Criminal procedure</a:t>
            </a:r>
            <a:endParaRPr lang="en-US" b="1" i="1" dirty="0"/>
          </a:p>
        </p:txBody>
      </p:sp>
      <p:sp>
        <p:nvSpPr>
          <p:cNvPr id="3" name="Content Placeholder 2"/>
          <p:cNvSpPr>
            <a:spLocks noGrp="1"/>
          </p:cNvSpPr>
          <p:nvPr>
            <p:ph idx="1"/>
          </p:nvPr>
        </p:nvSpPr>
        <p:spPr/>
        <p:txBody>
          <a:bodyPr>
            <a:normAutofit fontScale="77500" lnSpcReduction="20000"/>
          </a:bodyPr>
          <a:lstStyle/>
          <a:p>
            <a:pPr algn="just"/>
            <a:r>
              <a:rPr lang="en-US" b="1" dirty="0" smtClean="0"/>
              <a:t>Every state wants to apprehend and adjudicate those who violated the criminal law.  </a:t>
            </a:r>
          </a:p>
          <a:p>
            <a:pPr algn="just"/>
            <a:r>
              <a:rPr lang="en-US" b="1" dirty="0" smtClean="0"/>
              <a:t>There are two major criminal procedure systems: adversarial and inquisitorial.</a:t>
            </a:r>
          </a:p>
          <a:p>
            <a:pPr algn="just"/>
            <a:r>
              <a:rPr lang="en-US" b="1" dirty="0" smtClean="0"/>
              <a:t>Their difference lies in the selection of the appropriate procedures and processes for effectively detecting and prosecuting criminals. </a:t>
            </a:r>
          </a:p>
          <a:p>
            <a:pPr algn="just"/>
            <a:r>
              <a:rPr lang="en-US" b="1" dirty="0" smtClean="0"/>
              <a:t> Generally, common law systems follow the adversarial(accusatorial) and civil law countries  follow the inquisitorial approach.  </a:t>
            </a:r>
          </a:p>
          <a:p>
            <a:pPr algn="just"/>
            <a:r>
              <a:rPr lang="en-US" b="1" dirty="0" smtClean="0"/>
              <a:t>Advocates of the adversarial systems of justice believe that the competition between the two parties is the best process for obtaining truth. </a:t>
            </a:r>
          </a:p>
          <a:p>
            <a:pPr algn="just"/>
            <a:r>
              <a:rPr lang="en-US" b="1" dirty="0" smtClean="0"/>
              <a:t>Advocates of the non-adversarial system believe that judicial control of the investigative process is the best way to uncover the truth.   </a:t>
            </a:r>
          </a:p>
          <a:p>
            <a:pPr algn="just"/>
            <a:endParaRPr lang="en-US" b="1"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Their differences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1800" b="1" dirty="0" smtClean="0"/>
              <a:t>Adversarial </a:t>
            </a:r>
          </a:p>
          <a:p>
            <a:pPr lvl="1" algn="just">
              <a:buFont typeface="Wingdings" pitchFamily="2" charset="2"/>
              <a:buChar char="Ø"/>
            </a:pPr>
            <a:r>
              <a:rPr lang="en-US" sz="1800" b="1" dirty="0" smtClean="0"/>
              <a:t>Emphasize the screening phase &amp; Judges are referee</a:t>
            </a:r>
          </a:p>
          <a:p>
            <a:pPr lvl="1" algn="just">
              <a:buFont typeface="Wingdings" pitchFamily="2" charset="2"/>
              <a:buChar char="Ø"/>
            </a:pPr>
            <a:r>
              <a:rPr lang="en-US" sz="1800" b="1" dirty="0" smtClean="0"/>
              <a:t>The defendant is not expected  to be  cooperative.</a:t>
            </a:r>
          </a:p>
          <a:p>
            <a:pPr lvl="1" algn="just">
              <a:buFont typeface="Wingdings" pitchFamily="2" charset="2"/>
              <a:buChar char="Ø"/>
            </a:pPr>
            <a:r>
              <a:rPr lang="en-US" sz="1800" b="1" dirty="0" smtClean="0"/>
              <a:t>There is written and codified evidence law</a:t>
            </a:r>
          </a:p>
          <a:p>
            <a:pPr lvl="1" algn="just">
              <a:buFont typeface="Wingdings" pitchFamily="2" charset="2"/>
              <a:buChar char="Ø"/>
            </a:pPr>
            <a:r>
              <a:rPr lang="en-US" sz="1800" b="1" dirty="0" smtClean="0"/>
              <a:t>They focus on oral evidence and heavily allow cross examination</a:t>
            </a:r>
          </a:p>
          <a:p>
            <a:pPr lvl="1" algn="just">
              <a:buFont typeface="Wingdings" pitchFamily="2" charset="2"/>
              <a:buChar char="Ø"/>
            </a:pPr>
            <a:r>
              <a:rPr lang="en-US" sz="1800" b="1" dirty="0" smtClean="0"/>
              <a:t>One can be a witness for his case</a:t>
            </a:r>
          </a:p>
          <a:p>
            <a:pPr lvl="1" algn="just">
              <a:buFont typeface="Wingdings" pitchFamily="2" charset="2"/>
              <a:buChar char="Ø"/>
            </a:pPr>
            <a:r>
              <a:rPr lang="en-US" sz="1800" b="1" dirty="0" smtClean="0"/>
              <a:t>Allow hearsay evidence</a:t>
            </a:r>
          </a:p>
          <a:p>
            <a:pPr algn="just"/>
            <a:r>
              <a:rPr lang="en-US" sz="1800" b="1" dirty="0" smtClean="0"/>
              <a:t>Inquisitorial</a:t>
            </a:r>
          </a:p>
          <a:p>
            <a:pPr lvl="1" algn="just">
              <a:buFont typeface="Wingdings" pitchFamily="2" charset="2"/>
              <a:buChar char="Ø"/>
            </a:pPr>
            <a:r>
              <a:rPr lang="en-US" sz="1800" b="1" dirty="0" smtClean="0"/>
              <a:t>Emphasize the trial phase, &amp; The Judges directly involve.</a:t>
            </a:r>
          </a:p>
          <a:p>
            <a:pPr lvl="1" algn="just">
              <a:buFont typeface="Wingdings" pitchFamily="2" charset="2"/>
              <a:buChar char="Ø"/>
            </a:pPr>
            <a:r>
              <a:rPr lang="en-US" sz="1800" b="1" dirty="0" smtClean="0"/>
              <a:t>The defendant is expected ( though not required) to  cooperate. </a:t>
            </a:r>
          </a:p>
          <a:p>
            <a:pPr lvl="1" algn="just">
              <a:buFont typeface="Wingdings" pitchFamily="2" charset="2"/>
              <a:buChar char="Ø"/>
            </a:pPr>
            <a:r>
              <a:rPr lang="en-US" sz="1800" b="1" dirty="0" smtClean="0"/>
              <a:t>That cooperation includes supplying information to investigators and answering questions at trial.</a:t>
            </a:r>
          </a:p>
          <a:p>
            <a:pPr lvl="1" algn="just">
              <a:buFont typeface="Wingdings" pitchFamily="2" charset="2"/>
              <a:buChar char="Ø"/>
            </a:pPr>
            <a:r>
              <a:rPr lang="en-US" sz="1800" b="1" dirty="0" smtClean="0"/>
              <a:t>Their evidence rules are scattered in different laws</a:t>
            </a:r>
          </a:p>
          <a:p>
            <a:pPr lvl="1" algn="just">
              <a:buFont typeface="Wingdings" pitchFamily="2" charset="2"/>
              <a:buChar char="Ø"/>
            </a:pPr>
            <a:r>
              <a:rPr lang="en-US" sz="1800" b="1" dirty="0" smtClean="0"/>
              <a:t>They focus on documentary evidence</a:t>
            </a:r>
          </a:p>
          <a:p>
            <a:pPr lvl="1" algn="just">
              <a:buFont typeface="Wingdings" pitchFamily="2" charset="2"/>
              <a:buChar char="Ø"/>
            </a:pPr>
            <a:r>
              <a:rPr lang="en-US" sz="1800" b="1" dirty="0" smtClean="0"/>
              <a:t>One cannot a witness for his case.</a:t>
            </a:r>
          </a:p>
          <a:p>
            <a:endParaRPr lang="en-US" sz="1800" b="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reality?</a:t>
            </a:r>
            <a:endParaRPr lang="en-US" b="1" i="1" dirty="0">
              <a:solidFill>
                <a:srgbClr val="00B050"/>
              </a:solidFill>
            </a:endParaRPr>
          </a:p>
        </p:txBody>
      </p:sp>
      <p:sp>
        <p:nvSpPr>
          <p:cNvPr id="3" name="Content Placeholder 2"/>
          <p:cNvSpPr>
            <a:spLocks noGrp="1"/>
          </p:cNvSpPr>
          <p:nvPr>
            <p:ph idx="1"/>
          </p:nvPr>
        </p:nvSpPr>
        <p:spPr/>
        <p:txBody>
          <a:bodyPr>
            <a:normAutofit fontScale="92500"/>
          </a:bodyPr>
          <a:lstStyle/>
          <a:p>
            <a:pPr algn="just"/>
            <a:r>
              <a:rPr lang="en-US" b="1" dirty="0" smtClean="0"/>
              <a:t>In reality it is not possible to find a purely adversarial or a purely inquisitorial system.</a:t>
            </a:r>
          </a:p>
          <a:p>
            <a:pPr algn="just"/>
            <a:r>
              <a:rPr lang="en-US" b="1" dirty="0" smtClean="0"/>
              <a:t>The U.S system a purely adversarial system required the accused to assist the government in the truth finding process </a:t>
            </a:r>
          </a:p>
          <a:p>
            <a:pPr algn="just"/>
            <a:r>
              <a:rPr lang="en-US" b="1" dirty="0" smtClean="0"/>
              <a:t> No jurisdiction with an inquestoral system expressly authorize  compulsory self incrimination.</a:t>
            </a:r>
          </a:p>
          <a:p>
            <a:pPr algn="just"/>
            <a:r>
              <a:rPr lang="en-US" b="1" dirty="0" smtClean="0"/>
              <a:t>In practice, therefore, the question is not whether the criminal justice system is an adversarial or inquisitorial rather it is whether it is more of one of the other.</a:t>
            </a:r>
            <a:endParaRPr lang="en-US"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r>
              <a:rPr lang="en-US" b="1" i="1" dirty="0" smtClean="0">
                <a:solidFill>
                  <a:srgbClr val="00B050"/>
                </a:solidFill>
              </a:rPr>
              <a:t>The reality…..</a:t>
            </a:r>
            <a:endParaRPr lang="en-US" b="1" i="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t>John Merryman.</a:t>
            </a:r>
          </a:p>
          <a:p>
            <a:pPr algn="just"/>
            <a:r>
              <a:rPr lang="en-US" b="1" dirty="0" smtClean="0"/>
              <a:t>“</a:t>
            </a:r>
            <a:r>
              <a:rPr lang="en-US" b="1" i="1" dirty="0" smtClean="0"/>
              <a:t>In a sense, it can be said that the evaluation of criminal procedure in the last two centuries in the civil law world has been away from the extremes and abuses of the inquisitorial system, and that the evolution in the common law world during the same period has been away from the abuses and excesses of the adversarial system. </a:t>
            </a:r>
          </a:p>
          <a:p>
            <a:pPr algn="just"/>
            <a:r>
              <a:rPr lang="en-US" b="1" i="1" dirty="0" smtClean="0"/>
              <a:t>The two systems, in other words, are converging from different directions toward roughly equivalent mixed systems of criminal procedure</a:t>
            </a:r>
            <a:r>
              <a:rPr lang="en-US" b="1" dirty="0" smtClean="0"/>
              <a:t>.”</a:t>
            </a:r>
          </a:p>
          <a:p>
            <a:endParaRPr lang="en-US"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reality…</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smtClean="0"/>
              <a:t>Besides, it is mistaken to conclude that one is apt to favor suspects or accused and the other society. </a:t>
            </a:r>
          </a:p>
          <a:p>
            <a:pPr algn="just"/>
            <a:r>
              <a:rPr lang="en-US" b="1" dirty="0" smtClean="0"/>
              <a:t>Each system has mechanisms to strike a balance between the interest of individuals and the public. </a:t>
            </a:r>
          </a:p>
          <a:p>
            <a:pPr algn="just"/>
            <a:r>
              <a:rPr lang="en-US" b="1" dirty="0" smtClean="0"/>
              <a:t>The efficiency and effectiveness of a system has to be seen on a case by case basis. </a:t>
            </a:r>
          </a:p>
          <a:p>
            <a:pPr algn="just"/>
            <a:r>
              <a:rPr lang="en-US" b="1" dirty="0" smtClean="0"/>
              <a:t>Ascertaining the system opted by a country is not simple. </a:t>
            </a:r>
          </a:p>
          <a:p>
            <a:pPr algn="just"/>
            <a:r>
              <a:rPr lang="en-US" b="1" dirty="0" smtClean="0"/>
              <a:t>The laws and practices of the justice sectors have to be explored.  </a:t>
            </a:r>
          </a:p>
          <a:p>
            <a:pPr algn="just"/>
            <a:r>
              <a:rPr lang="en-US" b="1" dirty="0" smtClean="0"/>
              <a:t>It also depends on the resource we allocate for investigation.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What about Ethiopia?</a:t>
            </a:r>
            <a:endParaRPr lang="en-US" b="1" i="1" dirty="0">
              <a:solidFill>
                <a:srgbClr val="00B050"/>
              </a:solidFill>
            </a:endParaRPr>
          </a:p>
        </p:txBody>
      </p:sp>
      <p:sp>
        <p:nvSpPr>
          <p:cNvPr id="3" name="Content Placeholder 2"/>
          <p:cNvSpPr>
            <a:spLocks noGrp="1"/>
          </p:cNvSpPr>
          <p:nvPr>
            <p:ph idx="1"/>
          </p:nvPr>
        </p:nvSpPr>
        <p:spPr/>
        <p:txBody>
          <a:bodyPr/>
          <a:lstStyle/>
          <a:p>
            <a:r>
              <a:rPr lang="en-US" b="1" dirty="0" smtClean="0"/>
              <a:t>Ethiopia seems also to follow the mix of both</a:t>
            </a:r>
          </a:p>
          <a:p>
            <a:r>
              <a:rPr lang="en-US" b="1" dirty="0" smtClean="0"/>
              <a:t> Our substantive laws seems to derived from the continental legal system</a:t>
            </a:r>
          </a:p>
          <a:p>
            <a:r>
              <a:rPr lang="en-US" b="1" dirty="0" smtClean="0"/>
              <a:t>The procedural laws are mainly from the common law legal system.</a:t>
            </a:r>
          </a:p>
          <a:p>
            <a:r>
              <a:rPr lang="en-US" b="1" dirty="0" smtClean="0"/>
              <a:t>So we can say that Ethiopia criminal system is the mix of both criminal justice systems.</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Fundamental Principles of Criminal Procedure</a:t>
            </a:r>
            <a:r>
              <a:rPr lang="en-US" i="1" dirty="0" smtClean="0">
                <a:solidFill>
                  <a:srgbClr val="00B050"/>
                </a:solidFill>
              </a:rPr>
              <a:t>.</a:t>
            </a:r>
            <a:endParaRPr lang="en-US"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The fundamental principles encountered in a modern criminal justice system include presumption of innocence, freedom from self-incrimination, fair trial, speedy trial, public trial, the right to defense counsel, equality, legality, rule of law, due process of law, etc.</a:t>
            </a:r>
          </a:p>
          <a:p>
            <a:pPr algn="just"/>
            <a:r>
              <a:rPr lang="en-US" b="1" dirty="0" smtClean="0"/>
              <a:t>These are universal values to be incorporated in any modern criminal justice system. They are also part of the UDHR and ICCPR. </a:t>
            </a:r>
            <a:endParaRPr lang="en-US"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Presumption of innocence</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It requires agents of the state to treat a suspect or defendant in the criminal process as if he were in fact innocent. </a:t>
            </a:r>
          </a:p>
          <a:p>
            <a:pPr algn="just"/>
            <a:r>
              <a:rPr lang="en-US" b="1" dirty="0" smtClean="0"/>
              <a:t>It applies only to agents of the state, and only during the criminal process.</a:t>
            </a:r>
          </a:p>
          <a:p>
            <a:pPr algn="just"/>
            <a:r>
              <a:rPr lang="en-US" b="1" dirty="0" smtClean="0"/>
              <a:t> It does not determine the amount of evidence necessary to find a defendant guilty.</a:t>
            </a:r>
          </a:p>
          <a:p>
            <a:pPr algn="just"/>
            <a:r>
              <a:rPr lang="en-US" b="1" dirty="0" smtClean="0"/>
              <a:t> It protects suspects and defendants from specific dangers inherent in the criminal process. </a:t>
            </a:r>
            <a:endParaRPr lang="en-US" b="1"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Freedom from self-incrimination</a:t>
            </a:r>
            <a:endParaRPr lang="en-US" b="1" i="1" dirty="0">
              <a:solidFill>
                <a:srgbClr val="00B050"/>
              </a:solidFill>
            </a:endParaRPr>
          </a:p>
        </p:txBody>
      </p:sp>
      <p:sp>
        <p:nvSpPr>
          <p:cNvPr id="3" name="Content Placeholder 2"/>
          <p:cNvSpPr>
            <a:spLocks noGrp="1"/>
          </p:cNvSpPr>
          <p:nvPr>
            <p:ph idx="1"/>
          </p:nvPr>
        </p:nvSpPr>
        <p:spPr/>
        <p:txBody>
          <a:bodyPr/>
          <a:lstStyle/>
          <a:p>
            <a:pPr algn="just"/>
            <a:r>
              <a:rPr lang="en-US" b="1" dirty="0" smtClean="0"/>
              <a:t>The privilege against self-incrimination confers immunity from an obligation to provide information tending to prove one’s own guilt.</a:t>
            </a:r>
          </a:p>
          <a:p>
            <a:pPr algn="just"/>
            <a:r>
              <a:rPr lang="en-US" b="1" dirty="0" smtClean="0"/>
              <a:t> A person is not bound to answer any question or produce any document or thing if that material would have a tendency to expose that person to conviction for a crime. </a:t>
            </a:r>
            <a:endParaRPr lang="en-US" b="1"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Fair Trial</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This principle dictates that criminal trails be fair to both contesting parties.</a:t>
            </a:r>
          </a:p>
          <a:p>
            <a:pPr algn="just"/>
            <a:r>
              <a:rPr lang="en-US" b="1" dirty="0" smtClean="0"/>
              <a:t>Both parties must have the opportunity to</a:t>
            </a:r>
          </a:p>
          <a:p>
            <a:pPr lvl="2" algn="just">
              <a:buFont typeface="Wingdings" pitchFamily="2" charset="2"/>
              <a:buChar char="Ø"/>
            </a:pPr>
            <a:r>
              <a:rPr lang="en-US" b="1" dirty="0" smtClean="0"/>
              <a:t> Be heard in the criminal Proceeding</a:t>
            </a:r>
          </a:p>
          <a:p>
            <a:pPr lvl="2" algn="just">
              <a:buFont typeface="Wingdings" pitchFamily="2" charset="2"/>
              <a:buChar char="Ø"/>
            </a:pPr>
            <a:r>
              <a:rPr lang="en-US" b="1" dirty="0" smtClean="0"/>
              <a:t> Present their evidence, </a:t>
            </a:r>
          </a:p>
          <a:p>
            <a:pPr lvl="2" algn="just">
              <a:buFont typeface="Wingdings" pitchFamily="2" charset="2"/>
              <a:buChar char="Ø"/>
            </a:pPr>
            <a:r>
              <a:rPr lang="en-US" b="1" dirty="0" smtClean="0"/>
              <a:t>Cross examine their opposing parties.</a:t>
            </a:r>
          </a:p>
          <a:p>
            <a:pPr algn="just"/>
            <a:r>
              <a:rPr lang="en-US" b="1" dirty="0" smtClean="0"/>
              <a:t>Especially this principle dictates that the suspect rights must be respected  from the mighty force of the government in using the rights stated here in above.</a:t>
            </a:r>
          </a:p>
          <a:p>
            <a:pPr algn="just"/>
            <a:endParaRPr lang="en-US"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Speedy trial</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Once a person is suspected to have committed a certain crime, there is a public interest in ascertaining the validity of the suspicion with out an necessary delay.</a:t>
            </a:r>
          </a:p>
          <a:p>
            <a:pPr algn="just"/>
            <a:r>
              <a:rPr lang="en-US" sz="2400" b="1" dirty="0" smtClean="0"/>
              <a:t> This is commonly referred to as  the right to speedy trail.</a:t>
            </a:r>
          </a:p>
          <a:p>
            <a:pPr algn="just"/>
            <a:r>
              <a:rPr lang="en-US" sz="2400" b="1" dirty="0" smtClean="0"/>
              <a:t>The speedy completion of a criminal proceeding is justified by substantive and  procedural grounds.</a:t>
            </a:r>
          </a:p>
          <a:p>
            <a:pPr algn="just"/>
            <a:r>
              <a:rPr lang="en-US" sz="2400" b="1" dirty="0" smtClean="0"/>
              <a:t>The completion of the proceeding without unnecessary delay serves both the public as well as the individual suspected interest.</a:t>
            </a:r>
          </a:p>
          <a:p>
            <a:pPr algn="just"/>
            <a:r>
              <a:rPr lang="en-US" sz="2400" b="1" dirty="0" smtClean="0"/>
              <a:t> Speedy trail allows the convicted to be punished  promptly</a:t>
            </a:r>
          </a:p>
          <a:p>
            <a:pPr algn="just"/>
            <a:r>
              <a:rPr lang="en-US" sz="2400" b="1" dirty="0" smtClean="0"/>
              <a:t>On the other hand if the suspect is found not guilty  he/ she will be freed without unnecessary delay, shortening the time of deprivation of his/her liberty.</a:t>
            </a:r>
            <a:endParaRPr lang="en-US" sz="2400" b="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Public Trial</a:t>
            </a:r>
            <a:endParaRPr lang="en-US" dirty="0"/>
          </a:p>
        </p:txBody>
      </p:sp>
      <p:sp>
        <p:nvSpPr>
          <p:cNvPr id="3" name="Content Placeholder 2"/>
          <p:cNvSpPr>
            <a:spLocks noGrp="1"/>
          </p:cNvSpPr>
          <p:nvPr>
            <p:ph idx="1"/>
          </p:nvPr>
        </p:nvSpPr>
        <p:spPr/>
        <p:txBody>
          <a:bodyPr>
            <a:normAutofit fontScale="92500"/>
          </a:bodyPr>
          <a:lstStyle/>
          <a:p>
            <a:pPr algn="just"/>
            <a:r>
              <a:rPr lang="en-US" b="1" dirty="0" smtClean="0"/>
              <a:t>This principle calls for the trail to be conducted publicly in the presence of all the interested groups.</a:t>
            </a:r>
          </a:p>
          <a:p>
            <a:pPr algn="just"/>
            <a:r>
              <a:rPr lang="en-US" b="1" dirty="0" smtClean="0"/>
              <a:t>Publicity gives an opportunity to  the public to check whether the court is satisfied  with the competent judges and functions  impartially and  independently.</a:t>
            </a:r>
          </a:p>
          <a:p>
            <a:pPr algn="just"/>
            <a:r>
              <a:rPr lang="en-US" b="1" dirty="0" smtClean="0"/>
              <a:t>It makes the judges conduct their business carefully.</a:t>
            </a:r>
          </a:p>
          <a:p>
            <a:pPr algn="just"/>
            <a:r>
              <a:rPr lang="en-US" b="1" dirty="0" smtClean="0"/>
              <a:t>Publicity of the hearing ensures the transparency  of the proceeding and thus provides an important safeguard for the interest of the  individual and of the society at large.  </a:t>
            </a:r>
            <a:endParaRPr lang="en-US" b="1"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The right to defense counsel </a:t>
            </a:r>
            <a:endParaRPr lang="en-US" dirty="0"/>
          </a:p>
        </p:txBody>
      </p:sp>
      <p:sp>
        <p:nvSpPr>
          <p:cNvPr id="3" name="Content Placeholder 2"/>
          <p:cNvSpPr>
            <a:spLocks noGrp="1"/>
          </p:cNvSpPr>
          <p:nvPr>
            <p:ph idx="1"/>
          </p:nvPr>
        </p:nvSpPr>
        <p:spPr/>
        <p:txBody>
          <a:bodyPr>
            <a:normAutofit/>
          </a:bodyPr>
          <a:lstStyle/>
          <a:p>
            <a:pPr algn="just"/>
            <a:r>
              <a:rPr lang="en-US" b="1" dirty="0" smtClean="0"/>
              <a:t>This principle facilitate the opportunity to consult a lawyer to the accused.</a:t>
            </a:r>
          </a:p>
          <a:p>
            <a:pPr algn="just"/>
            <a:r>
              <a:rPr lang="en-US" b="1" dirty="0" smtClean="0"/>
              <a:t>Where the interest of justice so requires  the accused has the right to assigned legal assistance. </a:t>
            </a:r>
          </a:p>
          <a:p>
            <a:pPr algn="just"/>
            <a:r>
              <a:rPr lang="en-US" b="1" dirty="0" smtClean="0"/>
              <a:t>If he find a lawyer himself and covers the expense, he is always free to do so </a:t>
            </a:r>
          </a:p>
          <a:p>
            <a:pPr algn="just"/>
            <a:r>
              <a:rPr lang="en-US" b="1" dirty="0" smtClean="0"/>
              <a:t> But when the accused is not in the position even to find a lawyer, the state has a duty to find one of him where the interest of the justice so requires.</a:t>
            </a:r>
            <a:endParaRPr lang="en-US" b="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Equality &amp; legality</a:t>
            </a:r>
            <a:endParaRPr lang="en-US"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Criminal law applies to all alike without discrimination based on</a:t>
            </a:r>
            <a:r>
              <a:rPr lang="fr-FR" b="1" dirty="0" smtClean="0"/>
              <a:t> persons, social conditions, race, nation, </a:t>
            </a:r>
            <a:r>
              <a:rPr lang="en-US" b="1" dirty="0" smtClean="0"/>
              <a:t>nationality, social origin, colour, sex, language, religion, political or other opinion, property, birth or other status.</a:t>
            </a:r>
          </a:p>
          <a:p>
            <a:pPr algn="just"/>
            <a:r>
              <a:rPr lang="en-US" b="1" dirty="0" smtClean="0"/>
              <a:t>Criminal law specifies the various crimes, and the penalties and measures applicable to criminals.</a:t>
            </a:r>
          </a:p>
          <a:p>
            <a:pPr algn="just"/>
            <a:r>
              <a:rPr lang="en-US" b="1" dirty="0" smtClean="0"/>
              <a:t>The Court cannot treat as a crime and punish any act or omission which is not prohibited by law.</a:t>
            </a:r>
          </a:p>
          <a:p>
            <a:pPr algn="just"/>
            <a:r>
              <a:rPr lang="en-US" b="1" dirty="0" smtClean="0"/>
              <a:t>The Court cannot impose penalties or measures other than those prescribed by law.</a:t>
            </a:r>
          </a:p>
          <a:p>
            <a:pPr algn="just"/>
            <a:r>
              <a:rPr lang="en-US" b="1" dirty="0" smtClean="0"/>
              <a:t>The Court cannot create crimes by analogy.</a:t>
            </a:r>
            <a:endParaRPr lang="en-US" b="1"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Due process of law</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r>
              <a:rPr lang="en-US" b="1" dirty="0" smtClean="0"/>
              <a:t>Pursuant to this principle every thing must be conducted according to the established laws and procedures.</a:t>
            </a:r>
          </a:p>
          <a:p>
            <a:r>
              <a:rPr lang="en-US" b="1" dirty="0" smtClean="0"/>
              <a:t>Substantive due process refers to the content or subject matter of a law. It protects people against unreasonable and arbitrary laws or acts of government. </a:t>
            </a:r>
          </a:p>
          <a:p>
            <a:r>
              <a:rPr lang="en-US" b="1" dirty="0" smtClean="0"/>
              <a:t>Procedural due process is concerned with the procedures that are required before the life, liberty, or property of a person may be taken by the government. </a:t>
            </a:r>
          </a:p>
          <a:p>
            <a:r>
              <a:rPr lang="en-US" b="1" dirty="0" smtClean="0"/>
              <a:t>Procedural due process requires the following:</a:t>
            </a:r>
          </a:p>
          <a:p>
            <a:pPr lvl="2">
              <a:buFont typeface="Wingdings" pitchFamily="2" charset="2"/>
              <a:buChar char="Ø"/>
            </a:pPr>
            <a:r>
              <a:rPr lang="en-US" b="1" dirty="0" smtClean="0"/>
              <a:t> Notice of the proceedings</a:t>
            </a:r>
          </a:p>
          <a:p>
            <a:pPr lvl="2">
              <a:buFont typeface="Wingdings" pitchFamily="2" charset="2"/>
              <a:buChar char="Ø"/>
            </a:pPr>
            <a:r>
              <a:rPr lang="en-US" b="1" dirty="0" smtClean="0"/>
              <a:t>A hearing </a:t>
            </a:r>
          </a:p>
          <a:p>
            <a:pPr lvl="2">
              <a:buFont typeface="Wingdings" pitchFamily="2" charset="2"/>
              <a:buChar char="Ø"/>
            </a:pPr>
            <a:r>
              <a:rPr lang="en-US" b="1" dirty="0" smtClean="0"/>
              <a:t> Opportunity to present  defense</a:t>
            </a:r>
          </a:p>
          <a:p>
            <a:pPr lvl="2">
              <a:buFont typeface="Wingdings" pitchFamily="2" charset="2"/>
              <a:buChar char="Ø"/>
            </a:pPr>
            <a:r>
              <a:rPr lang="en-US" b="1" dirty="0" smtClean="0"/>
              <a:t>An impartial tribunal</a:t>
            </a:r>
          </a:p>
          <a:p>
            <a:pPr lvl="2">
              <a:buFont typeface="Wingdings" pitchFamily="2" charset="2"/>
              <a:buChar char="Ø"/>
            </a:pPr>
            <a:r>
              <a:rPr lang="en-US" b="1" dirty="0" smtClean="0"/>
              <a:t> An atmosphere of fairness </a:t>
            </a:r>
          </a:p>
          <a:p>
            <a:endParaRPr lang="en-US" b="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00B050"/>
                </a:solidFill>
              </a:rPr>
              <a:t>CHAPTER TWO</a:t>
            </a:r>
            <a:r>
              <a:rPr lang="en-US" sz="3200" dirty="0" smtClean="0"/>
              <a:t/>
            </a:r>
            <a:br>
              <a:rPr lang="en-US" sz="3200" dirty="0" smtClean="0"/>
            </a:br>
            <a:r>
              <a:rPr lang="en-US" sz="3200" b="1" i="1" dirty="0" smtClean="0">
                <a:solidFill>
                  <a:srgbClr val="0070C0"/>
                </a:solidFill>
              </a:rPr>
              <a:t>Setting Justice in Motion: Starting Investigation and Prosecution.</a:t>
            </a:r>
            <a:endParaRPr lang="en-US" sz="3200" i="1" dirty="0">
              <a:solidFill>
                <a:srgbClr val="0070C0"/>
              </a:solidFill>
            </a:endParaRPr>
          </a:p>
        </p:txBody>
      </p:sp>
      <p:sp>
        <p:nvSpPr>
          <p:cNvPr id="3" name="Content Placeholder 2"/>
          <p:cNvSpPr>
            <a:spLocks noGrp="1"/>
          </p:cNvSpPr>
          <p:nvPr>
            <p:ph idx="1"/>
          </p:nvPr>
        </p:nvSpPr>
        <p:spPr/>
        <p:txBody>
          <a:bodyPr>
            <a:normAutofit fontScale="85000" lnSpcReduction="10000"/>
          </a:bodyPr>
          <a:lstStyle/>
          <a:p>
            <a:pPr algn="just"/>
            <a:r>
              <a:rPr lang="en-US" b="1" dirty="0" smtClean="0"/>
              <a:t>Setting  Justice in Motion in the Criminal procedure refers to making the justice machinery start operating with respect to a particular offence.( Art 11, 13,19,20,21 Cr. Pr.)</a:t>
            </a:r>
          </a:p>
          <a:p>
            <a:pPr algn="just"/>
            <a:r>
              <a:rPr lang="en-US" b="1" dirty="0" smtClean="0"/>
              <a:t>So the justice will be set in motion when citizens report a criminal acts to the police.</a:t>
            </a:r>
          </a:p>
          <a:p>
            <a:pPr algn="just"/>
            <a:r>
              <a:rPr lang="en-US" b="1" dirty="0" smtClean="0"/>
              <a:t>Such a report could be a right or duty.(Art 11)</a:t>
            </a:r>
          </a:p>
          <a:p>
            <a:pPr algn="just"/>
            <a:r>
              <a:rPr lang="en-US" b="1" dirty="0" smtClean="0"/>
              <a:t>Under normal circumstance reporting  is a right.</a:t>
            </a:r>
          </a:p>
          <a:p>
            <a:pPr algn="just"/>
            <a:r>
              <a:rPr lang="en-US" b="1" dirty="0" smtClean="0"/>
              <a:t>There are times when reporting  is a duty as per the following provisions of the Criminal  Code.</a:t>
            </a:r>
          </a:p>
          <a:p>
            <a:pPr lvl="1" algn="just">
              <a:buFont typeface="Wingdings" pitchFamily="2" charset="2"/>
              <a:buChar char="Ø"/>
            </a:pPr>
            <a:r>
              <a:rPr lang="en-US" b="1" dirty="0" smtClean="0"/>
              <a:t>Art. 254( crimes against the constitutional order)</a:t>
            </a:r>
          </a:p>
          <a:p>
            <a:pPr lvl="1" algn="just">
              <a:buFont typeface="Wingdings" pitchFamily="2" charset="2"/>
              <a:buChar char="Ø"/>
            </a:pPr>
            <a:r>
              <a:rPr lang="en-US" b="1" dirty="0" smtClean="0"/>
              <a:t>Art. 335 (  Crime of mutiny)</a:t>
            </a:r>
          </a:p>
          <a:p>
            <a:pPr lvl="1" algn="just">
              <a:buFont typeface="Wingdings" pitchFamily="2" charset="2"/>
              <a:buChar char="Ø"/>
            </a:pPr>
            <a:r>
              <a:rPr lang="en-US" b="1" dirty="0" smtClean="0"/>
              <a:t>Art.443(Any crime punishable by death or rigorous impressments for life.)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question is</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Art. 11 of the Cr. Pr. impose a duty to report  while Art. 446&amp; 447 of the Cr.co. criminalize false accusation.</a:t>
            </a:r>
          </a:p>
          <a:p>
            <a:pPr algn="just"/>
            <a:r>
              <a:rPr lang="en-US" b="1" dirty="0" smtClean="0"/>
              <a:t>Then How such conflict will be solved?</a:t>
            </a:r>
          </a:p>
          <a:p>
            <a:pPr algn="just"/>
            <a:r>
              <a:rPr lang="en-US" b="1" dirty="0" smtClean="0"/>
              <a:t>Art. 446&amp; 447 of the Cr. Co.  And Art.18 Cr. Pr. are punishable for only intentional false accusations.</a:t>
            </a:r>
          </a:p>
          <a:p>
            <a:pPr algn="just"/>
            <a:r>
              <a:rPr lang="en-US" b="1" dirty="0" smtClean="0"/>
              <a:t>Therefore, if citizens report to the police in the absence of intended false accusations, they will not be punished. </a:t>
            </a:r>
          </a:p>
          <a:p>
            <a:pPr algn="just"/>
            <a:r>
              <a:rPr lang="en-US" b="1" dirty="0" smtClean="0"/>
              <a:t>The Justice will be set in motion in  three ways</a:t>
            </a:r>
          </a:p>
          <a:p>
            <a:pPr lvl="2" algn="just">
              <a:buFont typeface="Wingdings" pitchFamily="2" charset="2"/>
              <a:buChar char="Ø"/>
            </a:pPr>
            <a:r>
              <a:rPr lang="en-US" b="1" dirty="0" smtClean="0"/>
              <a:t>Formal Complaint</a:t>
            </a:r>
          </a:p>
          <a:p>
            <a:pPr lvl="2" algn="just">
              <a:buFont typeface="Wingdings" pitchFamily="2" charset="2"/>
              <a:buChar char="Ø"/>
            </a:pPr>
            <a:r>
              <a:rPr lang="en-US" b="1" dirty="0" smtClean="0"/>
              <a:t>Accusation</a:t>
            </a:r>
          </a:p>
          <a:p>
            <a:pPr lvl="2" algn="just">
              <a:buFont typeface="Wingdings" pitchFamily="2" charset="2"/>
              <a:buChar char="Ø"/>
            </a:pPr>
            <a:r>
              <a:rPr lang="en-US" b="1" dirty="0" smtClean="0"/>
              <a:t>Flagrant offences</a:t>
            </a:r>
          </a:p>
          <a:p>
            <a:pPr algn="just"/>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Formal Complaint(Art13)</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algn="just"/>
            <a:r>
              <a:rPr lang="en-US" sz="2800" b="1" dirty="0" smtClean="0"/>
              <a:t>These are offences punishable only when the victim  or his relatives lodge complaint to the police.</a:t>
            </a:r>
          </a:p>
          <a:p>
            <a:pPr algn="just"/>
            <a:r>
              <a:rPr lang="en-US" sz="2800" b="1" dirty="0" smtClean="0"/>
              <a:t>Such offences are considered not against the wider public interest( Defamation, intimidation, Insulting and etc.)</a:t>
            </a:r>
          </a:p>
          <a:p>
            <a:pPr algn="just"/>
            <a:r>
              <a:rPr lang="en-US" sz="2800" b="1" dirty="0" smtClean="0"/>
              <a:t>For such provisions the Cr. Co. itself says that they are punishable upon formal complaint.</a:t>
            </a:r>
          </a:p>
          <a:p>
            <a:pPr algn="just"/>
            <a:r>
              <a:rPr lang="en-US" b="1" dirty="0" smtClean="0"/>
              <a:t>Can the parties stop once the investigation started by their agreement?</a:t>
            </a:r>
          </a:p>
          <a:p>
            <a:pPr algn="just"/>
            <a:r>
              <a:rPr lang="en-US" b="1" dirty="0" smtClean="0"/>
              <a:t>The period of limitations for such offences is Three month and in no way the victim lodge complaint after two years.</a:t>
            </a:r>
          </a:p>
          <a:p>
            <a:pPr algn="just"/>
            <a:endParaRPr lang="en-US" b="1"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Accusations</a:t>
            </a:r>
            <a:endParaRPr lang="en-US" b="1" i="1" dirty="0">
              <a:solidFill>
                <a:srgbClr val="00B050"/>
              </a:solidFill>
            </a:endParaRPr>
          </a:p>
        </p:txBody>
      </p:sp>
      <p:sp>
        <p:nvSpPr>
          <p:cNvPr id="3" name="Content Placeholder 2"/>
          <p:cNvSpPr>
            <a:spLocks noGrp="1"/>
          </p:cNvSpPr>
          <p:nvPr>
            <p:ph idx="1"/>
          </p:nvPr>
        </p:nvSpPr>
        <p:spPr/>
        <p:txBody>
          <a:bodyPr/>
          <a:lstStyle/>
          <a:p>
            <a:pPr algn="just"/>
            <a:r>
              <a:rPr lang="en-US" b="1" dirty="0" smtClean="0"/>
              <a:t>For all cases which are out of the Private interests the justice is set in motion when the accusation is logged before a police officer or when the police officer or any other individual witnessed a flagrant offences.</a:t>
            </a:r>
          </a:p>
          <a:p>
            <a:pPr lvl="2" algn="just">
              <a:buFont typeface="Wingdings" pitchFamily="2" charset="2"/>
              <a:buChar char="Ø"/>
            </a:pPr>
            <a:r>
              <a:rPr lang="en-US" b="1" dirty="0" smtClean="0"/>
              <a:t>Art 11.accusation in general</a:t>
            </a:r>
          </a:p>
          <a:p>
            <a:pPr lvl="2" algn="just">
              <a:buFont typeface="Wingdings" pitchFamily="2" charset="2"/>
              <a:buChar char="Ø"/>
            </a:pPr>
            <a:r>
              <a:rPr lang="en-US" b="1" dirty="0" smtClean="0"/>
              <a:t>Art.12. anonymous accusation</a:t>
            </a:r>
          </a:p>
          <a:p>
            <a:pPr lvl="2" algn="just">
              <a:buFont typeface="Wingdings" pitchFamily="2" charset="2"/>
              <a:buChar char="Ø"/>
            </a:pPr>
            <a:r>
              <a:rPr lang="en-US" b="1" dirty="0" smtClean="0"/>
              <a:t>Art 15. accusation against unknown offender</a:t>
            </a:r>
          </a:p>
          <a:p>
            <a:pPr algn="just"/>
            <a:endParaRPr lang="en-US" b="1" dirty="0" smtClean="0"/>
          </a:p>
          <a:p>
            <a:pPr algn="just"/>
            <a:endParaRPr lang="en-US" b="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Flagrant Offences( Art.19 &amp; 20)</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buNone/>
            </a:pPr>
            <a:r>
              <a:rPr lang="en-US" b="1" i="1" dirty="0" smtClean="0"/>
              <a:t>1. Flagrant offences.( Art.19(1)</a:t>
            </a:r>
          </a:p>
          <a:p>
            <a:r>
              <a:rPr lang="en-US" b="1" dirty="0" smtClean="0"/>
              <a:t>The normal case of flagrant offence will happen when the offender is found</a:t>
            </a:r>
          </a:p>
          <a:p>
            <a:pPr lvl="1">
              <a:buFont typeface="Wingdings" pitchFamily="2" charset="2"/>
              <a:buChar char="Ø"/>
            </a:pPr>
            <a:r>
              <a:rPr lang="en-US" b="1" dirty="0" smtClean="0"/>
              <a:t>Committing</a:t>
            </a:r>
          </a:p>
          <a:p>
            <a:pPr lvl="1">
              <a:buFont typeface="Wingdings" pitchFamily="2" charset="2"/>
              <a:buChar char="Ø"/>
            </a:pPr>
            <a:r>
              <a:rPr lang="en-US" b="1" dirty="0" smtClean="0"/>
              <a:t> Attempting to commit the offence or </a:t>
            </a:r>
          </a:p>
          <a:p>
            <a:pPr lvl="1">
              <a:buFont typeface="Wingdings" pitchFamily="2" charset="2"/>
              <a:buChar char="Ø"/>
            </a:pPr>
            <a:r>
              <a:rPr lang="en-US" b="1" dirty="0" smtClean="0"/>
              <a:t>Has just committed the offence.</a:t>
            </a:r>
          </a:p>
          <a:p>
            <a:pPr>
              <a:buNone/>
            </a:pPr>
            <a:r>
              <a:rPr lang="en-US" b="1" dirty="0" smtClean="0"/>
              <a:t>2.  Quasi-flagrant  Art (2)</a:t>
            </a:r>
          </a:p>
          <a:p>
            <a:pPr lvl="1">
              <a:buFont typeface="Wingdings" pitchFamily="2" charset="2"/>
              <a:buChar char="Ø"/>
            </a:pPr>
            <a:r>
              <a:rPr lang="en-US" b="1" dirty="0" smtClean="0"/>
              <a:t>The offender who has escaped is being chased by witnesses or</a:t>
            </a:r>
          </a:p>
          <a:p>
            <a:pPr lvl="1">
              <a:buFont typeface="Wingdings" pitchFamily="2" charset="2"/>
              <a:buChar char="Ø"/>
            </a:pPr>
            <a:r>
              <a:rPr lang="en-US" b="1" dirty="0" smtClean="0"/>
              <a:t>When a hue and cry has been raised.</a:t>
            </a:r>
          </a:p>
          <a:p>
            <a:pPr>
              <a:buNone/>
            </a:pPr>
            <a:r>
              <a:rPr lang="en-US" b="1" i="1" dirty="0" smtClean="0"/>
              <a:t>3.  Assimilated cases.( Art. 20)</a:t>
            </a:r>
            <a:endParaRPr lang="en-US" b="1" dirty="0" smtClean="0"/>
          </a:p>
          <a:p>
            <a:pPr lvl="1">
              <a:buFont typeface="Wingdings" pitchFamily="2" charset="2"/>
              <a:buChar char="Ø"/>
            </a:pPr>
            <a:r>
              <a:rPr lang="en-US" b="1" dirty="0" smtClean="0"/>
              <a:t>The police are immediately called to the place where the offence has been committed; or</a:t>
            </a:r>
          </a:p>
          <a:p>
            <a:pPr lvl="1">
              <a:buFont typeface="Wingdings" pitchFamily="2" charset="2"/>
              <a:buChar char="Ø"/>
            </a:pPr>
            <a:r>
              <a:rPr lang="en-US" b="1" dirty="0" smtClean="0"/>
              <a:t> A cry for help has been raised from the place where the offence is being or has been committed.</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Accusation  unnecessary( Art 21)</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When  the offence is  flagrant accusation is not necessary to set the justice in motion.</a:t>
            </a:r>
          </a:p>
          <a:p>
            <a:pPr algn="just"/>
            <a:r>
              <a:rPr lang="en-US" b="1" dirty="0" smtClean="0"/>
              <a:t>But when the flagrant offence is punishable upon formal complaint the victim must first lodge  the complaint.</a:t>
            </a:r>
          </a:p>
          <a:p>
            <a:pPr algn="just"/>
            <a:r>
              <a:rPr lang="en-US" b="1" dirty="0" smtClean="0"/>
              <a:t>Even any individual witnessing the commission of the offence could arrest the suspect with out warrant in the case of flagrant offence.</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r>
              <a:rPr lang="en-US" b="1" i="1" dirty="0" smtClean="0">
                <a:solidFill>
                  <a:srgbClr val="00B050"/>
                </a:solidFill>
              </a:rPr>
              <a:t>Duty to Investigate</a:t>
            </a:r>
            <a:endParaRPr lang="en-US"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Whenever the police know or suspect that an offence has been committed, they shall proceed to investigate .(</a:t>
            </a:r>
            <a:r>
              <a:rPr lang="en-US" b="1" i="1" dirty="0" smtClean="0"/>
              <a:t> Art. 22)</a:t>
            </a:r>
          </a:p>
          <a:p>
            <a:pPr algn="just"/>
            <a:r>
              <a:rPr lang="en-US" b="1" dirty="0" smtClean="0"/>
              <a:t>Investigating police officers shall carry out their duties notwithstanding that they are of opinion that the accusation, complaint or information they may have received is open to doubt.</a:t>
            </a:r>
            <a:r>
              <a:rPr lang="en-US" b="1" i="1" dirty="0" smtClean="0"/>
              <a:t> (Art. 23) </a:t>
            </a:r>
            <a:endParaRPr lang="en-US"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Recording of Statement (Art. 24.)</a:t>
            </a:r>
            <a:endParaRPr lang="en-US" b="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After having recorded an accusation or complaint in the manner laid down in Art. 14,the investigating police officer shall elicit from the person making the accusation or complaint all relevant facts and dates, the name or description of the offender. </a:t>
            </a:r>
          </a:p>
          <a:p>
            <a:pPr algn="just"/>
            <a:r>
              <a:rPr lang="en-US" b="1" dirty="0" smtClean="0"/>
              <a:t>The names and addresses of principal witnesses and all other evidence which may be available and be recorded.</a:t>
            </a:r>
          </a:p>
          <a:p>
            <a:pPr algn="just"/>
            <a:r>
              <a:rPr lang="en-US" b="1" dirty="0" smtClean="0"/>
              <a:t>Where the investigating police officer has reason to believe that a person has committed an offence, be may by written-summons require such person to appear before him.</a:t>
            </a:r>
            <a:r>
              <a:rPr lang="en-US" i="1" dirty="0" smtClean="0"/>
              <a:t> (Art. 25.) </a:t>
            </a:r>
            <a:endParaRPr lang="en-US" b="1" dirty="0" smtClean="0"/>
          </a:p>
          <a:p>
            <a:pPr algn="just"/>
            <a:endParaRPr lang="en-US" b="1" dirty="0" smtClean="0"/>
          </a:p>
          <a:p>
            <a:endParaRPr lang="en-US" b="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Procedure after arrest( Art 29&amp; 30)</a:t>
            </a:r>
            <a:endParaRPr lang="en-US" b="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police shall bring him before the nearest court within forty-eight hours of his arrest.</a:t>
            </a:r>
          </a:p>
          <a:p>
            <a:pPr algn="just"/>
            <a:r>
              <a:rPr lang="en-US" sz="2400" b="1" dirty="0" smtClean="0"/>
              <a:t>The time taken in the journey to the court shall not be included.</a:t>
            </a:r>
          </a:p>
          <a:p>
            <a:pPr algn="just"/>
            <a:r>
              <a:rPr lang="en-US" sz="2400" b="1" dirty="0" smtClean="0"/>
              <a:t>The court  may make any order it thinks fit. </a:t>
            </a:r>
            <a:endParaRPr lang="en-US" sz="2400" b="1" i="1" dirty="0" smtClean="0"/>
          </a:p>
          <a:p>
            <a:pPr algn="just"/>
            <a:r>
              <a:rPr lang="en-US" sz="2400" b="1" dirty="0" smtClean="0"/>
              <a:t>The investigating police officer may, where necessary, summon and examine any person likely to give information.</a:t>
            </a:r>
          </a:p>
          <a:p>
            <a:pPr algn="just"/>
            <a:r>
              <a:rPr lang="en-US" sz="2400" b="1" dirty="0" smtClean="0"/>
              <a:t>Such a person shall be bound to answer truthfully all questions put to him.</a:t>
            </a:r>
          </a:p>
          <a:p>
            <a:pPr algn="just"/>
            <a:r>
              <a:rPr lang="en-US" sz="2400" b="1" dirty="0" smtClean="0"/>
              <a:t>He may refuse to answer any question the answer to which would have a tendency to expose him to a criminal charge.</a:t>
            </a:r>
          </a:p>
          <a:p>
            <a:pPr algn="just"/>
            <a:r>
              <a:rPr lang="en-US" sz="2400" b="1" dirty="0" smtClean="0"/>
              <a:t>Any statement which may be made shall be recorded.</a:t>
            </a:r>
            <a:endParaRPr lang="en-US" sz="2400" b="1"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r>
              <a:rPr lang="en-US" b="1" i="1" dirty="0" smtClean="0">
                <a:solidFill>
                  <a:srgbClr val="00B050"/>
                </a:solidFill>
              </a:rPr>
              <a:t>Diary&amp; report of investigation</a:t>
            </a:r>
            <a:endParaRPr lang="en-US" b="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 Investigation diary shall have( Art 36)</a:t>
            </a:r>
          </a:p>
          <a:p>
            <a:pPr lvl="2" algn="just">
              <a:buFont typeface="Wingdings" pitchFamily="2" charset="2"/>
              <a:buChar char="Ø"/>
            </a:pPr>
            <a:r>
              <a:rPr lang="en-US" b="1" dirty="0" smtClean="0"/>
              <a:t>The day on which he started and closed his investigation</a:t>
            </a:r>
          </a:p>
          <a:p>
            <a:pPr lvl="2" algn="just">
              <a:buFont typeface="Wingdings" pitchFamily="2" charset="2"/>
              <a:buChar char="Ø"/>
            </a:pPr>
            <a:r>
              <a:rPr lang="en-US" b="1" dirty="0" smtClean="0"/>
              <a:t>All the steps taken in the course of the investigation </a:t>
            </a:r>
          </a:p>
          <a:p>
            <a:pPr lvl="2" algn="just">
              <a:buFont typeface="Wingdings" pitchFamily="2" charset="2"/>
              <a:buChar char="Ø"/>
            </a:pPr>
            <a:r>
              <a:rPr lang="en-US" b="1" dirty="0" smtClean="0"/>
              <a:t>The circumstances which the investigation disclosed</a:t>
            </a:r>
          </a:p>
          <a:p>
            <a:pPr lvl="2" algn="just">
              <a:buFont typeface="Wingdings" pitchFamily="2" charset="2"/>
              <a:buChar char="Ø"/>
            </a:pPr>
            <a:r>
              <a:rPr lang="en-US" b="1" dirty="0" smtClean="0"/>
              <a:t>All the means of evidence which may have been collected.</a:t>
            </a:r>
          </a:p>
          <a:p>
            <a:pPr lvl="2" algn="just">
              <a:buFont typeface="Wingdings" pitchFamily="2" charset="2"/>
              <a:buChar char="Ø"/>
            </a:pPr>
            <a:r>
              <a:rPr lang="en-US" b="1" dirty="0" smtClean="0"/>
              <a:t>Any order received from a court or the public prosecutor. </a:t>
            </a:r>
          </a:p>
          <a:p>
            <a:pPr algn="just"/>
            <a:r>
              <a:rPr lang="en-US" b="1" dirty="0" smtClean="0"/>
              <a:t>The investigation shall be completed without unnecessary delay.</a:t>
            </a:r>
          </a:p>
          <a:p>
            <a:pPr algn="just"/>
            <a:r>
              <a:rPr lang="en-US" b="1" dirty="0" smtClean="0"/>
              <a:t>The investigating  report   shall have( Art37)</a:t>
            </a:r>
          </a:p>
          <a:p>
            <a:pPr lvl="2" algn="just">
              <a:buFont typeface="Wingdings" pitchFamily="2" charset="2"/>
              <a:buChar char="Ø"/>
            </a:pPr>
            <a:r>
              <a:rPr lang="en-US" b="1" dirty="0" smtClean="0"/>
              <a:t>The name of the parties;</a:t>
            </a:r>
          </a:p>
          <a:p>
            <a:pPr lvl="2" algn="just">
              <a:buFont typeface="Wingdings" pitchFamily="2" charset="2"/>
              <a:buChar char="Ø"/>
            </a:pPr>
            <a:r>
              <a:rPr lang="en-US" b="1" dirty="0" smtClean="0"/>
              <a:t>The nature of the information;</a:t>
            </a:r>
          </a:p>
          <a:p>
            <a:pPr lvl="2" algn="just">
              <a:buFont typeface="Wingdings" pitchFamily="2" charset="2"/>
              <a:buChar char="Ø"/>
            </a:pPr>
            <a:r>
              <a:rPr lang="en-US" b="1" dirty="0" smtClean="0"/>
              <a:t>The names of all persons who appear to be acquainted with the case; </a:t>
            </a:r>
          </a:p>
          <a:p>
            <a:pPr lvl="2" algn="just">
              <a:buFont typeface="Wingdings" pitchFamily="2" charset="2"/>
              <a:buChar char="Ø"/>
            </a:pPr>
            <a:r>
              <a:rPr lang="en-US" b="1" dirty="0" smtClean="0"/>
              <a:t>All evidence which have been collected.</a:t>
            </a:r>
          </a:p>
          <a:p>
            <a:pPr algn="just"/>
            <a:endParaRPr lang="en-US" b="1" dirty="0" smtClean="0"/>
          </a:p>
          <a:p>
            <a:pPr algn="just"/>
            <a:endParaRPr lang="en-US" b="1"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sz="3600" b="1" i="1" dirty="0" smtClean="0">
                <a:solidFill>
                  <a:srgbClr val="00B050"/>
                </a:solidFill>
              </a:rPr>
              <a:t>Arrest ( Art.26 &amp; 49)</a:t>
            </a:r>
            <a:endParaRPr lang="en-US" sz="3600"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Where the accused or the suspect has not been arrested and the offence is such as to justify arrest or where the person summoned under Art. 25 fails to appear, the investigating police officer shall take such steps as are necessary to effect his arrest.</a:t>
            </a:r>
          </a:p>
          <a:p>
            <a:pPr algn="just"/>
            <a:r>
              <a:rPr lang="en-US" b="1" dirty="0" smtClean="0"/>
              <a:t>Where the arrest cannot be made without warrant, the investigating police officer shall apply to the court for a warrant of arrest in accordance with the provisions of Art. 53.</a:t>
            </a:r>
          </a:p>
          <a:p>
            <a:endParaRPr lang="en-US" b="1"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Substantive requirement for Arrest</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For  the liberty of a person to be restricted there is certain level of suspicion that the Cr. Pr. Co and other relevant laws require.</a:t>
            </a:r>
          </a:p>
          <a:p>
            <a:pPr algn="just"/>
            <a:r>
              <a:rPr lang="en-US" b="1" dirty="0" smtClean="0"/>
              <a:t>The central requirement for all arrest with or with out warrant is the existence of” reasonable suspicion” or “ having a reason to believe” that a person to be arrested has evolved in the commission of a crime to be investigated.</a:t>
            </a:r>
            <a:endParaRPr lang="en-US" b="1"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Objective or Subjective criteria?</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Under Art.51(1)a of the cr.pr and Art. 19 of the Anti- terrorism proclamation the arresting police officer must believe that the person to be arrested has committed a crime. This is subjective criteria.</a:t>
            </a:r>
          </a:p>
          <a:p>
            <a:pPr algn="just"/>
            <a:r>
              <a:rPr lang="en-US" b="1" dirty="0" smtClean="0"/>
              <a:t>In Art. 25  and 51(1) e, g &amp;h of the Cr. Pr. Co. and Art 6(1) of the Vagrancy control proclamation the suspicion or believe that a person has committed a crime must be reasonable. This is an objective criteria.</a:t>
            </a:r>
            <a:endParaRPr lang="en-US" b="1"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i="1" dirty="0" smtClean="0">
                <a:solidFill>
                  <a:srgbClr val="00B050"/>
                </a:solidFill>
              </a:rPr>
              <a:t>Procedural requirements</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sz="2400" b="1" dirty="0" smtClean="0"/>
              <a:t>Arrest could be made either with or without warrant.</a:t>
            </a:r>
          </a:p>
          <a:p>
            <a:pPr algn="just"/>
            <a:r>
              <a:rPr lang="en-US" sz="2400" b="1" dirty="0" smtClean="0"/>
              <a:t>Under normal circumstances a suspect is to be arrested with prior authorization by court. (Art. 49) </a:t>
            </a:r>
          </a:p>
          <a:p>
            <a:pPr algn="just"/>
            <a:r>
              <a:rPr lang="en-US" sz="2400" b="1" dirty="0" smtClean="0"/>
              <a:t>Arrest as a restriction to the right to liberty.</a:t>
            </a:r>
          </a:p>
          <a:p>
            <a:pPr algn="just"/>
            <a:r>
              <a:rPr lang="en-US" sz="2400" b="1" dirty="0" smtClean="0"/>
              <a:t>Arrest as the exception to the right to liberty</a:t>
            </a:r>
          </a:p>
          <a:p>
            <a:pPr algn="just"/>
            <a:r>
              <a:rPr lang="en-US" sz="2400" b="1" dirty="0" smtClean="0"/>
              <a:t>Arrest without warrant as exception to the exception.</a:t>
            </a:r>
          </a:p>
          <a:p>
            <a:pPr algn="just"/>
            <a:r>
              <a:rPr lang="en-US" sz="2400" b="1" dirty="0" smtClean="0"/>
              <a:t>No one will be deprived of his or her liberty except. (Art 17 FDRE constitution)</a:t>
            </a:r>
          </a:p>
          <a:p>
            <a:pPr lvl="2" algn="just">
              <a:buFont typeface="Wingdings" pitchFamily="2" charset="2"/>
              <a:buChar char="Ø"/>
            </a:pPr>
            <a:r>
              <a:rPr lang="en-US" b="1" dirty="0" smtClean="0"/>
              <a:t>On procedure as  established by law.</a:t>
            </a:r>
          </a:p>
          <a:p>
            <a:pPr lvl="2" algn="just">
              <a:buFont typeface="Wingdings" pitchFamily="2" charset="2"/>
              <a:buChar char="Ø"/>
            </a:pPr>
            <a:r>
              <a:rPr lang="en-US" b="1" dirty="0" smtClean="0"/>
              <a:t>A charge or conviction against him.</a:t>
            </a:r>
          </a:p>
          <a:p>
            <a:pPr algn="just"/>
            <a:endParaRPr lang="en-US" sz="2400" b="1"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r>
              <a:rPr lang="en-US" b="1" i="1" dirty="0" smtClean="0">
                <a:solidFill>
                  <a:srgbClr val="00B050"/>
                </a:solidFill>
              </a:rPr>
              <a:t>Arrest  With Warrant</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Arrest with warrant is required when two conditions are  fulfilled( Art 54)</a:t>
            </a:r>
          </a:p>
          <a:p>
            <a:pPr lvl="2" algn="just">
              <a:buFont typeface="Wingdings" pitchFamily="2" charset="2"/>
              <a:buChar char="Ø"/>
            </a:pPr>
            <a:r>
              <a:rPr lang="en-US" b="1" dirty="0" smtClean="0"/>
              <a:t> The attendance of a person is absolutely necessary</a:t>
            </a:r>
          </a:p>
          <a:p>
            <a:pPr lvl="2" algn="just">
              <a:buFont typeface="Wingdings" pitchFamily="2" charset="2"/>
              <a:buChar char="Ø"/>
            </a:pPr>
            <a:r>
              <a:rPr lang="en-US" b="1" dirty="0" smtClean="0"/>
              <a:t>There is no  another option.</a:t>
            </a:r>
          </a:p>
          <a:p>
            <a:pPr algn="just"/>
            <a:r>
              <a:rPr lang="en-US" b="1" dirty="0" smtClean="0"/>
              <a:t>It would be absolutely necessary  for</a:t>
            </a:r>
          </a:p>
          <a:p>
            <a:pPr lvl="2" algn="just">
              <a:buFont typeface="Wingdings" pitchFamily="2" charset="2"/>
              <a:buChar char="Ø"/>
            </a:pPr>
            <a:r>
              <a:rPr lang="en-US" b="1" dirty="0" smtClean="0"/>
              <a:t>Interrogation</a:t>
            </a:r>
          </a:p>
          <a:p>
            <a:pPr lvl="2" algn="just">
              <a:buFont typeface="Wingdings" pitchFamily="2" charset="2"/>
              <a:buChar char="Ø"/>
            </a:pPr>
            <a:r>
              <a:rPr lang="en-US" b="1" dirty="0" smtClean="0"/>
              <a:t>Physical examination</a:t>
            </a:r>
          </a:p>
          <a:p>
            <a:pPr lvl="2" algn="just">
              <a:buFont typeface="Wingdings" pitchFamily="2" charset="2"/>
              <a:buChar char="Ø"/>
            </a:pPr>
            <a:r>
              <a:rPr lang="en-US" b="1" dirty="0" smtClean="0"/>
              <a:t>Forensic investigation</a:t>
            </a:r>
          </a:p>
          <a:p>
            <a:pPr algn="just"/>
            <a:r>
              <a:rPr lang="en-US" b="1" dirty="0" smtClean="0"/>
              <a:t>There is no other options if the available options are exhausted such as arresting through summon and other peace full submissions.</a:t>
            </a:r>
          </a:p>
          <a:p>
            <a:pPr algn="just"/>
            <a:r>
              <a:rPr lang="en-US" b="1" dirty="0" smtClean="0"/>
              <a:t>The problem of Article 54 is that it takes the attendance of the accused before the court rather than before the Investigative police.</a:t>
            </a:r>
          </a:p>
          <a:p>
            <a:pPr algn="just">
              <a:buNone/>
            </a:pPr>
            <a:endParaRPr lang="en-US" b="1" dirty="0" smtClean="0"/>
          </a:p>
          <a:p>
            <a:pPr algn="just">
              <a:buFont typeface="Wingdings" pitchFamily="2" charset="2"/>
              <a:buChar char="Ø"/>
            </a:pPr>
            <a:endParaRPr lang="en-US" b="1" dirty="0" smtClean="0"/>
          </a:p>
          <a:p>
            <a:pPr algn="just"/>
            <a:endParaRPr lang="en-US" b="1"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143000"/>
          </a:xfrm>
        </p:spPr>
        <p:txBody>
          <a:bodyPr>
            <a:normAutofit/>
          </a:bodyPr>
          <a:lstStyle/>
          <a:p>
            <a:r>
              <a:rPr lang="en-US" dirty="0" smtClean="0"/>
              <a:t> </a:t>
            </a:r>
            <a:r>
              <a:rPr lang="en-US" b="1" i="1" dirty="0" smtClean="0">
                <a:solidFill>
                  <a:srgbClr val="00B050"/>
                </a:solidFill>
              </a:rPr>
              <a:t>Arrest Without Warrant</a:t>
            </a:r>
            <a:endParaRPr lang="en-US" b="1" i="1" dirty="0">
              <a:solidFill>
                <a:srgbClr val="00B050"/>
              </a:solidFill>
            </a:endParaRPr>
          </a:p>
        </p:txBody>
      </p:sp>
      <p:sp>
        <p:nvSpPr>
          <p:cNvPr id="3" name="Content Placeholder 2"/>
          <p:cNvSpPr>
            <a:spLocks noGrp="1"/>
          </p:cNvSpPr>
          <p:nvPr>
            <p:ph idx="1"/>
          </p:nvPr>
        </p:nvSpPr>
        <p:spPr/>
        <p:txBody>
          <a:bodyPr>
            <a:noAutofit/>
          </a:bodyPr>
          <a:lstStyle/>
          <a:p>
            <a:r>
              <a:rPr lang="en-US" sz="2400" b="1" dirty="0" smtClean="0"/>
              <a:t>A police may arrest  a suspect in two ways without warrant</a:t>
            </a:r>
          </a:p>
          <a:p>
            <a:pPr lvl="2">
              <a:buFont typeface="Wingdings" pitchFamily="2" charset="2"/>
              <a:buChar char="Ø"/>
            </a:pPr>
            <a:r>
              <a:rPr lang="en-US" b="1" dirty="0" smtClean="0"/>
              <a:t> By issuing a summon(Art.25)</a:t>
            </a:r>
          </a:p>
          <a:p>
            <a:pPr lvl="2">
              <a:buFont typeface="Wingdings" pitchFamily="2" charset="2"/>
              <a:buChar char="Ø"/>
            </a:pPr>
            <a:r>
              <a:rPr lang="en-US" b="1" dirty="0" smtClean="0"/>
              <a:t>By going directly to the place where the suspect is found.( art.56)</a:t>
            </a:r>
          </a:p>
          <a:p>
            <a:pPr algn="just"/>
            <a:r>
              <a:rPr lang="en-US" sz="2400" b="1" dirty="0" smtClean="0"/>
              <a:t>Arrest  with summon( Art. 25 &amp; 54)</a:t>
            </a:r>
          </a:p>
          <a:p>
            <a:pPr lvl="2" algn="just">
              <a:buFont typeface="Wingdings" pitchFamily="2" charset="2"/>
              <a:buChar char="Ø"/>
            </a:pPr>
            <a:r>
              <a:rPr lang="en-US" b="1" dirty="0" smtClean="0"/>
              <a:t> The police may by written-summons require the suspect  to appear before him. </a:t>
            </a:r>
          </a:p>
          <a:p>
            <a:pPr lvl="2" algn="just">
              <a:buFont typeface="Wingdings" pitchFamily="2" charset="2"/>
              <a:buChar char="Ø"/>
            </a:pPr>
            <a:r>
              <a:rPr lang="en-US" b="1" dirty="0" smtClean="0"/>
              <a:t> The reason for summon is to arrest the suspect.</a:t>
            </a:r>
          </a:p>
          <a:p>
            <a:pPr lvl="2" algn="just">
              <a:buFont typeface="Wingdings" pitchFamily="2" charset="2"/>
              <a:buChar char="Ø"/>
            </a:pPr>
            <a:r>
              <a:rPr lang="en-US" b="1" dirty="0" smtClean="0"/>
              <a:t>Once a person  appears he his treated as an arrested person.</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Arrest without summon</a:t>
            </a:r>
            <a:endParaRPr lang="en-US" b="1" i="1" dirty="0">
              <a:solidFill>
                <a:srgbClr val="00B050"/>
              </a:solidFill>
            </a:endParaRPr>
          </a:p>
        </p:txBody>
      </p:sp>
      <p:sp>
        <p:nvSpPr>
          <p:cNvPr id="3" name="Content Placeholder 2"/>
          <p:cNvSpPr>
            <a:spLocks noGrp="1"/>
          </p:cNvSpPr>
          <p:nvPr>
            <p:ph idx="1"/>
          </p:nvPr>
        </p:nvSpPr>
        <p:spPr/>
        <p:txBody>
          <a:bodyPr>
            <a:normAutofit lnSpcReduction="10000"/>
          </a:bodyPr>
          <a:lstStyle/>
          <a:p>
            <a:r>
              <a:rPr lang="en-US" b="1" i="1" dirty="0" smtClean="0"/>
              <a:t>Flagrant offences( Art 21(2) and Art. 50</a:t>
            </a:r>
          </a:p>
          <a:p>
            <a:pPr>
              <a:buFont typeface="Wingdings" pitchFamily="2" charset="2"/>
              <a:buChar char="Ø"/>
            </a:pPr>
            <a:r>
              <a:rPr lang="en-US" b="1" dirty="0" smtClean="0"/>
              <a:t>The two requirement that must be fulfilled in addition to flagrancy are:</a:t>
            </a:r>
          </a:p>
          <a:p>
            <a:pPr lvl="2">
              <a:buFont typeface="Wingdings" pitchFamily="2" charset="2"/>
              <a:buChar char="Ø"/>
            </a:pPr>
            <a:r>
              <a:rPr lang="en-US" b="1" dirty="0" smtClean="0"/>
              <a:t>Non complaint offences</a:t>
            </a:r>
          </a:p>
          <a:p>
            <a:pPr lvl="2">
              <a:buFont typeface="Wingdings" pitchFamily="2" charset="2"/>
              <a:buChar char="Ø"/>
            </a:pPr>
            <a:r>
              <a:rPr lang="en-US" b="1" dirty="0" smtClean="0"/>
              <a:t> Punishable for not less than three months</a:t>
            </a:r>
          </a:p>
          <a:p>
            <a:r>
              <a:rPr lang="en-US" b="1" i="1" dirty="0" smtClean="0"/>
              <a:t>Non- Flagrant cases</a:t>
            </a:r>
          </a:p>
          <a:p>
            <a:r>
              <a:rPr lang="en-US" b="1" dirty="0" smtClean="0"/>
              <a:t>when the police has a reason to believe that the offender has committed an offence stated in</a:t>
            </a:r>
          </a:p>
          <a:p>
            <a:pPr lvl="2">
              <a:buFont typeface="Wingdings" pitchFamily="2" charset="2"/>
              <a:buChar char="Ø"/>
            </a:pPr>
            <a:r>
              <a:rPr lang="en-US" b="1" dirty="0" smtClean="0"/>
              <a:t>Art.51(1) Cr. Pr.</a:t>
            </a:r>
          </a:p>
          <a:p>
            <a:pPr lvl="2">
              <a:buFont typeface="Wingdings" pitchFamily="2" charset="2"/>
              <a:buChar char="Ø"/>
            </a:pPr>
            <a:r>
              <a:rPr lang="en-US" b="1" dirty="0" smtClean="0"/>
              <a:t>Art.19(1) of the anti terrorism proclamation</a:t>
            </a:r>
          </a:p>
          <a:p>
            <a:pPr lvl="2">
              <a:buFont typeface="Wingdings" pitchFamily="2" charset="2"/>
              <a:buChar char="Ø"/>
            </a:pPr>
            <a:r>
              <a:rPr lang="en-US" b="1" dirty="0" smtClean="0"/>
              <a:t>Art.6(1) of the  Vagrancy Control Proclamation.</a:t>
            </a:r>
          </a:p>
          <a:p>
            <a:endParaRPr lang="en-US" b="1" dirty="0" smtClean="0"/>
          </a:p>
          <a:p>
            <a:endParaRPr lang="en-US" b="1"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i="1" dirty="0" smtClean="0">
                <a:solidFill>
                  <a:srgbClr val="00B050"/>
                </a:solidFill>
              </a:rPr>
              <a:t>Effecting Arrest( Art 56)</a:t>
            </a:r>
            <a:endParaRPr lang="en-US" b="1" i="1" dirty="0">
              <a:solidFill>
                <a:srgbClr val="00B050"/>
              </a:solidFill>
            </a:endParaRPr>
          </a:p>
        </p:txBody>
      </p:sp>
      <p:sp>
        <p:nvSpPr>
          <p:cNvPr id="3" name="Content Placeholder 2"/>
          <p:cNvSpPr>
            <a:spLocks noGrp="1"/>
          </p:cNvSpPr>
          <p:nvPr>
            <p:ph idx="1"/>
          </p:nvPr>
        </p:nvSpPr>
        <p:spPr/>
        <p:txBody>
          <a:bodyPr>
            <a:normAutofit fontScale="92500"/>
          </a:bodyPr>
          <a:lstStyle/>
          <a:p>
            <a:pPr algn="just"/>
            <a:r>
              <a:rPr lang="en-US" b="1" dirty="0" smtClean="0"/>
              <a:t>The police officer making an arrest shall first establish the identity of the person to be arrested.</a:t>
            </a:r>
          </a:p>
          <a:p>
            <a:pPr algn="just"/>
            <a:r>
              <a:rPr lang="en-US" b="1" dirty="0" smtClean="0"/>
              <a:t>Where the arrest is made with a warrant the officer shall, </a:t>
            </a:r>
          </a:p>
          <a:p>
            <a:pPr lvl="2" algn="just"/>
            <a:r>
              <a:rPr lang="en-US" b="1" dirty="0" smtClean="0"/>
              <a:t>Read out the warrant to the person to be arrested and</a:t>
            </a:r>
          </a:p>
          <a:p>
            <a:pPr lvl="2" algn="just"/>
            <a:r>
              <a:rPr lang="en-US" b="1" dirty="0" smtClean="0"/>
              <a:t>Show it to the person arrested if he so requests.</a:t>
            </a:r>
          </a:p>
          <a:p>
            <a:pPr algn="just"/>
            <a:r>
              <a:rPr lang="en-US" b="1" dirty="0" smtClean="0"/>
              <a:t>Actually touch or confine the body of the suspect if  there no submission.</a:t>
            </a:r>
          </a:p>
          <a:p>
            <a:pPr algn="just"/>
            <a:r>
              <a:rPr lang="en-US" b="1" dirty="0" smtClean="0"/>
              <a:t>Use proportionate force to effect the arrest if resisted.</a:t>
            </a:r>
          </a:p>
          <a:p>
            <a:pPr algn="just"/>
            <a:r>
              <a:rPr lang="en-US" b="1" dirty="0" smtClean="0"/>
              <a:t>The problem of this article is that it assumes that the police is the only person empowered to arrest.</a:t>
            </a:r>
            <a:endParaRPr lang="en-US" b="1"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Release on bond by the investigating police(Art.28)</a:t>
            </a:r>
            <a:endParaRPr lang="en-US" b="1" dirty="0">
              <a:solidFill>
                <a:srgbClr val="00B050"/>
              </a:solidFill>
            </a:endParaRPr>
          </a:p>
        </p:txBody>
      </p:sp>
      <p:sp>
        <p:nvSpPr>
          <p:cNvPr id="3" name="Content Placeholder 2"/>
          <p:cNvSpPr>
            <a:spLocks noGrp="1"/>
          </p:cNvSpPr>
          <p:nvPr>
            <p:ph idx="1"/>
          </p:nvPr>
        </p:nvSpPr>
        <p:spPr/>
        <p:txBody>
          <a:bodyPr>
            <a:noAutofit/>
          </a:bodyPr>
          <a:lstStyle/>
          <a:p>
            <a:pPr algn="just"/>
            <a:r>
              <a:rPr lang="en-US" sz="2300" b="1" dirty="0" smtClean="0"/>
              <a:t>The investigating police officer can relies the suspect on bond if </a:t>
            </a:r>
          </a:p>
          <a:p>
            <a:pPr lvl="1" algn="just">
              <a:buFont typeface="Wingdings" pitchFamily="2" charset="2"/>
              <a:buChar char="Ø"/>
            </a:pPr>
            <a:r>
              <a:rPr lang="en-US" sz="1900" b="1" dirty="0" smtClean="0"/>
              <a:t>The offence is not punishable with rigorous imprisonment as a sole or alternative punishment.</a:t>
            </a:r>
          </a:p>
          <a:p>
            <a:pPr lvl="1" algn="just">
              <a:buFont typeface="Wingdings" pitchFamily="2" charset="2"/>
              <a:buChar char="Ø"/>
            </a:pPr>
            <a:r>
              <a:rPr lang="en-US" sz="1900" b="1" dirty="0" smtClean="0"/>
              <a:t>It is doubtful that an offence has been committed or </a:t>
            </a:r>
          </a:p>
          <a:p>
            <a:pPr lvl="1" algn="just">
              <a:buFont typeface="Wingdings" pitchFamily="2" charset="2"/>
              <a:buChar char="Ø"/>
            </a:pPr>
            <a:r>
              <a:rPr lang="en-US" sz="1900" b="1" dirty="0" smtClean="0"/>
              <a:t>It is doubtful that the summoned or arrested person has committed the offence.</a:t>
            </a:r>
          </a:p>
          <a:p>
            <a:pPr algn="just"/>
            <a:r>
              <a:rPr lang="en-US" sz="2300" b="1" dirty="0" smtClean="0"/>
              <a:t>The same conditions are laid in Art.4(2) Of Anti corruption  special rules of evidence proclamation( pro 434/ 235.</a:t>
            </a:r>
          </a:p>
          <a:p>
            <a:pPr algn="just"/>
            <a:r>
              <a:rPr lang="en-US" sz="2300" b="1" dirty="0" smtClean="0"/>
              <a:t>If not  the suspect can apply to the court  as per  Art. 64.</a:t>
            </a:r>
          </a:p>
          <a:p>
            <a:pPr algn="just"/>
            <a:r>
              <a:rPr lang="en-US" sz="2300" b="1" i="1" dirty="0" smtClean="0">
                <a:solidFill>
                  <a:srgbClr val="C00000"/>
                </a:solidFill>
              </a:rPr>
              <a:t>But what if the police officer is fully convinced that the suspect did not commit the said offence? Can he release unconditionally?</a:t>
            </a:r>
          </a:p>
          <a:p>
            <a:pPr algn="just"/>
            <a:endParaRPr lang="en-US" sz="2300" b="1" dirty="0" smtClean="0"/>
          </a:p>
          <a:p>
            <a:pPr algn="just"/>
            <a:endParaRPr lang="en-US" sz="2300" b="1"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Right of Persons Arrested</a:t>
            </a:r>
            <a:endParaRPr lang="en-US" b="1" dirty="0">
              <a:solidFill>
                <a:srgbClr val="00B050"/>
              </a:solidFill>
            </a:endParaRPr>
          </a:p>
        </p:txBody>
      </p:sp>
      <p:sp>
        <p:nvSpPr>
          <p:cNvPr id="3" name="Content Placeholder 2"/>
          <p:cNvSpPr>
            <a:spLocks noGrp="1"/>
          </p:cNvSpPr>
          <p:nvPr>
            <p:ph idx="1"/>
          </p:nvPr>
        </p:nvSpPr>
        <p:spPr/>
        <p:txBody>
          <a:bodyPr/>
          <a:lstStyle/>
          <a:p>
            <a:r>
              <a:rPr lang="en-US" sz="2400" b="1" dirty="0" smtClean="0"/>
              <a:t>The Rights of Arrested Person( Art.19 of the FDRE Co.)</a:t>
            </a:r>
          </a:p>
          <a:p>
            <a:pPr lvl="2">
              <a:buFont typeface="Wingdings" pitchFamily="2" charset="2"/>
              <a:buChar char="Ø"/>
            </a:pPr>
            <a:r>
              <a:rPr lang="en-US" b="1" dirty="0" smtClean="0"/>
              <a:t>The right to be informed the reasons for their arrest.</a:t>
            </a:r>
          </a:p>
          <a:p>
            <a:pPr lvl="2">
              <a:buFont typeface="Wingdings" pitchFamily="2" charset="2"/>
              <a:buChar char="Ø"/>
            </a:pPr>
            <a:r>
              <a:rPr lang="en-US" b="1" dirty="0" smtClean="0"/>
              <a:t>The right to remain silent and to be informed that.</a:t>
            </a:r>
          </a:p>
          <a:p>
            <a:pPr lvl="2">
              <a:buFont typeface="Wingdings" pitchFamily="2" charset="2"/>
              <a:buChar char="Ø"/>
            </a:pPr>
            <a:r>
              <a:rPr lang="en-US" b="1" dirty="0" smtClean="0"/>
              <a:t>The right to be brought before a court within 48 hrs.</a:t>
            </a:r>
          </a:p>
          <a:p>
            <a:pPr lvl="2">
              <a:buFont typeface="Wingdings" pitchFamily="2" charset="2"/>
              <a:buChar char="Ø"/>
            </a:pPr>
            <a:r>
              <a:rPr lang="en-US" b="1" dirty="0" smtClean="0"/>
              <a:t>The right to petition to order their physical release </a:t>
            </a:r>
          </a:p>
          <a:p>
            <a:pPr lvl="2">
              <a:buFont typeface="Wingdings" pitchFamily="2" charset="2"/>
              <a:buChar char="Ø"/>
            </a:pPr>
            <a:r>
              <a:rPr lang="en-US" b="1" dirty="0" smtClean="0"/>
              <a:t> Not be compelled to make confessions.</a:t>
            </a:r>
          </a:p>
          <a:p>
            <a:pPr lvl="2">
              <a:buFont typeface="Wingdings" pitchFamily="2" charset="2"/>
              <a:buChar char="Ø"/>
            </a:pPr>
            <a:r>
              <a:rPr lang="en-US" b="1" dirty="0" smtClean="0"/>
              <a:t> Be released on bail except some case .</a:t>
            </a:r>
          </a:p>
          <a:p>
            <a:r>
              <a:rPr lang="en-US" sz="2400" b="1" dirty="0" smtClean="0"/>
              <a:t> This rights have also been  recognized in ICCPR Art. 9(1)</a:t>
            </a:r>
          </a:p>
          <a:p>
            <a:endParaRPr lang="en-US" b="1"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 Interrogation</a:t>
            </a:r>
          </a:p>
        </p:txBody>
      </p:sp>
      <p:sp>
        <p:nvSpPr>
          <p:cNvPr id="3" name="Content Placeholder 2"/>
          <p:cNvSpPr>
            <a:spLocks noGrp="1"/>
          </p:cNvSpPr>
          <p:nvPr>
            <p:ph idx="1"/>
          </p:nvPr>
        </p:nvSpPr>
        <p:spPr/>
        <p:txBody>
          <a:bodyPr>
            <a:normAutofit/>
          </a:bodyPr>
          <a:lstStyle/>
          <a:p>
            <a:pPr algn="just"/>
            <a:r>
              <a:rPr lang="en-US" b="1" dirty="0" smtClean="0"/>
              <a:t>A person is arrested when he is reasonably suspected to have committed a crime. </a:t>
            </a:r>
          </a:p>
          <a:p>
            <a:pPr algn="just"/>
            <a:r>
              <a:rPr lang="en-US" b="1" dirty="0" smtClean="0"/>
              <a:t>One of the reason for arresting a suspect is to obtain evidence from him.</a:t>
            </a:r>
          </a:p>
          <a:p>
            <a:pPr algn="just"/>
            <a:r>
              <a:rPr lang="en-US" b="1" dirty="0" smtClean="0"/>
              <a:t>The most common means of obtaining evidence from the suspect is interrogation.</a:t>
            </a:r>
          </a:p>
          <a:p>
            <a:pPr algn="just"/>
            <a:r>
              <a:rPr lang="en-US" b="1" dirty="0" smtClean="0"/>
              <a:t>After that  the police is directed to extracting confession.</a:t>
            </a:r>
          </a:p>
          <a:p>
            <a:pPr algn="just"/>
            <a:r>
              <a:rPr lang="en-US" b="1" dirty="0" smtClean="0"/>
              <a:t>Confession is considered the queen of evidence if given voluntarily and Legally.      </a:t>
            </a:r>
            <a:endParaRPr lang="en-US" b="1"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Interrogation by the police( Art.27)</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Any person summoned will be asked to answer the accusation or complaint.</a:t>
            </a:r>
          </a:p>
          <a:p>
            <a:pPr algn="just"/>
            <a:r>
              <a:rPr lang="en-US" b="1" dirty="0" smtClean="0"/>
              <a:t>He  has the right.</a:t>
            </a:r>
          </a:p>
          <a:p>
            <a:pPr lvl="2" algn="just">
              <a:buFont typeface="Wingdings" pitchFamily="2" charset="2"/>
              <a:buChar char="Ø"/>
            </a:pPr>
            <a:r>
              <a:rPr lang="en-US" b="1" dirty="0" smtClean="0"/>
              <a:t>Not  be compelled to answer </a:t>
            </a:r>
          </a:p>
          <a:p>
            <a:pPr lvl="2" algn="just">
              <a:buFont typeface="Wingdings" pitchFamily="2" charset="2"/>
              <a:buChar char="Ø"/>
            </a:pPr>
            <a:r>
              <a:rPr lang="en-US" b="1" dirty="0" smtClean="0"/>
              <a:t>Be informed that he has the right not to answer</a:t>
            </a:r>
          </a:p>
          <a:p>
            <a:pPr lvl="2" algn="just">
              <a:buFont typeface="Wingdings" pitchFamily="2" charset="2"/>
              <a:buChar char="Ø"/>
            </a:pPr>
            <a:r>
              <a:rPr lang="en-US" b="1" dirty="0" smtClean="0"/>
              <a:t>Be informed that  the statement  will be used as evidence.</a:t>
            </a:r>
          </a:p>
          <a:p>
            <a:pPr lvl="2" algn="just">
              <a:buFont typeface="Wingdings" pitchFamily="2" charset="2"/>
              <a:buChar char="Ø"/>
            </a:pPr>
            <a:r>
              <a:rPr lang="en-US" b="1" dirty="0" smtClean="0"/>
              <a:t>be supplied with a competent interpreter. </a:t>
            </a:r>
          </a:p>
          <a:p>
            <a:pPr algn="just"/>
            <a:r>
              <a:rPr lang="en-US" b="1" dirty="0" smtClean="0"/>
              <a:t>Any statement  will be recorded.</a:t>
            </a:r>
          </a:p>
          <a:p>
            <a:endParaRPr lang="en-US" b="1"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Confession or statement in court             ( Art.35)</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Any court may record a confession made to it</a:t>
            </a:r>
          </a:p>
          <a:p>
            <a:pPr algn="just"/>
            <a:r>
              <a:rPr lang="en-US" b="1" dirty="0" smtClean="0"/>
              <a:t>Such record must only be  made voluntarily.</a:t>
            </a:r>
          </a:p>
          <a:p>
            <a:pPr algn="just"/>
            <a:r>
              <a:rPr lang="en-US" b="1" dirty="0" smtClean="0"/>
              <a:t>A note to this effect shall be made on it.</a:t>
            </a:r>
          </a:p>
          <a:p>
            <a:pPr algn="just"/>
            <a:r>
              <a:rPr lang="en-US" b="1" dirty="0" smtClean="0"/>
              <a:t>It must be recorded, read ,signed and dated. </a:t>
            </a:r>
          </a:p>
          <a:p>
            <a:pPr algn="just"/>
            <a:r>
              <a:rPr lang="en-US" b="1" dirty="0" smtClean="0"/>
              <a:t>It shall be signed by the president of the court.</a:t>
            </a:r>
          </a:p>
          <a:p>
            <a:pPr algn="just">
              <a:buNone/>
            </a:pPr>
            <a:endParaRPr lang="en-US" b="1"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b="1" i="1" dirty="0" smtClean="0">
                <a:solidFill>
                  <a:srgbClr val="00B050"/>
                </a:solidFill>
              </a:rPr>
              <a:t>The Question is?</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What is the suspect deny before a court  what he admitted  in interrogation?</a:t>
            </a:r>
          </a:p>
          <a:p>
            <a:pPr algn="just"/>
            <a:r>
              <a:rPr lang="en-US" b="1" dirty="0" smtClean="0"/>
              <a:t>Then can we only use the confession of the suspect as evidence? </a:t>
            </a:r>
          </a:p>
          <a:p>
            <a:pPr algn="just"/>
            <a:r>
              <a:rPr lang="en-US" b="1" dirty="0" smtClean="0"/>
              <a:t>What is the experience of different states in this regard?</a:t>
            </a:r>
          </a:p>
          <a:p>
            <a:pPr algn="just"/>
            <a:r>
              <a:rPr lang="en-US" b="1" dirty="0" smtClean="0"/>
              <a:t>What about the draft evidence rule?</a:t>
            </a:r>
            <a:endParaRPr lang="en-US" b="1"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supreme court cases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500" b="1" i="1" dirty="0" smtClean="0">
                <a:solidFill>
                  <a:srgbClr val="0070C0"/>
                </a:solidFill>
              </a:rPr>
              <a:t>P/Prosecutor Vs </a:t>
            </a:r>
            <a:r>
              <a:rPr lang="en-US" sz="2500" b="1" i="1" dirty="0" err="1" smtClean="0">
                <a:solidFill>
                  <a:srgbClr val="0070C0"/>
                </a:solidFill>
              </a:rPr>
              <a:t>Tamratlayne</a:t>
            </a:r>
            <a:r>
              <a:rPr lang="en-US" sz="2500" b="1" i="1" dirty="0" smtClean="0">
                <a:solidFill>
                  <a:srgbClr val="0070C0"/>
                </a:solidFill>
              </a:rPr>
              <a:t>  et al(F.N 001/1989)</a:t>
            </a:r>
          </a:p>
          <a:p>
            <a:pPr algn="just"/>
            <a:r>
              <a:rPr lang="en-US" sz="2500" b="1" dirty="0" smtClean="0"/>
              <a:t>In this case the accused persons were charged with corruption and other related crimes.</a:t>
            </a:r>
          </a:p>
          <a:p>
            <a:pPr algn="just"/>
            <a:r>
              <a:rPr lang="en-US" sz="2500" b="1" dirty="0" smtClean="0"/>
              <a:t>Among the evidence presented there existed a statement of confession made to the police.</a:t>
            </a:r>
          </a:p>
          <a:p>
            <a:pPr algn="just"/>
            <a:r>
              <a:rPr lang="en-US" sz="2500" b="1" dirty="0" smtClean="0"/>
              <a:t>The defense lawyers raised that confession made to the police  is not admissible under the Ethiopian law.</a:t>
            </a:r>
          </a:p>
          <a:p>
            <a:pPr algn="just"/>
            <a:r>
              <a:rPr lang="en-US" sz="2500" b="1" dirty="0" smtClean="0"/>
              <a:t>The court rejected the objection saying that </a:t>
            </a:r>
            <a:r>
              <a:rPr lang="en-US" sz="2500" b="1" i="1" dirty="0" smtClean="0">
                <a:solidFill>
                  <a:srgbClr val="C00000"/>
                </a:solidFill>
              </a:rPr>
              <a:t>“there is no clear cut law that prohibit the confession made to police and there is procedural as well as constitutional provisions which support the admissibility of confessions made to the police</a:t>
            </a:r>
            <a:r>
              <a:rPr lang="en-US" sz="2500" b="1" dirty="0" smtClean="0"/>
              <a:t>.” </a:t>
            </a:r>
          </a:p>
          <a:p>
            <a:pPr algn="just"/>
            <a:endParaRPr lang="en-US" sz="2500" b="1" dirty="0" smtClean="0"/>
          </a:p>
          <a:p>
            <a:pPr algn="just"/>
            <a:endParaRPr lang="en-US" sz="2500" b="1" dirty="0" smtClean="0"/>
          </a:p>
          <a:p>
            <a:pPr algn="just"/>
            <a:endParaRPr lang="en-US" sz="2500" b="1" dirty="0" smtClean="0"/>
          </a:p>
          <a:p>
            <a:pPr algn="just"/>
            <a:endParaRPr lang="en-US" sz="2500" b="1" dirty="0" smtClean="0"/>
          </a:p>
          <a:p>
            <a:pPr algn="just"/>
            <a:endParaRPr lang="en-US" sz="2500" b="1"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7030A0"/>
                </a:solidFill>
              </a:rPr>
              <a:t>P/Prosecutor Vs </a:t>
            </a:r>
            <a:r>
              <a:rPr lang="en-US" b="1" i="1" dirty="0" err="1" smtClean="0">
                <a:solidFill>
                  <a:srgbClr val="7030A0"/>
                </a:solidFill>
              </a:rPr>
              <a:t>Leykun</a:t>
            </a:r>
            <a:r>
              <a:rPr lang="en-US" b="1" i="1" dirty="0" smtClean="0">
                <a:solidFill>
                  <a:srgbClr val="7030A0"/>
                </a:solidFill>
              </a:rPr>
              <a:t> (A.N.6359/1994</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b="1" dirty="0" smtClean="0"/>
              <a:t>The Suspect denied before the court what he confessed to the police but the p/prosecutor   corroborated by other evidence.</a:t>
            </a:r>
          </a:p>
          <a:p>
            <a:pPr algn="just"/>
            <a:r>
              <a:rPr lang="en-US" b="1" dirty="0" smtClean="0"/>
              <a:t>The  supreme court  convicted the accused saying “</a:t>
            </a:r>
            <a:r>
              <a:rPr lang="en-US" b="1" i="1" dirty="0" smtClean="0">
                <a:solidFill>
                  <a:srgbClr val="C00000"/>
                </a:solidFill>
              </a:rPr>
              <a:t>The accused simply changed his mind and there is also additional evidence</a:t>
            </a:r>
            <a:r>
              <a:rPr lang="en-US" b="1" dirty="0" smtClean="0"/>
              <a:t>.’’</a:t>
            </a:r>
          </a:p>
          <a:p>
            <a:pPr algn="just"/>
            <a:endParaRPr lang="en-US" b="1"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7030A0"/>
                </a:solidFill>
              </a:rPr>
              <a:t>P/Prosecutor Vs  Sisay (A.N. 17739/1997)</a:t>
            </a:r>
            <a:endParaRPr lang="en-US" sz="3600" i="1" dirty="0">
              <a:solidFill>
                <a:srgbClr val="7030A0"/>
              </a:solidFill>
            </a:endParaRPr>
          </a:p>
        </p:txBody>
      </p:sp>
      <p:sp>
        <p:nvSpPr>
          <p:cNvPr id="3" name="Content Placeholder 2"/>
          <p:cNvSpPr>
            <a:spLocks noGrp="1"/>
          </p:cNvSpPr>
          <p:nvPr>
            <p:ph idx="1"/>
          </p:nvPr>
        </p:nvSpPr>
        <p:spPr/>
        <p:txBody>
          <a:bodyPr>
            <a:normAutofit/>
          </a:bodyPr>
          <a:lstStyle/>
          <a:p>
            <a:pPr algn="just"/>
            <a:r>
              <a:rPr lang="en-US" b="1" dirty="0" smtClean="0"/>
              <a:t>The Suspect denied before the H/court what he confessed to the police. </a:t>
            </a:r>
          </a:p>
          <a:p>
            <a:pPr algn="just"/>
            <a:r>
              <a:rPr lang="en-US" b="1" dirty="0" smtClean="0"/>
              <a:t>The court ordered the accused to defend only based on the police confession.</a:t>
            </a:r>
          </a:p>
          <a:p>
            <a:pPr algn="just"/>
            <a:r>
              <a:rPr lang="en-US" b="1" dirty="0" smtClean="0"/>
              <a:t>The defendant produced his denial before the court. But the court convicted him only on the confession to the police. </a:t>
            </a:r>
          </a:p>
          <a:p>
            <a:pPr algn="just"/>
            <a:r>
              <a:rPr lang="en-US" b="1" dirty="0" smtClean="0"/>
              <a:t>But the Supreme court reversed the judgments saying, “</a:t>
            </a:r>
            <a:r>
              <a:rPr lang="en-US" b="1" i="1" dirty="0" smtClean="0">
                <a:solidFill>
                  <a:srgbClr val="C00000"/>
                </a:solidFill>
              </a:rPr>
              <a:t>The denial of the accused before the court is sufficient.”</a:t>
            </a:r>
            <a:endParaRPr lang="en-US" b="1" i="1" dirty="0">
              <a:solidFill>
                <a:srgbClr val="C00000"/>
              </a:solidFill>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smtClean="0">
                <a:solidFill>
                  <a:srgbClr val="00B050"/>
                </a:solidFill>
              </a:rPr>
              <a:t>Rights related to Interrogation</a:t>
            </a:r>
            <a:br>
              <a:rPr lang="en-US" sz="3600" b="1" i="1" dirty="0" smtClean="0">
                <a:solidFill>
                  <a:srgbClr val="00B050"/>
                </a:solidFill>
              </a:rPr>
            </a:br>
            <a:r>
              <a:rPr lang="en-US" sz="3600" b="1" i="1" dirty="0" smtClean="0">
                <a:solidFill>
                  <a:srgbClr val="0070C0"/>
                </a:solidFill>
              </a:rPr>
              <a:t>Right to silence and to be informed that</a:t>
            </a:r>
            <a:endParaRPr lang="en-US" sz="3600" b="1" i="1" dirty="0">
              <a:solidFill>
                <a:srgbClr val="0070C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t>The law want to serve two purposes by guarantying the right to remain silent.</a:t>
            </a:r>
          </a:p>
          <a:p>
            <a:pPr algn="just">
              <a:buFont typeface="Wingdings" pitchFamily="2" charset="2"/>
              <a:buChar char="Ø"/>
            </a:pPr>
            <a:r>
              <a:rPr lang="en-US" b="1" dirty="0" smtClean="0"/>
              <a:t>There is high chance that the Arrestee will not know they have such rights and the  effects of their words could have on their cases. The law ensures that they will not be victims of their own ignorance of the law.</a:t>
            </a:r>
          </a:p>
          <a:p>
            <a:pPr algn="just">
              <a:buFont typeface="Wingdings" pitchFamily="2" charset="2"/>
              <a:buChar char="Ø"/>
            </a:pPr>
            <a:r>
              <a:rPr lang="en-US" b="1" dirty="0" smtClean="0"/>
              <a:t>When the suspect hears the officer telling him that  he has the right to remain silent, he will have confidence that the officer is ready to respect his right.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Experience of other countries</a:t>
            </a:r>
            <a:r>
              <a:rPr lang="en-US" b="1" dirty="0" smtClean="0"/>
              <a:t>.</a:t>
            </a:r>
            <a:endParaRPr lang="en-US" dirty="0"/>
          </a:p>
        </p:txBody>
      </p:sp>
      <p:sp>
        <p:nvSpPr>
          <p:cNvPr id="3" name="Content Placeholder 2"/>
          <p:cNvSpPr>
            <a:spLocks noGrp="1"/>
          </p:cNvSpPr>
          <p:nvPr>
            <p:ph idx="1"/>
          </p:nvPr>
        </p:nvSpPr>
        <p:spPr/>
        <p:txBody>
          <a:bodyPr>
            <a:normAutofit/>
          </a:bodyPr>
          <a:lstStyle/>
          <a:p>
            <a:pPr algn="just"/>
            <a:r>
              <a:rPr lang="en-US" b="1" dirty="0" smtClean="0"/>
              <a:t>In France, although the suspect is not bound to answer all the  questions they do not have the right to be informed of their right to remain silent at any stage of police investigation.</a:t>
            </a:r>
          </a:p>
          <a:p>
            <a:pPr algn="just">
              <a:buFont typeface="Wingdings" pitchFamily="2" charset="2"/>
              <a:buChar char="Ø"/>
            </a:pPr>
            <a:r>
              <a:rPr lang="en-US" b="1" dirty="0" smtClean="0"/>
              <a:t>In China the law requires the suspect to answer truthfully the question posed by the investigative officers.</a:t>
            </a:r>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r>
              <a:rPr lang="en-US" b="1" i="1" dirty="0" smtClean="0">
                <a:solidFill>
                  <a:srgbClr val="00B050"/>
                </a:solidFill>
              </a:rPr>
              <a:t>The right against self-incrimination (Art 27(2)) and to counsel</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q"/>
            </a:pPr>
            <a:r>
              <a:rPr lang="en-US" b="1" i="1" dirty="0" smtClean="0">
                <a:solidFill>
                  <a:srgbClr val="0070C0"/>
                </a:solidFill>
              </a:rPr>
              <a:t>Right against self-incrimination (Art 27(2))</a:t>
            </a:r>
          </a:p>
          <a:p>
            <a:pPr algn="just"/>
            <a:r>
              <a:rPr lang="en-US" b="1" dirty="0" smtClean="0"/>
              <a:t>The suspect shall not be compelled to answer and shall be informed that he has the right not to answer and testify any statement he may make may be used in evidence.                 </a:t>
            </a:r>
          </a:p>
          <a:p>
            <a:pPr algn="just">
              <a:buFont typeface="Wingdings" pitchFamily="2" charset="2"/>
              <a:buChar char="q"/>
            </a:pPr>
            <a:r>
              <a:rPr lang="en-US" b="1" i="1" dirty="0" smtClean="0">
                <a:solidFill>
                  <a:srgbClr val="0070C0"/>
                </a:solidFill>
              </a:rPr>
              <a:t>Right to counsel and role of counsel</a:t>
            </a:r>
          </a:p>
          <a:p>
            <a:pPr algn="just"/>
            <a:r>
              <a:rPr lang="en-US" b="1" dirty="0" smtClean="0"/>
              <a:t>Both the FDRE constitution and the Cr. Pr  recognized the right of the accused to be assisted by lawyer.</a:t>
            </a:r>
          </a:p>
          <a:p>
            <a:pPr algn="just"/>
            <a:r>
              <a:rPr lang="en-US" b="1" dirty="0" smtClean="0"/>
              <a:t>Art 19 of the constitution which provides for the right of the arrested person does not include the right to consult lawyer.</a:t>
            </a:r>
          </a:p>
          <a:p>
            <a:pPr algn="just"/>
            <a:r>
              <a:rPr lang="en-US" b="1" dirty="0" smtClean="0"/>
              <a:t>Art. 61 of the Cr. Pr. Recognize the right of the arrestee to consult lawyer upon request.</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Experience of other countries.</a:t>
            </a:r>
            <a:endParaRPr lang="en-US"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In U.S.A. the right to council before interrogation  is of one of the necessary condition to ensure that the confession given by the arrestee is voluntary.</a:t>
            </a:r>
          </a:p>
          <a:p>
            <a:pPr algn="just"/>
            <a:r>
              <a:rPr lang="en-US" b="1" dirty="0" smtClean="0"/>
              <a:t>In Germany their criminal Procedure code ensure the right to council before the interrogation but not during the interrogation.</a:t>
            </a:r>
          </a:p>
          <a:p>
            <a:pPr algn="just"/>
            <a:r>
              <a:rPr lang="en-US" b="1" dirty="0" smtClean="0"/>
              <a:t>China do not allow the suspect to consult a lawyer before the interrogation. But it is allowed  after the interrogation.</a:t>
            </a:r>
          </a:p>
          <a:p>
            <a:endParaRPr lang="en-US" b="1"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i="1" dirty="0" smtClean="0">
                <a:solidFill>
                  <a:srgbClr val="00B050"/>
                </a:solidFill>
              </a:rPr>
              <a:t>Right to be informed and prohibition of inducement</a:t>
            </a:r>
            <a:endParaRPr lang="en-US" sz="4000" b="1"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q"/>
            </a:pPr>
            <a:r>
              <a:rPr lang="en-US" b="1" i="1" dirty="0" smtClean="0">
                <a:solidFill>
                  <a:srgbClr val="0070C0"/>
                </a:solidFill>
              </a:rPr>
              <a:t>Right to be informed of consequences of statement(Art.27(2))</a:t>
            </a:r>
          </a:p>
          <a:p>
            <a:pPr algn="just"/>
            <a:r>
              <a:rPr lang="en-US" b="1" dirty="0" smtClean="0"/>
              <a:t>He shall not be compelled to answer and shall be informed that he has the right not to answer and that any statement he may make may be used in evidence.</a:t>
            </a:r>
            <a:endParaRPr lang="en-US" b="1" i="1" dirty="0" smtClean="0"/>
          </a:p>
          <a:p>
            <a:pPr algn="just">
              <a:buFont typeface="Wingdings" pitchFamily="2" charset="2"/>
              <a:buChar char="q"/>
            </a:pPr>
            <a:r>
              <a:rPr lang="en-US" b="1" i="1" dirty="0" smtClean="0">
                <a:solidFill>
                  <a:srgbClr val="0070C0"/>
                </a:solidFill>
              </a:rPr>
              <a:t>Inducement to-be offered prohibited (Art. 31. )</a:t>
            </a:r>
            <a:endParaRPr lang="en-US" b="1" dirty="0" smtClean="0">
              <a:solidFill>
                <a:srgbClr val="0070C0"/>
              </a:solidFill>
            </a:endParaRPr>
          </a:p>
          <a:p>
            <a:pPr algn="just"/>
            <a:r>
              <a:rPr lang="en-US" b="1" i="1" dirty="0" smtClean="0"/>
              <a:t>I</a:t>
            </a:r>
            <a:r>
              <a:rPr lang="en-US" b="1" dirty="0" smtClean="0"/>
              <a:t>nducement, threat, promise or any Other improper method to any person examined by the police are prohibited.</a:t>
            </a:r>
          </a:p>
          <a:p>
            <a:pPr algn="just"/>
            <a:r>
              <a:rPr lang="en-US" b="1" dirty="0" smtClean="0"/>
              <a:t>Improper method refers that any method that may influence the suspect to confess against his free will.</a:t>
            </a:r>
            <a:endParaRPr lang="en-US" b="1"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Question????</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It is said that confession is queen of evidence if given voluntarily.</a:t>
            </a:r>
          </a:p>
          <a:p>
            <a:pPr algn="just"/>
            <a:r>
              <a:rPr lang="en-US" b="1" dirty="0" smtClean="0"/>
              <a:t>What weight is to be given to evidence obtained through confession?</a:t>
            </a:r>
          </a:p>
          <a:p>
            <a:pPr algn="just"/>
            <a:r>
              <a:rPr lang="en-US" b="1" dirty="0" smtClean="0"/>
              <a:t>Can the suspect be convicted only based on such evidence?</a:t>
            </a:r>
          </a:p>
          <a:p>
            <a:pPr algn="just"/>
            <a:r>
              <a:rPr lang="en-US" b="1" dirty="0" smtClean="0"/>
              <a:t>Is there the possibility of false confession even, if it is based on  free will of the suspected?</a:t>
            </a:r>
          </a:p>
          <a:p>
            <a:pPr algn="just"/>
            <a:r>
              <a:rPr lang="en-US" b="1" dirty="0" smtClean="0"/>
              <a:t>Is it appropriate to convict the suspect based on only confession?</a:t>
            </a:r>
          </a:p>
          <a:p>
            <a:pPr algn="just"/>
            <a:r>
              <a:rPr lang="en-US" b="1" dirty="0" smtClean="0"/>
              <a:t>If not what appropriate measures must be taken?</a:t>
            </a:r>
          </a:p>
          <a:p>
            <a:pPr algn="just"/>
            <a:endParaRPr lang="en-US" b="1"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Risk of false confession</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This happen because the suspect admit to the police even in the absence of illegitimate pressure because of</a:t>
            </a:r>
          </a:p>
          <a:p>
            <a:pPr lvl="1" algn="just">
              <a:buFont typeface="Wingdings" pitchFamily="2" charset="2"/>
              <a:buChar char="Ø"/>
            </a:pPr>
            <a:r>
              <a:rPr lang="en-US" b="1" dirty="0" smtClean="0"/>
              <a:t>Immaturity or mental disorder</a:t>
            </a:r>
          </a:p>
          <a:p>
            <a:pPr lvl="1" algn="just">
              <a:buFont typeface="Wingdings" pitchFamily="2" charset="2"/>
              <a:buChar char="Ø"/>
            </a:pPr>
            <a:r>
              <a:rPr lang="en-US" b="1" dirty="0" smtClean="0"/>
              <a:t>Detention factors such as lack of sunlight, overcrowding and poor ventilations.</a:t>
            </a:r>
          </a:p>
          <a:p>
            <a:pPr lvl="1" algn="just">
              <a:buFont typeface="Wingdings" pitchFamily="2" charset="2"/>
              <a:buChar char="Ø"/>
            </a:pPr>
            <a:r>
              <a:rPr lang="en-US" b="1" dirty="0" smtClean="0"/>
              <a:t>Social pressures such as to get fame, to cover for friends and financial rewards.</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Should the suspect, then, be convicted based on only such confessions?</a:t>
            </a:r>
            <a:endParaRPr lang="en-US"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There are two arguments in relation to this</a:t>
            </a:r>
          </a:p>
          <a:p>
            <a:pPr algn="just"/>
            <a:r>
              <a:rPr lang="en-US" b="1" i="1" dirty="0" smtClean="0">
                <a:solidFill>
                  <a:srgbClr val="0070C0"/>
                </a:solidFill>
              </a:rPr>
              <a:t>Argument for.</a:t>
            </a:r>
            <a:r>
              <a:rPr lang="en-US" b="1" dirty="0" smtClean="0"/>
              <a:t>  There are times when corroborating evidence are impossible. Requesting additional evidence in such cases would have the effect of releasing real offenders who have confessed.</a:t>
            </a:r>
          </a:p>
          <a:p>
            <a:pPr algn="just"/>
            <a:r>
              <a:rPr lang="en-US" b="1" i="1" dirty="0" smtClean="0">
                <a:solidFill>
                  <a:srgbClr val="0070C0"/>
                </a:solidFill>
              </a:rPr>
              <a:t>Argument against</a:t>
            </a:r>
            <a:r>
              <a:rPr lang="en-US" b="1" dirty="0" smtClean="0"/>
              <a:t>. Taking the risk of false confession, it is better to let free thousands than convicting one innocent based on confession only.</a:t>
            </a:r>
          </a:p>
          <a:p>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b="1" i="1" dirty="0" smtClean="0">
                <a:solidFill>
                  <a:srgbClr val="00B050"/>
                </a:solidFill>
              </a:rPr>
              <a:t>The experience of other countries in relation to confession</a:t>
            </a:r>
            <a:r>
              <a:rPr lang="en-US" b="1" dirty="0" smtClean="0">
                <a:solidFill>
                  <a:srgbClr val="00B050"/>
                </a:solidFill>
              </a:rPr>
              <a:t>.</a:t>
            </a:r>
            <a:endParaRPr lang="en-US" b="1" dirty="0">
              <a:solidFill>
                <a:srgbClr val="00B050"/>
              </a:solidFill>
            </a:endParaRPr>
          </a:p>
        </p:txBody>
      </p:sp>
      <p:sp>
        <p:nvSpPr>
          <p:cNvPr id="3" name="Content Placeholder 2"/>
          <p:cNvSpPr>
            <a:spLocks noGrp="1"/>
          </p:cNvSpPr>
          <p:nvPr>
            <p:ph idx="1"/>
          </p:nvPr>
        </p:nvSpPr>
        <p:spPr/>
        <p:txBody>
          <a:bodyPr>
            <a:normAutofit/>
          </a:bodyPr>
          <a:lstStyle/>
          <a:p>
            <a:r>
              <a:rPr lang="en-US" b="1" dirty="0" smtClean="0"/>
              <a:t>In Israel, there is a need to corroborate .</a:t>
            </a:r>
          </a:p>
          <a:p>
            <a:r>
              <a:rPr lang="en-US" b="1" dirty="0" smtClean="0"/>
              <a:t>In U.S.A. ,there is a need to corroborate</a:t>
            </a:r>
          </a:p>
          <a:p>
            <a:r>
              <a:rPr lang="en-US" b="1" dirty="0" smtClean="0"/>
              <a:t>In Ethiopia there is no clear cut provision in relation to this issue.</a:t>
            </a:r>
          </a:p>
          <a:p>
            <a:r>
              <a:rPr lang="en-US" b="1" dirty="0" smtClean="0"/>
              <a:t>But  the majority of courts decided that there is a need to corroborate confession.</a:t>
            </a:r>
            <a:endParaRPr lang="en-US" b="1"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Tsegaye Korch Vs P.Prosecutor</a:t>
            </a:r>
            <a:br>
              <a:rPr lang="en-US" b="1" dirty="0" smtClean="0">
                <a:solidFill>
                  <a:srgbClr val="0070C0"/>
                </a:solidFill>
              </a:rPr>
            </a:br>
            <a:r>
              <a:rPr lang="en-US" b="1" dirty="0" smtClean="0">
                <a:solidFill>
                  <a:srgbClr val="0070C0"/>
                </a:solidFill>
              </a:rPr>
              <a:t>( A.N. 27720/1999)</a:t>
            </a:r>
            <a:endParaRPr lang="en-US" dirty="0">
              <a:solidFill>
                <a:srgbClr val="0070C0"/>
              </a:solidFill>
            </a:endParaRPr>
          </a:p>
        </p:txBody>
      </p:sp>
      <p:sp>
        <p:nvSpPr>
          <p:cNvPr id="3" name="Content Placeholder 2"/>
          <p:cNvSpPr>
            <a:spLocks noGrp="1"/>
          </p:cNvSpPr>
          <p:nvPr>
            <p:ph idx="1"/>
          </p:nvPr>
        </p:nvSpPr>
        <p:spPr/>
        <p:txBody>
          <a:bodyPr>
            <a:normAutofit/>
          </a:bodyPr>
          <a:lstStyle/>
          <a:p>
            <a:pPr algn="just"/>
            <a:r>
              <a:rPr lang="en-US" b="1" dirty="0" smtClean="0"/>
              <a:t>Tsegaye was charged because of armed rebellion. </a:t>
            </a:r>
          </a:p>
          <a:p>
            <a:pPr algn="just"/>
            <a:r>
              <a:rPr lang="en-US" b="1" dirty="0" smtClean="0"/>
              <a:t>The FH court convicted the suspect based on the confession and one witness.</a:t>
            </a:r>
          </a:p>
          <a:p>
            <a:pPr algn="just"/>
            <a:r>
              <a:rPr lang="en-US" b="1" dirty="0" smtClean="0"/>
              <a:t>The suspect challenged the judgment saying the conviction is based on exclusively on the confession he gave forcefully  to the police. </a:t>
            </a:r>
          </a:p>
          <a:p>
            <a:pPr algn="just"/>
            <a:r>
              <a:rPr lang="en-US" b="1" dirty="0" smtClean="0"/>
              <a:t>The court held the lower judgment only by changing the crime from armed rebellion to that of terrorist activity saying, </a:t>
            </a:r>
            <a:r>
              <a:rPr lang="en-US" b="1" i="1" dirty="0" smtClean="0">
                <a:solidFill>
                  <a:srgbClr val="C00000"/>
                </a:solidFill>
              </a:rPr>
              <a:t>“The confession was corroborated by witness.”</a:t>
            </a:r>
          </a:p>
          <a:p>
            <a:pPr algn="just"/>
            <a:endParaRPr lang="en-US" b="1" dirty="0" smtClean="0"/>
          </a:p>
          <a:p>
            <a:pPr algn="just"/>
            <a:endParaRPr lang="en-US" b="1"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Zembelachew Vs P. Prosecutor  (A.N.026686/98)</a:t>
            </a:r>
            <a:endParaRPr lang="en-US" dirty="0">
              <a:solidFill>
                <a:srgbClr val="0070C0"/>
              </a:solidFill>
            </a:endParaRPr>
          </a:p>
        </p:txBody>
      </p:sp>
      <p:sp>
        <p:nvSpPr>
          <p:cNvPr id="3" name="Content Placeholder 2"/>
          <p:cNvSpPr>
            <a:spLocks noGrp="1"/>
          </p:cNvSpPr>
          <p:nvPr>
            <p:ph idx="1"/>
          </p:nvPr>
        </p:nvSpPr>
        <p:spPr/>
        <p:txBody>
          <a:bodyPr>
            <a:normAutofit fontScale="92500"/>
          </a:bodyPr>
          <a:lstStyle/>
          <a:p>
            <a:pPr algn="just"/>
            <a:r>
              <a:rPr lang="en-US" sz="2400" b="1" dirty="0" smtClean="0"/>
              <a:t>The suspect was accused of  damage to property. The pp presented the confession of the suspect and one witness. </a:t>
            </a:r>
          </a:p>
          <a:p>
            <a:pPr algn="just"/>
            <a:r>
              <a:rPr lang="en-US" sz="2400" b="1" dirty="0" smtClean="0"/>
              <a:t>The trial court ordered the accused to defend and the defense witness proved that the suspect was somewhere else by the time of the commission of the offence. </a:t>
            </a:r>
          </a:p>
          <a:p>
            <a:pPr algn="just"/>
            <a:r>
              <a:rPr lang="en-US" sz="2400" b="1" dirty="0" smtClean="0"/>
              <a:t>But the trial court convicted him saying that the accused can not defend his own confession. </a:t>
            </a:r>
          </a:p>
          <a:p>
            <a:pPr algn="just"/>
            <a:r>
              <a:rPr lang="en-US" sz="2400" b="1" dirty="0" smtClean="0"/>
              <a:t>But the Federal Supreme court reversed the judgment saying </a:t>
            </a:r>
            <a:r>
              <a:rPr lang="en-US" sz="2400" b="1" i="1" dirty="0" smtClean="0">
                <a:solidFill>
                  <a:srgbClr val="C00000"/>
                </a:solidFill>
              </a:rPr>
              <a:t>“Confession with out other corroborating evidence is not adequate to prove  the guilt of the accused.”</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Sisay Danye  Vs P. Prosecutor</a:t>
            </a:r>
            <a:br>
              <a:rPr lang="en-US" b="1" dirty="0" smtClean="0">
                <a:solidFill>
                  <a:srgbClr val="0070C0"/>
                </a:solidFill>
              </a:rPr>
            </a:br>
            <a:r>
              <a:rPr lang="en-US" b="1" dirty="0" smtClean="0">
                <a:solidFill>
                  <a:srgbClr val="0070C0"/>
                </a:solidFill>
              </a:rPr>
              <a:t>( A.N.17739/1197)</a:t>
            </a:r>
            <a:endParaRPr lang="en-US" dirty="0">
              <a:solidFill>
                <a:srgbClr val="0070C0"/>
              </a:solidFill>
            </a:endParaRPr>
          </a:p>
        </p:txBody>
      </p:sp>
      <p:sp>
        <p:nvSpPr>
          <p:cNvPr id="3" name="Content Placeholder 2"/>
          <p:cNvSpPr>
            <a:spLocks noGrp="1"/>
          </p:cNvSpPr>
          <p:nvPr>
            <p:ph idx="1"/>
          </p:nvPr>
        </p:nvSpPr>
        <p:spPr/>
        <p:txBody>
          <a:bodyPr>
            <a:normAutofit/>
          </a:bodyPr>
          <a:lstStyle/>
          <a:p>
            <a:pPr algn="just"/>
            <a:r>
              <a:rPr lang="en-US" b="1" dirty="0" smtClean="0"/>
              <a:t>The public prosecutor in this case produced the confession of the accused  two witness. </a:t>
            </a:r>
          </a:p>
          <a:p>
            <a:pPr algn="just"/>
            <a:r>
              <a:rPr lang="en-US" b="1" dirty="0" smtClean="0"/>
              <a:t>The trial court disregarded the witnesses and  ordered the accused to defined. Finally the trail court gave judgment on the confession only and the defendant appealed. </a:t>
            </a:r>
          </a:p>
          <a:p>
            <a:pPr algn="just"/>
            <a:r>
              <a:rPr lang="en-US" b="1" dirty="0" smtClean="0"/>
              <a:t>The FS court finally reversed the judgment saying, </a:t>
            </a:r>
            <a:r>
              <a:rPr lang="en-US" b="1" i="1" dirty="0" smtClean="0">
                <a:solidFill>
                  <a:srgbClr val="C00000"/>
                </a:solidFill>
              </a:rPr>
              <a:t>“Confession only is not adequate to prove the prosecutors case beyond reasonable doubt.”</a:t>
            </a:r>
          </a:p>
          <a:p>
            <a:endParaRPr lang="en-US" b="1" dirty="0" smtClean="0"/>
          </a:p>
          <a:p>
            <a:endParaRPr lang="en-US" b="1"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way out!!!!</a:t>
            </a:r>
            <a:endParaRPr lang="en-US" b="1" i="1" dirty="0">
              <a:solidFill>
                <a:srgbClr val="00B050"/>
              </a:solidFill>
            </a:endParaRPr>
          </a:p>
        </p:txBody>
      </p:sp>
      <p:sp>
        <p:nvSpPr>
          <p:cNvPr id="3" name="Content Placeholder 2"/>
          <p:cNvSpPr>
            <a:spLocks noGrp="1"/>
          </p:cNvSpPr>
          <p:nvPr>
            <p:ph idx="1"/>
          </p:nvPr>
        </p:nvSpPr>
        <p:spPr/>
        <p:txBody>
          <a:bodyPr>
            <a:normAutofit fontScale="92500"/>
          </a:bodyPr>
          <a:lstStyle/>
          <a:p>
            <a:pPr algn="just"/>
            <a:r>
              <a:rPr lang="en-US" b="1" dirty="0" smtClean="0"/>
              <a:t>Because there are no  detailed rules of evidence in Ethiopia, there is no express provision dealing with the weight of confession.</a:t>
            </a:r>
          </a:p>
          <a:p>
            <a:pPr algn="just"/>
            <a:r>
              <a:rPr lang="en-US" b="1" dirty="0" smtClean="0"/>
              <a:t>Then the question is whether one’s confession is adequate to  prove his guilt beyond a reasonable doubt</a:t>
            </a:r>
          </a:p>
          <a:p>
            <a:pPr algn="just"/>
            <a:r>
              <a:rPr lang="en-US" b="1" dirty="0" smtClean="0"/>
              <a:t>This inter depends on the trustworthiness of the confession which can be verified in to two ways.</a:t>
            </a:r>
          </a:p>
          <a:p>
            <a:pPr lvl="1" algn="just">
              <a:buFont typeface="Wingdings" pitchFamily="2" charset="2"/>
              <a:buChar char="Ø"/>
            </a:pPr>
            <a:r>
              <a:rPr lang="en-US" b="1" dirty="0" smtClean="0"/>
              <a:t>Showing that there is no  reason for false confession and</a:t>
            </a:r>
          </a:p>
          <a:p>
            <a:pPr lvl="1" algn="just">
              <a:buFont typeface="Wingdings" pitchFamily="2" charset="2"/>
              <a:buChar char="Ø"/>
            </a:pPr>
            <a:r>
              <a:rPr lang="en-US" b="1" dirty="0" smtClean="0"/>
              <a:t>Production of independent evidence that the crime was committed by the accused.</a:t>
            </a:r>
          </a:p>
          <a:p>
            <a:pPr algn="just"/>
            <a:endParaRPr lang="en-US" b="1" dirty="0" smtClean="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way out…..</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As there is no  way of ruling out the possibility of false confession, the feasible method of verifying the reliability of confession is to produce corroborative evidence</a:t>
            </a:r>
          </a:p>
          <a:p>
            <a:pPr algn="just"/>
            <a:r>
              <a:rPr lang="en-US" b="1" dirty="0" smtClean="0"/>
              <a:t>In the essence of corroborative evidence it is difficult to conclude that  the confession is true and that the guilt of the accused is proved  beyond a reasonable doubt.</a:t>
            </a:r>
          </a:p>
          <a:p>
            <a:pPr algn="just"/>
            <a:r>
              <a:rPr lang="en-US" b="1" dirty="0" smtClean="0"/>
              <a:t>This makes that convicting the accused based only his confession very much difficult.</a:t>
            </a:r>
          </a:p>
          <a:p>
            <a:endParaRPr lang="en-US" b="1"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Consequences of coercion and other irregularities</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Coercion  in the case of confession  result in Criminal, civil and administrative liabilities besides the exclusion of the evidence.</a:t>
            </a:r>
          </a:p>
          <a:p>
            <a:pPr algn="just">
              <a:buFont typeface="Wingdings" pitchFamily="2" charset="2"/>
              <a:buChar char="Ø"/>
            </a:pPr>
            <a:r>
              <a:rPr lang="en-US" b="1" dirty="0" smtClean="0"/>
              <a:t> </a:t>
            </a:r>
            <a:r>
              <a:rPr lang="en-US" b="1" i="1" dirty="0" smtClean="0">
                <a:solidFill>
                  <a:srgbClr val="002060"/>
                </a:solidFill>
              </a:rPr>
              <a:t>Criminal liability (Criminal Code)</a:t>
            </a:r>
          </a:p>
          <a:p>
            <a:pPr algn="just"/>
            <a:r>
              <a:rPr lang="en-US" b="1" dirty="0" smtClean="0"/>
              <a:t> Art 424 , Any public servant charged with interrogation who improperly induces  or gives promise, treat  the person concerned is punishable with  rigorous impressments not exceeding ten years and fine.</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Civil and Administrative  Liabilities.</a:t>
            </a:r>
            <a:endParaRPr lang="en-US" b="1" i="1" dirty="0">
              <a:solidFill>
                <a:srgbClr val="00B050"/>
              </a:solidFill>
            </a:endParaRPr>
          </a:p>
        </p:txBody>
      </p:sp>
      <p:sp>
        <p:nvSpPr>
          <p:cNvPr id="3" name="Content Placeholder 2"/>
          <p:cNvSpPr>
            <a:spLocks noGrp="1"/>
          </p:cNvSpPr>
          <p:nvPr>
            <p:ph idx="1"/>
          </p:nvPr>
        </p:nvSpPr>
        <p:spPr/>
        <p:txBody>
          <a:bodyPr>
            <a:normAutofit fontScale="92500"/>
          </a:bodyPr>
          <a:lstStyle/>
          <a:p>
            <a:pPr algn="just">
              <a:buFont typeface="Wingdings" pitchFamily="2" charset="2"/>
              <a:buChar char="Ø"/>
            </a:pPr>
            <a:r>
              <a:rPr lang="en-US" b="1" i="1" dirty="0" smtClean="0">
                <a:solidFill>
                  <a:srgbClr val="002060"/>
                </a:solidFill>
              </a:rPr>
              <a:t>Civil Liabilities( Civil Code)</a:t>
            </a:r>
          </a:p>
          <a:p>
            <a:pPr algn="just"/>
            <a:r>
              <a:rPr lang="en-US" b="1" dirty="0" smtClean="0"/>
              <a:t>Art 2028, whosoever causes a damages to another by an offence shall make it good.</a:t>
            </a:r>
          </a:p>
          <a:p>
            <a:pPr algn="just"/>
            <a:r>
              <a:rPr lang="en-US" b="1" dirty="0" smtClean="0"/>
              <a:t>Art 2035. Any person commit a fault when he infringes any specific and explicit provisions of law.</a:t>
            </a:r>
          </a:p>
          <a:p>
            <a:pPr algn="just">
              <a:buFont typeface="Wingdings" pitchFamily="2" charset="2"/>
              <a:buChar char="Ø"/>
            </a:pPr>
            <a:r>
              <a:rPr lang="en-US" b="1" i="1" dirty="0" smtClean="0">
                <a:solidFill>
                  <a:srgbClr val="002060"/>
                </a:solidFill>
              </a:rPr>
              <a:t>Administrative liability, federal police proclamation,</a:t>
            </a:r>
          </a:p>
          <a:p>
            <a:pPr algn="just"/>
            <a:r>
              <a:rPr lang="en-US" b="1" dirty="0" smtClean="0"/>
              <a:t>Art 9(4) &amp; 11(3),  un lawful discharge of responsibility may  result in  dismissal of the member of the police in charge of the investigation.</a:t>
            </a:r>
          </a:p>
          <a:p>
            <a:pPr algn="just"/>
            <a:endParaRPr lang="en-US" b="1"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Exclusionary rule</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dirty="0" smtClean="0"/>
              <a:t>Art 19(5) of the FDRE constitution strictly requires  exclusion of confession obtained by  coercion.</a:t>
            </a:r>
          </a:p>
          <a:p>
            <a:pPr algn="just"/>
            <a:r>
              <a:rPr lang="en-US" sz="2800" b="1" dirty="0" smtClean="0"/>
              <a:t>The message  is that the person arrested must not be compelled to make confessions which could be used as evidence against them.</a:t>
            </a:r>
          </a:p>
          <a:p>
            <a:pPr algn="just"/>
            <a:r>
              <a:rPr lang="en-US" sz="2800" b="1" dirty="0" smtClean="0"/>
              <a:t>This applies whether the evidence obtained through coercion is very important or not.</a:t>
            </a:r>
          </a:p>
          <a:p>
            <a:pPr algn="just"/>
            <a:r>
              <a:rPr lang="en-US" sz="2800" b="1" dirty="0" smtClean="0"/>
              <a:t> In Ethiopia, therefore, the means does not justify the end.</a:t>
            </a:r>
          </a:p>
          <a:p>
            <a:pPr algn="just"/>
            <a:endParaRPr lang="en-US" sz="2800" b="1" dirty="0" smtClean="0"/>
          </a:p>
          <a:p>
            <a:pPr algn="just"/>
            <a:endParaRPr lang="en-US" sz="2800" b="1"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experience of other countries.</a:t>
            </a:r>
            <a:endParaRPr lang="en-US"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In U.S.A before the case of </a:t>
            </a:r>
            <a:r>
              <a:rPr lang="en-US" b="1" i="1" dirty="0" smtClean="0"/>
              <a:t>Arizona Vs Illuminate  </a:t>
            </a:r>
            <a:r>
              <a:rPr lang="en-US" b="1" dirty="0" smtClean="0"/>
              <a:t>the confessions which are obtained through coercion will be excluded irrespective of the relevancy of the evidence but since this time on if the government  proves through other means as to the   truthiness of the evidence secured through such coercion   it will no be excluded. </a:t>
            </a:r>
          </a:p>
          <a:p>
            <a:pPr algn="just"/>
            <a:r>
              <a:rPr lang="en-US" b="1" i="1" dirty="0" smtClean="0">
                <a:solidFill>
                  <a:srgbClr val="7030A0"/>
                </a:solidFill>
              </a:rPr>
              <a:t>Here the  end justifies the means.</a:t>
            </a:r>
          </a:p>
          <a:p>
            <a:endParaRPr lang="en-US" b="1"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The experience of……..</a:t>
            </a:r>
            <a:endParaRPr lang="en-US" i="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t>In Argentina,  the confession obtained through such coercion will not be admitted regardless of it’s the relevancy of the evidence.  </a:t>
            </a:r>
            <a:r>
              <a:rPr lang="en-US" b="1" i="1" dirty="0" smtClean="0">
                <a:solidFill>
                  <a:srgbClr val="7030A0"/>
                </a:solidFill>
              </a:rPr>
              <a:t>In Argentina, therefore, the means does not justify the end.</a:t>
            </a:r>
          </a:p>
          <a:p>
            <a:pPr algn="just"/>
            <a:r>
              <a:rPr lang="en-US" b="1" dirty="0" smtClean="0"/>
              <a:t>In Canada, admissibility of the coerced confession depends on the reliability or not.  Though involuntary confessions are inadmissible as a matter of principle they can be used in evidence to the extent that they are confirmed as true by subsequent tangible evidences</a:t>
            </a:r>
            <a:r>
              <a:rPr lang="en-US" b="1" i="1" dirty="0" smtClean="0">
                <a:solidFill>
                  <a:srgbClr val="7030A0"/>
                </a:solidFill>
              </a:rPr>
              <a:t>. Here the  end justifies the means.</a:t>
            </a:r>
          </a:p>
          <a:p>
            <a:endParaRPr lang="en-US" b="1"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fruit of poisonous tree is Poisson?</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algn="just"/>
            <a:r>
              <a:rPr lang="en-US" b="1" dirty="0" smtClean="0"/>
              <a:t>The fruit of poisonous tree is Poisson If another article important as evidence is discovered based on the forced confession is rejected regardless of its relevancy.</a:t>
            </a:r>
          </a:p>
          <a:p>
            <a:pPr algn="just"/>
            <a:r>
              <a:rPr lang="en-US" b="1" dirty="0" smtClean="0"/>
              <a:t>The experience of different countries.</a:t>
            </a:r>
          </a:p>
          <a:p>
            <a:pPr algn="just"/>
            <a:r>
              <a:rPr lang="en-US" b="1" dirty="0" smtClean="0">
                <a:solidFill>
                  <a:srgbClr val="7030A0"/>
                </a:solidFill>
              </a:rPr>
              <a:t>In Ethiopia the law is clear. The reading of Art.19(5) indicate that he fruit of poisonous tree is Poisson.</a:t>
            </a:r>
          </a:p>
          <a:p>
            <a:pPr algn="just"/>
            <a:r>
              <a:rPr lang="en-US" b="1" i="1" dirty="0" smtClean="0">
                <a:solidFill>
                  <a:srgbClr val="00B050"/>
                </a:solidFill>
              </a:rPr>
              <a:t>General </a:t>
            </a:r>
            <a:r>
              <a:rPr lang="en-US" b="1" i="1" dirty="0" err="1" smtClean="0">
                <a:solidFill>
                  <a:srgbClr val="00B050"/>
                </a:solidFill>
              </a:rPr>
              <a:t>Taxeq</a:t>
            </a:r>
            <a:r>
              <a:rPr lang="en-US" b="1" i="1" dirty="0" smtClean="0">
                <a:solidFill>
                  <a:srgbClr val="00B050"/>
                </a:solidFill>
              </a:rPr>
              <a:t> </a:t>
            </a:r>
            <a:r>
              <a:rPr lang="en-US" b="1" dirty="0" smtClean="0">
                <a:solidFill>
                  <a:srgbClr val="002060"/>
                </a:solidFill>
              </a:rPr>
              <a:t>advice,</a:t>
            </a:r>
            <a:r>
              <a:rPr lang="en-US" b="1" dirty="0" smtClean="0"/>
              <a:t> “ </a:t>
            </a:r>
            <a:r>
              <a:rPr lang="en-US" b="1" i="1" dirty="0" smtClean="0"/>
              <a:t>if the  accused by his initiative show some material evidences( Articles) by which he commit the offence the court must accept it even if the confession is obtained through coercion.</a:t>
            </a:r>
            <a:r>
              <a:rPr lang="en-US" b="1" dirty="0" smtClean="0"/>
              <a:t>”</a:t>
            </a:r>
          </a:p>
          <a:p>
            <a:pPr algn="just"/>
            <a:r>
              <a:rPr lang="en-US" b="1" dirty="0" smtClean="0">
                <a:solidFill>
                  <a:srgbClr val="7030A0"/>
                </a:solidFill>
              </a:rPr>
              <a:t>In Germany, The fruit of poisonous tree is not Poisson.</a:t>
            </a:r>
          </a:p>
          <a:p>
            <a:pPr algn="just"/>
            <a:r>
              <a:rPr lang="en-US" b="1" dirty="0" smtClean="0">
                <a:solidFill>
                  <a:srgbClr val="7030A0"/>
                </a:solidFill>
              </a:rPr>
              <a:t> In Argentina, The fruit of poisonous tree is not Poisson.</a:t>
            </a:r>
          </a:p>
          <a:p>
            <a:pPr algn="just">
              <a:buNone/>
            </a:pPr>
            <a:endParaRPr lang="en-US" b="1"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Search and Seizure: Definition, Scope, &amp; Types</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In addition to the  statements or confessions, oral testimonies of third parties other type of evidence may be used as evidence in a criminal trail.</a:t>
            </a:r>
          </a:p>
          <a:p>
            <a:pPr algn="just"/>
            <a:r>
              <a:rPr lang="en-US" b="1" dirty="0" smtClean="0"/>
              <a:t>Such type of evidence include, but not limited to,  tools which are used to commit a crime and fruits of a crime.</a:t>
            </a:r>
          </a:p>
          <a:p>
            <a:pPr algn="just"/>
            <a:r>
              <a:rPr lang="en-US" b="1" dirty="0" smtClean="0"/>
              <a:t>These type of evidences are obtained through the restriction of the right to privacy by searching the suspects person, his premises or interception of  communications.</a:t>
            </a:r>
          </a:p>
          <a:p>
            <a:pPr algn="just"/>
            <a:r>
              <a:rPr lang="en-US" b="1" dirty="0" smtClean="0"/>
              <a:t>Seizer refers to the actual possesation of a thing obtained through search to be used as evidence.</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t> </a:t>
            </a:r>
            <a:r>
              <a:rPr lang="en-US" b="1" i="1" dirty="0" smtClean="0">
                <a:solidFill>
                  <a:srgbClr val="00B050"/>
                </a:solidFill>
              </a:rPr>
              <a:t>The right to Privacy ( Art. 26 FDREC)</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
            </a:pPr>
            <a:r>
              <a:rPr lang="en-US" b="1" dirty="0" smtClean="0"/>
              <a:t>Everyone has the right to privacy  and no one should violet the rights over,</a:t>
            </a:r>
          </a:p>
          <a:p>
            <a:pPr lvl="3">
              <a:buFont typeface="Wingdings" pitchFamily="2" charset="2"/>
              <a:buChar char="Ø"/>
            </a:pPr>
            <a:r>
              <a:rPr lang="en-US" sz="2800" b="1" dirty="0" smtClean="0"/>
              <a:t>His home, person or property,  </a:t>
            </a:r>
          </a:p>
          <a:p>
            <a:pPr lvl="3">
              <a:buFont typeface="Wingdings" pitchFamily="2" charset="2"/>
              <a:buChar char="Ø"/>
            </a:pPr>
            <a:r>
              <a:rPr lang="en-US" sz="2800" b="1" dirty="0" smtClean="0"/>
              <a:t>Any property under his personal possession. </a:t>
            </a:r>
          </a:p>
          <a:p>
            <a:pPr lvl="3">
              <a:buFont typeface="Wingdings" pitchFamily="2" charset="2"/>
              <a:buChar char="Ø"/>
            </a:pPr>
            <a:r>
              <a:rPr lang="en-US" sz="2800" b="1" dirty="0" smtClean="0"/>
              <a:t>Notes and correspondence including postal letters, </a:t>
            </a:r>
          </a:p>
          <a:p>
            <a:pPr lvl="3">
              <a:buFont typeface="Wingdings" pitchFamily="2" charset="2"/>
              <a:buChar char="Ø"/>
            </a:pPr>
            <a:r>
              <a:rPr lang="en-US" sz="2800" b="1" dirty="0" smtClean="0"/>
              <a:t>Communications made by means of telephone,</a:t>
            </a:r>
          </a:p>
          <a:p>
            <a:pPr lvl="3">
              <a:buFont typeface="Wingdings" pitchFamily="2" charset="2"/>
              <a:buChar char="Ø"/>
            </a:pPr>
            <a:r>
              <a:rPr lang="en-US" sz="2800" b="1" dirty="0" smtClean="0"/>
              <a:t> Telecommunications and electronic devices.</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No restrictions may be placed except </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
            </a:pPr>
            <a:r>
              <a:rPr lang="en-US" sz="2800" b="1" dirty="0" smtClean="0"/>
              <a:t>No restrictions may be placed except, </a:t>
            </a:r>
          </a:p>
          <a:p>
            <a:pPr lvl="2" algn="just">
              <a:buFont typeface="Wingdings" pitchFamily="2" charset="2"/>
              <a:buChar char="Ø"/>
            </a:pPr>
            <a:r>
              <a:rPr lang="en-US" sz="2800" b="1" dirty="0" smtClean="0"/>
              <a:t>In compelling circumstances and</a:t>
            </a:r>
          </a:p>
          <a:p>
            <a:pPr lvl="2" algn="just">
              <a:buFont typeface="Wingdings" pitchFamily="2" charset="2"/>
              <a:buChar char="Ø"/>
            </a:pPr>
            <a:r>
              <a:rPr lang="en-US" sz="2800" b="1" dirty="0" smtClean="0"/>
              <a:t> In accordance with specific laws whose purposes shall  be</a:t>
            </a:r>
          </a:p>
          <a:p>
            <a:pPr lvl="4" algn="just"/>
            <a:r>
              <a:rPr lang="en-US" sz="2800" b="1" dirty="0" smtClean="0"/>
              <a:t>The safeguarding of national security or</a:t>
            </a:r>
          </a:p>
          <a:p>
            <a:pPr lvl="4" algn="just"/>
            <a:r>
              <a:rPr lang="en-US" sz="2800" b="1" dirty="0" smtClean="0"/>
              <a:t> Public peace, </a:t>
            </a:r>
          </a:p>
          <a:p>
            <a:pPr lvl="4" algn="just"/>
            <a:r>
              <a:rPr lang="en-US" sz="2800" b="1" dirty="0" smtClean="0"/>
              <a:t>Prevention of crimes or</a:t>
            </a:r>
          </a:p>
          <a:p>
            <a:pPr lvl="4" algn="just"/>
            <a:r>
              <a:rPr lang="en-US" sz="2800" b="1" dirty="0" smtClean="0"/>
              <a:t> Protection of health, </a:t>
            </a:r>
          </a:p>
          <a:p>
            <a:pPr lvl="4" algn="just"/>
            <a:r>
              <a:rPr lang="en-US" sz="2800" b="1" dirty="0" smtClean="0"/>
              <a:t>Public morality or  Rights and freedoms of others</a:t>
            </a:r>
          </a:p>
          <a:p>
            <a:endParaRPr lang="en-US" sz="2800" b="1"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Search with warrant  in </a:t>
            </a:r>
            <a:br>
              <a:rPr lang="en-US" b="1" i="1" dirty="0" smtClean="0">
                <a:solidFill>
                  <a:srgbClr val="00B050"/>
                </a:solidFill>
              </a:rPr>
            </a:br>
            <a:r>
              <a:rPr lang="en-US" b="1" i="1" dirty="0" smtClean="0">
                <a:solidFill>
                  <a:srgbClr val="00B050"/>
                </a:solidFill>
              </a:rPr>
              <a:t>Criminal Procedure Code</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3600" b="1" dirty="0" smtClean="0"/>
              <a:t>No premises may be searched unless the police officer or member of the police is in possession of a search warrant ( Art. 32(2) </a:t>
            </a:r>
          </a:p>
          <a:p>
            <a:pPr algn="just"/>
            <a:r>
              <a:rPr lang="en-US" sz="3600" b="1" dirty="0" smtClean="0"/>
              <a:t>No search warrant shall be issued unless the court is satisfied that the purposes of justice or of any inquiry, trial or other proceedings will be served .( Art 33(1)</a:t>
            </a:r>
          </a:p>
          <a:p>
            <a:pPr algn="just"/>
            <a:endParaRPr lang="en-US" sz="2400" b="1" dirty="0" smtClean="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police must show three things to get the warrant.</a:t>
            </a:r>
            <a:endParaRPr lang="en-US" b="1" i="1" dirty="0">
              <a:solidFill>
                <a:srgbClr val="00B050"/>
              </a:solidFill>
            </a:endParaRPr>
          </a:p>
        </p:txBody>
      </p:sp>
      <p:sp>
        <p:nvSpPr>
          <p:cNvPr id="3" name="Content Placeholder 2"/>
          <p:cNvSpPr>
            <a:spLocks noGrp="1"/>
          </p:cNvSpPr>
          <p:nvPr>
            <p:ph idx="1"/>
          </p:nvPr>
        </p:nvSpPr>
        <p:spPr/>
        <p:txBody>
          <a:bodyPr/>
          <a:lstStyle/>
          <a:p>
            <a:pPr algn="just"/>
            <a:r>
              <a:rPr lang="en-US" b="1" dirty="0" smtClean="0"/>
              <a:t>The police must show and the court must verify three things(Art.33(1).</a:t>
            </a:r>
          </a:p>
          <a:p>
            <a:pPr lvl="1" algn="just">
              <a:buFont typeface="Wingdings" pitchFamily="2" charset="2"/>
              <a:buChar char="Ø"/>
            </a:pPr>
            <a:r>
              <a:rPr lang="en-US" b="1" dirty="0" smtClean="0"/>
              <a:t>Reasonable possibility that the items  sought to be seized,  are found there</a:t>
            </a:r>
          </a:p>
          <a:p>
            <a:pPr lvl="1" algn="just">
              <a:buFont typeface="Wingdings" pitchFamily="2" charset="2"/>
              <a:buChar char="Ø"/>
            </a:pPr>
            <a:r>
              <a:rPr lang="en-US" b="1" dirty="0" smtClean="0"/>
              <a:t>The items if found and seized  will be used in evidence.</a:t>
            </a:r>
          </a:p>
          <a:p>
            <a:pPr lvl="1" algn="just">
              <a:buFont typeface="Wingdings" pitchFamily="2" charset="2"/>
              <a:buChar char="Ø"/>
            </a:pPr>
            <a:r>
              <a:rPr lang="en-US" b="1" dirty="0" smtClean="0"/>
              <a:t>The items to be seized are so important that the case would fail if not.</a:t>
            </a:r>
          </a:p>
          <a:p>
            <a:pPr>
              <a:buNone/>
            </a:pPr>
            <a:endParaRPr lang="en-US" b="1"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b="1" i="1" dirty="0" smtClean="0">
                <a:solidFill>
                  <a:srgbClr val="00B050"/>
                </a:solidFill>
              </a:rPr>
              <a:t>The  Anti- terrorism proclamation  (Pro. No.652/2009)</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buFont typeface="Wingdings" pitchFamily="2" charset="2"/>
              <a:buChar char="q"/>
            </a:pPr>
            <a:r>
              <a:rPr lang="en-US" sz="2400" b="1" dirty="0" smtClean="0">
                <a:solidFill>
                  <a:srgbClr val="0070C0"/>
                </a:solidFill>
              </a:rPr>
              <a:t>Art. 17( Covert search Warrant)</a:t>
            </a:r>
          </a:p>
          <a:p>
            <a:pPr algn="just"/>
            <a:r>
              <a:rPr lang="en-US" sz="2400" b="1" dirty="0" smtClean="0"/>
              <a:t>It require the police officer to request a covert(Secret)  search warrant from the court when he has reasonable ground to believe that two conditions exist.</a:t>
            </a:r>
          </a:p>
          <a:p>
            <a:pPr lvl="2" algn="just">
              <a:buFont typeface="Wingdings" pitchFamily="2" charset="2"/>
              <a:buChar char="Ø"/>
            </a:pPr>
            <a:r>
              <a:rPr lang="en-US" b="1" dirty="0" smtClean="0"/>
              <a:t>A crime has been or is likely to be committed.</a:t>
            </a:r>
          </a:p>
          <a:p>
            <a:pPr lvl="2" algn="just">
              <a:buFont typeface="Wingdings" pitchFamily="2" charset="2"/>
              <a:buChar char="Ø"/>
            </a:pPr>
            <a:r>
              <a:rPr lang="en-US" b="1" dirty="0" smtClean="0"/>
              <a:t>There is plan or preparation to commit the crime.</a:t>
            </a:r>
          </a:p>
          <a:p>
            <a:pPr lvl="2" algn="just">
              <a:buFont typeface="Wingdings" pitchFamily="2" charset="2"/>
              <a:buChar char="Ø"/>
            </a:pPr>
            <a:r>
              <a:rPr lang="en-US" b="1" dirty="0" smtClean="0"/>
              <a:t> The search is essential to prevent or take action.</a:t>
            </a:r>
          </a:p>
          <a:p>
            <a:pPr algn="just">
              <a:buFont typeface="Wingdings" pitchFamily="2" charset="2"/>
              <a:buChar char="q"/>
            </a:pPr>
            <a:r>
              <a:rPr lang="en-US" sz="2400" b="1" dirty="0" smtClean="0">
                <a:solidFill>
                  <a:srgbClr val="0070C0"/>
                </a:solidFill>
              </a:rPr>
              <a:t>Art. 18, The court would give the covert search warrant by testing;</a:t>
            </a:r>
          </a:p>
          <a:p>
            <a:pPr lvl="2" algn="just">
              <a:buFont typeface="Wingdings" pitchFamily="2" charset="2"/>
              <a:buChar char="Ø"/>
            </a:pPr>
            <a:r>
              <a:rPr lang="en-US" b="1" dirty="0" smtClean="0"/>
              <a:t>The nature or gravity of the terrorist act or</a:t>
            </a:r>
          </a:p>
          <a:p>
            <a:pPr lvl="2" algn="just">
              <a:buFont typeface="Wingdings" pitchFamily="2" charset="2"/>
              <a:buChar char="Ø"/>
            </a:pPr>
            <a:r>
              <a:rPr lang="en-US" b="1" dirty="0" smtClean="0"/>
              <a:t> The extent the measures to be taken  assist to prevent the act.</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Question then????</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All terrorist acts are by nature illegal, serious in consequence and  that similar punishment are prescribed for all terrorist acts. It is unclear, therefore , for the court how to  distinguish among the terrorist acts  in allowing covert search warrant for some and not for others.</a:t>
            </a:r>
          </a:p>
          <a:p>
            <a:r>
              <a:rPr lang="en-US" sz="2400" b="1" i="1" dirty="0" smtClean="0"/>
              <a:t> </a:t>
            </a:r>
            <a:r>
              <a:rPr lang="en-US" sz="2400" b="1" i="1" dirty="0" smtClean="0">
                <a:solidFill>
                  <a:srgbClr val="0070C0"/>
                </a:solidFill>
              </a:rPr>
              <a:t>Art.14 :The National Intelligence  Service may, up on getting court warrant:</a:t>
            </a:r>
          </a:p>
          <a:p>
            <a:pPr lvl="1">
              <a:buFont typeface="Wingdings" pitchFamily="2" charset="2"/>
              <a:buChar char="Ø"/>
            </a:pPr>
            <a:r>
              <a:rPr lang="en-US" sz="2400" b="1" dirty="0" smtClean="0"/>
              <a:t>Intercept or conduct surveillance on the telephone, fax, radio, internet, electronic, postal and similar communications of a person suspected of terrorism;</a:t>
            </a:r>
          </a:p>
          <a:p>
            <a:pPr lvl="1">
              <a:buFont typeface="Wingdings" pitchFamily="2" charset="2"/>
              <a:buChar char="Ø"/>
            </a:pPr>
            <a:r>
              <a:rPr lang="en-US" sz="2400" b="1" dirty="0" smtClean="0"/>
              <a:t>Enter into any premise in secret to enforce the interception; or</a:t>
            </a:r>
          </a:p>
          <a:p>
            <a:pPr lvl="1">
              <a:buFont typeface="Wingdings" pitchFamily="2" charset="2"/>
              <a:buChar char="Ø"/>
            </a:pPr>
            <a:r>
              <a:rPr lang="en-US" sz="2400" b="1" dirty="0" smtClean="0"/>
              <a:t>install or remove instruments enabling the interception.</a:t>
            </a:r>
          </a:p>
          <a:p>
            <a:endParaRPr lang="en-US" sz="2400" b="1"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i="1" dirty="0" smtClean="0">
                <a:solidFill>
                  <a:srgbClr val="00B050"/>
                </a:solidFill>
              </a:rPr>
              <a:t>Which court is competent to issue  the warrant?</a:t>
            </a:r>
            <a:endParaRPr lang="en-US" sz="3200"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dirty="0" smtClean="0"/>
              <a:t>When a police officer wish to search a given premises, he must apply to a court of law which will decide whether to accept the application and grant the warrant</a:t>
            </a:r>
          </a:p>
          <a:p>
            <a:pPr algn="just"/>
            <a:r>
              <a:rPr lang="en-US" sz="2800" b="1" dirty="0" smtClean="0"/>
              <a:t>Art 33(1) Cr. Pr. Co. provides that any court may issue a search warrant.</a:t>
            </a:r>
          </a:p>
          <a:p>
            <a:pPr algn="just"/>
            <a:r>
              <a:rPr lang="en-US" sz="2800" b="1" dirty="0" smtClean="0"/>
              <a:t> </a:t>
            </a:r>
            <a:r>
              <a:rPr lang="en-US" sz="2800" b="1" i="1" dirty="0" smtClean="0">
                <a:solidFill>
                  <a:srgbClr val="7030A0"/>
                </a:solidFill>
              </a:rPr>
              <a:t>However there are two exception,</a:t>
            </a:r>
          </a:p>
          <a:p>
            <a:pPr algn="just"/>
            <a:r>
              <a:rPr lang="en-US" sz="2800" b="1" dirty="0" smtClean="0"/>
              <a:t>Search warrants related to corruption offences must be collected from the court which has jurisdiction over the corruption offence.( Art. 7(4) the revised ant- corruption rules of evidence  proclamation.)</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case of Addis Courts</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Similarly Art 33(1) of the Cr. Pr. provision is not applicable to searches to be conducted in the territory of the city of Addis Ababa.</a:t>
            </a:r>
          </a:p>
          <a:p>
            <a:pPr algn="just"/>
            <a:r>
              <a:rPr lang="en-US" b="1" dirty="0" smtClean="0"/>
              <a:t>Art 2(2) of the AA city government revised charter(proclamation no.408/2004) vested Addis Ababa city courts with the sole  jurisdiction over cases brought within the city with out the prejudice of the federal courts jurisdiction.</a:t>
            </a:r>
          </a:p>
          <a:p>
            <a:pPr algn="just"/>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Search without warrant( Art. 32(2)</a:t>
            </a:r>
            <a:br>
              <a:rPr lang="en-US" b="1" i="1" dirty="0" smtClean="0">
                <a:solidFill>
                  <a:srgbClr val="00B050"/>
                </a:solidFill>
              </a:rPr>
            </a:br>
            <a:r>
              <a:rPr lang="en-US" b="1" i="1" dirty="0" smtClean="0">
                <a:solidFill>
                  <a:srgbClr val="00B050"/>
                </a:solidFill>
              </a:rPr>
              <a:t> Search of Premises</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buNone/>
            </a:pPr>
            <a:r>
              <a:rPr lang="en-US" b="1" dirty="0" smtClean="0"/>
              <a:t>1. </a:t>
            </a:r>
            <a:r>
              <a:rPr lang="en-US" b="1" i="1" dirty="0" smtClean="0">
                <a:solidFill>
                  <a:srgbClr val="0070C0"/>
                </a:solidFill>
              </a:rPr>
              <a:t>The case of hot pursuit( Art. 32(2)a Cr.Pr.</a:t>
            </a:r>
          </a:p>
          <a:p>
            <a:pPr algn="just">
              <a:buFont typeface="Wingdings" pitchFamily="2" charset="2"/>
              <a:buChar char="§"/>
            </a:pPr>
            <a:r>
              <a:rPr lang="en-US" b="1" dirty="0" smtClean="0"/>
              <a:t>An offender is  followed in hot pursuit and</a:t>
            </a:r>
          </a:p>
          <a:p>
            <a:pPr lvl="1" algn="just">
              <a:buFont typeface="Wingdings" pitchFamily="2" charset="2"/>
              <a:buChar char="Ø"/>
            </a:pPr>
            <a:r>
              <a:rPr lang="en-US" b="1" dirty="0" smtClean="0"/>
              <a:t>Inters premises or </a:t>
            </a:r>
          </a:p>
          <a:p>
            <a:pPr lvl="1" algn="just">
              <a:buFont typeface="Wingdings" pitchFamily="2" charset="2"/>
              <a:buChar char="Ø"/>
            </a:pPr>
            <a:r>
              <a:rPr lang="en-US" b="1" dirty="0" smtClean="0"/>
              <a:t>Disposes of articles there;</a:t>
            </a:r>
          </a:p>
          <a:p>
            <a:pPr algn="just">
              <a:buNone/>
            </a:pPr>
            <a:r>
              <a:rPr lang="en-US" b="1" i="1" dirty="0" smtClean="0">
                <a:solidFill>
                  <a:srgbClr val="0070C0"/>
                </a:solidFill>
              </a:rPr>
              <a:t>2. Exigent Circumstances (Art. 32(2)b) Cr.Pr.</a:t>
            </a:r>
          </a:p>
          <a:p>
            <a:pPr lvl="1" algn="just">
              <a:buFont typeface="Wingdings" pitchFamily="2" charset="2"/>
              <a:buChar char="Ø"/>
            </a:pPr>
            <a:r>
              <a:rPr lang="en-US" b="1" dirty="0" smtClean="0"/>
              <a:t>Information is given to an investigating police officer; </a:t>
            </a:r>
          </a:p>
          <a:p>
            <a:pPr lvl="1" algn="just">
              <a:buFont typeface="Wingdings" pitchFamily="2" charset="2"/>
              <a:buChar char="Ø"/>
            </a:pPr>
            <a:r>
              <a:rPr lang="en-US" b="1" dirty="0" smtClean="0"/>
              <a:t>Material as evidence in respect of an offence are concealed;</a:t>
            </a:r>
          </a:p>
          <a:p>
            <a:pPr lvl="1" algn="just">
              <a:buFont typeface="Wingdings" pitchFamily="2" charset="2"/>
              <a:buChar char="Ø"/>
            </a:pPr>
            <a:r>
              <a:rPr lang="en-US" b="1" dirty="0" smtClean="0"/>
              <a:t>Accusation or complaint has been made previously;</a:t>
            </a:r>
          </a:p>
          <a:p>
            <a:pPr lvl="1" algn="just">
              <a:buFont typeface="Wingdings" pitchFamily="2" charset="2"/>
              <a:buChar char="Ø"/>
            </a:pPr>
            <a:r>
              <a:rPr lang="en-US" b="1" dirty="0" smtClean="0"/>
              <a:t>The offence is punishable with more than three years; and</a:t>
            </a:r>
          </a:p>
          <a:p>
            <a:pPr lvl="1" algn="just">
              <a:buFont typeface="Wingdings" pitchFamily="2" charset="2"/>
              <a:buChar char="Ø"/>
            </a:pPr>
            <a:r>
              <a:rPr lang="en-US" b="1" dirty="0" smtClean="0"/>
              <a:t>By reason of delay the articles are likely to be removed.</a:t>
            </a:r>
          </a:p>
          <a:p>
            <a:pPr algn="just">
              <a:buFont typeface="Wingdings" pitchFamily="2" charset="2"/>
              <a:buChar char="§"/>
            </a:pPr>
            <a:endParaRPr lang="en-US" b="1" dirty="0" smtClean="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Question is????</a:t>
            </a:r>
            <a:endParaRPr lang="en-US" b="1" i="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buFont typeface="Wingdings" pitchFamily="2" charset="2"/>
              <a:buChar char="§"/>
            </a:pPr>
            <a:r>
              <a:rPr lang="en-US" b="1" dirty="0" smtClean="0"/>
              <a:t>What if the information is not given by third party but seen by the investigating officer?</a:t>
            </a:r>
          </a:p>
          <a:p>
            <a:pPr algn="just">
              <a:buFont typeface="Wingdings" pitchFamily="2" charset="2"/>
              <a:buChar char="§"/>
            </a:pPr>
            <a:r>
              <a:rPr lang="en-US" b="1" dirty="0" smtClean="0"/>
              <a:t>What if the person following the hot pursuit is not Police officer? What will happen?</a:t>
            </a:r>
          </a:p>
          <a:p>
            <a:pPr algn="just">
              <a:buNone/>
            </a:pPr>
            <a:r>
              <a:rPr lang="en-US" b="1" i="1" dirty="0" smtClean="0">
                <a:solidFill>
                  <a:srgbClr val="0070C0"/>
                </a:solidFill>
              </a:rPr>
              <a:t>3.Interception of Correspondence( Art 46(1) pr. No.434/2005 </a:t>
            </a:r>
          </a:p>
          <a:p>
            <a:pPr algn="just">
              <a:buFont typeface="Wingdings" pitchFamily="2" charset="2"/>
              <a:buChar char="Ø"/>
            </a:pPr>
            <a:r>
              <a:rPr lang="en-US" b="1" dirty="0" smtClean="0"/>
              <a:t>Head of the head of the Anti-corruption commission may order the interception of correspondence by telephone, telecommunications and electronic devices as well as by postal letters.</a:t>
            </a:r>
          </a:p>
          <a:p>
            <a:pPr algn="just"/>
            <a:endParaRPr lang="en-US"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Search of persons </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i="1" dirty="0" smtClean="0">
                <a:solidFill>
                  <a:srgbClr val="0070C0"/>
                </a:solidFill>
              </a:rPr>
              <a:t>Person. </a:t>
            </a:r>
            <a:r>
              <a:rPr lang="en-US" sz="2800" b="1" dirty="0" smtClean="0"/>
              <a:t>A police of the same sex can search arrested person where it is reasonably suspected that he has about his person any articles which may be material as evidence in respect of the offences suspected to have committed(Art.32).</a:t>
            </a:r>
          </a:p>
          <a:p>
            <a:pPr algn="just"/>
            <a:r>
              <a:rPr lang="en-US" sz="2800" b="1" i="1" dirty="0" smtClean="0">
                <a:solidFill>
                  <a:srgbClr val="0070C0"/>
                </a:solidFill>
              </a:rPr>
              <a:t>Physical Examination. </a:t>
            </a:r>
            <a:r>
              <a:rPr lang="en-US" sz="2800" b="1" dirty="0" smtClean="0"/>
              <a:t>where an investigating police officer considers it necessary to make physical examination of the accused he may require a registered medical practitioner to make such examination.(Art 34).</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Sudden Search,</a:t>
            </a:r>
            <a:r>
              <a:rPr lang="en-US" b="1" dirty="0" smtClean="0"/>
              <a:t> </a:t>
            </a:r>
            <a:r>
              <a:rPr lang="en-US" b="1" i="1" dirty="0" smtClean="0">
                <a:solidFill>
                  <a:srgbClr val="00B050"/>
                </a:solidFill>
              </a:rPr>
              <a:t>.( Art. 16 Anti- terrorism Proclamation.</a:t>
            </a:r>
            <a:endParaRPr lang="en-US" b="1" i="1" dirty="0">
              <a:solidFill>
                <a:srgbClr val="00B050"/>
              </a:solidFill>
            </a:endParaRPr>
          </a:p>
        </p:txBody>
      </p:sp>
      <p:sp>
        <p:nvSpPr>
          <p:cNvPr id="3" name="Content Placeholder 2"/>
          <p:cNvSpPr>
            <a:spLocks noGrp="1"/>
          </p:cNvSpPr>
          <p:nvPr>
            <p:ph idx="1"/>
          </p:nvPr>
        </p:nvSpPr>
        <p:spPr/>
        <p:txBody>
          <a:bodyPr/>
          <a:lstStyle/>
          <a:p>
            <a:pPr algn="just"/>
            <a:r>
              <a:rPr lang="en-US" b="1" dirty="0" smtClean="0"/>
              <a:t>Where a police officer has reasonable suspicion that a terrorist act may be committed, </a:t>
            </a:r>
            <a:r>
              <a:rPr lang="en-US" b="1" i="1" dirty="0" smtClean="0">
                <a:solidFill>
                  <a:srgbClr val="0070C0"/>
                </a:solidFill>
              </a:rPr>
              <a:t>with the permission of the Director General of the Federal Police, may stop vehicle and pedestrian </a:t>
            </a:r>
            <a:r>
              <a:rPr lang="en-US" b="1" dirty="0" smtClean="0"/>
              <a:t>in an area and conduct sudden search at any time, and seize relevant evidences.</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Other Articles than mentioned in search warrant.( Art. 33)</a:t>
            </a:r>
            <a:endParaRPr lang="en-US" b="1" i="1" dirty="0">
              <a:solidFill>
                <a:srgbClr val="00B050"/>
              </a:solidFill>
            </a:endParaRPr>
          </a:p>
        </p:txBody>
      </p:sp>
      <p:sp>
        <p:nvSpPr>
          <p:cNvPr id="3" name="Content Placeholder 2"/>
          <p:cNvSpPr>
            <a:spLocks noGrp="1"/>
          </p:cNvSpPr>
          <p:nvPr>
            <p:ph idx="1"/>
          </p:nvPr>
        </p:nvSpPr>
        <p:spPr/>
        <p:txBody>
          <a:bodyPr>
            <a:normAutofit fontScale="92500"/>
          </a:bodyPr>
          <a:lstStyle/>
          <a:p>
            <a:pPr algn="just"/>
            <a:r>
              <a:rPr lang="en-US" b="1" dirty="0" smtClean="0"/>
              <a:t>Every search warrant issued shall specify the property to be searched for and seized. </a:t>
            </a:r>
          </a:p>
          <a:p>
            <a:pPr algn="just"/>
            <a:r>
              <a:rPr lang="en-US" b="1" dirty="0" smtClean="0"/>
              <a:t>No investigating police officer may seize any property other than that specified in such warrant. ( Art. 33(2)</a:t>
            </a:r>
          </a:p>
          <a:p>
            <a:pPr algn="just"/>
            <a:r>
              <a:rPr lang="en-US" b="1" dirty="0" smtClean="0"/>
              <a:t>The list of the property seized must be made. </a:t>
            </a:r>
          </a:p>
          <a:p>
            <a:pPr algn="just"/>
            <a:r>
              <a:rPr lang="en-US" b="1" dirty="0" smtClean="0"/>
              <a:t>The list must be checked and signed by an independent person.</a:t>
            </a:r>
          </a:p>
          <a:p>
            <a:pPr algn="just"/>
            <a:r>
              <a:rPr lang="en-US" b="1" dirty="0" smtClean="0"/>
              <a:t>Any property seized which is required for the trial shall be preserved  until trail.</a:t>
            </a:r>
          </a:p>
          <a:p>
            <a:pPr algn="just"/>
            <a:r>
              <a:rPr lang="en-US" b="1" dirty="0" smtClean="0"/>
              <a:t>Any property not required may be returned(Art. 33(3)</a:t>
            </a:r>
            <a:endParaRPr lang="en-US" b="1"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b="1" i="1" dirty="0" smtClean="0">
                <a:solidFill>
                  <a:srgbClr val="00B050"/>
                </a:solidFill>
              </a:rPr>
              <a:t>Illegal Search &amp; Seizure and Remedies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
            </a:pPr>
            <a:r>
              <a:rPr lang="en-US" sz="2800" b="1" i="1" dirty="0" smtClean="0">
                <a:solidFill>
                  <a:srgbClr val="002060"/>
                </a:solidFill>
              </a:rPr>
              <a:t>Criminal liability ( Art.422, Criminal Code)</a:t>
            </a:r>
          </a:p>
          <a:p>
            <a:pPr algn="just"/>
            <a:r>
              <a:rPr lang="en-US" sz="2800" b="1" dirty="0" smtClean="0"/>
              <a:t>Any public servant who, without legal authority, executes acts of search, seizure or sequestration of a person's property, is punishable with rigorous imprisonment not exceeding seven years.</a:t>
            </a:r>
          </a:p>
          <a:p>
            <a:pPr>
              <a:buFont typeface="Wingdings" pitchFamily="2" charset="2"/>
              <a:buChar char="§"/>
            </a:pPr>
            <a:r>
              <a:rPr lang="en-US" sz="2800" b="1" dirty="0" smtClean="0"/>
              <a:t> </a:t>
            </a:r>
            <a:r>
              <a:rPr lang="en-US" sz="2800" b="1" i="1" dirty="0" smtClean="0">
                <a:solidFill>
                  <a:srgbClr val="002060"/>
                </a:solidFill>
              </a:rPr>
              <a:t>Civil Liability ( civil Code)</a:t>
            </a:r>
          </a:p>
          <a:p>
            <a:pPr>
              <a:buFont typeface="Wingdings" pitchFamily="2" charset="2"/>
              <a:buChar char="Ø"/>
            </a:pPr>
            <a:r>
              <a:rPr lang="en-US" sz="2800" b="1" dirty="0" smtClean="0"/>
              <a:t>Art 2053 , Tress pass</a:t>
            </a:r>
          </a:p>
          <a:p>
            <a:r>
              <a:rPr lang="en-US" sz="2800" b="1" dirty="0" smtClean="0"/>
              <a:t>A person commits an offence where, without due legal authority, he forces his way on the land or into the house of another, against the  will of the lawful owner or possessor of the land or house.</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 </a:t>
            </a:r>
            <a:r>
              <a:rPr lang="en-US" b="1" i="1" dirty="0" smtClean="0">
                <a:solidFill>
                  <a:srgbClr val="00B050"/>
                </a:solidFill>
              </a:rPr>
              <a:t>Civil Liability………</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b="1" i="1" dirty="0" smtClean="0">
                <a:solidFill>
                  <a:srgbClr val="0070C0"/>
                </a:solidFill>
              </a:rPr>
              <a:t>Art. 2035. - Infringement of a law</a:t>
            </a:r>
            <a:r>
              <a:rPr lang="en-US" b="1" i="1" dirty="0" smtClean="0"/>
              <a:t>.</a:t>
            </a:r>
          </a:p>
          <a:p>
            <a:pPr algn="just"/>
            <a:r>
              <a:rPr lang="en-US" b="1" dirty="0" smtClean="0"/>
              <a:t>A person commits a fault where he infringes any specific law.</a:t>
            </a:r>
          </a:p>
          <a:p>
            <a:pPr algn="just">
              <a:buFont typeface="Wingdings" pitchFamily="2" charset="2"/>
              <a:buChar char="§"/>
            </a:pPr>
            <a:r>
              <a:rPr lang="en-US" b="1" i="1" dirty="0" smtClean="0">
                <a:solidFill>
                  <a:srgbClr val="0070C0"/>
                </a:solidFill>
              </a:rPr>
              <a:t>Exclusion of evidence</a:t>
            </a:r>
          </a:p>
          <a:p>
            <a:pPr algn="just">
              <a:buFont typeface="Wingdings" pitchFamily="2" charset="2"/>
              <a:buChar char="Ø"/>
            </a:pPr>
            <a:r>
              <a:rPr lang="en-US" b="1" dirty="0" smtClean="0"/>
              <a:t>There is no specific law dealing with the exclusion of Illegally  searched and seized articles</a:t>
            </a:r>
          </a:p>
          <a:p>
            <a:pPr algn="just">
              <a:buFont typeface="Wingdings" pitchFamily="2" charset="2"/>
              <a:buChar char="Ø"/>
            </a:pPr>
            <a:r>
              <a:rPr lang="en-US" b="1" dirty="0" smtClean="0"/>
              <a:t>But the cumulative reading of Art 26(3), 9(1)  and13(1) FDRE constitution, calls for the exclusion of  such Evidences.</a:t>
            </a:r>
          </a:p>
          <a:p>
            <a:pPr algn="just"/>
            <a:endParaRPr lang="en-US" b="1"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solidFill>
                  <a:srgbClr val="00B050"/>
                </a:solidFill>
              </a:rPr>
              <a:t>Chapter Three</a:t>
            </a:r>
            <a:br>
              <a:rPr lang="en-US" sz="3600" b="1" dirty="0" smtClean="0">
                <a:solidFill>
                  <a:srgbClr val="00B050"/>
                </a:solidFill>
              </a:rPr>
            </a:br>
            <a:r>
              <a:rPr lang="en-US" sz="3600" b="1" i="1" dirty="0" smtClean="0">
                <a:solidFill>
                  <a:srgbClr val="00B050"/>
                </a:solidFill>
              </a:rPr>
              <a:t>Remand, Bail, and Habeas Corpus</a:t>
            </a:r>
            <a:endParaRPr lang="en-US" sz="3600"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Ø"/>
            </a:pPr>
            <a:r>
              <a:rPr lang="en-US" sz="2400" b="1" dirty="0" smtClean="0">
                <a:solidFill>
                  <a:srgbClr val="0070C0"/>
                </a:solidFill>
              </a:rPr>
              <a:t> </a:t>
            </a:r>
            <a:r>
              <a:rPr lang="en-US" sz="2400" b="1" i="1" dirty="0" smtClean="0">
                <a:solidFill>
                  <a:srgbClr val="0070C0"/>
                </a:solidFill>
              </a:rPr>
              <a:t>Introduction</a:t>
            </a:r>
          </a:p>
          <a:p>
            <a:pPr algn="just"/>
            <a:r>
              <a:rPr lang="en-US" sz="2400" b="1" dirty="0" smtClean="0"/>
              <a:t>After a person is arrested it will take some time for the court to decide whether the suspected person has committed the crime or not.</a:t>
            </a:r>
          </a:p>
          <a:p>
            <a:pPr algn="just"/>
            <a:r>
              <a:rPr lang="en-US" sz="2400" b="1" dirty="0" smtClean="0"/>
              <a:t>Whether the arrestee should remain in custody or be released pending the decision of the court is one of the central question  in any criminal proceedings.</a:t>
            </a:r>
          </a:p>
          <a:p>
            <a:pPr algn="just"/>
            <a:r>
              <a:rPr lang="en-US" sz="2400" b="1" dirty="0" smtClean="0"/>
              <a:t>Release on bond and bail are introduced as a response to this questions.</a:t>
            </a:r>
          </a:p>
          <a:p>
            <a:pPr algn="just"/>
            <a:r>
              <a:rPr lang="en-US" sz="2400" b="1" dirty="0" smtClean="0"/>
              <a:t>In both cases the suspect is released on condition that he will appear where he is needed.</a:t>
            </a:r>
          </a:p>
          <a:p>
            <a:pPr algn="just"/>
            <a:r>
              <a:rPr lang="en-US" sz="2400" b="1" dirty="0" smtClean="0"/>
              <a:t>But release on bail is not an absolute right in that there are times when  bail could be denied.</a:t>
            </a:r>
            <a:endParaRPr lang="en-US" sz="2400" b="1"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Remand in Custody</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q"/>
            </a:pPr>
            <a:r>
              <a:rPr lang="en-US" b="1" dirty="0" smtClean="0">
                <a:solidFill>
                  <a:srgbClr val="0070C0"/>
                </a:solidFill>
              </a:rPr>
              <a:t>Procedure after arrest( Art 29)</a:t>
            </a:r>
          </a:p>
          <a:p>
            <a:pPr algn="just"/>
            <a:r>
              <a:rPr lang="en-US" b="1" dirty="0" smtClean="0"/>
              <a:t>Where a suspect has been arrested he or she must be brought before the nearest court within forty-eight hours or so soon.</a:t>
            </a:r>
          </a:p>
          <a:p>
            <a:pPr algn="just">
              <a:buFont typeface="Wingdings" pitchFamily="2" charset="2"/>
              <a:buChar char="q"/>
            </a:pPr>
            <a:r>
              <a:rPr lang="en-US" b="1" dirty="0" smtClean="0">
                <a:solidFill>
                  <a:srgbClr val="0070C0"/>
                </a:solidFill>
              </a:rPr>
              <a:t> Detention( Art. 59)</a:t>
            </a:r>
          </a:p>
          <a:p>
            <a:pPr algn="just"/>
            <a:r>
              <a:rPr lang="en-US" b="1" dirty="0" smtClean="0"/>
              <a:t>The court before which the arrested person is brought (Art. 29) shall decide either</a:t>
            </a:r>
          </a:p>
          <a:p>
            <a:pPr lvl="1" algn="just">
              <a:buFont typeface="Wingdings" pitchFamily="2" charset="2"/>
              <a:buChar char="Ø"/>
            </a:pPr>
            <a:r>
              <a:rPr lang="en-US" b="1" dirty="0" smtClean="0"/>
              <a:t>Such person  be kept in custody  or</a:t>
            </a:r>
          </a:p>
          <a:p>
            <a:pPr lvl="1" algn="just">
              <a:buFont typeface="Wingdings" pitchFamily="2" charset="2"/>
              <a:buChar char="Ø"/>
            </a:pPr>
            <a:r>
              <a:rPr lang="en-US" b="1" dirty="0" smtClean="0"/>
              <a:t>Be released on bail.</a:t>
            </a:r>
          </a:p>
          <a:p>
            <a:pPr algn="just">
              <a:buFont typeface="Wingdings" pitchFamily="2" charset="2"/>
              <a:buChar char="q"/>
            </a:pPr>
            <a:r>
              <a:rPr lang="en-US" b="1" dirty="0" smtClean="0">
                <a:solidFill>
                  <a:srgbClr val="0070C0"/>
                </a:solidFill>
              </a:rPr>
              <a:t>Where the investigation is not completed</a:t>
            </a:r>
          </a:p>
          <a:p>
            <a:pPr lvl="1" algn="just">
              <a:buFont typeface="Wingdings" pitchFamily="2" charset="2"/>
              <a:buChar char="Ø"/>
            </a:pPr>
            <a:r>
              <a:rPr lang="en-US" b="1" dirty="0" smtClean="0"/>
              <a:t>The investigating officer may apply for a remand.</a:t>
            </a:r>
          </a:p>
          <a:p>
            <a:pPr lvl="1" algn="just">
              <a:buFont typeface="Wingdings" pitchFamily="2" charset="2"/>
              <a:buChar char="Ø"/>
            </a:pPr>
            <a:r>
              <a:rPr lang="en-US" b="1" dirty="0" smtClean="0"/>
              <a:t> No such remand shall be granted for more than fourteen days on each occasion.</a:t>
            </a:r>
          </a:p>
          <a:p>
            <a:pPr algn="just"/>
            <a:endParaRPr lang="en-US" b="1"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Release on Bail: Purpose     </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buFont typeface="Wingdings" pitchFamily="2" charset="2"/>
              <a:buChar char="q"/>
            </a:pPr>
            <a:r>
              <a:rPr lang="en-US" b="1" dirty="0" smtClean="0"/>
              <a:t>Bail serves two Purposes: individual and public interest.</a:t>
            </a:r>
          </a:p>
          <a:p>
            <a:pPr algn="just">
              <a:buFont typeface="Wingdings" pitchFamily="2" charset="2"/>
              <a:buChar char="q"/>
            </a:pPr>
            <a:r>
              <a:rPr lang="en-US" b="1" dirty="0" smtClean="0">
                <a:solidFill>
                  <a:srgbClr val="0070C0"/>
                </a:solidFill>
              </a:rPr>
              <a:t>The interest of suspected( by allowing bail) </a:t>
            </a:r>
          </a:p>
          <a:p>
            <a:pPr lvl="2" algn="just">
              <a:buFont typeface="Wingdings" pitchFamily="2" charset="2"/>
              <a:buChar char="Ø"/>
            </a:pPr>
            <a:r>
              <a:rPr lang="en-US" b="1" dirty="0" smtClean="0"/>
              <a:t>Presumption of innocence</a:t>
            </a:r>
          </a:p>
          <a:p>
            <a:pPr lvl="2" algn="just">
              <a:buFont typeface="Wingdings" pitchFamily="2" charset="2"/>
              <a:buChar char="Ø"/>
            </a:pPr>
            <a:r>
              <a:rPr lang="en-US" b="1" dirty="0" smtClean="0"/>
              <a:t>Preparation of evidence</a:t>
            </a:r>
          </a:p>
          <a:p>
            <a:pPr algn="just">
              <a:buFont typeface="Wingdings" pitchFamily="2" charset="2"/>
              <a:buChar char="q"/>
            </a:pPr>
            <a:r>
              <a:rPr lang="en-US" b="1" dirty="0" smtClean="0">
                <a:solidFill>
                  <a:srgbClr val="0070C0"/>
                </a:solidFill>
              </a:rPr>
              <a:t>Public interest( served by denying bail)</a:t>
            </a:r>
          </a:p>
          <a:p>
            <a:pPr lvl="2" algn="just">
              <a:buFont typeface="Wingdings" pitchFamily="2" charset="2"/>
              <a:buChar char="Ø"/>
            </a:pPr>
            <a:r>
              <a:rPr lang="en-US" b="1" dirty="0" smtClean="0"/>
              <a:t>Probability Punishment if found guilty</a:t>
            </a:r>
          </a:p>
          <a:p>
            <a:pPr lvl="2" algn="just">
              <a:buFont typeface="Wingdings" pitchFamily="2" charset="2"/>
              <a:buChar char="Ø"/>
            </a:pPr>
            <a:r>
              <a:rPr lang="en-US" b="1" dirty="0" smtClean="0"/>
              <a:t>Probability Make witness change their mind</a:t>
            </a:r>
          </a:p>
          <a:p>
            <a:pPr lvl="2" algn="just">
              <a:buFont typeface="Wingdings" pitchFamily="2" charset="2"/>
              <a:buChar char="Ø"/>
            </a:pPr>
            <a:r>
              <a:rPr lang="en-US" b="1" dirty="0" smtClean="0"/>
              <a:t>Probability Intimidation of witness</a:t>
            </a:r>
          </a:p>
          <a:p>
            <a:pPr lvl="2" algn="just">
              <a:buFont typeface="Wingdings" pitchFamily="2" charset="2"/>
              <a:buChar char="Ø"/>
            </a:pPr>
            <a:r>
              <a:rPr lang="en-US" b="1" dirty="0" smtClean="0"/>
              <a:t> Probability Destroy evidence.</a:t>
            </a:r>
          </a:p>
          <a:p>
            <a:pPr algn="just"/>
            <a:endParaRPr lang="en-US" b="1" dirty="0" smtClean="0"/>
          </a:p>
          <a:p>
            <a:pPr algn="just"/>
            <a:endParaRPr lang="en-US" b="1" dirty="0" smtClean="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Release on Bail: Principle</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
            </a:pPr>
            <a:r>
              <a:rPr lang="en-US" sz="2000" b="1" dirty="0" smtClean="0">
                <a:solidFill>
                  <a:srgbClr val="0070C0"/>
                </a:solidFill>
              </a:rPr>
              <a:t>There are three major factors that influence the  decision to grant bail</a:t>
            </a:r>
            <a:r>
              <a:rPr lang="en-US" sz="2000" b="1" dirty="0" smtClean="0"/>
              <a:t>.</a:t>
            </a:r>
          </a:p>
          <a:p>
            <a:pPr lvl="2" algn="just">
              <a:buFont typeface="Wingdings" pitchFamily="2" charset="2"/>
              <a:buChar char="Ø"/>
            </a:pPr>
            <a:r>
              <a:rPr lang="en-US" sz="2000" b="1" dirty="0" smtClean="0"/>
              <a:t>The status of the Investigation( Art 29 and 59)</a:t>
            </a:r>
          </a:p>
          <a:p>
            <a:pPr lvl="2" algn="just">
              <a:buFont typeface="Wingdings" pitchFamily="2" charset="2"/>
              <a:buChar char="Ø"/>
            </a:pPr>
            <a:r>
              <a:rPr lang="en-US" sz="2000" b="1" dirty="0" smtClean="0"/>
              <a:t> The type of the offence committed( Art 63) </a:t>
            </a:r>
          </a:p>
          <a:p>
            <a:pPr lvl="2" algn="just">
              <a:buFont typeface="Wingdings" pitchFamily="2" charset="2"/>
              <a:buChar char="Ø"/>
            </a:pPr>
            <a:r>
              <a:rPr lang="en-US" sz="2000" b="1" dirty="0" smtClean="0"/>
              <a:t>The behavior of the suspect( Art 67)( bail not allowed)</a:t>
            </a:r>
          </a:p>
          <a:p>
            <a:pPr algn="just">
              <a:buFont typeface="Wingdings" pitchFamily="2" charset="2"/>
              <a:buChar char="§"/>
            </a:pPr>
            <a:r>
              <a:rPr lang="en-US" sz="2000" b="1" dirty="0" smtClean="0">
                <a:solidFill>
                  <a:srgbClr val="0070C0"/>
                </a:solidFill>
              </a:rPr>
              <a:t>Art. 63  indicate that one can be released on bail if the offence with which he is charged is not punishable with,</a:t>
            </a:r>
          </a:p>
          <a:p>
            <a:pPr lvl="2" algn="just">
              <a:buFont typeface="Wingdings" pitchFamily="2" charset="2"/>
              <a:buChar char="Ø"/>
            </a:pPr>
            <a:r>
              <a:rPr lang="en-US" sz="2000" b="1" dirty="0" smtClean="0"/>
              <a:t> Death penalty or</a:t>
            </a:r>
          </a:p>
          <a:p>
            <a:pPr lvl="2" algn="just">
              <a:buFont typeface="Wingdings" pitchFamily="2" charset="2"/>
              <a:buChar char="Ø"/>
            </a:pPr>
            <a:r>
              <a:rPr lang="en-US" sz="2000" b="1" dirty="0" smtClean="0"/>
              <a:t>Rigorous imprisonment for15 years or more or</a:t>
            </a:r>
          </a:p>
          <a:p>
            <a:pPr lvl="2" algn="just">
              <a:buFont typeface="Wingdings" pitchFamily="2" charset="2"/>
              <a:buChar char="Ø"/>
            </a:pPr>
            <a:r>
              <a:rPr lang="en-US" sz="2000" b="1" dirty="0" smtClean="0"/>
              <a:t> The victim is dead or</a:t>
            </a:r>
          </a:p>
          <a:p>
            <a:pPr lvl="2" algn="just">
              <a:buFont typeface="Wingdings" pitchFamily="2" charset="2"/>
              <a:buChar char="Ø"/>
            </a:pPr>
            <a:r>
              <a:rPr lang="en-US" sz="2000" b="1" dirty="0" smtClean="0"/>
              <a:t>There is the possibility of death.</a:t>
            </a:r>
          </a:p>
          <a:p>
            <a:pPr algn="just">
              <a:buFont typeface="Wingdings" pitchFamily="2" charset="2"/>
              <a:buChar char="§"/>
            </a:pPr>
            <a:r>
              <a:rPr lang="en-US" sz="2000" b="1" dirty="0" smtClean="0">
                <a:solidFill>
                  <a:srgbClr val="7030A0"/>
                </a:solidFill>
              </a:rPr>
              <a:t>Even if the criteria stated under Art. 63( the punishment and the status of the victim) are  cumulative, accontrario reading  makes it alternative criteria for the public prosecutor.</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 </a:t>
            </a:r>
            <a:r>
              <a:rPr lang="en-US" b="1" i="1" dirty="0" smtClean="0">
                <a:solidFill>
                  <a:srgbClr val="00B050"/>
                </a:solidFill>
              </a:rPr>
              <a:t>The Question is…</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b="1" dirty="0" smtClean="0"/>
              <a:t>Are the courts allowed to ask whether the prosecutor has a </a:t>
            </a:r>
            <a:r>
              <a:rPr lang="en-US" b="1" i="1" dirty="0" smtClean="0"/>
              <a:t>Prima Facie </a:t>
            </a:r>
            <a:r>
              <a:rPr lang="en-US" b="1" dirty="0" smtClean="0"/>
              <a:t>case  evidencing the commission of the crime and require evidence warrant the arrest of the suspected person? Can the courts weigh evidence?</a:t>
            </a:r>
          </a:p>
          <a:p>
            <a:pPr algn="just">
              <a:buFont typeface="Wingdings" pitchFamily="2" charset="2"/>
              <a:buChar char="Ø"/>
            </a:pPr>
            <a:r>
              <a:rPr lang="en-US" b="1" dirty="0" smtClean="0"/>
              <a:t>The experience of different countries show that the courts must  check the weight of the evidence.</a:t>
            </a:r>
          </a:p>
          <a:p>
            <a:pPr algn="just">
              <a:buFont typeface="Wingdings" pitchFamily="2" charset="2"/>
              <a:buChar char="Ø"/>
            </a:pPr>
            <a:r>
              <a:rPr lang="en-US" b="1" dirty="0" smtClean="0"/>
              <a:t>USA Canada, Israel and Italy do weigh the evidence to check the alleged offence.</a:t>
            </a:r>
          </a:p>
          <a:p>
            <a:pPr algn="just">
              <a:buNone/>
            </a:pPr>
            <a:endParaRPr lang="en-US" b="1" dirty="0" smtClean="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fontScale="90000"/>
          </a:bodyPr>
          <a:lstStyle/>
          <a:p>
            <a:r>
              <a:rPr lang="en-US" b="1" i="1" dirty="0" smtClean="0">
                <a:solidFill>
                  <a:srgbClr val="00B050"/>
                </a:solidFill>
              </a:rPr>
              <a:t>When can bail be denied?(Art. 67):</a:t>
            </a:r>
            <a:br>
              <a:rPr lang="en-US" b="1" i="1" dirty="0" smtClean="0">
                <a:solidFill>
                  <a:srgbClr val="00B050"/>
                </a:solidFill>
              </a:rPr>
            </a:br>
            <a:r>
              <a:rPr lang="en-US" b="1" i="1" dirty="0" smtClean="0">
                <a:solidFill>
                  <a:srgbClr val="00B050"/>
                </a:solidFill>
              </a:rPr>
              <a:t>Preventive Detention.</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buFont typeface="Wingdings" pitchFamily="2" charset="2"/>
              <a:buChar char="§"/>
            </a:pPr>
            <a:r>
              <a:rPr lang="en-US" b="1" dirty="0" smtClean="0"/>
              <a:t>Bail will not be allowed when</a:t>
            </a:r>
          </a:p>
          <a:p>
            <a:pPr lvl="3">
              <a:buFont typeface="Wingdings" pitchFamily="2" charset="2"/>
              <a:buChar char="Ø"/>
            </a:pPr>
            <a:r>
              <a:rPr lang="en-US" sz="3200" b="1" dirty="0" smtClean="0"/>
              <a:t>Unlikely that he/ she will comply with the condition</a:t>
            </a:r>
          </a:p>
          <a:p>
            <a:pPr lvl="3">
              <a:buFont typeface="Wingdings" pitchFamily="2" charset="2"/>
              <a:buChar char="Ø"/>
            </a:pPr>
            <a:r>
              <a:rPr lang="en-US" sz="3200" b="1" dirty="0" smtClean="0"/>
              <a:t>Likely to commit other offences</a:t>
            </a:r>
          </a:p>
          <a:p>
            <a:pPr lvl="3">
              <a:buFont typeface="Wingdings" pitchFamily="2" charset="2"/>
              <a:buChar char="Ø"/>
            </a:pPr>
            <a:r>
              <a:rPr lang="en-US" sz="3200" b="1" dirty="0" smtClean="0"/>
              <a:t>Interfere with witnesses or tamper with evidence.</a:t>
            </a:r>
          </a:p>
          <a:p>
            <a:pPr>
              <a:buFont typeface="Wingdings" pitchFamily="2" charset="2"/>
              <a:buChar char="§"/>
            </a:pPr>
            <a:r>
              <a:rPr lang="en-US" b="1" dirty="0" smtClean="0"/>
              <a:t>There are argument on preventive detention.</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Argument</a:t>
            </a:r>
            <a:endParaRPr lang="en-US"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buFont typeface="Wingdings" pitchFamily="2" charset="2"/>
              <a:buChar char="q"/>
            </a:pPr>
            <a:r>
              <a:rPr lang="en-US" sz="2000" b="1" dirty="0" smtClean="0"/>
              <a:t> </a:t>
            </a:r>
            <a:r>
              <a:rPr lang="en-US" b="1" dirty="0" smtClean="0">
                <a:solidFill>
                  <a:srgbClr val="0070C0"/>
                </a:solidFill>
              </a:rPr>
              <a:t>The Argument Against preventive detention</a:t>
            </a:r>
          </a:p>
          <a:p>
            <a:pPr lvl="1" algn="just">
              <a:buFont typeface="Wingdings" pitchFamily="2" charset="2"/>
              <a:buChar char="Ø"/>
            </a:pPr>
            <a:r>
              <a:rPr lang="en-US" sz="3200" b="1" dirty="0" smtClean="0"/>
              <a:t>It is against the presumption of innocence</a:t>
            </a:r>
          </a:p>
          <a:p>
            <a:pPr lvl="1" algn="just">
              <a:buFont typeface="Wingdings" pitchFamily="2" charset="2"/>
              <a:buChar char="Ø"/>
            </a:pPr>
            <a:r>
              <a:rPr lang="en-US" sz="3200" b="1" dirty="0" smtClean="0"/>
              <a:t>It wrong to imprison a person on the basis of what the society fears the  they will do in the future rather than what they have done in the past.</a:t>
            </a:r>
          </a:p>
          <a:p>
            <a:pPr>
              <a:buFont typeface="Wingdings" pitchFamily="2" charset="2"/>
              <a:buChar char="q"/>
            </a:pPr>
            <a:r>
              <a:rPr lang="en-US" b="1" dirty="0" smtClean="0"/>
              <a:t> </a:t>
            </a:r>
            <a:r>
              <a:rPr lang="en-US" b="1" dirty="0" smtClean="0">
                <a:solidFill>
                  <a:srgbClr val="0070C0"/>
                </a:solidFill>
              </a:rPr>
              <a:t>The Argument  For preventive detention</a:t>
            </a:r>
          </a:p>
          <a:p>
            <a:pPr lvl="1" algn="just">
              <a:buFont typeface="Wingdings" pitchFamily="2" charset="2"/>
              <a:buChar char="Ø"/>
            </a:pPr>
            <a:r>
              <a:rPr lang="en-US" sz="3200" b="1" dirty="0" smtClean="0"/>
              <a:t>There are people who may relay on their wealth to flee the country.</a:t>
            </a:r>
          </a:p>
          <a:p>
            <a:pPr lvl="1" algn="just">
              <a:buFont typeface="Wingdings" pitchFamily="2" charset="2"/>
              <a:buChar char="Ø"/>
            </a:pPr>
            <a:r>
              <a:rPr lang="en-US" sz="3200" b="1" dirty="0" smtClean="0"/>
              <a:t>There are individuals who are motivated to commit other crimes.</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Amount of bail (Art. 69) </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The choice of the guarantors and the amount to be guaranteed shall be in the discretion of the court.</a:t>
            </a:r>
          </a:p>
          <a:p>
            <a:pPr algn="just"/>
            <a:r>
              <a:rPr lang="en-US" b="1" dirty="0" smtClean="0"/>
              <a:t>The court shall decide such matter having regard to:</a:t>
            </a:r>
          </a:p>
          <a:p>
            <a:pPr lvl="2" algn="just">
              <a:buFont typeface="Wingdings" pitchFamily="2" charset="2"/>
              <a:buChar char="Ø"/>
            </a:pPr>
            <a:r>
              <a:rPr lang="en-US" b="1" dirty="0" smtClean="0"/>
              <a:t>The seriousness of the charge; and</a:t>
            </a:r>
          </a:p>
          <a:p>
            <a:pPr lvl="2" algn="just">
              <a:buFont typeface="Wingdings" pitchFamily="2" charset="2"/>
              <a:buChar char="Ø"/>
            </a:pPr>
            <a:r>
              <a:rPr lang="en-US" b="1" dirty="0" smtClean="0"/>
              <a:t>The likelihood of the accused’s appearance: and</a:t>
            </a:r>
          </a:p>
          <a:p>
            <a:pPr lvl="2" algn="just">
              <a:buFont typeface="Wingdings" pitchFamily="2" charset="2"/>
              <a:buChar char="Ø"/>
            </a:pPr>
            <a:r>
              <a:rPr lang="en-US" b="1" dirty="0" smtClean="0"/>
              <a:t> The danger to public order which his release may occasion: and</a:t>
            </a:r>
          </a:p>
          <a:p>
            <a:pPr lvl="2" algn="just">
              <a:buFont typeface="Wingdings" pitchFamily="2" charset="2"/>
              <a:buChar char="Ø"/>
            </a:pPr>
            <a:r>
              <a:rPr lang="en-US" b="1" dirty="0" smtClean="0"/>
              <a:t>The resources of the accused and his guarantors.</a:t>
            </a:r>
          </a:p>
          <a:p>
            <a:pPr algn="just"/>
            <a:endParaRPr lang="en-US" b="1"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Review of bail by the lower court</a:t>
            </a:r>
            <a:endParaRPr lang="en-US" b="1" i="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solidFill>
                  <a:srgbClr val="0070C0"/>
                </a:solidFill>
              </a:rPr>
              <a:t>New facts(Art. 74.) </a:t>
            </a:r>
          </a:p>
          <a:p>
            <a:pPr algn="just"/>
            <a:r>
              <a:rPr lang="en-US" b="1" dirty="0" smtClean="0"/>
              <a:t>Where. certain facts are disclosed which were unknown when bail was granted the court may at any time of its own motion or on application reconsider the conditions on which bail has been granted and may order the released person to produce new sureties or to be remanded.</a:t>
            </a:r>
          </a:p>
          <a:p>
            <a:pPr algn="just"/>
            <a:r>
              <a:rPr lang="en-US" b="1" dirty="0" smtClean="0"/>
              <a:t>But can the P/P cause such a revision when he get stronger evidence?</a:t>
            </a:r>
          </a:p>
          <a:p>
            <a:pPr algn="just"/>
            <a:r>
              <a:rPr lang="en-US" b="1" dirty="0" smtClean="0"/>
              <a:t>Can the court require such a revision on  behave of the accused?</a:t>
            </a:r>
            <a:endParaRPr lang="en-US" b="1"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Review of bail by Appeal(Art.75)</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buFont typeface="Wingdings" pitchFamily="2" charset="2"/>
              <a:buChar char="§"/>
            </a:pPr>
            <a:r>
              <a:rPr lang="en-US" b="1" dirty="0" smtClean="0"/>
              <a:t>Where bail has been refused by a court, the accused may appeal  in writing within twenty days. </a:t>
            </a:r>
          </a:p>
          <a:p>
            <a:pPr algn="just"/>
            <a:r>
              <a:rPr lang="en-US" b="1" dirty="0" smtClean="0"/>
              <a:t>After considering the application the court shall dismiss the application  or grant bail.</a:t>
            </a:r>
          </a:p>
          <a:p>
            <a:pPr algn="just"/>
            <a:r>
              <a:rPr lang="en-US" b="1" dirty="0" smtClean="0"/>
              <a:t>No appeal shall lie against a decision given by the court of appeal under this Article.</a:t>
            </a:r>
          </a:p>
          <a:p>
            <a:pPr algn="just"/>
            <a:r>
              <a:rPr lang="en-US" b="1" dirty="0" smtClean="0">
                <a:solidFill>
                  <a:srgbClr val="0070C0"/>
                </a:solidFill>
              </a:rPr>
              <a:t>The question is</a:t>
            </a:r>
          </a:p>
          <a:p>
            <a:pPr lvl="2" algn="just">
              <a:buFont typeface="Wingdings" pitchFamily="2" charset="2"/>
              <a:buChar char="Ø"/>
            </a:pPr>
            <a:r>
              <a:rPr lang="en-US" b="1" dirty="0" smtClean="0"/>
              <a:t>Is appeal on interlocutory mater possible?</a:t>
            </a:r>
          </a:p>
          <a:p>
            <a:pPr lvl="2" algn="just">
              <a:buFont typeface="Wingdings" pitchFamily="2" charset="2"/>
              <a:buChar char="Ø"/>
            </a:pPr>
            <a:r>
              <a:rPr lang="en-US" b="1" dirty="0" smtClean="0"/>
              <a:t>Can the  prosecutor appeal ?</a:t>
            </a:r>
            <a:endParaRPr lang="en-US" b="1" dirty="0" smtClean="0">
              <a:solidFill>
                <a:srgbClr val="0070C0"/>
              </a:solidFill>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r>
              <a:rPr lang="en-US" b="1" i="1" dirty="0" smtClean="0">
                <a:solidFill>
                  <a:srgbClr val="00B050"/>
                </a:solidFill>
              </a:rPr>
              <a:t>Appeal for bail as exception?</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buFont typeface="Wingdings" pitchFamily="2" charset="2"/>
              <a:buChar char="§"/>
            </a:pPr>
            <a:r>
              <a:rPr lang="en-US" b="1" dirty="0" smtClean="0"/>
              <a:t>The principle of appeal is provided under Art.181 of the code, </a:t>
            </a:r>
            <a:r>
              <a:rPr lang="en-US" b="1" i="1" dirty="0" smtClean="0"/>
              <a:t>which allow an appeal from a judgment, conviction, discharging or acquittal of an </a:t>
            </a:r>
            <a:r>
              <a:rPr lang="en-US" b="1" i="1" smtClean="0"/>
              <a:t>accused person.</a:t>
            </a:r>
            <a:endParaRPr lang="en-US" b="1" i="1" dirty="0" smtClean="0"/>
          </a:p>
          <a:p>
            <a:pPr algn="just">
              <a:buFont typeface="Wingdings" pitchFamily="2" charset="2"/>
              <a:buChar char="§"/>
            </a:pPr>
            <a:r>
              <a:rPr lang="en-US" b="1" dirty="0" smtClean="0"/>
              <a:t>This article expressly prohibit appeal on interlocutory matters of any kind, indicates that appeal is possible when a case is finally deiced.</a:t>
            </a:r>
          </a:p>
          <a:p>
            <a:pPr algn="just">
              <a:buFont typeface="Wingdings" pitchFamily="2" charset="2"/>
              <a:buChar char="§"/>
            </a:pPr>
            <a:r>
              <a:rPr lang="en-US" b="1" dirty="0" smtClean="0"/>
              <a:t>Art 75 which authorizes appeal from a bail ruling, can be taken as exception to the principle governing appeal in criminal case.</a:t>
            </a:r>
            <a:endParaRPr lang="en-US" b="1"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Can the Prosecutor appeal?</a:t>
            </a:r>
            <a:endParaRPr lang="en-US" b="1" i="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solidFill>
                  <a:srgbClr val="0070C0"/>
                </a:solidFill>
              </a:rPr>
              <a:t>Mekonnen Negash Vs P/ Prosecutor(A.N 35627/2000</a:t>
            </a:r>
          </a:p>
          <a:p>
            <a:pPr algn="just"/>
            <a:r>
              <a:rPr lang="en-US" b="1" dirty="0" smtClean="0"/>
              <a:t>The defendant was accused of negligent homicide</a:t>
            </a:r>
          </a:p>
          <a:p>
            <a:pPr algn="just"/>
            <a:r>
              <a:rPr lang="en-US" b="1" dirty="0" smtClean="0"/>
              <a:t>The lower court refused to grant bail on the ground that the offence is not bailable</a:t>
            </a:r>
          </a:p>
          <a:p>
            <a:pPr algn="just"/>
            <a:r>
              <a:rPr lang="en-US" b="1" dirty="0" smtClean="0"/>
              <a:t>The defendant appealed to the zonal high court of the Amhara region  and the high court reversed the ruling of the lower court.</a:t>
            </a:r>
          </a:p>
          <a:p>
            <a:pPr algn="just"/>
            <a:r>
              <a:rPr lang="en-US" b="1" dirty="0" smtClean="0"/>
              <a:t>The p/p appealed to the Regional supreme court  but the supreme court rejected saying the right to appeal is exhausted.</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Can the Prosecutor appeal?.....</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smtClean="0"/>
              <a:t>The p/p appealed to the cassation bench of the federal supreme court.</a:t>
            </a:r>
          </a:p>
          <a:p>
            <a:pPr algn="just"/>
            <a:r>
              <a:rPr lang="en-US" b="1" dirty="0" smtClean="0"/>
              <a:t>The federal supreme court rejected the decision of the regional supreme court and ordered to entertain the case by deciding two issues,</a:t>
            </a:r>
          </a:p>
          <a:p>
            <a:pPr lvl="1" algn="just">
              <a:buFont typeface="Wingdings" pitchFamily="2" charset="2"/>
              <a:buChar char="Ø"/>
            </a:pPr>
            <a:r>
              <a:rPr lang="en-US" b="1" dirty="0" smtClean="0"/>
              <a:t>Firstly, the Federal Supreme court decided that the p/p has the right to appeal by analogy even if Art. 75 of the Cr. Pr. deals with the right of the accused only</a:t>
            </a:r>
          </a:p>
          <a:p>
            <a:pPr lvl="1" algn="just">
              <a:buFont typeface="Wingdings" pitchFamily="2" charset="2"/>
              <a:buChar char="Ø"/>
            </a:pPr>
            <a:r>
              <a:rPr lang="en-US" b="1" dirty="0" smtClean="0"/>
              <a:t>Secondly, the supreme court decided that the P/P is not prevented when the appellate court reversed the lower court decision but the accused is not allowed.</a:t>
            </a:r>
          </a:p>
          <a:p>
            <a:pPr algn="just">
              <a:buFont typeface="Wingdings" pitchFamily="2" charset="2"/>
              <a:buChar char="q"/>
            </a:pPr>
            <a:r>
              <a:rPr lang="en-US" b="1" dirty="0" smtClean="0">
                <a:solidFill>
                  <a:srgbClr val="7030A0"/>
                </a:solidFill>
              </a:rPr>
              <a:t>According to Art 5 of  Anti- corruption  rules of evidence proclamation, Anyone aggrieved by the decision of the lower court on the issue of bail has the right of appeal</a:t>
            </a:r>
          </a:p>
          <a:p>
            <a:pPr lvl="1" algn="just">
              <a:buFont typeface="Wingdings" pitchFamily="2" charset="2"/>
              <a:buChar char="Ø"/>
            </a:pPr>
            <a:endParaRPr lang="en-US" b="1" dirty="0" smtClean="0">
              <a:solidFill>
                <a:srgbClr val="7030A0"/>
              </a:solidFill>
            </a:endParaRPr>
          </a:p>
          <a:p>
            <a:endParaRPr lang="en-US" b="1"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Habeas corpus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dirty="0" smtClean="0"/>
              <a:t>Habeas corpus   simply mean you have the body. It refers to the judicial determination of the legality of a person’s detention.</a:t>
            </a:r>
          </a:p>
          <a:p>
            <a:pPr algn="just"/>
            <a:r>
              <a:rPr lang="en-US" sz="2800" b="1" dirty="0" smtClean="0"/>
              <a:t>The essence and purpose of the right to habeas corpus is related with preferential freedom.</a:t>
            </a:r>
          </a:p>
          <a:p>
            <a:pPr algn="just"/>
            <a:r>
              <a:rPr lang="en-US" sz="2800" b="1" dirty="0" smtClean="0"/>
              <a:t>The right to Habeas corpus could be described as  preferential freedom because it is equipped with two instruments of protection which the other right contained in the international treaties dos not  enjoy: the right to specific remedy and the right compensation to the unlawful interference to such a right.</a:t>
            </a:r>
          </a:p>
          <a:p>
            <a:pPr algn="just"/>
            <a:endParaRPr lang="en-US" sz="2800" b="1" dirty="0" smtClean="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Available for any person?</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Under Art.9(4) of the ICCPR any one who is deprived of his liberty by arrest or detention shall be entitled  to take proceedings before a court, </a:t>
            </a:r>
            <a:r>
              <a:rPr lang="en-US" sz="2400" b="1" i="1" dirty="0" smtClean="0">
                <a:solidFill>
                  <a:srgbClr val="C00000"/>
                </a:solidFill>
              </a:rPr>
              <a:t>in order that the court may decide without delay on the lawfulness of his detention and order his release if the detention is not lawful.</a:t>
            </a:r>
          </a:p>
          <a:p>
            <a:r>
              <a:rPr lang="en-US" sz="2400" b="1" dirty="0" smtClean="0"/>
              <a:t>Thus the guarantee is available to  any arrestee or detainee irrespective of the lawfulness of the arrest or detention.</a:t>
            </a:r>
          </a:p>
          <a:p>
            <a:pPr algn="just"/>
            <a:r>
              <a:rPr lang="en-US" sz="2400" b="1" dirty="0" smtClean="0">
                <a:solidFill>
                  <a:srgbClr val="0070C0"/>
                </a:solidFill>
              </a:rPr>
              <a:t>Art. 19(4) FDRE Constitution</a:t>
            </a:r>
          </a:p>
          <a:p>
            <a:pPr algn="just">
              <a:buFont typeface="Wingdings" pitchFamily="2" charset="2"/>
              <a:buChar char="Ø"/>
            </a:pPr>
            <a:r>
              <a:rPr lang="en-US" sz="2400" b="1" i="1" dirty="0" smtClean="0"/>
              <a:t>“All persons have an inalienable right to petition the court to order their physical release where the arresting police officer or the law enforcer fails to bring them before a court within the prescribed time and to provide reasons for their arrest.”</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i="1" dirty="0" smtClean="0">
                <a:solidFill>
                  <a:srgbClr val="00B050"/>
                </a:solidFill>
              </a:rPr>
              <a:t>Application for habeas corpus (Art. 177 civ. Pr)</a:t>
            </a:r>
            <a:r>
              <a:rPr lang="en-US" b="1" i="1" dirty="0" smtClean="0">
                <a:solidFill>
                  <a:srgbClr val="00B050"/>
                </a:solidFill>
              </a:rPr>
              <a:t> </a:t>
            </a:r>
          </a:p>
        </p:txBody>
      </p:sp>
      <p:sp>
        <p:nvSpPr>
          <p:cNvPr id="3" name="Content Placeholder 2"/>
          <p:cNvSpPr>
            <a:spLocks noGrp="1"/>
          </p:cNvSpPr>
          <p:nvPr>
            <p:ph idx="1"/>
          </p:nvPr>
        </p:nvSpPr>
        <p:spPr/>
        <p:txBody>
          <a:bodyPr>
            <a:normAutofit fontScale="92500"/>
          </a:bodyPr>
          <a:lstStyle/>
          <a:p>
            <a:pPr algn="just"/>
            <a:r>
              <a:rPr lang="en-US" b="1" dirty="0" smtClean="0"/>
              <a:t>An application for habeas corpus may be made to a Court by any person arrested illegally</a:t>
            </a:r>
          </a:p>
          <a:p>
            <a:pPr algn="just"/>
            <a:r>
              <a:rPr lang="en-US" b="1" dirty="0" smtClean="0"/>
              <a:t>The application shall be accompanied by an affidavit by the applicant stating the name of the person under whose custody he is, the nature and place of the restraint and the name of the persons, if any, who can testify to the facts alleged in the application.</a:t>
            </a:r>
          </a:p>
          <a:p>
            <a:pPr algn="just"/>
            <a:r>
              <a:rPr lang="en-US" b="1" dirty="0" smtClean="0"/>
              <a:t>Where the person restrained if for whatever reason unable to make the application any  person on his behalf  can apply to the competent court.</a:t>
            </a:r>
          </a:p>
          <a:p>
            <a:pPr algn="just"/>
            <a:endParaRPr lang="en-US" b="1" dirty="0" smtClean="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summon to appear (Art. 178)</a:t>
            </a:r>
            <a:endParaRPr lang="en-US"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On receiving an application  the Court shall forthwith issue a summons directing the person under whose custody the  arrested person is to appear  together with the arrested person and to show cause why the person restrained should not be released</a:t>
            </a:r>
          </a:p>
          <a:p>
            <a:pPr algn="just"/>
            <a:r>
              <a:rPr lang="en-US" b="1" dirty="0" smtClean="0"/>
              <a:t>Summonses shall also be issued for the appearance of such persons as may be able to testify to the facts alleged in the application.</a:t>
            </a:r>
          </a:p>
          <a:p>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Hearing  and decision On  the application(</a:t>
            </a:r>
            <a:r>
              <a:rPr lang="en-US" b="1" dirty="0" smtClean="0">
                <a:solidFill>
                  <a:srgbClr val="00B050"/>
                </a:solidFill>
              </a:rPr>
              <a:t> Art. 179)</a:t>
            </a:r>
            <a:endParaRPr lang="en-US" b="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Where the court is satisfied that the restraint is unlawful, it shall order the immediate release of the person restrained.</a:t>
            </a:r>
          </a:p>
          <a:p>
            <a:pPr algn="just"/>
            <a:r>
              <a:rPr lang="en-US" b="1" dirty="0" smtClean="0"/>
              <a:t>Where the court is in doubt as to the truth or otherwise of the facts alleged in the application, it may order the release of the person  restrained on his executing a bond, with or without sureties.</a:t>
            </a:r>
            <a:endParaRPr lang="en-US" b="1"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Domestic Law: Only Physical release?</a:t>
            </a:r>
            <a:endParaRPr lang="en-US" b="1" i="1" dirty="0">
              <a:solidFill>
                <a:srgbClr val="00B050"/>
              </a:solidFill>
            </a:endParaRPr>
          </a:p>
        </p:txBody>
      </p:sp>
      <p:sp>
        <p:nvSpPr>
          <p:cNvPr id="3" name="Content Placeholder 2"/>
          <p:cNvSpPr>
            <a:spLocks noGrp="1"/>
          </p:cNvSpPr>
          <p:nvPr>
            <p:ph idx="1"/>
          </p:nvPr>
        </p:nvSpPr>
        <p:spPr/>
        <p:txBody>
          <a:bodyPr>
            <a:normAutofit fontScale="77500" lnSpcReduction="20000"/>
          </a:bodyPr>
          <a:lstStyle/>
          <a:p>
            <a:pPr algn="just"/>
            <a:r>
              <a:rPr lang="en-US" b="1" dirty="0" smtClean="0"/>
              <a:t>Under Art. 177(1) of the Civ. Pr. only a person whose liberty is restrained otherwise  than in pursuant of an order of dually made  in accordance with the Civil or Criminal procedure may apply for habeas corpus.</a:t>
            </a:r>
          </a:p>
          <a:p>
            <a:pPr algn="just"/>
            <a:r>
              <a:rPr lang="en-US" b="1" dirty="0" smtClean="0"/>
              <a:t>Art.19(4) of the FDRE constitution recognizes the arrestees' right to  petition to the court to order his physical release only where the arresting police officer fails to bring him before a court within forty eight hours and to provide reasons for his arrest.</a:t>
            </a:r>
          </a:p>
          <a:p>
            <a:pPr algn="just"/>
            <a:r>
              <a:rPr lang="en-US" b="1" dirty="0" smtClean="0"/>
              <a:t>Under the domestic law, then, the right to habeas exist only for arrests  that are made illegally. Those who are arrested legally are not entitled to apply.</a:t>
            </a:r>
          </a:p>
          <a:p>
            <a:pPr algn="just"/>
            <a:r>
              <a:rPr lang="en-US" b="1" dirty="0" smtClean="0"/>
              <a:t>Under Art. 19(4) of  the FDRE constitution the arrestee's petition the court to order their physical release not to obtain court review of lawfulness of the arrest intended for payment of compensation.</a:t>
            </a:r>
            <a:endParaRPr lang="en-US" b="1"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Is habeas corpus applicable after judgment is rendered?</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dirty="0" smtClean="0"/>
              <a:t>The provisions of the Civ.Pr. related to habeas corpus exclude the opportunity for the convict to challenge  the judgment on the basis of which he is detained. </a:t>
            </a:r>
          </a:p>
          <a:p>
            <a:pPr algn="just"/>
            <a:r>
              <a:rPr lang="en-US" sz="2800" b="1" dirty="0" smtClean="0"/>
              <a:t>The constitution seems also to  follow similar stand.</a:t>
            </a:r>
          </a:p>
          <a:p>
            <a:pPr algn="just"/>
            <a:r>
              <a:rPr lang="en-US" sz="2800" b="1" dirty="0" smtClean="0"/>
              <a:t>Habeas corpus  in criminal proceeding, therefore, is to be exercised as a pretrial right that an arrestee but not a convict may use to demand his physical release.</a:t>
            </a:r>
          </a:p>
          <a:p>
            <a:pPr algn="just"/>
            <a:r>
              <a:rPr lang="en-US" sz="2800" b="1" dirty="0" smtClean="0"/>
              <a:t>Once a person is convicted, therefore, appeal is his only option domestically.</a:t>
            </a:r>
          </a:p>
          <a:p>
            <a:pPr algn="just"/>
            <a:endParaRPr lang="en-US" sz="2800" b="1"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Is habeas corpus applicable after judgment is rendered?............</a:t>
            </a:r>
            <a:endParaRPr lang="en-US" dirty="0"/>
          </a:p>
        </p:txBody>
      </p:sp>
      <p:sp>
        <p:nvSpPr>
          <p:cNvPr id="3" name="Content Placeholder 2"/>
          <p:cNvSpPr>
            <a:spLocks noGrp="1"/>
          </p:cNvSpPr>
          <p:nvPr>
            <p:ph idx="1"/>
          </p:nvPr>
        </p:nvSpPr>
        <p:spPr/>
        <p:txBody>
          <a:bodyPr>
            <a:normAutofit/>
          </a:bodyPr>
          <a:lstStyle/>
          <a:p>
            <a:pPr algn="just"/>
            <a:r>
              <a:rPr lang="en-US" b="1" dirty="0" smtClean="0"/>
              <a:t>There is no institution of collateral attack  by which the convicted challenge  a final court judgment just like that of U.S.A.</a:t>
            </a:r>
          </a:p>
          <a:p>
            <a:pPr algn="just"/>
            <a:r>
              <a:rPr lang="en-US" b="1" i="1" dirty="0" smtClean="0">
                <a:solidFill>
                  <a:srgbClr val="0070C0"/>
                </a:solidFill>
              </a:rPr>
              <a:t>Treshel</a:t>
            </a:r>
            <a:r>
              <a:rPr lang="en-US" b="1" dirty="0" smtClean="0"/>
              <a:t> believe that while it is certainly correct to say that habeas corpus  proceedings cannot lead to reexamination of a judgment, a number of other issues could arise through habeas that constitute grounds to challenge the detention such as  the identity of the prisoner with the person sentenced or a statute of limitation.</a:t>
            </a:r>
          </a:p>
          <a:p>
            <a:endParaRPr 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 The U.S.A Experience</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algn="just"/>
            <a:r>
              <a:rPr lang="en-US" b="1" dirty="0" smtClean="0"/>
              <a:t>In U.S Habeas corpus is a known means of collateral attack on a detention based on a final judgment rendered by a competent court.</a:t>
            </a:r>
          </a:p>
          <a:p>
            <a:pPr algn="just"/>
            <a:r>
              <a:rPr lang="en-US" b="1" dirty="0" smtClean="0"/>
              <a:t>It is considered a collateral attack because it is not a continuation of the criminal process. </a:t>
            </a:r>
          </a:p>
          <a:p>
            <a:pPr algn="just"/>
            <a:r>
              <a:rPr lang="en-US" b="1" dirty="0" smtClean="0"/>
              <a:t>The prisoner may apply for release under habeas corpus on the ground that his conviction  was obtained in violation of the U.S.A constitution or other laws.</a:t>
            </a:r>
          </a:p>
          <a:p>
            <a:pPr algn="just"/>
            <a:r>
              <a:rPr lang="en-US" b="1" dirty="0" smtClean="0"/>
              <a:t> The most common ground could be</a:t>
            </a:r>
          </a:p>
          <a:p>
            <a:pPr lvl="1" algn="just">
              <a:buFont typeface="Wingdings" pitchFamily="2" charset="2"/>
              <a:buChar char="Ø"/>
            </a:pPr>
            <a:r>
              <a:rPr lang="en-US" b="1" dirty="0" smtClean="0"/>
              <a:t>Ineffective assistance of the legal council, </a:t>
            </a:r>
          </a:p>
          <a:p>
            <a:pPr lvl="1" algn="just">
              <a:buFont typeface="Wingdings" pitchFamily="2" charset="2"/>
              <a:buChar char="Ø"/>
            </a:pPr>
            <a:r>
              <a:rPr lang="en-US" b="1" dirty="0" smtClean="0"/>
              <a:t>Incriminating statement obtained by the police,</a:t>
            </a:r>
          </a:p>
          <a:p>
            <a:pPr lvl="1" algn="just">
              <a:buFont typeface="Wingdings" pitchFamily="2" charset="2"/>
              <a:buChar char="Ø"/>
            </a:pPr>
            <a:r>
              <a:rPr lang="en-US" b="1" dirty="0" smtClean="0"/>
              <a:t> Improper prosecutorial or judicial conduct and</a:t>
            </a:r>
          </a:p>
          <a:p>
            <a:pPr lvl="1" algn="just">
              <a:buFont typeface="Wingdings" pitchFamily="2" charset="2"/>
              <a:buChar char="Ø"/>
            </a:pPr>
            <a:r>
              <a:rPr lang="en-US" b="1" dirty="0" smtClean="0"/>
              <a:t> Insufficient evidence.</a:t>
            </a:r>
            <a:endParaRPr lang="en-US" b="1"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B050"/>
                </a:solidFill>
              </a:rPr>
              <a:t>Chapter Four </a:t>
            </a:r>
            <a:r>
              <a:rPr lang="en-US" b="1" dirty="0" smtClean="0"/>
              <a:t/>
            </a:r>
            <a:br>
              <a:rPr lang="en-US" b="1" dirty="0" smtClean="0"/>
            </a:br>
            <a:r>
              <a:rPr lang="en-US" b="1" dirty="0" smtClean="0"/>
              <a:t>  </a:t>
            </a:r>
            <a:r>
              <a:rPr lang="en-US" b="1" dirty="0" smtClean="0">
                <a:solidFill>
                  <a:srgbClr val="002060"/>
                </a:solidFill>
              </a:rPr>
              <a:t>Decisions of the Public Prosecutor</a:t>
            </a:r>
            <a:r>
              <a:rPr lang="en-US" b="1" i="1" dirty="0" smtClean="0">
                <a:solidFill>
                  <a:srgbClr val="002060"/>
                </a:solidFill>
              </a:rPr>
              <a:t> </a:t>
            </a:r>
            <a:endParaRPr lang="en-US" dirty="0">
              <a:solidFill>
                <a:srgbClr val="002060"/>
              </a:solidFill>
            </a:endParaRPr>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
            </a:pPr>
            <a:r>
              <a:rPr lang="en-US" b="1" dirty="0" smtClean="0"/>
              <a:t>As stated under Art. 38 and  39 of the criminal procedure  there are  four alternatives available to the public prosecutor once the investigation is completed.</a:t>
            </a:r>
          </a:p>
          <a:p>
            <a:pPr algn="just">
              <a:buFont typeface="Wingdings" pitchFamily="2" charset="2"/>
              <a:buChar char="§"/>
            </a:pPr>
            <a:r>
              <a:rPr lang="en-US" b="1" dirty="0" smtClean="0"/>
              <a:t>The criminal justice policy  envisages another option  known as alternative solutions available to the public prosecutor. </a:t>
            </a:r>
          </a:p>
          <a:p>
            <a:pPr algn="just">
              <a:buFont typeface="Wingdings" pitchFamily="2" charset="2"/>
              <a:buChar char="§"/>
            </a:pPr>
            <a:r>
              <a:rPr lang="en-US" b="1" dirty="0" smtClean="0"/>
              <a:t>The following laws and policies  authorize and require the public prosecutor to  participate at the investigation stage of a criminal case</a:t>
            </a:r>
          </a:p>
          <a:p>
            <a:pPr lvl="1" algn="just">
              <a:buFont typeface="Wingdings" pitchFamily="2" charset="2"/>
              <a:buChar char="Ø"/>
            </a:pPr>
            <a:r>
              <a:rPr lang="en-US" b="1" dirty="0" smtClean="0"/>
              <a:t>Office of the general attorney establishment proclamation ( pro. No.39/1993</a:t>
            </a:r>
          </a:p>
          <a:p>
            <a:pPr lvl="1" algn="just">
              <a:buFont typeface="Wingdings" pitchFamily="2" charset="2"/>
              <a:buChar char="Ø"/>
            </a:pPr>
            <a:r>
              <a:rPr lang="en-US" b="1" dirty="0" smtClean="0"/>
              <a:t> The proclamation related to attorneys ( Pro. No.74/1993</a:t>
            </a:r>
          </a:p>
          <a:p>
            <a:pPr lvl="1" algn="just">
              <a:buFont typeface="Wingdings" pitchFamily="2" charset="2"/>
              <a:buChar char="Ø"/>
            </a:pPr>
            <a:r>
              <a:rPr lang="en-US" b="1" dirty="0" smtClean="0"/>
              <a:t>The criminal justice policy.</a:t>
            </a:r>
          </a:p>
          <a:p>
            <a:pPr algn="just">
              <a:buNone/>
            </a:pPr>
            <a:endParaRPr lang="en-US" b="1"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Decisions of the Public Prosecutor……</a:t>
            </a:r>
            <a:endParaRPr lang="en-US" i="1" dirty="0">
              <a:solidFill>
                <a:srgbClr val="00B050"/>
              </a:solidFill>
            </a:endParaRPr>
          </a:p>
        </p:txBody>
      </p:sp>
      <p:sp>
        <p:nvSpPr>
          <p:cNvPr id="3" name="Content Placeholder 2"/>
          <p:cNvSpPr>
            <a:spLocks noGrp="1"/>
          </p:cNvSpPr>
          <p:nvPr>
            <p:ph idx="1"/>
          </p:nvPr>
        </p:nvSpPr>
        <p:spPr/>
        <p:txBody>
          <a:bodyPr/>
          <a:lstStyle/>
          <a:p>
            <a:pPr algn="just">
              <a:buFont typeface="Wingdings" pitchFamily="2" charset="2"/>
              <a:buChar char="§"/>
            </a:pPr>
            <a:r>
              <a:rPr lang="en-US" b="1" dirty="0" smtClean="0"/>
              <a:t>Therefore much of the works stated in Art. 38 and 39 can be done even before the investigation is completed.</a:t>
            </a:r>
          </a:p>
          <a:p>
            <a:pPr algn="just">
              <a:buFont typeface="Wingdings" pitchFamily="2" charset="2"/>
              <a:buChar char="§"/>
            </a:pPr>
            <a:r>
              <a:rPr lang="en-US" b="1" dirty="0" smtClean="0"/>
              <a:t>Therefore there is a rare case of ground of closure or refusal to institutive proceedings occur  after the investigation is completed.</a:t>
            </a:r>
          </a:p>
          <a:p>
            <a:pPr algn="just">
              <a:buFont typeface="Wingdings" pitchFamily="2" charset="2"/>
              <a:buChar char="§"/>
            </a:pPr>
            <a:r>
              <a:rPr lang="en-US" b="1" dirty="0" smtClean="0"/>
              <a:t>This only happens when the decision is to be made after the investigation is finalized.</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Prosecutorial Responsibility</a:t>
            </a:r>
            <a:endParaRPr lang="en-US" b="1" i="1" dirty="0">
              <a:solidFill>
                <a:srgbClr val="00B050"/>
              </a:solidFill>
            </a:endParaRPr>
          </a:p>
        </p:txBody>
      </p:sp>
      <p:sp>
        <p:nvSpPr>
          <p:cNvPr id="3" name="Content Placeholder 2"/>
          <p:cNvSpPr>
            <a:spLocks noGrp="1"/>
          </p:cNvSpPr>
          <p:nvPr>
            <p:ph idx="1"/>
          </p:nvPr>
        </p:nvSpPr>
        <p:spPr/>
        <p:txBody>
          <a:bodyPr/>
          <a:lstStyle/>
          <a:p>
            <a:r>
              <a:rPr lang="en-US" b="1" dirty="0" smtClean="0"/>
              <a:t>The P/ Prosecutor will  have five option</a:t>
            </a:r>
          </a:p>
          <a:p>
            <a:r>
              <a:rPr lang="en-US" b="1" dirty="0" smtClean="0"/>
              <a:t>Prosecutorial Responsibility ( Art 38)</a:t>
            </a:r>
          </a:p>
          <a:p>
            <a:pPr lvl="2">
              <a:buFont typeface="Wingdings" pitchFamily="2" charset="2"/>
              <a:buChar char="Ø"/>
            </a:pPr>
            <a:r>
              <a:rPr lang="en-US" b="1" dirty="0" smtClean="0"/>
              <a:t> Order Further Investigation</a:t>
            </a:r>
          </a:p>
          <a:p>
            <a:pPr lvl="2">
              <a:buFont typeface="Wingdings" pitchFamily="2" charset="2"/>
              <a:buChar char="Ø"/>
            </a:pPr>
            <a:r>
              <a:rPr lang="en-US" b="1" dirty="0" smtClean="0"/>
              <a:t>Order Preliminary Inquiry</a:t>
            </a:r>
          </a:p>
          <a:p>
            <a:pPr lvl="2">
              <a:buFont typeface="Wingdings" pitchFamily="2" charset="2"/>
              <a:buChar char="Ø"/>
            </a:pPr>
            <a:r>
              <a:rPr lang="en-US" b="1" dirty="0" smtClean="0"/>
              <a:t>Decision not to Prosecute</a:t>
            </a:r>
          </a:p>
          <a:p>
            <a:pPr lvl="2">
              <a:buFont typeface="Wingdings" pitchFamily="2" charset="2"/>
              <a:buChar char="Ø"/>
            </a:pPr>
            <a:r>
              <a:rPr lang="en-US" b="1" dirty="0" smtClean="0"/>
              <a:t>Decision to Prosecute</a:t>
            </a:r>
          </a:p>
          <a:p>
            <a:pPr lvl="2">
              <a:buFont typeface="Wingdings" pitchFamily="2" charset="2"/>
              <a:buChar char="Ø"/>
            </a:pPr>
            <a:r>
              <a:rPr lang="en-US" b="1" dirty="0" smtClean="0"/>
              <a:t>Other Solution( the Criminal Justice Policy)</a:t>
            </a:r>
          </a:p>
          <a:p>
            <a:pPr>
              <a:buNone/>
            </a:pPr>
            <a:endParaRPr lang="en-US" b="1"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Order Further Investigation</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As stated in the Art 37 the police officer will send the investigation file to the prosecutor when he believe the investigation is completed.</a:t>
            </a:r>
          </a:p>
          <a:p>
            <a:pPr algn="just"/>
            <a:r>
              <a:rPr lang="en-US" b="1" dirty="0" smtClean="0"/>
              <a:t>Upon receiving the investigation file the public prosecutor may discover some gaps in the file.</a:t>
            </a:r>
          </a:p>
          <a:p>
            <a:pPr algn="just"/>
            <a:r>
              <a:rPr lang="en-US" b="1" dirty="0" smtClean="0"/>
              <a:t>When this happens the public prosecutor considers whether such gaps can be filled through further investigation.</a:t>
            </a:r>
          </a:p>
          <a:p>
            <a:pPr algn="just"/>
            <a:r>
              <a:rPr lang="en-US" b="1" dirty="0" smtClean="0"/>
              <a:t>If the P/P believe so, he will order further investigation in accordance with Art. 38(c) of the code.</a:t>
            </a:r>
          </a:p>
          <a:p>
            <a:pPr algn="just"/>
            <a:r>
              <a:rPr lang="en-US" b="1" dirty="0" smtClean="0"/>
              <a:t>If the gap cannot be filled by further investigation the prosecutor will decide whether to institute or not to institute a criminal charge depending how crucial the gap is to the case.</a:t>
            </a:r>
            <a:endParaRPr lang="en-US" b="1"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Closure of police investigation file(Art. 39)</a:t>
            </a:r>
            <a:endParaRPr lang="en-US" sz="3600" b="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smtClean="0"/>
              <a:t>The public prosecutor shall close the police investigation file where the accused:</a:t>
            </a:r>
          </a:p>
          <a:p>
            <a:pPr lvl="1" algn="just">
              <a:buFont typeface="Wingdings" pitchFamily="2" charset="2"/>
              <a:buChar char="Ø"/>
            </a:pPr>
            <a:r>
              <a:rPr lang="en-US" b="1" dirty="0" smtClean="0"/>
              <a:t>Has died; or</a:t>
            </a:r>
          </a:p>
          <a:p>
            <a:pPr lvl="1" algn="just">
              <a:buFont typeface="Wingdings" pitchFamily="2" charset="2"/>
              <a:buChar char="Ø"/>
            </a:pPr>
            <a:r>
              <a:rPr lang="en-US" b="1" dirty="0" smtClean="0"/>
              <a:t>Is under nine years of age or</a:t>
            </a:r>
          </a:p>
          <a:p>
            <a:pPr lvl="1" algn="just">
              <a:buFont typeface="Wingdings" pitchFamily="2" charset="2"/>
              <a:buChar char="Ø"/>
            </a:pPr>
            <a:r>
              <a:rPr lang="en-US" b="1" dirty="0" smtClean="0"/>
              <a:t> Cannot be prosecuted under any special law or under public international law (diplomatic immunity).</a:t>
            </a:r>
          </a:p>
          <a:p>
            <a:pPr algn="just">
              <a:buFont typeface="Wingdings" pitchFamily="2" charset="2"/>
              <a:buChar char="§"/>
            </a:pPr>
            <a:r>
              <a:rPr lang="en-US" b="1" dirty="0" smtClean="0"/>
              <a:t>The provisions of Art. 43-45 shall not apply where the case file is closed under this Article.( No private prosecution)</a:t>
            </a:r>
          </a:p>
          <a:p>
            <a:pPr algn="just"/>
            <a:r>
              <a:rPr lang="en-US" b="1" dirty="0" smtClean="0"/>
              <a:t>While doing so  the public prosecutor shall send a copy of his decision to the Advocate general, the private complainant, if any, and the investigating police officer.</a:t>
            </a:r>
            <a:endParaRPr lang="en-US" b="1"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Decision not to Prosecute (Art.42)</a:t>
            </a:r>
            <a:endParaRPr lang="en-US" dirty="0"/>
          </a:p>
        </p:txBody>
      </p:sp>
      <p:sp>
        <p:nvSpPr>
          <p:cNvPr id="3" name="Content Placeholder 2"/>
          <p:cNvSpPr>
            <a:spLocks noGrp="1"/>
          </p:cNvSpPr>
          <p:nvPr>
            <p:ph idx="1"/>
          </p:nvPr>
        </p:nvSpPr>
        <p:spPr/>
        <p:txBody>
          <a:bodyPr>
            <a:noAutofit/>
          </a:bodyPr>
          <a:lstStyle/>
          <a:p>
            <a:pPr algn="just"/>
            <a:r>
              <a:rPr lang="en-US" sz="2400" b="1" dirty="0" smtClean="0"/>
              <a:t>As stated under Art. 42 there are grounds for the public prosecutor not to institute a charge;</a:t>
            </a:r>
          </a:p>
          <a:p>
            <a:pPr lvl="2" algn="just">
              <a:buFont typeface="Wingdings" pitchFamily="2" charset="2"/>
              <a:buChar char="Ø"/>
            </a:pPr>
            <a:r>
              <a:rPr lang="en-US" b="1" dirty="0" smtClean="0"/>
              <a:t> Insufficiency of  evidence </a:t>
            </a:r>
          </a:p>
          <a:p>
            <a:pPr lvl="2" algn="just">
              <a:buFont typeface="Wingdings" pitchFamily="2" charset="2"/>
              <a:buChar char="Ø"/>
            </a:pPr>
            <a:r>
              <a:rPr lang="en-US" b="1" dirty="0" smtClean="0"/>
              <a:t>Absence of the accused in case prosecution in absentia is not allowed.</a:t>
            </a:r>
          </a:p>
          <a:p>
            <a:pPr lvl="2" algn="just">
              <a:buFont typeface="Wingdings" pitchFamily="2" charset="2"/>
              <a:buChar char="Ø"/>
            </a:pPr>
            <a:r>
              <a:rPr lang="en-US" b="1" dirty="0" smtClean="0"/>
              <a:t> Period of limitation </a:t>
            </a:r>
          </a:p>
          <a:p>
            <a:pPr lvl="2" algn="just">
              <a:buFont typeface="Wingdings" pitchFamily="2" charset="2"/>
              <a:buChar char="Ø"/>
            </a:pPr>
            <a:r>
              <a:rPr lang="en-US" b="1" dirty="0" smtClean="0"/>
              <a:t>Pardon or amnesty and</a:t>
            </a:r>
          </a:p>
          <a:p>
            <a:pPr lvl="2" algn="just">
              <a:buFont typeface="Wingdings" pitchFamily="2" charset="2"/>
              <a:buChar char="Ø"/>
            </a:pPr>
            <a:r>
              <a:rPr lang="en-US" b="1" dirty="0" smtClean="0"/>
              <a:t> Public interest </a:t>
            </a:r>
          </a:p>
          <a:p>
            <a:pPr algn="just"/>
            <a:r>
              <a:rPr lang="en-US" sz="2400" b="1" dirty="0" smtClean="0"/>
              <a:t>Refusing on other ground is prohibited under Art. 42(2) </a:t>
            </a:r>
          </a:p>
          <a:p>
            <a:pPr algn="just"/>
            <a:r>
              <a:rPr lang="en-US" sz="2400" b="1" dirty="0" smtClean="0"/>
              <a:t>The criminal justice policy expressly recognize </a:t>
            </a:r>
            <a:r>
              <a:rPr lang="en-US" sz="2400" b="1" i="1" dirty="0" smtClean="0"/>
              <a:t>the possibility of instituting a criminal proceeding where new evidence is obtained </a:t>
            </a:r>
            <a:r>
              <a:rPr lang="en-US" sz="2400" b="1" dirty="0" smtClean="0"/>
              <a:t>after the P/P has dropped the case for any one of the reasons listed under Art. 42(1) of the code.</a:t>
            </a:r>
          </a:p>
          <a:p>
            <a:pPr algn="just"/>
            <a:endParaRPr lang="en-US" sz="2400" b="1" dirty="0" smtClean="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Absence of the  Suspect( Art42(1)</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When the suspect is not found around and trial in absentia is not possible the Public Prosecutor will not institute a charge.</a:t>
            </a:r>
          </a:p>
          <a:p>
            <a:pPr algn="just"/>
            <a:r>
              <a:rPr lang="en-US" b="1" dirty="0" smtClean="0"/>
              <a:t>If the public prosecutor is aware of the death of the suspect, the case will be closed (Art. 39(1))</a:t>
            </a:r>
          </a:p>
          <a:p>
            <a:pPr algn="just"/>
            <a:r>
              <a:rPr lang="en-US" b="1" dirty="0" smtClean="0"/>
              <a:t>When the suspect reside in the foreign country with which Ethiopia does not have extradition treaty the public prosecutor will not institute  unless in absentia is possible.</a:t>
            </a:r>
          </a:p>
          <a:p>
            <a:pPr algn="just"/>
            <a:r>
              <a:rPr lang="en-US" b="1" dirty="0" smtClean="0"/>
              <a:t> Trail in absentia is possible in two cases,</a:t>
            </a:r>
          </a:p>
          <a:p>
            <a:pPr lvl="1" algn="just">
              <a:buFont typeface="Wingdings" pitchFamily="2" charset="2"/>
              <a:buChar char="Ø"/>
            </a:pPr>
            <a:r>
              <a:rPr lang="en-US" b="1" dirty="0" smtClean="0"/>
              <a:t> When the crime is punishable not less than  12 years</a:t>
            </a:r>
          </a:p>
          <a:p>
            <a:pPr lvl="1" algn="just">
              <a:buFont typeface="Wingdings" pitchFamily="2" charset="2"/>
              <a:buChar char="Ø"/>
            </a:pPr>
            <a:r>
              <a:rPr lang="en-US" b="1" dirty="0" smtClean="0"/>
              <a:t> Crimes  on fiscal and economic interest of the state</a:t>
            </a:r>
          </a:p>
          <a:p>
            <a:pPr algn="just"/>
            <a:endParaRPr lang="en-US" b="1"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Period of Limitation</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smtClean="0"/>
              <a:t>The criminal code stipulates period within which a criminal action must be instituted</a:t>
            </a:r>
          </a:p>
          <a:p>
            <a:pPr algn="just"/>
            <a:r>
              <a:rPr lang="en-US" b="1" dirty="0" smtClean="0"/>
              <a:t>There are two types of period of limitations</a:t>
            </a:r>
          </a:p>
          <a:p>
            <a:pPr lvl="1" algn="just">
              <a:buFont typeface="Wingdings" pitchFamily="2" charset="2"/>
              <a:buChar char="Ø"/>
            </a:pPr>
            <a:r>
              <a:rPr lang="en-US" b="1" dirty="0" smtClean="0"/>
              <a:t>Ordinary  </a:t>
            </a:r>
          </a:p>
          <a:p>
            <a:pPr lvl="1" algn="just">
              <a:buFont typeface="Wingdings" pitchFamily="2" charset="2"/>
              <a:buChar char="Ø"/>
            </a:pPr>
            <a:r>
              <a:rPr lang="en-US" b="1" dirty="0" smtClean="0"/>
              <a:t>Absolute</a:t>
            </a:r>
          </a:p>
          <a:p>
            <a:pPr algn="just">
              <a:buFont typeface="Wingdings" pitchFamily="2" charset="2"/>
              <a:buChar char="Ø"/>
            </a:pPr>
            <a:r>
              <a:rPr lang="en-US" b="1" dirty="0" smtClean="0"/>
              <a:t> Art 217 the Cr. Co. lists the ordinary period of limitations from 3 to 25 years.</a:t>
            </a:r>
          </a:p>
          <a:p>
            <a:pPr algn="just">
              <a:buFont typeface="Wingdings" pitchFamily="2" charset="2"/>
              <a:buChar char="Ø"/>
            </a:pPr>
            <a:r>
              <a:rPr lang="en-US" b="1" dirty="0" smtClean="0"/>
              <a:t>Art. 218 Sets the statute of limitation for  crimes punishable upon compliant at two years.</a:t>
            </a:r>
          </a:p>
          <a:p>
            <a:pPr algn="just">
              <a:buFont typeface="Wingdings" pitchFamily="2" charset="2"/>
              <a:buChar char="Ø"/>
            </a:pPr>
            <a:r>
              <a:rPr lang="en-US" b="1" dirty="0" smtClean="0"/>
              <a:t>Once this ordinary period of limitation lapsed neither the p/p nor the court can proceed with the cases.</a:t>
            </a:r>
          </a:p>
          <a:p>
            <a:pPr algn="just">
              <a:buFont typeface="Wingdings" pitchFamily="2" charset="2"/>
              <a:buChar char="Ø"/>
            </a:pPr>
            <a:r>
              <a:rPr lang="en-US" b="1" dirty="0" smtClean="0"/>
              <a:t> Crimes against humanity and terrorism will not be bared by period of limitation.</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Pardon &amp;Amnesty( Art. 42(1) A</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algn="just"/>
            <a:r>
              <a:rPr lang="en-US" b="1" dirty="0" smtClean="0"/>
              <a:t>Pardon and Amnesty are related but different concepts.</a:t>
            </a:r>
          </a:p>
          <a:p>
            <a:pPr algn="just"/>
            <a:r>
              <a:rPr lang="en-US" b="1" dirty="0" smtClean="0"/>
              <a:t> There are three major difference between the two</a:t>
            </a:r>
          </a:p>
          <a:p>
            <a:pPr algn="just"/>
            <a:r>
              <a:rPr lang="en-US" b="1" dirty="0" smtClean="0"/>
              <a:t>Pardon is to be granted by the president of the country while amnesty is to be granted by the legislator.</a:t>
            </a:r>
          </a:p>
          <a:p>
            <a:pPr algn="just"/>
            <a:r>
              <a:rPr lang="en-US" b="1" dirty="0" smtClean="0"/>
              <a:t>Pardon is to be granted only after the conviction while amnesty is to be granted before, during or after conviction.</a:t>
            </a:r>
          </a:p>
          <a:p>
            <a:pPr algn="just"/>
            <a:r>
              <a:rPr lang="en-US" b="1" dirty="0" smtClean="0"/>
              <a:t>Pardon does not cancel the conviction or the sentence while amnesty cancel both sentence passed and the legal consequences and the  of the sentence.</a:t>
            </a:r>
          </a:p>
          <a:p>
            <a:pPr algn="just"/>
            <a:r>
              <a:rPr lang="en-US" b="1" dirty="0" smtClean="0"/>
              <a:t>In both cases  the public prosecutor shall not proceed with the case by instituting a criminal charge.</a:t>
            </a:r>
          </a:p>
          <a:p>
            <a:pPr algn="just"/>
            <a:endParaRPr lang="en-US" b="1"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Public interest( Art.42(1) D</a:t>
            </a:r>
            <a:endParaRPr lang="en-US" b="1" i="1" dirty="0">
              <a:solidFill>
                <a:srgbClr val="00B050"/>
              </a:solidFill>
            </a:endParaRPr>
          </a:p>
        </p:txBody>
      </p:sp>
      <p:sp>
        <p:nvSpPr>
          <p:cNvPr id="3" name="Content Placeholder 2"/>
          <p:cNvSpPr>
            <a:spLocks noGrp="1"/>
          </p:cNvSpPr>
          <p:nvPr>
            <p:ph idx="1"/>
          </p:nvPr>
        </p:nvSpPr>
        <p:spPr/>
        <p:txBody>
          <a:bodyPr>
            <a:normAutofit fontScale="77500" lnSpcReduction="20000"/>
          </a:bodyPr>
          <a:lstStyle/>
          <a:p>
            <a:pPr algn="just"/>
            <a:r>
              <a:rPr lang="en-US" b="1" dirty="0" smtClean="0"/>
              <a:t>Art. 42(1) D  empowered the minister of justice to order the public prosecutor not to institute proceedings where such order is in the interest of the public.</a:t>
            </a:r>
          </a:p>
          <a:p>
            <a:pPr algn="just"/>
            <a:r>
              <a:rPr lang="en-US" b="1" dirty="0" smtClean="0"/>
              <a:t>This provision opened the door for the public prosecutor to decide  in the public interest not to institute a charge even where there is adequate evidence.</a:t>
            </a:r>
          </a:p>
          <a:p>
            <a:pPr algn="just"/>
            <a:r>
              <a:rPr lang="en-US" b="1" dirty="0" smtClean="0"/>
              <a:t>The decision is to be made by the minister not by the prosecutor.</a:t>
            </a:r>
          </a:p>
          <a:p>
            <a:pPr algn="just"/>
            <a:r>
              <a:rPr lang="en-US" b="1" dirty="0" smtClean="0"/>
              <a:t>This provision of the code has been repealed by the general attorney proclamation.</a:t>
            </a:r>
          </a:p>
          <a:p>
            <a:pPr algn="just"/>
            <a:r>
              <a:rPr lang="en-US" b="1" dirty="0" smtClean="0"/>
              <a:t>The criminal justice policy  recognize the public interest as a ground not to file a criminal charge. Accordingly  when the public interest so requires the public prosecutor shall not file a charge even if there is sufficient evidence.</a:t>
            </a:r>
          </a:p>
          <a:p>
            <a:pPr algn="just"/>
            <a:r>
              <a:rPr lang="en-US" b="1" dirty="0" smtClean="0"/>
              <a:t> The policy empowers the attorney general to decide such cases.</a:t>
            </a:r>
          </a:p>
          <a:p>
            <a:pPr algn="just"/>
            <a:r>
              <a:rPr lang="en-US" b="1" dirty="0" smtClean="0">
                <a:solidFill>
                  <a:srgbClr val="7030A0"/>
                </a:solidFill>
              </a:rPr>
              <a:t> Which one prevail? A policy or Proclamation?</a:t>
            </a:r>
            <a:endParaRPr lang="en-US" b="1" dirty="0">
              <a:solidFill>
                <a:srgbClr val="7030A0"/>
              </a:solidFill>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Insufficiency of evidence ( Art. 42(1)A</a:t>
            </a:r>
            <a:endParaRPr lang="en-US" b="1" i="1" dirty="0">
              <a:solidFill>
                <a:srgbClr val="00B050"/>
              </a:solidFill>
            </a:endParaRPr>
          </a:p>
        </p:txBody>
      </p:sp>
      <p:sp>
        <p:nvSpPr>
          <p:cNvPr id="3" name="Content Placeholder 2"/>
          <p:cNvSpPr>
            <a:spLocks noGrp="1"/>
          </p:cNvSpPr>
          <p:nvPr>
            <p:ph idx="1"/>
          </p:nvPr>
        </p:nvSpPr>
        <p:spPr/>
        <p:txBody>
          <a:bodyPr>
            <a:normAutofit fontScale="77500" lnSpcReduction="20000"/>
          </a:bodyPr>
          <a:lstStyle/>
          <a:p>
            <a:pPr algn="just"/>
            <a:r>
              <a:rPr lang="en-US" b="1" dirty="0" smtClean="0"/>
              <a:t>If the public prosecutor believe that there is no sufficient evidence to justify the conviction he shall not institute the proceedings.</a:t>
            </a:r>
          </a:p>
          <a:p>
            <a:pPr algn="just"/>
            <a:r>
              <a:rPr lang="en-US" b="1" dirty="0" smtClean="0"/>
              <a:t>The evidence would be insufficient to institute a charge  when the public prosecutor believe that the existing evidence would not prove the case </a:t>
            </a:r>
            <a:r>
              <a:rPr lang="en-US" b="1" i="1" dirty="0" smtClean="0"/>
              <a:t>beyond reasonably doubt</a:t>
            </a:r>
            <a:r>
              <a:rPr lang="en-US" b="1" dirty="0" smtClean="0"/>
              <a:t>.</a:t>
            </a:r>
          </a:p>
          <a:p>
            <a:pPr algn="just"/>
            <a:r>
              <a:rPr lang="en-US" b="1" dirty="0" smtClean="0"/>
              <a:t>To this effect, the prosecutor had better take in to account the relevancy, admissibility and weight of the evidence at hand.</a:t>
            </a:r>
          </a:p>
          <a:p>
            <a:pPr algn="just"/>
            <a:r>
              <a:rPr lang="en-US" b="1" dirty="0" smtClean="0"/>
              <a:t> The prosecutor must  make sure that</a:t>
            </a:r>
          </a:p>
          <a:p>
            <a:pPr lvl="1" algn="just">
              <a:buFont typeface="Wingdings" pitchFamily="2" charset="2"/>
              <a:buChar char="Ø"/>
            </a:pPr>
            <a:r>
              <a:rPr lang="en-US" b="1" dirty="0" smtClean="0"/>
              <a:t>All the evidence collected are relevant to prove the case .</a:t>
            </a:r>
          </a:p>
          <a:p>
            <a:pPr lvl="1" algn="just">
              <a:buFont typeface="Wingdings" pitchFamily="2" charset="2"/>
              <a:buChar char="Ø"/>
            </a:pPr>
            <a:r>
              <a:rPr lang="en-US" b="1" dirty="0" smtClean="0"/>
              <a:t>They are collected lawfully</a:t>
            </a:r>
          </a:p>
          <a:p>
            <a:pPr lvl="1" algn="just">
              <a:buFont typeface="Wingdings" pitchFamily="2" charset="2"/>
              <a:buChar char="Ø"/>
            </a:pPr>
            <a:r>
              <a:rPr lang="en-US" b="1" dirty="0" smtClean="0"/>
              <a:t> The weight of the evidence at hand to prove the case</a:t>
            </a:r>
          </a:p>
          <a:p>
            <a:pPr algn="just"/>
            <a:r>
              <a:rPr lang="en-US" b="1" dirty="0" smtClean="0"/>
              <a:t>Once such care are made, the public prosecutor can institute the charge if confident that conviction will be obtained.</a:t>
            </a:r>
            <a:endParaRPr lang="en-US" b="1"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Decision to Prosecute</a:t>
            </a:r>
            <a:endParaRPr lang="en-US" dirty="0"/>
          </a:p>
        </p:txBody>
      </p:sp>
      <p:sp>
        <p:nvSpPr>
          <p:cNvPr id="3" name="Content Placeholder 2"/>
          <p:cNvSpPr>
            <a:spLocks noGrp="1"/>
          </p:cNvSpPr>
          <p:nvPr>
            <p:ph idx="1"/>
          </p:nvPr>
        </p:nvSpPr>
        <p:spPr/>
        <p:txBody>
          <a:bodyPr>
            <a:noAutofit/>
          </a:bodyPr>
          <a:lstStyle/>
          <a:p>
            <a:pPr algn="just"/>
            <a:r>
              <a:rPr lang="en-US" sz="2400" b="1" dirty="0" smtClean="0"/>
              <a:t>The other option stated in Art. 38(A)  &amp; Art 40(1) is  prosecuting the suspect when the investigative report is sufficient to do so. </a:t>
            </a:r>
          </a:p>
          <a:p>
            <a:pPr algn="just"/>
            <a:r>
              <a:rPr lang="en-US" sz="2400" b="1" dirty="0" smtClean="0"/>
              <a:t>The prosecutor  has sufficient grounds for prosecuting the accused when the investigation report clearly shows that a crime has been committed and by the suspect at hand. </a:t>
            </a:r>
          </a:p>
          <a:p>
            <a:pPr algn="just"/>
            <a:r>
              <a:rPr lang="en-US" sz="2400" b="1" dirty="0" smtClean="0"/>
              <a:t>In such a case Art 40 of The Cr. Pr. Requires the public prosecutor to institute a criminal charge before a court of law where none of the grounds listed under Art. 42  exist.</a:t>
            </a:r>
          </a:p>
          <a:p>
            <a:pPr algn="just"/>
            <a:r>
              <a:rPr lang="en-US" sz="2400" b="1" dirty="0" smtClean="0"/>
              <a:t>Subject to the future implementation of the other solution envisaged in the criminal policy, the prosecutor has no other option other than prosecution if he does have adequate evidence warranting conviction unless public interest exists.</a:t>
            </a:r>
            <a:endParaRPr lang="en-US" sz="2400" b="1"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Other Solutions</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The criminal Justice policy also come up with the other option  Which is yet to be incorporated by law. </a:t>
            </a:r>
          </a:p>
          <a:p>
            <a:pPr algn="just"/>
            <a:r>
              <a:rPr lang="en-US" b="1" dirty="0" smtClean="0"/>
              <a:t>The criminal justice policy envisaged as an option to be established in the future. </a:t>
            </a:r>
          </a:p>
          <a:p>
            <a:pPr algn="just"/>
            <a:r>
              <a:rPr lang="en-US" b="1" dirty="0" smtClean="0"/>
              <a:t>This mechanism of dealing with criminal emphasize letting him accept his guilt and regrets about his wrongdoing instead of  prosecuting him. </a:t>
            </a:r>
          </a:p>
          <a:p>
            <a:pPr algn="just"/>
            <a:r>
              <a:rPr lang="en-US" b="1" dirty="0" smtClean="0"/>
              <a:t>As stated in the policy document this option is to be taken where the nature of the crime and the behavior of the suspect it better serves the interest of the public than a formal prosecution would.</a:t>
            </a:r>
          </a:p>
          <a:p>
            <a:pPr algn="just"/>
            <a:r>
              <a:rPr lang="en-US" b="1" dirty="0" smtClean="0"/>
              <a:t>The policy provide that this option is to be taken when the crime is  not so serious and the suspect is juvenile, a woman or a person with disability.</a:t>
            </a:r>
            <a:endParaRPr lang="en-US" b="1"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The Preliminary Inquiry</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The other option available to the public prosecutor  once he receive police reports is to order a preliminary inquiry.          </a:t>
            </a:r>
          </a:p>
          <a:p>
            <a:pPr algn="just"/>
            <a:r>
              <a:rPr lang="en-US" b="1" dirty="0" smtClean="0"/>
              <a:t>As provided in Art. 80(1) of the code, the prosecutor has an obligation to order a preliminary inquiry to be conducted in two instances: where the case related to aggravated homicide or aggravated robbery.</a:t>
            </a:r>
          </a:p>
          <a:p>
            <a:pPr algn="just"/>
            <a:r>
              <a:rPr lang="en-US" b="1" dirty="0" smtClean="0"/>
              <a:t>In principle the prosecutor does not have the power to bypass the preliminary inquiry in  such case.</a:t>
            </a:r>
          </a:p>
          <a:p>
            <a:pPr algn="just"/>
            <a:r>
              <a:rPr lang="en-US" b="1" dirty="0" smtClean="0"/>
              <a:t>However the prosecutor  may request  the  high court to allow him to file a charge without conducting a preliminary inquiry.</a:t>
            </a:r>
          </a:p>
          <a:p>
            <a:pPr>
              <a:buNone/>
            </a:pPr>
            <a:endParaRPr lang="en-US" b="1" dirty="0" smtClean="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Preliminary Inquiry…..</a:t>
            </a:r>
            <a:endParaRPr lang="en-US" dirty="0"/>
          </a:p>
        </p:txBody>
      </p:sp>
      <p:sp>
        <p:nvSpPr>
          <p:cNvPr id="3" name="Content Placeholder 2"/>
          <p:cNvSpPr>
            <a:spLocks noGrp="1"/>
          </p:cNvSpPr>
          <p:nvPr>
            <p:ph idx="1"/>
          </p:nvPr>
        </p:nvSpPr>
        <p:spPr/>
        <p:txBody>
          <a:bodyPr>
            <a:normAutofit/>
          </a:bodyPr>
          <a:lstStyle/>
          <a:p>
            <a:pPr algn="just"/>
            <a:r>
              <a:rPr lang="en-US" b="1" dirty="0" smtClean="0"/>
              <a:t>The court will accept the application if satisfied that the trial can be held immediately.</a:t>
            </a:r>
          </a:p>
          <a:p>
            <a:pPr algn="just"/>
            <a:r>
              <a:rPr lang="en-US" b="1" dirty="0" smtClean="0"/>
              <a:t>The prosecutor has a discretion whether to order a preliminary inquiry  when the case relates  to other offences that are within the firs instance jurisdiction of the high court.</a:t>
            </a:r>
          </a:p>
          <a:p>
            <a:pPr algn="just"/>
            <a:r>
              <a:rPr lang="en-US" b="1" dirty="0" smtClean="0"/>
              <a:t>In such case the preliminary inquiry can only be conducted if the  high court prosecutor so orders.</a:t>
            </a:r>
          </a:p>
          <a:p>
            <a:endParaRPr lang="en-US"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Function of  Preliminary Inquiry</a:t>
            </a:r>
            <a:r>
              <a:rPr lang="en-US" b="1" dirty="0" smtClean="0"/>
              <a:t> </a:t>
            </a:r>
            <a:r>
              <a:rPr lang="en-US" b="1" dirty="0" smtClean="0">
                <a:solidFill>
                  <a:srgbClr val="0070C0"/>
                </a:solidFill>
              </a:rPr>
              <a:t>Screening</a:t>
            </a:r>
            <a:endParaRPr lang="en-US" i="1" dirty="0" smtClean="0">
              <a:solidFill>
                <a:srgbClr val="0070C0"/>
              </a:solidFill>
            </a:endParaRPr>
          </a:p>
        </p:txBody>
      </p:sp>
      <p:sp>
        <p:nvSpPr>
          <p:cNvPr id="3" name="Content Placeholder 2"/>
          <p:cNvSpPr>
            <a:spLocks noGrp="1"/>
          </p:cNvSpPr>
          <p:nvPr>
            <p:ph idx="1"/>
          </p:nvPr>
        </p:nvSpPr>
        <p:spPr/>
        <p:txBody>
          <a:bodyPr>
            <a:normAutofit fontScale="85000" lnSpcReduction="20000"/>
          </a:bodyPr>
          <a:lstStyle/>
          <a:p>
            <a:pPr algn="just">
              <a:buFont typeface="Wingdings" pitchFamily="2" charset="2"/>
              <a:buChar char="§"/>
            </a:pPr>
            <a:r>
              <a:rPr lang="en-US" b="1" dirty="0" smtClean="0"/>
              <a:t>The principal function of the preliminary inquiry in other jurisdiction  is screening  by which the committal court decide whether the public prosecutor can charge the accused or not.</a:t>
            </a:r>
          </a:p>
          <a:p>
            <a:pPr algn="just">
              <a:buFont typeface="Wingdings" pitchFamily="2" charset="2"/>
              <a:buChar char="§"/>
            </a:pPr>
            <a:r>
              <a:rPr lang="en-US" b="1" dirty="0" smtClean="0"/>
              <a:t>If the court does not find  probable cause, the accused will be released and  the prosecutions case will be dismissed.</a:t>
            </a:r>
          </a:p>
          <a:p>
            <a:pPr algn="just"/>
            <a:r>
              <a:rPr lang="en-US" b="1" dirty="0" smtClean="0"/>
              <a:t>The Ethiopian criminal procedure code does not empower the committal court to dismiss the case of the prosecutor, no matter how weak his case may be.</a:t>
            </a:r>
          </a:p>
          <a:p>
            <a:pPr algn="just"/>
            <a:r>
              <a:rPr lang="en-US" b="1" dirty="0" smtClean="0"/>
              <a:t>After the  prosecutors witness have been heard and the suspect is invited to make a statement in answer to the charge, the court will automatically commit the suspect for trail.</a:t>
            </a:r>
          </a:p>
          <a:p>
            <a:pPr algn="just"/>
            <a:r>
              <a:rPr lang="en-US" b="1" dirty="0" smtClean="0"/>
              <a:t>Therefore the screening function is not served in the Ethiopian criminal procedure code.</a:t>
            </a:r>
          </a:p>
          <a:p>
            <a:pPr algn="just"/>
            <a:endParaRPr lang="en-US" b="1" dirty="0" smtClean="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70C0"/>
                </a:solidFill>
              </a:rPr>
              <a:t>Pretrial Discovery</a:t>
            </a:r>
            <a:endParaRPr lang="en-US" i="1" dirty="0">
              <a:solidFill>
                <a:srgbClr val="0070C0"/>
              </a:solidFill>
            </a:endParaRPr>
          </a:p>
        </p:txBody>
      </p:sp>
      <p:sp>
        <p:nvSpPr>
          <p:cNvPr id="3" name="Content Placeholder 2"/>
          <p:cNvSpPr>
            <a:spLocks noGrp="1"/>
          </p:cNvSpPr>
          <p:nvPr>
            <p:ph idx="1"/>
          </p:nvPr>
        </p:nvSpPr>
        <p:spPr/>
        <p:txBody>
          <a:bodyPr>
            <a:normAutofit fontScale="77500" lnSpcReduction="20000"/>
          </a:bodyPr>
          <a:lstStyle/>
          <a:p>
            <a:pPr algn="just"/>
            <a:r>
              <a:rPr lang="en-US" b="1" dirty="0" smtClean="0"/>
              <a:t>In jurisdiction where the committal court  has the power to dismiss the prosecutors case for lack of probable cause, the prosecutor is obliged to  introduce witness sufficient to prevent dismissal which allow the accused to know in advance the prosecutors’ witness and the nature of their testimony.</a:t>
            </a:r>
          </a:p>
          <a:p>
            <a:pPr algn="just"/>
            <a:r>
              <a:rPr lang="en-US" b="1" dirty="0" smtClean="0"/>
              <a:t>The committal court in Ethiopia does not have the power to dismiss the prosecutors’ case no matter how weak the evidence is.</a:t>
            </a:r>
          </a:p>
          <a:p>
            <a:pPr algn="just"/>
            <a:r>
              <a:rPr lang="en-US" b="1" dirty="0" smtClean="0"/>
              <a:t>In addition  there is no requirement that all witnesses of the prosecutor testify at this stage.</a:t>
            </a:r>
          </a:p>
          <a:p>
            <a:pPr algn="just"/>
            <a:r>
              <a:rPr lang="en-US" b="1" dirty="0" smtClean="0"/>
              <a:t>Under Art. 143(3) expressly allow the prosecutor to call witness during trail who did not testify at the preliminary inquiry</a:t>
            </a:r>
          </a:p>
          <a:p>
            <a:pPr algn="just"/>
            <a:r>
              <a:rPr lang="en-US" b="1" dirty="0" smtClean="0"/>
              <a:t>The Ethiopian Preliminary inquiry, therefore, has minimal significance as a means to pretrial discovery.</a:t>
            </a:r>
          </a:p>
          <a:p>
            <a:pPr algn="just"/>
            <a:endParaRPr lang="en-US" b="1" dirty="0" smtClean="0"/>
          </a:p>
          <a:p>
            <a:pPr algn="just"/>
            <a:endParaRPr lang="en-US" b="1"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70C0"/>
                </a:solidFill>
              </a:rPr>
              <a:t>Future impeachment</a:t>
            </a:r>
            <a:endParaRPr lang="en-US" i="1" dirty="0">
              <a:solidFill>
                <a:srgbClr val="0070C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When a witness testifies twice, once during the preliminary inquiry and for the second time during trail, there is a possibility that  he will make inconsistent statements, there by impeaching himself.</a:t>
            </a:r>
          </a:p>
          <a:p>
            <a:pPr algn="just"/>
            <a:r>
              <a:rPr lang="en-US" b="1" dirty="0" smtClean="0"/>
              <a:t>The more a witness say during the preliminary inquiry the more inconsistencies will arise between their testimony at the preliminary inquiry and trial.</a:t>
            </a:r>
          </a:p>
          <a:p>
            <a:pPr algn="just"/>
            <a:r>
              <a:rPr lang="en-US" b="1" dirty="0" smtClean="0"/>
              <a:t>Hence it is a good strategy for the defense to extensively cross examine prosecutors witness at the preliminary hearing so as to be able to impeach the prosecutors witness at trail stage.</a:t>
            </a: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70C0"/>
                </a:solidFill>
              </a:rPr>
              <a:t>Perpetuation of Testimony</a:t>
            </a:r>
            <a:endParaRPr lang="en-US" b="1" i="1" dirty="0">
              <a:solidFill>
                <a:srgbClr val="0070C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The major function of the Preliminary Inquiry in Ethiopia is perpetuation of testimony.</a:t>
            </a:r>
          </a:p>
          <a:p>
            <a:pPr algn="just"/>
            <a:r>
              <a:rPr lang="en-US" b="1" dirty="0" smtClean="0"/>
              <a:t>Prosecution testimony who testified at the preliminary inquiry are required to inter into witness bond binding themselves  to appear and testify during trail.</a:t>
            </a:r>
          </a:p>
          <a:p>
            <a:pPr algn="just"/>
            <a:r>
              <a:rPr lang="en-US" b="1" dirty="0" smtClean="0"/>
              <a:t>Their testimony at the preliminary inquiry may not be used in lieu of their appearance and testimony at trial.</a:t>
            </a:r>
          </a:p>
          <a:p>
            <a:pPr algn="just"/>
            <a:r>
              <a:rPr lang="en-US" b="1" dirty="0" smtClean="0"/>
              <a:t>Unless it is impossible for the witness to testify during the trail, the prosecutor is to call them to testify at trial.</a:t>
            </a:r>
          </a:p>
          <a:p>
            <a:pPr algn="just"/>
            <a:r>
              <a:rPr lang="en-US" b="1" dirty="0" smtClean="0"/>
              <a:t> if the  witness who testified during the preliminary inquiry are not available to testify at trail for certain reasons, including death , mental or physical illness, being out side of the country or because they cannot be found for any other reasons  their testimony at the  preliminary inquiry can be introduced.( Art. 144(1).</a:t>
            </a:r>
            <a:endParaRPr lang="en-US" b="1"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The Charge : Introduction</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dirty="0" smtClean="0"/>
              <a:t>Upon the receipt of the report of police investigation, the public prosecutor may prosecute the accused on a change drawn up by him pursuant to Articles 108-122 of the Cr C among others. </a:t>
            </a:r>
          </a:p>
          <a:p>
            <a:pPr algn="just"/>
            <a:r>
              <a:rPr lang="en-US" sz="2800" b="1" dirty="0" smtClean="0"/>
              <a:t>Charge could be defined as a formal document containing an allegation that a person named therein has committed a crime by describing the necessary facts and evidence.</a:t>
            </a:r>
          </a:p>
          <a:p>
            <a:pPr algn="just"/>
            <a:r>
              <a:rPr lang="en-US" sz="2800" b="1" dirty="0" smtClean="0"/>
              <a:t>As stated under Art. 109(1) of the code, when the public prosecutor decides to  prosecute the accused he must decide what charge to frame based on the information  secured through investigation.</a:t>
            </a: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Charge….. </a:t>
            </a:r>
            <a:endParaRPr lang="en-US" dirty="0"/>
          </a:p>
        </p:txBody>
      </p:sp>
      <p:sp>
        <p:nvSpPr>
          <p:cNvPr id="3" name="Content Placeholder 2"/>
          <p:cNvSpPr>
            <a:spLocks noGrp="1"/>
          </p:cNvSpPr>
          <p:nvPr>
            <p:ph idx="1"/>
          </p:nvPr>
        </p:nvSpPr>
        <p:spPr/>
        <p:txBody>
          <a:bodyPr>
            <a:normAutofit/>
          </a:bodyPr>
          <a:lstStyle/>
          <a:p>
            <a:pPr algn="just"/>
            <a:r>
              <a:rPr lang="en-US" b="1" dirty="0" smtClean="0"/>
              <a:t>The charge is so important that it must be made in writing.</a:t>
            </a:r>
          </a:p>
          <a:p>
            <a:pPr algn="just"/>
            <a:r>
              <a:rPr lang="en-US" b="1" dirty="0" smtClean="0"/>
              <a:t>Art. 20(2) of the FDRE constitution recognize the right of the accused to get a charge.</a:t>
            </a:r>
          </a:p>
          <a:p>
            <a:pPr algn="just"/>
            <a:r>
              <a:rPr lang="en-US" b="1" dirty="0" smtClean="0"/>
              <a:t>Art 108  expressly prohibit conduct of a trail without a charge, except  petty offences.</a:t>
            </a:r>
          </a:p>
          <a:p>
            <a:pPr algn="just"/>
            <a:r>
              <a:rPr lang="en-US" b="1" dirty="0" smtClean="0"/>
              <a:t>Even for the petty offences the code requires the summon to recite the name of the accused, the circumstance of the offence committed. Art 167(2)                        </a:t>
            </a:r>
          </a:p>
          <a:p>
            <a:endParaRPr 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Form and Content of a charge (Art. 111)</a:t>
            </a:r>
            <a:endParaRPr lang="en-US" sz="3600"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i="1" dirty="0" smtClean="0"/>
              <a:t> </a:t>
            </a:r>
            <a:r>
              <a:rPr lang="en-US" b="1" dirty="0" smtClean="0"/>
              <a:t>Every charge shall be dated and signed and shall contain:</a:t>
            </a:r>
          </a:p>
          <a:p>
            <a:pPr lvl="1" algn="just">
              <a:buFont typeface="Wingdings" pitchFamily="2" charset="2"/>
              <a:buChar char="Ø"/>
            </a:pPr>
            <a:r>
              <a:rPr lang="en-US" b="1" dirty="0" smtClean="0"/>
              <a:t>The name of the accused; </a:t>
            </a:r>
          </a:p>
          <a:p>
            <a:pPr lvl="1" algn="just">
              <a:buFont typeface="Wingdings" pitchFamily="2" charset="2"/>
              <a:buChar char="Ø"/>
            </a:pPr>
            <a:r>
              <a:rPr lang="en-US" b="1" dirty="0" smtClean="0"/>
              <a:t>The offence with which the accused is charged </a:t>
            </a:r>
          </a:p>
          <a:p>
            <a:pPr lvl="1" algn="just">
              <a:buFont typeface="Wingdings" pitchFamily="2" charset="2"/>
              <a:buChar char="Ø"/>
            </a:pPr>
            <a:r>
              <a:rPr lang="en-US" b="1" dirty="0" smtClean="0"/>
              <a:t>Its legal and material ingredients; and</a:t>
            </a:r>
          </a:p>
          <a:p>
            <a:pPr lvl="1" algn="just">
              <a:buFont typeface="Wingdings" pitchFamily="2" charset="2"/>
              <a:buChar char="Ø"/>
            </a:pPr>
            <a:r>
              <a:rPr lang="en-US" b="1" dirty="0" smtClean="0"/>
              <a:t>The time and place of the offence(where appropriate),</a:t>
            </a:r>
          </a:p>
          <a:p>
            <a:pPr lvl="1" algn="just">
              <a:buFont typeface="Wingdings" pitchFamily="2" charset="2"/>
              <a:buChar char="Ø"/>
            </a:pPr>
            <a:r>
              <a:rPr lang="en-US" b="1" dirty="0" smtClean="0"/>
              <a:t>The person against whom or the property in respect Which the offence was committed</a:t>
            </a:r>
          </a:p>
          <a:p>
            <a:pPr lvl="1" algn="just">
              <a:buFont typeface="Wingdings" pitchFamily="2" charset="2"/>
              <a:buChar char="Ø"/>
            </a:pPr>
            <a:r>
              <a:rPr lang="en-US" b="1" dirty="0" smtClean="0"/>
              <a:t>The law and article of the law violated.</a:t>
            </a:r>
          </a:p>
          <a:p>
            <a:pPr algn="just"/>
            <a:endParaRPr lang="en-US" b="1" dirty="0" smtClean="0"/>
          </a:p>
          <a:p>
            <a:pPr algn="just"/>
            <a:endParaRPr lang="en-US" b="1"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Form and Content of ……….</a:t>
            </a:r>
            <a:endParaRPr lang="en-US" dirty="0"/>
          </a:p>
        </p:txBody>
      </p:sp>
      <p:sp>
        <p:nvSpPr>
          <p:cNvPr id="3" name="Content Placeholder 2"/>
          <p:cNvSpPr>
            <a:spLocks noGrp="1"/>
          </p:cNvSpPr>
          <p:nvPr>
            <p:ph idx="1"/>
          </p:nvPr>
        </p:nvSpPr>
        <p:spPr/>
        <p:txBody>
          <a:bodyPr>
            <a:normAutofit/>
          </a:bodyPr>
          <a:lstStyle/>
          <a:p>
            <a:pPr algn="just"/>
            <a:r>
              <a:rPr lang="en-US" b="1" dirty="0" smtClean="0"/>
              <a:t>Even if the Cr.Pr. dictates that evidence will  be attached later, the practice reveal that both oral and documentary evidences are attached to a charge.</a:t>
            </a:r>
          </a:p>
          <a:p>
            <a:pPr algn="just"/>
            <a:r>
              <a:rPr lang="en-US" b="1" dirty="0" smtClean="0"/>
              <a:t>Even if  Art. 111 does not mention the name of the court, Art 109 provides that the charge must be filed before a court having jurisdiction.</a:t>
            </a:r>
          </a:p>
          <a:p>
            <a:pPr algn="just"/>
            <a:r>
              <a:rPr lang="en-US" b="1" dirty="0" smtClean="0"/>
              <a:t>The charge shall be in the form set out in the Second Schedule to this Code or shall conform thereto as nearly as may be.</a:t>
            </a:r>
            <a:endParaRPr lang="en-US" dirty="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Function of a charge</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The major function of a charge, as can be inferred from Art.20(2) of the FDRE constitutional and Art.112 of the criminal procedure is to inform the accused of the nature of the crime alleged against him.</a:t>
            </a:r>
          </a:p>
          <a:p>
            <a:pPr algn="just"/>
            <a:r>
              <a:rPr lang="en-US" b="1" dirty="0" smtClean="0"/>
              <a:t>There are also secondary functions such as</a:t>
            </a:r>
          </a:p>
          <a:p>
            <a:pPr lvl="1" algn="just">
              <a:buFont typeface="Wingdings" pitchFamily="2" charset="2"/>
              <a:buChar char="Ø"/>
            </a:pPr>
            <a:r>
              <a:rPr lang="en-US" b="1" dirty="0" smtClean="0"/>
              <a:t>It serves as a reference document  for the court to use in deciding whether the given evidence is relevant and whether the prosecutor proves each element of his allegation to the required standard.</a:t>
            </a:r>
          </a:p>
          <a:p>
            <a:pPr lvl="1" algn="just">
              <a:buFont typeface="Wingdings" pitchFamily="2" charset="2"/>
              <a:buChar char="Ø"/>
            </a:pPr>
            <a:r>
              <a:rPr lang="en-US" b="1" dirty="0" smtClean="0"/>
              <a:t>In addition the charge will serve as evidence for the accused to prove that his is being subjected to double jeopardy in case he is prosecuted a second time for the same offence.</a:t>
            </a:r>
            <a:endParaRPr lang="en-US" b="1"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 Parts of A charge</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Art 111(2) requires the public prosecutor to follow the sample form provided in the second schedule of the code where different forms of charges are stated for simple, alternative or concurrent charges.</a:t>
            </a:r>
          </a:p>
          <a:p>
            <a:pPr algn="just"/>
            <a:r>
              <a:rPr lang="en-US" b="1" dirty="0" smtClean="0"/>
              <a:t>What ever it may be a charge will have four parts.</a:t>
            </a:r>
          </a:p>
          <a:p>
            <a:pPr lvl="1" algn="just">
              <a:buFont typeface="Wingdings" pitchFamily="2" charset="2"/>
              <a:buChar char="Ø"/>
            </a:pPr>
            <a:r>
              <a:rPr lang="en-US" b="1" dirty="0" smtClean="0"/>
              <a:t>The caption,</a:t>
            </a:r>
          </a:p>
          <a:p>
            <a:pPr lvl="1" algn="just">
              <a:buFont typeface="Wingdings" pitchFamily="2" charset="2"/>
              <a:buChar char="Ø"/>
            </a:pPr>
            <a:r>
              <a:rPr lang="en-US" b="1" dirty="0" smtClean="0"/>
              <a:t>The statement of the Offence,</a:t>
            </a:r>
          </a:p>
          <a:p>
            <a:pPr lvl="1" algn="just">
              <a:buFont typeface="Wingdings" pitchFamily="2" charset="2"/>
              <a:buChar char="Ø"/>
            </a:pPr>
            <a:r>
              <a:rPr lang="en-US" b="1" dirty="0" smtClean="0"/>
              <a:t>Particulars of the offence and</a:t>
            </a:r>
          </a:p>
          <a:p>
            <a:pPr lvl="1" algn="just">
              <a:buFont typeface="Wingdings" pitchFamily="2" charset="2"/>
              <a:buChar char="Ø"/>
            </a:pPr>
            <a:r>
              <a:rPr lang="en-US" b="1" dirty="0" smtClean="0"/>
              <a:t>The evidence part.</a:t>
            </a:r>
          </a:p>
          <a:p>
            <a:pPr algn="just">
              <a:buFont typeface="Wingdings" pitchFamily="2" charset="2"/>
              <a:buChar char="Ø"/>
            </a:pPr>
            <a:r>
              <a:rPr lang="en-US" b="1" dirty="0" smtClean="0"/>
              <a:t> Finally there is the name and the signature of the Prosecutor at bottom of the charge.</a:t>
            </a:r>
          </a:p>
          <a:p>
            <a:pPr lvl="1" algn="just">
              <a:buFont typeface="Wingdings" pitchFamily="2" charset="2"/>
              <a:buChar char="Ø"/>
            </a:pPr>
            <a:endParaRPr lang="en-US" b="1"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Simple Charge</a:t>
            </a:r>
            <a:br>
              <a:rPr lang="en-US" b="1" i="1" dirty="0" smtClean="0">
                <a:solidFill>
                  <a:srgbClr val="00B050"/>
                </a:solidFill>
              </a:rPr>
            </a:br>
            <a:endParaRPr lang="en-US" b="1" i="1" dirty="0">
              <a:solidFill>
                <a:srgbClr val="00B050"/>
              </a:solidFill>
            </a:endParaRPr>
          </a:p>
        </p:txBody>
      </p:sp>
      <p:sp>
        <p:nvSpPr>
          <p:cNvPr id="3" name="Content Placeholder 2"/>
          <p:cNvSpPr>
            <a:spLocks noGrp="1"/>
          </p:cNvSpPr>
          <p:nvPr>
            <p:ph idx="1"/>
          </p:nvPr>
        </p:nvSpPr>
        <p:spPr/>
        <p:txBody>
          <a:bodyPr>
            <a:normAutofit fontScale="40000" lnSpcReduction="20000"/>
          </a:bodyPr>
          <a:lstStyle/>
          <a:p>
            <a:pPr algn="r">
              <a:buNone/>
            </a:pPr>
            <a:r>
              <a:rPr lang="en-US" b="1" dirty="0" err="1" smtClean="0"/>
              <a:t>ቁጥር</a:t>
            </a:r>
            <a:r>
              <a:rPr lang="en-US" b="1" dirty="0" smtClean="0"/>
              <a:t>………………..</a:t>
            </a:r>
          </a:p>
          <a:p>
            <a:pPr algn="r">
              <a:buNone/>
            </a:pPr>
            <a:r>
              <a:rPr lang="en-US" b="1" dirty="0" err="1" smtClean="0"/>
              <a:t>ቀን</a:t>
            </a:r>
            <a:r>
              <a:rPr lang="en-US" b="1" dirty="0" smtClean="0"/>
              <a:t>…………………..</a:t>
            </a:r>
          </a:p>
          <a:p>
            <a:pPr>
              <a:buNone/>
            </a:pPr>
            <a:endParaRPr lang="en-US" b="1" dirty="0" smtClean="0"/>
          </a:p>
          <a:p>
            <a:pPr>
              <a:buNone/>
            </a:pPr>
            <a:r>
              <a:rPr lang="en-US" b="1" dirty="0" err="1" smtClean="0"/>
              <a:t>ለፌደራል</a:t>
            </a:r>
            <a:r>
              <a:rPr lang="en-US" b="1" dirty="0" smtClean="0"/>
              <a:t> ከፍተኛ ፍርድ ቤት</a:t>
            </a:r>
          </a:p>
          <a:p>
            <a:pPr>
              <a:buNone/>
            </a:pPr>
            <a:r>
              <a:rPr lang="en-US" b="1" u="sng" dirty="0" smtClean="0"/>
              <a:t>አዲስ አበባ</a:t>
            </a:r>
            <a:endParaRPr lang="en-US" b="1" dirty="0" smtClean="0"/>
          </a:p>
          <a:p>
            <a:pPr algn="ctr">
              <a:buNone/>
            </a:pPr>
            <a:r>
              <a:rPr lang="en-US" b="1" dirty="0" smtClean="0"/>
              <a:t>                       </a:t>
            </a:r>
            <a:r>
              <a:rPr lang="en-US" b="1" dirty="0" err="1" smtClean="0"/>
              <a:t>የፌ</a:t>
            </a:r>
            <a:r>
              <a:rPr lang="en-US" b="1" dirty="0" smtClean="0"/>
              <a:t>/ሥ/ፀ/ሙ/ኮ/መ/ቁ. </a:t>
            </a:r>
            <a:r>
              <a:rPr lang="en-US" b="1" u="sng" dirty="0" smtClean="0"/>
              <a:t>	__</a:t>
            </a:r>
            <a:endParaRPr lang="en-US" b="1" dirty="0" smtClean="0"/>
          </a:p>
          <a:p>
            <a:pPr algn="ctr">
              <a:buNone/>
            </a:pPr>
            <a:r>
              <a:rPr lang="en-US" b="1" dirty="0" smtClean="0"/>
              <a:t>                           </a:t>
            </a:r>
            <a:r>
              <a:rPr lang="en-US" b="1" dirty="0" err="1" smtClean="0"/>
              <a:t>የዐ</a:t>
            </a:r>
            <a:r>
              <a:rPr lang="en-US" b="1" dirty="0" smtClean="0"/>
              <a:t>/ህ/መ/ቁ. _____________</a:t>
            </a:r>
            <a:endParaRPr lang="en-US" b="1" u="sng" dirty="0" smtClean="0"/>
          </a:p>
          <a:p>
            <a:pPr algn="ctr">
              <a:buNone/>
            </a:pPr>
            <a:r>
              <a:rPr lang="en-US" b="1" dirty="0" smtClean="0"/>
              <a:t>                         </a:t>
            </a:r>
            <a:r>
              <a:rPr lang="en-US" b="1" dirty="0" err="1" smtClean="0"/>
              <a:t>የፖ.መ.ቁ</a:t>
            </a:r>
            <a:r>
              <a:rPr lang="en-US" b="1" dirty="0" smtClean="0"/>
              <a:t>______________</a:t>
            </a:r>
          </a:p>
          <a:p>
            <a:pPr>
              <a:buNone/>
            </a:pPr>
            <a:r>
              <a:rPr lang="en-US" b="1" dirty="0" err="1" smtClean="0"/>
              <a:t>ከሣሽ</a:t>
            </a:r>
            <a:r>
              <a:rPr lang="en-US" b="1" dirty="0" smtClean="0"/>
              <a:t> ………….. </a:t>
            </a:r>
            <a:r>
              <a:rPr lang="en-US" b="1" dirty="0" err="1" smtClean="0"/>
              <a:t>የፌደራል</a:t>
            </a:r>
            <a:r>
              <a:rPr lang="en-US" b="1" dirty="0" smtClean="0"/>
              <a:t> </a:t>
            </a:r>
            <a:r>
              <a:rPr lang="en-US" b="1" dirty="0" err="1" smtClean="0"/>
              <a:t>የሥነ</a:t>
            </a:r>
            <a:r>
              <a:rPr lang="en-US" b="1" dirty="0" smtClean="0"/>
              <a:t> </a:t>
            </a:r>
            <a:r>
              <a:rPr lang="en-US" b="1" dirty="0" err="1" smtClean="0"/>
              <a:t>ምግባር</a:t>
            </a:r>
            <a:r>
              <a:rPr lang="en-US" b="1" dirty="0" smtClean="0"/>
              <a:t> </a:t>
            </a:r>
            <a:r>
              <a:rPr lang="en-US" b="1" dirty="0" err="1" smtClean="0"/>
              <a:t>እና</a:t>
            </a:r>
            <a:r>
              <a:rPr lang="en-US" b="1" dirty="0" smtClean="0"/>
              <a:t> </a:t>
            </a:r>
            <a:r>
              <a:rPr lang="en-US" b="1" dirty="0" err="1" smtClean="0"/>
              <a:t>የፀረ</a:t>
            </a:r>
            <a:r>
              <a:rPr lang="en-US" b="1" dirty="0" smtClean="0"/>
              <a:t> </a:t>
            </a:r>
            <a:r>
              <a:rPr lang="en-US" b="1" dirty="0" err="1" smtClean="0"/>
              <a:t>ሙስና</a:t>
            </a:r>
            <a:r>
              <a:rPr lang="en-US" b="1" dirty="0" smtClean="0"/>
              <a:t> </a:t>
            </a:r>
            <a:r>
              <a:rPr lang="en-US" b="1" dirty="0" err="1" smtClean="0"/>
              <a:t>ኮማሽን</a:t>
            </a:r>
            <a:r>
              <a:rPr lang="en-US" b="1" dirty="0" smtClean="0"/>
              <a:t> </a:t>
            </a:r>
            <a:r>
              <a:rPr lang="en-US" b="1" dirty="0" err="1" smtClean="0"/>
              <a:t>ዐቃቤ</a:t>
            </a:r>
            <a:r>
              <a:rPr lang="en-US" b="1" dirty="0" smtClean="0"/>
              <a:t> </a:t>
            </a:r>
            <a:r>
              <a:rPr lang="en-US" b="1" dirty="0" err="1" smtClean="0"/>
              <a:t>ሕግ</a:t>
            </a:r>
            <a:r>
              <a:rPr lang="en-US" b="1" dirty="0" smtClean="0"/>
              <a:t> </a:t>
            </a:r>
          </a:p>
          <a:p>
            <a:pPr>
              <a:buNone/>
            </a:pPr>
            <a:r>
              <a:rPr lang="en-US" b="1" dirty="0" err="1" smtClean="0"/>
              <a:t>ተከሳሽ</a:t>
            </a:r>
            <a:r>
              <a:rPr lang="en-US" b="1" dirty="0" smtClean="0"/>
              <a:t>……………</a:t>
            </a:r>
            <a:r>
              <a:rPr lang="en-US" b="1" dirty="0" err="1" smtClean="0"/>
              <a:t>አቶ</a:t>
            </a:r>
            <a:r>
              <a:rPr lang="en-US" b="1" dirty="0" smtClean="0"/>
              <a:t>   </a:t>
            </a:r>
            <a:r>
              <a:rPr lang="en-US" b="1" dirty="0" err="1" smtClean="0"/>
              <a:t>እንደፍቃዱ</a:t>
            </a:r>
            <a:r>
              <a:rPr lang="en-US" b="1" dirty="0" smtClean="0"/>
              <a:t>  </a:t>
            </a:r>
            <a:r>
              <a:rPr lang="en-US" b="1" dirty="0" err="1" smtClean="0"/>
              <a:t>ዋይ</a:t>
            </a:r>
            <a:endParaRPr lang="en-US" b="1" dirty="0" smtClean="0"/>
          </a:p>
          <a:p>
            <a:pPr lvl="2">
              <a:buNone/>
            </a:pPr>
            <a:r>
              <a:rPr lang="en-US" b="1" dirty="0" err="1" smtClean="0"/>
              <a:t>ስራ</a:t>
            </a:r>
            <a:r>
              <a:rPr lang="en-US" b="1" dirty="0" smtClean="0"/>
              <a:t> ………………… </a:t>
            </a:r>
            <a:r>
              <a:rPr lang="en-US" b="1" dirty="0" err="1" smtClean="0"/>
              <a:t>የመንግስት</a:t>
            </a:r>
            <a:r>
              <a:rPr lang="en-US" b="1" dirty="0" smtClean="0"/>
              <a:t>  </a:t>
            </a:r>
            <a:r>
              <a:rPr lang="en-US" b="1" dirty="0" err="1" smtClean="0"/>
              <a:t>ሰራተኛ</a:t>
            </a:r>
            <a:endParaRPr lang="en-US" b="1" dirty="0" smtClean="0"/>
          </a:p>
          <a:p>
            <a:pPr lvl="2">
              <a:buNone/>
            </a:pPr>
            <a:r>
              <a:rPr lang="en-US" b="1" dirty="0" err="1" smtClean="0"/>
              <a:t>አድራሻ</a:t>
            </a:r>
            <a:r>
              <a:rPr lang="en-US" b="1" dirty="0" smtClean="0"/>
              <a:t>  ……………..</a:t>
            </a:r>
            <a:r>
              <a:rPr lang="en-US" b="1" dirty="0" err="1" smtClean="0"/>
              <a:t>ፒያሳ</a:t>
            </a:r>
            <a:r>
              <a:rPr lang="en-US" b="1" dirty="0" smtClean="0"/>
              <a:t> 02 </a:t>
            </a:r>
            <a:r>
              <a:rPr lang="en-US" b="1" dirty="0" err="1" smtClean="0"/>
              <a:t>ቀበለ</a:t>
            </a:r>
            <a:endParaRPr lang="en-US" b="1" dirty="0" smtClean="0"/>
          </a:p>
          <a:p>
            <a:pPr algn="ctr">
              <a:buNone/>
            </a:pPr>
            <a:r>
              <a:rPr lang="en-US" b="1" u="sng" dirty="0" err="1" smtClean="0"/>
              <a:t>ወንጀሉ</a:t>
            </a:r>
            <a:endParaRPr lang="en-US" b="1" dirty="0" smtClean="0"/>
          </a:p>
          <a:p>
            <a:pPr algn="just">
              <a:buNone/>
            </a:pPr>
            <a:r>
              <a:rPr lang="en-US" b="1" dirty="0" smtClean="0"/>
              <a:t>በ1996 </a:t>
            </a:r>
            <a:r>
              <a:rPr lang="en-US" b="1" dirty="0" err="1" smtClean="0"/>
              <a:t>ዓ.ም</a:t>
            </a:r>
            <a:r>
              <a:rPr lang="en-US" b="1" dirty="0" smtClean="0"/>
              <a:t> </a:t>
            </a:r>
            <a:r>
              <a:rPr lang="en-US" b="1" dirty="0" err="1" smtClean="0"/>
              <a:t>የወጣውን</a:t>
            </a:r>
            <a:r>
              <a:rPr lang="en-US" b="1" dirty="0" smtClean="0"/>
              <a:t> </a:t>
            </a:r>
            <a:r>
              <a:rPr lang="en-US" b="1" dirty="0" err="1" smtClean="0"/>
              <a:t>የኢ.ፌ.ዴ.ሪ</a:t>
            </a:r>
            <a:r>
              <a:rPr lang="en-US" b="1" dirty="0" smtClean="0"/>
              <a:t>. </a:t>
            </a:r>
            <a:r>
              <a:rPr lang="en-US" b="1" dirty="0" err="1" smtClean="0"/>
              <a:t>የወንጀል</a:t>
            </a:r>
            <a:r>
              <a:rPr lang="en-US" b="1" dirty="0" smtClean="0"/>
              <a:t> </a:t>
            </a:r>
            <a:r>
              <a:rPr lang="en-US" b="1" dirty="0" err="1" smtClean="0"/>
              <a:t>ሕግ</a:t>
            </a:r>
            <a:r>
              <a:rPr lang="en-US" b="1" dirty="0" smtClean="0"/>
              <a:t> አንቀፅ  32(1)፣411(1) (ሐ) </a:t>
            </a:r>
            <a:r>
              <a:rPr lang="en-US" b="1" dirty="0" err="1" smtClean="0"/>
              <a:t>እና</a:t>
            </a:r>
            <a:r>
              <a:rPr lang="en-US" b="1" dirty="0" smtClean="0"/>
              <a:t> 2 </a:t>
            </a:r>
            <a:r>
              <a:rPr lang="en-US" b="1" dirty="0" err="1" smtClean="0"/>
              <a:t>ላይ</a:t>
            </a:r>
            <a:r>
              <a:rPr lang="en-US" b="1" dirty="0" smtClean="0"/>
              <a:t> የተመለከተውን በመተላለፋቸው፣ </a:t>
            </a:r>
          </a:p>
          <a:p>
            <a:pPr algn="ctr">
              <a:buNone/>
            </a:pPr>
            <a:r>
              <a:rPr lang="en-US" b="1" u="sng" dirty="0" smtClean="0"/>
              <a:t>የወንጀሉ ዝርዝር</a:t>
            </a:r>
            <a:endParaRPr lang="en-US" b="1" dirty="0" smtClean="0"/>
          </a:p>
          <a:p>
            <a:pPr algn="just">
              <a:buNone/>
            </a:pPr>
            <a:r>
              <a:rPr lang="en-US" b="1" dirty="0" smtClean="0"/>
              <a:t>         </a:t>
            </a:r>
            <a:r>
              <a:rPr lang="en-US" b="1" dirty="0" err="1" smtClean="0"/>
              <a:t>ተከሳሹ</a:t>
            </a:r>
            <a:r>
              <a:rPr lang="en-US" b="1" dirty="0" smtClean="0"/>
              <a:t> </a:t>
            </a:r>
            <a:r>
              <a:rPr lang="en-US" b="1" dirty="0" err="1" smtClean="0"/>
              <a:t>በኢትዮጵያ</a:t>
            </a:r>
            <a:r>
              <a:rPr lang="en-US" b="1" dirty="0" smtClean="0"/>
              <a:t> </a:t>
            </a:r>
            <a:r>
              <a:rPr lang="en-US" b="1" dirty="0" err="1" smtClean="0"/>
              <a:t>ገቢዎችና</a:t>
            </a:r>
            <a:r>
              <a:rPr lang="en-US" b="1" dirty="0" smtClean="0"/>
              <a:t> </a:t>
            </a:r>
            <a:r>
              <a:rPr lang="en-US" b="1" dirty="0" err="1" smtClean="0"/>
              <a:t>ጉምሩክ</a:t>
            </a:r>
            <a:r>
              <a:rPr lang="en-US" b="1" dirty="0" smtClean="0"/>
              <a:t> </a:t>
            </a:r>
            <a:r>
              <a:rPr lang="en-US" b="1" dirty="0" err="1" smtClean="0"/>
              <a:t>ባለሥልጣን</a:t>
            </a:r>
            <a:r>
              <a:rPr lang="en-US" b="1" dirty="0" smtClean="0"/>
              <a:t>  </a:t>
            </a:r>
            <a:r>
              <a:rPr lang="en-US" b="1" dirty="0" err="1" smtClean="0"/>
              <a:t>ሰራተኛ</a:t>
            </a:r>
            <a:r>
              <a:rPr lang="en-US" b="1" dirty="0" smtClean="0"/>
              <a:t> </a:t>
            </a:r>
            <a:r>
              <a:rPr lang="en-US" b="1" dirty="0" err="1" smtClean="0"/>
              <a:t>ሲሆኑ</a:t>
            </a:r>
            <a:r>
              <a:rPr lang="en-US" b="1" dirty="0" smtClean="0"/>
              <a:t>፤ </a:t>
            </a:r>
            <a:r>
              <a:rPr lang="en-US" b="1" dirty="0" err="1" smtClean="0"/>
              <a:t>ስልጣንና</a:t>
            </a:r>
            <a:r>
              <a:rPr lang="en-US" b="1" dirty="0" smtClean="0"/>
              <a:t> </a:t>
            </a:r>
            <a:r>
              <a:rPr lang="en-US" b="1" dirty="0" err="1" smtClean="0"/>
              <a:t>ኃለፊነቱን</a:t>
            </a:r>
            <a:r>
              <a:rPr lang="en-US" b="1" dirty="0" smtClean="0"/>
              <a:t> </a:t>
            </a:r>
            <a:r>
              <a:rPr lang="en-US" b="1" dirty="0" err="1" smtClean="0"/>
              <a:t>በመጠቀም</a:t>
            </a:r>
            <a:r>
              <a:rPr lang="en-US" b="1" dirty="0" smtClean="0"/>
              <a:t> </a:t>
            </a:r>
            <a:r>
              <a:rPr lang="en-US" b="1" dirty="0" err="1" smtClean="0"/>
              <a:t>የማይገባ</a:t>
            </a:r>
            <a:r>
              <a:rPr lang="en-US" b="1" dirty="0" smtClean="0"/>
              <a:t> </a:t>
            </a:r>
            <a:r>
              <a:rPr lang="en-US" b="1" dirty="0" err="1" smtClean="0"/>
              <a:t>ጥቅም</a:t>
            </a:r>
            <a:r>
              <a:rPr lang="en-US" b="1" dirty="0" smtClean="0"/>
              <a:t> </a:t>
            </a:r>
            <a:r>
              <a:rPr lang="en-US" b="1" dirty="0" err="1" smtClean="0"/>
              <a:t>ለራሱ</a:t>
            </a:r>
            <a:r>
              <a:rPr lang="en-US" b="1" dirty="0" smtClean="0"/>
              <a:t> </a:t>
            </a:r>
            <a:r>
              <a:rPr lang="en-US" b="1" dirty="0" err="1" smtClean="0"/>
              <a:t>ለማግኘት</a:t>
            </a:r>
            <a:r>
              <a:rPr lang="en-US" b="1" dirty="0" smtClean="0"/>
              <a:t> </a:t>
            </a:r>
            <a:r>
              <a:rPr lang="en-US" b="1" dirty="0" err="1" smtClean="0"/>
              <a:t>ለሌሎች</a:t>
            </a:r>
            <a:r>
              <a:rPr lang="en-US" b="1" dirty="0" smtClean="0"/>
              <a:t> </a:t>
            </a:r>
            <a:r>
              <a:rPr lang="en-US" b="1" dirty="0" err="1" smtClean="0"/>
              <a:t>ሰዎችም</a:t>
            </a:r>
            <a:r>
              <a:rPr lang="en-US" b="1" dirty="0" smtClean="0"/>
              <a:t> </a:t>
            </a:r>
            <a:r>
              <a:rPr lang="en-US" b="1" dirty="0" err="1" smtClean="0"/>
              <a:t>ለማስገኘት</a:t>
            </a:r>
            <a:r>
              <a:rPr lang="en-US" b="1" dirty="0" smtClean="0"/>
              <a:t> </a:t>
            </a:r>
            <a:r>
              <a:rPr lang="en-US" b="1" dirty="0" err="1" smtClean="0"/>
              <a:t>በማሰብ</a:t>
            </a:r>
            <a:r>
              <a:rPr lang="en-US" b="1" dirty="0" smtClean="0"/>
              <a:t>፣  በ26/07/2001 </a:t>
            </a:r>
            <a:r>
              <a:rPr lang="en-US" b="1" dirty="0" err="1" smtClean="0"/>
              <a:t>ዓ.ም</a:t>
            </a:r>
            <a:r>
              <a:rPr lang="en-US" b="1" dirty="0" smtClean="0"/>
              <a:t> </a:t>
            </a:r>
            <a:r>
              <a:rPr lang="en-US" b="1" dirty="0" err="1" smtClean="0"/>
              <a:t>ጐላጐል</a:t>
            </a:r>
            <a:r>
              <a:rPr lang="en-US" b="1" dirty="0" smtClean="0"/>
              <a:t> </a:t>
            </a:r>
            <a:r>
              <a:rPr lang="en-US" b="1" dirty="0" err="1" smtClean="0"/>
              <a:t>ትሬዲንግ</a:t>
            </a:r>
            <a:r>
              <a:rPr lang="en-US" b="1" dirty="0" smtClean="0"/>
              <a:t> ኃ/</a:t>
            </a:r>
            <a:r>
              <a:rPr lang="en-US" b="1" dirty="0" err="1" smtClean="0"/>
              <a:t>የተ</a:t>
            </a:r>
            <a:r>
              <a:rPr lang="en-US" b="1" dirty="0" smtClean="0"/>
              <a:t>/</a:t>
            </a:r>
            <a:r>
              <a:rPr lang="en-US" b="1" dirty="0" err="1" smtClean="0"/>
              <a:t>የግ</a:t>
            </a:r>
            <a:r>
              <a:rPr lang="en-US" b="1" dirty="0" smtClean="0"/>
              <a:t>/</a:t>
            </a:r>
            <a:r>
              <a:rPr lang="en-US" b="1" dirty="0" err="1" smtClean="0"/>
              <a:t>ማኅበር</a:t>
            </a:r>
            <a:r>
              <a:rPr lang="en-US" b="1" dirty="0" smtClean="0"/>
              <a:t> </a:t>
            </a:r>
            <a:r>
              <a:rPr lang="en-US" b="1" dirty="0" err="1" smtClean="0"/>
              <a:t>የተባለ</a:t>
            </a:r>
            <a:r>
              <a:rPr lang="en-US" b="1" dirty="0" smtClean="0"/>
              <a:t> </a:t>
            </a:r>
            <a:r>
              <a:rPr lang="en-US" b="1" dirty="0" err="1" smtClean="0"/>
              <a:t>ድርጅት</a:t>
            </a:r>
            <a:r>
              <a:rPr lang="en-US" b="1" dirty="0" smtClean="0"/>
              <a:t> </a:t>
            </a:r>
            <a:r>
              <a:rPr lang="en-US" b="1" dirty="0" err="1" smtClean="0"/>
              <a:t>ያለቫት</a:t>
            </a:r>
            <a:r>
              <a:rPr lang="en-US" b="1" dirty="0" smtClean="0"/>
              <a:t> </a:t>
            </a:r>
            <a:r>
              <a:rPr lang="en-US" b="1" dirty="0" err="1" smtClean="0"/>
              <a:t>ደረሰኝ</a:t>
            </a:r>
            <a:r>
              <a:rPr lang="en-US" b="1" dirty="0" smtClean="0"/>
              <a:t> </a:t>
            </a:r>
            <a:r>
              <a:rPr lang="en-US" b="1" dirty="0" err="1" smtClean="0"/>
              <a:t>ግብይት</a:t>
            </a:r>
            <a:r>
              <a:rPr lang="en-US" b="1" dirty="0" smtClean="0"/>
              <a:t> </a:t>
            </a:r>
            <a:r>
              <a:rPr lang="en-US" b="1" dirty="0" err="1" smtClean="0"/>
              <a:t>እንደሚፈፅም</a:t>
            </a:r>
            <a:r>
              <a:rPr lang="en-US" b="1" dirty="0" smtClean="0"/>
              <a:t> </a:t>
            </a:r>
            <a:r>
              <a:rPr lang="en-US" b="1" dirty="0" err="1" smtClean="0"/>
              <a:t>ለገቢዎችና</a:t>
            </a:r>
            <a:r>
              <a:rPr lang="en-US" b="1" dirty="0" smtClean="0"/>
              <a:t> </a:t>
            </a:r>
            <a:r>
              <a:rPr lang="en-US" b="1" dirty="0" err="1" smtClean="0"/>
              <a:t>ጉምሩክ</a:t>
            </a:r>
            <a:r>
              <a:rPr lang="en-US" b="1" dirty="0" smtClean="0"/>
              <a:t> </a:t>
            </a:r>
            <a:r>
              <a:rPr lang="en-US" b="1" dirty="0" err="1" smtClean="0"/>
              <a:t>ባለስልጣን</a:t>
            </a:r>
            <a:r>
              <a:rPr lang="en-US" b="1" dirty="0" smtClean="0"/>
              <a:t> </a:t>
            </a:r>
            <a:r>
              <a:rPr lang="en-US" b="1" dirty="0" err="1" smtClean="0"/>
              <a:t>ጥቆማ</a:t>
            </a:r>
            <a:r>
              <a:rPr lang="en-US" b="1" dirty="0" smtClean="0"/>
              <a:t> </a:t>
            </a:r>
            <a:r>
              <a:rPr lang="en-US" b="1" dirty="0" err="1" smtClean="0"/>
              <a:t>ቀርቦ</a:t>
            </a:r>
            <a:r>
              <a:rPr lang="en-US" b="1" dirty="0" smtClean="0"/>
              <a:t> </a:t>
            </a:r>
            <a:r>
              <a:rPr lang="en-US" b="1" dirty="0" err="1" smtClean="0"/>
              <a:t>እውነተኛነቱን</a:t>
            </a:r>
            <a:r>
              <a:rPr lang="en-US" b="1" dirty="0" smtClean="0"/>
              <a:t> </a:t>
            </a:r>
            <a:r>
              <a:rPr lang="en-US" b="1" dirty="0" err="1" smtClean="0"/>
              <a:t>ለማረጋገጥ</a:t>
            </a:r>
            <a:r>
              <a:rPr lang="en-US" b="1" dirty="0" smtClean="0"/>
              <a:t> </a:t>
            </a:r>
            <a:r>
              <a:rPr lang="en-US" b="1" dirty="0" err="1" smtClean="0"/>
              <a:t>የባለሥልጣኑ</a:t>
            </a:r>
            <a:r>
              <a:rPr lang="en-US" b="1" dirty="0" smtClean="0"/>
              <a:t> </a:t>
            </a:r>
            <a:r>
              <a:rPr lang="en-US" b="1" dirty="0" err="1" smtClean="0"/>
              <a:t>ሠራተኞች</a:t>
            </a:r>
            <a:r>
              <a:rPr lang="en-US" b="1" dirty="0" smtClean="0"/>
              <a:t> </a:t>
            </a:r>
            <a:r>
              <a:rPr lang="en-US" b="1" dirty="0" err="1" smtClean="0"/>
              <a:t>ተልከው</a:t>
            </a:r>
            <a:r>
              <a:rPr lang="en-US" b="1" dirty="0" smtClean="0"/>
              <a:t> </a:t>
            </a:r>
            <a:r>
              <a:rPr lang="en-US" b="1" dirty="0" err="1" smtClean="0"/>
              <a:t>እንደጥቆማው</a:t>
            </a:r>
            <a:r>
              <a:rPr lang="en-US" b="1" dirty="0" smtClean="0"/>
              <a:t> </a:t>
            </a:r>
            <a:r>
              <a:rPr lang="en-US" b="1" dirty="0" err="1" smtClean="0"/>
              <a:t>አቀራረብ</a:t>
            </a:r>
            <a:r>
              <a:rPr lang="en-US" b="1" dirty="0" smtClean="0"/>
              <a:t> </a:t>
            </a:r>
            <a:r>
              <a:rPr lang="en-US" b="1" dirty="0" err="1" smtClean="0"/>
              <a:t>እንደሚፈፅም</a:t>
            </a:r>
            <a:r>
              <a:rPr lang="en-US" b="1" dirty="0" smtClean="0"/>
              <a:t> </a:t>
            </a:r>
            <a:r>
              <a:rPr lang="en-US" b="1" dirty="0" err="1" smtClean="0"/>
              <a:t>በወቅቱ</a:t>
            </a:r>
            <a:r>
              <a:rPr lang="en-US" b="1" dirty="0" smtClean="0"/>
              <a:t> </a:t>
            </a:r>
            <a:r>
              <a:rPr lang="en-US" b="1" dirty="0" err="1" smtClean="0"/>
              <a:t>በተላኩት</a:t>
            </a:r>
            <a:r>
              <a:rPr lang="en-US" b="1" dirty="0" smtClean="0"/>
              <a:t> </a:t>
            </a:r>
            <a:r>
              <a:rPr lang="en-US" b="1" dirty="0" err="1" smtClean="0"/>
              <a:t>ሠራተኞች</a:t>
            </a:r>
            <a:r>
              <a:rPr lang="en-US" b="1" dirty="0" smtClean="0"/>
              <a:t> </a:t>
            </a:r>
            <a:r>
              <a:rPr lang="en-US" b="1" dirty="0" err="1" smtClean="0"/>
              <a:t>ከተረጋገጠና</a:t>
            </a:r>
            <a:r>
              <a:rPr lang="en-US" b="1" dirty="0" smtClean="0"/>
              <a:t> </a:t>
            </a:r>
            <a:r>
              <a:rPr lang="en-US" b="1" dirty="0" err="1" smtClean="0"/>
              <a:t>ተጠርጣሪዎችም</a:t>
            </a:r>
            <a:r>
              <a:rPr lang="en-US" b="1" dirty="0" smtClean="0"/>
              <a:t> </a:t>
            </a:r>
            <a:r>
              <a:rPr lang="en-US" b="1" dirty="0" err="1" smtClean="0"/>
              <a:t>ከተለዩና</a:t>
            </a:r>
            <a:r>
              <a:rPr lang="en-US" b="1" dirty="0" smtClean="0"/>
              <a:t> </a:t>
            </a:r>
            <a:r>
              <a:rPr lang="en-US" b="1" dirty="0" err="1" smtClean="0"/>
              <a:t>ምርመራ</a:t>
            </a:r>
            <a:r>
              <a:rPr lang="en-US" b="1" dirty="0" smtClean="0"/>
              <a:t> </a:t>
            </a:r>
            <a:r>
              <a:rPr lang="en-US" b="1" dirty="0" err="1" smtClean="0"/>
              <a:t>መዝገቡ</a:t>
            </a:r>
            <a:r>
              <a:rPr lang="en-US" b="1" dirty="0" smtClean="0"/>
              <a:t> </a:t>
            </a:r>
            <a:r>
              <a:rPr lang="en-US" b="1" dirty="0" err="1" smtClean="0"/>
              <a:t>ተደራጅቶ</a:t>
            </a:r>
            <a:r>
              <a:rPr lang="en-US" b="1" dirty="0" smtClean="0"/>
              <a:t> </a:t>
            </a:r>
            <a:r>
              <a:rPr lang="en-US" b="1" dirty="0" err="1" smtClean="0"/>
              <a:t>እንደሚያስከስስ</a:t>
            </a:r>
            <a:r>
              <a:rPr lang="en-US" b="1" dirty="0" smtClean="0"/>
              <a:t> </a:t>
            </a:r>
            <a:r>
              <a:rPr lang="en-US" b="1" dirty="0" err="1" smtClean="0"/>
              <a:t>ከተረጋገጠ</a:t>
            </a:r>
            <a:r>
              <a:rPr lang="en-US" b="1" dirty="0" smtClean="0"/>
              <a:t> </a:t>
            </a:r>
            <a:r>
              <a:rPr lang="en-US" b="1" dirty="0" err="1" smtClean="0"/>
              <a:t>በኋላ</a:t>
            </a:r>
            <a:r>
              <a:rPr lang="en-US" b="1" dirty="0" smtClean="0"/>
              <a:t> </a:t>
            </a:r>
            <a:r>
              <a:rPr lang="en-US" b="1" dirty="0" err="1" smtClean="0"/>
              <a:t>ተከሣሹ</a:t>
            </a:r>
            <a:r>
              <a:rPr lang="en-US" b="1" dirty="0" smtClean="0"/>
              <a:t> </a:t>
            </a:r>
            <a:r>
              <a:rPr lang="en-US" b="1" dirty="0" err="1" smtClean="0"/>
              <a:t>የባለሥልጣኑ</a:t>
            </a:r>
            <a:r>
              <a:rPr lang="en-US" b="1" dirty="0" smtClean="0"/>
              <a:t> </a:t>
            </a:r>
            <a:r>
              <a:rPr lang="en-US" b="1" dirty="0" err="1" smtClean="0"/>
              <a:t>የሥራ</a:t>
            </a:r>
            <a:r>
              <a:rPr lang="en-US" b="1" dirty="0" smtClean="0"/>
              <a:t> </a:t>
            </a:r>
            <a:r>
              <a:rPr lang="en-US" b="1" dirty="0" err="1" smtClean="0"/>
              <a:t>ኃላፊዎች</a:t>
            </a:r>
            <a:r>
              <a:rPr lang="en-US" b="1" dirty="0" smtClean="0"/>
              <a:t> </a:t>
            </a:r>
            <a:r>
              <a:rPr lang="en-US" b="1" dirty="0" err="1" smtClean="0"/>
              <a:t>በተገኙበት</a:t>
            </a:r>
            <a:r>
              <a:rPr lang="en-US" b="1" dirty="0" smtClean="0"/>
              <a:t> </a:t>
            </a:r>
            <a:r>
              <a:rPr lang="en-US" b="1" dirty="0" err="1" smtClean="0"/>
              <a:t>የድርጅቱ</a:t>
            </a:r>
            <a:r>
              <a:rPr lang="en-US" b="1" dirty="0" smtClean="0"/>
              <a:t> </a:t>
            </a:r>
            <a:r>
              <a:rPr lang="en-US" b="1" dirty="0" err="1" smtClean="0"/>
              <a:t>ባለቤት</a:t>
            </a:r>
            <a:r>
              <a:rPr lang="en-US" b="1" dirty="0" smtClean="0"/>
              <a:t> </a:t>
            </a:r>
            <a:r>
              <a:rPr lang="en-US" b="1" dirty="0" err="1" smtClean="0"/>
              <a:t>አቤቱታ</a:t>
            </a:r>
            <a:r>
              <a:rPr lang="en-US" b="1" dirty="0" smtClean="0"/>
              <a:t> </a:t>
            </a:r>
            <a:r>
              <a:rPr lang="en-US" b="1" dirty="0" err="1" smtClean="0"/>
              <a:t>ስላቀረበ</a:t>
            </a:r>
            <a:r>
              <a:rPr lang="en-US" b="1" dirty="0" smtClean="0"/>
              <a:t> </a:t>
            </a:r>
            <a:r>
              <a:rPr lang="en-US" b="1" dirty="0" err="1" smtClean="0"/>
              <a:t>ጉዳዩ</a:t>
            </a:r>
            <a:r>
              <a:rPr lang="en-US" b="1" dirty="0" smtClean="0"/>
              <a:t> </a:t>
            </a:r>
            <a:r>
              <a:rPr lang="en-US" b="1" dirty="0" err="1" smtClean="0"/>
              <a:t>በድጋሚ</a:t>
            </a:r>
            <a:r>
              <a:rPr lang="en-US" b="1" dirty="0" smtClean="0"/>
              <a:t> </a:t>
            </a:r>
            <a:r>
              <a:rPr lang="en-US" b="1" dirty="0" err="1" smtClean="0"/>
              <a:t>መታየት</a:t>
            </a:r>
            <a:r>
              <a:rPr lang="en-US" b="1" dirty="0" smtClean="0"/>
              <a:t> </a:t>
            </a:r>
            <a:r>
              <a:rPr lang="en-US" b="1" dirty="0" err="1" smtClean="0"/>
              <a:t>አለበት</a:t>
            </a:r>
            <a:r>
              <a:rPr lang="en-US" b="1" dirty="0" smtClean="0"/>
              <a:t> </a:t>
            </a:r>
            <a:r>
              <a:rPr lang="en-US" b="1" dirty="0" err="1" smtClean="0"/>
              <a:t>በሚል</a:t>
            </a:r>
            <a:r>
              <a:rPr lang="en-US" b="1" dirty="0" smtClean="0"/>
              <a:t> </a:t>
            </a:r>
            <a:r>
              <a:rPr lang="en-US" b="1" dirty="0" err="1" smtClean="0"/>
              <a:t>ሽፋን</a:t>
            </a:r>
            <a:r>
              <a:rPr lang="en-US" b="1" dirty="0" smtClean="0"/>
              <a:t> </a:t>
            </a:r>
            <a:r>
              <a:rPr lang="en-US" b="1" dirty="0" err="1" smtClean="0"/>
              <a:t>ምርመራው</a:t>
            </a:r>
            <a:r>
              <a:rPr lang="en-US" b="1" dirty="0" smtClean="0"/>
              <a:t> </a:t>
            </a:r>
            <a:r>
              <a:rPr lang="en-US" b="1" dirty="0" err="1" smtClean="0"/>
              <a:t>እንደገና</a:t>
            </a:r>
            <a:r>
              <a:rPr lang="en-US" b="1" dirty="0" smtClean="0"/>
              <a:t> </a:t>
            </a:r>
            <a:r>
              <a:rPr lang="en-US" b="1" dirty="0" err="1" smtClean="0"/>
              <a:t>እንዲጣራ</a:t>
            </a:r>
            <a:r>
              <a:rPr lang="en-US" b="1" dirty="0" smtClean="0"/>
              <a:t> </a:t>
            </a:r>
            <a:r>
              <a:rPr lang="en-US" b="1" dirty="0" err="1" smtClean="0"/>
              <a:t>በማድረግ</a:t>
            </a:r>
            <a:r>
              <a:rPr lang="en-US" b="1" dirty="0" smtClean="0"/>
              <a:t> </a:t>
            </a:r>
            <a:r>
              <a:rPr lang="en-US" b="1" dirty="0" err="1" smtClean="0"/>
              <a:t>ቀደም</a:t>
            </a:r>
            <a:r>
              <a:rPr lang="en-US" b="1" dirty="0" smtClean="0"/>
              <a:t> </a:t>
            </a:r>
            <a:r>
              <a:rPr lang="en-US" b="1" dirty="0" err="1" smtClean="0"/>
              <a:t>ሲል</a:t>
            </a:r>
            <a:r>
              <a:rPr lang="en-US" b="1" dirty="0" smtClean="0"/>
              <a:t> </a:t>
            </a:r>
            <a:r>
              <a:rPr lang="en-US" b="1" dirty="0" err="1" smtClean="0"/>
              <a:t>በጉዳዩ</a:t>
            </a:r>
            <a:r>
              <a:rPr lang="en-US" b="1" dirty="0" smtClean="0"/>
              <a:t> </a:t>
            </a:r>
            <a:r>
              <a:rPr lang="en-US" b="1" dirty="0" err="1" smtClean="0"/>
              <a:t>ዙርያ</a:t>
            </a:r>
            <a:r>
              <a:rPr lang="en-US" b="1" dirty="0" smtClean="0"/>
              <a:t> </a:t>
            </a:r>
            <a:r>
              <a:rPr lang="en-US" b="1" dirty="0" err="1" smtClean="0"/>
              <a:t>ከተሰጠው</a:t>
            </a:r>
            <a:r>
              <a:rPr lang="en-US" b="1" dirty="0" smtClean="0"/>
              <a:t> </a:t>
            </a:r>
            <a:r>
              <a:rPr lang="en-US" b="1" dirty="0" err="1" smtClean="0"/>
              <a:t>የምስክርነት</a:t>
            </a:r>
            <a:r>
              <a:rPr lang="en-US" b="1" dirty="0" smtClean="0"/>
              <a:t> </a:t>
            </a:r>
            <a:r>
              <a:rPr lang="en-US" b="1" dirty="0" err="1" smtClean="0"/>
              <a:t>ቃል</a:t>
            </a:r>
            <a:r>
              <a:rPr lang="en-US" b="1" dirty="0" smtClean="0"/>
              <a:t> </a:t>
            </a:r>
            <a:r>
              <a:rPr lang="en-US" b="1" dirty="0" err="1" smtClean="0"/>
              <a:t>በተለየ</a:t>
            </a:r>
            <a:r>
              <a:rPr lang="en-US" b="1" dirty="0" smtClean="0"/>
              <a:t> </a:t>
            </a:r>
            <a:r>
              <a:rPr lang="en-US" b="1" dirty="0" err="1" smtClean="0"/>
              <a:t>ጉዳዩን</a:t>
            </a:r>
            <a:r>
              <a:rPr lang="en-US" b="1" dirty="0" smtClean="0"/>
              <a:t> </a:t>
            </a:r>
            <a:r>
              <a:rPr lang="en-US" b="1" dirty="0" err="1" smtClean="0"/>
              <a:t>ሊያዳክም</a:t>
            </a:r>
            <a:r>
              <a:rPr lang="en-US" b="1" dirty="0" smtClean="0"/>
              <a:t> </a:t>
            </a:r>
            <a:r>
              <a:rPr lang="en-US" b="1" dirty="0" err="1" smtClean="0"/>
              <a:t>የሚችል</a:t>
            </a:r>
            <a:r>
              <a:rPr lang="en-US" b="1" dirty="0" smtClean="0"/>
              <a:t> አዲስ </a:t>
            </a:r>
            <a:r>
              <a:rPr lang="en-US" b="1" dirty="0" err="1" smtClean="0"/>
              <a:t>ተጨማሪ</a:t>
            </a:r>
            <a:r>
              <a:rPr lang="en-US" b="1" dirty="0" smtClean="0"/>
              <a:t> </a:t>
            </a:r>
            <a:r>
              <a:rPr lang="en-US" b="1" dirty="0" err="1" smtClean="0"/>
              <a:t>ቃል</a:t>
            </a:r>
            <a:r>
              <a:rPr lang="en-US" b="1" dirty="0" smtClean="0"/>
              <a:t> </a:t>
            </a:r>
            <a:r>
              <a:rPr lang="en-US" b="1" dirty="0" err="1" smtClean="0"/>
              <a:t>እንዲቀርብ</a:t>
            </a:r>
            <a:r>
              <a:rPr lang="en-US" b="1" dirty="0" smtClean="0"/>
              <a:t> </a:t>
            </a:r>
            <a:r>
              <a:rPr lang="en-US" b="1" dirty="0" err="1" smtClean="0"/>
              <a:t>በማድረግ</a:t>
            </a:r>
            <a:r>
              <a:rPr lang="en-US" b="1" dirty="0" smtClean="0"/>
              <a:t> </a:t>
            </a:r>
            <a:r>
              <a:rPr lang="en-US" b="1" dirty="0" err="1" smtClean="0"/>
              <a:t>መዝገቡ</a:t>
            </a:r>
            <a:r>
              <a:rPr lang="en-US" b="1" dirty="0" smtClean="0"/>
              <a:t> </a:t>
            </a:r>
            <a:r>
              <a:rPr lang="en-US" b="1" dirty="0" err="1" smtClean="0"/>
              <a:t>ውጤት</a:t>
            </a:r>
            <a:r>
              <a:rPr lang="en-US" b="1" dirty="0" smtClean="0"/>
              <a:t> </a:t>
            </a:r>
            <a:r>
              <a:rPr lang="en-US" b="1" dirty="0" err="1" smtClean="0"/>
              <a:t>እንዳይኖረው</a:t>
            </a:r>
            <a:r>
              <a:rPr lang="en-US" b="1" dirty="0" smtClean="0"/>
              <a:t> </a:t>
            </a:r>
            <a:r>
              <a:rPr lang="en-US" b="1" dirty="0" err="1" smtClean="0"/>
              <a:t>ካመቻቸ</a:t>
            </a:r>
            <a:r>
              <a:rPr lang="en-US" b="1" dirty="0" smtClean="0"/>
              <a:t> </a:t>
            </a:r>
            <a:r>
              <a:rPr lang="en-US" b="1" dirty="0" err="1" smtClean="0"/>
              <a:t>በኋላ</a:t>
            </a:r>
            <a:r>
              <a:rPr lang="en-US" b="1" dirty="0" smtClean="0"/>
              <a:t> </a:t>
            </a:r>
            <a:r>
              <a:rPr lang="en-US" b="1" dirty="0" err="1" smtClean="0"/>
              <a:t>ምርመራ</a:t>
            </a:r>
            <a:r>
              <a:rPr lang="en-US" b="1" dirty="0" smtClean="0"/>
              <a:t> </a:t>
            </a:r>
            <a:r>
              <a:rPr lang="en-US" b="1" dirty="0" err="1" smtClean="0"/>
              <a:t>መዝገቡ</a:t>
            </a:r>
            <a:r>
              <a:rPr lang="en-US" b="1" dirty="0" smtClean="0"/>
              <a:t> </a:t>
            </a:r>
            <a:r>
              <a:rPr lang="en-US" b="1" dirty="0" err="1" smtClean="0"/>
              <a:t>እንዲዘጋ</a:t>
            </a:r>
            <a:r>
              <a:rPr lang="en-US" b="1" dirty="0" smtClean="0"/>
              <a:t> </a:t>
            </a:r>
            <a:r>
              <a:rPr lang="en-US" b="1" dirty="0" err="1" smtClean="0"/>
              <a:t>በማስደረጉ</a:t>
            </a:r>
            <a:r>
              <a:rPr lang="en-US" b="1" dirty="0" smtClean="0"/>
              <a:t>፣ </a:t>
            </a:r>
            <a:r>
              <a:rPr lang="en-US" b="1" dirty="0" err="1" smtClean="0"/>
              <a:t>በዋና</a:t>
            </a:r>
            <a:r>
              <a:rPr lang="en-US" b="1" dirty="0" smtClean="0"/>
              <a:t> </a:t>
            </a:r>
            <a:r>
              <a:rPr lang="en-US" b="1" dirty="0" err="1" smtClean="0"/>
              <a:t>ወንጀል</a:t>
            </a:r>
            <a:r>
              <a:rPr lang="en-US" b="1" dirty="0" smtClean="0"/>
              <a:t> </a:t>
            </a:r>
            <a:r>
              <a:rPr lang="en-US" b="1" dirty="0" err="1" smtClean="0"/>
              <a:t>አድራጊነት</a:t>
            </a:r>
            <a:r>
              <a:rPr lang="en-US" b="1" dirty="0" smtClean="0"/>
              <a:t> </a:t>
            </a:r>
            <a:r>
              <a:rPr lang="en-US" b="1" dirty="0" err="1" smtClean="0"/>
              <a:t>ተካፋይ</a:t>
            </a:r>
            <a:r>
              <a:rPr lang="en-US" b="1" dirty="0" smtClean="0"/>
              <a:t> </a:t>
            </a:r>
            <a:r>
              <a:rPr lang="en-US" b="1" dirty="0" err="1" smtClean="0"/>
              <a:t>በመሆን</a:t>
            </a:r>
            <a:r>
              <a:rPr lang="en-US" b="1" dirty="0" smtClean="0"/>
              <a:t> </a:t>
            </a:r>
            <a:r>
              <a:rPr lang="en-US" b="1" dirty="0" err="1" smtClean="0"/>
              <a:t>በፈፀመው</a:t>
            </a:r>
            <a:r>
              <a:rPr lang="en-US" b="1" dirty="0" smtClean="0"/>
              <a:t> </a:t>
            </a:r>
            <a:r>
              <a:rPr lang="en-US" b="1" dirty="0" err="1" smtClean="0"/>
              <a:t>የመንግስት</a:t>
            </a:r>
            <a:r>
              <a:rPr lang="en-US" b="1" dirty="0" smtClean="0"/>
              <a:t> </a:t>
            </a:r>
            <a:r>
              <a:rPr lang="en-US" b="1" dirty="0" err="1" smtClean="0"/>
              <a:t>ሥራን</a:t>
            </a:r>
            <a:r>
              <a:rPr lang="en-US" b="1" dirty="0" smtClean="0"/>
              <a:t> </a:t>
            </a:r>
            <a:r>
              <a:rPr lang="en-US" b="1" dirty="0" err="1" smtClean="0"/>
              <a:t>በማያመች</a:t>
            </a:r>
            <a:r>
              <a:rPr lang="en-US" b="1" dirty="0" smtClean="0"/>
              <a:t> </a:t>
            </a:r>
            <a:r>
              <a:rPr lang="en-US" b="1" dirty="0" err="1" smtClean="0"/>
              <a:t>አኳሃን</a:t>
            </a:r>
            <a:r>
              <a:rPr lang="en-US" b="1" dirty="0" smtClean="0"/>
              <a:t> </a:t>
            </a:r>
            <a:r>
              <a:rPr lang="en-US" b="1" dirty="0" err="1" smtClean="0"/>
              <a:t>መምራት</a:t>
            </a:r>
            <a:r>
              <a:rPr lang="en-US" b="1" dirty="0" smtClean="0"/>
              <a:t> </a:t>
            </a:r>
            <a:r>
              <a:rPr lang="en-US" b="1" dirty="0" err="1" smtClean="0"/>
              <a:t>የሙስና</a:t>
            </a:r>
            <a:r>
              <a:rPr lang="en-US" b="1" dirty="0" smtClean="0"/>
              <a:t> </a:t>
            </a:r>
            <a:r>
              <a:rPr lang="en-US" b="1" dirty="0" err="1" smtClean="0"/>
              <a:t>ወንጀል</a:t>
            </a:r>
            <a:r>
              <a:rPr lang="en-US" b="1" dirty="0" smtClean="0"/>
              <a:t> </a:t>
            </a:r>
            <a:r>
              <a:rPr lang="en-US" b="1" dirty="0" err="1" smtClean="0"/>
              <a:t>ተከሷል</a:t>
            </a:r>
            <a:r>
              <a:rPr lang="en-US" b="1" dirty="0" smtClean="0"/>
              <a:t>። </a:t>
            </a:r>
          </a:p>
          <a:p>
            <a:pPr>
              <a:buNone/>
            </a:pPr>
            <a:endParaRPr lang="en-US" b="1" dirty="0" smtClean="0"/>
          </a:p>
          <a:p>
            <a:pPr>
              <a:buNone/>
            </a:pPr>
            <a:r>
              <a:rPr lang="en-US" b="1" dirty="0" smtClean="0"/>
              <a:t>ማስረጃ</a:t>
            </a:r>
          </a:p>
          <a:p>
            <a:pPr>
              <a:buNone/>
            </a:pPr>
            <a:r>
              <a:rPr lang="en-US" b="1" dirty="0" smtClean="0"/>
              <a:t>ሀ. </a:t>
            </a:r>
            <a:r>
              <a:rPr lang="en-US" b="1" dirty="0" err="1" smtClean="0"/>
              <a:t>የሰው</a:t>
            </a:r>
            <a:r>
              <a:rPr lang="en-US" b="1" dirty="0" smtClean="0"/>
              <a:t> </a:t>
            </a:r>
            <a:r>
              <a:rPr lang="en-US" b="1" dirty="0" err="1" smtClean="0"/>
              <a:t>ማስረጃ</a:t>
            </a:r>
            <a:endParaRPr lang="en-US" b="1" dirty="0" smtClean="0"/>
          </a:p>
          <a:p>
            <a:pPr>
              <a:buNone/>
            </a:pPr>
            <a:r>
              <a:rPr lang="en-US" b="1" dirty="0" smtClean="0"/>
              <a:t>ለ. </a:t>
            </a:r>
            <a:r>
              <a:rPr lang="en-US" b="1" dirty="0" err="1" smtClean="0"/>
              <a:t>የሰነድ</a:t>
            </a:r>
            <a:r>
              <a:rPr lang="en-US" b="1" dirty="0" smtClean="0"/>
              <a:t> ማስረጃ</a:t>
            </a:r>
          </a:p>
          <a:p>
            <a:pPr algn="r">
              <a:buNone/>
            </a:pPr>
            <a:r>
              <a:rPr lang="en-US" b="1" dirty="0" smtClean="0"/>
              <a:t>የዐቃቢ ህግ ስምና  ፊረማ</a:t>
            </a:r>
            <a:endParaRPr lang="en-US" b="1"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Different forms of Charges</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If the public prosecutor, due to the nature of the fact to be established, is not certain what offence is committed by the accused he must prepare alternative charges.</a:t>
            </a:r>
          </a:p>
          <a:p>
            <a:pPr algn="just"/>
            <a:r>
              <a:rPr lang="en-US" b="1" dirty="0" smtClean="0"/>
              <a:t>If the accused is suspected of more than  one offence, a concurrent charge must be prepared. </a:t>
            </a:r>
          </a:p>
          <a:p>
            <a:pPr algn="just">
              <a:buFont typeface="Wingdings" pitchFamily="2" charset="2"/>
              <a:buChar char="§"/>
            </a:pPr>
            <a:r>
              <a:rPr lang="en-US" b="1" dirty="0" smtClean="0"/>
              <a:t>Where more than one person is involved in the commission of a crime, the prosecutor must accuse all of them in one charge, instead of preparing a separate charge for each of them. </a:t>
            </a:r>
          </a:p>
          <a:p>
            <a:pPr algn="just"/>
            <a:endParaRPr lang="en-US" b="1" dirty="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 Alternative Charges</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
            </a:pPr>
            <a:r>
              <a:rPr lang="en-US" b="1" dirty="0" smtClean="0"/>
              <a:t>When it is doubtful which of several offences the facts which can be proved will constitute, the accused may be charged with having committed the offence which appears the more probable to have been committed and he may be charged in the alternative with  all other offences. Art.113(1)</a:t>
            </a:r>
          </a:p>
          <a:p>
            <a:pPr algn="just"/>
            <a:r>
              <a:rPr lang="en-US" b="1" dirty="0" smtClean="0"/>
              <a:t>Where the evidence shows that the accused committed an offence with which he might have been charged in the alternative he may be convicted of such offence. Art.(113(2)</a:t>
            </a:r>
          </a:p>
          <a:p>
            <a:endParaRPr lang="en-US" dirty="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Concurrent Charges</a:t>
            </a:r>
            <a:br>
              <a:rPr lang="en-US" b="1" i="1" dirty="0" smtClean="0">
                <a:solidFill>
                  <a:srgbClr val="00B050"/>
                </a:solidFill>
              </a:rPr>
            </a:br>
            <a:r>
              <a:rPr lang="en-US" b="1" i="1" dirty="0" smtClean="0">
                <a:solidFill>
                  <a:srgbClr val="00B050"/>
                </a:solidFill>
              </a:rPr>
              <a:t>(</a:t>
            </a:r>
            <a:r>
              <a:rPr lang="en-US" b="1" i="1" dirty="0" err="1" smtClean="0">
                <a:solidFill>
                  <a:srgbClr val="00B050"/>
                </a:solidFill>
              </a:rPr>
              <a:t>Joinder</a:t>
            </a:r>
            <a:r>
              <a:rPr lang="en-US" b="1" i="1" dirty="0" smtClean="0">
                <a:solidFill>
                  <a:srgbClr val="00B050"/>
                </a:solidFill>
              </a:rPr>
              <a:t>  and severance of  offences)</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q"/>
            </a:pPr>
            <a:r>
              <a:rPr lang="en-US" b="1" dirty="0" smtClean="0"/>
              <a:t>If a person is suspected more than one offence, to save time  and resources, It is advisable that he be tried for all the offences at one time. Such an approach is particularly appropriate in cases where the prosecutors allegations are to be proved by the same witness,  especially when the accused is suspected for crimes committed at the same time.</a:t>
            </a:r>
            <a:endParaRPr lang="en-US" b="1" i="1" dirty="0" smtClean="0"/>
          </a:p>
          <a:p>
            <a:pPr algn="just">
              <a:buFont typeface="Wingdings" pitchFamily="2" charset="2"/>
              <a:buChar char="q"/>
            </a:pPr>
            <a:r>
              <a:rPr lang="en-US" b="1" dirty="0" smtClean="0"/>
              <a:t>A charge may contain several different counts relating to the same accused described separately. Art116(1)</a:t>
            </a:r>
          </a:p>
          <a:p>
            <a:pPr algn="just">
              <a:buFont typeface="Wingdings" pitchFamily="2" charset="2"/>
              <a:buChar char="q"/>
            </a:pPr>
            <a:r>
              <a:rPr lang="en-US" b="1" dirty="0" smtClean="0"/>
              <a:t>But where this creates difficulty  for the accused , the court shall order the charges to be tried separately. Art116(2)</a:t>
            </a:r>
          </a:p>
          <a:p>
            <a:pPr algn="just">
              <a:buFont typeface="Wingdings" pitchFamily="2" charset="2"/>
              <a:buChar char="q"/>
            </a:pPr>
            <a:r>
              <a:rPr lang="en-US" b="1" dirty="0" smtClean="0"/>
              <a:t> Are there any prejudicial effects to this effect?</a:t>
            </a: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Joinder of   Defendants (Art. 117)</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Persons participated in  offence or offences even at different times may be charged and tried together.</a:t>
            </a:r>
          </a:p>
          <a:p>
            <a:pPr algn="just"/>
            <a:r>
              <a:rPr lang="en-US" b="1" dirty="0" smtClean="0"/>
              <a:t>A court  may order separate trials where separation is required in the interests of justice.</a:t>
            </a:r>
          </a:p>
          <a:p>
            <a:pPr algn="just"/>
            <a:r>
              <a:rPr lang="en-US" b="1" dirty="0" smtClean="0"/>
              <a:t>Where several persons have committed different offences connected with the same criminal activity even when it is at different times  may be charged and tried together.</a:t>
            </a: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 Aggravated Offences ( Art. 114)</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
            </a:pPr>
            <a:r>
              <a:rPr lang="en-US" b="1" dirty="0" smtClean="0"/>
              <a:t>Where an accused person may be charged with an aggravated offence by reason of previous convictions, he shall be charged with the un aggravated offence and the charge shall be filed in the court having jurisdiction to try the aggravated offence.</a:t>
            </a:r>
          </a:p>
          <a:p>
            <a:pPr algn="just">
              <a:buFont typeface="Wingdings" pitchFamily="2" charset="2"/>
              <a:buChar char="§"/>
            </a:pPr>
            <a:r>
              <a:rPr lang="en-US" b="1" dirty="0" smtClean="0"/>
              <a:t>Where the accused is convicted of the un aggravated offence the public prosecutor may, after conviction and before sentence, prove the previous convictions of the accused which, had they been proved at the trial, would have resulted in his conviction of the aggravated offence. The court may sentence him as though he had been convicted accordingly.</a:t>
            </a:r>
            <a:endParaRPr lang="en-US" b="1" dirty="0"/>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Amendment</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000" b="1" dirty="0" smtClean="0"/>
              <a:t>The charge framed by the public prosecutor may not comply with the law. Some thing might have been omitted from the charge or another type of error might have been committed</a:t>
            </a:r>
          </a:p>
          <a:p>
            <a:pPr algn="just"/>
            <a:r>
              <a:rPr lang="en-US" sz="2000" b="1" dirty="0" smtClean="0"/>
              <a:t>A discrepancy might also arise from the charge and the proof. These and other factors may call for some sort of amendment to the charge.</a:t>
            </a:r>
          </a:p>
          <a:p>
            <a:pPr algn="just"/>
            <a:r>
              <a:rPr lang="en-US" sz="2000" b="1" dirty="0" smtClean="0"/>
              <a:t>As stated in Art. 118 errors in stating a fact will be considered as material and will result in invalidity of a charge if such error is material and ,</a:t>
            </a:r>
          </a:p>
          <a:p>
            <a:pPr lvl="1" algn="just">
              <a:buFont typeface="Wingdings" pitchFamily="2" charset="2"/>
              <a:buChar char="Ø"/>
            </a:pPr>
            <a:r>
              <a:rPr lang="en-US" sz="2000" b="1" dirty="0" smtClean="0"/>
              <a:t> if they relate to essential point of the accused</a:t>
            </a:r>
          </a:p>
          <a:p>
            <a:pPr lvl="1" algn="just">
              <a:buFont typeface="Wingdings" pitchFamily="2" charset="2"/>
              <a:buChar char="Ø"/>
            </a:pPr>
            <a:r>
              <a:rPr lang="en-US" sz="2000" b="1" dirty="0" smtClean="0"/>
              <a:t>The accused will be mislead</a:t>
            </a:r>
          </a:p>
          <a:p>
            <a:pPr lvl="1" algn="just">
              <a:buFont typeface="Wingdings" pitchFamily="2" charset="2"/>
              <a:buChar char="Ø"/>
            </a:pPr>
            <a:r>
              <a:rPr lang="en-US" sz="2000" b="1" dirty="0" smtClean="0"/>
              <a:t>Justice is likely to be defeated.</a:t>
            </a:r>
            <a:endParaRPr lang="en-US" sz="2000" b="1" i="1" dirty="0" smtClean="0"/>
          </a:p>
          <a:p>
            <a:r>
              <a:rPr lang="en-US" sz="2000" b="1" dirty="0" smtClean="0"/>
              <a:t>When such essential errors happen the court may by its own motion or by application can order the charge to be altered or added to or a new charge to be framed,  at any time before judgment .</a:t>
            </a:r>
          </a:p>
          <a:p>
            <a:r>
              <a:rPr lang="en-US" sz="2000" b="1" dirty="0" smtClean="0"/>
              <a:t>Such change shall be read and explained to the accused.( Art,119)</a:t>
            </a:r>
          </a:p>
          <a:p>
            <a:endParaRPr lang="en-US" sz="2000" b="1" dirty="0" smtClean="0"/>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Effect of Amendment</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Once the amended charge is brought by the public prosecutor and explained to the accused, the court has to ask whether the accused is ready to be tried on the amended charge.( Art 120) </a:t>
            </a:r>
          </a:p>
          <a:p>
            <a:pPr algn="just"/>
            <a:r>
              <a:rPr lang="en-US" b="1" dirty="0" smtClean="0"/>
              <a:t>If the accused confirms that he is ready, the court shall proceed with the trial.</a:t>
            </a:r>
          </a:p>
          <a:p>
            <a:pPr algn="just"/>
            <a:r>
              <a:rPr lang="en-US" b="1" dirty="0" smtClean="0"/>
              <a:t>When the accused stated otherwise the court will asses the reasons of the accused.</a:t>
            </a:r>
          </a:p>
          <a:p>
            <a:pPr algn="just"/>
            <a:r>
              <a:rPr lang="en-US" b="1" dirty="0" smtClean="0"/>
              <a:t>If the court found the reasons of the accused important it will adjourn the trail but if the court is not convinced, the trial will continue.</a:t>
            </a:r>
          </a:p>
          <a:p>
            <a:pPr algn="just"/>
            <a:r>
              <a:rPr lang="en-US" b="1" dirty="0" smtClean="0"/>
              <a:t>When there is addition and alteration the public prosecutor or the accused are allowed to present their evidence to the extent of such alteration and   further evidence.( Art 121)</a:t>
            </a:r>
            <a:endParaRPr lang="en-US" b="1" dirty="0"/>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Withdrawal  of a charge(Art 122)</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
            </a:pPr>
            <a:r>
              <a:rPr lang="en-US" sz="2800" b="1" dirty="0" smtClean="0"/>
              <a:t>Sub article 1,2 and 4 of Art. 122.  are repealed by a proclamation  of the office of the general attorney. This proclamation has also been repealed by later proclamation , even if it does not have any effect on the revival of the repealed sub articles.</a:t>
            </a:r>
          </a:p>
          <a:p>
            <a:pPr algn="just"/>
            <a:r>
              <a:rPr lang="en-US" sz="2800" b="1" dirty="0" smtClean="0"/>
              <a:t>The new proclamation then empowered the ministry of justice to withdraw a criminal charge according to the law.</a:t>
            </a:r>
          </a:p>
          <a:p>
            <a:pPr algn="just"/>
            <a:r>
              <a:rPr lang="en-US" sz="2800" b="1" dirty="0" smtClean="0"/>
              <a:t>The problem is that such law defining how and on which type of offences the withdrawal will be effected is not there so far.</a:t>
            </a: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Withdrawal  of a charge……</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smtClean="0"/>
              <a:t>The recently promulgated proclamation on the definition of power and responsibilities of the executive organ of the federal government provides that  the ministry of justice has the power to withdraw a charge for a good cause and in accordance to the law.</a:t>
            </a:r>
          </a:p>
          <a:p>
            <a:pPr algn="just"/>
            <a:r>
              <a:rPr lang="en-US" b="1" dirty="0" smtClean="0"/>
              <a:t>The criminal Justice policy also empower the public prosecutor to withdraw a charge by informing the trail court  when the prosecutor is convinced that continuation of the proceeding is not in the interest of the public.</a:t>
            </a:r>
          </a:p>
          <a:p>
            <a:pPr algn="just"/>
            <a:r>
              <a:rPr lang="en-US" b="1" dirty="0" smtClean="0"/>
              <a:t>So there is no need of waiting for the permission of the court to withdraw a charge.</a:t>
            </a:r>
          </a:p>
          <a:p>
            <a:pPr algn="just"/>
            <a:r>
              <a:rPr lang="en-US" b="1" dirty="0" smtClean="0"/>
              <a:t>Where no new charge is framed under the provisions of Art. 119 the accused shall be discharged. </a:t>
            </a:r>
          </a:p>
          <a:p>
            <a:pPr algn="just"/>
            <a:r>
              <a:rPr lang="en-US" b="1" dirty="0" smtClean="0"/>
              <a:t>The withdrawal of a charge under the provisions of this Article is no bar to subsequent proceedings.</a:t>
            </a:r>
          </a:p>
          <a:p>
            <a:endParaRPr lang="en-US" dirty="0"/>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00B050"/>
                </a:solidFill>
              </a:rPr>
              <a:t>CHAPTER FIVE</a:t>
            </a:r>
            <a:r>
              <a:rPr lang="en-US" sz="2800" dirty="0" smtClean="0">
                <a:solidFill>
                  <a:srgbClr val="00B050"/>
                </a:solidFill>
              </a:rPr>
              <a:t/>
            </a:r>
            <a:br>
              <a:rPr lang="en-US" sz="2800" dirty="0" smtClean="0">
                <a:solidFill>
                  <a:srgbClr val="00B050"/>
                </a:solidFill>
              </a:rPr>
            </a:br>
            <a:r>
              <a:rPr lang="en-US" sz="2800" b="1" dirty="0" smtClean="0">
                <a:solidFill>
                  <a:srgbClr val="0070C0"/>
                </a:solidFill>
              </a:rPr>
              <a:t>THE FEDERAL SYSTEM AND JURISDICTION OF COURTS</a:t>
            </a:r>
            <a:endParaRPr lang="en-US" sz="2800" dirty="0">
              <a:solidFill>
                <a:srgbClr val="0070C0"/>
              </a:solidFill>
            </a:endParaRPr>
          </a:p>
        </p:txBody>
      </p:sp>
      <p:sp>
        <p:nvSpPr>
          <p:cNvPr id="3" name="Content Placeholder 2"/>
          <p:cNvSpPr>
            <a:spLocks noGrp="1"/>
          </p:cNvSpPr>
          <p:nvPr>
            <p:ph idx="1"/>
          </p:nvPr>
        </p:nvSpPr>
        <p:spPr/>
        <p:txBody>
          <a:bodyPr>
            <a:noAutofit/>
          </a:bodyPr>
          <a:lstStyle/>
          <a:p>
            <a:pPr algn="just">
              <a:buNone/>
            </a:pPr>
            <a:r>
              <a:rPr lang="en-US" sz="2200" b="1" dirty="0" smtClean="0"/>
              <a:t> </a:t>
            </a:r>
          </a:p>
          <a:p>
            <a:pPr algn="just"/>
            <a:r>
              <a:rPr lang="en-US" sz="2200" b="1" dirty="0" smtClean="0"/>
              <a:t> </a:t>
            </a:r>
            <a:r>
              <a:rPr lang="en-US" sz="2200" b="1" dirty="0" smtClean="0">
                <a:solidFill>
                  <a:srgbClr val="7030A0"/>
                </a:solidFill>
              </a:rPr>
              <a:t>An Overview of the Court System in the Ethiopian Federal Set-up</a:t>
            </a:r>
          </a:p>
          <a:p>
            <a:pPr algn="just"/>
            <a:r>
              <a:rPr lang="en-US" sz="2200" b="1" dirty="0" smtClean="0"/>
              <a:t>The 1995 Constitution of the FDRE provides for a federal state structure with nine member states making up the federation.</a:t>
            </a:r>
          </a:p>
          <a:p>
            <a:pPr algn="just"/>
            <a:r>
              <a:rPr lang="en-US" sz="2200" b="1" dirty="0" smtClean="0"/>
              <a:t>It has thus brought in to being two layers of administration i.e. the federal and regional states.</a:t>
            </a:r>
          </a:p>
          <a:p>
            <a:pPr algn="just"/>
            <a:r>
              <a:rPr lang="en-US" sz="2200" b="1" dirty="0" smtClean="0"/>
              <a:t>The three braches (organs) of the government i.e. legislative, executive and judiciary are established at both levels of the government constitutionally.</a:t>
            </a:r>
          </a:p>
          <a:p>
            <a:pPr algn="just"/>
            <a:r>
              <a:rPr lang="en-US" sz="2200" b="1" dirty="0" smtClean="0"/>
              <a:t>Powers not specifically allocated for either or both of them (concurrent) are left by the Constitution to the regional states.</a:t>
            </a:r>
          </a:p>
          <a:p>
            <a:pPr algn="just"/>
            <a:endParaRPr lang="en-US" sz="2200" b="1" dirty="0"/>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Federalism and the Jurisdiction….</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100" b="1" dirty="0" smtClean="0"/>
              <a:t>The FDRE Constitution established judicial organ both at federal and state levels. </a:t>
            </a:r>
          </a:p>
          <a:p>
            <a:pPr algn="just"/>
            <a:r>
              <a:rPr lang="en-US" sz="2100" b="1" dirty="0" smtClean="0"/>
              <a:t>So, we have federal courts on the one hand and regional courts on the other hand. </a:t>
            </a:r>
          </a:p>
          <a:p>
            <a:pPr algn="just"/>
            <a:r>
              <a:rPr lang="en-US" sz="2100" b="1" dirty="0" smtClean="0"/>
              <a:t>Federal judicial authority is vested in federal courts tiered along three layers: the Federal Supreme Court, which is the highest federal judicial organ, the Federal High Court and Federal First Instance Court.</a:t>
            </a:r>
          </a:p>
          <a:p>
            <a:pPr algn="just"/>
            <a:r>
              <a:rPr lang="en-US" sz="2100" b="1" dirty="0" smtClean="0"/>
              <a:t>State judicial power on the other hand is vested in state courts. The structure of state courts comprises state supreme court, state high court and woreda courts. </a:t>
            </a:r>
          </a:p>
          <a:p>
            <a:pPr algn="just"/>
            <a:r>
              <a:rPr lang="en-US" sz="2100" b="1" dirty="0" smtClean="0"/>
              <a:t>Besides these matters which in principle fall under the jurisdiction of Federal High Court and First Instance Court at the state level is to be exercised by state supreme and state high courts respectively, because of the delegation given under the Constitution.</a:t>
            </a:r>
          </a:p>
          <a:p>
            <a:pPr algn="just"/>
            <a:endParaRPr lang="en-US" sz="2100" b="1" dirty="0"/>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 Criminal Jurisdiction of Courts.</a:t>
            </a:r>
            <a:endParaRPr lang="en-US"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smtClean="0"/>
              <a:t>We have seen that two sets of courts are established under the federal form of government each having three layers of courts and that they are empowered to exercise judicial power over offences.</a:t>
            </a:r>
          </a:p>
          <a:p>
            <a:pPr algn="just"/>
            <a:r>
              <a:rPr lang="en-US" b="1" dirty="0" smtClean="0"/>
              <a:t>The appointment of jurisdiction over offences between the federal and state courts is dependant up on some factors. </a:t>
            </a:r>
          </a:p>
          <a:p>
            <a:pPr algn="just"/>
            <a:r>
              <a:rPr lang="en-US" b="1" dirty="0" smtClean="0"/>
              <a:t>In principle federal courts have jurisdiction over offences based on three major grounds: (Art. 3 of Pro.25/96)</a:t>
            </a:r>
          </a:p>
          <a:p>
            <a:pPr lvl="2" algn="just">
              <a:buFont typeface="Wingdings" pitchFamily="2" charset="2"/>
              <a:buChar char="Ø"/>
            </a:pPr>
            <a:r>
              <a:rPr lang="en-US" b="1" dirty="0" smtClean="0"/>
              <a:t>law,</a:t>
            </a:r>
          </a:p>
          <a:p>
            <a:pPr lvl="2" algn="just">
              <a:buFont typeface="Wingdings" pitchFamily="2" charset="2"/>
              <a:buChar char="Ø"/>
            </a:pPr>
            <a:r>
              <a:rPr lang="en-US" b="1" dirty="0" smtClean="0"/>
              <a:t>Parties to the case, and</a:t>
            </a:r>
          </a:p>
          <a:p>
            <a:pPr lvl="2" algn="just">
              <a:buFont typeface="Wingdings" pitchFamily="2" charset="2"/>
              <a:buChar char="Ø"/>
            </a:pPr>
            <a:r>
              <a:rPr lang="en-US" b="1" dirty="0" smtClean="0"/>
              <a:t> Places of commission</a:t>
            </a: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Federal &amp; Regional Maters Matters</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Whether a particular case is within the jurisdiction of federal courts or not is to be determined by first, ascertaining that it arises under the federal constitution, the federal laws and international treaties or that parties are those specified in the federal laws to be subject to the jurisdiction of the federal courts or the case occurs in places specified in the Constitution or in other federal laws. (Art. 3 of Pro.25/96)</a:t>
            </a:r>
          </a:p>
          <a:p>
            <a:pPr algn="just"/>
            <a:r>
              <a:rPr lang="en-US" b="1" dirty="0" smtClean="0"/>
              <a:t>On the other hand, the law lists down specific cases which fall within the exclusive  jurisdiction of federal courts.</a:t>
            </a:r>
          </a:p>
          <a:p>
            <a:pPr algn="just"/>
            <a:r>
              <a:rPr lang="en-US" b="1" dirty="0" smtClean="0"/>
              <a:t>Apart from these apportionment of jurisdiction among the federal and state courts, there is a delegation of power because of the fact that we do not have yet established federal courts all over the country. Art. 80)</a:t>
            </a: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Jurisdiction of Courts</a:t>
            </a:r>
            <a:endParaRPr lang="en-US" b="1" i="1" dirty="0">
              <a:solidFill>
                <a:srgbClr val="00B050"/>
              </a:solidFill>
            </a:endParaRPr>
          </a:p>
        </p:txBody>
      </p:sp>
      <p:sp>
        <p:nvSpPr>
          <p:cNvPr id="3" name="Content Placeholder 2"/>
          <p:cNvSpPr>
            <a:spLocks noGrp="1"/>
          </p:cNvSpPr>
          <p:nvPr>
            <p:ph idx="1"/>
          </p:nvPr>
        </p:nvSpPr>
        <p:spPr/>
        <p:txBody>
          <a:bodyPr>
            <a:normAutofit fontScale="70000" lnSpcReduction="20000"/>
          </a:bodyPr>
          <a:lstStyle/>
          <a:p>
            <a:pPr algn="just"/>
            <a:r>
              <a:rPr lang="en-US" b="1" dirty="0" smtClean="0"/>
              <a:t>Hence, matters which in principle fall within the jurisdiction of Federal First Instance and Federal High Courts may come within the jurisdiction of state high court and state supreme courts respectively.(Art.80(2) &amp;(4))</a:t>
            </a:r>
          </a:p>
          <a:p>
            <a:pPr algn="just"/>
            <a:r>
              <a:rPr lang="en-US" b="1" dirty="0" smtClean="0"/>
              <a:t>The point, however, does not stop there for the issue as to which particular court of a federal court or regional courts i.e. supreme court, high court or first instance/ woreda court has the pertinent jurisdiction over the case has to be addressed. ( Material Jurisdiction)</a:t>
            </a:r>
          </a:p>
          <a:p>
            <a:pPr algn="just"/>
            <a:r>
              <a:rPr lang="en-US" b="1" dirty="0" smtClean="0"/>
              <a:t>The above issue, extends to local jurisdiction, which is about the specific place of the court in which the case is going to be entertained (tried).</a:t>
            </a:r>
          </a:p>
          <a:p>
            <a:pPr algn="just"/>
            <a:r>
              <a:rPr lang="en-US" b="1" dirty="0" smtClean="0"/>
              <a:t>All what we have been looking presupposes the fact that Ethiopian courts have judicial jurisdiction to adjudicate the case.</a:t>
            </a:r>
          </a:p>
          <a:p>
            <a:pPr algn="just"/>
            <a:r>
              <a:rPr lang="en-US" b="1" dirty="0" smtClean="0"/>
              <a:t>Jurisdiction has three elements: Judicial, Material, and Local</a:t>
            </a:r>
          </a:p>
          <a:p>
            <a:pPr algn="just"/>
            <a:r>
              <a:rPr lang="en-US" b="1" dirty="0" smtClean="0"/>
              <a:t>A court is said to have jurisdiction when it has the judicial, material and local jurisdiction of adjudication.</a:t>
            </a:r>
          </a:p>
          <a:p>
            <a:endParaRPr lang="en-US" b="1"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Judicial Jurisdiction</a:t>
            </a:r>
            <a:endParaRPr lang="en-US"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smtClean="0"/>
              <a:t>Judicial jurisdiction is all about whether Ethiopian courts have power to see and then adjudicate a case or not. Hence, it is related to issue of whether a person is subject to the criminal law of Ethiopia or subject to the jurisdiction of Ethiopian courts and, therefore, they may be tried by Ethiopian courts for violation of the Ethiopian criminal laws.</a:t>
            </a:r>
          </a:p>
          <a:p>
            <a:pPr algn="just"/>
            <a:r>
              <a:rPr lang="en-US" b="1" dirty="0" smtClean="0"/>
              <a:t>Though normally the issue of jurisdiction is a subject matter of criminal procedure law, the criminal code of Ethiopia has provisions dealing with the issue of jurisdiction.</a:t>
            </a:r>
          </a:p>
          <a:p>
            <a:pPr algn="just"/>
            <a:r>
              <a:rPr lang="en-US" b="1" dirty="0" smtClean="0"/>
              <a:t>Art 11-20 of the CC are devoted to issues of judicial jurisdiction of Ethiopian courts over offences. </a:t>
            </a:r>
          </a:p>
          <a:p>
            <a:pPr algn="just"/>
            <a:endParaRPr lang="en-US" b="1" dirty="0"/>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Judicial Jurisdiction depends on</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b="1" dirty="0" smtClean="0"/>
              <a:t>Whether or not a person is subject to the Criminal Code of Ethiopia depends on (Art 11-20 of the CC) </a:t>
            </a:r>
          </a:p>
          <a:p>
            <a:pPr lvl="1" algn="just">
              <a:buFont typeface="Wingdings" pitchFamily="2" charset="2"/>
              <a:buChar char="Ø"/>
            </a:pPr>
            <a:r>
              <a:rPr lang="en-US" b="1" dirty="0" smtClean="0"/>
              <a:t>The place where the offence was committed; </a:t>
            </a:r>
          </a:p>
          <a:p>
            <a:pPr lvl="1" algn="just">
              <a:buFont typeface="Wingdings" pitchFamily="2" charset="2"/>
              <a:buChar char="Ø"/>
            </a:pPr>
            <a:r>
              <a:rPr lang="en-US" b="1" dirty="0" smtClean="0"/>
              <a:t>The nationality of the accused, and;</a:t>
            </a:r>
          </a:p>
          <a:p>
            <a:pPr lvl="1" algn="just">
              <a:buFont typeface="Wingdings" pitchFamily="2" charset="2"/>
              <a:buChar char="Ø"/>
            </a:pPr>
            <a:r>
              <a:rPr lang="en-US" b="1" dirty="0" smtClean="0"/>
              <a:t>The kind of the offence that has been committed. </a:t>
            </a:r>
          </a:p>
          <a:p>
            <a:pPr algn="just"/>
            <a:r>
              <a:rPr lang="en-US" b="1" dirty="0" smtClean="0"/>
              <a:t>In certain circumstances, an accused is said to be subject to Ethiopia’s principal jurisdiction; in other circumstances, although he is not subject to Ethiopia’s  principal jurisdiction, he is subject to Ethiopia’s subsidiary jurisdiction. </a:t>
            </a:r>
          </a:p>
          <a:p>
            <a:pPr algn="just"/>
            <a:r>
              <a:rPr lang="en-US" b="1" dirty="0" smtClean="0"/>
              <a:t>Most significantly, whether a person is subject to Ethiopia’s principal jurisdiction, discharge or acquittal in a foreign country does not prevent a prosecution for the same offences in Ethiopia. </a:t>
            </a:r>
          </a:p>
          <a:p>
            <a:pPr algn="just"/>
            <a:r>
              <a:rPr lang="en-US" b="1" dirty="0" smtClean="0"/>
              <a:t>However, if he is subject only to Ethiopian subsidiary jurisdiction, no fresh prosecution if discharged or </a:t>
            </a:r>
            <a:r>
              <a:rPr lang="en-US" b="1" smtClean="0"/>
              <a:t>acquitted  abrode</a:t>
            </a:r>
            <a:r>
              <a:rPr lang="en-US" b="1" dirty="0" smtClean="0"/>
              <a:t>.</a:t>
            </a:r>
            <a:endParaRPr lang="en-US" b="1"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Principal jurisdiction</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dirty="0" smtClean="0"/>
              <a:t>Principal jurisdiction, exist in cases where the accused is Charged with the commission of ,</a:t>
            </a:r>
          </a:p>
          <a:p>
            <a:pPr algn="just"/>
            <a:r>
              <a:rPr lang="en-US" sz="2800" b="1" dirty="0" smtClean="0"/>
              <a:t>1. An offence in Ethiopia</a:t>
            </a:r>
          </a:p>
          <a:p>
            <a:pPr algn="just"/>
            <a:r>
              <a:rPr lang="en-US" sz="2800" b="1" dirty="0" smtClean="0"/>
              <a:t>2. Offences against Ethiopia in a foreign country.</a:t>
            </a:r>
          </a:p>
          <a:p>
            <a:pPr algn="just"/>
            <a:r>
              <a:rPr lang="en-US" sz="2800" b="1" dirty="0" smtClean="0"/>
              <a:t>3.Offence in a foreign country Ethiopian official having immunity.</a:t>
            </a:r>
          </a:p>
          <a:p>
            <a:pPr algn="just"/>
            <a:r>
              <a:rPr lang="en-US" sz="2800" b="1" dirty="0" smtClean="0"/>
              <a:t>4. Offences in a foreign country while a member of the Ethiopian armed forces.</a:t>
            </a: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Persons Subject to Ethiopia’s Principal Jurisdiction.</a:t>
            </a:r>
            <a:endParaRPr lang="en-US" i="1" dirty="0">
              <a:solidFill>
                <a:srgbClr val="00B050"/>
              </a:solidFill>
            </a:endParaRPr>
          </a:p>
        </p:txBody>
      </p:sp>
      <p:sp>
        <p:nvSpPr>
          <p:cNvPr id="3" name="Content Placeholder 2"/>
          <p:cNvSpPr>
            <a:spLocks noGrp="1"/>
          </p:cNvSpPr>
          <p:nvPr>
            <p:ph idx="1"/>
          </p:nvPr>
        </p:nvSpPr>
        <p:spPr/>
        <p:txBody>
          <a:bodyPr>
            <a:normAutofit fontScale="70000" lnSpcReduction="20000"/>
          </a:bodyPr>
          <a:lstStyle/>
          <a:p>
            <a:pPr algn="just"/>
            <a:r>
              <a:rPr lang="en-US" b="1" dirty="0" smtClean="0"/>
              <a:t>Art 11 and 12 of the CC are about territorial jurisdiction. According to this principle, which has almost gained universal acceptance, the Ethiopian courts shall have principal jurisdiction over offences specified in the CC committed by any person on Ethiopian territory. Territory consists of land, sea and air.</a:t>
            </a:r>
          </a:p>
          <a:p>
            <a:pPr algn="just"/>
            <a:r>
              <a:rPr lang="en-US" b="1" dirty="0" smtClean="0"/>
              <a:t>Art 11(2) of the CC is an exception to the above principle, i.e. Art 11(1) of the CC. Consequently, certain persons such as diplomatic officials are immune from criminal prosecutions in the country to which they are accredited under principles of public international law. </a:t>
            </a:r>
          </a:p>
          <a:p>
            <a:pPr algn="just"/>
            <a:r>
              <a:rPr lang="en-US" b="1" dirty="0" smtClean="0"/>
              <a:t>Any person who enjoys such immunity, therefore, is not subject to the CC, and thus, not subject to the jurisdiction of the Ethiopian courts. </a:t>
            </a:r>
          </a:p>
          <a:p>
            <a:pPr algn="just"/>
            <a:r>
              <a:rPr lang="en-US" b="1" dirty="0" smtClean="0"/>
              <a:t>The principal jurisdiction of Ethiopian courts to try offences committed in Ethiopian territory presupposes the offenders presence within the Ethiopian territory, the request of his extradition to Ethiopia or the possibility of trial in absentia as per the provisions of (Art 160-161) of the CPC.</a:t>
            </a:r>
          </a:p>
          <a:p>
            <a:pPr algn="just"/>
            <a:endParaRPr lang="en-US" b="1" dirty="0" smtClean="0"/>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r>
              <a:rPr lang="en-US" b="1" i="1" dirty="0" smtClean="0">
                <a:solidFill>
                  <a:srgbClr val="00B050"/>
                </a:solidFill>
              </a:rPr>
              <a:t>When &amp; What is extradition?</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Any Ethiopian or a foreigner having no immunity is obviously subject to an Ethiopian jurisdiction for violation of Ethiopian criminal laws provided that he is in Ethiopia. </a:t>
            </a:r>
          </a:p>
          <a:p>
            <a:pPr algn="just"/>
            <a:r>
              <a:rPr lang="en-US" b="1" dirty="0" smtClean="0"/>
              <a:t>However, people may after having committed an offence in Ethiopia may have successfully escaped and taken refuge in a foreign country. </a:t>
            </a:r>
          </a:p>
          <a:p>
            <a:pPr algn="just"/>
            <a:r>
              <a:rPr lang="en-US" b="1" dirty="0" smtClean="0"/>
              <a:t>In such a case, Art.11(3) of the CC to request his extradition so that he may be tried in Ethiopia under Ethiopian law.</a:t>
            </a:r>
          </a:p>
          <a:p>
            <a:pPr algn="just"/>
            <a:r>
              <a:rPr lang="en-US" b="1" dirty="0" smtClean="0"/>
              <a:t>With which countries did Ethiopia conclude extradition treaties (if any)?</a:t>
            </a:r>
          </a:p>
          <a:p>
            <a:pPr algn="just"/>
            <a:r>
              <a:rPr lang="en-US" b="1" dirty="0" smtClean="0"/>
              <a:t>No Ethiopian national having that status at the time of the commission of the crime or at the time of the request for his extradition may be handed over to a foreign court. However, he shall be tried by Ethiopian courts under  Ethiopian law. Art 21(2) </a:t>
            </a:r>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When extradition cannot obtained and the consequences</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Where extradition cannot be obtained, Art 12(1) directs the Ethiopian authorities to request that the suspect be tried in the country of refugee.</a:t>
            </a:r>
          </a:p>
          <a:p>
            <a:pPr algn="just"/>
            <a:r>
              <a:rPr lang="en-US" b="1" dirty="0" smtClean="0"/>
              <a:t>If that request is honored by the country in which the offender has taken refugee and he is tried and acquitted there, he cannot be tried again for the same offence in Ethiopia if he is subsequently apprehended here. </a:t>
            </a:r>
          </a:p>
          <a:p>
            <a:pPr algn="just"/>
            <a:r>
              <a:rPr lang="en-US" b="1" dirty="0" smtClean="0"/>
              <a:t>This is also true if his sentence has been remitted there or if enforcement of the sentence is barred by limitation, Art 12(2) of the CC.</a:t>
            </a:r>
          </a:p>
          <a:p>
            <a:pPr algn="just"/>
            <a:r>
              <a:rPr lang="en-US" b="1" dirty="0" smtClean="0"/>
              <a:t>Had no request been made or the request had not been honored, Art 12(2) is not applicable and that he could be retried in Ethiopia though he had been tried and acquitted for the same offence abroad according to Art 16 of the code.</a:t>
            </a: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b="1" i="1" dirty="0" smtClean="0">
                <a:solidFill>
                  <a:srgbClr val="00B050"/>
                </a:solidFill>
              </a:rPr>
              <a:t>Ethiopian enjoying immunity and  member defense force Article 14 and 15</a:t>
            </a:r>
            <a:endParaRPr lang="en-US" b="1" i="1" dirty="0">
              <a:solidFill>
                <a:srgbClr val="00B050"/>
              </a:solidFill>
            </a:endParaRPr>
          </a:p>
        </p:txBody>
      </p:sp>
      <p:sp>
        <p:nvSpPr>
          <p:cNvPr id="3" name="Content Placeholder 2"/>
          <p:cNvSpPr>
            <a:spLocks noGrp="1"/>
          </p:cNvSpPr>
          <p:nvPr>
            <p:ph idx="1"/>
          </p:nvPr>
        </p:nvSpPr>
        <p:spPr/>
        <p:txBody>
          <a:bodyPr>
            <a:normAutofit fontScale="77500" lnSpcReduction="20000"/>
          </a:bodyPr>
          <a:lstStyle/>
          <a:p>
            <a:pPr algn="just">
              <a:buFont typeface="Wingdings" pitchFamily="2" charset="2"/>
              <a:buChar char="§"/>
            </a:pPr>
            <a:r>
              <a:rPr lang="en-US" b="1" dirty="0" smtClean="0"/>
              <a:t>It is normal that Ethiopian officials and members of defense force goes to another country temporarily. </a:t>
            </a:r>
          </a:p>
          <a:p>
            <a:pPr algn="just">
              <a:buFont typeface="Wingdings" pitchFamily="2" charset="2"/>
              <a:buChar char="§"/>
            </a:pPr>
            <a:r>
              <a:rPr lang="en-US" b="1" dirty="0" smtClean="0"/>
              <a:t>This, however, does not exonerate them from becoming liable for their acts/omissions happened in their stay. </a:t>
            </a:r>
          </a:p>
          <a:p>
            <a:pPr algn="just">
              <a:buFont typeface="Wingdings" pitchFamily="2" charset="2"/>
              <a:buChar char="§"/>
            </a:pPr>
            <a:r>
              <a:rPr lang="en-US" b="1" dirty="0" smtClean="0"/>
              <a:t>Art 14 and 15 is designed to make Ethiopian officials and members of the Ethiopian defense force subject to the Ethiopian principal jurisdiction for certain offences they committed while abroad.</a:t>
            </a:r>
          </a:p>
          <a:p>
            <a:pPr algn="just">
              <a:buFont typeface="Wingdings" pitchFamily="2" charset="2"/>
              <a:buChar char="§"/>
            </a:pPr>
            <a:r>
              <a:rPr lang="en-US" b="1" dirty="0" smtClean="0"/>
              <a:t>Members of the Ethiopian diplomatic or consular service, an Ethiopian official or agent who cannot be prosecuted at the place of commission of the crime by virtue of international principles of immunity are subject to the Ethiopian’s jurisdiction for offences other than those provided under Art 13 of the CC provided that the offence is punishable both under the Ethiopian criminal law and the law of the place of commission.</a:t>
            </a:r>
          </a:p>
          <a:p>
            <a:pPr algn="just">
              <a:buFont typeface="Wingdings" pitchFamily="2" charset="2"/>
              <a:buChar char="§"/>
            </a:pPr>
            <a:endParaRPr lang="en-US" b="1" dirty="0" smtClean="0"/>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Immunity and  Member Defense Force………..</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b="1" dirty="0" smtClean="0"/>
              <a:t>If the offence is punishable only upon complaint under either law, no proceedings may be instituted until such complaint is lodged.</a:t>
            </a:r>
          </a:p>
          <a:p>
            <a:pPr algn="just"/>
            <a:r>
              <a:rPr lang="en-US" b="1" dirty="0" smtClean="0"/>
              <a:t>Ethiopian defense force may for some time stationed abroad as in the case of Somalia and Rwanda and a member (members) of the defense force may commit offences which are against international law or crimes specifically mentioned as military offences under Art 269-322 of the code under such circumstances Art 15 makes the offender(s) subject to the Ethiopian principal jurisdiction and be tried by Ethiopian military courts.</a:t>
            </a:r>
          </a:p>
          <a:p>
            <a:pPr algn="just"/>
            <a:r>
              <a:rPr lang="en-US" b="1" dirty="0" smtClean="0"/>
              <a:t>In other cases, the offender shall remain subject to the ordinary laws and territorial jurisdiction of the country where he committed the crime if he is arrested there. If he has taken refuge in Ethiopia, he shall be tried in accordance with the principles of extradition provided under Art 21(2) of the code.</a:t>
            </a:r>
          </a:p>
          <a:p>
            <a:pPr algn="just"/>
            <a:endParaRPr lang="en-US" b="1" dirty="0" smtClean="0"/>
          </a:p>
          <a:p>
            <a:endParaRPr lang="en-US" b="1" dirty="0"/>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immunity and  member defense force…</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smtClean="0"/>
              <a:t>Any person subject to Ethiopia’s principal jurisdiction, if found in Ethiopia or extradited to Ethiopia, may be tried in Ethiopia for the offence, whether or not he was not tried in a foreign country for the same offence and if he was tried, whether or not he was discharged or acquitted. </a:t>
            </a:r>
          </a:p>
          <a:p>
            <a:pPr algn="just"/>
            <a:r>
              <a:rPr lang="en-US" b="1" dirty="0" smtClean="0"/>
              <a:t>If, however, he has been convicted of the offence abroad, any part of the punishment he already served shall be deducted from the new sentence.</a:t>
            </a:r>
          </a:p>
          <a:p>
            <a:pPr algn="just"/>
            <a:r>
              <a:rPr lang="en-US" b="1" dirty="0" smtClean="0"/>
              <a:t>It should also be noted that where the person had been tried abroad on the request of the Ethiopian authorities pursuant to Art 12 of the code, he is no longer subject to Ethiopia’s principal jurisdiction.</a:t>
            </a:r>
          </a:p>
          <a:p>
            <a:pPr algn="just"/>
            <a:endParaRPr lang="en-US" b="1" dirty="0" smtClean="0"/>
          </a:p>
          <a:p>
            <a:pPr algn="just"/>
            <a:endParaRPr lang="en-US" b="1" dirty="0"/>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Subsidiary Jurisdiction.</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With regard to offences that do not directly and chiefly concern Ethiopia, our courts have subsidiary jurisdiction which is derivative-not original. </a:t>
            </a:r>
          </a:p>
          <a:p>
            <a:pPr algn="just"/>
            <a:r>
              <a:rPr lang="en-US" sz="2400" b="1" dirty="0" smtClean="0"/>
              <a:t>Under these circumstances, Ethiopian courts substitute foreign courts in trying offenders who must have been (but have not been) tried in a foreign country.</a:t>
            </a:r>
          </a:p>
          <a:p>
            <a:pPr algn="just"/>
            <a:r>
              <a:rPr lang="en-US" sz="2400" b="1" dirty="0" smtClean="0"/>
              <a:t>Subsidiary jurisdiction exists when accused is charged with</a:t>
            </a:r>
          </a:p>
          <a:p>
            <a:pPr algn="just">
              <a:buFont typeface="Wingdings" pitchFamily="2" charset="2"/>
              <a:buChar char="Ø"/>
            </a:pPr>
            <a:r>
              <a:rPr lang="en-US" sz="2400" b="1" dirty="0" smtClean="0"/>
              <a:t>Offences committed by members of the armed forces against the ordinary laws of a foreign country, Art 15(1).</a:t>
            </a:r>
          </a:p>
          <a:p>
            <a:pPr algn="just">
              <a:buFont typeface="Wingdings" pitchFamily="2" charset="2"/>
              <a:buChar char="Ø"/>
            </a:pPr>
            <a:r>
              <a:rPr lang="en-US" sz="2400" b="1" dirty="0" smtClean="0"/>
              <a:t>Offences committed in a foreign country “against international law or international offences specified in Ethiopian legislation, or/ and international treaty or a convention to which Ethiopia has adhered”, Art 17(1) (a).</a:t>
            </a: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Subsidiary Jurisdiction…..</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Ø"/>
            </a:pPr>
            <a:r>
              <a:rPr lang="en-US" sz="2400" b="1" dirty="0" smtClean="0"/>
              <a:t>Offences committed in a foreign country “against public health and morals specified in Art 525, 599, 635, 636, 640 or 641 of the code,  (1Art.7(1)(b))</a:t>
            </a:r>
          </a:p>
          <a:p>
            <a:pPr algn="just">
              <a:buFont typeface="Wingdings" pitchFamily="2" charset="2"/>
              <a:buChar char="Ø"/>
            </a:pPr>
            <a:r>
              <a:rPr lang="en-US" sz="2400" b="1" dirty="0" smtClean="0"/>
              <a:t>Offences committed abroad against an Ethiopian national or offences committed by Ethiopians while abroad, if the offence is punishable under both laws and is grave enough to justify extradition, Art 18(1) and </a:t>
            </a:r>
          </a:p>
          <a:p>
            <a:pPr algn="just">
              <a:buFont typeface="Wingdings" pitchFamily="2" charset="2"/>
              <a:buChar char="Ø"/>
            </a:pPr>
            <a:r>
              <a:rPr lang="en-US" sz="2400" b="1" dirty="0" smtClean="0"/>
              <a:t>Other offences punishable by rigorous imprisonment of not less than ten years) committed abroad by non- extradited foreigners, Art 18(2). </a:t>
            </a:r>
          </a:p>
          <a:p>
            <a:pPr algn="just">
              <a:buFont typeface="Wingdings" pitchFamily="2" charset="2"/>
              <a:buChar char="Ø"/>
            </a:pPr>
            <a:r>
              <a:rPr lang="en-US" sz="2400" b="1" dirty="0" smtClean="0"/>
              <a:t>For Art 18 to be applicable, i.e. in order for a person to be subject to Ethiopia’s subsidiary jurisdiction, two conditions must be satisfied. First, the act  must be punishable &amp;  there must be sufficient gravity  justifying extradition.</a:t>
            </a:r>
          </a:p>
          <a:p>
            <a:pPr algn="just">
              <a:buFont typeface="Wingdings" pitchFamily="2" charset="2"/>
              <a:buChar char="Ø"/>
            </a:pPr>
            <a:endParaRPr lang="en-US" sz="2400" b="1" dirty="0" smtClean="0"/>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i="1" dirty="0" smtClean="0">
                <a:solidFill>
                  <a:srgbClr val="00B050"/>
                </a:solidFill>
              </a:rPr>
              <a:t>All other offences committed outside Ethiopia.</a:t>
            </a:r>
            <a:endParaRPr lang="en-US" sz="2800"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There are two types situations covered under Art 18. The first one is where the crime is committed in a foreign country either by a foreigner against an Ethiopian or by an Ethiopian. </a:t>
            </a:r>
          </a:p>
          <a:p>
            <a:pPr algn="just"/>
            <a:r>
              <a:rPr lang="en-US" b="1" dirty="0" smtClean="0"/>
              <a:t>In order to make a suspect subject to Ethiopia’s subsidiary jurisdiction, it is only necessary that the conditions referred previously be satisfied. </a:t>
            </a:r>
          </a:p>
          <a:p>
            <a:pPr algn="just"/>
            <a:r>
              <a:rPr lang="en-US" b="1" dirty="0" smtClean="0"/>
              <a:t>As long as the offences are of sufficient gravity to justify extradition, it subjects the offender to Ethiopia’s subsidiary jurisdiction (if prohibited by law of the place of commission and Ethiopian law) irrespective of the punishment authorized. </a:t>
            </a:r>
          </a:p>
          <a:p>
            <a:endParaRPr lang="en-US" b="1" dirty="0"/>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questions to be asked in such a situation are</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buNone/>
            </a:pPr>
            <a:r>
              <a:rPr lang="en-US" b="1" dirty="0" smtClean="0"/>
              <a:t>1. Was the offence committed in a foreign country against  Ethiopian National or by an Ethiopian?</a:t>
            </a:r>
          </a:p>
          <a:p>
            <a:pPr algn="just">
              <a:buNone/>
            </a:pPr>
            <a:r>
              <a:rPr lang="en-US" b="1" dirty="0" smtClean="0"/>
              <a:t>2.Is the offence prohibited by the law of the country where it was committed and by Ethiopian law?</a:t>
            </a:r>
          </a:p>
          <a:p>
            <a:pPr algn="just">
              <a:buNone/>
            </a:pPr>
            <a:r>
              <a:rPr lang="en-US" b="1" dirty="0" smtClean="0"/>
              <a:t>3.Is the offence extraditable under any of Ethiopia’s extradition treaties or legislation? </a:t>
            </a:r>
          </a:p>
          <a:p>
            <a:pPr algn="just">
              <a:buFont typeface="Wingdings" pitchFamily="2" charset="2"/>
              <a:buChar char="Ø"/>
            </a:pPr>
            <a:r>
              <a:rPr lang="en-US" b="1" dirty="0" smtClean="0"/>
              <a:t>If the answer to each of the three questions is in the affirmative, the accused is subject to Ethiopia’s subsidiary jurisdiction and may be tried here for the commission of the offence.</a:t>
            </a: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smtClean="0">
                <a:solidFill>
                  <a:srgbClr val="00B050"/>
                </a:solidFill>
              </a:rPr>
              <a:t>Trial in Absence of a foreigner in the absence of extradition of the foreigner.</a:t>
            </a:r>
            <a:endParaRPr lang="en-US" sz="3600"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It  subjects him to Ethiopia’s jurisdiction if:</a:t>
            </a:r>
          </a:p>
          <a:p>
            <a:pPr algn="just">
              <a:buNone/>
            </a:pPr>
            <a:r>
              <a:rPr lang="en-US" b="1" dirty="0" smtClean="0"/>
              <a:t>1.The act is prohibited both by the law of the state of commission and by Ethiopian law;</a:t>
            </a:r>
          </a:p>
          <a:p>
            <a:pPr algn="just">
              <a:buNone/>
            </a:pPr>
            <a:r>
              <a:rPr lang="en-US" b="1" dirty="0" smtClean="0"/>
              <a:t>2. It is extraditable under Ethiopian law; and</a:t>
            </a:r>
          </a:p>
          <a:p>
            <a:pPr algn="just">
              <a:buNone/>
            </a:pPr>
            <a:r>
              <a:rPr lang="en-US" b="1" dirty="0" smtClean="0"/>
              <a:t>3. It is punishable under Ethiopian law by death or rigorous imprisonment for not less than ten years. </a:t>
            </a:r>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More Favorable Law</a:t>
            </a:r>
            <a:endParaRPr lang="en-US" b="1" i="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t>Hence, an offender tried in Ethiopia pursuant to its subsidiary jurisdiction shall not be punished more severely than he could expect to be at the time when and the place where he committed the offence. </a:t>
            </a:r>
          </a:p>
          <a:p>
            <a:pPr algn="just"/>
            <a:r>
              <a:rPr lang="en-US" b="1" dirty="0" smtClean="0"/>
              <a:t>Thus, in case of disparity between the punishment prescribed under the criminal code of Ethiopia and the law of the country of commission, the punishment to be imposed by the Ethiopian courts must be the one which is more favorable to the accused.</a:t>
            </a: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difference between the two</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It has been seen that in cases of principal  jurisdiction a person’s discharge, acquittal or conviction abroad is no bar to proceedings being instituted a new in Ethiopia, provided that where the suspect is convicted and new sentence is passed, the term of the sentence already served abroad will be deducted from such new sentence.</a:t>
            </a:r>
          </a:p>
          <a:p>
            <a:pPr algn="just"/>
            <a:r>
              <a:rPr lang="en-US" sz="2400" b="1" dirty="0" smtClean="0"/>
              <a:t>The effect of foreign sentence in the case of offences to which Ethiopia has only subsidiary jurisdiction is different. Ethiopian courts may only exercise their subsidiary jurisdiction only insofar as no action has been taken against the offender in a foreign country in general. </a:t>
            </a:r>
          </a:p>
          <a:p>
            <a:pPr algn="just"/>
            <a:r>
              <a:rPr lang="en-US" sz="2400" b="1" dirty="0" smtClean="0"/>
              <a:t>Offences as defined under Art 15(1), 17 and 18 are not triable in Ethiopia, whatever the result of the proceedings (acquittal, discharge, conviction will be respected</a:t>
            </a:r>
          </a:p>
          <a:p>
            <a:endParaRPr lang="en-US" sz="2400" b="1" dirty="0"/>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Material Jurisdiction.</a:t>
            </a:r>
            <a:endParaRPr lang="en-US" dirty="0"/>
          </a:p>
        </p:txBody>
      </p:sp>
      <p:sp>
        <p:nvSpPr>
          <p:cNvPr id="3" name="Content Placeholder 2"/>
          <p:cNvSpPr>
            <a:spLocks noGrp="1"/>
          </p:cNvSpPr>
          <p:nvPr>
            <p:ph idx="1"/>
          </p:nvPr>
        </p:nvSpPr>
        <p:spPr/>
        <p:txBody>
          <a:bodyPr>
            <a:noAutofit/>
          </a:bodyPr>
          <a:lstStyle/>
          <a:p>
            <a:pPr algn="just"/>
            <a:r>
              <a:rPr lang="en-US" sz="2400" b="1" dirty="0" smtClean="0"/>
              <a:t>Material jurisdiction is concerned with the level of courts, and the type of court that should hear the case which should be seen in  the light of structure of courts.</a:t>
            </a:r>
          </a:p>
          <a:p>
            <a:pPr algn="just"/>
            <a:r>
              <a:rPr lang="en-US" sz="2400" b="1" dirty="0" smtClean="0"/>
              <a:t>The 1994 FDRE Constitution takes Ethiopia in to a federal form of government. Hence, the organization of courts had been changed accordingly. Art 78 of the FDRE Constitution created a two tiered court system: federal and state courts.</a:t>
            </a:r>
          </a:p>
          <a:p>
            <a:pPr algn="just"/>
            <a:r>
              <a:rPr lang="en-US" sz="2400" b="1" dirty="0" smtClean="0"/>
              <a:t>At federal level, we have the Federal Supreme Court, the Federal High Court and the Federal First Instance Court. </a:t>
            </a:r>
          </a:p>
          <a:p>
            <a:pPr algn="just"/>
            <a:r>
              <a:rPr lang="en-US" sz="2400" b="1" dirty="0" smtClean="0"/>
              <a:t>At state level, too, we have the state supreme court, the state high court and the state woreda court. There are no specialized courts currently in Ethiopia except administrative courts like the tax appeal commission.</a:t>
            </a: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Federal and state Laws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All laws made by the House of Peoples’ Representatives under its enumerated power are referred to as Federal laws; and all laws made by the state legislative bodies under their residual power of legislation are state laws.</a:t>
            </a:r>
          </a:p>
          <a:p>
            <a:pPr algn="just"/>
            <a:r>
              <a:rPr lang="en-US" sz="2400" b="1" dirty="0" smtClean="0"/>
              <a:t>Article 80(1) (2) of FDRE Constitution;</a:t>
            </a:r>
          </a:p>
          <a:p>
            <a:pPr algn="just"/>
            <a:r>
              <a:rPr lang="en-US" sz="2400" b="1" dirty="0" smtClean="0"/>
              <a:t>The federal Supreme Court shall have the highest and final  judicial power over federal matters.</a:t>
            </a:r>
          </a:p>
          <a:p>
            <a:pPr algn="just"/>
            <a:r>
              <a:rPr lang="en-US" sz="2400" b="1" dirty="0" smtClean="0"/>
              <a:t>The state supreme courts shall have the highest and final  judicial power over state matters.</a:t>
            </a:r>
          </a:p>
          <a:p>
            <a:pPr algn="just"/>
            <a:r>
              <a:rPr lang="en-US" sz="2400" b="1" dirty="0" smtClean="0"/>
              <a:t>Federal Courts Proclamation No. 25/96 and 322/2003 sets out the rules for allocation of common and specific jurisdictions to federal courts on the basis of three grounds; laws, parties and places.</a:t>
            </a: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Federal Supreme Court Article 8</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q"/>
            </a:pPr>
            <a:r>
              <a:rPr lang="en-US" b="1" i="1" dirty="0" smtClean="0">
                <a:solidFill>
                  <a:srgbClr val="7030A0"/>
                </a:solidFill>
              </a:rPr>
              <a:t>First Instance Jurisdiction</a:t>
            </a:r>
          </a:p>
          <a:p>
            <a:pPr algn="just"/>
            <a:r>
              <a:rPr lang="en-US" b="1" dirty="0" smtClean="0"/>
              <a:t>According to Art. 8 of the Federal Courts Proclamation, the Federal Supreme Court is given an exclusive first instance jurisdiction over:</a:t>
            </a:r>
          </a:p>
          <a:p>
            <a:pPr algn="just">
              <a:buNone/>
            </a:pPr>
            <a:r>
              <a:rPr lang="en-US" b="1" dirty="0" smtClean="0">
                <a:sym typeface="Wingdings"/>
              </a:rPr>
              <a:t></a:t>
            </a:r>
            <a:r>
              <a:rPr lang="en-US" b="1" dirty="0" smtClean="0"/>
              <a:t> Offences for which officials of the federal government are held liable in connection with their official responsibility;</a:t>
            </a:r>
          </a:p>
          <a:p>
            <a:pPr algn="just">
              <a:buNone/>
            </a:pPr>
            <a:r>
              <a:rPr lang="en-US" b="1" dirty="0" smtClean="0">
                <a:sym typeface="Wingdings"/>
              </a:rPr>
              <a:t></a:t>
            </a:r>
            <a:r>
              <a:rPr lang="en-US" b="1" dirty="0" smtClean="0"/>
              <a:t>Without prejudice to international law and custom, offences for which foreign ambassadors, consuls and representatives of international organizations and foreign states are held liable; and</a:t>
            </a:r>
          </a:p>
          <a:p>
            <a:pPr algn="just">
              <a:buNone/>
            </a:pPr>
            <a:r>
              <a:rPr lang="en-US" b="1" dirty="0" smtClean="0">
                <a:sym typeface="Wingdings"/>
              </a:rPr>
              <a:t></a:t>
            </a:r>
            <a:r>
              <a:rPr lang="en-US" b="1" dirty="0" smtClean="0"/>
              <a:t> Application for change of venue from one federal high court to another or to itself as provided by law.</a:t>
            </a:r>
          </a:p>
          <a:p>
            <a:endParaRPr lang="en-US" b="1" dirty="0"/>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Appellate Jurisdiction FSC</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q"/>
            </a:pPr>
            <a:r>
              <a:rPr lang="en-US" sz="2000" b="1" dirty="0" smtClean="0">
                <a:solidFill>
                  <a:srgbClr val="7030A0"/>
                </a:solidFill>
              </a:rPr>
              <a:t> </a:t>
            </a:r>
            <a:r>
              <a:rPr lang="en-US" sz="2000" b="1" i="1" dirty="0" smtClean="0">
                <a:solidFill>
                  <a:srgbClr val="7030A0"/>
                </a:solidFill>
              </a:rPr>
              <a:t>Appellate Jurisdiction </a:t>
            </a:r>
          </a:p>
          <a:p>
            <a:pPr algn="just"/>
            <a:r>
              <a:rPr lang="en-US" sz="2000" b="1" dirty="0" smtClean="0"/>
              <a:t>Art 9 of the proclamation provides that the Federal Supreme Courts shall have appellate jurisdiction over decisions of Federal High Courts rendered in their first instance and appellate jurisdiction on variation of the decisions of the Federal First Instance Court.</a:t>
            </a:r>
          </a:p>
          <a:p>
            <a:pPr algn="just">
              <a:buFont typeface="Wingdings" pitchFamily="2" charset="2"/>
              <a:buChar char="Ø"/>
            </a:pPr>
            <a:r>
              <a:rPr lang="en-US" sz="2000" b="1" i="1" dirty="0" smtClean="0"/>
              <a:t> Is second appeal possible</a:t>
            </a:r>
            <a:r>
              <a:rPr lang="en-US" sz="2000" b="1" dirty="0" smtClean="0"/>
              <a:t>?</a:t>
            </a:r>
          </a:p>
          <a:p>
            <a:pPr algn="just">
              <a:buFont typeface="Wingdings" pitchFamily="2" charset="2"/>
              <a:buChar char="q"/>
            </a:pPr>
            <a:r>
              <a:rPr lang="en-US" sz="2000" b="1" dirty="0" smtClean="0"/>
              <a:t> </a:t>
            </a:r>
            <a:r>
              <a:rPr lang="en-US" sz="2000" b="1" i="1" dirty="0" smtClean="0">
                <a:solidFill>
                  <a:srgbClr val="7030A0"/>
                </a:solidFill>
              </a:rPr>
              <a:t>Power of Cassation (Art 10(1-3))</a:t>
            </a:r>
          </a:p>
          <a:p>
            <a:pPr algn="just"/>
            <a:r>
              <a:rPr lang="en-US" sz="2000" b="1" dirty="0" smtClean="0"/>
              <a:t>The Federal Supreme Court exercises power of cassation over final decisions it has rendered in its appellate jurisdiction, in its first instance jurisdiction and final decisions of regional supreme courts rendered in their first instance jurisdiction or in their appellate jurisdiction where such decisions contain fundamental error of law. </a:t>
            </a:r>
          </a:p>
          <a:p>
            <a:pPr algn="just"/>
            <a:r>
              <a:rPr lang="en-US" sz="2000" b="1" dirty="0" smtClean="0"/>
              <a:t>The federal Supreme Court’s decision under its cassation power is final and binding. </a:t>
            </a:r>
          </a:p>
          <a:p>
            <a:pPr algn="just"/>
            <a:r>
              <a:rPr lang="en-US" sz="2000" b="1" i="1" dirty="0" smtClean="0"/>
              <a:t>Case law</a:t>
            </a:r>
            <a:r>
              <a:rPr lang="en-US" sz="2000" b="1" dirty="0" smtClean="0"/>
              <a:t> this makes Ethiopian legal system shifted towards the common law legal system where judge made law/ case law is prevalent.</a:t>
            </a:r>
          </a:p>
          <a:p>
            <a:pPr algn="just"/>
            <a:endParaRPr lang="en-US" sz="2000" b="1" dirty="0"/>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 The Federal High Court (Article 12)</a:t>
            </a:r>
            <a:endParaRPr lang="en-US" b="1" i="1" dirty="0">
              <a:solidFill>
                <a:srgbClr val="00B050"/>
              </a:solidFill>
            </a:endParaRPr>
          </a:p>
        </p:txBody>
      </p:sp>
      <p:sp>
        <p:nvSpPr>
          <p:cNvPr id="3" name="Content Placeholder 2"/>
          <p:cNvSpPr>
            <a:spLocks noGrp="1"/>
          </p:cNvSpPr>
          <p:nvPr>
            <p:ph idx="1"/>
          </p:nvPr>
        </p:nvSpPr>
        <p:spPr/>
        <p:txBody>
          <a:bodyPr>
            <a:normAutofit fontScale="70000" lnSpcReduction="20000"/>
          </a:bodyPr>
          <a:lstStyle/>
          <a:p>
            <a:pPr algn="just">
              <a:buFont typeface="Wingdings" pitchFamily="2" charset="2"/>
              <a:buChar char="Ø"/>
            </a:pPr>
            <a:r>
              <a:rPr lang="en-US" b="1" i="1" dirty="0" smtClean="0">
                <a:solidFill>
                  <a:srgbClr val="7030A0"/>
                </a:solidFill>
              </a:rPr>
              <a:t>First instance criminal jurisdiction</a:t>
            </a:r>
          </a:p>
          <a:p>
            <a:pPr algn="just">
              <a:buFont typeface="Wingdings" pitchFamily="2" charset="2"/>
              <a:buChar char="Ø"/>
            </a:pPr>
            <a:r>
              <a:rPr lang="en-US" b="1" dirty="0" smtClean="0"/>
              <a:t>Article 12 of the proclamation provides that the Federal High Court shall have first instance jurisdiction over:</a:t>
            </a:r>
          </a:p>
          <a:p>
            <a:pPr algn="just"/>
            <a:r>
              <a:rPr lang="en-US" b="1" dirty="0" smtClean="0"/>
              <a:t>Offences on the constitutional order, or the internal security of the state.</a:t>
            </a:r>
          </a:p>
          <a:p>
            <a:pPr algn="just"/>
            <a:r>
              <a:rPr lang="en-US" b="1" dirty="0" smtClean="0"/>
              <a:t>Offences against foreign states.</a:t>
            </a:r>
          </a:p>
          <a:p>
            <a:pPr algn="just"/>
            <a:r>
              <a:rPr lang="en-US" b="1" dirty="0" smtClean="0"/>
              <a:t>Offences against the law of nations.</a:t>
            </a:r>
          </a:p>
          <a:p>
            <a:pPr algn="just"/>
            <a:r>
              <a:rPr lang="en-US" b="1" dirty="0" smtClean="0"/>
              <a:t>Offences against the safety of aviation.</a:t>
            </a:r>
          </a:p>
          <a:p>
            <a:pPr algn="just"/>
            <a:r>
              <a:rPr lang="en-US" b="1" dirty="0" smtClean="0"/>
              <a:t>Offences regarding illicit trafficking in dangerous drugs. Other criminal cases arising in Addis Ababa and Dire Dawa and falling under the jurisdiction of the high court pursuant to other laws in force.</a:t>
            </a:r>
          </a:p>
          <a:p>
            <a:pPr algn="just">
              <a:buFont typeface="Wingdings" pitchFamily="2" charset="2"/>
              <a:buChar char="Ø"/>
            </a:pPr>
            <a:r>
              <a:rPr lang="en-US" b="1" i="1" dirty="0" smtClean="0">
                <a:solidFill>
                  <a:srgbClr val="7030A0"/>
                </a:solidFill>
              </a:rPr>
              <a:t>Appellate Jurisdiction.</a:t>
            </a:r>
          </a:p>
          <a:p>
            <a:pPr algn="just"/>
            <a:r>
              <a:rPr lang="en-US" b="1" dirty="0" smtClean="0"/>
              <a:t>The federal high court exercises criminal appellate jurisdiction over all decisions rendered by Federal First Instance Court, the national electoral board, tax appeals commission, labor boards, etc.</a:t>
            </a:r>
          </a:p>
          <a:p>
            <a:pPr algn="just"/>
            <a:endParaRPr lang="en-US" b="1" dirty="0" smtClean="0"/>
          </a:p>
          <a:p>
            <a:pPr algn="just"/>
            <a:endParaRPr lang="en-US" b="1" dirty="0"/>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The Federal First Instance Court.(Art 15)</a:t>
            </a:r>
            <a:endParaRPr lang="en-US" sz="3600" b="1" i="1" dirty="0">
              <a:solidFill>
                <a:srgbClr val="00B050"/>
              </a:solidFill>
            </a:endParaRPr>
          </a:p>
        </p:txBody>
      </p:sp>
      <p:sp>
        <p:nvSpPr>
          <p:cNvPr id="3" name="Content Placeholder 2"/>
          <p:cNvSpPr>
            <a:spLocks noGrp="1"/>
          </p:cNvSpPr>
          <p:nvPr>
            <p:ph idx="1"/>
          </p:nvPr>
        </p:nvSpPr>
        <p:spPr>
          <a:xfrm>
            <a:off x="457200" y="1524000"/>
            <a:ext cx="8229600" cy="4525963"/>
          </a:xfrm>
        </p:spPr>
        <p:txBody>
          <a:bodyPr>
            <a:noAutofit/>
          </a:bodyPr>
          <a:lstStyle/>
          <a:p>
            <a:pPr algn="just">
              <a:buFont typeface="Wingdings" pitchFamily="2" charset="2"/>
              <a:buChar char="Ø"/>
            </a:pPr>
            <a:r>
              <a:rPr lang="en-US" sz="2400" b="1" dirty="0" smtClean="0">
                <a:solidFill>
                  <a:srgbClr val="7030A0"/>
                </a:solidFill>
              </a:rPr>
              <a:t>The Federal First Instance Court shall have jurisdiction over</a:t>
            </a:r>
          </a:p>
          <a:p>
            <a:pPr algn="just"/>
            <a:r>
              <a:rPr lang="en-US" sz="2400" b="1" dirty="0" smtClean="0"/>
              <a:t>Offences against the fiscal and economic interest of the F.Go.</a:t>
            </a:r>
          </a:p>
          <a:p>
            <a:pPr algn="just"/>
            <a:r>
              <a:rPr lang="en-US" sz="2400" b="1" dirty="0" smtClean="0"/>
              <a:t>Offences regarding counterfeiting of currency.</a:t>
            </a:r>
          </a:p>
          <a:p>
            <a:pPr algn="just"/>
            <a:r>
              <a:rPr lang="en-US" sz="2400" b="1" dirty="0" smtClean="0"/>
              <a:t>Offences on freedom of communication service operating across R/states and international level.</a:t>
            </a:r>
          </a:p>
          <a:p>
            <a:pPr algn="just"/>
            <a:r>
              <a:rPr lang="en-US" sz="2400" b="1" dirty="0" smtClean="0"/>
              <a:t>Offences in which foreign national who enjoy privileges and immunities and reside in Ethiopian are victims or defendants subject to the jurisdiction of First Instance Court in operating laws and without prejudice to international agreements.</a:t>
            </a:r>
          </a:p>
          <a:p>
            <a:pPr algn="just"/>
            <a:r>
              <a:rPr lang="en-US" sz="2400" b="1" dirty="0" smtClean="0"/>
              <a:t>They also have jurisdiction over criminal cases that arise in Addis Ababa and Dire Dawa as well as other cases that are under the jurisdiction of Awraja and Woreda courts pursuant to the laws in force.</a:t>
            </a:r>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a:t>
            </a:r>
            <a:r>
              <a:rPr lang="en-US" b="1" i="1" dirty="0" smtClean="0">
                <a:solidFill>
                  <a:srgbClr val="00B050"/>
                </a:solidFill>
              </a:rPr>
              <a:t>Jurisdiction of State Courts</a:t>
            </a:r>
            <a:endParaRPr lang="en-US"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Proclamation No. 25/96 sets the rules that apportioned jurisdiction between federal courts and state courts.(Art.3)</a:t>
            </a:r>
          </a:p>
          <a:p>
            <a:pPr algn="just"/>
            <a:r>
              <a:rPr lang="en-US" b="1" dirty="0" smtClean="0"/>
              <a:t>It enumerates the cases where the federal courts would assume jurisdiction. The areas that are not specifically mentioned to fall under federal court jurisdiction are therefore presumed to be under jurisdiction of state courts. </a:t>
            </a:r>
          </a:p>
          <a:p>
            <a:pPr algn="just"/>
            <a:r>
              <a:rPr lang="en-US" b="1" dirty="0" smtClean="0"/>
              <a:t>Thus, it may be argued that there is no need of enumerating the jurisdiction of state courts. The way FDRE Constitution did the residual jurisdiction is left to regional courts.</a:t>
            </a:r>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Concept of Delegation (delegated jurisdiction)</a:t>
            </a:r>
            <a:endParaRPr lang="en-US"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smtClean="0"/>
              <a:t>Art 78(2) of FDRE Constitution provides that “the jurisdiction of federal high court and of the first instance courts is delegated to state courts”. Art 80 of the same also provides that “state high courts in addition to state jurisdiction shall exercise the jurisdiction of the federal first instance court. State supreme courts then shall exercise the jurisdiction of the federal high court because of the delegated authority.</a:t>
            </a:r>
          </a:p>
          <a:p>
            <a:pPr algn="just"/>
            <a:r>
              <a:rPr lang="en-US" b="1" dirty="0" smtClean="0"/>
              <a:t>We have seen the principle under Art 3(1) of the Federal Courts Proclamation and the specific jurisdictions over offences that are provided under Art 8, 12 and 15 of the same. </a:t>
            </a:r>
            <a:endParaRPr lang="en-US" b="1" dirty="0"/>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Local Jurisdiction</a:t>
            </a:r>
            <a:endParaRPr lang="en-US" i="1"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algn="just"/>
            <a:r>
              <a:rPr lang="en-US" b="1" dirty="0" smtClean="0"/>
              <a:t>Based on the above criteria and standards, one could determine whether Ethiopian courts have jurisdiction, the case is within the material jurisdiction of federal or state courts, and also which level of courts i.e., supreme, high or first instance/woreda court as the case may be.</a:t>
            </a:r>
          </a:p>
          <a:p>
            <a:pPr algn="just"/>
            <a:r>
              <a:rPr lang="en-US" b="1" dirty="0" smtClean="0"/>
              <a:t>Yet the last but most important question of which particular court has the jurisdiction to see and adjudicate the case at hand is not answered. </a:t>
            </a:r>
          </a:p>
          <a:p>
            <a:pPr algn="just"/>
            <a:r>
              <a:rPr lang="en-US" b="1" i="1" dirty="0" smtClean="0"/>
              <a:t>Local Jurisdiction refers to </a:t>
            </a:r>
            <a:r>
              <a:rPr lang="en-US" b="1" dirty="0" smtClean="0"/>
              <a:t>where pertinent public prosecutor frame (prepare) charge against a suspect to a particular named court.	</a:t>
            </a:r>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Local Jurisdiction….</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smtClean="0"/>
              <a:t>Local jurisdiction refers to the area  in which the case is to be tried. If jurisdiction over the offence is in high court, the question is in which high court the particular case is to be tried.</a:t>
            </a:r>
          </a:p>
          <a:p>
            <a:pPr algn="just"/>
            <a:r>
              <a:rPr lang="en-US" b="1" dirty="0" smtClean="0"/>
              <a:t>Art 6  of the Cr. Pr. provides that the court shall exercise local jurisdiction in accordance with the provisions of Art 99-107. The general principle, embodied in Art. 99 is that every offence shall be tried by the court within the local limits of whose jurisdiction the offence is committed. </a:t>
            </a:r>
          </a:p>
          <a:p>
            <a:pPr algn="just"/>
            <a:r>
              <a:rPr lang="en-US" b="1" dirty="0" smtClean="0"/>
              <a:t>In this connection where an offence is triable before the high court, which now sits in some of the provincial – now zonal, capitals, the “local limits of whose jurisdiction “ should be interpreted to mean within the local limits of the province- now zone, in which the High Court is found.</a:t>
            </a:r>
          </a:p>
          <a:p>
            <a:pPr algn="just"/>
            <a:endParaRPr lang="en-US" b="1" dirty="0"/>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Ordinary Place of Trial( Art.99&amp; 100)</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Every offence shall be tried by the court within the local limits of whose jurisdiction it was committed,</a:t>
            </a:r>
            <a:r>
              <a:rPr lang="en-US" sz="2400" b="1" i="1" dirty="0" smtClean="0"/>
              <a:t> Art. 99) </a:t>
            </a:r>
          </a:p>
          <a:p>
            <a:pPr algn="just"/>
            <a:r>
              <a:rPr lang="en-US" sz="2400" b="1" dirty="0" smtClean="0"/>
              <a:t>Where a person is accused of the commission of any offence  when the  place of cause and consequence are different, such offence may be tried by a court within the local limits of whose jurisdiction any such act has been done or any such consequence has ensured(</a:t>
            </a:r>
            <a:r>
              <a:rPr lang="en-US" sz="2400" b="1" i="1" dirty="0" smtClean="0"/>
              <a:t> Art. 100)</a:t>
            </a:r>
          </a:p>
          <a:p>
            <a:pPr algn="just"/>
            <a:r>
              <a:rPr lang="en-US" sz="2400" b="1" dirty="0" smtClean="0"/>
              <a:t>When two related offences have been committed having different jurisdiction the charge can be filed in the court within the local limits of whose jurisdiction either act was done.( Art 101)</a:t>
            </a:r>
            <a:endParaRPr lang="en-US" sz="2400" b="1" i="1" dirty="0" smtClean="0"/>
          </a:p>
          <a:p>
            <a:pPr algn="just"/>
            <a:endParaRPr lang="en-US" sz="2400" b="1" dirty="0"/>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Trial when place of offence is uncertain (Art. 102)</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buFont typeface="Wingdings" pitchFamily="2" charset="2"/>
              <a:buChar char="q"/>
            </a:pPr>
            <a:r>
              <a:rPr lang="en-US" b="1" dirty="0" smtClean="0"/>
              <a:t> An offence may be tried by a court having jurisdiction over any of such local areas when.</a:t>
            </a:r>
          </a:p>
          <a:p>
            <a:pPr lvl="1" algn="just">
              <a:buFont typeface="Wingdings" pitchFamily="2" charset="2"/>
              <a:buChar char="Ø"/>
            </a:pPr>
            <a:r>
              <a:rPr lang="en-US" b="1" dirty="0" smtClean="0"/>
              <a:t>It is uncertain in which of several local areas an offence was committed;</a:t>
            </a:r>
          </a:p>
          <a:p>
            <a:pPr lvl="1" algn="just">
              <a:buFont typeface="Wingdings" pitchFamily="2" charset="2"/>
              <a:buChar char="Ø"/>
            </a:pPr>
            <a:r>
              <a:rPr lang="en-US" b="1" dirty="0" smtClean="0"/>
              <a:t>An offence is committed partly in one local area and partly in another;</a:t>
            </a:r>
          </a:p>
          <a:p>
            <a:pPr lvl="1" algn="just">
              <a:buFont typeface="Wingdings" pitchFamily="2" charset="2"/>
              <a:buChar char="Ø"/>
            </a:pPr>
            <a:r>
              <a:rPr lang="en-US" b="1" dirty="0" smtClean="0"/>
              <a:t>An offence continues to be committed in more than one local area;</a:t>
            </a:r>
          </a:p>
          <a:p>
            <a:pPr lvl="1" algn="just">
              <a:buFont typeface="Wingdings" pitchFamily="2" charset="2"/>
              <a:buChar char="Ø"/>
            </a:pPr>
            <a:r>
              <a:rPr lang="en-US" b="1" dirty="0" smtClean="0"/>
              <a:t>An offence consists of several acts done in different local areas, </a:t>
            </a:r>
            <a:endParaRPr lang="en-US" b="1" dirty="0"/>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Journey, ship, Aircraft &amp; reinstatement(Art 103-105)</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smtClean="0"/>
              <a:t>An offence committed whilst the offender is in the course of performing a journey or voyage may be tried by a court through or into the local limits of whose jurisdiction the offender or the person against whom or the thing in respect of which the offence was committed passed in the course of that journey or voyage.(Art 103.)  </a:t>
            </a:r>
            <a:endParaRPr lang="en-US" b="1" i="1" dirty="0" smtClean="0"/>
          </a:p>
          <a:p>
            <a:pPr algn="just"/>
            <a:r>
              <a:rPr lang="en-US" b="1" dirty="0" smtClean="0"/>
              <a:t>An offence committed outside Ethiopia on an Ethiopian ship or aircraft shall be deemed to have been committed in Ethiopia.</a:t>
            </a:r>
            <a:r>
              <a:rPr lang="en-US" b="1" i="1" dirty="0" smtClean="0"/>
              <a:t> ( Art. 104)</a:t>
            </a:r>
          </a:p>
          <a:p>
            <a:pPr algn="just"/>
            <a:r>
              <a:rPr lang="en-US" b="1" dirty="0" smtClean="0"/>
              <a:t>Requests for reinstatement shall be brought before the court having passed the sentence the cancellation of which is sought.</a:t>
            </a:r>
            <a:r>
              <a:rPr lang="en-US" b="1" i="1" dirty="0" smtClean="0"/>
              <a:t> (Art. 105)</a:t>
            </a:r>
            <a:endParaRPr lang="en-US" b="1" dirty="0"/>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Change of Venue and Withdrawal of Judges.</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system of apportionment of cases to different courts is established with the view of having cases be properly adjudicated by the trial court. </a:t>
            </a:r>
          </a:p>
          <a:p>
            <a:pPr algn="just"/>
            <a:r>
              <a:rPr lang="en-US" sz="2400" b="1" dirty="0" smtClean="0"/>
              <a:t>Nonetheless, sometimes proper adjudication of cases by the court having jurisdiction might not be possible for reasons attributable to that court as an institution or a judge(s) as an individual in which case change of court (venue) or withdrawal of that particular judge could be sought. Once after this, the next step normally is what we call going to the trial stage because it is presumed that such court is competent enough to properly adjudicate the case. This, however, may not always hold true. </a:t>
            </a:r>
          </a:p>
          <a:p>
            <a:pPr algn="just"/>
            <a:r>
              <a:rPr lang="en-US" sz="2400" b="1" dirty="0" smtClean="0"/>
              <a:t>    </a:t>
            </a:r>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Change of Venue</a:t>
            </a:r>
            <a:endParaRPr lang="en-US" dirty="0"/>
          </a:p>
        </p:txBody>
      </p:sp>
      <p:sp>
        <p:nvSpPr>
          <p:cNvPr id="3" name="Content Placeholder 2"/>
          <p:cNvSpPr>
            <a:spLocks noGrp="1"/>
          </p:cNvSpPr>
          <p:nvPr>
            <p:ph idx="1"/>
          </p:nvPr>
        </p:nvSpPr>
        <p:spPr/>
        <p:txBody>
          <a:bodyPr>
            <a:noAutofit/>
          </a:bodyPr>
          <a:lstStyle/>
          <a:p>
            <a:pPr algn="just"/>
            <a:r>
              <a:rPr lang="en-US" sz="2400" b="1" dirty="0" smtClean="0"/>
              <a:t>The parties to the case, i.e. the public prosecutor or the accused, may come up with reasons to show that the said court can not properly and impartially adjudicate the case .</a:t>
            </a:r>
          </a:p>
          <a:p>
            <a:pPr algn="just"/>
            <a:r>
              <a:rPr lang="en-US" sz="2400" b="1" dirty="0" smtClean="0"/>
              <a:t>Change of venue, therefore become a process by which a case is to be transferred from one court that have jurisdiction to another.</a:t>
            </a:r>
          </a:p>
          <a:p>
            <a:pPr algn="just"/>
            <a:r>
              <a:rPr lang="en-US" sz="2400" b="1" dirty="0" smtClean="0"/>
              <a:t>Note that change of venue is possible only for valid reason and that only if the conditions provided by law are complied with. hence, it should be exercised in relation to cases triable before a court in so far as there is a court empowered to entertain the question. </a:t>
            </a:r>
          </a:p>
          <a:p>
            <a:pPr algn="just"/>
            <a:r>
              <a:rPr lang="en-US" sz="2400" b="1" dirty="0" smtClean="0"/>
              <a:t>Art 106 of the CPC states that application for change of venue shall only be made to high court.</a:t>
            </a:r>
          </a:p>
          <a:p>
            <a:pPr algn="just"/>
            <a:endParaRPr lang="en-US" sz="2400" b="1" dirty="0" smtClean="0"/>
          </a:p>
          <a:p>
            <a:endParaRPr lang="en-US" sz="2400" b="1" dirty="0"/>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Change of venue: When? (Art 106) </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Ø"/>
            </a:pPr>
            <a:r>
              <a:rPr lang="en-US" sz="2800" b="1" dirty="0" smtClean="0"/>
              <a:t>Accordingly (Art 106), the accused or public prosecutor can make an application to the high court,</a:t>
            </a:r>
          </a:p>
          <a:p>
            <a:pPr lvl="1" algn="just">
              <a:buFont typeface="Wingdings"/>
              <a:buChar char="ª"/>
            </a:pPr>
            <a:r>
              <a:rPr lang="en-US" sz="2400" b="1" dirty="0" smtClean="0"/>
              <a:t>A fair and impartial trial cannot be held in the subordinate court, as against which the application has been made.</a:t>
            </a:r>
          </a:p>
          <a:p>
            <a:pPr lvl="1" algn="just">
              <a:buFont typeface="Wingdings"/>
              <a:buChar char="ª"/>
            </a:pPr>
            <a:r>
              <a:rPr lang="en-US" sz="2400" b="1" dirty="0" smtClean="0"/>
              <a:t>A question of law of unusual difficulty is to arise.</a:t>
            </a:r>
          </a:p>
          <a:p>
            <a:pPr lvl="1" algn="just">
              <a:buFont typeface="Wingdings"/>
              <a:buChar char="ª"/>
            </a:pPr>
            <a:r>
              <a:rPr lang="en-US" sz="2400" b="1" dirty="0" smtClean="0"/>
              <a:t>Where such an order is necessary for the general convenience of the parties or witnesses</a:t>
            </a:r>
          </a:p>
          <a:p>
            <a:pPr lvl="1" algn="just">
              <a:buFont typeface="Wingdings"/>
              <a:buChar char="ª"/>
            </a:pPr>
            <a:r>
              <a:rPr lang="en-US" sz="2400" b="1" dirty="0" smtClean="0"/>
              <a:t>Such and order is expedient for the ends of justice or is required by any provisions of the CPC.</a:t>
            </a:r>
          </a:p>
          <a:p>
            <a:endParaRPr lang="en-US" sz="2800" b="1" dirty="0"/>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It is also possible to Federal High court.</a:t>
            </a:r>
            <a:endParaRPr lang="en-US" sz="3600"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According to the existing laws of Ethiopia, application for change of venue is admissible only if brought before the commencement of trial of the case.</a:t>
            </a:r>
          </a:p>
          <a:p>
            <a:pPr algn="just"/>
            <a:r>
              <a:rPr lang="en-US" sz="2400" b="1" dirty="0" smtClean="0"/>
              <a:t>Even though the CPC narrowed that application for change of venue within the ambit of high courts only, Proclamation No. 25/96 widens its scope in a way that such application be made to Federal Supreme Court and Federal High Court.</a:t>
            </a:r>
          </a:p>
          <a:p>
            <a:pPr algn="just"/>
            <a:r>
              <a:rPr lang="en-US" sz="2400" b="1" dirty="0" smtClean="0"/>
              <a:t>Art 8(3) of the Courts Proclamation No. 25/96 provides that the Federal Supreme Court has first instance jurisdiction over application for change of venue from one Federal High Court to another Federal High Court .</a:t>
            </a:r>
          </a:p>
          <a:p>
            <a:pPr algn="just"/>
            <a:r>
              <a:rPr lang="en-US" sz="2400" b="1" dirty="0" smtClean="0"/>
              <a:t>Art 12(2) of 25/96 makes cross reference to provisions of the CPC thereby granting Federal High Court the power of entertaining  the application</a:t>
            </a:r>
          </a:p>
          <a:p>
            <a:pPr algn="just"/>
            <a:endParaRPr lang="en-US" sz="2400" b="1" dirty="0" smtClean="0"/>
          </a:p>
          <a:p>
            <a:endParaRPr lang="en-US" sz="2400" dirty="0"/>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r>
              <a:rPr lang="en-US" b="1" i="1" dirty="0" smtClean="0">
                <a:solidFill>
                  <a:srgbClr val="00B050"/>
                </a:solidFill>
              </a:rPr>
              <a:t>Withdrawal of a Judge &amp; Grounds</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buFont typeface="Wingdings" pitchFamily="2" charset="2"/>
              <a:buChar char="q"/>
            </a:pPr>
            <a:r>
              <a:rPr lang="en-US" sz="5800" b="1" i="1" dirty="0" smtClean="0">
                <a:solidFill>
                  <a:srgbClr val="7030A0"/>
                </a:solidFill>
              </a:rPr>
              <a:t>Grounds Art.27(1)</a:t>
            </a:r>
            <a:r>
              <a:rPr lang="en-US" sz="4400" b="1" i="1" dirty="0" smtClean="0">
                <a:solidFill>
                  <a:srgbClr val="7030A0"/>
                </a:solidFill>
              </a:rPr>
              <a:t> No. 25/96 </a:t>
            </a:r>
            <a:endParaRPr lang="en-US" sz="5800" b="1" i="1" dirty="0" smtClean="0">
              <a:solidFill>
                <a:srgbClr val="7030A0"/>
              </a:solidFill>
            </a:endParaRPr>
          </a:p>
          <a:p>
            <a:pPr algn="just">
              <a:buNone/>
            </a:pPr>
            <a:r>
              <a:rPr lang="en-US" b="1" dirty="0" smtClean="0"/>
              <a:t>      No judge of a federal court shall sit in any case where:</a:t>
            </a:r>
          </a:p>
          <a:p>
            <a:pPr algn="just">
              <a:buFont typeface="Wingdings" pitchFamily="2" charset="2"/>
              <a:buChar char="Ø"/>
            </a:pPr>
            <a:r>
              <a:rPr lang="en-US" b="1" dirty="0" smtClean="0"/>
              <a:t>He is related to one of the parties or the advocate thereof by consanguinity or by affinity. </a:t>
            </a:r>
          </a:p>
          <a:p>
            <a:pPr algn="just">
              <a:buFont typeface="Wingdings" pitchFamily="2" charset="2"/>
              <a:buChar char="Ø"/>
            </a:pPr>
            <a:r>
              <a:rPr lang="en-US" b="1" dirty="0" smtClean="0"/>
              <a:t> The dispute relates to a case in which one of the parties is a person for whom he acted as tutor, legal representative or advocate.</a:t>
            </a:r>
          </a:p>
          <a:p>
            <a:pPr algn="just">
              <a:buFont typeface="Wingdings" pitchFamily="2" charset="2"/>
              <a:buChar char="Ø"/>
            </a:pPr>
            <a:r>
              <a:rPr lang="en-US" b="1" dirty="0" smtClean="0"/>
              <a:t>He has previously acted in some capacity in connection with the case or the subject matter of the dispute.</a:t>
            </a:r>
          </a:p>
          <a:p>
            <a:pPr algn="just">
              <a:buFont typeface="Wingdings" pitchFamily="2" charset="2"/>
              <a:buChar char="Ø"/>
            </a:pPr>
            <a:r>
              <a:rPr lang="en-US" b="1" dirty="0" smtClean="0"/>
              <a:t> He has a case pending in court with one of the parties or the advocate thereof.</a:t>
            </a:r>
          </a:p>
          <a:p>
            <a:pPr algn="just">
              <a:buFont typeface="Wingdings" pitchFamily="2" charset="2"/>
              <a:buChar char="Ø"/>
            </a:pPr>
            <a:r>
              <a:rPr lang="en-US" b="1" dirty="0" smtClean="0"/>
              <a:t> Other sufficient reasons, resulting  in injustice.</a:t>
            </a:r>
          </a:p>
          <a:p>
            <a:pPr algn="just"/>
            <a:endParaRPr lang="en-US" b="1" dirty="0"/>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A judge supposed to withdraw himself</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A judge who knew the existence of one or more of the situations provided under sub-article of Art 27(1) is supposed to withdraw himself from the case soon upon his own motion and be replaced by another. </a:t>
            </a:r>
          </a:p>
          <a:p>
            <a:pPr algn="just"/>
            <a:r>
              <a:rPr lang="en-US" sz="2400" b="1" dirty="0" smtClean="0"/>
              <a:t>Though the law anticipates voluntary withdrawal this may not be always true. Art 28 addresses this application for removal of a judge. Thus, where a party is of the opinion that a judge should not sit to see a case for one of the reasons specified under Art 27 of the proclamation, he shall submit a written application to the court requesting that the judge be removed.</a:t>
            </a:r>
          </a:p>
          <a:p>
            <a:pPr algn="just"/>
            <a:r>
              <a:rPr lang="en-US" sz="2400" b="1" dirty="0" smtClean="0"/>
              <a:t>Such application shall be in writing and be made before the opening of the trial or soon after the applicant becomes aware of the ground for making such an application.                             </a:t>
            </a:r>
          </a:p>
          <a:p>
            <a:pPr algn="just"/>
            <a:endParaRPr lang="en-US" sz="2400" b="1" dirty="0"/>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How the Application be considered?</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Where the judge against whom the application is made is sitting alone, he shall, after considering the application, either withdraw or refer the matter for decision to another division of the same court or where there is no other division  to the next higher  court. </a:t>
            </a:r>
          </a:p>
          <a:p>
            <a:pPr algn="just"/>
            <a:r>
              <a:rPr lang="en-US" sz="2400" b="1" dirty="0" smtClean="0"/>
              <a:t>However, if the judge is sitting with other judges, he shall withdraw and the remaining judges shall hear the application and give a decision there on.</a:t>
            </a:r>
          </a:p>
          <a:p>
            <a:pPr algn="just"/>
            <a:r>
              <a:rPr lang="en-US" sz="2400" b="1" dirty="0" smtClean="0"/>
              <a:t>For withdrawal of a judge to be granted the conditions under Art 27 should be complied with.</a:t>
            </a:r>
          </a:p>
          <a:p>
            <a:pPr algn="just"/>
            <a:r>
              <a:rPr lang="en-US" sz="2400" b="1" dirty="0" smtClean="0"/>
              <a:t>In addition to the dismissal of the application, Art 30 provides that application for withdrawal of a judge without good cause might even resulted in a penalty or fine.</a:t>
            </a:r>
          </a:p>
          <a:p>
            <a:endParaRPr lang="en-US" sz="2400" b="1" dirty="0"/>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B050"/>
                </a:solidFill>
              </a:rPr>
              <a:t>CHAPTER SIX</a:t>
            </a:r>
            <a:r>
              <a:rPr lang="en-US" b="1" i="1" dirty="0" smtClean="0">
                <a:solidFill>
                  <a:srgbClr val="00B050"/>
                </a:solidFill>
              </a:rPr>
              <a:t/>
            </a:r>
            <a:br>
              <a:rPr lang="en-US" b="1" i="1" dirty="0" smtClean="0">
                <a:solidFill>
                  <a:srgbClr val="00B050"/>
                </a:solidFill>
              </a:rPr>
            </a:br>
            <a:r>
              <a:rPr lang="en-US" b="1" i="1" dirty="0" smtClean="0">
                <a:solidFill>
                  <a:srgbClr val="0070C0"/>
                </a:solidFill>
              </a:rPr>
              <a:t>THE TRIAL</a:t>
            </a:r>
            <a:endParaRPr lang="en-US" b="1" i="1" dirty="0">
              <a:solidFill>
                <a:srgbClr val="7030A0"/>
              </a:solidFill>
            </a:endParaRPr>
          </a:p>
        </p:txBody>
      </p:sp>
      <p:sp>
        <p:nvSpPr>
          <p:cNvPr id="3" name="Content Placeholder 2"/>
          <p:cNvSpPr>
            <a:spLocks noGrp="1"/>
          </p:cNvSpPr>
          <p:nvPr>
            <p:ph idx="1"/>
          </p:nvPr>
        </p:nvSpPr>
        <p:spPr/>
        <p:txBody>
          <a:bodyPr>
            <a:normAutofit fontScale="85000" lnSpcReduction="20000"/>
          </a:bodyPr>
          <a:lstStyle/>
          <a:p>
            <a:pPr algn="ctr">
              <a:buFont typeface="Wingdings" pitchFamily="2" charset="2"/>
              <a:buChar char="q"/>
            </a:pPr>
            <a:r>
              <a:rPr lang="en-US" dirty="0" smtClean="0"/>
              <a:t> 1.</a:t>
            </a:r>
            <a:r>
              <a:rPr lang="en-US" b="1" dirty="0" smtClean="0">
                <a:solidFill>
                  <a:srgbClr val="7030A0"/>
                </a:solidFill>
              </a:rPr>
              <a:t>The Right to Fair Trial </a:t>
            </a:r>
            <a:endParaRPr lang="en-US" b="1" dirty="0" smtClean="0"/>
          </a:p>
          <a:p>
            <a:pPr algn="just"/>
            <a:r>
              <a:rPr lang="en-US" b="1" dirty="0" smtClean="0"/>
              <a:t>Trial in general and criminal trial proceeding in particular should be fair. </a:t>
            </a:r>
          </a:p>
          <a:p>
            <a:pPr algn="just"/>
            <a:r>
              <a:rPr lang="en-US" b="1" dirty="0" smtClean="0"/>
              <a:t>To this effect, parties to the proceeding have certain rights which we call fair trial rights.</a:t>
            </a:r>
          </a:p>
          <a:p>
            <a:pPr algn="just"/>
            <a:r>
              <a:rPr lang="en-US" b="1" dirty="0" smtClean="0"/>
              <a:t>Almost in all legal systems an accused enjoys rights, often granted by law. </a:t>
            </a:r>
          </a:p>
          <a:p>
            <a:pPr algn="just"/>
            <a:r>
              <a:rPr lang="en-US" b="1" dirty="0" smtClean="0"/>
              <a:t>Such rights could be exercised before, on or even after the criminal proceeding.      </a:t>
            </a:r>
          </a:p>
          <a:p>
            <a:pPr algn="just"/>
            <a:r>
              <a:rPr lang="en-US" b="1" dirty="0" smtClean="0"/>
              <a:t>The accused  may not have knowledge of the law and , therefore, may not know, </a:t>
            </a:r>
          </a:p>
          <a:p>
            <a:pPr lvl="1" algn="just">
              <a:buFont typeface="Wingdings" pitchFamily="2" charset="2"/>
              <a:buChar char="Ø"/>
            </a:pPr>
            <a:r>
              <a:rPr lang="en-US" b="1" i="1" dirty="0" smtClean="0">
                <a:solidFill>
                  <a:srgbClr val="C00000"/>
                </a:solidFill>
              </a:rPr>
              <a:t>What are his rights and duties </a:t>
            </a:r>
          </a:p>
          <a:p>
            <a:pPr lvl="1" algn="just">
              <a:buFont typeface="Wingdings" pitchFamily="2" charset="2"/>
              <a:buChar char="Ø"/>
            </a:pPr>
            <a:r>
              <a:rPr lang="en-US" b="1" i="1" dirty="0" smtClean="0">
                <a:solidFill>
                  <a:srgbClr val="C00000"/>
                </a:solidFill>
              </a:rPr>
              <a:t>At what stage are they to be raised and exercised, </a:t>
            </a:r>
          </a:p>
          <a:p>
            <a:pPr lvl="1" algn="just">
              <a:buFont typeface="Wingdings" pitchFamily="2" charset="2"/>
              <a:buChar char="Ø"/>
            </a:pPr>
            <a:r>
              <a:rPr lang="en-US" b="1" i="1" dirty="0" smtClean="0">
                <a:solidFill>
                  <a:srgbClr val="C00000"/>
                </a:solidFill>
              </a:rPr>
              <a:t>What kind of evidences are relevant to his case, etc</a:t>
            </a:r>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i="1" dirty="0" smtClean="0">
                <a:solidFill>
                  <a:srgbClr val="00B050"/>
                </a:solidFill>
              </a:rPr>
              <a:t>The Prosecutor and Police: powerful? </a:t>
            </a:r>
            <a:endParaRPr lang="en-US" sz="4000"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public prosecutor, on the other hand is a professional trained and skilled in law, and in the prosecuting arm of the government, having all the government power and resources to conduct the investigation and the prosecution when  compared to that of poor accused. </a:t>
            </a:r>
          </a:p>
          <a:p>
            <a:pPr algn="just"/>
            <a:r>
              <a:rPr lang="en-US" sz="2400" b="1" dirty="0" smtClean="0"/>
              <a:t>The police are under the prosecutor who even takes instructions as to investigations which are to be complied with. They are using the public fund to prosecute. </a:t>
            </a:r>
          </a:p>
          <a:p>
            <a:pPr algn="just"/>
            <a:r>
              <a:rPr lang="en-US" sz="2400" b="1" dirty="0" smtClean="0"/>
              <a:t>Fair trial is, thus, an effort to reduce this unbridgeable gap of power and resources between the two parties and in some way leveling the ground so that there could be a fair hearing.</a:t>
            </a:r>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Duty of the Public Prosecutor</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These mechanisms are mainly by “granting” certain rights to the accused such as the right to remain silent, due process of law the right to pre-trial access to evidence, open court trial and presumption of innocence.</a:t>
            </a:r>
          </a:p>
          <a:p>
            <a:pPr algn="just"/>
            <a:r>
              <a:rPr lang="en-US" sz="2400" b="1" dirty="0" smtClean="0"/>
              <a:t>It also includes imposing certain obligations on the public prosecutor, such as, </a:t>
            </a:r>
            <a:r>
              <a:rPr lang="en-US" sz="2400" b="1" i="1" dirty="0" smtClean="0">
                <a:solidFill>
                  <a:srgbClr val="7030A0"/>
                </a:solidFill>
              </a:rPr>
              <a:t>the constitutional obligation to respect and have respected</a:t>
            </a:r>
            <a:r>
              <a:rPr lang="en-US" sz="2400" b="1" dirty="0" smtClean="0">
                <a:solidFill>
                  <a:srgbClr val="00B050"/>
                </a:solidFill>
              </a:rPr>
              <a:t> </a:t>
            </a:r>
            <a:r>
              <a:rPr lang="en-US" sz="2400" b="1" dirty="0" smtClean="0"/>
              <a:t>the rights and privileges of the accused, the obligation to prove the charge and to prove it beyond reasonable doubt degree. </a:t>
            </a:r>
          </a:p>
          <a:p>
            <a:pPr algn="just"/>
            <a:r>
              <a:rPr lang="en-US" sz="2400" b="1" dirty="0" smtClean="0"/>
              <a:t>Such rights extend to the period when a person is accused of a crime till the time of conviction or acquittal.</a:t>
            </a:r>
          </a:p>
          <a:p>
            <a:pPr algn="just"/>
            <a:r>
              <a:rPr lang="en-US" sz="2400" b="1" dirty="0" smtClean="0"/>
              <a:t>The rights of the accused are generally based on the maxim of “innocent until proven guilty” embodied within a constitution. </a:t>
            </a:r>
          </a:p>
          <a:p>
            <a:pPr algn="just"/>
            <a:endParaRPr lang="en-US" sz="2400" dirty="0" smtClean="0"/>
          </a:p>
          <a:p>
            <a:pPr algn="just"/>
            <a:endParaRPr lang="en-US" sz="2400" dirty="0"/>
          </a:p>
        </p:txBody>
      </p:sp>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2.The Right to Defense Counsel</a:t>
            </a:r>
            <a:endParaRPr lang="en-US" i="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t>It has been discussed that often accused are layman who lack the relevant knowledge of law to bring and defend causes of actions brought against them.</a:t>
            </a:r>
          </a:p>
          <a:p>
            <a:pPr algn="just"/>
            <a:r>
              <a:rPr lang="en-US" b="1" dirty="0" smtClean="0"/>
              <a:t>Consequently, they are in urgent need to seek lawyers/advocates/ to defend causes on their behalf.</a:t>
            </a:r>
          </a:p>
          <a:p>
            <a:pPr algn="just"/>
            <a:r>
              <a:rPr lang="en-US" b="1" dirty="0" smtClean="0"/>
              <a:t>To this end most legal systems allow accused persons to have the service of lawyers of their choice or appointed by the state so that they will be able to protect their liberty at stake.</a:t>
            </a:r>
          </a:p>
          <a:p>
            <a:pPr algn="just"/>
            <a:endParaRPr lang="en-US" b="1" dirty="0"/>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Article 20(5) of FDRE Constitution </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i="1" dirty="0" smtClean="0"/>
              <a:t>“Accused persons have the right to be represented by legal counsel of their choice ,and if they do not have sufficient means to pay for it  and miscarriage of justice would result, to be provided with legal  representation at state expense.” </a:t>
            </a:r>
          </a:p>
          <a:p>
            <a:pPr algn="just"/>
            <a:r>
              <a:rPr lang="en-US" sz="2400" b="1" dirty="0" smtClean="0"/>
              <a:t>The state should provide defense legal counsel only</a:t>
            </a:r>
          </a:p>
          <a:p>
            <a:pPr lvl="1" algn="just">
              <a:buFont typeface="Wingdings" pitchFamily="2" charset="2"/>
              <a:buChar char="Ø"/>
            </a:pPr>
            <a:r>
              <a:rPr lang="en-US" sz="2000" b="1" dirty="0" smtClean="0"/>
              <a:t>To those who are not able to pay for it and </a:t>
            </a:r>
          </a:p>
          <a:p>
            <a:pPr lvl="1" algn="just">
              <a:buFont typeface="Wingdings" pitchFamily="2" charset="2"/>
              <a:buChar char="Ø"/>
            </a:pPr>
            <a:r>
              <a:rPr lang="en-US" sz="2000" b="1" dirty="0" smtClean="0"/>
              <a:t>If miscarriage of justice is believed to have resulted . </a:t>
            </a:r>
          </a:p>
          <a:p>
            <a:pPr algn="just"/>
            <a:r>
              <a:rPr lang="en-US" sz="2400" b="1" dirty="0" smtClean="0"/>
              <a:t>In all others cases, no legal counsel be provided to the accused at the expense of the state.</a:t>
            </a:r>
          </a:p>
          <a:p>
            <a:pPr algn="just"/>
            <a:r>
              <a:rPr lang="en-US" sz="2400" b="1" dirty="0" smtClean="0"/>
              <a:t>Obviously those who can afford to appoint a legal counsel at their own expense can do so without any restriction. </a:t>
            </a:r>
          </a:p>
          <a:p>
            <a:pPr algn="just"/>
            <a:endParaRPr lang="en-US" sz="2400" b="1" dirty="0"/>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Some sort of standardization needed? </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Though it is a constitutional right for an accused to be provided with legal counsel at the state expense provided that miscarriage of justice is to occur, it is often only in some limited cases that such right is exercised.  </a:t>
            </a:r>
          </a:p>
          <a:p>
            <a:pPr algn="just"/>
            <a:r>
              <a:rPr lang="en-US" b="1" dirty="0" smtClean="0"/>
              <a:t>Therefore, some sort of standardization should be set for it is impossible for the state to provide legal counsel for accused persons charged with all kinds of offences. </a:t>
            </a:r>
          </a:p>
          <a:p>
            <a:pPr algn="just"/>
            <a:endParaRPr lang="en-US" b="1" dirty="0" smtClean="0"/>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Practice</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In practice the Federal courts emphasize the gravity of the offence. </a:t>
            </a:r>
            <a:r>
              <a:rPr lang="en-US" sz="2400" b="1" i="1" dirty="0" smtClean="0"/>
              <a:t>The</a:t>
            </a:r>
            <a:r>
              <a:rPr lang="en-US" sz="2400" b="1" i="1" dirty="0" smtClean="0">
                <a:solidFill>
                  <a:srgbClr val="7030A0"/>
                </a:solidFill>
              </a:rPr>
              <a:t>y</a:t>
            </a:r>
            <a:r>
              <a:rPr lang="en-US" sz="2400" b="1" dirty="0" smtClean="0">
                <a:solidFill>
                  <a:srgbClr val="7030A0"/>
                </a:solidFill>
              </a:rPr>
              <a:t> </a:t>
            </a:r>
            <a:r>
              <a:rPr lang="en-US" sz="2400" b="1" dirty="0" smtClean="0"/>
              <a:t>appoint a defense Lawyer where a person is accused </a:t>
            </a:r>
            <a:r>
              <a:rPr lang="en-US" sz="2400" b="1" i="1" dirty="0" smtClean="0">
                <a:solidFill>
                  <a:srgbClr val="7030A0"/>
                </a:solidFill>
              </a:rPr>
              <a:t>of </a:t>
            </a:r>
            <a:r>
              <a:rPr lang="en-US" sz="2400" b="1" dirty="0" smtClean="0"/>
              <a:t>homicide, terrorism, corruption, or robbery.</a:t>
            </a:r>
          </a:p>
          <a:p>
            <a:pPr algn="just"/>
            <a:r>
              <a:rPr lang="en-US" sz="2400" b="1" dirty="0" smtClean="0"/>
              <a:t>In addition two Laws deal with this matter and  use the punishment attached to the charged offence as a criteria for deciding whether to appoint a lawyer; when the offence is punishable with rigorous impressments not less than five years.</a:t>
            </a:r>
          </a:p>
          <a:p>
            <a:pPr lvl="1" algn="just">
              <a:buFont typeface="Wingdings" pitchFamily="2" charset="2"/>
              <a:buChar char="Ø"/>
            </a:pPr>
            <a:r>
              <a:rPr lang="en-US" sz="2400" b="1" dirty="0" smtClean="0"/>
              <a:t>The defense force Proclamation ( Art 34(2) of Pro. No.27/1996)( Federal  Negarit Gazeta)</a:t>
            </a:r>
          </a:p>
          <a:p>
            <a:pPr lvl="1" algn="just">
              <a:buFont typeface="Wingdings" pitchFamily="2" charset="2"/>
              <a:buChar char="Ø"/>
            </a:pPr>
            <a:r>
              <a:rPr lang="en-US" sz="2400" b="1" dirty="0" smtClean="0"/>
              <a:t>The Proclamation to provide for The reestablishment of Oromia National Regional State Court Proclamation Art.17(2) Pro. 141/2008( Megelete Oromia)</a:t>
            </a:r>
            <a:endParaRPr lang="en-US" sz="2400" b="1" dirty="0"/>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3. The Right to Obtain Copy of the Charge</a:t>
            </a:r>
            <a:endParaRPr lang="en-US" i="1"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algn="just"/>
            <a:r>
              <a:rPr lang="en-US" b="1" dirty="0" smtClean="0"/>
              <a:t>It has been discussed that upon the receipt of the report of police investigation, the public prosecutor may prosecute the accused on a </a:t>
            </a:r>
            <a:r>
              <a:rPr lang="en-US" b="1" i="1" dirty="0" smtClean="0">
                <a:solidFill>
                  <a:srgbClr val="7030A0"/>
                </a:solidFill>
              </a:rPr>
              <a:t>charge</a:t>
            </a:r>
            <a:r>
              <a:rPr lang="en-US" b="1" dirty="0" smtClean="0"/>
              <a:t> drawn up by him pursuant to Art. 108-122 of the Cr.Pr. among others. </a:t>
            </a:r>
          </a:p>
          <a:p>
            <a:pPr algn="just"/>
            <a:r>
              <a:rPr lang="en-US" b="1" dirty="0" smtClean="0"/>
              <a:t>Charge could be defined as a formal document containing an allegation that a person named therein has committed a crime by describing the necessary facts and evidence implying that such person deserves punishment as provided for under the relevant article that has been violated. </a:t>
            </a:r>
          </a:p>
          <a:p>
            <a:pPr algn="just"/>
            <a:r>
              <a:rPr lang="en-US" b="1" dirty="0" smtClean="0"/>
              <a:t>Charge describes the necessary facts and evidences implying the person deserve punishment. Mere charge, however, will not necessarily result in punishment. </a:t>
            </a:r>
          </a:p>
          <a:p>
            <a:pPr algn="just"/>
            <a:endParaRPr lang="en-US" b="1" dirty="0"/>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Right to Obtain Copy of the Charge…….</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accused (defendant) has a constitutional right to examine witnesses testifying against him to adduce or to have evidence produced in his own defense and to obtain the attendance of and examination of witnesses on his behalf before the trial court.</a:t>
            </a:r>
          </a:p>
          <a:p>
            <a:pPr algn="just"/>
            <a:r>
              <a:rPr lang="en-US" sz="2400" b="1" dirty="0" smtClean="0"/>
              <a:t>Hence, the right of the accused to obtain a copy of the charge is of high importance in the exercise these rights .</a:t>
            </a:r>
          </a:p>
          <a:p>
            <a:pPr algn="just"/>
            <a:r>
              <a:rPr lang="en-US" sz="2400" b="1" dirty="0" smtClean="0"/>
              <a:t>The accused person has the right to be informed with sufficient particulars of the charge brought against him and to be given the charge in writing has been stated. (Art 20(2) of FDRE Co.) </a:t>
            </a:r>
            <a:r>
              <a:rPr lang="en-US" sz="2400" b="1" i="1" dirty="0" smtClean="0">
                <a:solidFill>
                  <a:srgbClr val="7030A0"/>
                </a:solidFill>
              </a:rPr>
              <a:t>&amp;</a:t>
            </a:r>
            <a:r>
              <a:rPr lang="en-US" sz="2400" b="1" dirty="0" smtClean="0"/>
              <a:t> (Art.108  &amp; 109 Cr.Pr.)</a:t>
            </a:r>
          </a:p>
          <a:p>
            <a:pPr algn="just"/>
            <a:r>
              <a:rPr lang="en-US" sz="2400" b="1" dirty="0" smtClean="0"/>
              <a:t>A copy of every charge shall be given to the accused  of free </a:t>
            </a:r>
          </a:p>
          <a:p>
            <a:pPr algn="just"/>
            <a:endParaRPr lang="en-US" sz="2400" b="1" dirty="0" smtClean="0"/>
          </a:p>
          <a:p>
            <a:endParaRPr lang="en-US" sz="2400" b="1" dirty="0"/>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4. The right to Public Trail</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r>
              <a:rPr lang="en-US" b="1" dirty="0" smtClean="0"/>
              <a:t>Legal proceedings to determine guilt are fundamentally different from administrative methods of determining facts, which can be carried out secretly.</a:t>
            </a:r>
          </a:p>
          <a:p>
            <a:pPr algn="just"/>
            <a:r>
              <a:rPr lang="en-US" b="1" dirty="0" smtClean="0"/>
              <a:t>Legal proceedings, however, must create  opportunity by allowing the community either to witness the process through which their decision is made or to participate in some way.</a:t>
            </a:r>
          </a:p>
          <a:p>
            <a:pPr algn="just"/>
            <a:endParaRPr lang="en-US" b="1" dirty="0"/>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Legal proceedings are different Administrative one</a:t>
            </a:r>
            <a:endParaRPr lang="en-US" dirty="0"/>
          </a:p>
        </p:txBody>
      </p:sp>
      <p:sp>
        <p:nvSpPr>
          <p:cNvPr id="3" name="Content Placeholder 2"/>
          <p:cNvSpPr>
            <a:spLocks noGrp="1"/>
          </p:cNvSpPr>
          <p:nvPr>
            <p:ph idx="1"/>
          </p:nvPr>
        </p:nvSpPr>
        <p:spPr/>
        <p:txBody>
          <a:bodyPr>
            <a:normAutofit lnSpcReduction="10000"/>
          </a:bodyPr>
          <a:lstStyle/>
          <a:p>
            <a:pPr algn="just"/>
            <a:r>
              <a:rPr lang="en-US" b="1" dirty="0" smtClean="0"/>
              <a:t>This leads to proceeding legitimacy, avoids suspicion and rumor of official prejudice and arbitrariness, and gives the public a feeling of security.</a:t>
            </a:r>
          </a:p>
          <a:p>
            <a:pPr algn="just"/>
            <a:r>
              <a:rPr lang="en-US" b="1" dirty="0" smtClean="0"/>
              <a:t>In the second place, public trial performs an important function in the administration of fact finding.</a:t>
            </a:r>
          </a:p>
          <a:p>
            <a:pPr algn="just"/>
            <a:r>
              <a:rPr lang="en-US" b="1" dirty="0" smtClean="0"/>
              <a:t> It dramatize moral issues and inform the public of the sad consequences which attend violation of law through their public ceremonies, adjudication proceedings , educate, and deter.</a:t>
            </a:r>
          </a:p>
          <a:p>
            <a:endParaRPr lang="en-US" dirty="0"/>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Article 20(1) of FDRE Constitution.</a:t>
            </a:r>
            <a:endParaRPr lang="en-US" dirty="0"/>
          </a:p>
        </p:txBody>
      </p:sp>
      <p:sp>
        <p:nvSpPr>
          <p:cNvPr id="3" name="Content Placeholder 2"/>
          <p:cNvSpPr>
            <a:spLocks noGrp="1"/>
          </p:cNvSpPr>
          <p:nvPr>
            <p:ph idx="1"/>
          </p:nvPr>
        </p:nvSpPr>
        <p:spPr/>
        <p:txBody>
          <a:bodyPr>
            <a:noAutofit/>
          </a:bodyPr>
          <a:lstStyle/>
          <a:p>
            <a:pPr algn="just"/>
            <a:r>
              <a:rPr lang="en-US" sz="2400" b="1" i="1" dirty="0" smtClean="0"/>
              <a:t>“Accused persons have the right to a public trial by an ordinary court of law within a reasonable time after having been charged. The court may hear cases in a closed session only with a view  to protecting the right to privacy of the parties concerned, public morals and national security.”</a:t>
            </a:r>
          </a:p>
          <a:p>
            <a:pPr algn="just"/>
            <a:r>
              <a:rPr lang="en-US" sz="2400" b="1" dirty="0" smtClean="0"/>
              <a:t>Thus, the FDRE Constitution makes trial to be “public”, i.e. in an open court before ordinary court in principle. Ordinary court should be understood to mean a court having judicial, material and local jurisdiction.</a:t>
            </a:r>
          </a:p>
          <a:p>
            <a:pPr algn="just"/>
            <a:r>
              <a:rPr lang="en-US" sz="2400" b="1" dirty="0" smtClean="0"/>
              <a:t>Article 20/1/, however, is not limited to the accused’s right to public trial. It also guaranteed that trial be undertaken speedily – speedy trial. Speedy trial is to mean trial which avoids unnecessary and unreasonable delay, i.e. decision rendered within the possible reasonable period of time.</a:t>
            </a:r>
            <a:endParaRPr lang="en-US" sz="2400" b="1" dirty="0"/>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Exceptions to Public trails?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Constitution under Art 20 and  Federal Courts Proclamation under Art 26 put exceptions to this right.</a:t>
            </a:r>
          </a:p>
          <a:p>
            <a:pPr algn="just"/>
            <a:r>
              <a:rPr lang="en-US" sz="2400" b="1" dirty="0" smtClean="0"/>
              <a:t> The Constitution provides that a court could hear cases in a closed session only with a view of protecting,</a:t>
            </a:r>
          </a:p>
          <a:p>
            <a:pPr lvl="1" algn="just">
              <a:buFont typeface="Wingdings" pitchFamily="2" charset="2"/>
              <a:buChar char="Ø"/>
            </a:pPr>
            <a:r>
              <a:rPr lang="en-US" sz="2400" b="1" dirty="0" smtClean="0"/>
              <a:t>The rights to privacy of the concerned parties, </a:t>
            </a:r>
          </a:p>
          <a:p>
            <a:pPr lvl="1" algn="just">
              <a:buFont typeface="Wingdings" pitchFamily="2" charset="2"/>
              <a:buChar char="Ø"/>
            </a:pPr>
            <a:r>
              <a:rPr lang="en-US" sz="2400" b="1" dirty="0" smtClean="0"/>
              <a:t>Public morals and</a:t>
            </a:r>
          </a:p>
          <a:p>
            <a:pPr lvl="1" algn="just">
              <a:buFont typeface="Wingdings" pitchFamily="2" charset="2"/>
              <a:buChar char="Ø"/>
            </a:pPr>
            <a:r>
              <a:rPr lang="en-US" sz="2400" b="1" dirty="0" smtClean="0"/>
              <a:t> National security.</a:t>
            </a:r>
          </a:p>
          <a:p>
            <a:pPr algn="just"/>
            <a:r>
              <a:rPr lang="en-US" sz="2400" b="1" dirty="0" smtClean="0"/>
              <a:t> Art. 26(2) of Proclamation No. 25/96 lists two grounds for a court to hear cases in a closed session –“in camera” these are:</a:t>
            </a:r>
          </a:p>
          <a:p>
            <a:pPr lvl="1" algn="just">
              <a:buFont typeface="Wingdings" pitchFamily="2" charset="2"/>
              <a:buChar char="Ø"/>
            </a:pPr>
            <a:r>
              <a:rPr lang="en-US" sz="2400" b="1" dirty="0" smtClean="0"/>
              <a:t>Public and state safety, and</a:t>
            </a:r>
          </a:p>
          <a:p>
            <a:pPr lvl="1" algn="just">
              <a:buFont typeface="Wingdings" pitchFamily="2" charset="2"/>
              <a:buChar char="Ø"/>
            </a:pPr>
            <a:r>
              <a:rPr lang="en-US" sz="2400" b="1" dirty="0" smtClean="0"/>
              <a:t>Public morality and decency.  </a:t>
            </a:r>
          </a:p>
        </p:txBody>
      </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Young Person: Art 176 of the Cr.Pr</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i="1" dirty="0" smtClean="0"/>
              <a:t>“Where the young person is brought before the  court all the proceedings shall be held in  chambers. Nobody shall be present at any hearing except witnesses, experts , parents or guardian or representatives of welfare organizations. The public prosecutor shall be present at any hearing in the high court.”</a:t>
            </a:r>
          </a:p>
          <a:p>
            <a:pPr algn="just"/>
            <a:r>
              <a:rPr lang="en-US" b="1" dirty="0" smtClean="0"/>
              <a:t>Hence, the criminal procedure code states that prosecution in cases of young offenders be semi closed </a:t>
            </a:r>
          </a:p>
          <a:p>
            <a:pPr algn="just"/>
            <a:r>
              <a:rPr lang="en-US" b="1" dirty="0" smtClean="0"/>
              <a:t>In all cases, therefore, the accused has the </a:t>
            </a:r>
            <a:r>
              <a:rPr lang="en-US" b="1" i="1" dirty="0" smtClean="0">
                <a:solidFill>
                  <a:srgbClr val="7030A0"/>
                </a:solidFill>
              </a:rPr>
              <a:t>right</a:t>
            </a:r>
            <a:r>
              <a:rPr lang="en-US" b="1" dirty="0" smtClean="0"/>
              <a:t> to open court – public trial as a rule and that trial be in closed session i.e. in camera, is possible only under some exceptional situations provided by law. </a:t>
            </a:r>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5.The Presumption of Innocence</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
            </a:pPr>
            <a:r>
              <a:rPr lang="en-US" sz="2400" b="1" dirty="0" smtClean="0"/>
              <a:t>Being innocent until proven guilty is a legal right that the accused in a criminal trial in many modern nations. The burden of proof rests on who asserts, not on who denies.</a:t>
            </a:r>
          </a:p>
          <a:p>
            <a:pPr algn="just">
              <a:buFont typeface="Wingdings" pitchFamily="2" charset="2"/>
              <a:buChar char="§"/>
            </a:pPr>
            <a:r>
              <a:rPr lang="en-US" sz="2400" b="1" dirty="0" smtClean="0"/>
              <a:t>The presumption of innocence is in fact a legal instrument created by law to favor the accused based on the legal inference that most people are not criminal. </a:t>
            </a:r>
          </a:p>
          <a:p>
            <a:pPr algn="just">
              <a:buFont typeface="Wingdings" pitchFamily="2" charset="2"/>
              <a:buChar char="§"/>
            </a:pPr>
            <a:r>
              <a:rPr lang="en-US" sz="2400" b="1" dirty="0" smtClean="0"/>
              <a:t>The fact that investigation is being conducted or the public prosecutor framed a charge, submit the same to the court and trial being undergone does not mean that the person against whom these proceedings are being carried is guilty.</a:t>
            </a:r>
          </a:p>
          <a:p>
            <a:pPr algn="just"/>
            <a:r>
              <a:rPr lang="en-US" sz="2400" b="1" dirty="0" smtClean="0"/>
              <a:t>Up until that decision, therefore, nobody can be certain that the accused person is guilty.</a:t>
            </a:r>
          </a:p>
          <a:p>
            <a:pPr algn="just">
              <a:buFont typeface="Wingdings" pitchFamily="2" charset="2"/>
              <a:buChar char="§"/>
            </a:pPr>
            <a:endParaRPr lang="en-US" sz="2400" b="1" dirty="0" smtClean="0"/>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Article 20(3) of FDRE Constitution</a:t>
            </a:r>
            <a:endParaRPr lang="en-US" dirty="0"/>
          </a:p>
        </p:txBody>
      </p:sp>
      <p:sp>
        <p:nvSpPr>
          <p:cNvPr id="3" name="Content Placeholder 2"/>
          <p:cNvSpPr>
            <a:spLocks noGrp="1"/>
          </p:cNvSpPr>
          <p:nvPr>
            <p:ph idx="1"/>
          </p:nvPr>
        </p:nvSpPr>
        <p:spPr/>
        <p:txBody>
          <a:bodyPr>
            <a:noAutofit/>
          </a:bodyPr>
          <a:lstStyle/>
          <a:p>
            <a:pPr algn="just"/>
            <a:r>
              <a:rPr lang="en-US" sz="2800" b="1" dirty="0" smtClean="0"/>
              <a:t>“</a:t>
            </a:r>
            <a:r>
              <a:rPr lang="en-US" sz="2800" b="1" i="1" dirty="0" smtClean="0"/>
              <a:t>During proceedings any accused person has the right to be presumed innocent until proven guilty according to law.” </a:t>
            </a:r>
          </a:p>
          <a:p>
            <a:pPr algn="just"/>
            <a:r>
              <a:rPr lang="en-US" sz="2800" b="1" dirty="0" smtClean="0"/>
              <a:t>Courts are, therefore, the only competent organs to declare that a person is guilty. </a:t>
            </a:r>
          </a:p>
          <a:p>
            <a:pPr algn="just"/>
            <a:r>
              <a:rPr lang="en-US" sz="2800" b="1" dirty="0" smtClean="0"/>
              <a:t>Though it has been said that everybody is presumed to be innocent, it does not mean that, that particular person is in fact innocent. He could be in reality guilty. but the law says “he shall be presumed innocent until proven guilty – until his guilt is declared by the court in accordance with law, which everyone should respect.</a:t>
            </a:r>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 5.Privilege against Self Incrimination</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protection against self incrimination is an important one for any procedural system which attempts to reach a just result and its importance is recognized in all inquisitorial as well as in accusatorial systems.</a:t>
            </a:r>
          </a:p>
          <a:p>
            <a:pPr algn="just"/>
            <a:r>
              <a:rPr lang="en-US" sz="2400" b="1" dirty="0" smtClean="0"/>
              <a:t>The core of this protection in almost all systems is the desire to prevent investigation or adjudication procedures from coercing  the accused persons.</a:t>
            </a:r>
          </a:p>
          <a:p>
            <a:pPr algn="just"/>
            <a:r>
              <a:rPr lang="en-US" sz="2400" b="1" dirty="0" smtClean="0"/>
              <a:t> It is not the desire to prevent investigators from asking accused or suspected persons questions relating to the crime, not the desire to keep the person from answering them  and refusal to answer question.</a:t>
            </a:r>
          </a:p>
          <a:p>
            <a:pPr algn="just"/>
            <a:r>
              <a:rPr lang="en-US" sz="2400" b="1" dirty="0" smtClean="0"/>
              <a:t>They are intended to make it more certain that the core objective will be realized. </a:t>
            </a:r>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Article 20(3) of FDRE Constitution</a:t>
            </a:r>
            <a:endParaRPr lang="en-US" dirty="0"/>
          </a:p>
        </p:txBody>
      </p:sp>
      <p:sp>
        <p:nvSpPr>
          <p:cNvPr id="3" name="Content Placeholder 2"/>
          <p:cNvSpPr>
            <a:spLocks noGrp="1"/>
          </p:cNvSpPr>
          <p:nvPr>
            <p:ph idx="1"/>
          </p:nvPr>
        </p:nvSpPr>
        <p:spPr/>
        <p:txBody>
          <a:bodyPr>
            <a:noAutofit/>
          </a:bodyPr>
          <a:lstStyle/>
          <a:p>
            <a:pPr algn="just">
              <a:buFont typeface="Wingdings" pitchFamily="2" charset="2"/>
              <a:buChar char="§"/>
            </a:pPr>
            <a:r>
              <a:rPr lang="en-US" sz="2400" b="1" i="1" dirty="0" smtClean="0"/>
              <a:t>During proceeding accused persons have the right to be presumed innocent until proven guilty according to law and not to be compelled to testify against themselves. </a:t>
            </a:r>
          </a:p>
          <a:p>
            <a:pPr algn="just"/>
            <a:r>
              <a:rPr lang="en-US" sz="2400" b="1" dirty="0" smtClean="0"/>
              <a:t>Consequently, one may say that privilege against self-incrimination is a constitutional right given to arrested as well as accused persons. </a:t>
            </a:r>
          </a:p>
          <a:p>
            <a:pPr algn="just"/>
            <a:r>
              <a:rPr lang="en-US" sz="2400" b="1" dirty="0" smtClean="0"/>
              <a:t>The  Constitution not only guaranteeing this right but also make any evidence obtained in violation of this right inadmissible.</a:t>
            </a:r>
          </a:p>
          <a:p>
            <a:pPr algn="just"/>
            <a:r>
              <a:rPr lang="en-US" sz="2400" b="1" dirty="0" smtClean="0"/>
              <a:t>This could be considered as signal not to compel persons with the view of obtaining evidences for it would be useless. </a:t>
            </a:r>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Preliminary Objections and Their Consequences</a:t>
            </a:r>
            <a:r>
              <a:rPr lang="en-US" i="1" dirty="0" smtClean="0">
                <a:solidFill>
                  <a:srgbClr val="00B050"/>
                </a:solidFill>
              </a:rPr>
              <a:t>.</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A prosecutor (public or private) frames his charge and submit the same to the registrar of the court having jurisdiction to adjudicate the case.</a:t>
            </a:r>
          </a:p>
          <a:p>
            <a:pPr algn="just"/>
            <a:r>
              <a:rPr lang="en-US" sz="2400" b="1" dirty="0" smtClean="0"/>
              <a:t>Where the charge has been filed to the court having jurisdiction, the court shall forthwith fix the date of trial and cause the accused and the prosecutor to be summoned to appear on the date and at the time fixed. It is at this juncture that the accused be served with summons along with the charge. This takes as to the stage of trial. </a:t>
            </a:r>
          </a:p>
          <a:p>
            <a:pPr algn="just"/>
            <a:r>
              <a:rPr lang="en-US" sz="2400" b="1" dirty="0" smtClean="0"/>
              <a:t>The accused is supposed to personally appear before the trial court on the date fixed. If he appears, the court shall first verify the accused’s identity –his name, address, occupation and other information the court deems necessary relating to his identity be asked and recorded. </a:t>
            </a:r>
          </a:p>
          <a:p>
            <a:pPr algn="just"/>
            <a:endParaRPr lang="en-US" sz="2400" b="1" dirty="0" smtClean="0"/>
          </a:p>
        </p:txBody>
      </p:sp>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 The presiding judge read  the charge  </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algn="just"/>
            <a:r>
              <a:rPr lang="en-US" b="1" dirty="0" smtClean="0"/>
              <a:t>Assuming that what the person is responding fits with that mentioned in the charge, the presiding judge shall read out the charge to such person (the accused) and ask if he has any objection to the charge.( Art 129 Cr. Pr.)</a:t>
            </a:r>
          </a:p>
          <a:p>
            <a:pPr algn="just"/>
            <a:r>
              <a:rPr lang="en-US" b="1" dirty="0" smtClean="0"/>
              <a:t>The objection may be based on the form or content of the charge or any other substantive matter. </a:t>
            </a:r>
          </a:p>
          <a:p>
            <a:pPr algn="just"/>
            <a:r>
              <a:rPr lang="en-US" b="1" dirty="0" smtClean="0"/>
              <a:t>If the objection is based on the form and content of the charge, the provisions of the CPC on amendments of charges (alteration of and addition to charges) and their effects shall apply. ( Art 130(1) Cr. Pr.)</a:t>
            </a:r>
          </a:p>
          <a:p>
            <a:pPr algn="just"/>
            <a:r>
              <a:rPr lang="en-US" b="1" dirty="0" smtClean="0"/>
              <a:t>Consequently, the court shall order (if the objection is valid) the charge to be amended within a reasonable period of time it fixes. </a:t>
            </a:r>
          </a:p>
          <a:p>
            <a:pPr algn="just"/>
            <a:endParaRPr lang="en-US" b="1" dirty="0"/>
          </a:p>
        </p:txBody>
      </p:sp>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grounds of objections to a charge: (Art.130 Cr.Pr.)</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algn="ctr">
              <a:buFont typeface="Wingdings" pitchFamily="2" charset="2"/>
              <a:buChar char="q"/>
            </a:pPr>
            <a:r>
              <a:rPr lang="en-US" b="1" i="1" dirty="0" smtClean="0">
                <a:solidFill>
                  <a:srgbClr val="7030A0"/>
                </a:solidFill>
              </a:rPr>
              <a:t>The  grounds of objections to a charge  include,</a:t>
            </a:r>
          </a:p>
          <a:p>
            <a:pPr algn="just">
              <a:buFont typeface="Wingdings" pitchFamily="2" charset="2"/>
              <a:buChar char="Ø"/>
            </a:pPr>
            <a:r>
              <a:rPr lang="en-US" b="1" dirty="0" smtClean="0"/>
              <a:t> That the case is pending before another court.</a:t>
            </a:r>
          </a:p>
          <a:p>
            <a:pPr algn="just">
              <a:buFont typeface="Wingdings" pitchFamily="2" charset="2"/>
              <a:buChar char="Ø"/>
            </a:pPr>
            <a:r>
              <a:rPr lang="en-US" b="1" dirty="0" smtClean="0"/>
              <a:t>previously  acquittal or conviction on the same charge; or</a:t>
            </a:r>
          </a:p>
          <a:p>
            <a:pPr algn="just">
              <a:buFont typeface="Wingdings" pitchFamily="2" charset="2"/>
              <a:buChar char="Ø"/>
            </a:pPr>
            <a:r>
              <a:rPr lang="en-US" b="1" dirty="0" smtClean="0"/>
              <a:t>That the charge against him has been barred by limitation</a:t>
            </a:r>
          </a:p>
          <a:p>
            <a:pPr algn="just">
              <a:buFont typeface="Wingdings" pitchFamily="2" charset="2"/>
              <a:buChar char="Ø"/>
            </a:pPr>
            <a:r>
              <a:rPr lang="en-US" b="1" dirty="0" smtClean="0"/>
              <a:t>subject of pardon or amnesty; or </a:t>
            </a:r>
          </a:p>
          <a:p>
            <a:pPr algn="just">
              <a:buFont typeface="Wingdings" pitchFamily="2" charset="2"/>
              <a:buChar char="Ø"/>
            </a:pPr>
            <a:r>
              <a:rPr lang="en-US" b="1" dirty="0" smtClean="0"/>
              <a:t>That he will be embarrassed in his defense if he is not granted a separate trial, where he is tried with others; or </a:t>
            </a:r>
          </a:p>
          <a:p>
            <a:pPr algn="just">
              <a:buFont typeface="Wingdings" pitchFamily="2" charset="2"/>
              <a:buChar char="Ø"/>
            </a:pPr>
            <a:r>
              <a:rPr lang="en-US" b="1" dirty="0" smtClean="0"/>
              <a:t>That no permission to prosecute as required by law has been obtained; or </a:t>
            </a:r>
          </a:p>
          <a:p>
            <a:pPr algn="just">
              <a:buFont typeface="Wingdings" pitchFamily="2" charset="2"/>
              <a:buChar char="Ø"/>
            </a:pPr>
            <a:r>
              <a:rPr lang="en-US" b="1" dirty="0" smtClean="0"/>
              <a:t>That the decision in the criminal case against him can not be given until other proceedings have been completed: or </a:t>
            </a:r>
          </a:p>
          <a:p>
            <a:pPr algn="just">
              <a:buFont typeface="Wingdings" pitchFamily="2" charset="2"/>
              <a:buChar char="Ø"/>
            </a:pPr>
            <a:r>
              <a:rPr lang="en-US" b="1" dirty="0" smtClean="0"/>
              <a:t>That he is not responsible for his acts. </a:t>
            </a:r>
          </a:p>
          <a:p>
            <a:pPr algn="just">
              <a:buFont typeface="Wingdings" pitchFamily="2" charset="2"/>
              <a:buChar char="Ø"/>
            </a:pPr>
            <a:endParaRPr lang="en-US" b="1" dirty="0" smtClean="0"/>
          </a:p>
          <a:p>
            <a:pPr algn="just"/>
            <a:endParaRPr lang="en-US" b="1" dirty="0"/>
          </a:p>
        </p:txBody>
      </p:sp>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Are the list exhaustive?</a:t>
            </a:r>
            <a:endParaRPr lang="en-US"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i="1" dirty="0" smtClean="0">
                <a:solidFill>
                  <a:srgbClr val="00B0F0"/>
                </a:solidFill>
              </a:rPr>
              <a:t>Are the list exhaustive?</a:t>
            </a:r>
          </a:p>
          <a:p>
            <a:pPr algn="just"/>
            <a:r>
              <a:rPr lang="en-US" b="1" i="1" dirty="0" smtClean="0">
                <a:solidFill>
                  <a:srgbClr val="00B0F0"/>
                </a:solidFill>
              </a:rPr>
              <a:t>Would it be possible for the accused to raise the issue of jurisdiction as a preliminary objection?</a:t>
            </a:r>
            <a:endParaRPr lang="en-US" b="1" dirty="0" smtClean="0">
              <a:solidFill>
                <a:srgbClr val="00B0F0"/>
              </a:solidFill>
            </a:endParaRPr>
          </a:p>
          <a:p>
            <a:pPr algn="just"/>
            <a:r>
              <a:rPr lang="en-US" b="1" dirty="0" smtClean="0"/>
              <a:t>The right of the accused to raise such objections is not unlimited.</a:t>
            </a:r>
          </a:p>
          <a:p>
            <a:pPr algn="just"/>
            <a:r>
              <a:rPr lang="en-US" b="1" dirty="0" smtClean="0"/>
              <a:t>Where no objection is raised after it has been required by court to state objections (if any) the accused is barred from raising any such objections at any latter stage in the trial.</a:t>
            </a:r>
          </a:p>
          <a:p>
            <a:pPr algn="just"/>
            <a:r>
              <a:rPr lang="en-US" b="1" dirty="0" smtClean="0"/>
              <a:t>Yet if the objection is of a nature that could prevent valid judgment being given the accused could be allowed to raise such objections even out of time. ( Art. 130(3)</a:t>
            </a:r>
          </a:p>
          <a:p>
            <a:pPr algn="just"/>
            <a:endParaRPr lang="en-US" b="1" dirty="0"/>
          </a:p>
        </p:txBody>
      </p:sp>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Decision of the court on the Objections</a:t>
            </a:r>
            <a:endParaRPr lang="en-US" sz="3600"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dirty="0" smtClean="0"/>
              <a:t>Where objections are raised, the court shall take down the same and ask the prosecutor whether he has any statement to make.</a:t>
            </a:r>
          </a:p>
          <a:p>
            <a:pPr algn="just"/>
            <a:r>
              <a:rPr lang="en-US" sz="2800" b="1" dirty="0" smtClean="0"/>
              <a:t>Then the court shall decide forthwith on such objection where the objection can be disposed of by reference to the law or the facts. </a:t>
            </a:r>
          </a:p>
          <a:p>
            <a:pPr algn="just"/>
            <a:r>
              <a:rPr lang="en-US" sz="2800" b="1" dirty="0" smtClean="0"/>
              <a:t>Where the prosecutor does not admit or where the court can not decide on the objection forthwith, It order a production of necessary evidences.</a:t>
            </a:r>
          </a:p>
          <a:p>
            <a:pPr algn="just"/>
            <a:endParaRPr lang="en-US" sz="2800" b="1" dirty="0"/>
          </a:p>
        </p:txBody>
      </p:sp>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 Decisions on the Objections( Art 131)</a:t>
            </a:r>
            <a:endParaRPr lang="en-US" b="1" i="1" dirty="0">
              <a:solidFill>
                <a:srgbClr val="00B050"/>
              </a:solidFill>
            </a:endParaRPr>
          </a:p>
        </p:txBody>
      </p:sp>
      <p:sp>
        <p:nvSpPr>
          <p:cNvPr id="3" name="Content Placeholder 2"/>
          <p:cNvSpPr>
            <a:spLocks noGrp="1"/>
          </p:cNvSpPr>
          <p:nvPr>
            <p:ph idx="1"/>
          </p:nvPr>
        </p:nvSpPr>
        <p:spPr/>
        <p:txBody>
          <a:bodyPr>
            <a:normAutofit/>
          </a:bodyPr>
          <a:lstStyle/>
          <a:p>
            <a:pPr algn="just"/>
            <a:r>
              <a:rPr lang="en-US" b="1" dirty="0" smtClean="0"/>
              <a:t>If the accused, </a:t>
            </a:r>
            <a:r>
              <a:rPr lang="en-US" b="1" i="1" dirty="0" smtClean="0">
                <a:solidFill>
                  <a:srgbClr val="C00000"/>
                </a:solidFill>
              </a:rPr>
              <a:t>for example</a:t>
            </a:r>
            <a:r>
              <a:rPr lang="en-US" b="1" dirty="0" smtClean="0"/>
              <a:t>, raised an objection stating that he had been asked on the same cause of action  previously by another  court and was acquitted, the court cannot settle immediately in that it needs evidence. </a:t>
            </a:r>
          </a:p>
          <a:p>
            <a:pPr algn="just"/>
            <a:r>
              <a:rPr lang="en-US" b="1" dirty="0" smtClean="0"/>
              <a:t>The court should order the accused to produce evidence  for that.</a:t>
            </a:r>
          </a:p>
          <a:p>
            <a:pPr algn="just"/>
            <a:r>
              <a:rPr lang="en-US" b="1" dirty="0" smtClean="0"/>
              <a:t>Hence, the court shall not see the merit of the case before deciding on preliminary objections raised accordingly. </a:t>
            </a:r>
          </a:p>
          <a:p>
            <a:endParaRPr lang="en-US" dirty="0"/>
          </a:p>
        </p:txBody>
      </p:sp>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a:t>
            </a:r>
            <a:r>
              <a:rPr lang="en-US" b="1" i="1" dirty="0" smtClean="0">
                <a:solidFill>
                  <a:srgbClr val="00B050"/>
                </a:solidFill>
              </a:rPr>
              <a:t>Plea of accused( Art.132)</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After a charge is read out and explained by the presiding judge, will be asked whether he pleads guilty or not . </a:t>
            </a:r>
          </a:p>
          <a:p>
            <a:pPr algn="just"/>
            <a:r>
              <a:rPr lang="en-US" sz="2400" b="1" dirty="0" smtClean="0"/>
              <a:t>Where there are more than one charge, the judge shall read each charge one by one and ask, then record the plea of the accused in respect of each charge separately. </a:t>
            </a:r>
          </a:p>
          <a:p>
            <a:pPr algn="just"/>
            <a:r>
              <a:rPr lang="en-US" sz="2400" b="1" dirty="0" smtClean="0"/>
              <a:t>It is the duty of the judge to record the plea of the accused without including or substituting any word of his own to what is stated by the accused which should be clear enough. </a:t>
            </a:r>
          </a:p>
          <a:p>
            <a:pPr algn="just"/>
            <a:r>
              <a:rPr lang="en-US" sz="2400" b="1" dirty="0" smtClean="0"/>
              <a:t>Where the accused denies the charge or admits the same with reservation or if the accused says nothing in answer to the charge the plea of not guilty shall be entered. ( Art. 133)</a:t>
            </a:r>
          </a:p>
          <a:p>
            <a:pPr algn="just"/>
            <a:endParaRPr lang="en-US" sz="2400" b="1" dirty="0" smtClean="0"/>
          </a:p>
        </p:txBody>
      </p:sp>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Judges are required to make inquiries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dirty="0" smtClean="0"/>
              <a:t>The plea of guilty shall be entered only where the accused admits the charge without reservation every ingredients of the offence. (Art .134)</a:t>
            </a:r>
          </a:p>
          <a:p>
            <a:pPr algn="just"/>
            <a:r>
              <a:rPr lang="en-US" sz="2800" b="1" dirty="0" smtClean="0"/>
              <a:t>However, it should be noted that even if the accused pleads guilty, the judge need not accept the plea if from the behavior, appearance or words of the defendant during the pleading process, the judge  believe that a defendant is mentally incompetent, or somehow does not seem to understand what is happening or that the plea may be involuntary or greatly inaccurate . </a:t>
            </a:r>
          </a:p>
          <a:p>
            <a:pPr algn="just"/>
            <a:endParaRPr lang="en-US" sz="2800" b="1" dirty="0" smtClean="0"/>
          </a:p>
          <a:p>
            <a:pPr algn="just"/>
            <a:endParaRPr lang="en-US" sz="2000" b="1" dirty="0"/>
          </a:p>
        </p:txBody>
      </p:sp>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Judges are required to make inquiries…</a:t>
            </a:r>
            <a:endParaRPr lang="en-US" sz="3600" dirty="0"/>
          </a:p>
        </p:txBody>
      </p:sp>
      <p:sp>
        <p:nvSpPr>
          <p:cNvPr id="3" name="Content Placeholder 2"/>
          <p:cNvSpPr>
            <a:spLocks noGrp="1"/>
          </p:cNvSpPr>
          <p:nvPr>
            <p:ph idx="1"/>
          </p:nvPr>
        </p:nvSpPr>
        <p:spPr/>
        <p:txBody>
          <a:bodyPr/>
          <a:lstStyle/>
          <a:p>
            <a:pPr algn="just"/>
            <a:r>
              <a:rPr lang="en-US" b="1" dirty="0" smtClean="0"/>
              <a:t>In deciding such issues,  judges are required make inquiries to establish  that the accused,</a:t>
            </a:r>
          </a:p>
          <a:p>
            <a:pPr lvl="1" algn="just">
              <a:buFont typeface="Wingdings" pitchFamily="2" charset="2"/>
              <a:buChar char="Ø"/>
            </a:pPr>
            <a:r>
              <a:rPr lang="en-US" sz="3200" b="1" dirty="0" smtClean="0"/>
              <a:t> </a:t>
            </a:r>
            <a:r>
              <a:rPr lang="en-US" sz="3200" b="1" dirty="0" smtClean="0">
                <a:solidFill>
                  <a:srgbClr val="C00000"/>
                </a:solidFill>
              </a:rPr>
              <a:t>Knows  that a guilty plea is a waiver of this right </a:t>
            </a:r>
          </a:p>
          <a:p>
            <a:pPr lvl="1" algn="just">
              <a:buFont typeface="Wingdings" pitchFamily="2" charset="2"/>
              <a:buChar char="Ø"/>
            </a:pPr>
            <a:r>
              <a:rPr lang="en-US" sz="3200" b="1" dirty="0" smtClean="0">
                <a:solidFill>
                  <a:srgbClr val="C00000"/>
                </a:solidFill>
              </a:rPr>
              <a:t>Pleading guilty voluntarily. </a:t>
            </a:r>
          </a:p>
          <a:p>
            <a:pPr lvl="1" algn="just">
              <a:buFont typeface="Wingdings" pitchFamily="2" charset="2"/>
              <a:buChar char="Ø"/>
            </a:pPr>
            <a:r>
              <a:rPr lang="en-US" sz="3200" b="1" dirty="0" smtClean="0">
                <a:solidFill>
                  <a:srgbClr val="C00000"/>
                </a:solidFill>
              </a:rPr>
              <a:t>Understands the nature of the charge.</a:t>
            </a:r>
          </a:p>
          <a:p>
            <a:pPr lvl="1" algn="just">
              <a:buFont typeface="Wingdings" pitchFamily="2" charset="2"/>
              <a:buChar char="Ø"/>
            </a:pPr>
            <a:r>
              <a:rPr lang="en-US" sz="3200" b="1" dirty="0" smtClean="0">
                <a:solidFill>
                  <a:srgbClr val="C00000"/>
                </a:solidFill>
              </a:rPr>
              <a:t> Is aware of the possible maximum sentence  if he pleads guilty. </a:t>
            </a:r>
          </a:p>
          <a:p>
            <a:endParaRPr lang="en-US" dirty="0"/>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i="1" dirty="0" smtClean="0">
                <a:solidFill>
                  <a:srgbClr val="00B050"/>
                </a:solidFill>
              </a:rPr>
              <a:t>Production of Evidence After Plea( Art 136)</a:t>
            </a:r>
            <a:endParaRPr lang="en-US" sz="3200" b="1" i="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t>As being discussed above after the accused pleads not guilty, it is obvious that the next process is that the prosecutor be ordered to produces evidence, oral witnesses in particular because he is alleged a commission /omission/ of a crime the burden of proof lies on him.</a:t>
            </a:r>
          </a:p>
          <a:p>
            <a:pPr algn="just"/>
            <a:r>
              <a:rPr lang="en-US" b="1" dirty="0" smtClean="0"/>
              <a:t>However, if the accused pleads guilty and it has been recorded by the court, the prosecutor shall be asked his opinion which normally be demanding the court to convict the accused forthwith. </a:t>
            </a:r>
          </a:p>
          <a:p>
            <a:endParaRPr lang="en-US" b="1" dirty="0">
              <a:solidFill>
                <a:srgbClr val="C00000"/>
              </a:solidFill>
            </a:endParaRPr>
          </a:p>
        </p:txBody>
      </p:sp>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What possible grounds for corroboration?</a:t>
            </a:r>
            <a:endParaRPr lang="en-US" sz="3600" dirty="0"/>
          </a:p>
        </p:txBody>
      </p:sp>
      <p:sp>
        <p:nvSpPr>
          <p:cNvPr id="3" name="Content Placeholder 2"/>
          <p:cNvSpPr>
            <a:spLocks noGrp="1"/>
          </p:cNvSpPr>
          <p:nvPr>
            <p:ph idx="1"/>
          </p:nvPr>
        </p:nvSpPr>
        <p:spPr/>
        <p:txBody>
          <a:bodyPr>
            <a:normAutofit fontScale="92500" lnSpcReduction="20000"/>
          </a:bodyPr>
          <a:lstStyle/>
          <a:p>
            <a:pPr algn="just"/>
            <a:r>
              <a:rPr lang="en-US" b="1" dirty="0" smtClean="0"/>
              <a:t>The court may on its own discretion either convict the accused forthwith or demand the prosecutor to produce evidence and corroborate the plea.</a:t>
            </a:r>
          </a:p>
          <a:p>
            <a:pPr algn="just"/>
            <a:r>
              <a:rPr lang="en-US" b="1" i="1" dirty="0" smtClean="0">
                <a:solidFill>
                  <a:srgbClr val="C00000"/>
                </a:solidFill>
              </a:rPr>
              <a:t>What possible grounds would lead the court demand production of further evidence in disregard of the accused’s plea of guilty?</a:t>
            </a:r>
          </a:p>
          <a:p>
            <a:pPr algn="just"/>
            <a:r>
              <a:rPr lang="en-US" b="1" dirty="0" smtClean="0"/>
              <a:t>Practically the nature of the offence has an impact on the decision of the court to accept or not the plea of guilt by the accused. In most serious offences, such as aggravated homicide, our courts opt in the production of corroborating evidence though the accused pleads guilty and the prosecutor requests for immediate conviction.</a:t>
            </a:r>
          </a:p>
          <a:p>
            <a:pPr algn="just"/>
            <a:endParaRPr lang="en-US" b="1" dirty="0" smtClean="0">
              <a:solidFill>
                <a:srgbClr val="C00000"/>
              </a:solidFill>
            </a:endParaRPr>
          </a:p>
          <a:p>
            <a:endParaRPr lang="en-US" dirty="0"/>
          </a:p>
        </p:txBody>
      </p:sp>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smtClean="0">
                <a:solidFill>
                  <a:srgbClr val="00B050"/>
                </a:solidFill>
              </a:rPr>
              <a:t>What possible grounds ………..?</a:t>
            </a:r>
            <a:endParaRPr lang="en-US" sz="3600"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algn="just"/>
            <a:r>
              <a:rPr lang="en-US" b="1" dirty="0" smtClean="0"/>
              <a:t>Sometimes prosecutors request the introduction of evidences after the accused pleads guilty with the view of showing the criminal disposition or of the accused so that punishment would be aggravated in serous offences. </a:t>
            </a:r>
          </a:p>
          <a:p>
            <a:pPr algn="just"/>
            <a:r>
              <a:rPr lang="en-US" b="1" dirty="0" smtClean="0"/>
              <a:t>In the course of proceeding after the court entered the plea of guilty of the accused, the court may amend the plea on its own motion or upon the application of the accused.</a:t>
            </a:r>
          </a:p>
          <a:p>
            <a:pPr algn="just"/>
            <a:r>
              <a:rPr lang="en-US" b="1" dirty="0" smtClean="0"/>
              <a:t>Where a plea of guilty had been entered following which the suspect had been convicted, the conviction shall be set aside.(Art 135(2)  of </a:t>
            </a:r>
            <a:r>
              <a:rPr lang="en-US" b="1" dirty="0" err="1" smtClean="0"/>
              <a:t>Cr.Pc</a:t>
            </a:r>
            <a:r>
              <a:rPr lang="en-US" b="1" dirty="0" smtClean="0"/>
              <a:t>)</a:t>
            </a:r>
          </a:p>
          <a:p>
            <a:pPr algn="just"/>
            <a:r>
              <a:rPr lang="en-US" b="1" i="1" dirty="0" smtClean="0">
                <a:solidFill>
                  <a:srgbClr val="C00000"/>
                </a:solidFill>
              </a:rPr>
              <a:t>The CPC allows amendment of peal from guilty to not guilty. How about the vice versa?</a:t>
            </a:r>
            <a:r>
              <a:rPr lang="en-US" b="1" dirty="0" smtClean="0">
                <a:solidFill>
                  <a:srgbClr val="C00000"/>
                </a:solidFill>
              </a:rPr>
              <a:t> </a:t>
            </a:r>
          </a:p>
          <a:p>
            <a:pPr algn="just"/>
            <a:endParaRPr lang="en-US" b="1" dirty="0" smtClean="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b="1" i="1" dirty="0" smtClean="0">
                <a:solidFill>
                  <a:srgbClr val="00B050"/>
                </a:solidFill>
              </a:rPr>
              <a:t>Opening of Cases and Presentation of Evidences.</a:t>
            </a:r>
            <a:endParaRPr lang="en-US" sz="3000" dirty="0"/>
          </a:p>
        </p:txBody>
      </p:sp>
      <p:sp>
        <p:nvSpPr>
          <p:cNvPr id="3" name="Content Placeholder 2"/>
          <p:cNvSpPr>
            <a:spLocks noGrp="1"/>
          </p:cNvSpPr>
          <p:nvPr>
            <p:ph idx="1"/>
          </p:nvPr>
        </p:nvSpPr>
        <p:spPr/>
        <p:txBody>
          <a:bodyPr>
            <a:normAutofit/>
          </a:bodyPr>
          <a:lstStyle/>
          <a:p>
            <a:pPr algn="just"/>
            <a:r>
              <a:rPr lang="en-US" b="1" dirty="0" smtClean="0"/>
              <a:t>It is only then after that the issues of opening of cases comes in to being.</a:t>
            </a:r>
          </a:p>
          <a:p>
            <a:pPr algn="just"/>
            <a:r>
              <a:rPr lang="en-US" b="1" dirty="0" smtClean="0"/>
              <a:t>Thus, the prosecutor in opening his case, shall state the charge(s) he proposes to prove and the nature of evidences he tenders in respect of each fact in doing so the public prosecutor is supposed to do in an impartial way as being provided under Art 136(1) Cr.Pr.</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Presentation of evidence</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Where the plea of guilty has been entered but the court orders the plea be corroborated with evidence, the prosecutor will produce his evidences. </a:t>
            </a:r>
          </a:p>
          <a:p>
            <a:pPr algn="just"/>
            <a:r>
              <a:rPr lang="en-US" sz="2400" b="1" dirty="0" smtClean="0"/>
              <a:t>The public prosecutor shall give the registrar list of witnesses and experts, who shall testify in respect of the charges. </a:t>
            </a:r>
          </a:p>
          <a:p>
            <a:pPr algn="just"/>
            <a:r>
              <a:rPr lang="en-US" sz="2400" b="1" dirty="0" smtClean="0"/>
              <a:t>The prosecutor has to ensure that all exhibits are produced at the trial and documentary evidence annexed.</a:t>
            </a:r>
          </a:p>
          <a:p>
            <a:pPr algn="just"/>
            <a:r>
              <a:rPr lang="en-US" sz="2400" b="1" dirty="0" smtClean="0"/>
              <a:t>Evidences to be produced by the public prosecutor in support of his allegations are </a:t>
            </a:r>
            <a:r>
              <a:rPr lang="en-US" sz="2400" b="1" i="1" dirty="0" smtClean="0"/>
              <a:t>oral</a:t>
            </a:r>
            <a:r>
              <a:rPr lang="en-US" sz="2400" b="1" dirty="0" smtClean="0"/>
              <a:t>, in most cases, documentary, and exhibits.</a:t>
            </a:r>
          </a:p>
          <a:p>
            <a:pPr algn="just"/>
            <a:r>
              <a:rPr lang="en-US" sz="2400" b="1" dirty="0" smtClean="0"/>
              <a:t>The accused do the same once prosecutor proves</a:t>
            </a:r>
            <a:r>
              <a:rPr lang="en-US" sz="2400" b="1" i="1" dirty="0" smtClean="0"/>
              <a:t> beyond reasonable doubt.</a:t>
            </a:r>
            <a:endParaRPr lang="en-US" sz="2400" b="1" dirty="0" smtClean="0"/>
          </a:p>
          <a:p>
            <a:pPr algn="just"/>
            <a:endParaRPr lang="en-US" sz="2400" b="1" dirty="0" smtClean="0"/>
          </a:p>
          <a:p>
            <a:endParaRPr lang="en-US" sz="2400" b="1"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 Examination of Witnesses </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r>
              <a:rPr lang="en-US" sz="2800" b="1" dirty="0" smtClean="0"/>
              <a:t>On the date fixed for hearing, the prosecutor who normally begins the case shall call up on all relevant witnesses so as to prove his case and explain about the issues to be proved by the witnesses or separately if the issues to be proved are different.</a:t>
            </a:r>
          </a:p>
          <a:p>
            <a:pPr algn="just"/>
            <a:r>
              <a:rPr lang="en-US" sz="2800" b="1" dirty="0" smtClean="0"/>
              <a:t>Such witnesses then shall tender an oath or make an affirmation one by one.</a:t>
            </a:r>
          </a:p>
          <a:p>
            <a:pPr algn="just"/>
            <a:r>
              <a:rPr lang="en-US" sz="2800" b="1" dirty="0" smtClean="0"/>
              <a:t>Witness shall be:  </a:t>
            </a:r>
          </a:p>
          <a:p>
            <a:pPr lvl="1" algn="just">
              <a:buFont typeface="Wingdings" pitchFamily="2" charset="2"/>
              <a:buChar char="Ø"/>
            </a:pPr>
            <a:r>
              <a:rPr lang="en-US" b="1" dirty="0" smtClean="0"/>
              <a:t>Examined – in-chief by the public prosecutor</a:t>
            </a:r>
          </a:p>
          <a:p>
            <a:pPr lvl="1" algn="just">
              <a:buFont typeface="Wingdings" pitchFamily="2" charset="2"/>
              <a:buChar char="Ø"/>
            </a:pPr>
            <a:r>
              <a:rPr lang="en-US" b="1" dirty="0" smtClean="0"/>
              <a:t>Cross-examined by the accused or his advocate </a:t>
            </a:r>
          </a:p>
          <a:p>
            <a:pPr lvl="1" algn="just">
              <a:buFont typeface="Wingdings" pitchFamily="2" charset="2"/>
              <a:buChar char="Ø"/>
            </a:pPr>
            <a:r>
              <a:rPr lang="en-US" b="1" dirty="0" smtClean="0"/>
              <a:t>Re-examined by the public prosecutor  </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i="1" dirty="0" smtClean="0">
                <a:solidFill>
                  <a:srgbClr val="00B050"/>
                </a:solidFill>
              </a:rPr>
              <a:t>No leading questions unless permitted</a:t>
            </a:r>
            <a:r>
              <a:rPr lang="en-US" sz="3600" dirty="0" smtClean="0"/>
              <a:t> </a:t>
            </a:r>
            <a:br>
              <a:rPr lang="en-US" sz="3600" dirty="0" smtClean="0"/>
            </a:br>
            <a:r>
              <a:rPr lang="en-US" sz="3600" b="1" i="1" dirty="0" smtClean="0">
                <a:solidFill>
                  <a:srgbClr val="00B050"/>
                </a:solidFill>
              </a:rPr>
              <a:t>(Art 137 Cr.Pr. )</a:t>
            </a:r>
            <a:endParaRPr lang="en-US" sz="4000"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solidFill>
                  <a:srgbClr val="7030A0"/>
                </a:solidFill>
              </a:rPr>
              <a:t>Forms of questions to be put during examination-in-chief, </a:t>
            </a:r>
          </a:p>
          <a:p>
            <a:pPr algn="just">
              <a:buFont typeface="Wingdings" pitchFamily="2" charset="2"/>
              <a:buChar char="Ø"/>
            </a:pPr>
            <a:r>
              <a:rPr lang="en-US" sz="2400" b="1" dirty="0" smtClean="0"/>
              <a:t>questions put in examination-in-chief shall only relate to facts which are relevant to the issues to be decided and such facts which the witness has direct or indirect knowledge.</a:t>
            </a:r>
          </a:p>
          <a:p>
            <a:pPr algn="just">
              <a:buFont typeface="Wingdings" pitchFamily="2" charset="2"/>
              <a:buChar char="Ø"/>
            </a:pPr>
            <a:r>
              <a:rPr lang="en-US" sz="2400" b="1" dirty="0" smtClean="0"/>
              <a:t>No leading questions shall be put to a witness without the permission of the accused or his advocate or the public prosecutor, as the case may be. </a:t>
            </a:r>
          </a:p>
          <a:p>
            <a:pPr algn="just"/>
            <a:r>
              <a:rPr lang="en-US" sz="2400" b="1" dirty="0" smtClean="0"/>
              <a:t>The public prosecutor conducts examination – in - chief to his witness to enable him ask questions that is directly or indirectly related to the offence. The accused will do the same mutate mutandis.</a:t>
            </a:r>
          </a:p>
          <a:p>
            <a:pPr algn="just"/>
            <a:endParaRPr lang="en-US" sz="2400" b="1" dirty="0" smtClean="0"/>
          </a:p>
          <a:p>
            <a:pPr algn="just">
              <a:buFont typeface="Wingdings" pitchFamily="2" charset="2"/>
              <a:buChar char="Ø"/>
            </a:pPr>
            <a:endParaRPr lang="en-US" sz="2400" b="1" dirty="0" smtClean="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Direct and Indirect Knowledge</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Direct knowledge is acquired by that witness through sense organs which believed to be a reliable testimony.</a:t>
            </a:r>
          </a:p>
          <a:p>
            <a:pPr algn="just"/>
            <a:r>
              <a:rPr lang="en-US" sz="2400" b="1" dirty="0" smtClean="0"/>
              <a:t>Questions during examination-in-chief may also relate to facts of which the witness has indirect knowledge. A witness is said to have indirect knowledge where he has heard about the fact from another person who has observed the fact and does not personally observe it.</a:t>
            </a:r>
          </a:p>
          <a:p>
            <a:pPr algn="just"/>
            <a:r>
              <a:rPr lang="en-US" sz="2400" b="1" dirty="0" smtClean="0"/>
              <a:t>Often it is argued that testimony given based on indirect knowledge is not acceptable as it is hearsay for it is based on the testimony of another party who never appears before the court the truthfulness which is not tested. There is argument that such hearsay evidences is against the accused’s constitutional right.</a:t>
            </a:r>
          </a:p>
          <a:p>
            <a:pPr algn="just"/>
            <a:endParaRPr lang="en-US" sz="2400" b="1" dirty="0" smtClean="0"/>
          </a:p>
          <a:p>
            <a:pPr algn="just"/>
            <a:endParaRPr lang="en-US" sz="2400" b="1" dirty="0" smtClean="0"/>
          </a:p>
          <a:p>
            <a:endParaRPr lang="en-US" sz="2400" b="1"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Exception to Leading Questions</a:t>
            </a:r>
            <a:endParaRPr lang="en-US" b="1"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q"/>
            </a:pPr>
            <a:r>
              <a:rPr lang="en-US" b="1" dirty="0" smtClean="0">
                <a:solidFill>
                  <a:srgbClr val="7030A0"/>
                </a:solidFill>
              </a:rPr>
              <a:t>In principle leading questions are prohibited during examination–in-chief, however, there are exceptional circumstances where such questions could be asked at this stage if:</a:t>
            </a:r>
          </a:p>
          <a:p>
            <a:pPr lvl="1" algn="just">
              <a:buFont typeface="Wingdings" pitchFamily="2" charset="2"/>
              <a:buChar char="Ø"/>
            </a:pPr>
            <a:r>
              <a:rPr lang="en-US" b="1" dirty="0" smtClean="0"/>
              <a:t>The accused or his advocate gives his permission; or </a:t>
            </a:r>
          </a:p>
          <a:p>
            <a:pPr lvl="1" algn="just">
              <a:buFont typeface="Wingdings" pitchFamily="2" charset="2"/>
              <a:buChar char="Ø"/>
            </a:pPr>
            <a:r>
              <a:rPr lang="en-US" b="1" dirty="0" smtClean="0"/>
              <a:t>The question is related only to introductory matter such as the name, occupation and address of the witness and not the substance of the testimony; or</a:t>
            </a:r>
          </a:p>
          <a:p>
            <a:pPr lvl="1" algn="just">
              <a:buFont typeface="Wingdings" pitchFamily="2" charset="2"/>
              <a:buChar char="Ø"/>
            </a:pPr>
            <a:r>
              <a:rPr lang="en-US" b="1" dirty="0" smtClean="0"/>
              <a:t>The witness is a minor who does not have good command of language for the purpose of assisting him; or </a:t>
            </a:r>
          </a:p>
          <a:p>
            <a:pPr lvl="1" algn="just">
              <a:buFont typeface="Wingdings" pitchFamily="2" charset="2"/>
              <a:buChar char="Ø"/>
            </a:pPr>
            <a:r>
              <a:rPr lang="en-US" b="1" dirty="0" smtClean="0"/>
              <a:t>The witness does not know as to where to start, to refresh his memory; or</a:t>
            </a:r>
          </a:p>
          <a:p>
            <a:pPr lvl="1" algn="just">
              <a:buFont typeface="Wingdings" pitchFamily="2" charset="2"/>
              <a:buChar char="Ø"/>
            </a:pPr>
            <a:r>
              <a:rPr lang="en-US" b="1" dirty="0" smtClean="0"/>
              <a:t>The witness turns out to be hostile.</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When is a witness said to be hostile?</a:t>
            </a:r>
            <a:endParaRPr lang="en-US"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In the normal</a:t>
            </a:r>
            <a:r>
              <a:rPr lang="en-US" sz="2400" b="1" i="1" dirty="0" smtClean="0"/>
              <a:t> </a:t>
            </a:r>
            <a:r>
              <a:rPr lang="en-US" sz="2400" b="1" dirty="0" smtClean="0"/>
              <a:t>course of things, a proponent calls a witness believing that he will testify in his favor.</a:t>
            </a:r>
          </a:p>
          <a:p>
            <a:pPr algn="just"/>
            <a:r>
              <a:rPr lang="en-US" sz="2400" b="1" dirty="0" smtClean="0"/>
              <a:t>Exceptionally, however, the witness turns out to be hostile to the person who called him. </a:t>
            </a:r>
          </a:p>
          <a:p>
            <a:pPr algn="just"/>
            <a:r>
              <a:rPr lang="en-US" sz="2400" b="1" dirty="0" smtClean="0"/>
              <a:t>Had the calling party known before that the witness is going to be hostile to him, he would not have called him at least; It happens before the court.</a:t>
            </a:r>
          </a:p>
          <a:p>
            <a:pPr algn="just"/>
            <a:r>
              <a:rPr lang="en-US" sz="2400" b="1" dirty="0" smtClean="0"/>
              <a:t>When this happens the prosecutor, up on the permission of the court, put leading questions to such witness during examination –in- chief, hence the examination turns to cross-examination. </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 Cross-examination : Art 137(3)</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Once the prosecutor finished examination-in-chief, the accused or his advocate conduct cross-examination the purpose of which is to destroy what has already been established during the examination-in-chief by showing the testimony is not true; it is contradictory or not reliable.</a:t>
            </a:r>
          </a:p>
          <a:p>
            <a:pPr algn="just"/>
            <a:r>
              <a:rPr lang="en-US" sz="2400" b="1" dirty="0" smtClean="0"/>
              <a:t>It should base to facts testified during examination-in-chief. </a:t>
            </a:r>
          </a:p>
          <a:p>
            <a:pPr algn="just"/>
            <a:r>
              <a:rPr lang="en-US" sz="2400" b="1" dirty="0" smtClean="0"/>
              <a:t>Leading questions are allowed to be put at this stage because as in most cases such witness is hostile to the adverse party seems very unlikely for such party to find a suggested answer from the witness.</a:t>
            </a:r>
          </a:p>
          <a:p>
            <a:pPr algn="just"/>
            <a:r>
              <a:rPr lang="en-US" sz="2400" b="1" dirty="0" smtClean="0"/>
              <a:t>Failure to cross-examine does not  mean admission; it is discretional. </a:t>
            </a:r>
            <a:endParaRPr lang="en-US" sz="2400" b="1" dirty="0"/>
          </a:p>
        </p:txBody>
      </p:sp>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Re-examination( Art.136(3))</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Re-examination is to be conducted by the party who conducted  by the party conducting examination-in-chief .</a:t>
            </a:r>
          </a:p>
          <a:p>
            <a:pPr algn="just"/>
            <a:r>
              <a:rPr lang="en-US" sz="2400" b="1" dirty="0" smtClean="0"/>
              <a:t>The purpose of re-examination is to reestablish what has been demolished or confused during cross-examination . </a:t>
            </a:r>
          </a:p>
          <a:p>
            <a:pPr algn="just"/>
            <a:r>
              <a:rPr lang="en-US" sz="2400" b="1" dirty="0" smtClean="0"/>
              <a:t>In view of its purpose, therefore, the facts that are to be raised during re-examination are limited to those, which were raised during the cross-examination.</a:t>
            </a:r>
          </a:p>
          <a:p>
            <a:pPr algn="just"/>
            <a:r>
              <a:rPr lang="en-US" sz="2400" b="1" dirty="0" smtClean="0"/>
              <a:t>If there is no cross-examination, therefore, no re-examination as nothing has been destroyed.</a:t>
            </a:r>
          </a:p>
          <a:p>
            <a:pPr algn="just"/>
            <a:r>
              <a:rPr lang="en-US" sz="2400" b="1" dirty="0" smtClean="0"/>
              <a:t>The court may put any relevant- questions which appear necessary for the just decision of the case, question to the witness any time.Art.136(3)</a:t>
            </a:r>
          </a:p>
          <a:p>
            <a:pPr algn="just"/>
            <a:endParaRPr lang="en-US" sz="2400" b="1" dirty="0" smtClean="0"/>
          </a:p>
        </p:txBody>
      </p:sp>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The testimony of the witness</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testimony of the witness, therefore, should be recorded by the judge  which shall start with the name, address, occupation and age of the witness.</a:t>
            </a:r>
          </a:p>
          <a:p>
            <a:pPr algn="just"/>
            <a:r>
              <a:rPr lang="en-US" sz="2400" b="1" dirty="0" smtClean="0"/>
              <a:t> If judge is  unable to write for whatever reason, it may be recorded by another judge or clerk under his personal direction and superintendence.</a:t>
            </a:r>
          </a:p>
          <a:p>
            <a:pPr algn="just"/>
            <a:r>
              <a:rPr lang="en-US" sz="2400" b="1" dirty="0" smtClean="0"/>
              <a:t>Because it is difficult to record every statement of the witness, judge often writes the answers the form narration.</a:t>
            </a:r>
          </a:p>
          <a:p>
            <a:pPr algn="just"/>
            <a:r>
              <a:rPr lang="en-US" sz="2400" b="1" dirty="0" smtClean="0"/>
              <a:t>However, recently, a transcribing machine has been fixed in many federal and regional courts for recording.</a:t>
            </a:r>
          </a:p>
          <a:p>
            <a:pPr algn="just"/>
            <a:endParaRPr lang="en-US" sz="2400" b="1" dirty="0"/>
          </a:p>
        </p:txBody>
      </p:sp>
    </p:spTree>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The court and the parties may call  other witness any time</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Court can call witness on its own motion any time before judgment in which case the court would conduct examination in – chief and that the party against whom these witnesses testify would conduct cross-examination. </a:t>
            </a:r>
          </a:p>
          <a:p>
            <a:pPr algn="just"/>
            <a:r>
              <a:rPr lang="en-US" sz="2400" b="1" dirty="0" smtClean="0"/>
              <a:t>In principle, the public prosecutor shall state all the witnesses in his charge according to the practice. However, the prosecutor has the right to call witnesses whose name does not appear in the list of witnesses  (Art 143)</a:t>
            </a:r>
          </a:p>
          <a:p>
            <a:pPr algn="just"/>
            <a:r>
              <a:rPr lang="en-US" sz="2400" b="1" i="1" dirty="0" smtClean="0">
                <a:solidFill>
                  <a:srgbClr val="7030A0"/>
                </a:solidFill>
              </a:rPr>
              <a:t>What would happen if the witness-all or some fail to appear for different reasons such as death, absence in capacity cannot be found? </a:t>
            </a:r>
            <a:r>
              <a:rPr lang="en-US" sz="2400" b="1" dirty="0" smtClean="0"/>
              <a:t>Art 144  &amp; 145 has some solution; statement at the preliminary inquiry or at the police station could be used.</a:t>
            </a:r>
            <a:endParaRPr lang="en-US" sz="2400" b="1" dirty="0"/>
          </a:p>
        </p:txBody>
      </p:sp>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a:t>
            </a:r>
            <a:r>
              <a:rPr lang="en-US" b="1" i="1" dirty="0" smtClean="0">
                <a:solidFill>
                  <a:srgbClr val="00B050"/>
                </a:solidFill>
              </a:rPr>
              <a:t>Post Evidence Procedure</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Evidences that could be produced before the court to prove the commission on an alleged crime by the accused could be documentary and/or oral.</a:t>
            </a:r>
          </a:p>
          <a:p>
            <a:pPr algn="just"/>
            <a:r>
              <a:rPr lang="en-US" sz="2400" b="1" dirty="0" smtClean="0"/>
              <a:t>Documentary evidence could be the confession of the accused either before the investigating police officer as per Art 27/2/ or before a court by virtue of Art 35 or any other document, which may be material proof to the fact in issue.</a:t>
            </a:r>
          </a:p>
          <a:p>
            <a:pPr algn="just"/>
            <a:r>
              <a:rPr lang="en-US" sz="2400" b="1" dirty="0" smtClean="0"/>
              <a:t>It may also be an exhibit, like knife or gun, or a thing which is the fruit of an offence such as a stolen or robbed property or a document produced illegally such as a document which has been forged. </a:t>
            </a:r>
          </a:p>
          <a:p>
            <a:pPr algn="just"/>
            <a:r>
              <a:rPr lang="en-US" sz="2400" b="1" dirty="0" smtClean="0"/>
              <a:t>The court after going through all evidences to the proof of the fact (s) in issues shall reach in to a decision.</a:t>
            </a:r>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No Case Motion and Acquittal(Art 141)</a:t>
            </a:r>
            <a:endParaRPr lang="en-US" sz="3600" i="1"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algn="just"/>
            <a:r>
              <a:rPr lang="en-US" b="1" dirty="0" smtClean="0"/>
              <a:t>The court has to evaluate the weight of the evidences based on a certain standard. </a:t>
            </a:r>
          </a:p>
          <a:p>
            <a:pPr algn="just"/>
            <a:r>
              <a:rPr lang="en-US" b="1" dirty="0" smtClean="0"/>
              <a:t>As the practice reveal the court base itself on the standard called “ beyond reasonable doubt” degree of proof.</a:t>
            </a:r>
          </a:p>
          <a:p>
            <a:pPr algn="just"/>
            <a:r>
              <a:rPr lang="en-US" b="1" i="1" dirty="0" smtClean="0">
                <a:solidFill>
                  <a:srgbClr val="7030A0"/>
                </a:solidFill>
              </a:rPr>
              <a:t>What does beyond reasonable doubt mean?</a:t>
            </a:r>
            <a:endParaRPr lang="en-US" b="1" dirty="0" smtClean="0">
              <a:solidFill>
                <a:srgbClr val="7030A0"/>
              </a:solidFill>
            </a:endParaRPr>
          </a:p>
          <a:p>
            <a:pPr algn="just"/>
            <a:r>
              <a:rPr lang="en-US" b="1" i="1" dirty="0" smtClean="0">
                <a:solidFill>
                  <a:srgbClr val="7030A0"/>
                </a:solidFill>
              </a:rPr>
              <a:t>Does it mean no doubt at all?</a:t>
            </a:r>
            <a:endParaRPr lang="en-US" b="1" dirty="0" smtClean="0">
              <a:solidFill>
                <a:srgbClr val="7030A0"/>
              </a:solidFill>
            </a:endParaRPr>
          </a:p>
          <a:p>
            <a:pPr algn="just"/>
            <a:r>
              <a:rPr lang="en-US" b="1" i="1" dirty="0" smtClean="0">
                <a:solidFill>
                  <a:srgbClr val="7030A0"/>
                </a:solidFill>
              </a:rPr>
              <a:t>In your opinion, is it possible to have proof with absolute certainty?</a:t>
            </a:r>
            <a:endParaRPr lang="en-US" b="1" dirty="0" smtClean="0">
              <a:solidFill>
                <a:srgbClr val="7030A0"/>
              </a:solidFill>
            </a:endParaRPr>
          </a:p>
          <a:p>
            <a:pPr algn="just"/>
            <a:r>
              <a:rPr lang="en-US" b="1" dirty="0" smtClean="0"/>
              <a:t>In criminal cases, it is the public prosecutor that has the duty to prove his case and only if he proved his case with the required degree of proof that the accused would be given the chance to defend himself by producing witnesses if he has or if he wishes to do so. </a:t>
            </a:r>
          </a:p>
        </p:txBody>
      </p:sp>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No Case Motion and Acquittal….</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smtClean="0"/>
              <a:t>Unless the evidences produced by the public prosecutor proves the case to the satisfaction of the court that the accused committed the alleged crime the later shall be set free. Thus, no case motion/no case for prosecution.</a:t>
            </a:r>
          </a:p>
          <a:p>
            <a:pPr algn="just"/>
            <a:r>
              <a:rPr lang="en-US" b="1" dirty="0" smtClean="0"/>
              <a:t>Thus, once after the court examine the evidences and measured its weight shall decide whether the case is proved to the extent of the required degree against the accused or not. </a:t>
            </a:r>
          </a:p>
          <a:p>
            <a:pPr algn="just"/>
            <a:r>
              <a:rPr lang="en-US" b="1" dirty="0" smtClean="0"/>
              <a:t>If the court is not convinced that the case is sufficiently proved, it shall acquit the accused without requiring him to defend himself and enter an order of release of the accused if he is in custody.(Art 141  Cr. Pr.)</a:t>
            </a:r>
          </a:p>
          <a:p>
            <a:pPr algn="just"/>
            <a:endParaRPr lang="en-US" b="1" dirty="0"/>
          </a:p>
        </p:txBody>
      </p:sp>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Case for Prosecution (Art142) </a:t>
            </a:r>
            <a:endParaRPr lang="en-US" dirty="0"/>
          </a:p>
        </p:txBody>
      </p:sp>
      <p:sp>
        <p:nvSpPr>
          <p:cNvPr id="3" name="Content Placeholder 2"/>
          <p:cNvSpPr>
            <a:spLocks noGrp="1"/>
          </p:cNvSpPr>
          <p:nvPr>
            <p:ph idx="1"/>
          </p:nvPr>
        </p:nvSpPr>
        <p:spPr/>
        <p:txBody>
          <a:bodyPr>
            <a:noAutofit/>
          </a:bodyPr>
          <a:lstStyle/>
          <a:p>
            <a:pPr algn="just"/>
            <a:r>
              <a:rPr lang="en-US" sz="2400" b="1" dirty="0" smtClean="0"/>
              <a:t>Where the case is not dispensed pursuant to  Art 141 or if the court is satisfied with evidences produced and is convinced that the accused had committed the alleged crime the court shall require him to produce all possible evidences he has to defend himself.</a:t>
            </a:r>
          </a:p>
          <a:p>
            <a:pPr algn="just"/>
            <a:r>
              <a:rPr lang="en-US" sz="2400" b="1" dirty="0" smtClean="0"/>
              <a:t>The fact that the court orders the accused to produce his evidences and defend himself  is referred to as case for prosecution</a:t>
            </a:r>
          </a:p>
          <a:p>
            <a:pPr algn="just"/>
            <a:r>
              <a:rPr lang="en-US" sz="2400" b="1" dirty="0" smtClean="0"/>
              <a:t>The Accused then shall give the list of all relevant evidences to the registrar of the court and take the summons.</a:t>
            </a:r>
          </a:p>
          <a:p>
            <a:pPr algn="just"/>
            <a:r>
              <a:rPr lang="en-US" sz="2400" b="1" dirty="0" smtClean="0"/>
              <a:t>The court must believe that the accused would be convicted if he fails to rebut the case made against him. </a:t>
            </a:r>
          </a:p>
        </p:txBody>
      </p:sp>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 </a:t>
            </a:r>
            <a:r>
              <a:rPr lang="en-US" sz="3600" b="1" i="1" dirty="0" smtClean="0">
                <a:solidFill>
                  <a:srgbClr val="00B050"/>
                </a:solidFill>
              </a:rPr>
              <a:t>Judgment: Conviction/Acquittal(Art. 149)</a:t>
            </a:r>
            <a:endParaRPr lang="en-US" sz="3600" b="1" i="1" dirty="0">
              <a:solidFill>
                <a:srgbClr val="00B050"/>
              </a:solidFill>
            </a:endParaRPr>
          </a:p>
        </p:txBody>
      </p:sp>
      <p:sp>
        <p:nvSpPr>
          <p:cNvPr id="3" name="Content Placeholder 2"/>
          <p:cNvSpPr>
            <a:spLocks noGrp="1"/>
          </p:cNvSpPr>
          <p:nvPr>
            <p:ph idx="1"/>
          </p:nvPr>
        </p:nvSpPr>
        <p:spPr/>
        <p:txBody>
          <a:bodyPr>
            <a:noAutofit/>
          </a:bodyPr>
          <a:lstStyle/>
          <a:p>
            <a:pPr algn="just">
              <a:tabLst>
                <a:tab pos="4627563" algn="l"/>
              </a:tabLst>
            </a:pPr>
            <a:r>
              <a:rPr lang="en-US" sz="2400" b="1" dirty="0" smtClean="0"/>
              <a:t>All the criminal prosecutions are made with the ultimate destination of rendering judgment which would either be conviction or acquittal. </a:t>
            </a:r>
          </a:p>
          <a:p>
            <a:pPr algn="just"/>
            <a:r>
              <a:rPr lang="en-US" sz="2400" b="1" dirty="0" smtClean="0"/>
              <a:t>The accused would be convicted if the evidences produced by the prosecutor convinced the court to the extent of the required degree that the accused committed the alleged crime and his evidence, could not rebut.</a:t>
            </a:r>
          </a:p>
          <a:p>
            <a:pPr algn="just"/>
            <a:r>
              <a:rPr lang="en-US" sz="2400" b="1" dirty="0" smtClean="0"/>
              <a:t>On the other hand, if the defense evidence(s) produced by the accused can falsify the evidence of the prosecution the court must decide for the acquittal of the accused and be released from prison if had been in custody.</a:t>
            </a:r>
          </a:p>
          <a:p>
            <a:pPr algn="just"/>
            <a:r>
              <a:rPr lang="en-US" sz="2400" b="1" dirty="0" smtClean="0"/>
              <a:t>It is one of the responsibilities of a judge to give reason for any of its decisions </a:t>
            </a:r>
          </a:p>
          <a:p>
            <a:pPr algn="just"/>
            <a:endParaRPr lang="en-US" sz="2400" b="1" dirty="0" smtClean="0"/>
          </a:p>
          <a:p>
            <a:endParaRPr lang="en-US" sz="2400" b="1" dirty="0"/>
          </a:p>
        </p:txBody>
      </p:sp>
    </p:spTree>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Sentencing( Art 149(1)</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Where the accused is found guilty, the court shall ask the prosecutor whether he has anything to say as regards sentence by way of aggravation or mitigation as being provided under Art 149/3/ of the CPC. The prosecutor could raise the aggravating grounds such as previous convictions. </a:t>
            </a:r>
          </a:p>
          <a:p>
            <a:pPr algn="just"/>
            <a:r>
              <a:rPr lang="en-US" sz="2400" b="1" dirty="0" smtClean="0"/>
              <a:t>The accused shall give a chance to reply and mention any mitigating grounds he could raise, if any. </a:t>
            </a:r>
          </a:p>
          <a:p>
            <a:pPr algn="just"/>
            <a:r>
              <a:rPr lang="en-US" sz="2400" b="1" dirty="0" smtClean="0"/>
              <a:t>The court may demand the production of evidences. In practice, however, courts do not ask the prove to mitigating/aggravating ground mentioned by the parties. </a:t>
            </a:r>
          </a:p>
          <a:p>
            <a:pPr algn="just"/>
            <a:r>
              <a:rPr lang="en-US" sz="2400" b="1" dirty="0" smtClean="0"/>
              <a:t>The prosecution also tends to state only aggravating circumstances while the law requires him to mention mitigating circumstances as well.</a:t>
            </a:r>
          </a:p>
          <a:p>
            <a:pPr algn="just"/>
            <a:endParaRPr lang="en-US" sz="2400" b="1" dirty="0" smtClean="0"/>
          </a:p>
          <a:p>
            <a:pPr algn="just"/>
            <a:endParaRPr lang="en-US" sz="2400" b="1" dirty="0"/>
          </a:p>
        </p:txBody>
      </p:sp>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solidFill>
                  <a:srgbClr val="00B050"/>
                </a:solidFill>
              </a:rPr>
              <a:t>CHAPTER SEVEN</a:t>
            </a:r>
            <a:r>
              <a:rPr lang="en-US" sz="3600" dirty="0" smtClean="0"/>
              <a:t/>
            </a:r>
            <a:br>
              <a:rPr lang="en-US" sz="3600" dirty="0" smtClean="0"/>
            </a:br>
            <a:r>
              <a:rPr lang="en-US" sz="3600" b="1" i="1" dirty="0" smtClean="0">
                <a:solidFill>
                  <a:srgbClr val="7030A0"/>
                </a:solidFill>
              </a:rPr>
              <a:t>SPECIAL PROCEDURES LEADING TO JUDGMENT</a:t>
            </a:r>
            <a:endParaRPr lang="en-US" i="1" dirty="0">
              <a:solidFill>
                <a:srgbClr val="7030A0"/>
              </a:solidFill>
            </a:endParaRPr>
          </a:p>
        </p:txBody>
      </p:sp>
      <p:sp>
        <p:nvSpPr>
          <p:cNvPr id="3" name="Content Placeholder 2"/>
          <p:cNvSpPr>
            <a:spLocks noGrp="1"/>
          </p:cNvSpPr>
          <p:nvPr>
            <p:ph idx="1"/>
          </p:nvPr>
        </p:nvSpPr>
        <p:spPr/>
        <p:txBody>
          <a:bodyPr>
            <a:noAutofit/>
          </a:bodyPr>
          <a:lstStyle/>
          <a:p>
            <a:pPr algn="ctr">
              <a:buNone/>
            </a:pPr>
            <a:r>
              <a:rPr lang="en-US" sz="2400" b="1" dirty="0" smtClean="0">
                <a:solidFill>
                  <a:srgbClr val="00B050"/>
                </a:solidFill>
              </a:rPr>
              <a:t>Private Prosecutions</a:t>
            </a:r>
          </a:p>
          <a:p>
            <a:pPr algn="just"/>
            <a:r>
              <a:rPr lang="en-US" sz="2400" b="1" i="1" dirty="0" smtClean="0">
                <a:solidFill>
                  <a:srgbClr val="C00000"/>
                </a:solidFill>
              </a:rPr>
              <a:t>Filing complaint and charge.</a:t>
            </a:r>
          </a:p>
          <a:p>
            <a:pPr algn="just">
              <a:buFont typeface="Wingdings" pitchFamily="2" charset="2"/>
              <a:buChar char="Ø"/>
            </a:pPr>
            <a:r>
              <a:rPr lang="en-US" sz="2400" b="1" dirty="0" smtClean="0"/>
              <a:t>Where a private complainant has been authorized under Art. 44 (I) to conduct a private prosecution, he shall within fifteen days file his complaint and the charge in the court having jurisdiction.</a:t>
            </a:r>
            <a:r>
              <a:rPr lang="en-US" sz="2400" b="1" i="1" dirty="0" smtClean="0"/>
              <a:t> (Art. 150.) </a:t>
            </a:r>
          </a:p>
          <a:p>
            <a:pPr algn="just">
              <a:buFont typeface="Wingdings" pitchFamily="2" charset="2"/>
              <a:buChar char="Ø"/>
            </a:pPr>
            <a:r>
              <a:rPr lang="en-US" sz="2400" b="1" dirty="0" smtClean="0"/>
              <a:t>Where a charge is not in accordance with the authorization the court shall require the private complainant to amend the charge to conform to such authorization.</a:t>
            </a:r>
          </a:p>
          <a:p>
            <a:pPr algn="just">
              <a:buFont typeface="Wingdings" pitchFamily="2" charset="2"/>
              <a:buChar char="Ø"/>
            </a:pPr>
            <a:r>
              <a:rPr lang="en-US" sz="2400" b="1" i="1" dirty="0" smtClean="0">
                <a:solidFill>
                  <a:srgbClr val="C00000"/>
                </a:solidFill>
              </a:rPr>
              <a:t>Attempt to reconcile the parties(Art. 151) </a:t>
            </a:r>
            <a:endParaRPr lang="en-US" sz="2400" b="1" dirty="0" smtClean="0">
              <a:solidFill>
                <a:srgbClr val="C00000"/>
              </a:solidFill>
            </a:endParaRPr>
          </a:p>
          <a:p>
            <a:pPr algn="just"/>
            <a:r>
              <a:rPr lang="en-US" sz="2400" b="1" dirty="0" smtClean="0"/>
              <a:t>When the complaint and the charge have been filed the court shall summon the complainant and the accused to appear. The court shall attempt to reconcile the parties.</a:t>
            </a:r>
          </a:p>
          <a:p>
            <a:pPr algn="just">
              <a:buFont typeface="Wingdings" pitchFamily="2" charset="2"/>
              <a:buChar char="Ø"/>
            </a:pPr>
            <a:endParaRPr lang="en-US" sz="2400" b="1" dirty="0" smtClean="0"/>
          </a:p>
        </p:txBody>
      </p:sp>
    </p:spTree>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00B050"/>
                </a:solidFill>
              </a:rPr>
              <a:t>Costs, Hearing and Judgments( Art.152 &amp;153)</a:t>
            </a:r>
            <a:endParaRPr lang="en-US" sz="3200" b="1" dirty="0">
              <a:solidFill>
                <a:srgbClr val="00B050"/>
              </a:solidFill>
            </a:endParaRPr>
          </a:p>
        </p:txBody>
      </p:sp>
      <p:sp>
        <p:nvSpPr>
          <p:cNvPr id="3" name="Content Placeholder 2"/>
          <p:cNvSpPr>
            <a:spLocks noGrp="1"/>
          </p:cNvSpPr>
          <p:nvPr>
            <p:ph idx="1"/>
          </p:nvPr>
        </p:nvSpPr>
        <p:spPr/>
        <p:txBody>
          <a:bodyPr>
            <a:normAutofit fontScale="92500"/>
          </a:bodyPr>
          <a:lstStyle/>
          <a:p>
            <a:pPr algn="just"/>
            <a:r>
              <a:rPr lang="en-US" b="1" dirty="0" smtClean="0"/>
              <a:t>Where a reconciliation has not been effected, the court shall decide whether the private prosecutor should give security for costs. Where an order for security is made, the sum to be secured and the nature of the security shall be stated in the order.(</a:t>
            </a:r>
            <a:r>
              <a:rPr lang="en-US" b="1" i="1" dirty="0" smtClean="0"/>
              <a:t> Art. 152) </a:t>
            </a:r>
          </a:p>
          <a:p>
            <a:pPr algn="just"/>
            <a:r>
              <a:rPr lang="en-US" b="1" dirty="0" smtClean="0"/>
              <a:t>Where the private prosecutor has complied with the order, under Art. 152, the case shall proceed in accordance with Art. 123-149, the parties having the same rights and duties as in public proceedings</a:t>
            </a:r>
            <a:r>
              <a:rPr lang="en-US" b="1" i="1" dirty="0" smtClean="0"/>
              <a:t>. </a:t>
            </a:r>
            <a:r>
              <a:rPr lang="en-US" b="1" dirty="0" smtClean="0"/>
              <a:t>The court shall give judgment as in ordinary cases.( Art.153)</a:t>
            </a:r>
            <a:endParaRPr lang="en-US" b="1"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Failure to appear in private proceedings( Art.165 &amp;166)</a:t>
            </a:r>
            <a:endParaRPr lang="en-US" b="1" dirty="0">
              <a:solidFill>
                <a:srgbClr val="00B050"/>
              </a:solidFill>
            </a:endParaRPr>
          </a:p>
        </p:txBody>
      </p:sp>
      <p:sp>
        <p:nvSpPr>
          <p:cNvPr id="3" name="Content Placeholder 2"/>
          <p:cNvSpPr>
            <a:spLocks noGrp="1"/>
          </p:cNvSpPr>
          <p:nvPr>
            <p:ph idx="1"/>
          </p:nvPr>
        </p:nvSpPr>
        <p:spPr/>
        <p:txBody>
          <a:bodyPr>
            <a:noAutofit/>
          </a:bodyPr>
          <a:lstStyle/>
          <a:p>
            <a:pPr algn="ctr"/>
            <a:r>
              <a:rPr lang="en-US" sz="2400" b="1" i="1" dirty="0" smtClean="0">
                <a:solidFill>
                  <a:srgbClr val="C00000"/>
                </a:solidFill>
              </a:rPr>
              <a:t>Absence of private prosecutor. (Art. 165.)</a:t>
            </a:r>
          </a:p>
          <a:p>
            <a:pPr algn="just"/>
            <a:r>
              <a:rPr lang="en-US" sz="2400" b="1" dirty="0" smtClean="0"/>
              <a:t>Where the private prosecutor fails without good cause to appear the court shall strike out the case and order the discharge of the accused.</a:t>
            </a:r>
          </a:p>
          <a:p>
            <a:pPr algn="just"/>
            <a:r>
              <a:rPr lang="en-US" sz="2400" b="1" dirty="0" smtClean="0"/>
              <a:t>If so, the private prosecutor may, within fifteen days of such striking out, apply to the court to  fix a fresh hearing date.</a:t>
            </a:r>
          </a:p>
          <a:p>
            <a:pPr algn="just"/>
            <a:r>
              <a:rPr lang="en-US" sz="2400" b="1" dirty="0" smtClean="0"/>
              <a:t>No application shall be granted unless the private prosecutor satisfies  causes beyond his control.</a:t>
            </a:r>
          </a:p>
          <a:p>
            <a:pPr algn="just"/>
            <a:r>
              <a:rPr lang="en-US" sz="2400" b="1" dirty="0" smtClean="0"/>
              <a:t>Where no application is made within fifteen days, the striking out shall be final.</a:t>
            </a:r>
            <a:endParaRPr lang="en-US" sz="2400" b="1" i="1" dirty="0" smtClean="0"/>
          </a:p>
          <a:p>
            <a:pPr algn="just"/>
            <a:r>
              <a:rPr lang="en-US" sz="2400" b="1" dirty="0" smtClean="0"/>
              <a:t>Where the accused is absent, trail in absence is not possible and a bench warrant shall be issued.</a:t>
            </a:r>
            <a:r>
              <a:rPr lang="en-US" sz="2400" b="1" i="1" dirty="0" smtClean="0"/>
              <a:t> (Art. 166) </a:t>
            </a:r>
            <a:endParaRPr lang="en-US" sz="2400" b="1"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a:t>
            </a:r>
            <a:r>
              <a:rPr lang="en-US" b="1" i="1" dirty="0" smtClean="0">
                <a:solidFill>
                  <a:srgbClr val="00B050"/>
                </a:solidFill>
              </a:rPr>
              <a:t>Default Proceedings</a:t>
            </a:r>
            <a:endParaRPr lang="en-US"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Under the ordinary proceeding, the accused is required by law to attend the trial personally. </a:t>
            </a:r>
          </a:p>
          <a:p>
            <a:pPr algn="just"/>
            <a:r>
              <a:rPr lang="en-US" sz="2400" b="1" dirty="0" smtClean="0"/>
              <a:t>However, a representative can appear before the trial court and explain the reason(s) for the accused‘s non appearance  that may result in adjourning the case( Art 94(2)a.</a:t>
            </a:r>
          </a:p>
          <a:p>
            <a:pPr algn="just"/>
            <a:r>
              <a:rPr lang="en-US" sz="2400" b="1" dirty="0" smtClean="0"/>
              <a:t>However, if no representative appeared to explain the reason why the accused fail to appear or the reason is not satisfactory, the court shall issue arrest warrant . </a:t>
            </a:r>
          </a:p>
          <a:p>
            <a:pPr algn="just"/>
            <a:r>
              <a:rPr lang="en-US" sz="2400" b="1" dirty="0" smtClean="0"/>
              <a:t>Normally arrest warrant is issued up on the request of the public prosecutor and be executed by the police officer as the latter can find the accused.</a:t>
            </a:r>
          </a:p>
          <a:p>
            <a:pPr algn="just"/>
            <a:r>
              <a:rPr lang="en-US" sz="2400" b="1" dirty="0" smtClean="0"/>
              <a:t>If not possible, the  court has to resort &amp; see the case even in the absence of the accused if possible</a:t>
            </a:r>
            <a:r>
              <a:rPr lang="en-US" sz="2400" b="1" i="1" dirty="0" smtClean="0"/>
              <a:t>.(  Art.163)</a:t>
            </a:r>
            <a:endParaRPr lang="en-US" sz="2400" b="1" dirty="0" smtClean="0"/>
          </a:p>
        </p:txBody>
      </p:sp>
    </p:spTree>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Requirements and Proceedings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Trial in absentia may be held only in respect of certain grave offences that are committed by adult offenders.</a:t>
            </a:r>
          </a:p>
          <a:p>
            <a:pPr algn="just"/>
            <a:r>
              <a:rPr lang="en-US" sz="2400" b="1" dirty="0" smtClean="0"/>
              <a:t>Such offences are either, </a:t>
            </a:r>
          </a:p>
          <a:p>
            <a:pPr lvl="1" algn="just">
              <a:buFont typeface="Wingdings" pitchFamily="2" charset="2"/>
              <a:buChar char="Ø"/>
            </a:pPr>
            <a:r>
              <a:rPr lang="en-US" sz="2400" b="1" dirty="0" smtClean="0"/>
              <a:t>punishable with rigorous imprisonment  for not less than 12 years.</a:t>
            </a:r>
          </a:p>
          <a:p>
            <a:pPr lvl="1" algn="just">
              <a:buFont typeface="Wingdings" pitchFamily="2" charset="2"/>
              <a:buChar char="Ø"/>
            </a:pPr>
            <a:r>
              <a:rPr lang="en-US" sz="2400" b="1" dirty="0" smtClean="0"/>
              <a:t>Offences against the fiscal and economic interest of the state</a:t>
            </a:r>
          </a:p>
          <a:p>
            <a:pPr algn="just"/>
            <a:r>
              <a:rPr lang="en-US" sz="2400" b="1" dirty="0" smtClean="0"/>
              <a:t>After deciding to conduct trial in absentia, the court shall continue to see the case just like any other ordinary cases  after publication of the summons( Art 163(1) )</a:t>
            </a:r>
          </a:p>
          <a:p>
            <a:pPr algn="just"/>
            <a:r>
              <a:rPr lang="en-US" sz="2400" b="1" dirty="0" smtClean="0"/>
              <a:t> The court then will render a judgment convicting or acquitting the accused after evaluating all the evidences the prosecutor produces. </a:t>
            </a:r>
          </a:p>
          <a:p>
            <a:pPr algn="just"/>
            <a:endParaRPr lang="en-US" sz="2400" b="1" dirty="0" smtClean="0"/>
          </a:p>
          <a:p>
            <a:pPr algn="just"/>
            <a:endParaRPr lang="en-US" sz="2400" b="1" dirty="0" smtClean="0"/>
          </a:p>
          <a:p>
            <a:endParaRPr lang="en-US" sz="2400" b="1"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Application to set aside judgment</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Art 197-202 of the CPC provides the possibility of making an application to set aside judgment when there is  good cause for his non appearance. </a:t>
            </a:r>
          </a:p>
          <a:p>
            <a:pPr algn="just"/>
            <a:r>
              <a:rPr lang="en-US" sz="2400" b="1" dirty="0" smtClean="0"/>
              <a:t>Such application is made to the rendition court within thirty days from the date on which the applicant became aware of the judgment given in his absence. </a:t>
            </a:r>
          </a:p>
          <a:p>
            <a:pPr algn="just"/>
            <a:r>
              <a:rPr lang="en-US" sz="2400" b="1" dirty="0" smtClean="0"/>
              <a:t>Where the applicant is unable to do so, his advocate may file the application.</a:t>
            </a:r>
          </a:p>
          <a:p>
            <a:pPr algn="just"/>
            <a:r>
              <a:rPr lang="en-US" sz="2400" b="1" dirty="0" smtClean="0"/>
              <a:t>Art. 198 of the CPC recognizes only two reasons. These are:</a:t>
            </a:r>
          </a:p>
          <a:p>
            <a:pPr lvl="1" algn="just">
              <a:buFont typeface="Wingdings" pitchFamily="2" charset="2"/>
              <a:buChar char="Ø"/>
            </a:pPr>
            <a:r>
              <a:rPr lang="en-US" sz="2400" b="1" dirty="0" smtClean="0"/>
              <a:t>The accused has not received summons to appear</a:t>
            </a:r>
          </a:p>
          <a:p>
            <a:pPr lvl="1" algn="just">
              <a:buFont typeface="Wingdings" pitchFamily="2" charset="2"/>
              <a:buChar char="Ø"/>
            </a:pPr>
            <a:r>
              <a:rPr lang="en-US" sz="2400" b="1" dirty="0" smtClean="0"/>
              <a:t>The accused has received the summons but prevented by force majeure from appearing in person or by  advocate.</a:t>
            </a:r>
          </a:p>
          <a:p>
            <a:pPr algn="just"/>
            <a:endParaRPr lang="en-US" sz="2400" b="1" dirty="0" smtClean="0"/>
          </a:p>
          <a:p>
            <a:pPr algn="just"/>
            <a:endParaRPr lang="en-US" sz="2400" b="1" dirty="0" smtClean="0"/>
          </a:p>
          <a:p>
            <a:endParaRPr lang="en-US" sz="2400" b="1" dirty="0"/>
          </a:p>
        </p:txBody>
      </p:sp>
    </p:spTree>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 Decisions on the Application</a:t>
            </a:r>
            <a:endParaRPr lang="en-US" dirty="0"/>
          </a:p>
        </p:txBody>
      </p:sp>
      <p:sp>
        <p:nvSpPr>
          <p:cNvPr id="3" name="Content Placeholder 2"/>
          <p:cNvSpPr>
            <a:spLocks noGrp="1"/>
          </p:cNvSpPr>
          <p:nvPr>
            <p:ph idx="1"/>
          </p:nvPr>
        </p:nvSpPr>
        <p:spPr/>
        <p:txBody>
          <a:bodyPr>
            <a:noAutofit/>
          </a:bodyPr>
          <a:lstStyle/>
          <a:p>
            <a:pPr algn="just"/>
            <a:r>
              <a:rPr lang="en-US" sz="2400" b="1" dirty="0" smtClean="0"/>
              <a:t>If the court accept ,  the date will be fixed for hearing. </a:t>
            </a:r>
          </a:p>
          <a:p>
            <a:pPr algn="just"/>
            <a:r>
              <a:rPr lang="en-US" sz="2400" b="1" dirty="0" smtClean="0"/>
              <a:t>The court then enters a decision after hearing the parties on the date fixed and its decision could either be accepting or not the application to set aside the decision given in default.</a:t>
            </a:r>
          </a:p>
          <a:p>
            <a:pPr algn="just"/>
            <a:r>
              <a:rPr lang="en-US" sz="2400" b="1" dirty="0" smtClean="0"/>
              <a:t> If the court accepts the reason and grant the setting aside of the judgment, it shall order the retrial of the case and the charge will be instituted before the pertinent court.</a:t>
            </a:r>
          </a:p>
          <a:p>
            <a:pPr algn="just"/>
            <a:r>
              <a:rPr lang="en-US" sz="2400" b="1" dirty="0" smtClean="0"/>
              <a:t>The decision of the court on the application is final, therefore, the accused cannot go anywhere if his application to set aside the judgment given in absentia is not acceptable.</a:t>
            </a:r>
          </a:p>
          <a:p>
            <a:pPr algn="just"/>
            <a:r>
              <a:rPr lang="en-US" sz="2400" b="1" dirty="0" smtClean="0"/>
              <a:t>Still he can lodge an appeal as </a:t>
            </a:r>
            <a:r>
              <a:rPr lang="en-US" sz="2400" b="1" i="1" dirty="0" smtClean="0"/>
              <a:t>against the sentence</a:t>
            </a:r>
            <a:r>
              <a:rPr lang="en-US" sz="2400" b="1" dirty="0" smtClean="0"/>
              <a:t>  within fifteen days of the dismissal of the judgment. </a:t>
            </a:r>
          </a:p>
          <a:p>
            <a:pPr algn="just"/>
            <a:endParaRPr lang="en-US" sz="2400" b="1" dirty="0"/>
          </a:p>
        </p:txBody>
      </p:sp>
    </p:spTree>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00B050"/>
                </a:solidFill>
              </a:rPr>
              <a:t>Petty Offence</a:t>
            </a:r>
            <a:r>
              <a:rPr lang="en-US" b="1" i="1" dirty="0" smtClean="0">
                <a:solidFill>
                  <a:srgbClr val="0070C0"/>
                </a:solidFill>
              </a:rPr>
              <a:t> </a:t>
            </a:r>
            <a:endParaRPr lang="en-US" b="1" dirty="0">
              <a:solidFill>
                <a:srgbClr val="0070C0"/>
              </a:solidFill>
            </a:endParaRPr>
          </a:p>
        </p:txBody>
      </p:sp>
      <p:sp>
        <p:nvSpPr>
          <p:cNvPr id="3" name="Content Placeholder 2"/>
          <p:cNvSpPr>
            <a:spLocks noGrp="1"/>
          </p:cNvSpPr>
          <p:nvPr>
            <p:ph idx="1"/>
          </p:nvPr>
        </p:nvSpPr>
        <p:spPr/>
        <p:txBody>
          <a:bodyPr>
            <a:normAutofit/>
          </a:bodyPr>
          <a:lstStyle/>
          <a:p>
            <a:pPr algn="ctr">
              <a:buFont typeface="Wingdings" pitchFamily="2" charset="2"/>
              <a:buChar char="q"/>
            </a:pPr>
            <a:r>
              <a:rPr lang="en-US" b="1" i="1" dirty="0" smtClean="0">
                <a:solidFill>
                  <a:srgbClr val="7030A0"/>
                </a:solidFill>
              </a:rPr>
              <a:t>Summoning of accused( Art. 167)</a:t>
            </a:r>
          </a:p>
          <a:p>
            <a:pPr algn="just">
              <a:buFont typeface="Wingdings" pitchFamily="2" charset="2"/>
              <a:buChar char="Ø"/>
            </a:pPr>
            <a:r>
              <a:rPr lang="en-US" b="1" dirty="0" smtClean="0"/>
              <a:t>Where a petty offence has been committed, the public or private prosecutor shall apply to the court having jurisdiction to summon the accused to appear.</a:t>
            </a:r>
          </a:p>
          <a:p>
            <a:pPr algn="just">
              <a:buFont typeface="Wingdings" pitchFamily="2" charset="2"/>
              <a:buChar char="Ø"/>
            </a:pPr>
            <a:r>
              <a:rPr lang="en-US" b="1" dirty="0" smtClean="0"/>
              <a:t>The application and the summons shall contain the name of the accused, the circumstances of the petty offence committed and the law and articles of the law to be applied.</a:t>
            </a:r>
          </a:p>
        </p:txBody>
      </p:sp>
    </p:spTree>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Accused may plead guilty in writing to petty offence( Art.</a:t>
            </a:r>
            <a:r>
              <a:rPr lang="en-US" b="1" dirty="0" smtClean="0">
                <a:solidFill>
                  <a:srgbClr val="00B050"/>
                </a:solidFill>
              </a:rPr>
              <a:t> 168)</a:t>
            </a:r>
            <a:endParaRPr lang="en-US" b="1" dirty="0">
              <a:solidFill>
                <a:srgbClr val="00B050"/>
              </a:solidFill>
            </a:endParaRPr>
          </a:p>
        </p:txBody>
      </p:sp>
      <p:sp>
        <p:nvSpPr>
          <p:cNvPr id="3" name="Content Placeholder 2"/>
          <p:cNvSpPr>
            <a:spLocks noGrp="1"/>
          </p:cNvSpPr>
          <p:nvPr>
            <p:ph idx="1"/>
          </p:nvPr>
        </p:nvSpPr>
        <p:spPr/>
        <p:txBody>
          <a:bodyPr>
            <a:noAutofit/>
          </a:bodyPr>
          <a:lstStyle/>
          <a:p>
            <a:pPr algn="ctr">
              <a:buFont typeface="Wingdings" pitchFamily="2" charset="2"/>
              <a:buChar char="q"/>
            </a:pPr>
            <a:r>
              <a:rPr lang="en-US" sz="2400" b="1" i="1" dirty="0" smtClean="0">
                <a:solidFill>
                  <a:srgbClr val="7030A0"/>
                </a:solidFill>
              </a:rPr>
              <a:t>Plead guilty in writing to petty offence( Art 168)</a:t>
            </a:r>
          </a:p>
          <a:p>
            <a:pPr algn="just">
              <a:buFont typeface="Wingdings" pitchFamily="2" charset="2"/>
              <a:buChar char="Ø"/>
            </a:pPr>
            <a:r>
              <a:rPr lang="en-US" sz="2400" b="1" dirty="0" smtClean="0"/>
              <a:t>The accused may return the summons to the court endorsing thereon that he pleads guilty to such offence. </a:t>
            </a:r>
          </a:p>
          <a:p>
            <a:pPr algn="just">
              <a:buFont typeface="Wingdings" pitchFamily="2" charset="2"/>
              <a:buChar char="Ø"/>
            </a:pPr>
            <a:r>
              <a:rPr lang="en-US" sz="2400" b="1" dirty="0" smtClean="0"/>
              <a:t>Such endorsement shall be dated and signed by the accused. </a:t>
            </a:r>
          </a:p>
          <a:p>
            <a:pPr algn="just">
              <a:buFont typeface="Wingdings" pitchFamily="2" charset="2"/>
              <a:buChar char="Ø"/>
            </a:pPr>
            <a:r>
              <a:rPr lang="en-US" sz="2400" b="1" dirty="0" smtClean="0"/>
              <a:t>In such a case, he shall be dispensed with the necessity of appearing in court in answer to the summons.</a:t>
            </a:r>
          </a:p>
          <a:p>
            <a:pPr algn="ctr">
              <a:buFont typeface="Wingdings" pitchFamily="2" charset="2"/>
              <a:buChar char="q"/>
            </a:pPr>
            <a:r>
              <a:rPr lang="en-US" sz="2400" b="1" i="1" dirty="0" smtClean="0">
                <a:solidFill>
                  <a:srgbClr val="7030A0"/>
                </a:solidFill>
              </a:rPr>
              <a:t>Proceedings and judgment.</a:t>
            </a:r>
            <a:r>
              <a:rPr lang="en-US" sz="2400" b="1" dirty="0" smtClean="0">
                <a:solidFill>
                  <a:srgbClr val="7030A0"/>
                </a:solidFill>
              </a:rPr>
              <a:t> (Art 169) </a:t>
            </a:r>
            <a:endParaRPr lang="en-US" sz="2400" b="1" i="1" dirty="0" smtClean="0">
              <a:solidFill>
                <a:srgbClr val="7030A0"/>
              </a:solidFill>
            </a:endParaRPr>
          </a:p>
          <a:p>
            <a:pPr algn="just">
              <a:buFont typeface="Wingdings" pitchFamily="2" charset="2"/>
              <a:buChar char="Ø"/>
            </a:pPr>
            <a:r>
              <a:rPr lang="en-US" sz="2400" b="1" dirty="0" smtClean="0"/>
              <a:t>On receipt of the summons so endorsed, the court shall record the plea of guilty and, the court shall sentence the accused and send him a copy of the judgment where  the court impose a fine only</a:t>
            </a:r>
          </a:p>
          <a:p>
            <a:pPr algn="just">
              <a:buFont typeface="Wingdings" pitchFamily="2" charset="2"/>
              <a:buChar char="Ø"/>
            </a:pPr>
            <a:r>
              <a:rPr lang="en-US" sz="2400" b="1" dirty="0" smtClean="0"/>
              <a:t>For other penalties or orders the accused will be summoned to defend himself before sentence is passed.</a:t>
            </a:r>
          </a:p>
          <a:p>
            <a:pPr algn="just">
              <a:buFont typeface="Wingdings" pitchFamily="2" charset="2"/>
              <a:buChar char="Ø"/>
            </a:pPr>
            <a:endParaRPr lang="en-US" sz="2400" b="1"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Procedure where accused appears before the court(Art.170)</a:t>
            </a:r>
            <a:endParaRPr lang="en-US" b="1" dirty="0">
              <a:solidFill>
                <a:srgbClr val="00B050"/>
              </a:solidFill>
            </a:endParaRPr>
          </a:p>
        </p:txBody>
      </p:sp>
      <p:sp>
        <p:nvSpPr>
          <p:cNvPr id="3" name="Content Placeholder 2"/>
          <p:cNvSpPr>
            <a:spLocks noGrp="1"/>
          </p:cNvSpPr>
          <p:nvPr>
            <p:ph idx="1"/>
          </p:nvPr>
        </p:nvSpPr>
        <p:spPr/>
        <p:txBody>
          <a:bodyPr>
            <a:noAutofit/>
          </a:bodyPr>
          <a:lstStyle/>
          <a:p>
            <a:pPr algn="ctr">
              <a:buFont typeface="Wingdings" pitchFamily="2" charset="2"/>
              <a:buChar char="q"/>
            </a:pPr>
            <a:r>
              <a:rPr lang="en-US" sz="2400" b="1" i="1" dirty="0" smtClean="0">
                <a:solidFill>
                  <a:srgbClr val="7030A0"/>
                </a:solidFill>
              </a:rPr>
              <a:t>Procedure where accused appears before the court (Art. 170)</a:t>
            </a:r>
          </a:p>
          <a:p>
            <a:pPr algn="just">
              <a:buFont typeface="Wingdings" pitchFamily="2" charset="2"/>
              <a:buChar char="Ø"/>
            </a:pPr>
            <a:r>
              <a:rPr lang="en-US" sz="2400" b="1" dirty="0" smtClean="0"/>
              <a:t>Where the accused does not endorse, he shall appear on the day  fixed for the hearing.</a:t>
            </a:r>
          </a:p>
          <a:p>
            <a:pPr algn="just">
              <a:buFont typeface="Wingdings" pitchFamily="2" charset="2"/>
              <a:buChar char="Ø"/>
            </a:pPr>
            <a:r>
              <a:rPr lang="en-US" sz="2400" b="1" dirty="0" smtClean="0"/>
              <a:t>The prosecutor and the accused  shall produce their witnesses, </a:t>
            </a:r>
          </a:p>
          <a:p>
            <a:pPr algn="just">
              <a:buFont typeface="Wingdings" pitchFamily="2" charset="2"/>
              <a:buChar char="Ø"/>
            </a:pPr>
            <a:r>
              <a:rPr lang="en-US" sz="2400" b="1" dirty="0" smtClean="0"/>
              <a:t>The procedure shall be oral. </a:t>
            </a:r>
          </a:p>
          <a:p>
            <a:pPr algn="just">
              <a:buFont typeface="Wingdings" pitchFamily="2" charset="2"/>
              <a:buChar char="Ø"/>
            </a:pPr>
            <a:r>
              <a:rPr lang="en-US" sz="2400" b="1" dirty="0" smtClean="0"/>
              <a:t>The court shall only record the salient part of the evidence.</a:t>
            </a:r>
          </a:p>
          <a:p>
            <a:pPr algn="just">
              <a:buFont typeface="Wingdings" pitchFamily="2" charset="2"/>
              <a:buChar char="Ø"/>
            </a:pPr>
            <a:r>
              <a:rPr lang="en-US" sz="2400" b="1" dirty="0" smtClean="0"/>
              <a:t>It shall give judgment orally recording briefly the reasons for its judgment and mentioning the provisions of the law under which judgment is given;</a:t>
            </a:r>
          </a:p>
          <a:p>
            <a:pPr algn="just">
              <a:buFont typeface="Wingdings" pitchFamily="2" charset="2"/>
              <a:buChar char="Ø"/>
            </a:pPr>
            <a:r>
              <a:rPr lang="en-US" sz="2400" b="1" dirty="0" smtClean="0"/>
              <a:t>Where the accused fails without good cause to appear in private proceedings the court shall give judgment forthwith.</a:t>
            </a:r>
            <a:endParaRPr lang="en-US" sz="2400" b="1"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t> </a:t>
            </a:r>
            <a:r>
              <a:rPr lang="en-US" sz="4800" b="1" i="1" dirty="0" smtClean="0">
                <a:solidFill>
                  <a:srgbClr val="00B050"/>
                </a:solidFill>
              </a:rPr>
              <a:t>Juvenile Procedures</a:t>
            </a:r>
            <a:r>
              <a:rPr lang="en-US" sz="3600" b="1" dirty="0" smtClean="0">
                <a:solidFill>
                  <a:srgbClr val="00B050"/>
                </a:solidFill>
              </a:rPr>
              <a:t/>
            </a:r>
            <a:br>
              <a:rPr lang="en-US" sz="3600" b="1" dirty="0" smtClean="0">
                <a:solidFill>
                  <a:srgbClr val="00B050"/>
                </a:solidFill>
              </a:rPr>
            </a:br>
            <a:r>
              <a:rPr lang="en-US" sz="3600" b="1" i="1" dirty="0" smtClean="0">
                <a:solidFill>
                  <a:srgbClr val="0070C0"/>
                </a:solidFill>
              </a:rPr>
              <a:t>Inslilulion of proceeding.( Art.171 &amp; 172)</a:t>
            </a:r>
            <a:endParaRPr lang="en-US" sz="3600" b="1" dirty="0">
              <a:solidFill>
                <a:srgbClr val="0070C0"/>
              </a:solidFill>
            </a:endParaRPr>
          </a:p>
        </p:txBody>
      </p:sp>
      <p:sp>
        <p:nvSpPr>
          <p:cNvPr id="3" name="Content Placeholder 2"/>
          <p:cNvSpPr>
            <a:spLocks noGrp="1"/>
          </p:cNvSpPr>
          <p:nvPr>
            <p:ph idx="1"/>
          </p:nvPr>
        </p:nvSpPr>
        <p:spPr/>
        <p:txBody>
          <a:bodyPr>
            <a:noAutofit/>
          </a:bodyPr>
          <a:lstStyle/>
          <a:p>
            <a:pPr algn="just"/>
            <a:r>
              <a:rPr lang="en-US" sz="2400" b="1" dirty="0" smtClean="0"/>
              <a:t>when a young person  committed an offence. he shall be taken immediately before the nearest Woreda Court .</a:t>
            </a:r>
          </a:p>
          <a:p>
            <a:pPr algn="just"/>
            <a:r>
              <a:rPr lang="en-US" sz="2400" b="1" dirty="0" smtClean="0"/>
              <a:t>The court shall ask the person bringing the young person to state the particulars  or to make a formal complaint.</a:t>
            </a:r>
          </a:p>
          <a:p>
            <a:pPr algn="just"/>
            <a:r>
              <a:rPr lang="en-US" sz="2400" b="1" dirty="0" smtClean="0"/>
              <a:t>The court may give the police instructions to   investigate.</a:t>
            </a:r>
          </a:p>
          <a:p>
            <a:pPr algn="just"/>
            <a:r>
              <a:rPr lang="en-US" sz="2400" b="1" dirty="0" smtClean="0"/>
              <a:t>When the offence is punishable with rigorous imprisonment  above  ten years or with death, the  prosecutor will be directed to frame  a charge.</a:t>
            </a:r>
          </a:p>
          <a:p>
            <a:pPr algn="just"/>
            <a:r>
              <a:rPr lang="en-US" sz="2400" b="1" dirty="0" smtClean="0"/>
              <a:t>When adjourned or transfer to a higher court is must. the young person shall be handed to his parents, or  any such person who shall be responsible for ensuring his attendance at the trial.</a:t>
            </a:r>
            <a:endParaRPr lang="en-US" sz="2400" b="1" dirty="0"/>
          </a:p>
        </p:txBody>
      </p:sp>
    </p:spTree>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smtClean="0">
                <a:solidFill>
                  <a:srgbClr val="00B050"/>
                </a:solidFill>
              </a:rPr>
              <a:t>Summoning of young person's guardian and assistance( Art. 173-175)</a:t>
            </a:r>
            <a:endParaRPr lang="en-US" sz="3600" b="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smtClean="0"/>
              <a:t>Where the young person is brought before a court and his parent,  or guardian are not present, the court shall require their appearance .</a:t>
            </a:r>
            <a:endParaRPr lang="en-US" b="1" i="1" dirty="0" smtClean="0"/>
          </a:p>
          <a:p>
            <a:pPr algn="just"/>
            <a:r>
              <a:rPr lang="en-US" b="1" dirty="0" smtClean="0"/>
              <a:t>The court shall appoint an advocate to assist  where:</a:t>
            </a:r>
          </a:p>
          <a:p>
            <a:pPr lvl="1" algn="just">
              <a:buFont typeface="Wingdings" pitchFamily="2" charset="2"/>
              <a:buChar char="Ø"/>
            </a:pPr>
            <a:r>
              <a:rPr lang="en-US" b="1" dirty="0" smtClean="0"/>
              <a:t>No parent, guardian or other person in loco parentis appears to represent the young person, or</a:t>
            </a:r>
          </a:p>
          <a:p>
            <a:pPr lvl="1" algn="just">
              <a:buFont typeface="Wingdings" pitchFamily="2" charset="2"/>
              <a:buChar char="Ø"/>
            </a:pPr>
            <a:r>
              <a:rPr lang="en-US" b="1" dirty="0" smtClean="0"/>
              <a:t>The young person is charged with an offence punishable with rigorous imprisonment exceeding ten years or with death.</a:t>
            </a:r>
            <a:r>
              <a:rPr lang="en-US" b="1" i="1" dirty="0" smtClean="0"/>
              <a:t>(Art. 174) </a:t>
            </a:r>
          </a:p>
          <a:p>
            <a:pPr algn="just"/>
            <a:r>
              <a:rPr lang="en-US" b="1" dirty="0" smtClean="0"/>
              <a:t>Where any evidence or comments, which are undesirable that the young person should hear,  are being made he shall be removed from the chambers (</a:t>
            </a:r>
            <a:r>
              <a:rPr lang="en-US" b="1" i="1" dirty="0" smtClean="0"/>
              <a:t>Art.175) </a:t>
            </a:r>
            <a:endParaRPr lang="en-US" b="1"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Hearing( Art.176) </a:t>
            </a:r>
            <a:endParaRPr lang="en-US" b="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Proceeding shall be held in chambers and informally. Nobody shall be present at any hearing except witnesses, experts, the parent or guardian or representatives of welfare organizations; the prosecutor shall be present at High Court.</a:t>
            </a:r>
          </a:p>
          <a:p>
            <a:pPr algn="just"/>
            <a:r>
              <a:rPr lang="en-US" sz="2400" b="1" dirty="0" smtClean="0"/>
              <a:t>The accusation shall be read out and he shall answer.</a:t>
            </a:r>
          </a:p>
          <a:p>
            <a:pPr algn="just"/>
            <a:r>
              <a:rPr lang="en-US" sz="2400" b="1" dirty="0" smtClean="0"/>
              <a:t>If  the accused fully understands and admits the accusation, the court shall record and may convict him immediately and when no admission both sides call witnesses which will be examined by court and cross-examined by the defense.</a:t>
            </a:r>
          </a:p>
          <a:p>
            <a:pPr algn="just"/>
            <a:r>
              <a:rPr lang="en-US" sz="2400" b="1" dirty="0" smtClean="0"/>
              <a:t>When the evidence is concluded, the defense may sum up and  the court shall give judgment.</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solidFill>
                  <a:srgbClr val="00B050"/>
                </a:solidFill>
              </a:rPr>
              <a:t>Judgments and</a:t>
            </a:r>
            <a:r>
              <a:rPr lang="en-US" sz="3600" b="1" i="1" dirty="0" smtClean="0">
                <a:solidFill>
                  <a:srgbClr val="00B050"/>
                </a:solidFill>
              </a:rPr>
              <a:t> Orders against parents and guardians.( Art 177&amp; 178)</a:t>
            </a:r>
            <a:r>
              <a:rPr lang="en-US" sz="3600" b="1" dirty="0" smtClean="0">
                <a:solidFill>
                  <a:srgbClr val="00B050"/>
                </a:solidFill>
              </a:rPr>
              <a:t> </a:t>
            </a:r>
            <a:endParaRPr lang="en-US" sz="3600" b="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Where he is found guilty, the court shall impose the appropriate measure or penalty  (</a:t>
            </a:r>
            <a:r>
              <a:rPr lang="en-US" sz="2400" b="1" i="1" dirty="0" smtClean="0"/>
              <a:t>Art. 177)</a:t>
            </a:r>
            <a:endParaRPr lang="en-US" sz="2400" b="1" dirty="0" smtClean="0"/>
          </a:p>
          <a:p>
            <a:pPr algn="just"/>
            <a:r>
              <a:rPr lang="en-US" sz="2400" b="1" dirty="0" smtClean="0"/>
              <a:t>The court may call any person, with a view to obtaining information concerning the character of the young person.</a:t>
            </a:r>
          </a:p>
          <a:p>
            <a:pPr algn="just"/>
            <a:r>
              <a:rPr lang="en-US" sz="2400" b="1" dirty="0" smtClean="0"/>
              <a:t> The defense may reply  on the same issue and as to sentence. Judgment shall be given as in ordinary cases. </a:t>
            </a:r>
          </a:p>
          <a:p>
            <a:pPr algn="just"/>
            <a:r>
              <a:rPr lang="en-US" sz="2400" b="1" dirty="0" smtClean="0"/>
              <a:t>The court shall explain its decision to the young person and warn him against further misconduct.</a:t>
            </a:r>
            <a:endParaRPr lang="en-US" sz="2400" b="1" i="1" dirty="0" smtClean="0"/>
          </a:p>
          <a:p>
            <a:pPr algn="just"/>
            <a:r>
              <a:rPr lang="en-US" sz="2400" b="1" dirty="0" smtClean="0"/>
              <a:t>Where it thinks fit the court may warn or blame the parents or other persons where it appears that they have failed to carry out their duties.(</a:t>
            </a:r>
            <a:r>
              <a:rPr lang="en-US" sz="2400" b="1" i="1" dirty="0" smtClean="0"/>
              <a:t> Art. 178.) </a:t>
            </a:r>
            <a:endParaRPr lang="en-US" sz="2400" b="1" dirty="0" smtClean="0"/>
          </a:p>
          <a:p>
            <a:pPr algn="just"/>
            <a:endParaRPr lang="en-US" sz="2400" b="1"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B050"/>
                </a:solidFill>
              </a:rPr>
              <a:t>CHAPTER EIGHT</a:t>
            </a:r>
            <a:r>
              <a:rPr lang="en-US" dirty="0" smtClean="0"/>
              <a:t/>
            </a:r>
            <a:br>
              <a:rPr lang="en-US" dirty="0" smtClean="0"/>
            </a:br>
            <a:r>
              <a:rPr lang="en-US" b="1" dirty="0" smtClean="0">
                <a:solidFill>
                  <a:srgbClr val="0070C0"/>
                </a:solidFill>
              </a:rPr>
              <a:t>POST JUDGMENT PROCEEDINGS</a:t>
            </a:r>
            <a:endParaRPr lang="en-US" dirty="0">
              <a:solidFill>
                <a:srgbClr val="0070C0"/>
              </a:solidFill>
            </a:endParaRPr>
          </a:p>
        </p:txBody>
      </p:sp>
      <p:sp>
        <p:nvSpPr>
          <p:cNvPr id="3" name="Content Placeholder 2"/>
          <p:cNvSpPr>
            <a:spLocks noGrp="1"/>
          </p:cNvSpPr>
          <p:nvPr>
            <p:ph idx="1"/>
          </p:nvPr>
        </p:nvSpPr>
        <p:spPr/>
        <p:txBody>
          <a:bodyPr>
            <a:noAutofit/>
          </a:bodyPr>
          <a:lstStyle/>
          <a:p>
            <a:pPr algn="just"/>
            <a:r>
              <a:rPr lang="en-US" sz="2800" b="1" i="1" dirty="0" smtClean="0">
                <a:solidFill>
                  <a:srgbClr val="7030A0"/>
                </a:solidFill>
              </a:rPr>
              <a:t>Introduction</a:t>
            </a:r>
          </a:p>
          <a:p>
            <a:pPr algn="just"/>
            <a:r>
              <a:rPr lang="en-US" sz="2800" b="1" dirty="0" smtClean="0"/>
              <a:t>The court then follows the procedures and finally decides the case. The parties may not be satisfied with the decision.</a:t>
            </a:r>
          </a:p>
          <a:p>
            <a:pPr algn="just"/>
            <a:r>
              <a:rPr lang="en-US" sz="2800" b="1" dirty="0" smtClean="0"/>
              <a:t>The public prosecutor may not be happy because the accused is acquitted or discharged or has been convicted  or a lesser penalty has been imposed.</a:t>
            </a:r>
          </a:p>
          <a:p>
            <a:pPr algn="just"/>
            <a:r>
              <a:rPr lang="en-US" sz="2800" b="1" dirty="0" smtClean="0"/>
              <a:t>The accused may not be happy on the conviction or   the penalty is more than what he actually deserves. </a:t>
            </a:r>
          </a:p>
          <a:p>
            <a:pPr algn="just"/>
            <a:r>
              <a:rPr lang="en-US" sz="2800" b="1" dirty="0" smtClean="0"/>
              <a:t>The parties may , then, look for the </a:t>
            </a:r>
            <a:r>
              <a:rPr lang="en-US" sz="2800" b="1" i="1" dirty="0" smtClean="0"/>
              <a:t>review</a:t>
            </a:r>
            <a:r>
              <a:rPr lang="en-US" sz="2800" b="1" dirty="0" smtClean="0"/>
              <a:t> of the judgment.   </a:t>
            </a:r>
          </a:p>
          <a:p>
            <a:pPr algn="just"/>
            <a:endParaRPr lang="en-US" sz="2800" b="1" dirty="0"/>
          </a:p>
        </p:txBody>
      </p:sp>
    </p:spTree>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100" b="1" i="1" dirty="0" smtClean="0">
                <a:solidFill>
                  <a:srgbClr val="00B050"/>
                </a:solidFill>
              </a:rPr>
              <a:t>Right of Appeal and Powers Appellate Court</a:t>
            </a:r>
            <a:r>
              <a:rPr lang="en-US" b="1" i="1" dirty="0" smtClean="0">
                <a:solidFill>
                  <a:srgbClr val="00B050"/>
                </a:solidFill>
              </a:rPr>
              <a:t>.</a:t>
            </a:r>
            <a:endParaRPr lang="en-US" dirty="0"/>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q"/>
            </a:pPr>
            <a:r>
              <a:rPr lang="en-US" b="1" i="1" dirty="0" smtClean="0"/>
              <a:t>What is meant by interlocutory matter?</a:t>
            </a:r>
            <a:endParaRPr lang="en-US" b="1" dirty="0" smtClean="0"/>
          </a:p>
          <a:p>
            <a:pPr algn="just"/>
            <a:r>
              <a:rPr lang="en-US" b="1" dirty="0" smtClean="0"/>
              <a:t>Interlocutory decisions are decisions which do not dispose  a case finally.</a:t>
            </a:r>
          </a:p>
          <a:p>
            <a:pPr algn="just"/>
            <a:r>
              <a:rPr lang="en-US" b="1" dirty="0" smtClean="0"/>
              <a:t>No appeal lies from interlocutory matters  such as.</a:t>
            </a:r>
          </a:p>
          <a:p>
            <a:pPr lvl="1" algn="just">
              <a:buFont typeface="Wingdings" pitchFamily="2" charset="2"/>
              <a:buChar char="Ø"/>
            </a:pPr>
            <a:r>
              <a:rPr lang="en-US" b="1" dirty="0" smtClean="0"/>
              <a:t>Granting or refusing an adjournment under Art 94; or</a:t>
            </a:r>
          </a:p>
          <a:p>
            <a:pPr lvl="1" algn="just">
              <a:buFont typeface="Wingdings" pitchFamily="2" charset="2"/>
              <a:buChar char="Ø"/>
            </a:pPr>
            <a:r>
              <a:rPr lang="en-US" b="1" dirty="0" smtClean="0"/>
              <a:t>Preliminary objection under Art 130; or </a:t>
            </a:r>
          </a:p>
          <a:p>
            <a:pPr lvl="1" algn="just">
              <a:buFont typeface="Wingdings" pitchFamily="2" charset="2"/>
              <a:buChar char="Ø"/>
            </a:pPr>
            <a:r>
              <a:rPr lang="en-US" b="1" dirty="0" smtClean="0"/>
              <a:t>Regarding the admissibility or non admissibility of evidences.( Art.184)</a:t>
            </a:r>
          </a:p>
          <a:p>
            <a:pPr algn="just"/>
            <a:r>
              <a:rPr lang="en-US" b="1" dirty="0" smtClean="0"/>
              <a:t>Such decisions, however, may be ground of appeal where an appeal is lodged against conviction, discharge or acquittal.</a:t>
            </a:r>
          </a:p>
        </p:txBody>
      </p:sp>
    </p:spTree>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Who can  Appeal? on what?( Art 185)</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accused may appeal against his conviction and sentence.</a:t>
            </a:r>
          </a:p>
          <a:p>
            <a:pPr algn="just"/>
            <a:r>
              <a:rPr lang="en-US" sz="2400" b="1" dirty="0" smtClean="0"/>
              <a:t>But the accused cannot appeal against a conviction based on his plea except on the extent or the legality of the sentence.</a:t>
            </a:r>
          </a:p>
          <a:p>
            <a:pPr algn="just"/>
            <a:r>
              <a:rPr lang="en-US" sz="2400" b="1" dirty="0" smtClean="0"/>
              <a:t>The public prosecutor may appeal against a judgment of acquittal, discharge  or   inadequacy of sentence.</a:t>
            </a:r>
          </a:p>
          <a:p>
            <a:pPr algn="just"/>
            <a:r>
              <a:rPr lang="en-US" sz="2400" b="1" dirty="0" smtClean="0"/>
              <a:t>Young or incapable person must appeal through his legal representative.</a:t>
            </a:r>
          </a:p>
          <a:p>
            <a:pPr algn="just"/>
            <a:r>
              <a:rPr lang="en-US" sz="2400" b="1" dirty="0" smtClean="0"/>
              <a:t>Notice of appeal against a judgment shall be given within fifteen days of the delivery of the judgment.( Art 187(1)</a:t>
            </a:r>
          </a:p>
          <a:p>
            <a:pPr algn="just"/>
            <a:r>
              <a:rPr lang="en-US" sz="2400" b="1" dirty="0" smtClean="0"/>
              <a:t>The appeal shall be filed within thirty days of the receipt of the copy of the decision appealed against to the  same court.</a:t>
            </a:r>
          </a:p>
          <a:p>
            <a:pPr algn="just"/>
            <a:r>
              <a:rPr lang="en-US" sz="2400" b="1" dirty="0" smtClean="0"/>
              <a:t>The court against whose judgment appealed  shall send the appeal within fifteen days to the court of appeal(Art. 190(1)</a:t>
            </a:r>
            <a:endParaRPr lang="en-US" sz="2400" b="1"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Stay of execution(Art. 188) </a:t>
            </a:r>
            <a:endParaRPr lang="en-US" b="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t>An application for stay of execution may be made to the court of appeal at any time before the appeal is heard or at the hearing of the appeal.</a:t>
            </a:r>
          </a:p>
          <a:p>
            <a:pPr algn="just"/>
            <a:r>
              <a:rPr lang="en-US" b="1" dirty="0" smtClean="0"/>
              <a:t>Where an accused person is released on bail  no sentence of imprisonment shall commence until the court of appeal delivers its judgment.</a:t>
            </a:r>
          </a:p>
          <a:p>
            <a:pPr algn="just"/>
            <a:r>
              <a:rPr lang="en-US" b="1" dirty="0" smtClean="0"/>
              <a:t>Any measures which have been ordered by the court  shall be carried out notwithstanding an appeal.</a:t>
            </a:r>
          </a:p>
          <a:p>
            <a:pPr algn="just"/>
            <a:r>
              <a:rPr lang="en-US" b="1" dirty="0" smtClean="0"/>
              <a:t> No  stay of execution in respect of the payment of compensation or costs.</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Contents of memorandum of appeal (Art. 189)</a:t>
            </a:r>
            <a:endParaRPr lang="en-US" b="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memorandum of appeal shall set forth concisely and under distinct heads the grounds of objection to the judgment appealed against without any arguments and must be</a:t>
            </a:r>
          </a:p>
          <a:p>
            <a:pPr lvl="2" algn="just">
              <a:buFont typeface="Wingdings" pitchFamily="2" charset="2"/>
              <a:buChar char="Ø"/>
            </a:pPr>
            <a:r>
              <a:rPr lang="en-US" b="1" dirty="0" smtClean="0"/>
              <a:t>Numbered consecutively.</a:t>
            </a:r>
          </a:p>
          <a:p>
            <a:pPr lvl="2" algn="just">
              <a:buFont typeface="Wingdings" pitchFamily="2" charset="2"/>
              <a:buChar char="Ø"/>
            </a:pPr>
            <a:r>
              <a:rPr lang="en-US" b="1" dirty="0" smtClean="0"/>
              <a:t>Accompanied by a copy of the judgment. </a:t>
            </a:r>
          </a:p>
          <a:p>
            <a:pPr lvl="2" algn="just">
              <a:buFont typeface="Wingdings" pitchFamily="2" charset="2"/>
              <a:buChar char="Ø"/>
            </a:pPr>
            <a:r>
              <a:rPr lang="en-US" b="1" dirty="0" smtClean="0"/>
              <a:t>State the nature of the relief that is sought.</a:t>
            </a:r>
          </a:p>
          <a:p>
            <a:pPr algn="just"/>
            <a:r>
              <a:rPr lang="en-US" sz="2400" b="1" dirty="0" smtClean="0"/>
              <a:t>Finally, it shall be signed by the appellant and his advocate.</a:t>
            </a:r>
          </a:p>
          <a:p>
            <a:pPr algn="just"/>
            <a:r>
              <a:rPr lang="en-US" sz="2400" b="1" dirty="0" smtClean="0"/>
              <a:t>If the case has been tried by regional high court in its delegated jurisdiction appeal lies to the Regional S/Court. </a:t>
            </a:r>
          </a:p>
          <a:p>
            <a:pPr algn="just"/>
            <a:r>
              <a:rPr lang="en-US" sz="2400" b="1" dirty="0" smtClean="0"/>
              <a:t>Once the case is taken to the Supreme Court, both Federal and Regional no appeal lies but a possibility for cassation</a:t>
            </a:r>
          </a:p>
          <a:p>
            <a:pPr algn="just">
              <a:buNone/>
            </a:pPr>
            <a:endParaRPr lang="en-US" sz="2400" b="1" dirty="0" smtClean="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Second Appeal lies only if the decision of the lower court is varied.</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buFont typeface="Wingdings" pitchFamily="2" charset="2"/>
              <a:buChar char="§"/>
            </a:pPr>
            <a:r>
              <a:rPr lang="en-US" sz="2400" b="1" dirty="0" smtClean="0"/>
              <a:t>A person can make an appeal from the decision of Federal First Instance Court to Federal High Court and from decision of the Federal High Court to Federal Supreme Court. </a:t>
            </a:r>
          </a:p>
          <a:p>
            <a:pPr algn="just">
              <a:buFont typeface="Wingdings" pitchFamily="2" charset="2"/>
              <a:buChar char="§"/>
            </a:pPr>
            <a:r>
              <a:rPr lang="en-US" sz="2400" b="1" dirty="0" smtClean="0"/>
              <a:t>However, there is what we call “second appeal” on matters that were decided by Federal First Instance Court. That is if the Federal High Court, in its appellate jurisdiction varies or reverses the decision of the Federal First Instance Court. </a:t>
            </a:r>
          </a:p>
          <a:p>
            <a:pPr algn="just">
              <a:buFont typeface="Wingdings" pitchFamily="2" charset="2"/>
              <a:buChar char="§"/>
            </a:pPr>
            <a:r>
              <a:rPr lang="en-US" sz="2400" b="1" dirty="0" smtClean="0"/>
              <a:t>Whatever the decision of the Federal Supreme Court may be, its decision is final  and legal. </a:t>
            </a:r>
          </a:p>
          <a:p>
            <a:pPr algn="just">
              <a:buFont typeface="Wingdings" pitchFamily="2" charset="2"/>
              <a:buChar char="§"/>
            </a:pPr>
            <a:r>
              <a:rPr lang="en-US" sz="2400" b="1" dirty="0" smtClean="0"/>
              <a:t>If the Federal High Court, on the other hand, confirms the decision of the Federal First Instance Court, however, there is no second appeal to the Federal Supreme Court.</a:t>
            </a:r>
          </a:p>
        </p:txBody>
      </p:sp>
    </p:spTree>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Procedures After the Receipt of Appeal</a:t>
            </a:r>
            <a:endParaRPr lang="en-US" sz="3600"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Up on receipt of the memorandum of appeal, if the appeal is based on the record of the court and, if the court, after going through the documents produced, is satisfied that the grounds of the appeal are not justified, some argue that, the court may dismiss the case even without calling the respondent. </a:t>
            </a:r>
          </a:p>
          <a:p>
            <a:pPr algn="just"/>
            <a:r>
              <a:rPr lang="en-US" sz="2400" b="1" dirty="0" smtClean="0"/>
              <a:t>Where the appellant relies on other things such as calling additional witnesses or producing other evidences, a copy of the statement of appeal shall be served on the respondent.</a:t>
            </a:r>
          </a:p>
          <a:p>
            <a:pPr algn="just"/>
            <a:r>
              <a:rPr lang="en-US" sz="2400" b="1" dirty="0" smtClean="0"/>
              <a:t>In dealing with an appeal the court of appeal, if it thinks additional evidence is necessary, shall record its reasons and may take such evidence itself. such evidence shall be taken as if it were evidence taken at the trial in the court of first instance.( Art 194)</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Appeal out of time</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Though the law specified the period within which a person could legally file his appeal, it may not be possible for the appellants to do so because of some reasons in which case appellants file an </a:t>
            </a:r>
            <a:r>
              <a:rPr lang="en-US" sz="2400" b="1" i="1" dirty="0" smtClean="0"/>
              <a:t>application for leave to appeal out of time.(</a:t>
            </a:r>
            <a:r>
              <a:rPr lang="en-US" sz="2400" b="1" dirty="0" smtClean="0"/>
              <a:t> Art 191) </a:t>
            </a:r>
            <a:endParaRPr lang="en-US" sz="2400" b="1" i="1" dirty="0" smtClean="0"/>
          </a:p>
          <a:p>
            <a:pPr algn="just"/>
            <a:r>
              <a:rPr lang="en-US" sz="2400" b="1" dirty="0" smtClean="0"/>
              <a:t>The appellate court may grant the appellant lodge his appeal out of time provided by the law if it is satisfied with the reasons the appellant stated in his application. </a:t>
            </a:r>
          </a:p>
          <a:p>
            <a:pPr algn="just"/>
            <a:r>
              <a:rPr lang="en-US" sz="2400" b="1" dirty="0" smtClean="0"/>
              <a:t>The court must be satisfied that the cause for the appellants delay is not within his control. </a:t>
            </a:r>
          </a:p>
          <a:p>
            <a:pPr algn="just"/>
            <a:r>
              <a:rPr lang="en-US" sz="2400" b="1" dirty="0" smtClean="0"/>
              <a:t>Whilst the court grants leave to appeal out of time, it shall fix the date within which the memorandum of appeal be field to the registrar.</a:t>
            </a:r>
          </a:p>
          <a:p>
            <a:pPr algn="just">
              <a:buNone/>
            </a:pPr>
            <a:endParaRPr lang="en-US" sz="2400" b="1"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Failure to Appear(Art.193) </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If appeal is field to the court, the later shall fix the date for hearing and the parties be notified of such date so that they can appear. </a:t>
            </a:r>
          </a:p>
          <a:p>
            <a:pPr algn="just"/>
            <a:r>
              <a:rPr lang="en-US" sz="2400" b="1" dirty="0" smtClean="0"/>
              <a:t>It is the appellant who shall normally open his case then, the respondent reply and the appellant be given to reply.</a:t>
            </a:r>
          </a:p>
          <a:p>
            <a:pPr algn="just"/>
            <a:r>
              <a:rPr lang="en-US" sz="2400" b="1" dirty="0" smtClean="0"/>
              <a:t> If the appellant fail to appear, the appeal shall be struck off, unless he can show reasons beyond his control.</a:t>
            </a:r>
          </a:p>
          <a:p>
            <a:pPr algn="just"/>
            <a:r>
              <a:rPr lang="en-US" sz="2400" b="1" dirty="0" smtClean="0"/>
              <a:t>If the respondent fails to appear, it will be heard in absence.</a:t>
            </a:r>
          </a:p>
          <a:p>
            <a:pPr algn="just"/>
            <a:r>
              <a:rPr lang="en-US" sz="2400" b="1" dirty="0" smtClean="0"/>
              <a:t>Appeal is based on facts and evidences raised during the lower court but if the appellate court deems the production of additional evidences necessary, it may order the production of such additional evidences on its own motion or the application of the parties to this effect.9Art 194)</a:t>
            </a:r>
          </a:p>
          <a:p>
            <a:endParaRPr lang="en-US" sz="2400" b="1"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00B050"/>
                </a:solidFill>
              </a:rPr>
              <a:t>Power of the appellate court(Art.195(2))</a:t>
            </a:r>
            <a:endParaRPr lang="en-US" sz="3600" b="1" i="1"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smtClean="0"/>
              <a:t>On an appeal from an order of acquittal or discharge reverse such order and direct that the accused be tried by a court of competent jurisdiction or find him guilty and sentence him according to the law.</a:t>
            </a:r>
          </a:p>
          <a:p>
            <a:pPr algn="just"/>
            <a:r>
              <a:rPr lang="en-US" b="1" dirty="0" smtClean="0"/>
              <a:t>On an appeal from conviction and sentence  reverse the finding and sentence  and acquit the accused.</a:t>
            </a:r>
          </a:p>
          <a:p>
            <a:pPr algn="just"/>
            <a:r>
              <a:rPr lang="en-US" b="1" dirty="0" smtClean="0"/>
              <a:t>On an appeal from conviction and sentence with or without altering the finding maintain, increase or reduce the sentence.</a:t>
            </a:r>
          </a:p>
          <a:p>
            <a:pPr algn="just"/>
            <a:r>
              <a:rPr lang="en-US" b="1" dirty="0" smtClean="0"/>
              <a:t>On an appeal from conviction only reverse the finding and sentence and acquit the accused.</a:t>
            </a:r>
          </a:p>
          <a:p>
            <a:pPr algn="just"/>
            <a:r>
              <a:rPr lang="en-US" b="1" dirty="0" smtClean="0"/>
              <a:t>On an appeal from the sentence, only maintain, increase or reduce the sentence.</a:t>
            </a:r>
          </a:p>
          <a:p>
            <a:pPr algn="just"/>
            <a:endParaRPr lang="en-US" b="1" dirty="0" smtClean="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Several convicted persons ( Art.196)</a:t>
            </a:r>
            <a:endParaRPr lang="en-US" b="1" i="1" dirty="0">
              <a:solidFill>
                <a:srgbClr val="00B050"/>
              </a:solidFill>
            </a:endParaRPr>
          </a:p>
        </p:txBody>
      </p:sp>
      <p:sp>
        <p:nvSpPr>
          <p:cNvPr id="3" name="Content Placeholder 2"/>
          <p:cNvSpPr>
            <a:spLocks noGrp="1"/>
          </p:cNvSpPr>
          <p:nvPr>
            <p:ph idx="1"/>
          </p:nvPr>
        </p:nvSpPr>
        <p:spPr/>
        <p:txBody>
          <a:bodyPr>
            <a:normAutofit lnSpcReduction="10000"/>
          </a:bodyPr>
          <a:lstStyle/>
          <a:p>
            <a:pPr algn="just"/>
            <a:r>
              <a:rPr lang="en-US" b="1" dirty="0" smtClean="0"/>
              <a:t>Sometimes an appeal may concern several convicted persons but only one of them lodged the appeal, the court may order that the judgment be applied also to the other convicted persons as though they had appealed where</a:t>
            </a:r>
          </a:p>
          <a:p>
            <a:pPr lvl="1" algn="just">
              <a:buFont typeface="Wingdings" pitchFamily="2" charset="2"/>
              <a:buChar char="Ø"/>
            </a:pPr>
            <a:r>
              <a:rPr lang="en-US" b="1" dirty="0" smtClean="0"/>
              <a:t> the judgment is to the benefit to the appellant ; and,</a:t>
            </a:r>
          </a:p>
          <a:p>
            <a:pPr lvl="1" algn="just">
              <a:buFont typeface="Wingdings" pitchFamily="2" charset="2"/>
              <a:buChar char="Ø"/>
            </a:pPr>
            <a:r>
              <a:rPr lang="en-US" b="1" dirty="0" smtClean="0"/>
              <a:t> had the accused been appealed they would have been benefited similarly.(Art.196)</a:t>
            </a:r>
          </a:p>
          <a:p>
            <a:pPr algn="just"/>
            <a:r>
              <a:rPr lang="en-US" b="1" dirty="0" smtClean="0"/>
              <a:t> </a:t>
            </a:r>
            <a:r>
              <a:rPr lang="en-US" b="1" i="1" dirty="0" smtClean="0">
                <a:solidFill>
                  <a:srgbClr val="7030A0"/>
                </a:solidFill>
              </a:rPr>
              <a:t>Do you think that the appellant court can render decision which is prejudicial to the appellant?</a:t>
            </a:r>
            <a:endParaRPr lang="en-US" b="1" dirty="0" smtClean="0"/>
          </a:p>
          <a:p>
            <a:endParaRPr lang="en-US"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solidFill>
                  <a:srgbClr val="00B050"/>
                </a:solidFill>
              </a:rPr>
              <a:t>Review in cassation </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The parties  in dispute may not be  satisfied with the decisions of the appellate court. </a:t>
            </a:r>
          </a:p>
          <a:p>
            <a:pPr algn="just"/>
            <a:r>
              <a:rPr lang="en-US" sz="2400" b="1" dirty="0" smtClean="0"/>
              <a:t>The law devises a mechanism for review of cases finally decided by way of cassation.</a:t>
            </a:r>
          </a:p>
          <a:p>
            <a:pPr algn="just"/>
            <a:r>
              <a:rPr lang="en-US" sz="2400" b="1" dirty="0" smtClean="0"/>
              <a:t>Review of cases by cassation is the power of the supreme judicial bodies be it federal or regional.</a:t>
            </a:r>
          </a:p>
          <a:p>
            <a:pPr algn="just"/>
            <a:r>
              <a:rPr lang="en-US" sz="2400" b="1" dirty="0" smtClean="0"/>
              <a:t>Thus, it is the power of the federal or regional supreme courts to review cases that were finally decided by subordinate courts or itself and exhausted appeal.</a:t>
            </a:r>
          </a:p>
          <a:p>
            <a:pPr algn="just"/>
            <a:r>
              <a:rPr lang="en-US" sz="2400" b="1" dirty="0" smtClean="0"/>
              <a:t>The supreme federal judicial authority is vested in the Federal Supreme Court and thus, it has the power of cassation over any final court decision containing basic error of law</a:t>
            </a:r>
            <a:r>
              <a:rPr lang="en-US" sz="2400" b="1" smtClean="0"/>
              <a:t>.(</a:t>
            </a:r>
            <a:r>
              <a:rPr lang="en-US" sz="2400" b="1" i="1" smtClean="0">
                <a:solidFill>
                  <a:srgbClr val="FF0000"/>
                </a:solidFill>
              </a:rPr>
              <a:t>Art.80/3/A</a:t>
            </a:r>
            <a:r>
              <a:rPr lang="en-US" sz="2400" b="1" smtClean="0"/>
              <a:t> </a:t>
            </a:r>
            <a:r>
              <a:rPr lang="en-US" sz="2400" b="1" dirty="0" smtClean="0"/>
              <a:t>of the FDRE Co.)</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Power of cassation</a:t>
            </a:r>
            <a:endParaRPr lang="en-US" b="1" i="1" dirty="0">
              <a:solidFill>
                <a:srgbClr val="00B050"/>
              </a:solidFill>
            </a:endParaRPr>
          </a:p>
        </p:txBody>
      </p:sp>
      <p:sp>
        <p:nvSpPr>
          <p:cNvPr id="3" name="Content Placeholder 2"/>
          <p:cNvSpPr>
            <a:spLocks noGrp="1"/>
          </p:cNvSpPr>
          <p:nvPr>
            <p:ph idx="1"/>
          </p:nvPr>
        </p:nvSpPr>
        <p:spPr/>
        <p:txBody>
          <a:bodyPr>
            <a:normAutofit fontScale="85000" lnSpcReduction="20000"/>
          </a:bodyPr>
          <a:lstStyle/>
          <a:p>
            <a:pPr algn="just"/>
            <a:r>
              <a:rPr lang="en-US" b="1" dirty="0" smtClean="0"/>
              <a:t>Decisions over which the Federal Supreme Court has cassation power are listed under </a:t>
            </a:r>
            <a:r>
              <a:rPr lang="en-US" b="1" i="1" dirty="0" smtClean="0">
                <a:solidFill>
                  <a:srgbClr val="FF0000"/>
                </a:solidFill>
              </a:rPr>
              <a:t>Art 80/3/a/ of the FDRE Constitution  and  Art. 10 of proc. 25/96 as</a:t>
            </a:r>
            <a:r>
              <a:rPr lang="en-US" b="1" dirty="0" smtClean="0"/>
              <a:t>:</a:t>
            </a:r>
          </a:p>
          <a:p>
            <a:pPr lvl="1" algn="just">
              <a:buFont typeface="Wingdings" pitchFamily="2" charset="2"/>
              <a:buChar char="Ø"/>
            </a:pPr>
            <a:r>
              <a:rPr lang="en-US" b="1" dirty="0" smtClean="0"/>
              <a:t>Final decision of the Federal High Court rendered in its appellate jurisdiction;</a:t>
            </a:r>
          </a:p>
          <a:p>
            <a:pPr lvl="1" algn="just">
              <a:buFont typeface="Wingdings" pitchFamily="2" charset="2"/>
              <a:buChar char="Ø"/>
            </a:pPr>
            <a:r>
              <a:rPr lang="en-US" b="1" dirty="0" smtClean="0"/>
              <a:t>Final decision of the regular division of the Federal Supreme Court; and</a:t>
            </a:r>
          </a:p>
          <a:p>
            <a:pPr lvl="1" algn="just">
              <a:buFont typeface="Wingdings" pitchFamily="2" charset="2"/>
              <a:buChar char="Ø"/>
            </a:pPr>
            <a:r>
              <a:rPr lang="en-US" b="1" dirty="0" smtClean="0"/>
              <a:t>Final decision of the regional supreme court rendered as a regular division or in its appellate jurisdiction.</a:t>
            </a:r>
          </a:p>
          <a:p>
            <a:pPr algn="just"/>
            <a:r>
              <a:rPr lang="en-US" b="1" dirty="0" smtClean="0"/>
              <a:t>For the Federal Supreme Court to review a case by cassation, first the case must be finally decided by the subordinate court or by itself as in the cases discussed above and the decision should contain fundamental error or law.</a:t>
            </a:r>
          </a:p>
          <a:p>
            <a:pPr algn="just"/>
            <a:endParaRPr lang="en-US" b="1" dirty="0" smtClean="0"/>
          </a:p>
          <a:p>
            <a:pPr algn="just"/>
            <a:endParaRPr lang="en-US" b="1"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What are the Conditions?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To see whether the conditions required for a case to be reviewed by cassation are fulfilled or not, a panel of three judges of the Federal Supreme Court sees the application.</a:t>
            </a:r>
          </a:p>
          <a:p>
            <a:pPr algn="just"/>
            <a:r>
              <a:rPr lang="en-US" sz="2400" b="1" dirty="0" smtClean="0"/>
              <a:t>The three judges evaluate whether there is a fundamental error of law, in the absence of which they shall reject .</a:t>
            </a:r>
          </a:p>
          <a:p>
            <a:pPr algn="just"/>
            <a:r>
              <a:rPr lang="en-US" sz="2400" b="1" dirty="0" smtClean="0"/>
              <a:t>In doing so they are making a kind of some preliminary selection of cases which may be reviewed by cassation. </a:t>
            </a:r>
          </a:p>
          <a:p>
            <a:pPr algn="just"/>
            <a:r>
              <a:rPr lang="en-US" sz="2400" b="1" dirty="0" smtClean="0"/>
              <a:t>Thus, the application should contain the reasons for claiming the grounds for review by cassation i.e. there is a fundamental error of law in the final judgment against which review is claimed in which it is implicit that appeal has been exhausted and the case has been finally decided.</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solidFill>
                  <a:srgbClr val="00B050"/>
                </a:solidFill>
              </a:rPr>
              <a:t>What  is fundamental error of law?</a:t>
            </a:r>
            <a:r>
              <a:rPr lang="en-US" b="1" dirty="0" smtClean="0">
                <a:solidFill>
                  <a:srgbClr val="00B050"/>
                </a:solidFill>
              </a:rPr>
              <a:t>  </a:t>
            </a:r>
            <a:endParaRPr lang="en-US"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An application for review of a case by way  of cassation shall be filed within ninety days from the date of final judgment against which the applicant is claiming review and such application shall be accompanied by copes of such judgment and the judgment of the first lower court in respect of which appeal had been lodged before the second lower court, which rendered the final judgment. </a:t>
            </a:r>
          </a:p>
          <a:p>
            <a:pPr algn="just"/>
            <a:r>
              <a:rPr lang="en-US" sz="2400" b="1" dirty="0" smtClean="0"/>
              <a:t>The cassation court reviews  fundamental error of law and not error of facts though the cassation courts practically reviews fundamental errors of facts  also.</a:t>
            </a:r>
          </a:p>
          <a:p>
            <a:pPr algn="just"/>
            <a:r>
              <a:rPr lang="en-US" sz="2400" b="1" dirty="0" smtClean="0"/>
              <a:t>At least five judges at the cassation division then may reject the application on the ground that there is no error of law or the said error of law is not fundamental.</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rgbClr val="00B050"/>
                </a:solidFill>
              </a:rPr>
              <a:t>Case laws or judge made laws?</a:t>
            </a:r>
            <a:endParaRPr lang="en-US" b="1" i="1" dirty="0">
              <a:solidFill>
                <a:srgbClr val="00B050"/>
              </a:solidFill>
            </a:endParaRPr>
          </a:p>
        </p:txBody>
      </p:sp>
      <p:sp>
        <p:nvSpPr>
          <p:cNvPr id="3" name="Content Placeholder 2"/>
          <p:cNvSpPr>
            <a:spLocks noGrp="1"/>
          </p:cNvSpPr>
          <p:nvPr>
            <p:ph idx="1"/>
          </p:nvPr>
        </p:nvSpPr>
        <p:spPr/>
        <p:txBody>
          <a:bodyPr>
            <a:noAutofit/>
          </a:bodyPr>
          <a:lstStyle/>
          <a:p>
            <a:pPr algn="just"/>
            <a:r>
              <a:rPr lang="en-US" sz="2400" b="1" dirty="0" smtClean="0"/>
              <a:t>If the cassation bench finds the application valid it would accept and examine the case, then finally renders a judgment, confirm, reverse or vary the decision of the appellate court.</a:t>
            </a:r>
          </a:p>
          <a:p>
            <a:pPr algn="just"/>
            <a:r>
              <a:rPr lang="en-US" sz="2400" b="1" dirty="0" smtClean="0"/>
              <a:t> Ethiopia is getting the common law legal system in to it by making the decision of the Federal Supreme Court decision in their cassation power to be final and binding up on all other similar cases to be decided by subordinate court. </a:t>
            </a:r>
          </a:p>
          <a:p>
            <a:pPr algn="just"/>
            <a:r>
              <a:rPr lang="en-US" sz="2400" b="1" dirty="0" smtClean="0"/>
              <a:t>Thus, such decisions are becoming what we call </a:t>
            </a:r>
            <a:r>
              <a:rPr lang="en-US" sz="2400" b="1" i="1" dirty="0" smtClean="0"/>
              <a:t>case laws </a:t>
            </a:r>
            <a:r>
              <a:rPr lang="en-US" sz="2400" b="1" dirty="0" smtClean="0"/>
              <a:t>or</a:t>
            </a:r>
            <a:r>
              <a:rPr lang="en-US" sz="2400" b="1" i="1" dirty="0" smtClean="0"/>
              <a:t> judge made laws.</a:t>
            </a:r>
            <a:r>
              <a:rPr lang="en-US" sz="2400" b="1" dirty="0" smtClean="0"/>
              <a:t> Any subordinate court, therefore, is duty bound to refer to these kinds of decisions in dealing with cases of similar nature and has to cite such decisions in their judgments, just like it cites any other relevant laws.</a:t>
            </a:r>
          </a:p>
          <a:p>
            <a:endParaRPr lang="en-US" sz="2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FFFF00"/>
      </a:dk1>
      <a:lt1>
        <a:sysClr val="window" lastClr="000000"/>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FFFF00"/>
      </a:dk1>
      <a:lt1>
        <a:sysClr val="window" lastClr="00000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13673</TotalTime>
  <Words>26851</Words>
  <Application>Microsoft Office PowerPoint</Application>
  <PresentationFormat>On-screen Show (4:3)</PresentationFormat>
  <Paragraphs>1532</Paragraphs>
  <Slides>262</Slides>
  <Notes>2</Notes>
  <HiddenSlides>0</HiddenSlides>
  <MMClips>0</MMClips>
  <ScaleCrop>false</ScaleCrop>
  <HeadingPairs>
    <vt:vector size="4" baseType="variant">
      <vt:variant>
        <vt:lpstr>Theme</vt:lpstr>
      </vt:variant>
      <vt:variant>
        <vt:i4>1</vt:i4>
      </vt:variant>
      <vt:variant>
        <vt:lpstr>Slide Titles</vt:lpstr>
      </vt:variant>
      <vt:variant>
        <vt:i4>262</vt:i4>
      </vt:variant>
    </vt:vector>
  </HeadingPairs>
  <TitlesOfParts>
    <vt:vector size="263" baseType="lpstr">
      <vt:lpstr>Flow</vt:lpstr>
      <vt:lpstr>CHAPTER ONE GENERAL OVERVIEW</vt:lpstr>
      <vt:lpstr>Functions of Criminal procedure 1.Enforcement of the Criminal Law</vt:lpstr>
      <vt:lpstr>2. Independent Functions </vt:lpstr>
      <vt:lpstr>The Question is?</vt:lpstr>
      <vt:lpstr> Models of Criminal Justice Systems</vt:lpstr>
      <vt:lpstr>The Crime Control Model </vt:lpstr>
      <vt:lpstr>The due process model</vt:lpstr>
      <vt:lpstr>Comparing the Two </vt:lpstr>
      <vt:lpstr>So What?</vt:lpstr>
      <vt:lpstr> Systems of Criminal procedure</vt:lpstr>
      <vt:lpstr>Their differences</vt:lpstr>
      <vt:lpstr>The reality?</vt:lpstr>
      <vt:lpstr> The reality…..</vt:lpstr>
      <vt:lpstr>The reality…</vt:lpstr>
      <vt:lpstr>What about Ethiopia?</vt:lpstr>
      <vt:lpstr>Fundamental Principles of Criminal Procedure.</vt:lpstr>
      <vt:lpstr>Presumption of innocence</vt:lpstr>
      <vt:lpstr>Freedom from self-incrimination</vt:lpstr>
      <vt:lpstr>Fair Trial</vt:lpstr>
      <vt:lpstr>Speedy trial</vt:lpstr>
      <vt:lpstr>Public Trial</vt:lpstr>
      <vt:lpstr>The right to defense counsel </vt:lpstr>
      <vt:lpstr>Equality &amp; legality</vt:lpstr>
      <vt:lpstr>Due process of law</vt:lpstr>
      <vt:lpstr>CHAPTER TWO Setting Justice in Motion: Starting Investigation and Prosecution.</vt:lpstr>
      <vt:lpstr>The question is</vt:lpstr>
      <vt:lpstr>Formal Complaint(Art13)</vt:lpstr>
      <vt:lpstr>Accusations</vt:lpstr>
      <vt:lpstr>Flagrant Offences( Art.19 &amp; 20)</vt:lpstr>
      <vt:lpstr>Accusation  unnecessary( Art 21)</vt:lpstr>
      <vt:lpstr> Duty to Investigate</vt:lpstr>
      <vt:lpstr>Recording of Statement (Art. 24.)</vt:lpstr>
      <vt:lpstr>Procedure after arrest( Art 29&amp; 30)</vt:lpstr>
      <vt:lpstr> Diary&amp; report of investigation</vt:lpstr>
      <vt:lpstr>Arrest ( Art.26 &amp; 49)</vt:lpstr>
      <vt:lpstr>Substantive requirement for Arrest</vt:lpstr>
      <vt:lpstr>Objective or Subjective criteria?</vt:lpstr>
      <vt:lpstr> Procedural requirements</vt:lpstr>
      <vt:lpstr> Arrest  With Warrant</vt:lpstr>
      <vt:lpstr> Arrest Without Warrant</vt:lpstr>
      <vt:lpstr>Arrest without summon</vt:lpstr>
      <vt:lpstr> Effecting Arrest( Art 56)</vt:lpstr>
      <vt:lpstr>Release on bond by the investigating police(Art.28)</vt:lpstr>
      <vt:lpstr>Right of Persons Arrested</vt:lpstr>
      <vt:lpstr> Interrogation</vt:lpstr>
      <vt:lpstr>Interrogation by the police( Art.27)</vt:lpstr>
      <vt:lpstr>Confession or statement in court             ( Art.35)</vt:lpstr>
      <vt:lpstr>The Question is?</vt:lpstr>
      <vt:lpstr>The supreme court cases</vt:lpstr>
      <vt:lpstr>P/Prosecutor Vs Leykun (A.N.6359/1994</vt:lpstr>
      <vt:lpstr>P/Prosecutor Vs  Sisay (A.N. 17739/1997)</vt:lpstr>
      <vt:lpstr>Rights related to Interrogation Right to silence and to be informed that</vt:lpstr>
      <vt:lpstr>Experience of other countries.</vt:lpstr>
      <vt:lpstr> The right against self-incrimination (Art 27(2)) and to counsel</vt:lpstr>
      <vt:lpstr>Experience of other countries.</vt:lpstr>
      <vt:lpstr>Right to be informed and prohibition of inducement</vt:lpstr>
      <vt:lpstr>The Question????</vt:lpstr>
      <vt:lpstr>Risk of false confession</vt:lpstr>
      <vt:lpstr>Should the suspect, then, be convicted based on only such confessions?</vt:lpstr>
      <vt:lpstr> The experience of other countries in relation to confession.</vt:lpstr>
      <vt:lpstr>Tsegaye Korch Vs P.Prosecutor ( A.N. 27720/1999)</vt:lpstr>
      <vt:lpstr>Zembelachew Vs P. Prosecutor  (A.N.026686/98)</vt:lpstr>
      <vt:lpstr>Sisay Danye  Vs P. Prosecutor ( A.N.17739/1197)</vt:lpstr>
      <vt:lpstr>The way out!!!!</vt:lpstr>
      <vt:lpstr>The way out…..</vt:lpstr>
      <vt:lpstr>Consequences of coercion and other irregularities</vt:lpstr>
      <vt:lpstr>Civil and Administrative  Liabilities.</vt:lpstr>
      <vt:lpstr>Exclusionary rule</vt:lpstr>
      <vt:lpstr>The experience of other countries.</vt:lpstr>
      <vt:lpstr>The experience of……..</vt:lpstr>
      <vt:lpstr>The fruit of poisonous tree is Poisson?</vt:lpstr>
      <vt:lpstr>Search and Seizure: Definition, Scope, &amp; Types</vt:lpstr>
      <vt:lpstr> The right to Privacy ( Art. 26 FDREC)</vt:lpstr>
      <vt:lpstr>No restrictions may be placed except </vt:lpstr>
      <vt:lpstr>Search with warrant  in  Criminal Procedure Code</vt:lpstr>
      <vt:lpstr>The police must show three things to get the warrant.</vt:lpstr>
      <vt:lpstr> The  Anti- terrorism proclamation  (Pro. No.652/2009)</vt:lpstr>
      <vt:lpstr>The Question then????</vt:lpstr>
      <vt:lpstr>Which court is competent to issue  the warrant?</vt:lpstr>
      <vt:lpstr>The case of Addis Courts</vt:lpstr>
      <vt:lpstr>Search without warrant( Art. 32(2)  Search of Premises</vt:lpstr>
      <vt:lpstr>The Question is????</vt:lpstr>
      <vt:lpstr>Search of persons </vt:lpstr>
      <vt:lpstr>Sudden Search, .( Art. 16 Anti- terrorism Proclamation.</vt:lpstr>
      <vt:lpstr>Other Articles than mentioned in search warrant.( Art. 33)</vt:lpstr>
      <vt:lpstr>  Illegal Search &amp; Seizure and Remedies</vt:lpstr>
      <vt:lpstr> Civil Liability………</vt:lpstr>
      <vt:lpstr>Chapter Three Remand, Bail, and Habeas Corpus</vt:lpstr>
      <vt:lpstr>Remand in Custody </vt:lpstr>
      <vt:lpstr>Release on Bail: Purpose     </vt:lpstr>
      <vt:lpstr>Release on Bail: Principle</vt:lpstr>
      <vt:lpstr> The Question is…</vt:lpstr>
      <vt:lpstr>When can bail be denied?(Art. 67): Preventive Detention.</vt:lpstr>
      <vt:lpstr>The Argument</vt:lpstr>
      <vt:lpstr>Amount of bail (Art. 69) </vt:lpstr>
      <vt:lpstr>Review of bail by the lower court</vt:lpstr>
      <vt:lpstr>Review of bail by Appeal(Art.75)</vt:lpstr>
      <vt:lpstr>  Appeal for bail as exception?</vt:lpstr>
      <vt:lpstr>Can the Prosecutor appeal?</vt:lpstr>
      <vt:lpstr>Can the Prosecutor appeal?.....</vt:lpstr>
      <vt:lpstr>Habeas corpus</vt:lpstr>
      <vt:lpstr>Available for any person?</vt:lpstr>
      <vt:lpstr>Application for habeas corpus (Art. 177 civ. Pr) </vt:lpstr>
      <vt:lpstr>summon to appear (Art. 178)</vt:lpstr>
      <vt:lpstr>Hearing  and decision On  the application( Art. 179)</vt:lpstr>
      <vt:lpstr>Domestic Law: Only Physical release?</vt:lpstr>
      <vt:lpstr>Is habeas corpus applicable after judgment is rendered?</vt:lpstr>
      <vt:lpstr>Is habeas corpus applicable after judgment is rendered?............</vt:lpstr>
      <vt:lpstr> The U.S.A Experience</vt:lpstr>
      <vt:lpstr>Chapter Four    Decisions of the Public Prosecutor </vt:lpstr>
      <vt:lpstr>Decisions of the Public Prosecutor……</vt:lpstr>
      <vt:lpstr>Prosecutorial Responsibility</vt:lpstr>
      <vt:lpstr>Order Further Investigation</vt:lpstr>
      <vt:lpstr>Closure of police investigation file(Art. 39)</vt:lpstr>
      <vt:lpstr>Decision not to Prosecute (Art.42)</vt:lpstr>
      <vt:lpstr>Absence of the  Suspect( Art42(1)</vt:lpstr>
      <vt:lpstr>Period of Limitation</vt:lpstr>
      <vt:lpstr>Pardon &amp;Amnesty( Art. 42(1) A</vt:lpstr>
      <vt:lpstr>Public interest( Art.42(1) D</vt:lpstr>
      <vt:lpstr>Insufficiency of evidence ( Art. 42(1)A</vt:lpstr>
      <vt:lpstr>Decision to Prosecute</vt:lpstr>
      <vt:lpstr>Other Solutions</vt:lpstr>
      <vt:lpstr>The Preliminary Inquiry</vt:lpstr>
      <vt:lpstr>The Preliminary Inquiry…..</vt:lpstr>
      <vt:lpstr>Function of  Preliminary Inquiry Screening</vt:lpstr>
      <vt:lpstr>Pretrial Discovery</vt:lpstr>
      <vt:lpstr>Future impeachment</vt:lpstr>
      <vt:lpstr>Perpetuation of Testimony</vt:lpstr>
      <vt:lpstr>The Charge : Introduction</vt:lpstr>
      <vt:lpstr>The Charge….. </vt:lpstr>
      <vt:lpstr>Form and Content of a charge (Art. 111)</vt:lpstr>
      <vt:lpstr>Form and Content of ……….</vt:lpstr>
      <vt:lpstr>Function of a charge</vt:lpstr>
      <vt:lpstr> Parts of A charge</vt:lpstr>
      <vt:lpstr>Simple Charge </vt:lpstr>
      <vt:lpstr>Different forms of Charges</vt:lpstr>
      <vt:lpstr> Alternative Charges</vt:lpstr>
      <vt:lpstr>Concurrent Charges (Joinder  and severance of  offences)</vt:lpstr>
      <vt:lpstr>Joinder of   Defendants (Art. 117)</vt:lpstr>
      <vt:lpstr> Aggravated Offences ( Art. 114)</vt:lpstr>
      <vt:lpstr>Amendment</vt:lpstr>
      <vt:lpstr>Effect of Amendment</vt:lpstr>
      <vt:lpstr>Withdrawal  of a charge(Art 122)</vt:lpstr>
      <vt:lpstr>Withdrawal  of a charge……</vt:lpstr>
      <vt:lpstr>CHAPTER FIVE THE FEDERAL SYSTEM AND JURISDICTION OF COURTS</vt:lpstr>
      <vt:lpstr>Federalism and the Jurisdiction….</vt:lpstr>
      <vt:lpstr> Criminal Jurisdiction of Courts.</vt:lpstr>
      <vt:lpstr>Federal &amp; Regional Maters Matters</vt:lpstr>
      <vt:lpstr>Jurisdiction of Courts</vt:lpstr>
      <vt:lpstr>Judicial Jurisdiction</vt:lpstr>
      <vt:lpstr>Judicial Jurisdiction depends on</vt:lpstr>
      <vt:lpstr>Principal jurisdiction</vt:lpstr>
      <vt:lpstr>Persons Subject to Ethiopia’s Principal Jurisdiction.</vt:lpstr>
      <vt:lpstr> When &amp; What is extradition?</vt:lpstr>
      <vt:lpstr>When extradition cannot obtained and the consequences</vt:lpstr>
      <vt:lpstr>Ethiopian enjoying immunity and  member defense force Article 14 and 15</vt:lpstr>
      <vt:lpstr>Immunity and  Member Defense Force………..</vt:lpstr>
      <vt:lpstr>immunity and  member defense force…</vt:lpstr>
      <vt:lpstr>Subsidiary Jurisdiction.</vt:lpstr>
      <vt:lpstr>Subsidiary Jurisdiction…..</vt:lpstr>
      <vt:lpstr>All other offences committed outside Ethiopia.</vt:lpstr>
      <vt:lpstr>The questions to be asked in such a situation are</vt:lpstr>
      <vt:lpstr>Trial in Absence of a foreigner in the absence of extradition of the foreigner.</vt:lpstr>
      <vt:lpstr>More Favorable Law</vt:lpstr>
      <vt:lpstr>The difference between the two</vt:lpstr>
      <vt:lpstr>Material Jurisdiction.</vt:lpstr>
      <vt:lpstr>Federal and state Laws</vt:lpstr>
      <vt:lpstr>Federal Supreme Court Article 8</vt:lpstr>
      <vt:lpstr>Appellate Jurisdiction FSC</vt:lpstr>
      <vt:lpstr> The Federal High Court (Article 12)</vt:lpstr>
      <vt:lpstr>The Federal First Instance Court.(Art 15)</vt:lpstr>
      <vt:lpstr> Jurisdiction of State Courts</vt:lpstr>
      <vt:lpstr>Concept of Delegation (delegated jurisdiction)</vt:lpstr>
      <vt:lpstr>Local Jurisdiction</vt:lpstr>
      <vt:lpstr>Local Jurisdiction….</vt:lpstr>
      <vt:lpstr>Ordinary Place of Trial( Art.99&amp; 100)</vt:lpstr>
      <vt:lpstr>Trial when place of offence is uncertain (Art. 102)</vt:lpstr>
      <vt:lpstr>Journey, ship, Aircraft &amp; reinstatement(Art 103-105)</vt:lpstr>
      <vt:lpstr>Change of Venue and Withdrawal of Judges.</vt:lpstr>
      <vt:lpstr>Change of Venue</vt:lpstr>
      <vt:lpstr>Change of venue: When? (Art 106) </vt:lpstr>
      <vt:lpstr>It is also possible to Federal High court.</vt:lpstr>
      <vt:lpstr> Withdrawal of a Judge &amp; Grounds</vt:lpstr>
      <vt:lpstr>A judge supposed to withdraw himself</vt:lpstr>
      <vt:lpstr>How the Application be considered?</vt:lpstr>
      <vt:lpstr>CHAPTER SIX THE TRIAL</vt:lpstr>
      <vt:lpstr>The Prosecutor and Police: powerful? </vt:lpstr>
      <vt:lpstr>The Duty of the Public Prosecutor</vt:lpstr>
      <vt:lpstr>2.The Right to Defense Counsel</vt:lpstr>
      <vt:lpstr>Article 20(5) of FDRE Constitution </vt:lpstr>
      <vt:lpstr>Some sort of standardization needed? </vt:lpstr>
      <vt:lpstr>The Practice</vt:lpstr>
      <vt:lpstr>3. The Right to Obtain Copy of the Charge</vt:lpstr>
      <vt:lpstr>The Right to Obtain Copy of the Charge…….</vt:lpstr>
      <vt:lpstr>4. The right to Public Trail</vt:lpstr>
      <vt:lpstr>Legal proceedings are different Administrative one</vt:lpstr>
      <vt:lpstr>Article 20(1) of FDRE Constitution.</vt:lpstr>
      <vt:lpstr>Exceptions to Public trails?</vt:lpstr>
      <vt:lpstr>Young Person: Art 176 of the Cr.Pr</vt:lpstr>
      <vt:lpstr>5.The Presumption of Innocence</vt:lpstr>
      <vt:lpstr>Article 20(3) of FDRE Constitution</vt:lpstr>
      <vt:lpstr> 5.Privilege against Self Incrimination</vt:lpstr>
      <vt:lpstr>Article 20(3) of FDRE Constitution</vt:lpstr>
      <vt:lpstr>Preliminary Objections and Their Consequences.</vt:lpstr>
      <vt:lpstr> The presiding judge read  the charge  </vt:lpstr>
      <vt:lpstr>The grounds of objections to a charge: (Art.130 Cr.Pr.)</vt:lpstr>
      <vt:lpstr>Are the list exhaustive?</vt:lpstr>
      <vt:lpstr>Decision of the court on the Objections</vt:lpstr>
      <vt:lpstr> Decisions on the Objections( Art 131)</vt:lpstr>
      <vt:lpstr> Plea of accused( Art.132)</vt:lpstr>
      <vt:lpstr>Judges are required to make inquiries</vt:lpstr>
      <vt:lpstr>Judges are required to make inquiries…</vt:lpstr>
      <vt:lpstr>Production of Evidence After Plea( Art 136)</vt:lpstr>
      <vt:lpstr>What possible grounds for corroboration?</vt:lpstr>
      <vt:lpstr>What possible grounds ………..?</vt:lpstr>
      <vt:lpstr>Opening of Cases and Presentation of Evidences.</vt:lpstr>
      <vt:lpstr>Presentation of evidence</vt:lpstr>
      <vt:lpstr> Examination of Witnesses </vt:lpstr>
      <vt:lpstr>No leading questions unless permitted  (Art 137 Cr.Pr. )</vt:lpstr>
      <vt:lpstr>Direct and Indirect Knowledge</vt:lpstr>
      <vt:lpstr>Exception to Leading Questions</vt:lpstr>
      <vt:lpstr>When is a witness said to be hostile?</vt:lpstr>
      <vt:lpstr> Cross-examination : Art 137(3)</vt:lpstr>
      <vt:lpstr>Re-examination( Art.136(3))</vt:lpstr>
      <vt:lpstr>The testimony of the witness</vt:lpstr>
      <vt:lpstr>The court and the parties may call  other witness any time</vt:lpstr>
      <vt:lpstr> Post Evidence Procedure</vt:lpstr>
      <vt:lpstr>No Case Motion and Acquittal(Art 141)</vt:lpstr>
      <vt:lpstr>No Case Motion and Acquittal….</vt:lpstr>
      <vt:lpstr>Case for Prosecution (Art142) </vt:lpstr>
      <vt:lpstr> Judgment: Conviction/Acquittal(Art. 149)</vt:lpstr>
      <vt:lpstr>Sentencing( Art 149(1)</vt:lpstr>
      <vt:lpstr>CHAPTER SEVEN SPECIAL PROCEDURES LEADING TO JUDGMENT</vt:lpstr>
      <vt:lpstr>Costs, Hearing and Judgments( Art.152 &amp;153)</vt:lpstr>
      <vt:lpstr>Failure to appear in private proceedings( Art.165 &amp;166)</vt:lpstr>
      <vt:lpstr> Default Proceedings</vt:lpstr>
      <vt:lpstr>Requirements and Proceedings</vt:lpstr>
      <vt:lpstr>Application to set aside judgment</vt:lpstr>
      <vt:lpstr> Decisions on the Application</vt:lpstr>
      <vt:lpstr>Petty Offence </vt:lpstr>
      <vt:lpstr>Accused may plead guilty in writing to petty offence( Art. 168)</vt:lpstr>
      <vt:lpstr>Procedure where accused appears before the court(Art.170)</vt:lpstr>
      <vt:lpstr> Juvenile Procedures Inslilulion of proceeding.( Art.171 &amp; 172)</vt:lpstr>
      <vt:lpstr>Summoning of young person's guardian and assistance( Art. 173-175)</vt:lpstr>
      <vt:lpstr>Hearing( Art.176) </vt:lpstr>
      <vt:lpstr>Judgments and Orders against parents and guardians.( Art 177&amp; 178) </vt:lpstr>
      <vt:lpstr>CHAPTER EIGHT POST JUDGMENT PROCEEDINGS</vt:lpstr>
      <vt:lpstr>Right of Appeal and Powers Appellate Court.</vt:lpstr>
      <vt:lpstr>Who can  Appeal? on what?( Art 185)</vt:lpstr>
      <vt:lpstr>Stay of execution(Art. 188) </vt:lpstr>
      <vt:lpstr>Contents of memorandum of appeal (Art. 189)</vt:lpstr>
      <vt:lpstr>Second Appeal lies only if the decision of the lower court is varied.</vt:lpstr>
      <vt:lpstr>Procedures After the Receipt of Appeal</vt:lpstr>
      <vt:lpstr>Appeal out of time</vt:lpstr>
      <vt:lpstr>Failure to Appear(Art.193) </vt:lpstr>
      <vt:lpstr>Power of the appellate court(Art.195(2))</vt:lpstr>
      <vt:lpstr>Several convicted persons ( Art.196)</vt:lpstr>
      <vt:lpstr>Review in cassation </vt:lpstr>
      <vt:lpstr>Power of cassation</vt:lpstr>
      <vt:lpstr>What are the Conditions?</vt:lpstr>
      <vt:lpstr>What  is fundamental error of law?  </vt:lpstr>
      <vt:lpstr>Case laws or judge made laws?</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Ashenafi</dc:creator>
  <cp:lastModifiedBy>cvb</cp:lastModifiedBy>
  <cp:revision>2182</cp:revision>
  <dcterms:created xsi:type="dcterms:W3CDTF">2015-01-05T18:31:30Z</dcterms:created>
  <dcterms:modified xsi:type="dcterms:W3CDTF">2019-10-02T02:46:03Z</dcterms:modified>
</cp:coreProperties>
</file>