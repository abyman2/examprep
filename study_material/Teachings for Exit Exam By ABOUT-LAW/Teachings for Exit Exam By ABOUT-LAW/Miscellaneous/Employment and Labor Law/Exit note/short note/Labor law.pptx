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1" r:id="rId22"/>
    <p:sldId id="276" r:id="rId23"/>
    <p:sldId id="277" r:id="rId24"/>
    <p:sldId id="278" r:id="rId25"/>
    <p:sldId id="280"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52" y="-90"/>
      </p:cViewPr>
      <p:guideLst>
        <p:guide orient="horz" pos="2160"/>
        <p:guide pos="3840"/>
      </p:guideLst>
    </p:cSldViewPr>
  </p:slideViewPr>
  <p:notesTextViewPr>
    <p:cViewPr>
      <p:scale>
        <a:sx n="1" d="1"/>
        <a:sy n="1" d="1"/>
      </p:scale>
      <p:origin x="0" y="0"/>
    </p:cViewPr>
  </p:notesTextViewPr>
  <p:sorterViewPr>
    <p:cViewPr>
      <p:scale>
        <a:sx n="100" d="100"/>
        <a:sy n="100" d="100"/>
      </p:scale>
      <p:origin x="0" y="-663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9495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703221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2747582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0144314-B705-47A9-8E5C-D08BD593778B}"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077184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144314-B705-47A9-8E5C-D08BD593778B}" type="datetimeFigureOut">
              <a:rPr lang="en-US" smtClean="0"/>
              <a:pPr/>
              <a:t>12/7/2017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4102699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0144314-B705-47A9-8E5C-D08BD593778B}" type="datetimeFigureOut">
              <a:rPr lang="en-US" smtClean="0"/>
              <a:pPr/>
              <a:t>12/7/2017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531683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144314-B705-47A9-8E5C-D08BD593778B}" type="datetimeFigureOut">
              <a:rPr lang="en-US" smtClean="0"/>
              <a:pPr/>
              <a:t>12/7/2017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1765158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144314-B705-47A9-8E5C-D08BD593778B}"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2152735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144314-B705-47A9-8E5C-D08BD593778B}"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722057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1766904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53732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606009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35009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19368123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649652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144314-B705-47A9-8E5C-D08BD593778B}"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874848-7D64-4BE5-91BA-CDA1D5A7336F}" type="slidenum">
              <a:rPr lang="en-US" smtClean="0"/>
              <a:pPr/>
              <a:t>‹#›</a:t>
            </a:fld>
            <a:endParaRPr lang="en-US"/>
          </a:p>
        </p:txBody>
      </p:sp>
    </p:spTree>
    <p:extLst>
      <p:ext uri="{BB962C8B-B14F-4D97-AF65-F5344CB8AC3E}">
        <p14:creationId xmlns:p14="http://schemas.microsoft.com/office/powerpoint/2010/main" val="330806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0144314-B705-47A9-8E5C-D08BD593778B}" type="datetimeFigureOut">
              <a:rPr lang="en-US" smtClean="0"/>
              <a:pPr/>
              <a:t>12/7/2017</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0874848-7D64-4BE5-91BA-CDA1D5A7336F}" type="slidenum">
              <a:rPr lang="en-US" smtClean="0"/>
              <a:pPr/>
              <a:t>‹#›</a:t>
            </a:fld>
            <a:endParaRPr lang="en-US"/>
          </a:p>
        </p:txBody>
      </p:sp>
    </p:spTree>
    <p:extLst>
      <p:ext uri="{BB962C8B-B14F-4D97-AF65-F5344CB8AC3E}">
        <p14:creationId xmlns:p14="http://schemas.microsoft.com/office/powerpoint/2010/main" val="2323497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395506"/>
          </a:xfrm>
        </p:spPr>
        <p:txBody>
          <a:bodyPr>
            <a:normAutofit/>
          </a:bodyPr>
          <a:lstStyle/>
          <a:p>
            <a:r>
              <a:rPr lang="en-GB" i="1" dirty="0" smtClean="0">
                <a:latin typeface="Blackadder ITC" panose="04020505051007020D02" pitchFamily="82" charset="0"/>
              </a:rPr>
              <a:t>		</a:t>
            </a:r>
            <a:br>
              <a:rPr lang="en-GB" i="1" dirty="0" smtClean="0">
                <a:latin typeface="Blackadder ITC" panose="04020505051007020D02" pitchFamily="82" charset="0"/>
              </a:rPr>
            </a:br>
            <a:r>
              <a:rPr lang="en-GB" i="1" dirty="0">
                <a:latin typeface="Blackadder ITC" panose="04020505051007020D02" pitchFamily="82" charset="0"/>
              </a:rPr>
              <a:t/>
            </a:r>
            <a:br>
              <a:rPr lang="en-GB" i="1" dirty="0">
                <a:latin typeface="Blackadder ITC" panose="04020505051007020D02" pitchFamily="82" charset="0"/>
              </a:rPr>
            </a:br>
            <a:r>
              <a:rPr lang="en-GB" i="1" dirty="0" smtClean="0">
                <a:latin typeface="Blackadder ITC" panose="04020505051007020D02" pitchFamily="82" charset="0"/>
              </a:rPr>
              <a:t/>
            </a:r>
            <a:br>
              <a:rPr lang="en-GB" i="1" dirty="0" smtClean="0">
                <a:latin typeface="Blackadder ITC" panose="04020505051007020D02" pitchFamily="82" charset="0"/>
              </a:rPr>
            </a:br>
            <a:r>
              <a:rPr lang="en-GB" i="1" dirty="0" smtClean="0">
                <a:latin typeface="Blackadder ITC" panose="04020505051007020D02" pitchFamily="82" charset="0"/>
              </a:rPr>
              <a:t>	`		</a:t>
            </a:r>
            <a:r>
              <a:rPr lang="en-GB" sz="8000" i="1" dirty="0" smtClean="0">
                <a:latin typeface="Brush Script MT" panose="03060802040406070304" pitchFamily="66" charset="0"/>
              </a:rPr>
              <a:t>WELCOME</a:t>
            </a:r>
            <a:endParaRPr lang="en-US" i="1" dirty="0">
              <a:latin typeface="Brush Script MT" panose="03060802040406070304" pitchFamily="66" charset="0"/>
            </a:endParaRPr>
          </a:p>
        </p:txBody>
      </p:sp>
    </p:spTree>
    <p:extLst>
      <p:ext uri="{BB962C8B-B14F-4D97-AF65-F5344CB8AC3E}">
        <p14:creationId xmlns:p14="http://schemas.microsoft.com/office/powerpoint/2010/main" val="2535287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US" dirty="0"/>
              <a:t/>
            </a:r>
            <a:br>
              <a:rPr lang="en-US" dirty="0"/>
            </a:br>
            <a:endParaRPr lang="en-US" dirty="0"/>
          </a:p>
        </p:txBody>
      </p:sp>
      <p:sp>
        <p:nvSpPr>
          <p:cNvPr id="3" name="Text Placeholder 2"/>
          <p:cNvSpPr>
            <a:spLocks noGrp="1"/>
          </p:cNvSpPr>
          <p:nvPr>
            <p:ph type="body" idx="1"/>
          </p:nvPr>
        </p:nvSpPr>
        <p:spPr>
          <a:xfrm>
            <a:off x="540913" y="862885"/>
            <a:ext cx="10806537" cy="5226765"/>
          </a:xfrm>
        </p:spPr>
        <p:txBody>
          <a:bodyPr/>
          <a:lstStyle/>
          <a:p>
            <a:endParaRPr lang="en-GB" dirty="0" smtClean="0"/>
          </a:p>
          <a:p>
            <a:endParaRPr lang="en-GB" dirty="0"/>
          </a:p>
          <a:p>
            <a:endParaRPr lang="en-GB" dirty="0" smtClean="0"/>
          </a:p>
          <a:p>
            <a:endParaRPr lang="en-GB" dirty="0"/>
          </a:p>
          <a:p>
            <a:r>
              <a:rPr lang="en-GB" sz="5400" b="1" dirty="0" smtClean="0">
                <a:latin typeface="Bradley Hand ITC" panose="03070402050302030203" pitchFamily="66" charset="0"/>
              </a:rPr>
              <a:t>		WHERE WERE WE IN THE LAST CLASS?</a:t>
            </a:r>
            <a:endParaRPr lang="en-US" sz="5400" b="1" dirty="0">
              <a:latin typeface="Bradley Hand ITC" panose="03070402050302030203" pitchFamily="66" charset="0"/>
            </a:endParaRPr>
          </a:p>
        </p:txBody>
      </p:sp>
    </p:spTree>
    <p:extLst>
      <p:ext uri="{BB962C8B-B14F-4D97-AF65-F5344CB8AC3E}">
        <p14:creationId xmlns:p14="http://schemas.microsoft.com/office/powerpoint/2010/main" val="3954727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933" y="-1"/>
            <a:ext cx="11921067" cy="11410944"/>
          </a:xfrm>
          <a:prstGeom prst="rect">
            <a:avLst/>
          </a:prstGeom>
        </p:spPr>
        <p:txBody>
          <a:bodyPr wrap="square">
            <a:spAutoFit/>
          </a:bodyPr>
          <a:lstStyle/>
          <a:p>
            <a:pPr>
              <a:lnSpc>
                <a:spcPct val="107000"/>
              </a:lnSpc>
              <a:spcAft>
                <a:spcPts val="800"/>
              </a:spcAft>
            </a:pPr>
            <a:r>
              <a:rPr lang="en-US" sz="4800" b="1" dirty="0" smtClean="0">
                <a:effectLst/>
                <a:latin typeface="Calibri" panose="020F0502020204030204" pitchFamily="34" charset="0"/>
                <a:ea typeface="Calibri" panose="020F0502020204030204" pitchFamily="34" charset="0"/>
                <a:cs typeface="Times New Roman" panose="02020603050405020304" pitchFamily="18" charset="0"/>
              </a:rPr>
              <a:t>Chapter Four- Special categories of Employees</a:t>
            </a:r>
          </a:p>
          <a:p>
            <a:pPr marL="685800" lvl="0" indent="-685800">
              <a:buFont typeface="Arial" panose="020B0604020202020204" pitchFamily="34" charset="0"/>
              <a:buChar char="•"/>
            </a:pPr>
            <a:r>
              <a:rPr lang="en-US" sz="4800" dirty="0"/>
              <a:t>Treated somehow differently and </a:t>
            </a:r>
            <a:r>
              <a:rPr lang="en-US" sz="4800" dirty="0" smtClean="0"/>
              <a:t>preferentially.</a:t>
            </a:r>
          </a:p>
          <a:p>
            <a:pPr marL="685800" lvl="0" indent="-685800">
              <a:buFont typeface="Arial" panose="020B0604020202020204" pitchFamily="34" charset="0"/>
              <a:buChar char="•"/>
            </a:pPr>
            <a:r>
              <a:rPr lang="en-US" sz="4800" dirty="0" smtClean="0"/>
              <a:t>The </a:t>
            </a:r>
            <a:r>
              <a:rPr lang="en-US" sz="4800" dirty="0"/>
              <a:t>rational for the special treatment is associated with the specific condition the employee is in.  </a:t>
            </a:r>
            <a:endParaRPr lang="en-US" sz="4800" dirty="0" smtClean="0"/>
          </a:p>
          <a:p>
            <a:pPr marL="685800" lvl="0" indent="-685800">
              <a:buFont typeface="Arial" panose="020B0604020202020204" pitchFamily="34" charset="0"/>
              <a:buChar char="•"/>
            </a:pPr>
            <a:r>
              <a:rPr lang="en-US" sz="4800" dirty="0" smtClean="0"/>
              <a:t>Are </a:t>
            </a:r>
            <a:r>
              <a:rPr lang="en-US" sz="4800" dirty="0"/>
              <a:t>governed by the labor law, unless otherwise provided.</a:t>
            </a:r>
          </a:p>
          <a:p>
            <a:pPr>
              <a:lnSpc>
                <a:spcPct val="107000"/>
              </a:lnSpc>
              <a:spcAft>
                <a:spcPts val="800"/>
              </a:spcAft>
            </a:pPr>
            <a:endParaRPr lang="en-US" sz="48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4800" b="1"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48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4800" b="1"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48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48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60626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8759" y="0"/>
            <a:ext cx="11903242" cy="6781344"/>
          </a:xfrm>
          <a:prstGeom prst="rect">
            <a:avLst/>
          </a:prstGeom>
        </p:spPr>
        <p:txBody>
          <a:bodyPr wrap="square">
            <a:spAutoFit/>
          </a:bodyPr>
          <a:lstStyle/>
          <a:p>
            <a:pPr>
              <a:lnSpc>
                <a:spcPct val="107000"/>
              </a:lnSpc>
              <a:spcAft>
                <a:spcPts val="800"/>
              </a:spcAft>
            </a:pPr>
            <a:r>
              <a:rPr lang="en-US" sz="4000" b="1" dirty="0" smtClean="0">
                <a:effectLst/>
                <a:latin typeface="Calibri" panose="020F0502020204030204" pitchFamily="34" charset="0"/>
                <a:ea typeface="Calibri" panose="020F0502020204030204" pitchFamily="34" charset="0"/>
                <a:cs typeface="Times New Roman" panose="02020603050405020304" pitchFamily="18" charset="0"/>
              </a:rPr>
              <a:t>1. Probationary employees </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People who are not full-fledged employees</a:t>
            </a:r>
          </a:p>
          <a:p>
            <a:pPr marL="342900" lvl="0" indent="-342900">
              <a:lnSpc>
                <a:spcPct val="107000"/>
              </a:lnSpc>
              <a:spcAft>
                <a:spcPts val="0"/>
              </a:spcAft>
              <a:buFont typeface="Symbol" panose="05050102010706020507" pitchFamily="18" charset="2"/>
              <a:buChar char=""/>
            </a:pPr>
            <a:r>
              <a:rPr lang="en-US" sz="4000" dirty="0" smtClean="0">
                <a:latin typeface="Calibri" panose="020F0502020204030204" pitchFamily="34" charset="0"/>
                <a:ea typeface="Calibri" panose="020F0502020204030204" pitchFamily="34" charset="0"/>
                <a:cs typeface="Times New Roman" panose="02020603050405020304" pitchFamily="18" charset="0"/>
              </a:rPr>
              <a:t>Is a </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trial period</a:t>
            </a:r>
          </a:p>
          <a:p>
            <a:pPr marL="342900" lvl="0" indent="-342900">
              <a:lnSpc>
                <a:spcPct val="107000"/>
              </a:lnSpc>
              <a:spcAft>
                <a:spcPts val="0"/>
              </a:spcAft>
              <a:buFont typeface="Symbol" panose="05050102010706020507" pitchFamily="18" charset="2"/>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The purpose of probation is to test the suitability of the employee to a post in which she is intended to be assigned. </a:t>
            </a:r>
          </a:p>
          <a:p>
            <a:pPr marL="342900" lvl="0" indent="-342900">
              <a:lnSpc>
                <a:spcPct val="107000"/>
              </a:lnSpc>
              <a:spcAft>
                <a:spcPts val="0"/>
              </a:spcAft>
              <a:buFont typeface="Symbol" panose="05050102010706020507" pitchFamily="18" charset="2"/>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Within the trial period, the employer is entitled to dismiss the employee without any procedure if the employer is convinced that the employee is unfit for the post</a:t>
            </a:r>
            <a:r>
              <a:rPr lang="en-GB" sz="4000" dirty="0" smtClean="0">
                <a:latin typeface="Calibri" panose="020F0502020204030204" pitchFamily="34" charset="0"/>
                <a:ea typeface="Calibri" panose="020F0502020204030204" pitchFamily="34" charset="0"/>
                <a:cs typeface="Times New Roman" panose="02020603050405020304" pitchFamily="18" charset="0"/>
              </a:rPr>
              <a:t>.</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33721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505" y="0"/>
            <a:ext cx="10996863" cy="6276975"/>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5400" dirty="0" smtClean="0">
                <a:effectLst/>
                <a:latin typeface="Calibri" panose="020F0502020204030204" pitchFamily="34" charset="0"/>
                <a:ea typeface="Calibri" panose="020F0502020204030204" pitchFamily="34" charset="0"/>
                <a:cs typeface="Times New Roman" panose="02020603050405020304" pitchFamily="18" charset="0"/>
              </a:rPr>
              <a:t>Art 11: In writing and 45 consecutive days.  </a:t>
            </a:r>
          </a:p>
          <a:p>
            <a:pPr marL="342900" lvl="0" indent="-342900">
              <a:lnSpc>
                <a:spcPct val="107000"/>
              </a:lnSpc>
              <a:spcAft>
                <a:spcPts val="0"/>
              </a:spcAft>
              <a:buFont typeface="Symbol" panose="05050102010706020507" pitchFamily="18" charset="2"/>
              <a:buChar char=""/>
            </a:pPr>
            <a:r>
              <a:rPr lang="en-US" sz="5400" dirty="0" smtClean="0">
                <a:effectLst/>
                <a:latin typeface="Calibri" panose="020F0502020204030204" pitchFamily="34" charset="0"/>
                <a:ea typeface="Calibri" panose="020F0502020204030204" pitchFamily="34" charset="0"/>
                <a:cs typeface="Times New Roman" panose="02020603050405020304" pitchFamily="18" charset="0"/>
              </a:rPr>
              <a:t>It is not necessary for the employer to prove that she is in fact incompetent.</a:t>
            </a:r>
          </a:p>
          <a:p>
            <a:pPr marL="342900" lvl="0" indent="-342900">
              <a:lnSpc>
                <a:spcPct val="107000"/>
              </a:lnSpc>
              <a:spcAft>
                <a:spcPts val="800"/>
              </a:spcAft>
              <a:buFont typeface="Symbol" panose="05050102010706020507" pitchFamily="18" charset="2"/>
              <a:buChar char=""/>
            </a:pPr>
            <a:r>
              <a:rPr lang="en-US" sz="5400" dirty="0" smtClean="0">
                <a:effectLst/>
                <a:latin typeface="Calibri" panose="020F0502020204030204" pitchFamily="34" charset="0"/>
                <a:ea typeface="Calibri" panose="020F0502020204030204" pitchFamily="34" charset="0"/>
                <a:cs typeface="Times New Roman" panose="02020603050405020304" pitchFamily="18" charset="0"/>
              </a:rPr>
              <a:t>Under the Civil Service, probation period is mandatory. </a:t>
            </a:r>
          </a:p>
        </p:txBody>
      </p:sp>
    </p:spTree>
    <p:extLst>
      <p:ext uri="{BB962C8B-B14F-4D97-AF65-F5344CB8AC3E}">
        <p14:creationId xmlns:p14="http://schemas.microsoft.com/office/powerpoint/2010/main" val="13698430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367906"/>
            <a:ext cx="11983453" cy="5925340"/>
          </a:xfrm>
          <a:prstGeom prst="rect">
            <a:avLst/>
          </a:prstGeom>
        </p:spPr>
        <p:txBody>
          <a:bodyPr wrap="square">
            <a:spAutoFit/>
          </a:bodyPr>
          <a:lstStyle/>
          <a:p>
            <a:pPr>
              <a:lnSpc>
                <a:spcPct val="107000"/>
              </a:lnSpc>
              <a:spcAft>
                <a:spcPts val="800"/>
              </a:spcAft>
            </a:pPr>
            <a:r>
              <a:rPr lang="en-US" sz="2800" b="1" dirty="0" smtClean="0">
                <a:effectLst/>
                <a:latin typeface="Calibri" panose="020F0502020204030204" pitchFamily="34" charset="0"/>
                <a:ea typeface="Calibri" panose="020F0502020204030204" pitchFamily="34" charset="0"/>
                <a:cs typeface="Times New Roman" panose="02020603050405020304" pitchFamily="18" charset="0"/>
              </a:rPr>
              <a:t>2. Apprentice Art 48-52</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This is a situation through which the employer agrees to provide a person (i.e. the apprentice) </a:t>
            </a:r>
            <a:r>
              <a:rPr lang="en-US" sz="3200" b="1" i="1" dirty="0" smtClean="0">
                <a:effectLst/>
                <a:latin typeface="Calibri" panose="020F0502020204030204" pitchFamily="34" charset="0"/>
                <a:ea typeface="Calibri" panose="020F0502020204030204" pitchFamily="34" charset="0"/>
                <a:cs typeface="Times New Roman" panose="02020603050405020304" pitchFamily="18" charset="0"/>
              </a:rPr>
              <a:t>complete and systematic training</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and the apprentice in return agrees to obey the instruction given to carry out the training.  </a:t>
            </a:r>
          </a:p>
          <a:p>
            <a:pPr marL="342900" lvl="0" indent="-342900">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Apprenticeship is a type of  employment  contract through which the skill would be transferred.</a:t>
            </a:r>
          </a:p>
          <a:p>
            <a:pPr marL="342900" lvl="0" indent="-342900">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Strictly speaking, such an arrangement </a:t>
            </a:r>
            <a:r>
              <a:rPr lang="en-US" sz="3200" b="1" i="1" dirty="0" smtClean="0">
                <a:effectLst/>
                <a:latin typeface="Calibri" panose="020F0502020204030204" pitchFamily="34" charset="0"/>
                <a:ea typeface="Calibri" panose="020F0502020204030204" pitchFamily="34" charset="0"/>
                <a:cs typeface="Times New Roman" panose="02020603050405020304" pitchFamily="18" charset="0"/>
              </a:rPr>
              <a:t>is not an employment relationship</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because the main interest of the employer in this relationship is not to obtain service it is rather to provide training to the apprentice.</a:t>
            </a:r>
          </a:p>
        </p:txBody>
      </p:sp>
    </p:spTree>
    <p:extLst>
      <p:ext uri="{BB962C8B-B14F-4D97-AF65-F5344CB8AC3E}">
        <p14:creationId xmlns:p14="http://schemas.microsoft.com/office/powerpoint/2010/main" val="23788967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5464060"/>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On the other hand, the main interest of the apprentice, in this relationship, is not also to receive wage. It is rather to acquire skill. </a:t>
            </a:r>
          </a:p>
          <a:p>
            <a:pPr marL="342900" lvl="0" indent="-342900" algn="just">
              <a:lnSpc>
                <a:spcPct val="107000"/>
              </a:lnSpc>
              <a:spcAft>
                <a:spcPts val="800"/>
              </a:spcAft>
              <a:buFont typeface="Symbol" panose="05050102010706020507" pitchFamily="18" charset="2"/>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Incidentally, however, the employer will obtain service from the apprentice and the apprentice will receive stipend. These facts assimilate apprenticeship arrangement with employment relation. </a:t>
            </a:r>
          </a:p>
          <a:p>
            <a:pPr marL="571500" lvl="0" indent="-571500" algn="just">
              <a:lnSpc>
                <a:spcPct val="107000"/>
              </a:lnSpc>
              <a:spcAft>
                <a:spcPts val="800"/>
              </a:spcAft>
              <a:buFont typeface="Arial" panose="020B0604020202020204" pitchFamily="34" charset="0"/>
              <a:buChar char="•"/>
            </a:pPr>
            <a:r>
              <a:rPr lang="en-US" sz="4000" dirty="0" smtClean="0">
                <a:latin typeface="Calibri" panose="020F0502020204030204" pitchFamily="34" charset="0"/>
                <a:ea typeface="Calibri" panose="020F0502020204030204" pitchFamily="34" charset="0"/>
                <a:cs typeface="Times New Roman" panose="02020603050405020304" pitchFamily="18" charset="0"/>
              </a:rPr>
              <a:t>Civil service law has no such arrangement.</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31209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442" y="-1"/>
            <a:ext cx="12023558" cy="6518195"/>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US" sz="3200" dirty="0">
                <a:latin typeface="Calibri" panose="020F0502020204030204" pitchFamily="34" charset="0"/>
                <a:ea typeface="Calibri" panose="020F0502020204030204" pitchFamily="34" charset="0"/>
                <a:cs typeface="Times New Roman" panose="02020603050405020304" pitchFamily="18" charset="0"/>
              </a:rPr>
              <a:t> </a:t>
            </a:r>
            <a:r>
              <a:rPr lang="en-US" sz="3200" dirty="0" smtClean="0">
                <a:latin typeface="Calibri" panose="020F0502020204030204" pitchFamily="34" charset="0"/>
                <a:ea typeface="Calibri" panose="020F0502020204030204" pitchFamily="34" charset="0"/>
                <a:cs typeface="Times New Roman" panose="02020603050405020304" pitchFamily="18" charset="0"/>
              </a:rPr>
              <a:t>The contract must be </a:t>
            </a:r>
            <a:r>
              <a:rPr lang="en-US" sz="3200" b="1" i="1" dirty="0" smtClean="0">
                <a:effectLst/>
                <a:latin typeface="Calibri" panose="020F0502020204030204" pitchFamily="34" charset="0"/>
                <a:ea typeface="Calibri" panose="020F0502020204030204" pitchFamily="34" charset="0"/>
                <a:cs typeface="Times New Roman" panose="02020603050405020304" pitchFamily="18" charset="0"/>
              </a:rPr>
              <a:t>made in writing</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US" sz="3200" b="1" i="1" dirty="0" smtClean="0">
                <a:effectLst/>
                <a:latin typeface="Calibri" panose="020F0502020204030204" pitchFamily="34" charset="0"/>
                <a:ea typeface="Calibri" panose="020F0502020204030204" pitchFamily="34" charset="0"/>
                <a:cs typeface="Times New Roman" panose="02020603050405020304" pitchFamily="18" charset="0"/>
              </a:rPr>
              <a:t>be attested by the Ministry</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(Art. 48(3))  </a:t>
            </a:r>
          </a:p>
          <a:p>
            <a:pPr marL="800100" lvl="1" indent="-342900" algn="just">
              <a:lnSpc>
                <a:spcPct val="107000"/>
              </a:lnSpc>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Not all works or occupations are open to apprenticeship and hence the Ministry is empowered to spell out the list of trades open to apprenticeship and other related issues (Art.170 LP). </a:t>
            </a:r>
          </a:p>
          <a:p>
            <a:pPr marL="342900" indent="-342900" algn="just">
              <a:lnSpc>
                <a:spcPct val="107000"/>
              </a:lnSpc>
              <a:buFont typeface="Symbol" panose="05050102010706020507" pitchFamily="18" charset="2"/>
              <a:buChar char=""/>
            </a:pPr>
            <a:r>
              <a:rPr lang="en-GB" sz="3200" dirty="0" smtClean="0">
                <a:latin typeface="Calibri" panose="020F0502020204030204" pitchFamily="34" charset="0"/>
                <a:ea typeface="Calibri" panose="020F0502020204030204" pitchFamily="34" charset="0"/>
                <a:cs typeface="Times New Roman" panose="02020603050405020304" pitchFamily="18" charset="0"/>
              </a:rPr>
              <a:t>Duration</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By contract or 170(1)(h)</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Art 50: obligation</a:t>
            </a:r>
          </a:p>
          <a:p>
            <a:pPr marL="342900" lvl="0" indent="-342900" algn="just">
              <a:lnSpc>
                <a:spcPct val="107000"/>
              </a:lnSpc>
              <a:spcAft>
                <a:spcPts val="80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The apprentice is beneficiary of the minimum working conditions provided under the labor proclamation.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For instance: compensation for employment injury up on his permanent or partial disablement or death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62189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6392263"/>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Termination Art 51</a:t>
            </a:r>
          </a:p>
          <a:p>
            <a:pPr marL="742950" lvl="1" indent="-285750">
              <a:lnSpc>
                <a:spcPct val="107000"/>
              </a:lnSpc>
              <a:spcAft>
                <a:spcPts val="0"/>
              </a:spcAft>
              <a:buFont typeface="Courier New" panose="02070309020205020404" pitchFamily="49" charset="0"/>
              <a:buChar char="o"/>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Ground</a:t>
            </a:r>
          </a:p>
          <a:p>
            <a:pPr marL="1143000" lvl="2" indent="-228600">
              <a:lnSpc>
                <a:spcPct val="107000"/>
              </a:lnSpc>
              <a:spcAft>
                <a:spcPts val="0"/>
              </a:spcAft>
              <a:buFont typeface="Wingdings" panose="05000000000000000000" pitchFamily="2" charset="2"/>
              <a:buChar char=""/>
            </a:pP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By law</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At the end of the training period</a:t>
            </a:r>
          </a:p>
          <a:p>
            <a:pPr marL="1143000" lvl="2" indent="-228600">
              <a:lnSpc>
                <a:spcPct val="107000"/>
              </a:lnSpc>
              <a:spcAft>
                <a:spcPts val="0"/>
              </a:spcAft>
              <a:buFont typeface="Wingdings" panose="05000000000000000000" pitchFamily="2" charset="2"/>
              <a:buChar char=""/>
            </a:pP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By the employer</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600200" lvl="3" indent="-228600">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inability to discharge his obligation</a:t>
            </a:r>
          </a:p>
          <a:p>
            <a:pPr marL="1600200" lvl="3" indent="-228600">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violates the disciplinary rules of the undertaking</a:t>
            </a:r>
          </a:p>
          <a:p>
            <a:pPr marL="1600200" lvl="3" indent="-228600">
              <a:lnSpc>
                <a:spcPct val="107000"/>
              </a:lnSpc>
              <a:spcAft>
                <a:spcPts val="0"/>
              </a:spcAft>
              <a:buFont typeface="Symbol" panose="05050102010706020507" pitchFamily="18"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permanent incapacity</a:t>
            </a:r>
          </a:p>
          <a:p>
            <a:pPr marL="1143000" lvl="2" indent="-228600">
              <a:lnSpc>
                <a:spcPct val="107000"/>
              </a:lnSpc>
              <a:spcAft>
                <a:spcPts val="0"/>
              </a:spcAft>
              <a:buFont typeface="Wingdings" panose="05000000000000000000" pitchFamily="2" charset="2"/>
              <a:buChar char=""/>
            </a:pP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Unilateral</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termination</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by</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the</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3200" b="1" dirty="0" smtClean="0">
                <a:effectLst/>
                <a:latin typeface="Calibri" panose="020F0502020204030204" pitchFamily="34" charset="0"/>
                <a:ea typeface="Calibri" panose="020F0502020204030204" pitchFamily="34" charset="0"/>
                <a:cs typeface="Times New Roman" panose="02020603050405020304" pitchFamily="18" charset="0"/>
              </a:rPr>
              <a:t>apprentice</a:t>
            </a: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 with or without notice- Art.(3 and 4) </a:t>
            </a:r>
          </a:p>
          <a:p>
            <a:pPr marL="742950" lvl="1" indent="-285750">
              <a:lnSpc>
                <a:spcPct val="107000"/>
              </a:lnSpc>
              <a:spcAft>
                <a:spcPts val="0"/>
              </a:spcAft>
              <a:buFont typeface="Courier New" panose="02070309020205020404" pitchFamily="49" charset="0"/>
              <a:buChar char="o"/>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Entitlement:</a:t>
            </a:r>
          </a:p>
          <a:p>
            <a:pPr marL="1143000" lvl="2" indent="-228600">
              <a:lnSpc>
                <a:spcPct val="107000"/>
              </a:lnSpc>
              <a:spcAft>
                <a:spcPts val="0"/>
              </a:spcAft>
              <a:buFont typeface="Wingdings" panose="05000000000000000000" pitchFamily="2"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Certificate</a:t>
            </a:r>
          </a:p>
          <a:p>
            <a:pPr marL="1143000" lvl="2" indent="-228600">
              <a:lnSpc>
                <a:spcPct val="107000"/>
              </a:lnSpc>
              <a:spcAft>
                <a:spcPts val="800"/>
              </a:spcAft>
              <a:buFont typeface="Wingdings" panose="05000000000000000000" pitchFamily="2" charset="2"/>
              <a:buChar char=""/>
            </a:pPr>
            <a:r>
              <a:rPr lang="en-US" sz="3200" dirty="0" smtClean="0">
                <a:effectLst/>
                <a:latin typeface="Calibri" panose="020F0502020204030204" pitchFamily="34" charset="0"/>
                <a:ea typeface="Calibri" panose="020F0502020204030204" pitchFamily="34" charset="0"/>
                <a:cs typeface="Times New Roman" panose="02020603050405020304" pitchFamily="18" charset="0"/>
              </a:rPr>
              <a:t>No reinstatement, severance pay and compensation.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952265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392526" cy="3609514"/>
          </a:xfrm>
          <a:prstGeom prst="rect">
            <a:avLst/>
          </a:prstGeom>
        </p:spPr>
        <p:txBody>
          <a:bodyPr wrap="square">
            <a:spAutoFit/>
          </a:bodyPr>
          <a:lstStyle/>
          <a:p>
            <a:pPr marL="342900" lvl="0" indent="-342900">
              <a:lnSpc>
                <a:spcPct val="107000"/>
              </a:lnSpc>
              <a:spcAft>
                <a:spcPts val="800"/>
              </a:spcAft>
              <a:buFont typeface="Symbol" panose="05050102010706020507" pitchFamily="18" charset="2"/>
              <a:buChar char=""/>
            </a:pPr>
            <a:r>
              <a:rPr lang="en-US" sz="5400" dirty="0" smtClean="0">
                <a:effectLst/>
                <a:latin typeface="Calibri" panose="020F0502020204030204" pitchFamily="34" charset="0"/>
                <a:ea typeface="Calibri" panose="020F0502020204030204" pitchFamily="34" charset="0"/>
                <a:cs typeface="Times New Roman" panose="02020603050405020304" pitchFamily="18" charset="0"/>
              </a:rPr>
              <a:t>What happens if the contract of apprenticeship is not made in writing or even if written was not attested by the Ministry or both?  </a:t>
            </a:r>
            <a:endParaRPr lang="en-US" sz="5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97481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5137" y="176581"/>
            <a:ext cx="11726863" cy="6096541"/>
          </a:xfrm>
          <a:prstGeom prst="rect">
            <a:avLst/>
          </a:prstGeom>
        </p:spPr>
        <p:txBody>
          <a:bodyPr wrap="square">
            <a:spAutoFit/>
          </a:bodyPr>
          <a:lstStyle/>
          <a:p>
            <a:pPr algn="just">
              <a:lnSpc>
                <a:spcPct val="107000"/>
              </a:lnSpc>
              <a:spcAft>
                <a:spcPts val="800"/>
              </a:spcAft>
            </a:pPr>
            <a:r>
              <a:rPr lang="en-US" sz="3600" b="1" dirty="0" smtClean="0">
                <a:effectLst/>
                <a:latin typeface="Calibri" panose="020F0502020204030204" pitchFamily="34" charset="0"/>
                <a:ea typeface="Calibri" panose="020F0502020204030204" pitchFamily="34" charset="0"/>
                <a:cs typeface="Times New Roman" panose="02020603050405020304" pitchFamily="18" charset="0"/>
              </a:rPr>
              <a:t>3 Young employees Art 89-91</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These are employees between the age of 14 and 18.  </a:t>
            </a: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The issue of young employees is an exception to the general rule of law of person. </a:t>
            </a: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 The Civil Service Proclamation, in principle, prohibits civil service employment below the age of majority (i.e. eighteen years of age). </a:t>
            </a:r>
          </a:p>
          <a:p>
            <a:pPr marL="342900" lvl="0" indent="-342900" algn="just">
              <a:lnSpc>
                <a:spcPct val="107000"/>
              </a:lnSpc>
              <a:spcAft>
                <a:spcPts val="80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It, nevertheless, promises to come up with the Federal Civil Service Agency‘s Directive on how persons below the age of majority will be employed as civil servants (Art.14 (2)).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49391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062"/>
            <a:ext cx="12192000" cy="2039020"/>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Why Young employees are categorized under special employees??</a:t>
            </a:r>
          </a:p>
          <a:p>
            <a:pPr marL="742950" lvl="1" indent="-285750">
              <a:lnSpc>
                <a:spcPct val="107000"/>
              </a:lnSpc>
              <a:spcAft>
                <a:spcPts val="800"/>
              </a:spcAft>
              <a:buFont typeface="Courier New" panose="02070309020205020404" pitchFamily="49" charset="0"/>
              <a:buChar char="o"/>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Owing to their tender physical and mental makeup,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7385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442" y="0"/>
            <a:ext cx="12192000" cy="5870710"/>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US" sz="4000" b="1" dirty="0" smtClean="0">
                <a:effectLst/>
                <a:latin typeface="Calibri" panose="020F0502020204030204" pitchFamily="34" charset="0"/>
                <a:ea typeface="Calibri" panose="020F0502020204030204" pitchFamily="34" charset="0"/>
                <a:cs typeface="Times New Roman" panose="02020603050405020304" pitchFamily="18" charset="0"/>
              </a:rPr>
              <a:t>The differential treatments (protections): </a:t>
            </a:r>
          </a:p>
          <a:p>
            <a:pPr marL="742950" lvl="1" indent="-285750" algn="just">
              <a:lnSpc>
                <a:spcPct val="107000"/>
              </a:lnSpc>
              <a:spcAft>
                <a:spcPts val="0"/>
              </a:spcAft>
              <a:buFont typeface="Courier New" panose="02070309020205020404" pitchFamily="49" charset="0"/>
              <a:buChar char="o"/>
            </a:pPr>
            <a:r>
              <a:rPr lang="en-US" sz="2400" b="1" dirty="0" smtClean="0">
                <a:effectLst/>
                <a:latin typeface="Calibri" panose="020F0502020204030204" pitchFamily="34" charset="0"/>
                <a:ea typeface="Calibri" panose="020F0502020204030204" pitchFamily="34" charset="0"/>
                <a:cs typeface="Times New Roman" panose="02020603050405020304" pitchFamily="18" charset="0"/>
              </a:rPr>
              <a:t>a) As regards to length of working hours and its timing:  Art 90 and 91</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 -Normal working hours seven hours per day (refer Arts.61 (1) &amp; 90) –</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It is prohibited to employ young employees on: Night work (i.e. between 10pm-12am) Weekly rest days, Overtime work and Public holidays</a:t>
            </a:r>
          </a:p>
          <a:p>
            <a:pPr marL="742950" lvl="1" indent="-285750" algn="just">
              <a:lnSpc>
                <a:spcPct val="107000"/>
              </a:lnSpc>
              <a:spcAft>
                <a:spcPts val="0"/>
              </a:spcAft>
              <a:buFont typeface="Courier New" panose="02070309020205020404" pitchFamily="49" charset="0"/>
              <a:buChar char="o"/>
            </a:pPr>
            <a:r>
              <a:rPr lang="en-US" sz="2400" b="1" dirty="0" smtClean="0">
                <a:effectLst/>
                <a:latin typeface="Calibri" panose="020F0502020204030204" pitchFamily="34" charset="0"/>
                <a:ea typeface="Calibri" panose="020F0502020204030204" pitchFamily="34" charset="0"/>
                <a:cs typeface="Times New Roman" panose="02020603050405020304" pitchFamily="18" charset="0"/>
              </a:rPr>
              <a:t> b) As regards to types of work        </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Art 89(4) not exhaustive</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No employment for young workers in the transporting of passengers and goods by road, rail air and internal water;        </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-No employment for young workers in dock sides and warehouses involving heavy lifting;        </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-No employment for young workers in electric power generation and transmission lines;     </a:t>
            </a:r>
          </a:p>
          <a:p>
            <a:pPr marL="1143000" lvl="2" indent="-228600" algn="just">
              <a:lnSpc>
                <a:spcPct val="107000"/>
              </a:lnSpc>
              <a:spcAft>
                <a:spcPts val="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 -No employment for young workers in underground works (such as mines &amp;quarries)   </a:t>
            </a:r>
          </a:p>
          <a:p>
            <a:pPr marL="1143000" lvl="2" indent="-228600" algn="just">
              <a:lnSpc>
                <a:spcPct val="107000"/>
              </a:lnSpc>
              <a:spcAft>
                <a:spcPts val="800"/>
              </a:spcAft>
              <a:buFont typeface="Wingdings" panose="05000000000000000000" pitchFamily="2" charset="2"/>
              <a:buChar char=""/>
            </a:pP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   -No employment for young workers in sewerage systems and digging tunnels.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667914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442" y="174443"/>
            <a:ext cx="12023558" cy="6096541"/>
          </a:xfrm>
          <a:prstGeom prst="rect">
            <a:avLst/>
          </a:prstGeom>
        </p:spPr>
        <p:txBody>
          <a:bodyPr wrap="square">
            <a:spAutoFit/>
          </a:bodyPr>
          <a:lstStyle/>
          <a:p>
            <a:pPr algn="just">
              <a:lnSpc>
                <a:spcPct val="107000"/>
              </a:lnSpc>
              <a:spcAft>
                <a:spcPts val="800"/>
              </a:spcAft>
              <a:tabLst>
                <a:tab pos="3359785" algn="l"/>
              </a:tabLst>
            </a:pPr>
            <a:r>
              <a:rPr lang="en-US" sz="3600" b="1" dirty="0" smtClean="0">
                <a:effectLst/>
                <a:latin typeface="Calibri" panose="020F0502020204030204" pitchFamily="34" charset="0"/>
                <a:ea typeface="Calibri" panose="020F0502020204030204" pitchFamily="34" charset="0"/>
                <a:cs typeface="Times New Roman" panose="02020603050405020304" pitchFamily="18" charset="0"/>
              </a:rPr>
              <a:t>4. Female employees	</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Art 42 of the constitution  </a:t>
            </a: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Their biological make up requires special care and attention. </a:t>
            </a: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   The principle of ―nondiscrimination on the basis of sex  </a:t>
            </a:r>
          </a:p>
          <a:p>
            <a:pPr marL="342900" lvl="0" indent="-342900" algn="just">
              <a:lnSpc>
                <a:spcPct val="107000"/>
              </a:lnSpc>
              <a:spcAft>
                <a:spcPts val="0"/>
              </a:spcAft>
              <a:buFont typeface="Symbol" panose="05050102010706020507" pitchFamily="18" charset="2"/>
              <a:buChar char=""/>
            </a:pPr>
            <a:r>
              <a:rPr lang="en-US" sz="36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excepted by the inherent requirement of the job</a:t>
            </a: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Thus in order to bring about equity the principle  must be complimented by another equally important principle so called ―</a:t>
            </a:r>
            <a:r>
              <a:rPr lang="en-US" sz="36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affirmative action.</a:t>
            </a:r>
          </a:p>
          <a:p>
            <a:pPr marL="342900" lvl="0" indent="-342900" algn="just">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See Arts.13 &amp; 41of the Federal Civil Service and Arts. 14, 87, 88 of the L </a:t>
            </a:r>
            <a:r>
              <a:rPr lang="en-US" sz="3600" dirty="0" smtClean="0">
                <a:latin typeface="Calibri" panose="020F0502020204030204" pitchFamily="34" charset="0"/>
                <a:ea typeface="Calibri" panose="020F0502020204030204" pitchFamily="34" charset="0"/>
                <a:cs typeface="Times New Roman" panose="02020603050405020304" pitchFamily="18" charset="0"/>
              </a:rPr>
              <a:t>P</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78944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6486263"/>
          </a:xfrm>
          <a:prstGeom prst="rect">
            <a:avLst/>
          </a:prstGeom>
        </p:spPr>
        <p:txBody>
          <a:bodyPr wrap="square">
            <a:spAutoFit/>
          </a:bodyPr>
          <a:lstStyle/>
          <a:p>
            <a:pPr marL="342900" lvl="0" indent="-342900" algn="just">
              <a:lnSpc>
                <a:spcPct val="107000"/>
              </a:lnSpc>
              <a:spcAft>
                <a:spcPts val="800"/>
              </a:spcAft>
              <a:buFont typeface="Symbol" panose="05050102010706020507" pitchFamily="18" charset="2"/>
              <a:buChar char=""/>
            </a:pPr>
            <a:r>
              <a:rPr lang="en-GB" sz="3200" b="1" dirty="0" smtClean="0">
                <a:effectLst/>
                <a:latin typeface="Calibri" panose="020F0502020204030204" pitchFamily="34" charset="0"/>
                <a:ea typeface="Calibri" panose="020F0502020204030204" pitchFamily="34" charset="0"/>
                <a:cs typeface="Times New Roman" panose="02020603050405020304" pitchFamily="18" charset="0"/>
              </a:rPr>
              <a:t>TWO MODALITIES OF PROTECTION</a:t>
            </a:r>
            <a:endParaRPr lang="en-US" sz="32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1257300" lvl="2" indent="-342900" algn="just">
              <a:lnSpc>
                <a:spcPct val="107000"/>
              </a:lnSpc>
              <a:spcAft>
                <a:spcPts val="800"/>
              </a:spcAft>
              <a:buFont typeface="Symbol" panose="05050102010706020507" pitchFamily="18" charset="2"/>
              <a:buChar char=""/>
            </a:pPr>
            <a:r>
              <a:rPr lang="en-US" sz="2800" dirty="0" smtClean="0">
                <a:effectLst/>
                <a:latin typeface="Calibri" panose="020F0502020204030204" pitchFamily="34" charset="0"/>
                <a:ea typeface="Calibri" panose="020F0502020204030204" pitchFamily="34" charset="0"/>
                <a:cs typeface="Times New Roman" panose="02020603050405020304" pitchFamily="18" charset="0"/>
              </a:rPr>
              <a:t>The law tries to regulate the situation of female employees from two angles: </a:t>
            </a:r>
          </a:p>
          <a:p>
            <a:pPr lvl="0"/>
            <a:r>
              <a:rPr lang="en-US" sz="2800" b="1" dirty="0" smtClean="0"/>
              <a:t>1.  Horizontal </a:t>
            </a:r>
            <a:r>
              <a:rPr lang="en-US" sz="2800" b="1" dirty="0"/>
              <a:t>treatment</a:t>
            </a:r>
          </a:p>
          <a:p>
            <a:pPr marL="742950" lvl="1" indent="-285750">
              <a:buFont typeface="Arial" panose="020B0604020202020204" pitchFamily="34" charset="0"/>
              <a:buChar char="•"/>
            </a:pPr>
            <a:r>
              <a:rPr lang="en-US" sz="2800" dirty="0"/>
              <a:t>Art </a:t>
            </a:r>
            <a:r>
              <a:rPr lang="en-US" sz="2800" dirty="0" smtClean="0"/>
              <a:t>87  LP and Art 42 of the constitution</a:t>
            </a:r>
          </a:p>
          <a:p>
            <a:pPr marL="742950" lvl="1" indent="-285750">
              <a:buFont typeface="Arial" panose="020B0604020202020204" pitchFamily="34" charset="0"/>
              <a:buChar char="•"/>
            </a:pPr>
            <a:r>
              <a:rPr lang="en-US" sz="2800" dirty="0" smtClean="0"/>
              <a:t>Gender </a:t>
            </a:r>
            <a:r>
              <a:rPr lang="en-US" sz="2800" dirty="0"/>
              <a:t>based </a:t>
            </a:r>
            <a:r>
              <a:rPr lang="en-US" sz="2800" dirty="0" smtClean="0"/>
              <a:t>protection</a:t>
            </a:r>
          </a:p>
          <a:p>
            <a:pPr marL="742950" lvl="1" indent="-285750">
              <a:buFont typeface="Arial" panose="020B0604020202020204" pitchFamily="34" charset="0"/>
              <a:buChar char="•"/>
            </a:pPr>
            <a:r>
              <a:rPr lang="en-US" sz="2800" dirty="0" smtClean="0"/>
              <a:t>Provides </a:t>
            </a:r>
            <a:r>
              <a:rPr lang="en-US" sz="2800" dirty="0"/>
              <a:t>flat protection available to all females by virtue of being female. </a:t>
            </a:r>
            <a:endParaRPr lang="en-US" sz="2800" dirty="0" smtClean="0"/>
          </a:p>
          <a:p>
            <a:pPr marL="742950" lvl="1" indent="-285750">
              <a:buFont typeface="Arial" panose="020B0604020202020204" pitchFamily="34" charset="0"/>
              <a:buChar char="•"/>
            </a:pPr>
            <a:r>
              <a:rPr lang="en-US" sz="2800" dirty="0" smtClean="0"/>
              <a:t> </a:t>
            </a:r>
            <a:r>
              <a:rPr lang="en-US" sz="2800" dirty="0"/>
              <a:t>Women shall not be discriminated against as regards employment and payment, on the basis of their sex (Art.87 (1) Labor Proclamation</a:t>
            </a:r>
            <a:r>
              <a:rPr lang="en-US" sz="2800" dirty="0" smtClean="0"/>
              <a:t>).</a:t>
            </a:r>
          </a:p>
          <a:p>
            <a:pPr marL="742950" lvl="1" indent="-285750">
              <a:buFont typeface="Arial" panose="020B0604020202020204" pitchFamily="34" charset="0"/>
              <a:buChar char="•"/>
            </a:pPr>
            <a:r>
              <a:rPr lang="en-US" sz="2800" dirty="0"/>
              <a:t>T</a:t>
            </a:r>
            <a:r>
              <a:rPr lang="en-US" sz="2800" dirty="0" smtClean="0"/>
              <a:t>he </a:t>
            </a:r>
            <a:r>
              <a:rPr lang="en-US" sz="2800" dirty="0"/>
              <a:t>principle of non-discrimination may be deviated from through </a:t>
            </a:r>
            <a:r>
              <a:rPr lang="en-US" sz="2800" dirty="0" smtClean="0"/>
              <a:t> inherent </a:t>
            </a:r>
            <a:r>
              <a:rPr lang="en-US" sz="2800" dirty="0"/>
              <a:t>job requirement or genuine occupational </a:t>
            </a:r>
            <a:r>
              <a:rPr lang="en-US" sz="2800" dirty="0" smtClean="0"/>
              <a:t>qualification</a:t>
            </a:r>
          </a:p>
          <a:p>
            <a:pPr marL="742950" lvl="1" indent="-285750">
              <a:buFont typeface="Arial" panose="020B0604020202020204" pitchFamily="34" charset="0"/>
              <a:buChar char="•"/>
            </a:pPr>
            <a:r>
              <a:rPr lang="en-US" sz="2800" dirty="0" smtClean="0"/>
              <a:t>Prohibition </a:t>
            </a:r>
            <a:r>
              <a:rPr lang="en-US" sz="2800" dirty="0"/>
              <a:t>on employment at work which are hazardous or harmful to their health</a:t>
            </a:r>
            <a:r>
              <a:rPr lang="en-US" sz="2800" dirty="0" smtClean="0"/>
              <a:t>.</a:t>
            </a:r>
            <a:endParaRPr lang="en-US" sz="28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54231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399" y="168668"/>
            <a:ext cx="11752096" cy="6689332"/>
          </a:xfrm>
          <a:prstGeom prst="rect">
            <a:avLst/>
          </a:prstGeom>
        </p:spPr>
        <p:txBody>
          <a:bodyPr wrap="square">
            <a:spAutoFit/>
          </a:bodyPr>
          <a:lstStyle/>
          <a:p>
            <a:pPr lvl="0">
              <a:lnSpc>
                <a:spcPct val="107000"/>
              </a:lnSpc>
              <a:spcAft>
                <a:spcPts val="0"/>
              </a:spcAft>
            </a:pPr>
            <a:r>
              <a:rPr lang="en-US" sz="3600" b="1" dirty="0" smtClean="0">
                <a:effectLst/>
                <a:latin typeface="Calibri" panose="020F0502020204030204" pitchFamily="34" charset="0"/>
                <a:ea typeface="Calibri" panose="020F0502020204030204" pitchFamily="34" charset="0"/>
                <a:cs typeface="Times New Roman" panose="02020603050405020304" pitchFamily="18" charset="0"/>
              </a:rPr>
              <a:t>2. Particular situation protection </a:t>
            </a:r>
          </a:p>
          <a:p>
            <a:pPr marL="742950" lvl="1" indent="-285750">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Art 87(3, 4, 5)</a:t>
            </a:r>
          </a:p>
          <a:p>
            <a:pPr marL="742950" lvl="1" indent="-285750">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Pregnancy and post natal</a:t>
            </a:r>
          </a:p>
          <a:p>
            <a:pPr marL="742950" lvl="1" indent="-285750">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No night work and overtime for pregnant women</a:t>
            </a:r>
          </a:p>
          <a:p>
            <a:pPr marL="742950" lvl="1" indent="-285750">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Limits on termination</a:t>
            </a:r>
          </a:p>
          <a:p>
            <a:pPr marL="742950" lvl="1" indent="-285750">
              <a:lnSpc>
                <a:spcPct val="107000"/>
              </a:lnSpc>
              <a:spcAft>
                <a:spcPts val="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 Maternity leave is given for three months in duration (pre &amp; post natal) with full pay . </a:t>
            </a:r>
          </a:p>
          <a:p>
            <a:pPr marL="742950" lvl="1" indent="-285750">
              <a:lnSpc>
                <a:spcPct val="107000"/>
              </a:lnSpc>
              <a:spcAft>
                <a:spcPts val="80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Similar position has been adopted by the Federal Civil Service Proclamation in this respect (Art.41). </a:t>
            </a:r>
          </a:p>
          <a:p>
            <a:pPr marL="742950" lvl="1" indent="-285750">
              <a:lnSpc>
                <a:spcPct val="107000"/>
              </a:lnSpc>
              <a:spcAft>
                <a:spcPts val="800"/>
              </a:spcAft>
              <a:buFont typeface="Symbol" panose="05050102010706020507" pitchFamily="18" charset="2"/>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The Civil Service even allows for aggregation of maternity leave.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900712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441" y="168442"/>
            <a:ext cx="11790947" cy="4407169"/>
          </a:xfrm>
          <a:prstGeom prst="rect">
            <a:avLst/>
          </a:prstGeom>
        </p:spPr>
        <p:txBody>
          <a:bodyPr wrap="square">
            <a:spAutoFit/>
          </a:bodyPr>
          <a:lstStyle/>
          <a:p>
            <a:pPr marL="342900" lvl="0" indent="-342900">
              <a:lnSpc>
                <a:spcPct val="107000"/>
              </a:lnSpc>
              <a:spcAft>
                <a:spcPts val="800"/>
              </a:spcAft>
              <a:buFont typeface="Symbol" panose="05050102010706020507" pitchFamily="18" charset="2"/>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Reproduction is to the benefit of the family and society at large; if so, shouldn’t the family and society (i.e. the state as representative of society) share the cost of maternity leave? Why should the employer be compelled to solely cover such expense?      </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51181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718523"/>
          </a:xfrm>
          <a:prstGeom prst="rect">
            <a:avLst/>
          </a:prstGeom>
        </p:spPr>
        <p:txBody>
          <a:bodyPr wrap="square">
            <a:spAutoFit/>
          </a:bodyPr>
          <a:lstStyle/>
          <a:p>
            <a:pPr>
              <a:lnSpc>
                <a:spcPct val="107000"/>
              </a:lnSpc>
              <a:spcAft>
                <a:spcPts val="800"/>
              </a:spcAft>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5. Employees with disability </a:t>
            </a:r>
          </a:p>
          <a:p>
            <a:pPr marL="571500" indent="-571500">
              <a:lnSpc>
                <a:spcPct val="107000"/>
              </a:lnSpc>
              <a:spcAft>
                <a:spcPts val="800"/>
              </a:spcAft>
              <a:buFont typeface="Arial" panose="020B0604020202020204" pitchFamily="34" charset="0"/>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The concept of disability?</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943100" lvl="3" indent="-571500">
              <a:lnSpc>
                <a:spcPct val="107000"/>
              </a:lnSpc>
              <a:spcAft>
                <a:spcPts val="800"/>
              </a:spcAft>
              <a:buFont typeface="Arial" panose="020B060402020202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what constitutes a disability?</a:t>
            </a:r>
          </a:p>
          <a:p>
            <a:pPr marL="1028700" lvl="1" indent="-571500">
              <a:lnSpc>
                <a:spcPct val="107000"/>
              </a:lnSpc>
              <a:spcAft>
                <a:spcPts val="800"/>
              </a:spcAft>
              <a:buFont typeface="Arial" panose="020B0604020202020204" pitchFamily="34" charset="0"/>
              <a:buChar char="•"/>
            </a:pPr>
            <a:r>
              <a:rPr lang="en-US" sz="4000" dirty="0"/>
              <a:t>a person with disability as an individual whose equal employment opportunity is reduced as a result of his physical, mental or sensory impairments in relation with social, economic and cultural </a:t>
            </a:r>
            <a:r>
              <a:rPr lang="en-US" sz="4000" dirty="0" smtClean="0"/>
              <a:t>discrimination.</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a:t>
            </a:r>
          </a:p>
          <a:p>
            <a:pPr marL="1028700" lvl="1" indent="-571500">
              <a:lnSpc>
                <a:spcPct val="107000"/>
              </a:lnSpc>
              <a:spcAft>
                <a:spcPts val="800"/>
              </a:spcAft>
              <a:buFont typeface="Arial" panose="020B0604020202020204" pitchFamily="34" charset="0"/>
              <a:buChar char="•"/>
            </a:pPr>
            <a:r>
              <a:rPr lang="en-US" sz="2800" b="1" dirty="0">
                <a:latin typeface="Calibri" panose="020F0502020204030204" pitchFamily="34" charset="0"/>
                <a:ea typeface="Calibri" panose="020F0502020204030204" pitchFamily="34" charset="0"/>
                <a:cs typeface="Times New Roman" panose="02020603050405020304" pitchFamily="18" charset="0"/>
              </a:rPr>
              <a:t>A PROCLAMATION TO PROVIDE FOR THE RIGHT TO EMPLOYMENT OF PERSONS WITH </a:t>
            </a:r>
            <a:r>
              <a:rPr lang="en-US" sz="2800" b="1" dirty="0" smtClean="0">
                <a:latin typeface="Calibri" panose="020F0502020204030204" pitchFamily="34" charset="0"/>
                <a:ea typeface="Calibri" panose="020F0502020204030204" pitchFamily="34" charset="0"/>
                <a:cs typeface="Times New Roman" panose="02020603050405020304" pitchFamily="18" charset="0"/>
              </a:rPr>
              <a:t>DISABILITY 568/200</a:t>
            </a:r>
            <a:endParaRPr lang="en-GB" sz="28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184159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088906" cy="6876113"/>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4000" b="1" dirty="0" smtClean="0">
                <a:latin typeface="Calibri" panose="020F0502020204030204" pitchFamily="34" charset="0"/>
                <a:ea typeface="Calibri" panose="020F0502020204030204" pitchFamily="34" charset="0"/>
                <a:cs typeface="Times New Roman" panose="02020603050405020304" pitchFamily="18" charset="0"/>
              </a:rPr>
              <a:t>Protections:- </a:t>
            </a:r>
            <a:endParaRPr lang="en-US" sz="4000"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2800" b="1" dirty="0">
                <a:latin typeface="Calibri" panose="020F0502020204030204" pitchFamily="34" charset="0"/>
                <a:ea typeface="Calibri" panose="020F0502020204030204" pitchFamily="34" charset="0"/>
                <a:cs typeface="Times New Roman" panose="02020603050405020304" pitchFamily="18" charset="0"/>
              </a:rPr>
              <a:t>The principle of non-discrimination</a:t>
            </a:r>
            <a:r>
              <a:rPr lang="en-US" sz="2800" dirty="0">
                <a:latin typeface="Calibri" panose="020F0502020204030204" pitchFamily="34" charset="0"/>
                <a:ea typeface="Calibri" panose="020F0502020204030204" pitchFamily="34" charset="0"/>
                <a:cs typeface="Times New Roman" panose="02020603050405020304" pitchFamily="18" charset="0"/>
              </a:rPr>
              <a:t> on grounds of disability has also been expressly inserted under the FCSP (Art.13 (1)). Though not as express as the FCSP, the LP prohibits discrimination among employees……..</a:t>
            </a:r>
            <a:r>
              <a:rPr lang="en-US" sz="2800" b="1" i="1" dirty="0">
                <a:latin typeface="Calibri" panose="020F0502020204030204" pitchFamily="34" charset="0"/>
                <a:ea typeface="Calibri" panose="020F0502020204030204" pitchFamily="34" charset="0"/>
                <a:cs typeface="Times New Roman" panose="02020603050405020304" pitchFamily="18" charset="0"/>
              </a:rPr>
              <a:t>or any other condition</a:t>
            </a:r>
            <a:r>
              <a:rPr lang="en-US" sz="2800" dirty="0">
                <a:latin typeface="Calibri" panose="020F0502020204030204" pitchFamily="34" charset="0"/>
                <a:ea typeface="Calibri" panose="020F0502020204030204" pitchFamily="34" charset="0"/>
                <a:cs typeface="Times New Roman" panose="02020603050405020304" pitchFamily="18" charset="0"/>
              </a:rPr>
              <a:t>. (Art.14 (1) (f) </a:t>
            </a:r>
          </a:p>
          <a:p>
            <a:pPr marL="342900" lvl="0" indent="-342900">
              <a:lnSpc>
                <a:spcPct val="107000"/>
              </a:lnSpc>
              <a:spcAft>
                <a:spcPts val="0"/>
              </a:spcAft>
              <a:buFont typeface="Symbol" panose="05050102010706020507" pitchFamily="18" charset="2"/>
              <a:buChar char=""/>
            </a:pPr>
            <a:r>
              <a:rPr lang="en-US" sz="3200" dirty="0">
                <a:latin typeface="Calibri" panose="020F0502020204030204" pitchFamily="34" charset="0"/>
                <a:ea typeface="Calibri" panose="020F0502020204030204" pitchFamily="34" charset="0"/>
                <a:cs typeface="Times New Roman" panose="02020603050405020304" pitchFamily="18" charset="0"/>
              </a:rPr>
              <a:t>The inherent job requirement exception to the general principle is applicable in this case, too.  </a:t>
            </a:r>
          </a:p>
          <a:p>
            <a:pPr marL="342900" lvl="0" indent="-342900">
              <a:lnSpc>
                <a:spcPct val="107000"/>
              </a:lnSpc>
              <a:spcAft>
                <a:spcPts val="0"/>
              </a:spcAft>
              <a:buFont typeface="Symbol" panose="05050102010706020507" pitchFamily="18" charset="2"/>
              <a:buChar char=""/>
            </a:pPr>
            <a:r>
              <a:rPr lang="en-US" sz="2800" b="1" dirty="0" smtClean="0">
                <a:latin typeface="Calibri" panose="020F0502020204030204" pitchFamily="34" charset="0"/>
                <a:ea typeface="Calibri" panose="020F0502020204030204" pitchFamily="34" charset="0"/>
                <a:cs typeface="Times New Roman" panose="02020603050405020304" pitchFamily="18" charset="0"/>
              </a:rPr>
              <a:t>The </a:t>
            </a:r>
            <a:r>
              <a:rPr lang="en-US" sz="2800" b="1" dirty="0">
                <a:latin typeface="Calibri" panose="020F0502020204030204" pitchFamily="34" charset="0"/>
                <a:ea typeface="Calibri" panose="020F0502020204030204" pitchFamily="34" charset="0"/>
                <a:cs typeface="Times New Roman" panose="02020603050405020304" pitchFamily="18" charset="0"/>
              </a:rPr>
              <a:t>principle of ―reasonable accommodation</a:t>
            </a:r>
            <a:r>
              <a:rPr lang="en-US" sz="2800" dirty="0">
                <a:latin typeface="Calibri" panose="020F0502020204030204" pitchFamily="34" charset="0"/>
                <a:ea typeface="Calibri" panose="020F0502020204030204" pitchFamily="34" charset="0"/>
                <a:cs typeface="Times New Roman" panose="02020603050405020304" pitchFamily="18" charset="0"/>
              </a:rPr>
              <a:t> for persons with disability seems to have been incorporated in this Proclamation (Art.6 of the Proclamation).  </a:t>
            </a:r>
            <a:endParaRPr lang="en-US" sz="2800" dirty="0" smtClean="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US" sz="2800" dirty="0">
                <a:latin typeface="Calibri" panose="020F0502020204030204" pitchFamily="34" charset="0"/>
                <a:ea typeface="Calibri" panose="020F0502020204030204" pitchFamily="34" charset="0"/>
                <a:cs typeface="Times New Roman" panose="02020603050405020304" pitchFamily="18" charset="0"/>
              </a:rPr>
              <a:t>Reasonable accommodation" means an adjustment </a:t>
            </a:r>
            <a:r>
              <a:rPr lang="en-US" sz="2800" dirty="0" smtClean="0">
                <a:latin typeface="Calibri" panose="020F0502020204030204" pitchFamily="34" charset="0"/>
                <a:ea typeface="Calibri" panose="020F0502020204030204" pitchFamily="34" charset="0"/>
                <a:cs typeface="Times New Roman" panose="02020603050405020304" pitchFamily="18" charset="0"/>
              </a:rPr>
              <a:t>or accommodation </a:t>
            </a:r>
            <a:r>
              <a:rPr lang="en-US" sz="2800" dirty="0">
                <a:latin typeface="Calibri" panose="020F0502020204030204" pitchFamily="34" charset="0"/>
                <a:ea typeface="Calibri" panose="020F0502020204030204" pitchFamily="34" charset="0"/>
                <a:cs typeface="Times New Roman" panose="02020603050405020304" pitchFamily="18" charset="0"/>
              </a:rPr>
              <a:t>with respect to equipment at the work place, requirement of the job, working hours, structure of the business and working environment with a view to accommodate persons with disabilities to </a:t>
            </a:r>
            <a:r>
              <a:rPr lang="en-US" sz="2800" dirty="0" smtClean="0">
                <a:latin typeface="Calibri" panose="020F0502020204030204" pitchFamily="34" charset="0"/>
                <a:ea typeface="Calibri" panose="020F0502020204030204" pitchFamily="34" charset="0"/>
                <a:cs typeface="Times New Roman" panose="02020603050405020304" pitchFamily="18" charset="0"/>
              </a:rPr>
              <a:t>employment.</a:t>
            </a:r>
            <a:endParaRPr lang="en-US"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93246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632311"/>
          </a:xfrm>
          <a:prstGeom prst="rect">
            <a:avLst/>
          </a:prstGeom>
        </p:spPr>
        <p:txBody>
          <a:bodyPr wrap="square">
            <a:spAutoFit/>
          </a:bodyPr>
          <a:lstStyle/>
          <a:p>
            <a:pPr marL="571500" lvl="0" indent="-571500">
              <a:buFont typeface="Arial" panose="020B0604020202020204" pitchFamily="34" charset="0"/>
              <a:buChar char="•"/>
            </a:pPr>
            <a:r>
              <a:rPr lang="en-US" sz="3600" dirty="0">
                <a:latin typeface="Calibri" panose="020F0502020204030204" pitchFamily="34" charset="0"/>
                <a:ea typeface="Calibri" panose="020F0502020204030204" pitchFamily="34" charset="0"/>
                <a:cs typeface="Times New Roman" panose="02020603050405020304" pitchFamily="18" charset="0"/>
              </a:rPr>
              <a:t>This reflected the widely held belief that people with disabilities needed care and assistance, being unable and incapable of living their own </a:t>
            </a:r>
            <a:r>
              <a:rPr lang="en-US" sz="3600" dirty="0" smtClean="0">
                <a:latin typeface="Calibri" panose="020F0502020204030204" pitchFamily="34" charset="0"/>
                <a:ea typeface="Calibri" panose="020F0502020204030204" pitchFamily="34" charset="0"/>
                <a:cs typeface="Times New Roman" panose="02020603050405020304" pitchFamily="18" charset="0"/>
              </a:rPr>
              <a:t>lives.</a:t>
            </a:r>
          </a:p>
          <a:p>
            <a:pPr marL="571500" lvl="0" indent="-571500">
              <a:buFont typeface="Arial" panose="020B0604020202020204" pitchFamily="34" charset="0"/>
              <a:buChar char="•"/>
            </a:pPr>
            <a:r>
              <a:rPr lang="en-US" sz="3600" dirty="0" smtClean="0">
                <a:latin typeface="Calibri" panose="020F0502020204030204" pitchFamily="34" charset="0"/>
                <a:ea typeface="Calibri" panose="020F0502020204030204" pitchFamily="34" charset="0"/>
                <a:cs typeface="Times New Roman" panose="02020603050405020304" pitchFamily="18" charset="0"/>
              </a:rPr>
              <a:t>Examples </a:t>
            </a:r>
            <a:r>
              <a:rPr lang="en-US" sz="3600" dirty="0">
                <a:latin typeface="Calibri" panose="020F0502020204030204" pitchFamily="34" charset="0"/>
                <a:ea typeface="Calibri" panose="020F0502020204030204" pitchFamily="34" charset="0"/>
                <a:cs typeface="Times New Roman" panose="02020603050405020304" pitchFamily="18" charset="0"/>
              </a:rPr>
              <a:t>of a reasonable accommodation: -  an adjusted office chair (for a person with a back impairment), adapted working hours (e.g. for a person with a medical condition requiring frequent rest-breaks), -  a computer keyboard with a Braille reader (for a blind person), and -  the assignment of a job coach (e.g. for a person with an intellectual or mental health disability).  </a:t>
            </a:r>
            <a:endParaRPr lang="en-US" sz="3600" dirty="0"/>
          </a:p>
        </p:txBody>
      </p:sp>
    </p:spTree>
    <p:extLst>
      <p:ext uri="{BB962C8B-B14F-4D97-AF65-F5344CB8AC3E}">
        <p14:creationId xmlns:p14="http://schemas.microsoft.com/office/powerpoint/2010/main" val="40978684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153" y="0"/>
            <a:ext cx="11976847" cy="3416320"/>
          </a:xfrm>
          <a:prstGeom prst="rect">
            <a:avLst/>
          </a:prstGeom>
        </p:spPr>
        <p:txBody>
          <a:bodyPr wrap="square">
            <a:spAutoFit/>
          </a:bodyPr>
          <a:lstStyle/>
          <a:p>
            <a:endParaRPr lang="en-US" sz="3600" dirty="0" smtClean="0"/>
          </a:p>
          <a:p>
            <a:pPr marL="571500" indent="-571500">
              <a:buFont typeface="Arial" panose="020B0604020202020204" pitchFamily="34" charset="0"/>
              <a:buChar char="•"/>
            </a:pPr>
            <a:r>
              <a:rPr lang="en-US" sz="3600" dirty="0" smtClean="0"/>
              <a:t>When a </a:t>
            </a:r>
            <a:r>
              <a:rPr lang="en-US" sz="3600" dirty="0"/>
              <a:t>disabled person is not in a position to exercise his equal right of employment opportunity, as </a:t>
            </a:r>
            <a:r>
              <a:rPr lang="en-US" sz="3600" dirty="0" smtClean="0"/>
              <a:t>a result </a:t>
            </a:r>
            <a:r>
              <a:rPr lang="en-US" sz="3600" dirty="0"/>
              <a:t>of absence of a reasonable accommodation, such an act shall be regarded as </a:t>
            </a:r>
            <a:r>
              <a:rPr lang="en-US" sz="3600" dirty="0" smtClean="0"/>
              <a:t>discrimination Art 5(3).</a:t>
            </a:r>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2436294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6481133"/>
          </a:xfrm>
          <a:prstGeom prst="rect">
            <a:avLst/>
          </a:prstGeom>
        </p:spPr>
        <p:txBody>
          <a:bodyPr wrap="square">
            <a:spAutoFit/>
          </a:bodyPr>
          <a:lstStyle/>
          <a:p>
            <a:pPr marL="742950" lvl="1" indent="-285750" algn="just">
              <a:lnSpc>
                <a:spcPct val="107000"/>
              </a:lnSpc>
              <a:spcAft>
                <a:spcPts val="0"/>
              </a:spcAft>
              <a:buFont typeface="Courier New" panose="02070309020205020404" pitchFamily="49" charset="0"/>
              <a:buChar char="o"/>
            </a:pPr>
            <a:r>
              <a:rPr lang="en-US" sz="3200" dirty="0">
                <a:latin typeface="Calibri" panose="020F0502020204030204" pitchFamily="34" charset="0"/>
                <a:ea typeface="Calibri" panose="020F0502020204030204" pitchFamily="34" charset="0"/>
                <a:cs typeface="Times New Roman" panose="02020603050405020304" pitchFamily="18" charset="0"/>
              </a:rPr>
              <a:t>Who shoulders the burden of prove in discrimination cases? The Directive of EU stipulates that disability discrimination cases are subject to a reversal of the burden of proof in favor of the employee or job applicant with a disability from 2003 onwards.  </a:t>
            </a:r>
          </a:p>
          <a:p>
            <a:pPr marL="742950" lvl="1" indent="-285750" algn="just">
              <a:lnSpc>
                <a:spcPct val="107000"/>
              </a:lnSpc>
              <a:spcAft>
                <a:spcPts val="0"/>
              </a:spcAft>
              <a:buFont typeface="Courier New" panose="02070309020205020404" pitchFamily="49" charset="0"/>
              <a:buChar char="o"/>
            </a:pPr>
            <a:r>
              <a:rPr lang="en-US" sz="3200" dirty="0">
                <a:latin typeface="Calibri" panose="020F0502020204030204" pitchFamily="34" charset="0"/>
                <a:ea typeface="Calibri" panose="020F0502020204030204" pitchFamily="34" charset="0"/>
                <a:cs typeface="Times New Roman" panose="02020603050405020304" pitchFamily="18" charset="0"/>
              </a:rPr>
              <a:t>The Disability Act of Ethiopia (2008) has also incorporated this principle. </a:t>
            </a:r>
          </a:p>
          <a:p>
            <a:pPr marL="742950" lvl="1" indent="-285750" algn="just">
              <a:lnSpc>
                <a:spcPct val="107000"/>
              </a:lnSpc>
              <a:spcAft>
                <a:spcPts val="0"/>
              </a:spcAft>
              <a:buFont typeface="Courier New" panose="02070309020205020404" pitchFamily="49" charset="0"/>
              <a:buChar char="o"/>
            </a:pPr>
            <a:r>
              <a:rPr lang="en-US" sz="2800" dirty="0">
                <a:latin typeface="Calibri" panose="020F0502020204030204" pitchFamily="34" charset="0"/>
                <a:ea typeface="Calibri" panose="020F0502020204030204" pitchFamily="34" charset="0"/>
                <a:cs typeface="Times New Roman" panose="02020603050405020304" pitchFamily="18" charset="0"/>
              </a:rPr>
              <a:t>Article 7(1) any person with disability who alleges that discrimination on ground of disability existed with respect to recruitment, promotion, placement, transfer or other conditions of employment may institute a suit to the competent court on the issue without the requirement of the burden of proof.  </a:t>
            </a:r>
          </a:p>
          <a:p>
            <a:pPr marL="742950" lvl="1" indent="-285750" algn="just">
              <a:lnSpc>
                <a:spcPct val="107000"/>
              </a:lnSpc>
              <a:spcAft>
                <a:spcPts val="800"/>
              </a:spcAft>
              <a:buFont typeface="Courier New" panose="02070309020205020404" pitchFamily="49" charset="0"/>
              <a:buChar char="o"/>
            </a:pPr>
            <a:r>
              <a:rPr lang="en-US" sz="2800" dirty="0">
                <a:latin typeface="Calibri" panose="020F0502020204030204" pitchFamily="34" charset="0"/>
                <a:ea typeface="Calibri" panose="020F0502020204030204" pitchFamily="34" charset="0"/>
                <a:cs typeface="Times New Roman" panose="02020603050405020304" pitchFamily="18" charset="0"/>
              </a:rPr>
              <a:t>7(2) the defendant to a suit instituted pursuant to sub-article (1) of this article shall be responsible to prove that there was no act of discrimination thereof.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87331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7917" y="0"/>
            <a:ext cx="11833412" cy="6689332"/>
          </a:xfrm>
          <a:prstGeom prst="rect">
            <a:avLst/>
          </a:prstGeom>
        </p:spPr>
        <p:txBody>
          <a:bodyPr wrap="square">
            <a:spAutoFit/>
          </a:bodyPr>
          <a:lstStyle/>
          <a:p>
            <a:pPr algn="just">
              <a:lnSpc>
                <a:spcPct val="107000"/>
              </a:lnSpc>
              <a:spcAft>
                <a:spcPts val="800"/>
              </a:spcAft>
            </a:pPr>
            <a:r>
              <a:rPr lang="en-US" sz="3600" b="1" dirty="0">
                <a:latin typeface="Calibri" panose="020F0502020204030204" pitchFamily="34" charset="0"/>
                <a:ea typeface="Calibri" panose="020F0502020204030204" pitchFamily="34" charset="0"/>
                <a:cs typeface="Times New Roman" panose="02020603050405020304" pitchFamily="18" charset="0"/>
              </a:rPr>
              <a:t>6. Non Ethiopian employees </a:t>
            </a:r>
            <a:endParaRPr lang="en-US" sz="3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US" sz="3600" dirty="0">
                <a:latin typeface="Calibri" panose="020F0502020204030204" pitchFamily="34" charset="0"/>
                <a:ea typeface="Calibri" panose="020F0502020204030204" pitchFamily="34" charset="0"/>
                <a:cs typeface="Times New Roman" panose="02020603050405020304" pitchFamily="18" charset="0"/>
              </a:rPr>
              <a:t>Is not to accord special protection</a:t>
            </a:r>
            <a:r>
              <a:rPr lang="en-US" sz="3600" dirty="0" smtClean="0">
                <a:latin typeface="Calibri" panose="020F0502020204030204" pitchFamily="34" charset="0"/>
                <a:ea typeface="Calibri" panose="020F0502020204030204" pitchFamily="34" charset="0"/>
                <a:cs typeface="Times New Roman" panose="02020603050405020304" pitchFamily="18" charset="0"/>
              </a:rPr>
              <a:t>.</a:t>
            </a:r>
            <a:endParaRPr lang="en-US" sz="3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US" sz="3600" dirty="0">
                <a:latin typeface="Calibri" panose="020F0502020204030204" pitchFamily="34" charset="0"/>
                <a:ea typeface="Calibri" panose="020F0502020204030204" pitchFamily="34" charset="0"/>
                <a:cs typeface="Times New Roman" panose="02020603050405020304" pitchFamily="18" charset="0"/>
              </a:rPr>
              <a:t> Every country has an express or implied policy on how non-nationals are to avail themselves to its domestic labor market. </a:t>
            </a:r>
          </a:p>
          <a:p>
            <a:pPr marL="342900" lvl="0" indent="-342900" algn="just">
              <a:lnSpc>
                <a:spcPct val="107000"/>
              </a:lnSpc>
              <a:spcAft>
                <a:spcPts val="0"/>
              </a:spcAft>
              <a:buFont typeface="Symbol" panose="05050102010706020507" pitchFamily="18" charset="2"/>
              <a:buChar char=""/>
            </a:pPr>
            <a:r>
              <a:rPr lang="en-US" sz="3600" dirty="0">
                <a:latin typeface="Calibri" panose="020F0502020204030204" pitchFamily="34" charset="0"/>
                <a:ea typeface="Calibri" panose="020F0502020204030204" pitchFamily="34" charset="0"/>
                <a:cs typeface="Times New Roman" panose="02020603050405020304" pitchFamily="18" charset="0"/>
              </a:rPr>
              <a:t>As expression of this sovereign authority, the Ethiopian legislature lays down conditions on the basis of which foreign nationals may be employed in Ethiopia. (Refer. Art.174 LP &amp; Art.15 &amp; 22(2) FCSP). </a:t>
            </a:r>
          </a:p>
          <a:p>
            <a:pPr marL="342900" lvl="0" indent="-342900" algn="just">
              <a:lnSpc>
                <a:spcPct val="107000"/>
              </a:lnSpc>
              <a:spcAft>
                <a:spcPts val="800"/>
              </a:spcAft>
              <a:buFont typeface="Symbol" panose="05050102010706020507" pitchFamily="18" charset="2"/>
              <a:buChar char=""/>
            </a:pPr>
            <a:r>
              <a:rPr lang="en-US" sz="3600" dirty="0">
                <a:latin typeface="Calibri" panose="020F0502020204030204" pitchFamily="34" charset="0"/>
                <a:ea typeface="Calibri" panose="020F0502020204030204" pitchFamily="34" charset="0"/>
                <a:cs typeface="Times New Roman" panose="02020603050405020304" pitchFamily="18" charset="0"/>
              </a:rPr>
              <a:t>Moreover, employment of foreign national is temporary and for limited duration.</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71845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3366"/>
            <a:ext cx="12030635" cy="5607241"/>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2400" dirty="0">
                <a:latin typeface="Calibri" panose="020F0502020204030204" pitchFamily="34" charset="0"/>
                <a:ea typeface="Calibri" panose="020F0502020204030204" pitchFamily="34" charset="0"/>
                <a:cs typeface="Times New Roman" panose="02020603050405020304" pitchFamily="18" charset="0"/>
              </a:rPr>
              <a:t> It must also be noted that there are specific areas of employment where foreigners may not have access to employment such as defense, security and foreign affairs.  </a:t>
            </a:r>
          </a:p>
          <a:p>
            <a:pPr marL="342900" lvl="0" indent="-342900">
              <a:lnSpc>
                <a:spcPct val="107000"/>
              </a:lnSpc>
              <a:spcAft>
                <a:spcPts val="0"/>
              </a:spcAft>
              <a:buFont typeface="Symbol" panose="05050102010706020507" pitchFamily="18" charset="2"/>
              <a:buChar char=""/>
            </a:pPr>
            <a:r>
              <a:rPr lang="en-US" sz="2400" dirty="0">
                <a:latin typeface="Calibri" panose="020F0502020204030204" pitchFamily="34" charset="0"/>
                <a:ea typeface="Calibri" panose="020F0502020204030204" pitchFamily="34" charset="0"/>
                <a:cs typeface="Times New Roman" panose="02020603050405020304" pitchFamily="18" charset="0"/>
              </a:rPr>
              <a:t>As a requirement, for a foreigner to be lawfully employed in Ethiopia, he/she needs to possess </a:t>
            </a:r>
            <a:r>
              <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double </a:t>
            </a:r>
            <a:r>
              <a:rPr lang="en-US" sz="2400" dirty="0" smtClean="0">
                <a:solidFill>
                  <a:srgbClr val="FF0000"/>
                </a:solidFill>
                <a:latin typeface="Calibri" panose="020F0502020204030204" pitchFamily="34" charset="0"/>
                <a:ea typeface="Calibri" panose="020F0502020204030204" pitchFamily="34" charset="0"/>
                <a:cs typeface="Times New Roman" panose="02020603050405020304" pitchFamily="18" charset="0"/>
              </a:rPr>
              <a:t>permits</a:t>
            </a:r>
          </a:p>
          <a:p>
            <a:pPr marL="342900" lvl="0" indent="-342900">
              <a:lnSpc>
                <a:spcPct val="107000"/>
              </a:lnSpc>
              <a:spcAft>
                <a:spcPts val="0"/>
              </a:spcAft>
              <a:buFont typeface="Symbol" panose="05050102010706020507" pitchFamily="18" charset="2"/>
              <a:buChar char=""/>
            </a:pPr>
            <a:r>
              <a:rPr lang="en-US" sz="2400" dirty="0" smtClean="0">
                <a:solidFill>
                  <a:schemeClr val="accent2"/>
                </a:solidFill>
                <a:latin typeface="Calibri" panose="020F0502020204030204" pitchFamily="34" charset="0"/>
                <a:ea typeface="Calibri" panose="020F0502020204030204" pitchFamily="34" charset="0"/>
                <a:cs typeface="Times New Roman" panose="02020603050405020304" pitchFamily="18" charset="0"/>
              </a:rPr>
              <a:t> </a:t>
            </a:r>
            <a:r>
              <a:rPr lang="en-US" sz="2400" dirty="0">
                <a:solidFill>
                  <a:schemeClr val="accent2"/>
                </a:solidFill>
                <a:latin typeface="Calibri" panose="020F0502020204030204" pitchFamily="34" charset="0"/>
                <a:ea typeface="Calibri" panose="020F0502020204030204" pitchFamily="34" charset="0"/>
                <a:cs typeface="Times New Roman" panose="02020603050405020304" pitchFamily="18" charset="0"/>
              </a:rPr>
              <a:t>Residence Permit </a:t>
            </a:r>
            <a:r>
              <a:rPr lang="en-US" sz="2400" dirty="0">
                <a:latin typeface="Calibri" panose="020F0502020204030204" pitchFamily="34" charset="0"/>
                <a:ea typeface="Calibri" panose="020F0502020204030204" pitchFamily="34" charset="0"/>
                <a:cs typeface="Times New Roman" panose="02020603050405020304" pitchFamily="18" charset="0"/>
              </a:rPr>
              <a:t>&amp; </a:t>
            </a:r>
            <a:r>
              <a:rPr lang="en-US" sz="2400" dirty="0">
                <a:solidFill>
                  <a:schemeClr val="accent2"/>
                </a:solidFill>
                <a:latin typeface="Calibri" panose="020F0502020204030204" pitchFamily="34" charset="0"/>
                <a:ea typeface="Calibri" panose="020F0502020204030204" pitchFamily="34" charset="0"/>
                <a:cs typeface="Times New Roman" panose="02020603050405020304" pitchFamily="18" charset="0"/>
              </a:rPr>
              <a:t>Work </a:t>
            </a:r>
            <a:r>
              <a:rPr lang="en-US" sz="2400" dirty="0" smtClean="0">
                <a:solidFill>
                  <a:schemeClr val="accent2"/>
                </a:solidFill>
                <a:latin typeface="Calibri" panose="020F0502020204030204" pitchFamily="34" charset="0"/>
                <a:ea typeface="Calibri" panose="020F0502020204030204" pitchFamily="34" charset="0"/>
                <a:cs typeface="Times New Roman" panose="02020603050405020304" pitchFamily="18" charset="0"/>
              </a:rPr>
              <a:t>Permit</a:t>
            </a:r>
            <a:r>
              <a:rPr lang="en-US" sz="2400" dirty="0" smtClean="0">
                <a:latin typeface="Calibri" panose="020F0502020204030204" pitchFamily="34" charset="0"/>
                <a:ea typeface="Calibri" panose="020F0502020204030204" pitchFamily="34" charset="0"/>
                <a:cs typeface="Times New Roman" panose="02020603050405020304" pitchFamily="18" charset="0"/>
              </a:rPr>
              <a:t>: The </a:t>
            </a:r>
            <a:r>
              <a:rPr lang="en-US" sz="2400" dirty="0">
                <a:latin typeface="Calibri" panose="020F0502020204030204" pitchFamily="34" charset="0"/>
                <a:ea typeface="Calibri" panose="020F0502020204030204" pitchFamily="34" charset="0"/>
                <a:cs typeface="Times New Roman" panose="02020603050405020304" pitchFamily="18" charset="0"/>
              </a:rPr>
              <a:t>Power to issue Residence Permit is vested on the Security, Immigration and Refugee Affairs Authority; while Work Permit is to be issued by the Ministry of Labor and Social Affairs.(Art.174 LP)  </a:t>
            </a:r>
          </a:p>
          <a:p>
            <a:pPr marL="342900" lvl="0" indent="-342900">
              <a:lnSpc>
                <a:spcPct val="107000"/>
              </a:lnSpc>
              <a:spcAft>
                <a:spcPts val="0"/>
              </a:spcAft>
              <a:buFont typeface="Symbol" panose="05050102010706020507" pitchFamily="18" charset="2"/>
              <a:buChar char=""/>
            </a:pPr>
            <a:r>
              <a:rPr lang="en-US" sz="2400" dirty="0">
                <a:latin typeface="Calibri" panose="020F0502020204030204" pitchFamily="34" charset="0"/>
                <a:ea typeface="Calibri" panose="020F0502020204030204" pitchFamily="34" charset="0"/>
                <a:cs typeface="Times New Roman" panose="02020603050405020304" pitchFamily="18" charset="0"/>
              </a:rPr>
              <a:t>Under the Civil service employment regime, there is an express provision which stipulates ―a person who is not an Ethiopian national may not be eligible to be a civil servant</a:t>
            </a:r>
          </a:p>
          <a:p>
            <a:pPr marL="342900" lvl="0" indent="-342900">
              <a:lnSpc>
                <a:spcPct val="107000"/>
              </a:lnSpc>
              <a:spcAft>
                <a:spcPts val="0"/>
              </a:spcAft>
              <a:buFont typeface="Symbol" panose="05050102010706020507" pitchFamily="18" charset="2"/>
              <a:buChar char=""/>
            </a:pPr>
            <a:r>
              <a:rPr lang="en-US" sz="2400" dirty="0">
                <a:latin typeface="Calibri" panose="020F0502020204030204" pitchFamily="34" charset="0"/>
                <a:ea typeface="Calibri" panose="020F0502020204030204" pitchFamily="34" charset="0"/>
                <a:cs typeface="Times New Roman" panose="02020603050405020304" pitchFamily="18" charset="0"/>
              </a:rPr>
              <a:t> Nevertheless, the same instrument seems to provide exceptions to the general rule with respect to foreigners of Ethiopian origin (Art.15 FSCP). </a:t>
            </a:r>
          </a:p>
          <a:p>
            <a:pPr marL="342900" lvl="0" indent="-342900">
              <a:lnSpc>
                <a:spcPct val="107000"/>
              </a:lnSpc>
              <a:spcAft>
                <a:spcPts val="800"/>
              </a:spcAft>
              <a:buFont typeface="Symbol" panose="05050102010706020507" pitchFamily="18" charset="2"/>
              <a:buChar char=""/>
            </a:pPr>
            <a:r>
              <a:rPr lang="en-US" sz="2400" dirty="0">
                <a:latin typeface="Calibri" panose="020F0502020204030204" pitchFamily="34" charset="0"/>
                <a:ea typeface="Calibri" panose="020F0502020204030204" pitchFamily="34" charset="0"/>
                <a:cs typeface="Times New Roman" panose="02020603050405020304" pitchFamily="18" charset="0"/>
              </a:rPr>
              <a:t> Even in situations where it is impossible to fill a vacant position that requires high level professional by an Ethiopian, it is only for temporary bases that a foreigner may be employed (Art.22 (2)). Such measure also requires a directive from the Federal Civil Service Agency.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3312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988" y="1967752"/>
            <a:ext cx="10475259" cy="3048001"/>
          </a:xfrm>
        </p:spPr>
        <p:txBody>
          <a:bodyPr>
            <a:normAutofit/>
          </a:bodyPr>
          <a:lstStyle/>
          <a:p>
            <a:r>
              <a:rPr lang="en-GB" b="1" dirty="0" smtClean="0">
                <a:latin typeface="Blackadder ITC" panose="04020505051007020D02" pitchFamily="82" charset="0"/>
              </a:rPr>
              <a:t/>
            </a:r>
            <a:br>
              <a:rPr lang="en-GB" b="1" dirty="0" smtClean="0">
                <a:latin typeface="Blackadder ITC" panose="04020505051007020D02" pitchFamily="82" charset="0"/>
              </a:rPr>
            </a:br>
            <a:r>
              <a:rPr lang="en-GB" b="1" dirty="0">
                <a:latin typeface="Blackadder ITC" panose="04020505051007020D02" pitchFamily="82" charset="0"/>
              </a:rPr>
              <a:t/>
            </a:r>
            <a:br>
              <a:rPr lang="en-GB" b="1" dirty="0">
                <a:latin typeface="Blackadder ITC" panose="04020505051007020D02" pitchFamily="82" charset="0"/>
              </a:rPr>
            </a:br>
            <a:r>
              <a:rPr lang="en-GB" b="1" dirty="0" smtClean="0">
                <a:latin typeface="Blackadder ITC" panose="04020505051007020D02" pitchFamily="82" charset="0"/>
              </a:rPr>
              <a:t>						THANK YOU!!</a:t>
            </a:r>
            <a:endParaRPr lang="en-US" b="1" dirty="0">
              <a:latin typeface="Blackadder ITC" panose="04020505051007020D02" pitchFamily="82" charset="0"/>
            </a:endParaRPr>
          </a:p>
        </p:txBody>
      </p:sp>
    </p:spTree>
    <p:extLst>
      <p:ext uri="{BB962C8B-B14F-4D97-AF65-F5344CB8AC3E}">
        <p14:creationId xmlns:p14="http://schemas.microsoft.com/office/powerpoint/2010/main" val="3131788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859265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174</TotalTime>
  <Words>1757</Words>
  <Application>Microsoft Office PowerPoint</Application>
  <PresentationFormat>Custom</PresentationFormat>
  <Paragraphs>124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Facet</vt:lpstr>
      <vt:lpstr>      `  WELCOME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WELCOME</dc:title>
  <dc:creator>REGABRAHAM</dc:creator>
  <cp:lastModifiedBy>Students Union</cp:lastModifiedBy>
  <cp:revision>22</cp:revision>
  <dcterms:created xsi:type="dcterms:W3CDTF">2017-04-24T21:48:24Z</dcterms:created>
  <dcterms:modified xsi:type="dcterms:W3CDTF">2017-12-07T17:39:39Z</dcterms:modified>
</cp:coreProperties>
</file>