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7" r:id="rId2"/>
    <p:sldId id="258" r:id="rId3"/>
    <p:sldId id="283" r:id="rId4"/>
    <p:sldId id="259" r:id="rId5"/>
    <p:sldId id="260" r:id="rId6"/>
    <p:sldId id="261" r:id="rId7"/>
    <p:sldId id="262" r:id="rId8"/>
    <p:sldId id="263" r:id="rId9"/>
    <p:sldId id="264" r:id="rId10"/>
    <p:sldId id="267" r:id="rId11"/>
    <p:sldId id="268" r:id="rId12"/>
    <p:sldId id="265" r:id="rId13"/>
    <p:sldId id="284" r:id="rId14"/>
    <p:sldId id="285" r:id="rId15"/>
    <p:sldId id="266"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6" r:id="rId30"/>
    <p:sldId id="287" r:id="rId31"/>
    <p:sldId id="288" r:id="rId32"/>
    <p:sldId id="289" r:id="rId33"/>
    <p:sldId id="290"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71" autoAdjust="0"/>
    <p:restoredTop sz="94660"/>
  </p:normalViewPr>
  <p:slideViewPr>
    <p:cSldViewPr snapToGrid="0">
      <p:cViewPr>
        <p:scale>
          <a:sx n="80" d="100"/>
          <a:sy n="80" d="100"/>
        </p:scale>
        <p:origin x="-450"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1DEE3-22C9-4541-9D06-B3CD2FCBD605}" type="datetimeFigureOut">
              <a:rPr lang="en-US" smtClean="0"/>
              <a:pPr/>
              <a:t>12/7/2017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2A8C78-7EEC-4505-B6E3-C36E2131F18B}" type="slidenum">
              <a:rPr lang="en-US" smtClean="0"/>
              <a:pPr/>
              <a:t>‹#›</a:t>
            </a:fld>
            <a:endParaRPr lang="en-US"/>
          </a:p>
        </p:txBody>
      </p:sp>
    </p:spTree>
    <p:extLst>
      <p:ext uri="{BB962C8B-B14F-4D97-AF65-F5344CB8AC3E}">
        <p14:creationId xmlns:p14="http://schemas.microsoft.com/office/powerpoint/2010/main" val="2629561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4058802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3556274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730490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EA05AB-D82A-453A-BEE5-17B245458594}"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2094614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EA05AB-D82A-453A-BEE5-17B245458594}" type="datetimeFigureOut">
              <a:rPr lang="en-US" smtClean="0"/>
              <a:pPr/>
              <a:t>12/7/2017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1520656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EA05AB-D82A-453A-BEE5-17B245458594}" type="datetimeFigureOut">
              <a:rPr lang="en-US" smtClean="0"/>
              <a:pPr/>
              <a:t>12/7/2017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378606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EA05AB-D82A-453A-BEE5-17B245458594}" type="datetimeFigureOut">
              <a:rPr lang="en-US" smtClean="0"/>
              <a:pPr/>
              <a:t>12/7/2017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1059530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EA05AB-D82A-453A-BEE5-17B245458594}"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385244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EA05AB-D82A-453A-BEE5-17B245458594}" type="datetimeFigureOut">
              <a:rPr lang="en-US" smtClean="0"/>
              <a:pPr/>
              <a:t>12/7/2017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208480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2422078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31172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2930199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04818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815053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888269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EA05AB-D82A-453A-BEE5-17B245458594}" type="datetimeFigureOut">
              <a:rPr lang="en-US" smtClean="0"/>
              <a:pPr/>
              <a:t>12/7/2017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2D9972-7DF0-4A48-8ECC-C3045BAAB5F1}" type="slidenum">
              <a:rPr lang="en-US" smtClean="0"/>
              <a:pPr/>
              <a:t>‹#›</a:t>
            </a:fld>
            <a:endParaRPr lang="en-US"/>
          </a:p>
        </p:txBody>
      </p:sp>
    </p:spTree>
    <p:extLst>
      <p:ext uri="{BB962C8B-B14F-4D97-AF65-F5344CB8AC3E}">
        <p14:creationId xmlns:p14="http://schemas.microsoft.com/office/powerpoint/2010/main" val="1427542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9160933" cy="1600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4400" y="1828800"/>
            <a:ext cx="50292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46800" y="1828800"/>
            <a:ext cx="50292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18288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741333"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957733" y="6248400"/>
            <a:ext cx="2540000" cy="457200"/>
          </a:xfrm>
        </p:spPr>
        <p:txBody>
          <a:bodyPr/>
          <a:lstStyle>
            <a:lvl1pPr>
              <a:defRPr/>
            </a:lvl1pPr>
          </a:lstStyle>
          <a:p>
            <a:fld id="{F0D0B2F5-EFBF-4B19-B3AD-6B0D0AF5A22E}" type="slidenum">
              <a:rPr lang="en-US"/>
              <a:pPr/>
              <a:t>‹#›</a:t>
            </a:fld>
            <a:endParaRPr lang="en-US"/>
          </a:p>
        </p:txBody>
      </p:sp>
    </p:spTree>
    <p:extLst>
      <p:ext uri="{BB962C8B-B14F-4D97-AF65-F5344CB8AC3E}">
        <p14:creationId xmlns:p14="http://schemas.microsoft.com/office/powerpoint/2010/main" val="24389481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9160933" cy="1600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4400" y="1828800"/>
            <a:ext cx="50292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46800" y="1828800"/>
            <a:ext cx="5029200" cy="1752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46800" y="3733800"/>
            <a:ext cx="5029200" cy="1752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1828800" y="6248400"/>
            <a:ext cx="2540000" cy="457200"/>
          </a:xfrm>
        </p:spPr>
        <p:txBody>
          <a:bodyPr/>
          <a:lstStyle>
            <a:lvl1pPr>
              <a:defRPr/>
            </a:lvl1pPr>
          </a:lstStyle>
          <a:p>
            <a:endParaRPr lang="en-US"/>
          </a:p>
        </p:txBody>
      </p:sp>
      <p:sp>
        <p:nvSpPr>
          <p:cNvPr id="7" name="Footer Placeholder 6"/>
          <p:cNvSpPr>
            <a:spLocks noGrp="1"/>
          </p:cNvSpPr>
          <p:nvPr>
            <p:ph type="ftr" sz="quarter" idx="11"/>
          </p:nvPr>
        </p:nvSpPr>
        <p:spPr>
          <a:xfrm>
            <a:off x="4741333" y="6248400"/>
            <a:ext cx="38608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8957733" y="6248400"/>
            <a:ext cx="2540000" cy="457200"/>
          </a:xfrm>
        </p:spPr>
        <p:txBody>
          <a:bodyPr/>
          <a:lstStyle>
            <a:lvl1pPr>
              <a:defRPr/>
            </a:lvl1pPr>
          </a:lstStyle>
          <a:p>
            <a:fld id="{55D14628-A8A9-4009-B7B3-0011A6EFA858}" type="slidenum">
              <a:rPr lang="en-US"/>
              <a:pPr/>
              <a:t>‹#›</a:t>
            </a:fld>
            <a:endParaRPr lang="en-US"/>
          </a:p>
        </p:txBody>
      </p:sp>
    </p:spTree>
    <p:extLst>
      <p:ext uri="{BB962C8B-B14F-4D97-AF65-F5344CB8AC3E}">
        <p14:creationId xmlns:p14="http://schemas.microsoft.com/office/powerpoint/2010/main" val="2232571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9160933" cy="1600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828800"/>
            <a:ext cx="50292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46800" y="1828800"/>
            <a:ext cx="5029200" cy="1752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46800" y="3733800"/>
            <a:ext cx="5029200" cy="1752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1828800" y="6248400"/>
            <a:ext cx="2540000" cy="457200"/>
          </a:xfrm>
        </p:spPr>
        <p:txBody>
          <a:bodyPr/>
          <a:lstStyle>
            <a:lvl1pPr>
              <a:defRPr/>
            </a:lvl1pPr>
          </a:lstStyle>
          <a:p>
            <a:endParaRPr lang="en-US"/>
          </a:p>
        </p:txBody>
      </p:sp>
      <p:sp>
        <p:nvSpPr>
          <p:cNvPr id="7" name="Footer Placeholder 6"/>
          <p:cNvSpPr>
            <a:spLocks noGrp="1"/>
          </p:cNvSpPr>
          <p:nvPr>
            <p:ph type="ftr" sz="quarter" idx="11"/>
          </p:nvPr>
        </p:nvSpPr>
        <p:spPr>
          <a:xfrm>
            <a:off x="4741333" y="6248400"/>
            <a:ext cx="38608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8957733" y="6248400"/>
            <a:ext cx="2540000" cy="457200"/>
          </a:xfrm>
        </p:spPr>
        <p:txBody>
          <a:bodyPr/>
          <a:lstStyle>
            <a:lvl1pPr>
              <a:defRPr/>
            </a:lvl1pPr>
          </a:lstStyle>
          <a:p>
            <a:fld id="{8C83B1A2-D913-4749-BB50-5B7661A1BD9B}" type="slidenum">
              <a:rPr lang="en-US"/>
              <a:pPr/>
              <a:t>‹#›</a:t>
            </a:fld>
            <a:endParaRPr lang="en-US"/>
          </a:p>
        </p:txBody>
      </p:sp>
    </p:spTree>
    <p:extLst>
      <p:ext uri="{BB962C8B-B14F-4D97-AF65-F5344CB8AC3E}">
        <p14:creationId xmlns:p14="http://schemas.microsoft.com/office/powerpoint/2010/main" val="2746887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4EA05AB-D82A-453A-BEE5-17B245458594}" type="datetimeFigureOut">
              <a:rPr lang="en-US" smtClean="0"/>
              <a:pPr/>
              <a:t>12/7/2017</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F2D9972-7DF0-4A48-8ECC-C3045BAAB5F1}" type="slidenum">
              <a:rPr lang="en-US" smtClean="0"/>
              <a:pPr/>
              <a:t>‹#›</a:t>
            </a:fld>
            <a:endParaRPr lang="en-US"/>
          </a:p>
        </p:txBody>
      </p:sp>
    </p:spTree>
    <p:extLst>
      <p:ext uri="{BB962C8B-B14F-4D97-AF65-F5344CB8AC3E}">
        <p14:creationId xmlns:p14="http://schemas.microsoft.com/office/powerpoint/2010/main" val="2966163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5769" y="2202287"/>
            <a:ext cx="6787166" cy="3356432"/>
          </a:xfrm>
          <a:prstGeom prst="rect">
            <a:avLst/>
          </a:prstGeom>
        </p:spPr>
        <p:txBody>
          <a:bodyPr wrap="square">
            <a:spAutoFit/>
          </a:bodyPr>
          <a:lstStyle/>
          <a:p>
            <a:pPr>
              <a:lnSpc>
                <a:spcPct val="107000"/>
              </a:lnSpc>
              <a:spcAft>
                <a:spcPts val="800"/>
              </a:spcAft>
            </a:pPr>
            <a:r>
              <a:rPr lang="en-US" sz="9600" dirty="0" smtClean="0">
                <a:effectLst/>
                <a:latin typeface="Bodoni MT" panose="02070603080606020203" pitchFamily="18" charset="0"/>
                <a:ea typeface="Calibri" panose="020F0502020204030204" pitchFamily="34" charset="0"/>
                <a:cs typeface="Times New Roman" panose="02020603050405020304" pitchFamily="18" charset="0"/>
              </a:rPr>
              <a:t>WELCOME</a:t>
            </a:r>
          </a:p>
          <a:p>
            <a:pPr>
              <a:lnSpc>
                <a:spcPct val="107000"/>
              </a:lnSpc>
              <a:spcAft>
                <a:spcPts val="800"/>
              </a:spcAft>
            </a:pPr>
            <a:r>
              <a:rPr lang="en-GB" sz="9600" dirty="0">
                <a:latin typeface="Bodoni MT" panose="02070603080606020203" pitchFamily="18" charset="0"/>
                <a:ea typeface="Calibri" panose="020F0502020204030204" pitchFamily="34" charset="0"/>
                <a:cs typeface="Times New Roman" panose="02020603050405020304" pitchFamily="18" charset="0"/>
              </a:rPr>
              <a:t>	</a:t>
            </a:r>
            <a:r>
              <a:rPr lang="en-GB" sz="9600" dirty="0" smtClean="0">
                <a:latin typeface="Bodoni MT" panose="02070603080606020203" pitchFamily="18" charset="0"/>
                <a:ea typeface="Calibri" panose="020F0502020204030204" pitchFamily="34" charset="0"/>
                <a:cs typeface="Times New Roman" panose="02020603050405020304" pitchFamily="18" charset="0"/>
              </a:rPr>
              <a:t>	</a:t>
            </a:r>
            <a:endParaRPr lang="en-US" sz="9600" dirty="0">
              <a:effectLst/>
              <a:latin typeface="Bodoni MT" panose="020706030806060202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919599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1030309" y="1557338"/>
            <a:ext cx="9929612" cy="4843462"/>
          </a:xfrm>
        </p:spPr>
        <p:txBody>
          <a:bodyPr>
            <a:normAutofit/>
          </a:bodyPr>
          <a:lstStyle/>
          <a:p>
            <a:pPr marL="114300" indent="0">
              <a:buNone/>
            </a:pPr>
            <a:r>
              <a:rPr lang="en-ZA" altLang="en-US" sz="4400" b="1" dirty="0"/>
              <a:t>                  </a:t>
            </a:r>
            <a:r>
              <a:rPr lang="en-ZA" altLang="en-US" sz="4400" b="1" dirty="0" smtClean="0"/>
              <a:t>   Part Two </a:t>
            </a:r>
            <a:endParaRPr lang="en-ZA" altLang="en-US" sz="4400" b="1" dirty="0"/>
          </a:p>
        </p:txBody>
      </p:sp>
      <p:sp>
        <p:nvSpPr>
          <p:cNvPr id="3075" name="Rectangle 3"/>
          <p:cNvSpPr>
            <a:spLocks noChangeArrowheads="1"/>
          </p:cNvSpPr>
          <p:nvPr/>
        </p:nvSpPr>
        <p:spPr bwMode="auto">
          <a:xfrm>
            <a:off x="1030309" y="3105150"/>
            <a:ext cx="1058643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panose="020B0604020202020204" pitchFamily="34" charset="0"/>
              <a:buChar char="•"/>
              <a:defRPr sz="2200">
                <a:solidFill>
                  <a:schemeClr val="tx1"/>
                </a:solidFill>
                <a:latin typeface="Calibri" panose="020F0502020204030204" pitchFamily="34" charset="0"/>
              </a:defRPr>
            </a:lvl1pPr>
            <a:lvl2pPr marL="742950" indent="-285750" eaLnBrk="0" hangingPunct="0">
              <a:spcBef>
                <a:spcPct val="20000"/>
              </a:spcBef>
              <a:buClr>
                <a:schemeClr val="accent2"/>
              </a:buClr>
              <a:buFont typeface="Arial" panose="020B0604020202020204" pitchFamily="34" charset="0"/>
              <a:buChar char="•"/>
              <a:defRPr sz="2000">
                <a:solidFill>
                  <a:schemeClr val="tx1"/>
                </a:solidFill>
                <a:latin typeface="Calibri" panose="020F0502020204030204" pitchFamily="34" charset="0"/>
              </a:defRPr>
            </a:lvl2pPr>
            <a:lvl3pPr marL="1143000" indent="-228600" eaLnBrk="0" hangingPunct="0">
              <a:spcBef>
                <a:spcPct val="20000"/>
              </a:spcBef>
              <a:buClr>
                <a:srgbClr val="D2CB6C"/>
              </a:buClr>
              <a:buFont typeface="Arial" panose="020B0604020202020204" pitchFamily="34" charset="0"/>
              <a:buChar char="•"/>
              <a:defRPr>
                <a:solidFill>
                  <a:schemeClr val="tx1"/>
                </a:solidFill>
                <a:latin typeface="Calibri" panose="020F0502020204030204" pitchFamily="34" charset="0"/>
              </a:defRPr>
            </a:lvl3pPr>
            <a:lvl4pPr marL="1600200" indent="-228600" eaLnBrk="0" hangingPunct="0">
              <a:spcBef>
                <a:spcPct val="20000"/>
              </a:spcBef>
              <a:buClr>
                <a:srgbClr val="95A39D"/>
              </a:buClr>
              <a:buFont typeface="Arial" panose="020B0604020202020204" pitchFamily="34" charset="0"/>
              <a:buChar char="•"/>
              <a:defRPr sz="1600">
                <a:solidFill>
                  <a:schemeClr val="tx1"/>
                </a:solidFill>
                <a:latin typeface="Calibri" panose="020F0502020204030204" pitchFamily="34" charset="0"/>
              </a:defRPr>
            </a:lvl4pPr>
            <a:lvl5pPr marL="2057400" indent="-228600" eaLnBrk="0" hangingPunct="0">
              <a:spcBef>
                <a:spcPct val="20000"/>
              </a:spcBef>
              <a:buClr>
                <a:srgbClr val="C89F5D"/>
              </a:buClr>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spcBef>
                <a:spcPct val="20000"/>
              </a:spcBef>
              <a:spcAft>
                <a:spcPct val="0"/>
              </a:spcAft>
              <a:buClr>
                <a:srgbClr val="C89F5D"/>
              </a:buClr>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ct val="0"/>
              </a:spcBef>
              <a:buClrTx/>
              <a:buFontTx/>
              <a:buNone/>
            </a:pPr>
            <a:r>
              <a:rPr lang="en-GB" altLang="en-US" sz="3600" b="1" dirty="0" smtClean="0">
                <a:latin typeface="Arial" panose="020B0604020202020204" pitchFamily="34" charset="0"/>
              </a:rPr>
              <a:t>Collective   Employment 	Relationships </a:t>
            </a:r>
            <a:endParaRPr lang="en-ZA" altLang="en-US" sz="3600" dirty="0">
              <a:latin typeface="Arial" panose="020B0604020202020204" pitchFamily="34" charset="0"/>
            </a:endParaRPr>
          </a:p>
        </p:txBody>
      </p:sp>
    </p:spTree>
    <p:extLst>
      <p:ext uri="{BB962C8B-B14F-4D97-AF65-F5344CB8AC3E}">
        <p14:creationId xmlns:p14="http://schemas.microsoft.com/office/powerpoint/2010/main" val="20562628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237203"/>
          </a:xfrm>
          <a:prstGeom prst="rect">
            <a:avLst/>
          </a:prstGeom>
        </p:spPr>
        <p:txBody>
          <a:bodyPr wrap="square">
            <a:spAutoFit/>
          </a:bodyPr>
          <a:lstStyle/>
          <a:p>
            <a:pPr algn="just">
              <a:lnSpc>
                <a:spcPct val="107000"/>
              </a:lnSpc>
              <a:spcAft>
                <a:spcPts val="800"/>
              </a:spcAft>
            </a:pPr>
            <a:r>
              <a:rPr lang="en-GB" sz="5400" b="1" dirty="0" smtClean="0">
                <a:effectLst/>
                <a:latin typeface="Calibri" panose="020F0502020204030204" pitchFamily="34" charset="0"/>
                <a:ea typeface="Calibri" panose="020F0502020204030204" pitchFamily="34" charset="0"/>
                <a:cs typeface="Times New Roman" panose="02020603050405020304" pitchFamily="18" charset="0"/>
              </a:rPr>
              <a:t>What is it?</a:t>
            </a:r>
            <a:endParaRPr lang="en-US" sz="5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Is a relation of an employer or employers ‘associations with trade unions or collectively of trade unions </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It Includes Formation of industrial organization</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5400" dirty="0" smtClean="0">
                <a:effectLst/>
                <a:latin typeface="Calibri" panose="020F0502020204030204" pitchFamily="34" charset="0"/>
                <a:ea typeface="Calibri" panose="020F0502020204030204" pitchFamily="34" charset="0"/>
                <a:cs typeface="Times New Roman" panose="02020603050405020304" pitchFamily="18" charset="0"/>
              </a:rPr>
              <a:t>And collective agreement and bargaining</a:t>
            </a:r>
            <a:endParaRPr lang="en-US" sz="54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622683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415089"/>
          </a:xfrm>
          <a:prstGeom prst="rect">
            <a:avLst/>
          </a:prstGeom>
        </p:spPr>
        <p:txBody>
          <a:bodyPr wrap="square">
            <a:spAutoFit/>
          </a:bodyPr>
          <a:lstStyle/>
          <a:p>
            <a:pPr marL="1257300" lvl="2" indent="-342900" algn="just">
              <a:lnSpc>
                <a:spcPct val="107000"/>
              </a:lnSpc>
              <a:buFont typeface="Symbol" panose="05050102010706020507" pitchFamily="18" charset="2"/>
              <a:buChar char=""/>
            </a:pPr>
            <a:r>
              <a:rPr lang="en-GB" sz="4800" b="1" dirty="0" smtClean="0">
                <a:effectLst/>
                <a:latin typeface="Calibri" panose="020F0502020204030204" pitchFamily="34" charset="0"/>
                <a:ea typeface="Calibri" panose="020F0502020204030204" pitchFamily="34" charset="0"/>
                <a:cs typeface="Times New Roman" panose="02020603050405020304" pitchFamily="18" charset="0"/>
              </a:rPr>
              <a:t>Applicable Provisions</a:t>
            </a:r>
          </a:p>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Article 31  and  42(1)(a)  of the constitution</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800" dirty="0" smtClean="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Art 134- 135 of the Labour proclamation</a:t>
            </a:r>
            <a:endParaRPr lang="en-US" sz="4800" dirty="0" smtClean="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ILO Conventions on Freedom of Association and Protection of the Right to Organise, 1948 (No. 87),  </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8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ILO Conventions and the Right to Organise and Collective Bargaining, 1949 (No. 98). </a:t>
            </a:r>
            <a:endParaRPr lang="en-US" sz="4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0740324"/>
      </p:ext>
    </p:extLst>
  </p:cSld>
  <p:clrMapOvr>
    <a:masterClrMapping/>
  </p:clrMapOvr>
  <p:transition>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088427"/>
          </a:xfrm>
          <a:prstGeom prst="rect">
            <a:avLst/>
          </a:prstGeom>
        </p:spPr>
        <p:txBody>
          <a:bodyPr wrap="square">
            <a:spAutoFit/>
          </a:bodyPr>
          <a:lstStyle/>
          <a:p>
            <a:pPr algn="just">
              <a:lnSpc>
                <a:spcPct val="107000"/>
              </a:lnSpc>
              <a:spcAft>
                <a:spcPts val="800"/>
              </a:spcAft>
            </a:pPr>
            <a:endParaRPr lang="en-GB" sz="4800" b="1"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GB" sz="4800" b="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4800" b="1" dirty="0" smtClean="0">
                <a:effectLst/>
                <a:latin typeface="Calibri" panose="020F0502020204030204" pitchFamily="34" charset="0"/>
                <a:ea typeface="Calibri" panose="020F0502020204030204" pitchFamily="34" charset="0"/>
                <a:cs typeface="Times New Roman" panose="02020603050405020304" pitchFamily="18" charset="0"/>
              </a:rPr>
              <a:t>Chapter Six:-  Industrial organizations  and Collective agreement</a:t>
            </a:r>
          </a:p>
          <a:p>
            <a:pPr marL="685800" indent="-685800" algn="just">
              <a:lnSpc>
                <a:spcPct val="107000"/>
              </a:lnSpc>
              <a:spcAft>
                <a:spcPts val="800"/>
              </a:spcAft>
              <a:buFont typeface="Arial" panose="020B0604020202020204" pitchFamily="34" charset="0"/>
              <a:buChar char="•"/>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15831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387822"/>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GB" sz="5400" b="1" dirty="0" smtClean="0">
                <a:effectLst/>
                <a:latin typeface="Calibri" panose="020F0502020204030204" pitchFamily="34" charset="0"/>
                <a:ea typeface="Calibri" panose="020F0502020204030204" pitchFamily="34" charset="0"/>
                <a:cs typeface="Times New Roman" panose="02020603050405020304" pitchFamily="18" charset="0"/>
              </a:rPr>
              <a:t>6.1 Industrial organization</a:t>
            </a:r>
            <a:endParaRPr lang="en-US" sz="5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0"/>
              </a:spcAft>
              <a:buFont typeface="Courier New" panose="02070309020205020404" pitchFamily="49" charset="0"/>
              <a:buChar char="o"/>
            </a:pPr>
            <a:r>
              <a:rPr lang="en-GB" sz="5400" dirty="0" smtClean="0">
                <a:effectLst/>
                <a:latin typeface="Calibri" panose="020F0502020204030204" pitchFamily="34" charset="0"/>
                <a:ea typeface="Calibri" panose="020F0502020204030204" pitchFamily="34" charset="0"/>
                <a:cs typeface="Times New Roman" panose="02020603050405020304" pitchFamily="18" charset="0"/>
              </a:rPr>
              <a:t>It includes the trade unions and Employers’ association</a:t>
            </a:r>
            <a:endParaRPr lang="en-US" sz="5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Courier New" panose="02070309020205020404" pitchFamily="49" charset="0"/>
              <a:buChar char="o"/>
            </a:pPr>
            <a:r>
              <a:rPr lang="en-GB" sz="5400" dirty="0" smtClean="0">
                <a:effectLst/>
                <a:latin typeface="Calibri" panose="020F0502020204030204" pitchFamily="34" charset="0"/>
                <a:ea typeface="Calibri" panose="020F0502020204030204" pitchFamily="34" charset="0"/>
                <a:cs typeface="Times New Roman" panose="02020603050405020304" pitchFamily="18" charset="0"/>
              </a:rPr>
              <a:t>Trade union is the association of employees while employers association is comprised of employers.</a:t>
            </a:r>
            <a:endParaRPr lang="en-US" sz="5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0602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188682"/>
          </a:xfrm>
          <a:prstGeom prst="rect">
            <a:avLst/>
          </a:prstGeom>
        </p:spPr>
        <p:txBody>
          <a:bodyPr wrap="square">
            <a:spAutoFit/>
          </a:bodyPr>
          <a:lstStyle/>
          <a:p>
            <a:pPr algn="just">
              <a:lnSpc>
                <a:spcPct val="107000"/>
              </a:lnSpc>
              <a:spcAft>
                <a:spcPts val="800"/>
              </a:spcAft>
            </a:pPr>
            <a:r>
              <a:rPr lang="en-GB" sz="4000" b="1" dirty="0" smtClean="0">
                <a:effectLst/>
                <a:latin typeface="Calibri" panose="020F0502020204030204" pitchFamily="34" charset="0"/>
                <a:ea typeface="Calibri" panose="020F0502020204030204" pitchFamily="34" charset="0"/>
                <a:cs typeface="Times New Roman" panose="02020603050405020304" pitchFamily="18" charset="0"/>
              </a:rPr>
              <a:t>Historical Background of I. O</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36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Formation of associations of employees was considered as conspiracy and hence criminal offence. </a:t>
            </a:r>
            <a:endParaRPr lang="en-US" sz="36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Trade unionism were attacked by every quarter of the society. i.e. they were considered as illegal</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Industrial revolution give birth to trade unionism.</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3600" dirty="0" smtClean="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Through passage of time and ever since the establishment of ILO as a world body, however, the right to form association has been one of the fundamental rights for both the employees and employers.</a:t>
            </a:r>
            <a:endParaRPr lang="en-US" sz="36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5810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7856510"/>
          </a:xfrm>
          <a:prstGeom prst="rect">
            <a:avLst/>
          </a:prstGeom>
        </p:spPr>
        <p:txBody>
          <a:bodyPr wrap="square">
            <a:spAutoFit/>
          </a:bodyPr>
          <a:lstStyle/>
          <a:p>
            <a:pPr marL="342900" lvl="0" indent="-342900" algn="just">
              <a:lnSpc>
                <a:spcPct val="107000"/>
              </a:lnSpc>
              <a:spcAft>
                <a:spcPts val="800"/>
              </a:spcAft>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 The ILO convention, protect associations from external interference and prohibit anti-union discrimination.</a:t>
            </a:r>
            <a:endParaRPr lang="en-GB" sz="3200" dirty="0" smtClean="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32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Moreover the Revised Ethiopian Constitution of 1955 under Article provided that ―every Ethiopian subject has the right to engage in any occupation and to that end form an association”. </a:t>
            </a:r>
            <a:endParaRPr lang="en-US" sz="3200" dirty="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Proclamation No.210/1963 that detailed implementation procedures were provided.  </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Proc. No.64/1975) was adopted by dergue. It, however, failed to provide legal framework for employers to form associations.   </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3200" dirty="0" smtClean="0">
                <a:solidFill>
                  <a:srgbClr val="92D050"/>
                </a:solidFill>
                <a:effectLst/>
                <a:latin typeface="Calibri" panose="020F0502020204030204" pitchFamily="34" charset="0"/>
                <a:ea typeface="Calibri" panose="020F0502020204030204" pitchFamily="34" charset="0"/>
                <a:cs typeface="Times New Roman" panose="02020603050405020304" pitchFamily="18" charset="0"/>
              </a:rPr>
              <a:t>It was with the coming into effect of Proc. No.42/1993 that employers ‘associations regained clear legal framework of establishment. </a:t>
            </a:r>
          </a:p>
          <a:p>
            <a:pPr marL="342900" lvl="0" indent="-342900" algn="just">
              <a:lnSpc>
                <a:spcPct val="107000"/>
              </a:lnSpc>
              <a:spcAft>
                <a:spcPts val="800"/>
              </a:spcAft>
              <a:buFont typeface="Symbol" panose="05050102010706020507" pitchFamily="18" charset="2"/>
              <a:buChar char=""/>
            </a:pPr>
            <a:r>
              <a:rPr lang="en-GB" sz="3200" dirty="0" smtClean="0">
                <a:latin typeface="Calibri" panose="020F0502020204030204" pitchFamily="34" charset="0"/>
                <a:ea typeface="Calibri" panose="020F0502020204030204" pitchFamily="34" charset="0"/>
                <a:cs typeface="Times New Roman" panose="02020603050405020304" pitchFamily="18" charset="0"/>
              </a:rPr>
              <a:t>See also the FDRE constitution</a:t>
            </a:r>
          </a:p>
          <a:p>
            <a:pPr marL="342900" lvl="0" indent="-342900" algn="just">
              <a:lnSpc>
                <a:spcPct val="107000"/>
              </a:lnSpc>
              <a:spcAft>
                <a:spcPts val="800"/>
              </a:spcAft>
              <a:buFont typeface="Symbol" panose="05050102010706020507" pitchFamily="18" charset="2"/>
              <a:buChar char=""/>
            </a:pP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endParaRPr lang="en-GB" sz="32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3876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649513"/>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As regards to formation of association for civil servants however, the issue is not yet settled.</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The FDRE constitution  </a:t>
            </a:r>
            <a:r>
              <a:rPr lang="en-GB" sz="4000" i="1" dirty="0" smtClean="0">
                <a:effectLst/>
                <a:latin typeface="Calibri" panose="020F0502020204030204" pitchFamily="34" charset="0"/>
                <a:ea typeface="Calibri" panose="020F0502020204030204" pitchFamily="34" charset="0"/>
                <a:cs typeface="Times New Roman" panose="02020603050405020304" pitchFamily="18" charset="0"/>
              </a:rPr>
              <a:t>(Art.42 (1).‖  and (Art.42 (1) (c)).</a:t>
            </a: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As regards to the labour regime, however, under the existing laws, both employees and employers are entitled to form associations of their own choice without interference from any corner.</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 Denying employers from forming associations was in contravention of Convention No.87 to which Ethiopia has been a party since 1963.  </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884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additive="base">
                                        <p:cTn id="2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008983"/>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Not only the right to form association but also that the right to form more </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800" b="1" dirty="0" smtClean="0">
                <a:effectLst/>
                <a:latin typeface="Calibri" panose="020F0502020204030204" pitchFamily="34" charset="0"/>
                <a:ea typeface="Calibri" panose="020F0502020204030204" pitchFamily="34" charset="0"/>
                <a:cs typeface="Times New Roman" panose="02020603050405020304" pitchFamily="18" charset="0"/>
              </a:rPr>
              <a:t>Than one association in an enterprise (i.e. the concept of plurality (diversity) of unions) has been incorporated into Ethiopian labour law.</a:t>
            </a: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US" sz="4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59120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9346"/>
          </a:xfrm>
          <a:prstGeom prst="rect">
            <a:avLst/>
          </a:prstGeom>
        </p:spPr>
        <p:txBody>
          <a:bodyPr wrap="square">
            <a:spAutoFit/>
          </a:bodyPr>
          <a:lstStyle/>
          <a:p>
            <a:pPr algn="just">
              <a:lnSpc>
                <a:spcPct val="107000"/>
              </a:lnSpc>
              <a:spcAft>
                <a:spcPts val="800"/>
              </a:spcAft>
            </a:pPr>
            <a:r>
              <a:rPr lang="en-GB" sz="5400" b="1" dirty="0" smtClean="0">
                <a:effectLst/>
                <a:latin typeface="Calibri" panose="020F0502020204030204" pitchFamily="34" charset="0"/>
                <a:ea typeface="Calibri" panose="020F0502020204030204" pitchFamily="34" charset="0"/>
                <a:cs typeface="Times New Roman" panose="02020603050405020304" pitchFamily="18" charset="0"/>
              </a:rPr>
              <a:t>Purposes of Industrial organizations</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To protect collective interest of workers</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Collective bargaining</a:t>
            </a:r>
            <a:r>
              <a:rPr lang="en-GB" sz="54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to create a fertile ground where workers and employers could collectively negotiate with each other concerning wages, hours of work and condition of work.</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For the employer: to avoid disorganized way of movement (ex. strike)</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To secure peace and stability in industrial life.</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1798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71350"/>
          </a:xfrm>
          <a:prstGeom prst="rect">
            <a:avLst/>
          </a:prstGeom>
        </p:spPr>
        <p:txBody>
          <a:bodyPr wrap="square">
            <a:spAutoFit/>
          </a:bodyPr>
          <a:lstStyle/>
          <a:p>
            <a:pPr lvl="2" algn="just">
              <a:lnSpc>
                <a:spcPct val="107000"/>
              </a:lnSpc>
            </a:pPr>
            <a:r>
              <a:rPr lang="en-GB" sz="4000" b="1" dirty="0" smtClean="0">
                <a:effectLst/>
                <a:latin typeface="Calibri" panose="020F0502020204030204" pitchFamily="34" charset="0"/>
                <a:ea typeface="Calibri" panose="020F0502020204030204" pitchFamily="34" charset="0"/>
                <a:cs typeface="Times New Roman" panose="02020603050405020304" pitchFamily="18" charset="0"/>
              </a:rPr>
              <a:t>The right to form organization(association)</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Both the worker and employer should be given the right to form their organization to promote social and economic interest.</a:t>
            </a:r>
          </a:p>
          <a:p>
            <a:pPr marL="342900" lvl="0" indent="-342900" algn="just">
              <a:lnSpc>
                <a:spcPct val="107000"/>
              </a:lnSpc>
              <a:spcAft>
                <a:spcPts val="0"/>
              </a:spcAft>
              <a:buFont typeface="Symbol" panose="05050102010706020507" pitchFamily="18" charset="2"/>
              <a:buChar char=""/>
            </a:pPr>
            <a:r>
              <a:rPr lang="en-GB" sz="4800" dirty="0" smtClean="0">
                <a:latin typeface="Calibri" panose="020F0502020204030204" pitchFamily="34" charset="0"/>
                <a:ea typeface="Calibri" panose="020F0502020204030204" pitchFamily="34" charset="0"/>
                <a:cs typeface="Times New Roman" panose="02020603050405020304" pitchFamily="18" charset="0"/>
              </a:rPr>
              <a:t>Forming an international organization is vital both for the employer and employee for effective realization of their legally recognised  rights and interests</a:t>
            </a:r>
          </a:p>
          <a:p>
            <a:pPr marL="342900" lvl="0" indent="-342900" algn="just">
              <a:lnSpc>
                <a:spcPct val="107000"/>
              </a:lnSpc>
              <a:spcAft>
                <a:spcPts val="0"/>
              </a:spcAft>
              <a:buFont typeface="Symbol" panose="05050102010706020507" pitchFamily="18" charset="2"/>
              <a:buChar char=""/>
            </a:pPr>
            <a:r>
              <a:rPr lang="en-GB" sz="4800" dirty="0" smtClean="0">
                <a:latin typeface="Calibri" panose="020F0502020204030204" pitchFamily="34" charset="0"/>
                <a:ea typeface="Calibri" panose="020F0502020204030204" pitchFamily="34" charset="0"/>
                <a:cs typeface="Times New Roman" panose="02020603050405020304" pitchFamily="18" charset="0"/>
              </a:rPr>
              <a:t>Art. 113(1) LP</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8012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250622"/>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GB" sz="5400" dirty="0" smtClean="0">
                <a:effectLst/>
                <a:latin typeface="Calibri" panose="020F0502020204030204" pitchFamily="34" charset="0"/>
                <a:ea typeface="Calibri" panose="020F0502020204030204" pitchFamily="34" charset="0"/>
                <a:cs typeface="Times New Roman" panose="02020603050405020304" pitchFamily="18" charset="0"/>
              </a:rPr>
              <a:t>The right to form association includes:</a:t>
            </a:r>
          </a:p>
          <a:p>
            <a:pPr marL="800100" lvl="1" indent="-342900" algn="just">
              <a:lnSpc>
                <a:spcPct val="107000"/>
              </a:lnSpc>
              <a:buFont typeface="Symbol" panose="05050102010706020507" pitchFamily="18" charset="2"/>
              <a:buChar char=""/>
            </a:pPr>
            <a:r>
              <a:rPr lang="en-GB" sz="4000" dirty="0" smtClean="0">
                <a:latin typeface="Calibri" panose="020F0502020204030204" pitchFamily="34" charset="0"/>
                <a:ea typeface="Calibri" panose="020F0502020204030204" pitchFamily="34" charset="0"/>
                <a:cs typeface="Times New Roman" panose="02020603050405020304" pitchFamily="18" charset="0"/>
              </a:rPr>
              <a:t>The right of workers and employers to form their own organization without any interference or influence</a:t>
            </a:r>
          </a:p>
          <a:p>
            <a:pPr marL="800100" lvl="1" indent="-342900" algn="just">
              <a:lnSpc>
                <a:spcPct val="107000"/>
              </a:lnSpc>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To prepare their own constitution</a:t>
            </a:r>
          </a:p>
          <a:p>
            <a:pPr marL="800100" lvl="1" indent="-342900" algn="just">
              <a:lnSpc>
                <a:spcPct val="107000"/>
              </a:lnSpc>
              <a:buFont typeface="Symbol" panose="05050102010706020507" pitchFamily="18" charset="2"/>
              <a:buChar char=""/>
            </a:pPr>
            <a:r>
              <a:rPr lang="en-GB" sz="4000" dirty="0" smtClean="0">
                <a:latin typeface="Calibri" panose="020F0502020204030204" pitchFamily="34" charset="0"/>
                <a:ea typeface="Calibri" panose="020F0502020204030204" pitchFamily="34" charset="0"/>
                <a:cs typeface="Times New Roman" panose="02020603050405020304" pitchFamily="18" charset="0"/>
              </a:rPr>
              <a:t>To choose the leader of their own organization freely and fairly</a:t>
            </a:r>
          </a:p>
          <a:p>
            <a:pPr marL="800100" lvl="1" indent="-342900" algn="just">
              <a:lnSpc>
                <a:spcPct val="107000"/>
              </a:lnSpc>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To formulate and design programme and objectives of their organization.</a:t>
            </a:r>
          </a:p>
          <a:p>
            <a:pPr marL="800100" lvl="1" indent="-342900" algn="just">
              <a:lnSpc>
                <a:spcPct val="107000"/>
              </a:lnSpc>
              <a:buFont typeface="Symbol" panose="05050102010706020507" pitchFamily="18" charset="2"/>
              <a:buChar char=""/>
            </a:pPr>
            <a:endParaRPr lang="en-GB" sz="4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72132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439420"/>
          </a:xfrm>
          <a:prstGeom prst="rect">
            <a:avLst/>
          </a:prstGeom>
        </p:spPr>
        <p:txBody>
          <a:bodyPr wrap="square">
            <a:spAutoFit/>
          </a:bodyPr>
          <a:lstStyle/>
          <a:p>
            <a:pPr marL="800100" lvl="1" indent="-342900" algn="just">
              <a:lnSpc>
                <a:spcPct val="107000"/>
              </a:lnSpc>
              <a:buFont typeface="Symbol" panose="05050102010706020507" pitchFamily="18" charset="2"/>
              <a:buChar char=""/>
            </a:pPr>
            <a:r>
              <a:rPr lang="en-GB" sz="6600" dirty="0" smtClean="0">
                <a:effectLst/>
                <a:latin typeface="Calibri" panose="020F0502020204030204" pitchFamily="34" charset="0"/>
                <a:ea typeface="Calibri" panose="020F0502020204030204" pitchFamily="34" charset="0"/>
                <a:cs typeface="Times New Roman" panose="02020603050405020304" pitchFamily="18" charset="0"/>
              </a:rPr>
              <a:t>The right includes</a:t>
            </a:r>
          </a:p>
          <a:p>
            <a:pPr marL="1257300" lvl="2" indent="-342900" algn="just">
              <a:lnSpc>
                <a:spcPct val="107000"/>
              </a:lnSpc>
              <a:buFont typeface="Symbol" panose="05050102010706020507" pitchFamily="18" charset="2"/>
              <a:buChar char=""/>
            </a:pPr>
            <a:r>
              <a:rPr lang="en-GB" sz="6600" dirty="0" smtClean="0">
                <a:latin typeface="Calibri" panose="020F0502020204030204" pitchFamily="34" charset="0"/>
                <a:ea typeface="Calibri" panose="020F0502020204030204" pitchFamily="34" charset="0"/>
                <a:cs typeface="Times New Roman" panose="02020603050405020304" pitchFamily="18" charset="0"/>
              </a:rPr>
              <a:t>Freedom to join a certain TU</a:t>
            </a:r>
          </a:p>
          <a:p>
            <a:pPr marL="1257300" lvl="2" indent="-342900" algn="just">
              <a:lnSpc>
                <a:spcPct val="107000"/>
              </a:lnSpc>
              <a:buFont typeface="Symbol" panose="05050102010706020507" pitchFamily="18" charset="2"/>
              <a:buChar char=""/>
            </a:pPr>
            <a:r>
              <a:rPr lang="en-GB" sz="6600" dirty="0" smtClean="0">
                <a:effectLst/>
                <a:latin typeface="Calibri" panose="020F0502020204030204" pitchFamily="34" charset="0"/>
                <a:ea typeface="Calibri" panose="020F0502020204030204" pitchFamily="34" charset="0"/>
                <a:cs typeface="Times New Roman" panose="02020603050405020304" pitchFamily="18" charset="0"/>
              </a:rPr>
              <a:t>Not to join a certain TU</a:t>
            </a:r>
          </a:p>
          <a:p>
            <a:pPr marL="1257300" lvl="2" indent="-342900" algn="just">
              <a:lnSpc>
                <a:spcPct val="107000"/>
              </a:lnSpc>
              <a:buFont typeface="Symbol" panose="05050102010706020507" pitchFamily="18" charset="2"/>
              <a:buChar char=""/>
            </a:pPr>
            <a:r>
              <a:rPr lang="en-GB" sz="6600" dirty="0" smtClean="0">
                <a:latin typeface="Calibri" panose="020F0502020204030204" pitchFamily="34" charset="0"/>
                <a:ea typeface="Calibri" panose="020F0502020204030204" pitchFamily="34" charset="0"/>
                <a:cs typeface="Times New Roman" panose="02020603050405020304" pitchFamily="18" charset="0"/>
              </a:rPr>
              <a:t>To withdraw from TU</a:t>
            </a:r>
            <a:endParaRPr lang="en-GB" sz="66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26053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300" y="28580"/>
            <a:ext cx="11696700" cy="5665333"/>
          </a:xfrm>
          <a:prstGeom prst="rect">
            <a:avLst/>
          </a:prstGeom>
        </p:spPr>
        <p:txBody>
          <a:bodyPr wrap="square">
            <a:spAutoFit/>
          </a:bodyPr>
          <a:lstStyle/>
          <a:p>
            <a:pPr algn="just">
              <a:lnSpc>
                <a:spcPct val="107000"/>
              </a:lnSpc>
              <a:spcAft>
                <a:spcPts val="800"/>
              </a:spcAft>
            </a:pPr>
            <a:r>
              <a:rPr lang="en-GB" sz="5400" b="1" dirty="0" smtClean="0">
                <a:effectLst/>
                <a:latin typeface="Calibri" panose="020F0502020204030204" pitchFamily="34" charset="0"/>
                <a:ea typeface="Calibri" panose="020F0502020204030204" pitchFamily="34" charset="0"/>
                <a:cs typeface="Times New Roman" panose="02020603050405020304" pitchFamily="18" charset="0"/>
              </a:rPr>
              <a:t>Plurality of unions </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The current labour law recognized the plurality of trade unions in a single enterprise.</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 If so will the employer be compelled to bargain with every union or is there a way out?  See Art 115(1(a))</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The law enshrined the concept of the ―most representative union which will possess the power of being an exclusive bargaining agent.   </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169763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945" y="0"/>
            <a:ext cx="11901055" cy="4834657"/>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Preconditions to enjoy the right:-</a:t>
            </a:r>
          </a:p>
          <a:p>
            <a:pPr marL="1200150" lvl="1" indent="-742950" algn="just">
              <a:lnSpc>
                <a:spcPct val="107000"/>
              </a:lnSpc>
              <a:buAutoNum type="arabicPeriod"/>
            </a:pPr>
            <a:r>
              <a:rPr lang="en-GB" sz="3600" dirty="0" smtClean="0">
                <a:latin typeface="Calibri" panose="020F0502020204030204" pitchFamily="34" charset="0"/>
                <a:ea typeface="Calibri" panose="020F0502020204030204" pitchFamily="34" charset="0"/>
                <a:cs typeface="Times New Roman" panose="02020603050405020304" pitchFamily="18" charset="0"/>
              </a:rPr>
              <a:t>Minimum No of workers;-  Art. 114(1)</a:t>
            </a:r>
          </a:p>
          <a:p>
            <a:pPr marL="2114550" lvl="3" indent="-742950" algn="just">
              <a:lnSpc>
                <a:spcPct val="107000"/>
              </a:lnSpc>
              <a:buFont typeface="Arial" panose="020B0604020202020204" pitchFamily="34" charset="0"/>
              <a:buChar char="•"/>
            </a:pPr>
            <a:r>
              <a:rPr lang="en-GB" sz="3600" dirty="0" smtClean="0">
                <a:latin typeface="Calibri" panose="020F0502020204030204" pitchFamily="34" charset="0"/>
                <a:ea typeface="Calibri" panose="020F0502020204030204" pitchFamily="34" charset="0"/>
                <a:cs typeface="Times New Roman" panose="02020603050405020304" pitchFamily="18" charset="0"/>
              </a:rPr>
              <a:t>At least 10 workers.</a:t>
            </a:r>
          </a:p>
          <a:p>
            <a:pPr marL="2114550" lvl="3" indent="-742950" algn="just">
              <a:lnSpc>
                <a:spcPct val="107000"/>
              </a:lnSpc>
              <a:buFont typeface="Arial" panose="020B0604020202020204" pitchFamily="34" charset="0"/>
              <a:buChar char="•"/>
            </a:pPr>
            <a:r>
              <a:rPr lang="en-GB" sz="3600" dirty="0" smtClean="0">
                <a:latin typeface="Calibri" panose="020F0502020204030204" pitchFamily="34" charset="0"/>
                <a:ea typeface="Calibri" panose="020F0502020204030204" pitchFamily="34" charset="0"/>
                <a:cs typeface="Times New Roman" panose="02020603050405020304" pitchFamily="18" charset="0"/>
              </a:rPr>
              <a:t>Workers whose NO is less than 10 do have the right to form association. i.e. General Trade Union of two or more undertaking</a:t>
            </a:r>
          </a:p>
          <a:p>
            <a:pPr marL="2114550" lvl="3" indent="-742950" algn="just">
              <a:lnSpc>
                <a:spcPct val="107000"/>
              </a:lnSpc>
              <a:buFont typeface="Arial" panose="020B0604020202020204" pitchFamily="34" charset="0"/>
              <a:buChar char="•"/>
            </a:pPr>
            <a:r>
              <a:rPr lang="en-GB" sz="3600" dirty="0" smtClean="0">
                <a:latin typeface="Calibri" panose="020F0502020204030204" pitchFamily="34" charset="0"/>
                <a:ea typeface="Calibri" panose="020F0502020204030204" pitchFamily="34" charset="0"/>
                <a:cs typeface="Times New Roman" panose="02020603050405020304" pitchFamily="18" charset="0"/>
              </a:rPr>
              <a:t>But the sum must not be less than 10</a:t>
            </a:r>
          </a:p>
          <a:p>
            <a:pPr marL="1028700" lvl="1" indent="-571500" algn="just">
              <a:lnSpc>
                <a:spcPct val="107000"/>
              </a:lnSpc>
              <a:buFont typeface="Arial" panose="020B0604020202020204" pitchFamily="34" charset="0"/>
              <a:buChar char="•"/>
            </a:pPr>
            <a:endParaRPr lang="en-GB" sz="3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37790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2000" cy="4834400"/>
          </a:xfrm>
          <a:prstGeom prst="rect">
            <a:avLst/>
          </a:prstGeom>
        </p:spPr>
        <p:txBody>
          <a:bodyPr wrap="square">
            <a:spAutoFit/>
          </a:bodyPr>
          <a:lstStyle/>
          <a:p>
            <a:pPr lvl="1" algn="just">
              <a:lnSpc>
                <a:spcPct val="107000"/>
              </a:lnSpc>
            </a:pPr>
            <a:r>
              <a:rPr lang="en-GB" sz="4800" b="1" dirty="0" smtClean="0">
                <a:latin typeface="Calibri" panose="020F0502020204030204" pitchFamily="34" charset="0"/>
                <a:ea typeface="Calibri" panose="020F0502020204030204" pitchFamily="34" charset="0"/>
                <a:cs typeface="Times New Roman" panose="02020603050405020304" pitchFamily="18" charset="0"/>
              </a:rPr>
              <a:t>2. Having a constitution:</a:t>
            </a:r>
          </a:p>
          <a:p>
            <a:pPr marL="1028700" lvl="1" indent="-571500" algn="just">
              <a:lnSpc>
                <a:spcPct val="107000"/>
              </a:lnSpc>
              <a:buFont typeface="Arial" panose="020B0604020202020204" pitchFamily="34" charset="0"/>
              <a:buChar char="•"/>
            </a:pPr>
            <a:r>
              <a:rPr lang="en-GB" sz="4800" dirty="0" smtClean="0">
                <a:latin typeface="Calibri" panose="020F0502020204030204" pitchFamily="34" charset="0"/>
                <a:ea typeface="Calibri" panose="020F0502020204030204" pitchFamily="34" charset="0"/>
                <a:cs typeface="Times New Roman" panose="02020603050405020304" pitchFamily="18" charset="0"/>
              </a:rPr>
              <a:t>Is a document which the objective of the union and the rights and duties of the member, their relationship with the union.</a:t>
            </a:r>
          </a:p>
          <a:p>
            <a:pPr marL="1028700" lvl="1" indent="-571500" algn="just">
              <a:lnSpc>
                <a:spcPct val="107000"/>
              </a:lnSpc>
              <a:buFont typeface="Arial" panose="020B0604020202020204" pitchFamily="34" charset="0"/>
              <a:buChar char="•"/>
            </a:pPr>
            <a:r>
              <a:rPr lang="en-GB" sz="4800" dirty="0" smtClean="0">
                <a:latin typeface="Calibri" panose="020F0502020204030204" pitchFamily="34" charset="0"/>
                <a:ea typeface="Calibri" panose="020F0502020204030204" pitchFamily="34" charset="0"/>
                <a:cs typeface="Times New Roman" panose="02020603050405020304" pitchFamily="18" charset="0"/>
              </a:rPr>
              <a:t>Art 117</a:t>
            </a:r>
          </a:p>
          <a:p>
            <a:pPr marL="1028700" lvl="1" indent="-571500" algn="just">
              <a:lnSpc>
                <a:spcPct val="107000"/>
              </a:lnSpc>
              <a:buFont typeface="Arial" panose="020B0604020202020204" pitchFamily="34" charset="0"/>
              <a:buChar char="•"/>
            </a:pPr>
            <a:r>
              <a:rPr lang="en-GB" sz="4800" dirty="0" smtClean="0">
                <a:latin typeface="Calibri" panose="020F0502020204030204" pitchFamily="34" charset="0"/>
                <a:ea typeface="Calibri" panose="020F0502020204030204" pitchFamily="34" charset="0"/>
                <a:cs typeface="Times New Roman" panose="02020603050405020304" pitchFamily="18" charset="0"/>
              </a:rPr>
              <a:t>Must be submitted to MOLSA</a:t>
            </a:r>
          </a:p>
        </p:txBody>
      </p:sp>
    </p:spTree>
    <p:extLst>
      <p:ext uri="{BB962C8B-B14F-4D97-AF65-F5344CB8AC3E}">
        <p14:creationId xmlns:p14="http://schemas.microsoft.com/office/powerpoint/2010/main" val="33347522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7036" y="-238897"/>
            <a:ext cx="12192000" cy="7205306"/>
          </a:xfrm>
          <a:prstGeom prst="rect">
            <a:avLst/>
          </a:prstGeom>
        </p:spPr>
        <p:txBody>
          <a:bodyPr wrap="square">
            <a:spAutoFit/>
          </a:bodyPr>
          <a:lstStyle/>
          <a:p>
            <a:pPr lvl="1" algn="just">
              <a:lnSpc>
                <a:spcPct val="107000"/>
              </a:lnSpc>
            </a:pPr>
            <a:endParaRPr lang="en-GB" sz="4800" dirty="0" smtClean="0">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pPr>
            <a:r>
              <a:rPr lang="en-GB" sz="4800" dirty="0" smtClean="0">
                <a:latin typeface="Calibri" panose="020F0502020204030204" pitchFamily="34" charset="0"/>
                <a:ea typeface="Calibri" panose="020F0502020204030204" pitchFamily="34" charset="0"/>
                <a:cs typeface="Times New Roman" panose="02020603050405020304" pitchFamily="18" charset="0"/>
              </a:rPr>
              <a:t>3. Registration</a:t>
            </a:r>
          </a:p>
          <a:p>
            <a:pPr marL="1828800" lvl="2" indent="-914400" algn="just">
              <a:lnSpc>
                <a:spcPct val="107000"/>
              </a:lnSpc>
              <a:buFont typeface="Arial" panose="020B0604020202020204" pitchFamily="34" charset="0"/>
              <a:buChar char="•"/>
            </a:pPr>
            <a:r>
              <a:rPr lang="en-GB" sz="2800" dirty="0" smtClean="0">
                <a:latin typeface="Calibri" panose="020F0502020204030204" pitchFamily="34" charset="0"/>
                <a:ea typeface="Calibri" panose="020F0502020204030204" pitchFamily="34" charset="0"/>
                <a:cs typeface="Times New Roman" panose="02020603050405020304" pitchFamily="18" charset="0"/>
              </a:rPr>
              <a:t>By MOLSA</a:t>
            </a:r>
          </a:p>
          <a:p>
            <a:pPr marL="1828800" lvl="2" indent="-914400" algn="just">
              <a:lnSpc>
                <a:spcPct val="107000"/>
              </a:lnSpc>
              <a:buFont typeface="Arial" panose="020B0604020202020204" pitchFamily="34" charset="0"/>
              <a:buChar char="•"/>
            </a:pPr>
            <a:r>
              <a:rPr lang="en-GB" sz="2800" dirty="0" smtClean="0">
                <a:latin typeface="Calibri" panose="020F0502020204030204" pitchFamily="34" charset="0"/>
                <a:ea typeface="Calibri" panose="020F0502020204030204" pitchFamily="34" charset="0"/>
                <a:cs typeface="Times New Roman" panose="02020603050405020304" pitchFamily="18" charset="0"/>
              </a:rPr>
              <a:t>Art 118</a:t>
            </a:r>
          </a:p>
          <a:p>
            <a:pPr marL="1257300" lvl="2" indent="-342900" algn="just">
              <a:lnSpc>
                <a:spcPct val="107000"/>
              </a:lnSpc>
              <a:buFont typeface="Symbol" panose="05050102010706020507" pitchFamily="18" charset="2"/>
              <a:buChar char=""/>
            </a:pPr>
            <a:r>
              <a:rPr lang="en-GB" sz="2800" b="1" dirty="0" smtClean="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Registration as envisaged by the law could take two forms; actual and default registration.  </a:t>
            </a:r>
            <a:endParaRPr lang="en-US" sz="2800" dirty="0" smtClean="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marL="1257300" lvl="2" indent="-342900" algn="just">
              <a:lnSpc>
                <a:spcPct val="107000"/>
              </a:lnSpc>
              <a:buFont typeface="Symbol" panose="05050102010706020507" pitchFamily="18" charset="2"/>
              <a:buChar char=""/>
            </a:pPr>
            <a:r>
              <a:rPr lang="en-GB" sz="2800" dirty="0" smtClean="0">
                <a:effectLst/>
                <a:latin typeface="Calibri" panose="020F0502020204030204" pitchFamily="34" charset="0"/>
                <a:ea typeface="Calibri" panose="020F0502020204030204" pitchFamily="34" charset="0"/>
                <a:cs typeface="Times New Roman" panose="02020603050405020304" pitchFamily="18" charset="0"/>
              </a:rPr>
              <a:t>Actual registration occurs where the registering organ is provided with the necessary documents and found the documents adequate and legal after which it entered the registration (Art.118 (3) first sentence). </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257300" lvl="2" indent="-342900" algn="just">
              <a:lnSpc>
                <a:spcPct val="107000"/>
              </a:lnSpc>
              <a:spcAft>
                <a:spcPts val="800"/>
              </a:spcAft>
              <a:buFont typeface="Symbol" panose="05050102010706020507" pitchFamily="18" charset="2"/>
              <a:buChar char=""/>
            </a:pPr>
            <a:r>
              <a:rPr lang="en-GB" sz="2800" b="1" dirty="0" smtClean="0">
                <a:solidFill>
                  <a:srgbClr val="92D050"/>
                </a:solidFill>
                <a:effectLst/>
                <a:latin typeface="Calibri" panose="020F0502020204030204" pitchFamily="34" charset="0"/>
                <a:ea typeface="Calibri" panose="020F0502020204030204" pitchFamily="34" charset="0"/>
                <a:cs typeface="Times New Roman" panose="02020603050405020304" pitchFamily="18" charset="0"/>
              </a:rPr>
              <a:t>Default registration, on its part, occurs when the registering organ upon being provided with the necessary documents failed to respond positively or negatively on the application for fifteen days from the date of receipt of the documents. Hence, in such circumstances silence amounts to acceptance (Art.118 (3) second sentence.). </a:t>
            </a:r>
          </a:p>
        </p:txBody>
      </p:sp>
    </p:spTree>
    <p:extLst>
      <p:ext uri="{BB962C8B-B14F-4D97-AF65-F5344CB8AC3E}">
        <p14:creationId xmlns:p14="http://schemas.microsoft.com/office/powerpoint/2010/main" val="96907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 calcmode="lin" valueType="num">
                                      <p:cBhvr additive="base">
                                        <p:cTn id="1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240298"/>
          </a:xfrm>
          <a:prstGeom prst="rect">
            <a:avLst/>
          </a:prstGeom>
        </p:spPr>
        <p:txBody>
          <a:bodyPr wrap="square">
            <a:spAutoFit/>
          </a:bodyPr>
          <a:lstStyle/>
          <a:p>
            <a:pPr marL="1257300" lvl="2" indent="-342900" algn="just">
              <a:lnSpc>
                <a:spcPct val="107000"/>
              </a:lnSpc>
              <a:spcAft>
                <a:spcPts val="800"/>
              </a:spcAft>
              <a:buFont typeface="Symbol" panose="05050102010706020507" pitchFamily="18" charset="2"/>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Effects of non-registration Art 118(4)</a:t>
            </a:r>
          </a:p>
          <a:p>
            <a:pPr marL="1257300" lvl="2" indent="-342900" algn="just">
              <a:lnSpc>
                <a:spcPct val="107000"/>
              </a:lnSpc>
              <a:spcAft>
                <a:spcPts val="800"/>
              </a:spcAft>
              <a:buFont typeface="Symbol" panose="05050102010706020507" pitchFamily="18" charset="2"/>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Effects of registration Art 118(5)</a:t>
            </a:r>
          </a:p>
          <a:p>
            <a:pPr marL="1257300" lvl="2" indent="-342900" algn="just">
              <a:lnSpc>
                <a:spcPct val="107000"/>
              </a:lnSpc>
              <a:spcAft>
                <a:spcPts val="800"/>
              </a:spcAft>
              <a:buFont typeface="Symbol" panose="05050102010706020507" pitchFamily="18" charset="2"/>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Grounds of Refusal Art 119</a:t>
            </a:r>
          </a:p>
          <a:p>
            <a:pPr marL="1257300" lvl="2" indent="-342900" algn="just">
              <a:lnSpc>
                <a:spcPct val="107000"/>
              </a:lnSpc>
              <a:spcAft>
                <a:spcPts val="800"/>
              </a:spcAft>
              <a:buFont typeface="Symbol" panose="05050102010706020507" pitchFamily="18" charset="2"/>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Cancellation of registration Art 120 and 121 with Art 123</a:t>
            </a:r>
          </a:p>
          <a:p>
            <a:pPr marL="1257300" lvl="2" indent="-342900" algn="just">
              <a:lnSpc>
                <a:spcPct val="107000"/>
              </a:lnSpc>
              <a:spcAft>
                <a:spcPts val="800"/>
              </a:spcAft>
              <a:buFont typeface="Symbol" panose="05050102010706020507" pitchFamily="18" charset="2"/>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Appeal Art 122</a:t>
            </a:r>
          </a:p>
          <a:p>
            <a:pPr marL="1257300" lvl="2" indent="-342900" algn="just">
              <a:lnSpc>
                <a:spcPct val="107000"/>
              </a:lnSpc>
              <a:spcAft>
                <a:spcPts val="800"/>
              </a:spcAft>
              <a:buFont typeface="Symbol" panose="05050102010706020507" pitchFamily="18" charset="2"/>
              <a:buChar char=""/>
            </a:pPr>
            <a:endParaRPr lang="en-GB" sz="48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55323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142177"/>
          </a:xfrm>
          <a:prstGeom prst="rect">
            <a:avLst/>
          </a:prstGeom>
        </p:spPr>
        <p:txBody>
          <a:bodyPr wrap="square">
            <a:spAutoFit/>
          </a:bodyPr>
          <a:lstStyle/>
          <a:p>
            <a:pPr lvl="2" algn="just">
              <a:lnSpc>
                <a:spcPct val="107000"/>
              </a:lnSpc>
              <a:spcAft>
                <a:spcPts val="800"/>
              </a:spcAft>
            </a:pPr>
            <a:r>
              <a:rPr lang="en-GB" sz="4800" b="1" dirty="0" smtClean="0">
                <a:latin typeface="Calibri" panose="020F0502020204030204" pitchFamily="34" charset="0"/>
                <a:ea typeface="Calibri" panose="020F0502020204030204" pitchFamily="34" charset="0"/>
                <a:cs typeface="Times New Roman" panose="02020603050405020304" pitchFamily="18" charset="0"/>
              </a:rPr>
              <a:t>Formation of employers association </a:t>
            </a:r>
          </a:p>
          <a:p>
            <a:pPr marL="1600200" lvl="2" indent="-685800" algn="just">
              <a:lnSpc>
                <a:spcPct val="107000"/>
              </a:lnSpc>
              <a:spcAft>
                <a:spcPts val="800"/>
              </a:spcAft>
              <a:buFont typeface="Arial" panose="020B0604020202020204" pitchFamily="34" charset="0"/>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The requirement of constitution and registration applies here too.</a:t>
            </a:r>
          </a:p>
          <a:p>
            <a:pPr marL="1600200" lvl="2" indent="-685800" algn="just">
              <a:lnSpc>
                <a:spcPct val="107000"/>
              </a:lnSpc>
              <a:spcAft>
                <a:spcPts val="800"/>
              </a:spcAft>
              <a:buFont typeface="Arial" panose="020B0604020202020204" pitchFamily="34" charset="0"/>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But the law is silent </a:t>
            </a:r>
            <a:r>
              <a:rPr lang="en-GB" sz="4800" b="1" dirty="0" err="1" smtClean="0">
                <a:latin typeface="Calibri" panose="020F0502020204030204" pitchFamily="34" charset="0"/>
                <a:ea typeface="Calibri" panose="020F0502020204030204" pitchFamily="34" charset="0"/>
                <a:cs typeface="Times New Roman" panose="02020603050405020304" pitchFamily="18" charset="0"/>
              </a:rPr>
              <a:t>abt</a:t>
            </a:r>
            <a:r>
              <a:rPr lang="en-GB" sz="4800" b="1" dirty="0" smtClean="0">
                <a:latin typeface="Calibri" panose="020F0502020204030204" pitchFamily="34" charset="0"/>
                <a:ea typeface="Calibri" panose="020F0502020204030204" pitchFamily="34" charset="0"/>
                <a:cs typeface="Times New Roman" panose="02020603050405020304" pitchFamily="18" charset="0"/>
              </a:rPr>
              <a:t> minimum no of members </a:t>
            </a:r>
          </a:p>
          <a:p>
            <a:pPr marL="1600200" lvl="2" indent="-685800" algn="just">
              <a:lnSpc>
                <a:spcPct val="107000"/>
              </a:lnSpc>
              <a:spcAft>
                <a:spcPts val="800"/>
              </a:spcAft>
              <a:buFont typeface="Arial" panose="020B0604020202020204" pitchFamily="34" charset="0"/>
              <a:buChar char="•"/>
            </a:pPr>
            <a:r>
              <a:rPr lang="en-GB" sz="4800" b="1" dirty="0" smtClean="0">
                <a:latin typeface="Calibri" panose="020F0502020204030204" pitchFamily="34" charset="0"/>
                <a:ea typeface="Calibri" panose="020F0502020204030204" pitchFamily="34" charset="0"/>
                <a:cs typeface="Times New Roman" panose="02020603050405020304" pitchFamily="18" charset="0"/>
              </a:rPr>
              <a:t>In absence of the law….</a:t>
            </a:r>
          </a:p>
        </p:txBody>
      </p:sp>
    </p:spTree>
    <p:extLst>
      <p:ext uri="{BB962C8B-B14F-4D97-AF65-F5344CB8AC3E}">
        <p14:creationId xmlns:p14="http://schemas.microsoft.com/office/powerpoint/2010/main" val="34211502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8145" y="0"/>
            <a:ext cx="12025745" cy="5347618"/>
          </a:xfrm>
          <a:prstGeom prst="rect">
            <a:avLst/>
          </a:prstGeom>
        </p:spPr>
        <p:txBody>
          <a:bodyPr wrap="square">
            <a:spAutoFit/>
          </a:bodyPr>
          <a:lstStyle/>
          <a:p>
            <a:pPr marL="1600200" lvl="2" indent="-685800" algn="just">
              <a:lnSpc>
                <a:spcPct val="107000"/>
              </a:lnSpc>
              <a:spcAft>
                <a:spcPts val="800"/>
              </a:spcAft>
              <a:buFont typeface="Arial" panose="020B0604020202020204" pitchFamily="34" charset="0"/>
              <a:buChar char="•"/>
            </a:pPr>
            <a:r>
              <a:rPr lang="en-GB" sz="3600" b="1" dirty="0">
                <a:latin typeface="Calibri" panose="020F0502020204030204" pitchFamily="34" charset="0"/>
                <a:ea typeface="Calibri" panose="020F0502020204030204" pitchFamily="34" charset="0"/>
                <a:cs typeface="Times New Roman" panose="02020603050405020304" pitchFamily="18" charset="0"/>
              </a:rPr>
              <a:t>F</a:t>
            </a:r>
            <a:r>
              <a:rPr lang="en-GB" sz="3600" b="1" dirty="0" smtClean="0">
                <a:latin typeface="Calibri" panose="020F0502020204030204" pitchFamily="34" charset="0"/>
                <a:ea typeface="Calibri" panose="020F0502020204030204" pitchFamily="34" charset="0"/>
                <a:cs typeface="Times New Roman" panose="02020603050405020304" pitchFamily="18" charset="0"/>
              </a:rPr>
              <a:t>ederation 113(2)</a:t>
            </a:r>
          </a:p>
          <a:p>
            <a:pPr marL="2057400" lvl="3" indent="-685800" algn="just">
              <a:lnSpc>
                <a:spcPct val="107000"/>
              </a:lnSpc>
              <a:spcAft>
                <a:spcPts val="800"/>
              </a:spcAft>
              <a:buFont typeface="Arial" panose="020B0604020202020204" pitchFamily="34" charset="0"/>
              <a:buChar char="•"/>
            </a:pPr>
            <a:r>
              <a:rPr lang="en-GB" sz="3600" dirty="0" smtClean="0">
                <a:latin typeface="Calibri" panose="020F0502020204030204" pitchFamily="34" charset="0"/>
                <a:ea typeface="Calibri" panose="020F0502020204030204" pitchFamily="34" charset="0"/>
                <a:cs typeface="Times New Roman" panose="02020603050405020304" pitchFamily="18" charset="0"/>
              </a:rPr>
              <a:t>federation of TU is established by one or more TU jointly</a:t>
            </a:r>
          </a:p>
          <a:p>
            <a:pPr marL="2057400" lvl="3" indent="-685800" algn="just">
              <a:lnSpc>
                <a:spcPct val="107000"/>
              </a:lnSpc>
              <a:spcAft>
                <a:spcPts val="800"/>
              </a:spcAft>
              <a:buFont typeface="Arial" panose="020B0604020202020204" pitchFamily="34" charset="0"/>
              <a:buChar char="•"/>
            </a:pPr>
            <a:r>
              <a:rPr lang="en-GB" sz="3600" dirty="0" smtClean="0">
                <a:latin typeface="Calibri" panose="020F0502020204030204" pitchFamily="34" charset="0"/>
                <a:ea typeface="Calibri" panose="020F0502020204030204" pitchFamily="34" charset="0"/>
                <a:cs typeface="Times New Roman" panose="02020603050405020304" pitchFamily="18" charset="0"/>
              </a:rPr>
              <a:t>Federation of employers association; established by one or more EA</a:t>
            </a:r>
          </a:p>
          <a:p>
            <a:pPr marL="1600200" lvl="2" indent="-685800" algn="just">
              <a:lnSpc>
                <a:spcPct val="107000"/>
              </a:lnSpc>
              <a:spcAft>
                <a:spcPts val="800"/>
              </a:spcAft>
              <a:buFont typeface="Arial" panose="020B0604020202020204" pitchFamily="34" charset="0"/>
              <a:buChar char="•"/>
            </a:pPr>
            <a:r>
              <a:rPr lang="en-GB" sz="3600" b="1" dirty="0" smtClean="0">
                <a:latin typeface="Calibri" panose="020F0502020204030204" pitchFamily="34" charset="0"/>
                <a:ea typeface="Calibri" panose="020F0502020204030204" pitchFamily="34" charset="0"/>
                <a:cs typeface="Times New Roman" panose="02020603050405020304" pitchFamily="18" charset="0"/>
              </a:rPr>
              <a:t>Confederation: Art 113(2)</a:t>
            </a:r>
          </a:p>
          <a:p>
            <a:pPr marL="2057400" lvl="3" indent="-685800" algn="just">
              <a:lnSpc>
                <a:spcPct val="107000"/>
              </a:lnSpc>
              <a:spcAft>
                <a:spcPts val="800"/>
              </a:spcAft>
              <a:buFont typeface="Arial" panose="020B0604020202020204" pitchFamily="34" charset="0"/>
              <a:buChar char="•"/>
            </a:pPr>
            <a:r>
              <a:rPr lang="en-GB" sz="3600" dirty="0" smtClean="0">
                <a:latin typeface="Calibri" panose="020F0502020204030204" pitchFamily="34" charset="0"/>
                <a:ea typeface="Calibri" panose="020F0502020204030204" pitchFamily="34" charset="0"/>
                <a:cs typeface="Times New Roman" panose="02020603050405020304" pitchFamily="18" charset="0"/>
              </a:rPr>
              <a:t>Of TU- established by one or more federation of TU.</a:t>
            </a:r>
          </a:p>
          <a:p>
            <a:pPr marL="2057400" lvl="3" indent="-685800" algn="just">
              <a:lnSpc>
                <a:spcPct val="107000"/>
              </a:lnSpc>
              <a:spcAft>
                <a:spcPts val="800"/>
              </a:spcAft>
              <a:buFont typeface="Arial" panose="020B0604020202020204" pitchFamily="34" charset="0"/>
              <a:buChar char="•"/>
            </a:pPr>
            <a:r>
              <a:rPr lang="en-GB" sz="3600" dirty="0" smtClean="0">
                <a:latin typeface="Calibri" panose="020F0502020204030204" pitchFamily="34" charset="0"/>
                <a:ea typeface="Calibri" panose="020F0502020204030204" pitchFamily="34" charset="0"/>
                <a:cs typeface="Times New Roman" panose="02020603050405020304" pitchFamily="18" charset="0"/>
              </a:rPr>
              <a:t>Of EA: established by one or more federation of EA</a:t>
            </a:r>
          </a:p>
        </p:txBody>
      </p:sp>
    </p:spTree>
    <p:extLst>
      <p:ext uri="{BB962C8B-B14F-4D97-AF65-F5344CB8AC3E}">
        <p14:creationId xmlns:p14="http://schemas.microsoft.com/office/powerpoint/2010/main" val="35721014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032673" cy="5142177"/>
          </a:xfrm>
          <a:prstGeom prst="rect">
            <a:avLst/>
          </a:prstGeom>
        </p:spPr>
        <p:txBody>
          <a:bodyPr wrap="square">
            <a:spAutoFit/>
          </a:bodyPr>
          <a:lstStyle/>
          <a:p>
            <a:pPr algn="just">
              <a:lnSpc>
                <a:spcPct val="107000"/>
              </a:lnSpc>
              <a:spcAft>
                <a:spcPts val="800"/>
              </a:spcAft>
            </a:pPr>
            <a:r>
              <a:rPr lang="en-US" sz="48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GB" sz="4800" b="1" dirty="0" smtClean="0">
                <a:effectLst/>
                <a:latin typeface="Calibri" panose="020F0502020204030204" pitchFamily="34" charset="0"/>
                <a:ea typeface="Calibri" panose="020F0502020204030204" pitchFamily="34" charset="0"/>
                <a:cs typeface="Times New Roman" panose="02020603050405020304" pitchFamily="18" charset="0"/>
              </a:rPr>
              <a:t>Functions of the trade union and Employers association </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Art 15 and 16 of LP</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Federation and confederation Art. 116</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 What about political involvement?</a:t>
            </a:r>
            <a:endParaRPr lang="en-US" sz="48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4800" dirty="0" smtClean="0">
                <a:effectLst/>
                <a:latin typeface="Calibri" panose="020F0502020204030204" pitchFamily="34" charset="0"/>
                <a:ea typeface="Calibri" panose="020F0502020204030204" pitchFamily="34" charset="0"/>
                <a:cs typeface="Times New Roman" panose="02020603050405020304" pitchFamily="18" charset="0"/>
              </a:rPr>
              <a:t>See Art (3)(1) of ILO convention No 87</a:t>
            </a:r>
            <a:endParaRPr lang="en-US" sz="4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941116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949788"/>
          </a:xfrm>
          <a:prstGeom prst="rect">
            <a:avLst/>
          </a:prstGeom>
        </p:spPr>
        <p:txBody>
          <a:bodyPr wrap="square">
            <a:spAutoFit/>
          </a:bodyPr>
          <a:lstStyle/>
          <a:p>
            <a:pPr algn="just">
              <a:lnSpc>
                <a:spcPct val="107000"/>
              </a:lnSpc>
              <a:spcAft>
                <a:spcPts val="800"/>
              </a:spcAft>
            </a:pPr>
            <a:r>
              <a:rPr lang="en-GB" sz="6000" b="1" dirty="0" smtClean="0">
                <a:effectLst/>
                <a:latin typeface="Bradley Hand ITC" panose="03070402050302030203" pitchFamily="66" charset="0"/>
                <a:ea typeface="Calibri" panose="020F0502020204030204" pitchFamily="34" charset="0"/>
                <a:cs typeface="Times New Roman" panose="02020603050405020304" pitchFamily="18" charset="0"/>
              </a:rPr>
              <a:t>Collective bargaining and collective agreement</a:t>
            </a:r>
            <a:endParaRPr lang="en-US" sz="5400" b="1" dirty="0" smtClean="0">
              <a:effectLst/>
              <a:latin typeface="Bradley Hand ITC" panose="03070402050302030203" pitchFamily="66" charset="0"/>
              <a:ea typeface="Calibri" panose="020F0502020204030204" pitchFamily="34" charset="0"/>
              <a:cs typeface="Times New Roman" panose="02020603050405020304" pitchFamily="18" charset="0"/>
            </a:endParaRPr>
          </a:p>
          <a:p>
            <a:pPr algn="just">
              <a:lnSpc>
                <a:spcPct val="107000"/>
              </a:lnSpc>
              <a:spcAft>
                <a:spcPts val="800"/>
              </a:spcAft>
            </a:pPr>
            <a:r>
              <a:rPr lang="en-GB" sz="36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GB" sz="4000" b="1" dirty="0" smtClean="0">
                <a:effectLst/>
                <a:latin typeface="Calibri" panose="020F0502020204030204" pitchFamily="34" charset="0"/>
                <a:ea typeface="Calibri" panose="020F0502020204030204" pitchFamily="34" charset="0"/>
                <a:cs typeface="Times New Roman" panose="02020603050405020304" pitchFamily="18" charset="0"/>
              </a:rPr>
              <a:t>Collective Bargaining</a:t>
            </a:r>
            <a:endParaRPr lang="en-US" sz="36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Is the process of collective negotiation </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Is the process through which the workers negotiate with their employer</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Art 154(2) of ILO convention: </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Art 124(2) LP</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It presupposes the existence of TU</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543242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580648"/>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Recognized worldwide as a crucial for bringing industrial democracy</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Philadelphia declaration:- ILO has the solemn obligation to further among the nation of the world.</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 The 1998 ILO convention obliges member states of ILO to promote and realize the principles concerning the right to bargaining.</a:t>
            </a:r>
            <a:endParaRPr lang="en-US" sz="4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See convention No 98 and 154</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87426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752105"/>
          </a:xfrm>
          <a:prstGeom prst="rect">
            <a:avLst/>
          </a:prstGeom>
        </p:spPr>
        <p:txBody>
          <a:bodyPr wrap="square">
            <a:spAutoFit/>
          </a:bodyPr>
          <a:lstStyle/>
          <a:p>
            <a:pPr marL="228600" algn="just">
              <a:lnSpc>
                <a:spcPct val="107000"/>
              </a:lnSpc>
              <a:spcAft>
                <a:spcPts val="800"/>
              </a:spcAft>
            </a:pPr>
            <a:r>
              <a:rPr lang="en-GB" sz="4000" b="1" dirty="0" smtClean="0">
                <a:effectLst/>
                <a:latin typeface="Calibri" panose="020F0502020204030204" pitchFamily="34" charset="0"/>
                <a:ea typeface="Calibri" panose="020F0502020204030204" pitchFamily="34" charset="0"/>
                <a:cs typeface="Times New Roman" panose="02020603050405020304" pitchFamily="18" charset="0"/>
              </a:rPr>
              <a:t>Parties to the collective bargaining</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As a principle The right to CB applies to all workers organization and Employers organization</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As an exception; certain sectors of workers or organization are excluded under domestic law</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ILO conventions provided about the exclusions of armed and police force.</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See also Art 125 and 126 of LP</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CB must be made with the full and free consent of the parties</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443883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717830"/>
          </a:xfrm>
          <a:prstGeom prst="rect">
            <a:avLst/>
          </a:prstGeom>
        </p:spPr>
        <p:txBody>
          <a:bodyPr wrap="square">
            <a:spAutoFit/>
          </a:bodyPr>
          <a:lstStyle/>
          <a:p>
            <a:pPr algn="just">
              <a:lnSpc>
                <a:spcPct val="107000"/>
              </a:lnSpc>
              <a:spcAft>
                <a:spcPts val="800"/>
              </a:spcAft>
            </a:pPr>
            <a:r>
              <a:rPr lang="en-GB" sz="2800" b="1" dirty="0" smtClean="0">
                <a:effectLst/>
                <a:latin typeface="Calibri" panose="020F0502020204030204" pitchFamily="34" charset="0"/>
                <a:ea typeface="Calibri" panose="020F0502020204030204" pitchFamily="34" charset="0"/>
                <a:cs typeface="Times New Roman" panose="02020603050405020304" pitchFamily="18" charset="0"/>
              </a:rPr>
              <a:t>Procedural requirements</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2800" dirty="0" smtClean="0">
                <a:effectLst/>
                <a:latin typeface="Calibri" panose="020F0502020204030204" pitchFamily="34" charset="0"/>
                <a:ea typeface="Calibri" panose="020F0502020204030204" pitchFamily="34" charset="0"/>
                <a:cs typeface="Times New Roman" panose="02020603050405020304" pitchFamily="18" charset="0"/>
              </a:rPr>
              <a:t>Must be made with full and free consent of the parties</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2800" dirty="0" smtClean="0">
                <a:effectLst/>
                <a:latin typeface="Calibri" panose="020F0502020204030204" pitchFamily="34" charset="0"/>
                <a:ea typeface="Calibri" panose="020F0502020204030204" pitchFamily="34" charset="0"/>
                <a:cs typeface="Times New Roman" panose="02020603050405020304" pitchFamily="18" charset="0"/>
              </a:rPr>
              <a:t>Request: Art 130(1) must be made in writing </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2800" dirty="0" smtClean="0">
                <a:effectLst/>
                <a:latin typeface="Calibri" panose="020F0502020204030204" pitchFamily="34" charset="0"/>
                <a:ea typeface="Calibri" panose="020F0502020204030204" pitchFamily="34" charset="0"/>
                <a:cs typeface="Times New Roman" panose="02020603050405020304" pitchFamily="18" charset="0"/>
              </a:rPr>
              <a:t>Duty to bargain in good faith</a:t>
            </a:r>
          </a:p>
          <a:p>
            <a:pPr lvl="0" algn="just">
              <a:lnSpc>
                <a:spcPct val="107000"/>
              </a:lnSpc>
              <a:spcAft>
                <a:spcPts val="800"/>
              </a:spcAft>
            </a:pPr>
            <a:r>
              <a:rPr lang="en-GB" sz="2800" b="1" dirty="0" smtClean="0">
                <a:latin typeface="Calibri" panose="020F0502020204030204" pitchFamily="34" charset="0"/>
                <a:ea typeface="Calibri" panose="020F0502020204030204" pitchFamily="34" charset="0"/>
                <a:cs typeface="Times New Roman" panose="02020603050405020304" pitchFamily="18" charset="0"/>
              </a:rPr>
              <a:t>Purposes</a:t>
            </a:r>
            <a:endParaRPr lang="en-GB" sz="28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07000"/>
              </a:lnSpc>
              <a:spcAft>
                <a:spcPts val="800"/>
              </a:spcAft>
              <a:buFont typeface="Arial" panose="020B0604020202020204" pitchFamily="34" charset="0"/>
              <a:buChar char="•"/>
            </a:pPr>
            <a:r>
              <a:rPr lang="en-GB" sz="2800" dirty="0" smtClean="0"/>
              <a:t>The </a:t>
            </a:r>
            <a:r>
              <a:rPr lang="en-GB" sz="2800" dirty="0"/>
              <a:t>purpose of collective bargaining is the regulation of terms and conditions of employment, in a broad sense, and the relations between the parties</a:t>
            </a:r>
            <a:r>
              <a:rPr lang="en-GB" sz="2800" dirty="0" smtClean="0"/>
              <a:t>.</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3200" b="1" dirty="0"/>
              <a:t> Collective agreements should be binding. </a:t>
            </a:r>
            <a:endParaRPr lang="en-GB" sz="3200" b="1" dirty="0" smtClean="0"/>
          </a:p>
        </p:txBody>
      </p:sp>
    </p:spTree>
    <p:extLst>
      <p:ext uri="{BB962C8B-B14F-4D97-AF65-F5344CB8AC3E}">
        <p14:creationId xmlns:p14="http://schemas.microsoft.com/office/powerpoint/2010/main" val="34809326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437788"/>
          </a:xfrm>
          <a:prstGeom prst="rect">
            <a:avLst/>
          </a:prstGeom>
        </p:spPr>
        <p:txBody>
          <a:bodyPr wrap="square">
            <a:spAutoFit/>
          </a:bodyPr>
          <a:lstStyle/>
          <a:p>
            <a:pPr algn="just">
              <a:lnSpc>
                <a:spcPct val="107000"/>
              </a:lnSpc>
              <a:spcAft>
                <a:spcPts val="800"/>
              </a:spcAft>
            </a:pPr>
            <a:r>
              <a:rPr lang="en-GB" sz="4000" b="1" dirty="0" smtClean="0">
                <a:effectLst/>
                <a:latin typeface="Calibri" panose="020F0502020204030204" pitchFamily="34" charset="0"/>
                <a:ea typeface="Calibri" panose="020F0502020204030204" pitchFamily="34" charset="0"/>
                <a:cs typeface="Times New Roman" panose="02020603050405020304" pitchFamily="18" charset="0"/>
              </a:rPr>
              <a:t>Principles of collective bargaining</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2800" b="1" dirty="0" smtClean="0">
                <a:effectLst/>
                <a:latin typeface="Calibri" panose="020F0502020204030204" pitchFamily="34" charset="0"/>
                <a:ea typeface="Calibri" panose="020F0502020204030204" pitchFamily="34" charset="0"/>
                <a:cs typeface="Times New Roman" panose="02020603050405020304" pitchFamily="18" charset="0"/>
              </a:rPr>
              <a:t>Principles of good faith</a:t>
            </a: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n-GB" sz="28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GB" sz="28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GB" sz="2800" dirty="0" smtClean="0">
                <a:latin typeface="Calibri" panose="020F0502020204030204" pitchFamily="34" charset="0"/>
                <a:ea typeface="Calibri" panose="020F0502020204030204" pitchFamily="34" charset="0"/>
                <a:cs typeface="Times New Roman" panose="02020603050405020304" pitchFamily="18" charset="0"/>
              </a:rPr>
              <a:t>I</a:t>
            </a:r>
            <a:r>
              <a:rPr lang="en-GB" sz="2800" dirty="0" smtClean="0">
                <a:effectLst/>
                <a:latin typeface="Calibri" panose="020F0502020204030204" pitchFamily="34" charset="0"/>
                <a:ea typeface="Calibri" panose="020F0502020204030204" pitchFamily="34" charset="0"/>
                <a:cs typeface="Times New Roman" panose="02020603050405020304" pitchFamily="18" charset="0"/>
              </a:rPr>
              <a:t>mplies recognizing representative organizations, endeavouring to reach an agreement, engaging in genuine and constructive negotiations, avoiding unjustified delays in negotiation and mutually respecting the commitments entered into, taking into account the results of negotiations in good faith.</a:t>
            </a:r>
          </a:p>
          <a:p>
            <a:pPr marL="342900" indent="-342900" algn="just">
              <a:lnSpc>
                <a:spcPct val="107000"/>
              </a:lnSpc>
              <a:spcAft>
                <a:spcPts val="800"/>
              </a:spcAft>
              <a:buFont typeface="Symbol" panose="05050102010706020507" pitchFamily="18" charset="2"/>
              <a:buChar char=""/>
            </a:pPr>
            <a:r>
              <a:rPr lang="en-GB" sz="2800" b="1" dirty="0" smtClean="0">
                <a:latin typeface="Calibri" panose="020F0502020204030204" pitchFamily="34" charset="0"/>
                <a:ea typeface="Calibri" panose="020F0502020204030204" pitchFamily="34" charset="0"/>
                <a:cs typeface="Times New Roman" panose="02020603050405020304" pitchFamily="18" charset="0"/>
              </a:rPr>
              <a:t>The principle of independence</a:t>
            </a:r>
          </a:p>
          <a:p>
            <a:pPr marL="800100" lvl="1" indent="-342900" algn="just">
              <a:lnSpc>
                <a:spcPct val="107000"/>
              </a:lnSpc>
              <a:spcAft>
                <a:spcPts val="800"/>
              </a:spcAft>
              <a:buFont typeface="Symbol" panose="05050102010706020507" pitchFamily="18" charset="2"/>
              <a:buChar char=""/>
            </a:pPr>
            <a:r>
              <a:rPr lang="en-GB" sz="2800" dirty="0" smtClean="0">
                <a:effectLst/>
                <a:latin typeface="Calibri" panose="020F0502020204030204" pitchFamily="34" charset="0"/>
                <a:ea typeface="Calibri" panose="020F0502020204030204" pitchFamily="34" charset="0"/>
                <a:cs typeface="Times New Roman" panose="02020603050405020304" pitchFamily="18" charset="0"/>
              </a:rPr>
              <a:t>The organization must not be under the influence of employer or employers organization</a:t>
            </a:r>
          </a:p>
          <a:p>
            <a:pPr marL="342900" indent="-342900" algn="just">
              <a:lnSpc>
                <a:spcPct val="107000"/>
              </a:lnSpc>
              <a:spcAft>
                <a:spcPts val="800"/>
              </a:spcAft>
              <a:buFont typeface="Symbol" panose="05050102010706020507" pitchFamily="18" charset="2"/>
              <a:buChar char=""/>
            </a:pPr>
            <a:r>
              <a:rPr lang="en-GB" sz="2800" b="1" dirty="0" smtClean="0">
                <a:latin typeface="Calibri" panose="020F0502020204030204" pitchFamily="34" charset="0"/>
                <a:ea typeface="Calibri" panose="020F0502020204030204" pitchFamily="34" charset="0"/>
                <a:cs typeface="Times New Roman" panose="02020603050405020304" pitchFamily="18" charset="0"/>
              </a:rPr>
              <a:t>The Principle of autonomy of the parties</a:t>
            </a:r>
          </a:p>
          <a:p>
            <a:pPr marL="342900" indent="-342900" algn="just">
              <a:lnSpc>
                <a:spcPct val="107000"/>
              </a:lnSpc>
              <a:spcAft>
                <a:spcPts val="800"/>
              </a:spcAft>
              <a:buFont typeface="Symbol" panose="05050102010706020507" pitchFamily="18" charset="2"/>
              <a:buChar char=""/>
            </a:pPr>
            <a:r>
              <a:rPr lang="en-GB" sz="2800" b="1" dirty="0" smtClean="0">
                <a:effectLst/>
                <a:latin typeface="Calibri" panose="020F0502020204030204" pitchFamily="34" charset="0"/>
                <a:ea typeface="Calibri" panose="020F0502020204030204" pitchFamily="34" charset="0"/>
                <a:cs typeface="Times New Roman" panose="02020603050405020304" pitchFamily="18" charset="0"/>
              </a:rPr>
              <a:t>The principle of Free and voluntary nature of the Negotiation</a:t>
            </a:r>
          </a:p>
          <a:p>
            <a:pPr marL="800100" lvl="1" indent="-342900" algn="just">
              <a:lnSpc>
                <a:spcPct val="107000"/>
              </a:lnSpc>
              <a:spcAft>
                <a:spcPts val="800"/>
              </a:spcAft>
              <a:buFont typeface="Symbol" panose="05050102010706020507" pitchFamily="18" charset="2"/>
              <a:buChar char=""/>
            </a:pPr>
            <a:endParaRPr lang="en-US" sz="28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40088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467476"/>
          </a:xfrm>
          <a:prstGeom prst="rect">
            <a:avLst/>
          </a:prstGeom>
        </p:spPr>
        <p:txBody>
          <a:bodyPr wrap="square">
            <a:spAutoFit/>
          </a:bodyPr>
          <a:lstStyle/>
          <a:p>
            <a:pPr algn="just">
              <a:lnSpc>
                <a:spcPct val="107000"/>
              </a:lnSpc>
              <a:spcAft>
                <a:spcPts val="800"/>
              </a:spcAft>
            </a:pPr>
            <a:r>
              <a:rPr lang="en-GB" sz="3600" b="1" dirty="0" smtClean="0">
                <a:effectLst/>
                <a:latin typeface="Calibri" panose="020F0502020204030204" pitchFamily="34" charset="0"/>
                <a:ea typeface="Calibri" panose="020F0502020204030204" pitchFamily="34" charset="0"/>
                <a:cs typeface="Times New Roman" panose="02020603050405020304" pitchFamily="18" charset="0"/>
              </a:rPr>
              <a:t>	Collective agreements</a:t>
            </a:r>
            <a:endParaRPr lang="en-US" sz="28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1714500" lvl="3" indent="-342900" algn="just">
              <a:lnSpc>
                <a:spcPct val="107000"/>
              </a:lnSpc>
              <a:buFont typeface="Symbol" panose="05050102010706020507" pitchFamily="18" charset="2"/>
              <a:buChar char=""/>
            </a:pPr>
            <a:r>
              <a:rPr lang="en-GB" sz="3200" b="1" dirty="0" smtClean="0">
                <a:effectLst/>
                <a:latin typeface="Calibri" panose="020F0502020204030204" pitchFamily="34" charset="0"/>
                <a:ea typeface="Calibri" panose="020F0502020204030204" pitchFamily="34" charset="0"/>
                <a:cs typeface="Times New Roman" panose="02020603050405020304" pitchFamily="18" charset="0"/>
              </a:rPr>
              <a:t>Is</a:t>
            </a: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 the result of collective bargaining</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714500" lvl="3" indent="-342900" algn="just">
              <a:lnSpc>
                <a:spcPct val="107000"/>
              </a:lnSpc>
              <a:spcAft>
                <a:spcPts val="800"/>
              </a:spcAft>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Art 114</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685800" indent="-457200" algn="just">
              <a:lnSpc>
                <a:spcPct val="107000"/>
              </a:lnSpc>
              <a:spcAft>
                <a:spcPts val="800"/>
              </a:spcAft>
              <a:buFont typeface="Arial" panose="020B0604020202020204" pitchFamily="34" charset="0"/>
              <a:buChar char="•"/>
            </a:pPr>
            <a:r>
              <a:rPr lang="en-GB" sz="3200" b="1" dirty="0" smtClean="0">
                <a:effectLst/>
                <a:latin typeface="Calibri" panose="020F0502020204030204" pitchFamily="34" charset="0"/>
                <a:ea typeface="Calibri" panose="020F0502020204030204" pitchFamily="34" charset="0"/>
                <a:cs typeface="Times New Roman" panose="02020603050405020304" pitchFamily="18" charset="0"/>
              </a:rPr>
              <a:t>The subject matter of collective agreement:-</a:t>
            </a:r>
            <a:endParaRPr lang="en-US" sz="24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1257300" lvl="2" indent="-342900" algn="just">
              <a:lnSpc>
                <a:spcPct val="107000"/>
              </a:lnSpc>
              <a:spcAft>
                <a:spcPts val="800"/>
              </a:spcAft>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Specified under Art. 128 and Art 129</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07000"/>
              </a:lnSpc>
              <a:spcAft>
                <a:spcPts val="800"/>
              </a:spcAft>
              <a:buFont typeface="Arial" panose="020B0604020202020204" pitchFamily="34" charset="0"/>
              <a:buChar char="•"/>
            </a:pPr>
            <a:r>
              <a:rPr lang="en-GB" sz="3200" b="1" dirty="0" smtClean="0">
                <a:effectLst/>
                <a:latin typeface="Calibri" panose="020F0502020204030204" pitchFamily="34" charset="0"/>
                <a:ea typeface="Calibri" panose="020F0502020204030204" pitchFamily="34" charset="0"/>
                <a:cs typeface="Times New Roman" panose="02020603050405020304" pitchFamily="18" charset="0"/>
              </a:rPr>
              <a:t>Collective agreement have two major function</a:t>
            </a:r>
            <a:endParaRPr lang="en-US" sz="24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1257300" lvl="2" indent="-342900" algn="just">
              <a:lnSpc>
                <a:spcPct val="107000"/>
              </a:lnSpc>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It deals with issues important to the TU as an entity and the employer employer’s organization</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0"/>
              </a:spcAft>
              <a:buFont typeface="Wingdings" panose="05000000000000000000" pitchFamily="2"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Ex. Negotiation right, do not bind the individual parties.</a:t>
            </a:r>
            <a:endParaRPr lang="en-US"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257300" lvl="2" indent="-342900" algn="just">
              <a:lnSpc>
                <a:spcPct val="107000"/>
              </a:lnSpc>
              <a:spcAft>
                <a:spcPts val="800"/>
              </a:spcAft>
              <a:buFont typeface="Symbol" panose="05050102010706020507" pitchFamily="18" charset="2"/>
              <a:buChar char=""/>
            </a:pPr>
            <a:r>
              <a:rPr lang="en-GB" sz="3200" dirty="0" smtClean="0">
                <a:effectLst/>
                <a:latin typeface="Calibri" panose="020F0502020204030204" pitchFamily="34" charset="0"/>
                <a:ea typeface="Calibri" panose="020F0502020204030204" pitchFamily="34" charset="0"/>
                <a:cs typeface="Times New Roman" panose="02020603050405020304" pitchFamily="18" charset="0"/>
              </a:rPr>
              <a:t>Issues relevant to the individual employee: example occupational safety and health, arrangement of working hours.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70685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990871"/>
          </a:xfrm>
          <a:prstGeom prst="rect">
            <a:avLst/>
          </a:prstGeom>
        </p:spPr>
        <p:txBody>
          <a:bodyPr wrap="square">
            <a:spAutoFit/>
          </a:bodyPr>
          <a:lstStyle/>
          <a:p>
            <a:pPr algn="just">
              <a:lnSpc>
                <a:spcPct val="107000"/>
              </a:lnSpc>
              <a:spcAft>
                <a:spcPts val="800"/>
              </a:spcAft>
            </a:pPr>
            <a:r>
              <a:rPr lang="en-GB" sz="4400" b="1" dirty="0" smtClean="0">
                <a:effectLst/>
                <a:latin typeface="Calibri" panose="020F0502020204030204" pitchFamily="34" charset="0"/>
                <a:ea typeface="Calibri" panose="020F0502020204030204" pitchFamily="34" charset="0"/>
                <a:cs typeface="Times New Roman" panose="02020603050405020304" pitchFamily="18" charset="0"/>
              </a:rPr>
              <a:t>Enforceability of terms of collective agreement</a:t>
            </a:r>
            <a:endParaRPr lang="en-US" sz="40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Art 139</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Art 135(1)</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Collective agreement is a legally binding agreement at both collective and individual level.</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It is also likely to affect the individual employees</a:t>
            </a:r>
            <a:endParaRPr lang="en-US" sz="40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Symbol" panose="05050102010706020507" pitchFamily="18" charset="2"/>
              <a:buChar char=""/>
            </a:pPr>
            <a:r>
              <a:rPr lang="en-GB" sz="4400" dirty="0" smtClean="0">
                <a:effectLst/>
                <a:latin typeface="Calibri" panose="020F0502020204030204" pitchFamily="34" charset="0"/>
                <a:ea typeface="Calibri" panose="020F0502020204030204" pitchFamily="34" charset="0"/>
                <a:cs typeface="Times New Roman" panose="02020603050405020304" pitchFamily="18" charset="0"/>
              </a:rPr>
              <a:t>The employer may claim the terms of collective agreement against an employee</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450658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5472"/>
            <a:ext cx="12192000" cy="5993949"/>
          </a:xfrm>
          <a:prstGeom prst="rect">
            <a:avLst/>
          </a:prstGeom>
        </p:spPr>
        <p:txBody>
          <a:bodyPr wrap="square">
            <a:spAutoFit/>
          </a:bodyPr>
          <a:lstStyle/>
          <a:p>
            <a:pPr marL="800100" lvl="1" indent="-342900" algn="just">
              <a:lnSpc>
                <a:spcPct val="107000"/>
              </a:lnSpc>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The employee too, may claim the terms of CA against employer as per Art 134 and 135 of LP so long as it is favourable to the employee</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Is CA valid against binding against a non-member of TU</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The agreement shall not be made applicable to some workers who are member of TU by excluding non-members.</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Any activity that discriminate between workers and members of TU is contrary to the constitution and some other instruments.</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So non-members must be beneficial.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689362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187035"/>
            <a:ext cx="12406745" cy="6678751"/>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If so, what should cover the cost of bargaining? Normally it is covered by the TU from the income collected from employee?</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Making the CA applicable to all workers would perhaps amount to giving undue advantage to non-member workers at the expense of members to TU who pays membership fee.</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Solution; 1. Making all workers to share the costs incurred the bargaining process </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2057400" lvl="4" indent="-228600" algn="just">
              <a:lnSpc>
                <a:spcPct val="107000"/>
              </a:lnSpc>
              <a:spcAft>
                <a:spcPts val="800"/>
              </a:spcAft>
              <a:buFont typeface="Wingdings" panose="05000000000000000000" pitchFamily="2"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2 </a:t>
            </a:r>
            <a:r>
              <a:rPr lang="en-GB" sz="4000" dirty="0" err="1" smtClean="0">
                <a:effectLst/>
                <a:latin typeface="Calibri" panose="020F0502020204030204" pitchFamily="34" charset="0"/>
                <a:ea typeface="Calibri" panose="020F0502020204030204" pitchFamily="34" charset="0"/>
                <a:cs typeface="Times New Roman" panose="02020603050405020304" pitchFamily="18" charset="0"/>
              </a:rPr>
              <a:t>doesnot</a:t>
            </a: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 it amount to force workers to join TU?</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699140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635345" cy="5068952"/>
          </a:xfrm>
          <a:prstGeom prst="rect">
            <a:avLst/>
          </a:prstGeom>
        </p:spPr>
        <p:txBody>
          <a:bodyPr wrap="square">
            <a:spAutoFit/>
          </a:bodyPr>
          <a:lstStyle/>
          <a:p>
            <a:pPr algn="just">
              <a:lnSpc>
                <a:spcPct val="107000"/>
              </a:lnSpc>
              <a:spcAft>
                <a:spcPts val="800"/>
              </a:spcAft>
            </a:pPr>
            <a:r>
              <a:rPr lang="en-GB" sz="4400" b="1" dirty="0" smtClean="0">
                <a:effectLst/>
                <a:latin typeface="Calibri" panose="020F0502020204030204" pitchFamily="34" charset="0"/>
                <a:ea typeface="Calibri" panose="020F0502020204030204" pitchFamily="34" charset="0"/>
                <a:cs typeface="Times New Roman" panose="02020603050405020304" pitchFamily="18" charset="0"/>
              </a:rPr>
              <a:t>Conditions for the validity of collective agreement</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As a contract it should fulfil all the requirements of a valid contract.</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0"/>
              </a:spcAft>
              <a:buFont typeface="Courier New" panose="02070309020205020404" pitchFamily="49" charset="0"/>
              <a:buChar char="o"/>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FORM</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0"/>
              </a:spcAft>
              <a:buFont typeface="Wingdings" panose="05000000000000000000" pitchFamily="2"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Must be made in writing</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0"/>
              </a:spcAft>
              <a:buFont typeface="Wingdings" panose="05000000000000000000" pitchFamily="2"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Should indicate parties to the collective agreement </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0"/>
              </a:spcAft>
              <a:buFont typeface="Wingdings" panose="05000000000000000000" pitchFamily="2"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Signature by representatives</a:t>
            </a:r>
            <a:endParaRPr lang="en-US"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Font typeface="Wingdings" panose="05000000000000000000" pitchFamily="2" charset="2"/>
              <a:buChar char=""/>
            </a:pPr>
            <a:r>
              <a:rPr lang="en-GB" sz="3600" dirty="0" smtClean="0">
                <a:effectLst/>
                <a:latin typeface="Calibri" panose="020F0502020204030204" pitchFamily="34" charset="0"/>
                <a:ea typeface="Calibri" panose="020F0502020204030204" pitchFamily="34" charset="0"/>
                <a:cs typeface="Times New Roman" panose="02020603050405020304" pitchFamily="18" charset="0"/>
              </a:rPr>
              <a:t>Date on which it entered in to force unless Art 133(2)</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94075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6020110"/>
          </a:xfrm>
          <a:prstGeom prst="rect">
            <a:avLst/>
          </a:prstGeom>
        </p:spPr>
        <p:txBody>
          <a:bodyPr wrap="square">
            <a:spAutoFit/>
          </a:bodyPr>
          <a:lstStyle/>
          <a:p>
            <a:pPr marL="742950" lvl="1" indent="-285750" algn="just">
              <a:lnSpc>
                <a:spcPct val="107000"/>
              </a:lnSpc>
              <a:spcAft>
                <a:spcPts val="0"/>
              </a:spcAft>
              <a:buFont typeface="Courier New" panose="02070309020205020404" pitchFamily="49" charset="0"/>
              <a:buChar char="o"/>
            </a:pPr>
            <a:r>
              <a:rPr lang="en-GB" sz="4000" b="1" dirty="0" smtClean="0">
                <a:effectLst/>
                <a:latin typeface="Calibri" panose="020F0502020204030204" pitchFamily="34" charset="0"/>
                <a:ea typeface="Calibri" panose="020F0502020204030204" pitchFamily="34" charset="0"/>
                <a:cs typeface="Times New Roman" panose="02020603050405020304" pitchFamily="18" charset="0"/>
              </a:rPr>
              <a:t>Registration </a:t>
            </a:r>
            <a:endParaRPr lang="en-US" sz="36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0"/>
              </a:spcAft>
              <a:buFont typeface="Wingdings" panose="05000000000000000000" pitchFamily="2"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MOLSA</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0"/>
              </a:spcAft>
              <a:buFont typeface="Wingdings" panose="05000000000000000000" pitchFamily="2"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Why? To allow the minister to follow developments in collective bargaining</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gn="just">
              <a:lnSpc>
                <a:spcPct val="107000"/>
              </a:lnSpc>
              <a:spcAft>
                <a:spcPts val="0"/>
              </a:spcAft>
              <a:buFont typeface="Wingdings" panose="05000000000000000000" pitchFamily="2"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To determine whether there is any legal defect in the agreement and inform parties </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Duration of the contract Art 133(3); 3 years </a:t>
            </a:r>
            <a:endParaRPr lang="en-US" sz="3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GB" sz="4000" dirty="0" smtClean="0">
                <a:effectLst/>
                <a:latin typeface="Calibri" panose="020F0502020204030204" pitchFamily="34" charset="0"/>
                <a:ea typeface="Calibri" panose="020F0502020204030204" pitchFamily="34" charset="0"/>
                <a:cs typeface="Times New Roman" panose="02020603050405020304" pitchFamily="18" charset="0"/>
              </a:rPr>
              <a:t>Content: A CA is expected to satisfy the minimum standard set by the law Art 133(1)</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561525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209800" y="152400"/>
            <a:ext cx="6870700" cy="914400"/>
          </a:xfrm>
        </p:spPr>
        <p:txBody>
          <a:bodyPr/>
          <a:lstStyle/>
          <a:p>
            <a:r>
              <a:rPr lang="en-US"/>
              <a:t>Definition</a:t>
            </a:r>
          </a:p>
        </p:txBody>
      </p:sp>
      <p:sp>
        <p:nvSpPr>
          <p:cNvPr id="6148" name="Rectangle 4"/>
          <p:cNvSpPr>
            <a:spLocks noGrp="1" noChangeArrowheads="1"/>
          </p:cNvSpPr>
          <p:nvPr>
            <p:ph type="body" idx="1"/>
          </p:nvPr>
        </p:nvSpPr>
        <p:spPr>
          <a:xfrm>
            <a:off x="1981200" y="1066801"/>
            <a:ext cx="8229600" cy="5059363"/>
          </a:xfrm>
        </p:spPr>
        <p:txBody>
          <a:bodyPr>
            <a:normAutofit fontScale="92500" lnSpcReduction="20000"/>
          </a:bodyPr>
          <a:lstStyle/>
          <a:p>
            <a:pPr>
              <a:lnSpc>
                <a:spcPct val="80000"/>
              </a:lnSpc>
            </a:pPr>
            <a:r>
              <a:rPr lang="en-US" sz="2000" dirty="0"/>
              <a:t>Collective bargaining is a type of negotiation used by employees to work with their employers. </a:t>
            </a:r>
          </a:p>
          <a:p>
            <a:pPr>
              <a:lnSpc>
                <a:spcPct val="80000"/>
              </a:lnSpc>
            </a:pPr>
            <a:r>
              <a:rPr lang="en-US" sz="2000" dirty="0"/>
              <a:t>During a collective bargaining period, workers' representatives approach the employer and attempt to negotiate a contract </a:t>
            </a:r>
            <a:r>
              <a:rPr lang="en-US" sz="2000" dirty="0" smtClean="0"/>
              <a:t>which both </a:t>
            </a:r>
            <a:r>
              <a:rPr lang="en-US" sz="2000" dirty="0"/>
              <a:t>sides can agree with. </a:t>
            </a:r>
          </a:p>
          <a:p>
            <a:pPr>
              <a:lnSpc>
                <a:spcPct val="80000"/>
              </a:lnSpc>
            </a:pPr>
            <a:r>
              <a:rPr lang="en-US" sz="2000" dirty="0" smtClean="0"/>
              <a:t>Typical </a:t>
            </a:r>
            <a:r>
              <a:rPr lang="en-US" sz="2000" dirty="0"/>
              <a:t>issues covered in a labor contract are hours, wages, benefits, working conditions, and the rules of the workplace. </a:t>
            </a:r>
          </a:p>
          <a:p>
            <a:pPr>
              <a:lnSpc>
                <a:spcPct val="80000"/>
              </a:lnSpc>
            </a:pPr>
            <a:r>
              <a:rPr lang="en-US" sz="2000" dirty="0"/>
              <a:t>Once both sides have reached a contract that they find agreeable, it is signed and kept in place for a set period of time, most commonly three years. </a:t>
            </a:r>
          </a:p>
          <a:p>
            <a:pPr>
              <a:lnSpc>
                <a:spcPct val="80000"/>
              </a:lnSpc>
            </a:pPr>
            <a:r>
              <a:rPr lang="en-US" sz="2000" dirty="0"/>
              <a:t>The final contract is called a collective </a:t>
            </a:r>
          </a:p>
          <a:p>
            <a:pPr>
              <a:lnSpc>
                <a:spcPct val="80000"/>
              </a:lnSpc>
              <a:buFontTx/>
              <a:buNone/>
            </a:pPr>
            <a:r>
              <a:rPr lang="en-US" sz="2000" dirty="0"/>
              <a:t>     bargaining agreement, to reflect the fact </a:t>
            </a:r>
          </a:p>
          <a:p>
            <a:pPr>
              <a:lnSpc>
                <a:spcPct val="80000"/>
              </a:lnSpc>
              <a:buFontTx/>
              <a:buNone/>
            </a:pPr>
            <a:r>
              <a:rPr lang="en-US" sz="2000" dirty="0"/>
              <a:t>     that it is the result of a collective </a:t>
            </a:r>
          </a:p>
          <a:p>
            <a:pPr>
              <a:lnSpc>
                <a:spcPct val="80000"/>
              </a:lnSpc>
              <a:buFontTx/>
              <a:buNone/>
            </a:pPr>
            <a:r>
              <a:rPr lang="en-US" sz="2000" dirty="0"/>
              <a:t>     bargaining effort.</a:t>
            </a:r>
          </a:p>
          <a:p>
            <a:pPr>
              <a:lnSpc>
                <a:spcPct val="80000"/>
              </a:lnSpc>
            </a:pPr>
            <a:r>
              <a:rPr lang="en-US" sz="2000" dirty="0"/>
              <a:t>The parties often refer to the result of </a:t>
            </a:r>
          </a:p>
          <a:p>
            <a:pPr>
              <a:lnSpc>
                <a:spcPct val="80000"/>
              </a:lnSpc>
              <a:buFontTx/>
              <a:buNone/>
            </a:pPr>
            <a:r>
              <a:rPr lang="en-US" sz="2000" dirty="0"/>
              <a:t>     negotiation as a </a:t>
            </a:r>
            <a:r>
              <a:rPr lang="en-US" sz="2000" i="1" dirty="0"/>
              <a:t>Collective Bargaining </a:t>
            </a:r>
          </a:p>
          <a:p>
            <a:pPr>
              <a:lnSpc>
                <a:spcPct val="80000"/>
              </a:lnSpc>
              <a:buFontTx/>
              <a:buNone/>
            </a:pPr>
            <a:r>
              <a:rPr lang="en-US" sz="2000" i="1" dirty="0"/>
              <a:t>     Agreement </a:t>
            </a:r>
            <a:r>
              <a:rPr lang="en-US" sz="2000" dirty="0"/>
              <a:t>(CBA) / as a </a:t>
            </a:r>
            <a:r>
              <a:rPr lang="en-US" sz="2000" i="1" dirty="0"/>
              <a:t>Collective </a:t>
            </a:r>
          </a:p>
          <a:p>
            <a:pPr>
              <a:lnSpc>
                <a:spcPct val="80000"/>
              </a:lnSpc>
              <a:buFontTx/>
              <a:buNone/>
            </a:pPr>
            <a:r>
              <a:rPr lang="en-US" sz="2000" i="1" dirty="0"/>
              <a:t>    Employment Agreement</a:t>
            </a:r>
            <a:r>
              <a:rPr lang="en-US" sz="2000" dirty="0"/>
              <a:t> (CEA).</a:t>
            </a:r>
          </a:p>
        </p:txBody>
      </p:sp>
      <p:pic>
        <p:nvPicPr>
          <p:cNvPr id="6150" name="Picture 6" descr="nyst%20negoti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3657600"/>
            <a:ext cx="29210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0748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Text Box 3"/>
          <p:cNvSpPr txBox="1">
            <a:spLocks noChangeArrowheads="1"/>
          </p:cNvSpPr>
          <p:nvPr/>
        </p:nvSpPr>
        <p:spPr bwMode="auto">
          <a:xfrm>
            <a:off x="4860925" y="3665539"/>
            <a:ext cx="527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FontTx/>
              <a:buChar char="•"/>
            </a:pPr>
            <a:endParaRPr lang="uk-UA" sz="3200">
              <a:latin typeface="Tahoma" panose="020B0604030504040204" pitchFamily="34" charset="0"/>
            </a:endParaRPr>
          </a:p>
        </p:txBody>
      </p:sp>
      <p:pic>
        <p:nvPicPr>
          <p:cNvPr id="103428" name="Picture 4" descr="umbrellaman"/>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8458200" y="4572000"/>
            <a:ext cx="2209800" cy="22860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430" name="AutoShape 6"/>
          <p:cNvSpPr>
            <a:spLocks noChangeArrowheads="1"/>
          </p:cNvSpPr>
          <p:nvPr/>
        </p:nvSpPr>
        <p:spPr bwMode="auto">
          <a:xfrm>
            <a:off x="1524000" y="152400"/>
            <a:ext cx="8001000" cy="5410200"/>
          </a:xfrm>
          <a:prstGeom prst="wedgeEllipseCallout">
            <a:avLst>
              <a:gd name="adj1" fmla="val 49903"/>
              <a:gd name="adj2" fmla="val 58130"/>
            </a:avLst>
          </a:prstGeom>
          <a:solidFill>
            <a:srgbClr val="FFFF00"/>
          </a:solidFill>
          <a:ln w="28575">
            <a:solidFill>
              <a:schemeClr val="tx1"/>
            </a:solidFill>
            <a:miter lim="800000"/>
            <a:headEnd/>
            <a:tailEnd/>
          </a:ln>
          <a:effectLst>
            <a:outerShdw dist="107763" dir="8100000" algn="ctr" rotWithShape="0">
              <a:srgbClr val="008000">
                <a:alpha val="50000"/>
              </a:srgbClr>
            </a:outerShdw>
          </a:effectLst>
        </p:spPr>
        <p:txBody>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sz="2800" u="sng">
                <a:latin typeface="Comic Sans MS" panose="030F0702030302020204" pitchFamily="66" charset="0"/>
              </a:rPr>
              <a:t>Features:</a:t>
            </a:r>
          </a:p>
          <a:p>
            <a:pPr algn="ctr" eaLnBrk="1" hangingPunct="1">
              <a:spcBef>
                <a:spcPct val="20000"/>
              </a:spcBef>
            </a:pPr>
            <a:r>
              <a:rPr lang="en-US" sz="1800">
                <a:latin typeface="Comic Sans MS" panose="030F0702030302020204" pitchFamily="66" charset="0"/>
              </a:rPr>
              <a:t>It is a collective process.</a:t>
            </a:r>
          </a:p>
          <a:p>
            <a:pPr algn="ctr" eaLnBrk="1" hangingPunct="1">
              <a:spcBef>
                <a:spcPct val="20000"/>
              </a:spcBef>
            </a:pPr>
            <a:r>
              <a:rPr lang="en-US" sz="1800">
                <a:latin typeface="Comic Sans MS" panose="030F0702030302020204" pitchFamily="66" charset="0"/>
              </a:rPr>
              <a:t> The representatives of both workers and management participate in bargaining. </a:t>
            </a:r>
          </a:p>
          <a:p>
            <a:pPr algn="ctr" eaLnBrk="1" hangingPunct="1">
              <a:spcBef>
                <a:spcPct val="20000"/>
              </a:spcBef>
            </a:pPr>
            <a:r>
              <a:rPr lang="en-US" sz="1800">
                <a:latin typeface="Comic Sans MS" panose="030F0702030302020204" pitchFamily="66" charset="0"/>
              </a:rPr>
              <a:t>II. It is a continuous process. It establishes regular and stable relationship between the parties involved. It involves not only the negotiation of the contract, but also the administration of the contract. </a:t>
            </a:r>
          </a:p>
          <a:p>
            <a:pPr algn="ctr" eaLnBrk="1" hangingPunct="1">
              <a:spcBef>
                <a:spcPct val="20000"/>
              </a:spcBef>
            </a:pPr>
            <a:r>
              <a:rPr lang="en-US" sz="1800">
                <a:latin typeface="Comic Sans MS" panose="030F0702030302020204" pitchFamily="66" charset="0"/>
              </a:rPr>
              <a:t>III. It is a flexible and dynamic process. The parties have to adopt a flexible attitude through the process of bargaining.</a:t>
            </a:r>
          </a:p>
          <a:p>
            <a:pPr algn="ctr" eaLnBrk="1" hangingPunct="1">
              <a:spcBef>
                <a:spcPct val="20000"/>
              </a:spcBef>
            </a:pPr>
            <a:r>
              <a:rPr lang="en-US" sz="1800">
                <a:latin typeface="Comic Sans MS" panose="030F0702030302020204" pitchFamily="66" charset="0"/>
              </a:rPr>
              <a:t> IV. It is a method of partnership of workers in management </a:t>
            </a:r>
            <a:br>
              <a:rPr lang="en-US" sz="1800">
                <a:latin typeface="Comic Sans MS" panose="030F0702030302020204" pitchFamily="66" charset="0"/>
              </a:rPr>
            </a:br>
            <a:r>
              <a:rPr lang="en-US" sz="1800">
                <a:latin typeface="Comic Sans MS" panose="030F0702030302020204" pitchFamily="66" charset="0"/>
              </a:rPr>
              <a:t/>
            </a:r>
            <a:br>
              <a:rPr lang="en-US" sz="1800">
                <a:latin typeface="Comic Sans MS" panose="030F0702030302020204" pitchFamily="66" charset="0"/>
              </a:rPr>
            </a:br>
            <a:endParaRPr lang="en-US" sz="1800">
              <a:latin typeface="Comic Sans MS" panose="030F0702030302020204" pitchFamily="66" charset="0"/>
            </a:endParaRPr>
          </a:p>
        </p:txBody>
      </p:sp>
    </p:spTree>
    <p:extLst>
      <p:ext uri="{BB962C8B-B14F-4D97-AF65-F5344CB8AC3E}">
        <p14:creationId xmlns:p14="http://schemas.microsoft.com/office/powerpoint/2010/main" val="26413746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3430"/>
                                        </p:tgtEl>
                                        <p:attrNameLst>
                                          <p:attrName>style.visibility</p:attrName>
                                        </p:attrNameLst>
                                      </p:cBhvr>
                                      <p:to>
                                        <p:strVal val="visible"/>
                                      </p:to>
                                    </p:set>
                                    <p:anim calcmode="lin" valueType="num">
                                      <p:cBhvr>
                                        <p:cTn id="7" dur="500" fill="hold"/>
                                        <p:tgtEl>
                                          <p:spTgt spid="103430"/>
                                        </p:tgtEl>
                                        <p:attrNameLst>
                                          <p:attrName>ppt_w</p:attrName>
                                        </p:attrNameLst>
                                      </p:cBhvr>
                                      <p:tavLst>
                                        <p:tav tm="0">
                                          <p:val>
                                            <p:fltVal val="0"/>
                                          </p:val>
                                        </p:tav>
                                        <p:tav tm="100000">
                                          <p:val>
                                            <p:strVal val="#ppt_w"/>
                                          </p:val>
                                        </p:tav>
                                      </p:tavLst>
                                    </p:anim>
                                    <p:anim calcmode="lin" valueType="num">
                                      <p:cBhvr>
                                        <p:cTn id="8" dur="500" fill="hold"/>
                                        <p:tgtEl>
                                          <p:spTgt spid="1034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Text Box 3"/>
          <p:cNvSpPr txBox="1">
            <a:spLocks noChangeArrowheads="1"/>
          </p:cNvSpPr>
          <p:nvPr/>
        </p:nvSpPr>
        <p:spPr bwMode="auto">
          <a:xfrm>
            <a:off x="4860925" y="3665539"/>
            <a:ext cx="527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FontTx/>
              <a:buChar char="•"/>
            </a:pPr>
            <a:endParaRPr lang="uk-UA" sz="3200">
              <a:latin typeface="Tahoma" panose="020B0604030504040204" pitchFamily="34" charset="0"/>
            </a:endParaRPr>
          </a:p>
        </p:txBody>
      </p:sp>
      <p:pic>
        <p:nvPicPr>
          <p:cNvPr id="105476" name="Picture 4" descr="umbrellaman"/>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8382000" y="3962400"/>
            <a:ext cx="2286000" cy="28956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5478" name="AutoShape 6"/>
          <p:cNvSpPr>
            <a:spLocks noChangeArrowheads="1"/>
          </p:cNvSpPr>
          <p:nvPr/>
        </p:nvSpPr>
        <p:spPr bwMode="auto">
          <a:xfrm>
            <a:off x="2362200" y="304800"/>
            <a:ext cx="6553200" cy="5943600"/>
          </a:xfrm>
          <a:prstGeom prst="wedgeEllipseCallout">
            <a:avLst>
              <a:gd name="adj1" fmla="val 60343"/>
              <a:gd name="adj2" fmla="val 44579"/>
            </a:avLst>
          </a:prstGeom>
          <a:solidFill>
            <a:srgbClr val="FFFF00"/>
          </a:solidFill>
          <a:ln w="28575">
            <a:solidFill>
              <a:schemeClr val="tx1"/>
            </a:solidFill>
            <a:miter lim="800000"/>
            <a:headEnd/>
            <a:tailEnd/>
          </a:ln>
          <a:effectLst>
            <a:outerShdw dist="107763" dir="8100000" algn="ctr" rotWithShape="0">
              <a:srgbClr val="008000">
                <a:alpha val="50000"/>
              </a:srgbClr>
            </a:outerShdw>
          </a:effectLst>
        </p:spPr>
        <p:txBody>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sz="1800" u="sng">
                <a:latin typeface="Comic Sans MS" panose="030F0702030302020204" pitchFamily="66" charset="0"/>
              </a:rPr>
              <a:t>Importance to society </a:t>
            </a:r>
          </a:p>
          <a:p>
            <a:pPr algn="ctr" eaLnBrk="1" hangingPunct="1">
              <a:spcBef>
                <a:spcPct val="20000"/>
              </a:spcBef>
            </a:pPr>
            <a:r>
              <a:rPr lang="en-US" sz="1800">
                <a:latin typeface="Comic Sans MS" panose="030F0702030302020204" pitchFamily="66" charset="0"/>
              </a:rPr>
              <a:t>Collective bargaining leads to industrial peace in the country.</a:t>
            </a:r>
          </a:p>
          <a:p>
            <a:pPr algn="ctr" eaLnBrk="1" hangingPunct="1">
              <a:spcBef>
                <a:spcPct val="20000"/>
              </a:spcBef>
            </a:pPr>
            <a:r>
              <a:rPr lang="en-US" sz="1800">
                <a:latin typeface="Comic Sans MS" panose="030F0702030302020204" pitchFamily="66" charset="0"/>
              </a:rPr>
              <a:t> It results in establishment of a harmonious industrial climate which supports, which helps the pace of a nation’s efforts towards economic and social development since the obstacles to such a development can be reduced considerably. </a:t>
            </a:r>
          </a:p>
          <a:p>
            <a:pPr algn="ctr" eaLnBrk="1" hangingPunct="1">
              <a:spcBef>
                <a:spcPct val="20000"/>
              </a:spcBef>
            </a:pPr>
            <a:r>
              <a:rPr lang="en-US" sz="1800">
                <a:latin typeface="Comic Sans MS" panose="030F0702030302020204" pitchFamily="66" charset="0"/>
              </a:rPr>
              <a:t>The discrimination and exploitation of workers is constantly being checked.</a:t>
            </a:r>
          </a:p>
          <a:p>
            <a:pPr algn="ctr" eaLnBrk="1" hangingPunct="1">
              <a:spcBef>
                <a:spcPct val="20000"/>
              </a:spcBef>
            </a:pPr>
            <a:r>
              <a:rPr lang="en-US" sz="1800">
                <a:latin typeface="Comic Sans MS" panose="030F0702030302020204" pitchFamily="66" charset="0"/>
              </a:rPr>
              <a:t> It provides a method or the regulation of the conditions of employment of those who are directly concerned about them. </a:t>
            </a:r>
            <a:br>
              <a:rPr lang="en-US" sz="1800">
                <a:latin typeface="Comic Sans MS" panose="030F0702030302020204" pitchFamily="66" charset="0"/>
              </a:rPr>
            </a:br>
            <a:r>
              <a:rPr lang="en-US" sz="1800">
                <a:latin typeface="Comic Sans MS" panose="030F0702030302020204" pitchFamily="66" charset="0"/>
              </a:rPr>
              <a:t/>
            </a:r>
            <a:br>
              <a:rPr lang="en-US" sz="1800">
                <a:latin typeface="Comic Sans MS" panose="030F0702030302020204" pitchFamily="66" charset="0"/>
              </a:rPr>
            </a:br>
            <a:endParaRPr lang="en-US" sz="1800">
              <a:latin typeface="Comic Sans MS" panose="030F0702030302020204" pitchFamily="66" charset="0"/>
            </a:endParaRPr>
          </a:p>
        </p:txBody>
      </p:sp>
    </p:spTree>
    <p:extLst>
      <p:ext uri="{BB962C8B-B14F-4D97-AF65-F5344CB8AC3E}">
        <p14:creationId xmlns:p14="http://schemas.microsoft.com/office/powerpoint/2010/main" val="23675360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5478"/>
                                        </p:tgtEl>
                                        <p:attrNameLst>
                                          <p:attrName>style.visibility</p:attrName>
                                        </p:attrNameLst>
                                      </p:cBhvr>
                                      <p:to>
                                        <p:strVal val="visible"/>
                                      </p:to>
                                    </p:set>
                                    <p:anim calcmode="lin" valueType="num">
                                      <p:cBhvr>
                                        <p:cTn id="7" dur="500" fill="hold"/>
                                        <p:tgtEl>
                                          <p:spTgt spid="105478"/>
                                        </p:tgtEl>
                                        <p:attrNameLst>
                                          <p:attrName>ppt_w</p:attrName>
                                        </p:attrNameLst>
                                      </p:cBhvr>
                                      <p:tavLst>
                                        <p:tav tm="0">
                                          <p:val>
                                            <p:fltVal val="0"/>
                                          </p:val>
                                        </p:tav>
                                        <p:tav tm="100000">
                                          <p:val>
                                            <p:strVal val="#ppt_w"/>
                                          </p:val>
                                        </p:tav>
                                      </p:tavLst>
                                    </p:anim>
                                    <p:anim calcmode="lin" valueType="num">
                                      <p:cBhvr>
                                        <p:cTn id="8" dur="500" fill="hold"/>
                                        <p:tgtEl>
                                          <p:spTgt spid="1054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4860925" y="3665539"/>
            <a:ext cx="527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FontTx/>
              <a:buChar char="•"/>
            </a:pPr>
            <a:endParaRPr lang="uk-UA" sz="3200">
              <a:latin typeface="Tahoma" panose="020B0604030504040204" pitchFamily="34" charset="0"/>
            </a:endParaRPr>
          </a:p>
        </p:txBody>
      </p:sp>
      <p:pic>
        <p:nvPicPr>
          <p:cNvPr id="108547" name="Picture 3" descr="umbrellaman"/>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8562976" y="3962400"/>
            <a:ext cx="2105025" cy="28956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8548" name="AutoShape 4"/>
          <p:cNvSpPr>
            <a:spLocks noChangeArrowheads="1"/>
          </p:cNvSpPr>
          <p:nvPr/>
        </p:nvSpPr>
        <p:spPr bwMode="auto">
          <a:xfrm>
            <a:off x="1752600" y="152400"/>
            <a:ext cx="8153400" cy="5257800"/>
          </a:xfrm>
          <a:prstGeom prst="wedgeEllipseCallout">
            <a:avLst>
              <a:gd name="adj1" fmla="val 46162"/>
              <a:gd name="adj2" fmla="val 59815"/>
            </a:avLst>
          </a:prstGeom>
          <a:solidFill>
            <a:srgbClr val="FFFF00"/>
          </a:solidFill>
          <a:ln w="28575">
            <a:solidFill>
              <a:schemeClr val="tx1"/>
            </a:solidFill>
            <a:miter lim="800000"/>
            <a:headEnd/>
            <a:tailEnd/>
          </a:ln>
          <a:effectLst>
            <a:outerShdw dist="107763" dir="8100000" algn="ctr" rotWithShape="0">
              <a:srgbClr val="008000">
                <a:alpha val="50000"/>
              </a:srgbClr>
            </a:outerShdw>
          </a:effectLst>
        </p:spPr>
        <p:txBody>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sz="1800" b="1" u="sng">
                <a:latin typeface="Comic Sans MS" panose="030F0702030302020204" pitchFamily="66" charset="0"/>
              </a:rPr>
              <a:t>Importance to employers</a:t>
            </a:r>
          </a:p>
          <a:p>
            <a:pPr algn="ctr" eaLnBrk="1" hangingPunct="1">
              <a:spcBef>
                <a:spcPct val="20000"/>
              </a:spcBef>
            </a:pPr>
            <a:r>
              <a:rPr lang="en-US" sz="1800">
                <a:latin typeface="Comic Sans MS" panose="030F0702030302020204" pitchFamily="66" charset="0"/>
              </a:rPr>
              <a:t> It becomes easier for the management to resolve issues at the bargaining level rather than taking up complaints of individual workers.</a:t>
            </a:r>
          </a:p>
          <a:p>
            <a:pPr algn="ctr" eaLnBrk="1" hangingPunct="1">
              <a:spcBef>
                <a:spcPct val="20000"/>
              </a:spcBef>
            </a:pPr>
            <a:r>
              <a:rPr lang="en-US" sz="1800">
                <a:latin typeface="Comic Sans MS" panose="030F0702030302020204" pitchFamily="66" charset="0"/>
              </a:rPr>
              <a:t> Collective bargaining tends to promote a sense of job security among employees and thereby tends to reduce the cost of labor turnover to management. </a:t>
            </a:r>
          </a:p>
          <a:p>
            <a:pPr algn="ctr" eaLnBrk="1" hangingPunct="1">
              <a:spcBef>
                <a:spcPct val="20000"/>
              </a:spcBef>
            </a:pPr>
            <a:r>
              <a:rPr lang="en-US" sz="1800">
                <a:latin typeface="Comic Sans MS" panose="030F0702030302020204" pitchFamily="66" charset="0"/>
              </a:rPr>
              <a:t>Collective bargaining opens up the channel of communication between the workers and the management and increases worker participation in decision making.</a:t>
            </a:r>
          </a:p>
          <a:p>
            <a:pPr algn="ctr" eaLnBrk="1" hangingPunct="1">
              <a:spcBef>
                <a:spcPct val="20000"/>
              </a:spcBef>
            </a:pPr>
            <a:r>
              <a:rPr lang="en-US" sz="1800">
                <a:latin typeface="Comic Sans MS" panose="030F0702030302020204" pitchFamily="66" charset="0"/>
              </a:rPr>
              <a:t> Collective bargaining plays a vital role in settling and preventing industrial disputes. </a:t>
            </a:r>
            <a:br>
              <a:rPr lang="en-US" sz="1800">
                <a:latin typeface="Comic Sans MS" panose="030F0702030302020204" pitchFamily="66" charset="0"/>
              </a:rPr>
            </a:br>
            <a:r>
              <a:rPr lang="en-US" sz="1800">
                <a:latin typeface="Comic Sans MS" panose="030F0702030302020204" pitchFamily="66" charset="0"/>
              </a:rPr>
              <a:t/>
            </a:r>
            <a:br>
              <a:rPr lang="en-US" sz="1800">
                <a:latin typeface="Comic Sans MS" panose="030F0702030302020204" pitchFamily="66" charset="0"/>
              </a:rPr>
            </a:br>
            <a:r>
              <a:rPr lang="en-US" sz="1800">
                <a:latin typeface="Comic Sans MS" panose="030F0702030302020204" pitchFamily="66" charset="0"/>
              </a:rPr>
              <a:t/>
            </a:r>
            <a:br>
              <a:rPr lang="en-US" sz="1800">
                <a:latin typeface="Comic Sans MS" panose="030F0702030302020204" pitchFamily="66" charset="0"/>
              </a:rPr>
            </a:br>
            <a:endParaRPr lang="en-US" sz="1800">
              <a:latin typeface="Comic Sans MS" panose="030F0702030302020204" pitchFamily="66" charset="0"/>
            </a:endParaRPr>
          </a:p>
        </p:txBody>
      </p:sp>
    </p:spTree>
    <p:extLst>
      <p:ext uri="{BB962C8B-B14F-4D97-AF65-F5344CB8AC3E}">
        <p14:creationId xmlns:p14="http://schemas.microsoft.com/office/powerpoint/2010/main" val="12252515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8548"/>
                                        </p:tgtEl>
                                        <p:attrNameLst>
                                          <p:attrName>style.visibility</p:attrName>
                                        </p:attrNameLst>
                                      </p:cBhvr>
                                      <p:to>
                                        <p:strVal val="visible"/>
                                      </p:to>
                                    </p:set>
                                    <p:anim calcmode="lin" valueType="num">
                                      <p:cBhvr>
                                        <p:cTn id="7" dur="500" fill="hold"/>
                                        <p:tgtEl>
                                          <p:spTgt spid="108548"/>
                                        </p:tgtEl>
                                        <p:attrNameLst>
                                          <p:attrName>ppt_w</p:attrName>
                                        </p:attrNameLst>
                                      </p:cBhvr>
                                      <p:tavLst>
                                        <p:tav tm="0">
                                          <p:val>
                                            <p:fltVal val="0"/>
                                          </p:val>
                                        </p:tav>
                                        <p:tav tm="100000">
                                          <p:val>
                                            <p:strVal val="#ppt_w"/>
                                          </p:val>
                                        </p:tav>
                                      </p:tavLst>
                                    </p:anim>
                                    <p:anim calcmode="lin" valueType="num">
                                      <p:cBhvr>
                                        <p:cTn id="8" dur="500" fill="hold"/>
                                        <p:tgtEl>
                                          <p:spTgt spid="1085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Text Box 3"/>
          <p:cNvSpPr txBox="1">
            <a:spLocks noChangeArrowheads="1"/>
          </p:cNvSpPr>
          <p:nvPr/>
        </p:nvSpPr>
        <p:spPr bwMode="auto">
          <a:xfrm>
            <a:off x="4860925" y="3665539"/>
            <a:ext cx="527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FontTx/>
              <a:buChar char="•"/>
            </a:pPr>
            <a:endParaRPr lang="uk-UA" sz="3200">
              <a:latin typeface="Tahoma" panose="020B0604030504040204" pitchFamily="34" charset="0"/>
            </a:endParaRPr>
          </a:p>
        </p:txBody>
      </p:sp>
      <p:pic>
        <p:nvPicPr>
          <p:cNvPr id="107524" name="Picture 4" descr="umbrellaman"/>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7543800" y="3789363"/>
            <a:ext cx="3124200" cy="2811462"/>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7526" name="AutoShape 6"/>
          <p:cNvSpPr>
            <a:spLocks noChangeArrowheads="1"/>
          </p:cNvSpPr>
          <p:nvPr/>
        </p:nvSpPr>
        <p:spPr bwMode="auto">
          <a:xfrm>
            <a:off x="1524000" y="0"/>
            <a:ext cx="8001000" cy="6324600"/>
          </a:xfrm>
          <a:prstGeom prst="wedgeEllipseCallout">
            <a:avLst>
              <a:gd name="adj1" fmla="val 34245"/>
              <a:gd name="adj2" fmla="val 24648"/>
            </a:avLst>
          </a:prstGeom>
          <a:solidFill>
            <a:srgbClr val="FFFF00"/>
          </a:solidFill>
          <a:ln w="28575">
            <a:solidFill>
              <a:schemeClr val="tx1"/>
            </a:solidFill>
            <a:miter lim="800000"/>
            <a:headEnd/>
            <a:tailEnd/>
          </a:ln>
          <a:effectLst>
            <a:outerShdw dist="107763" dir="8100000" algn="ctr" rotWithShape="0">
              <a:srgbClr val="008000">
                <a:alpha val="50000"/>
              </a:srgbClr>
            </a:outerShdw>
          </a:effectLst>
        </p:spPr>
        <p:txBody>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sz="2000" b="1" u="sng">
                <a:latin typeface="Comic Sans MS" panose="030F0702030302020204" pitchFamily="66" charset="0"/>
              </a:rPr>
              <a:t>Importance to employees </a:t>
            </a:r>
          </a:p>
          <a:p>
            <a:pPr algn="ctr" eaLnBrk="1" hangingPunct="1">
              <a:spcBef>
                <a:spcPct val="20000"/>
              </a:spcBef>
            </a:pPr>
            <a:r>
              <a:rPr lang="en-US" sz="1600" b="1">
                <a:latin typeface="Comic Sans MS" panose="030F0702030302020204" pitchFamily="66" charset="0"/>
              </a:rPr>
              <a:t>Collective bargaining develops a sense of self respect and responsibility among the employees. </a:t>
            </a:r>
          </a:p>
          <a:p>
            <a:pPr algn="ctr" eaLnBrk="1" hangingPunct="1">
              <a:spcBef>
                <a:spcPct val="20000"/>
              </a:spcBef>
            </a:pPr>
            <a:r>
              <a:rPr lang="en-US" sz="1600" b="1">
                <a:latin typeface="Comic Sans MS" panose="030F0702030302020204" pitchFamily="66" charset="0"/>
              </a:rPr>
              <a:t>It increases the strength of the workforce, thereby, increasing their bargaining capacity as a group.</a:t>
            </a:r>
          </a:p>
          <a:p>
            <a:pPr algn="ctr" eaLnBrk="1" hangingPunct="1">
              <a:spcBef>
                <a:spcPct val="20000"/>
              </a:spcBef>
            </a:pPr>
            <a:r>
              <a:rPr lang="en-US" sz="1600" b="1">
                <a:latin typeface="Comic Sans MS" panose="030F0702030302020204" pitchFamily="66" charset="0"/>
              </a:rPr>
              <a:t> Collective bargaining increases the morale and productivity of employees. </a:t>
            </a:r>
          </a:p>
          <a:p>
            <a:pPr algn="ctr" eaLnBrk="1" hangingPunct="1">
              <a:spcBef>
                <a:spcPct val="20000"/>
              </a:spcBef>
            </a:pPr>
            <a:r>
              <a:rPr lang="en-US" sz="1600" b="1">
                <a:latin typeface="Comic Sans MS" panose="030F0702030302020204" pitchFamily="66" charset="0"/>
              </a:rPr>
              <a:t>It restricts management’s freedom for arbitrary action against the employees.. </a:t>
            </a:r>
          </a:p>
          <a:p>
            <a:pPr algn="ctr" eaLnBrk="1" hangingPunct="1">
              <a:spcBef>
                <a:spcPct val="20000"/>
              </a:spcBef>
            </a:pPr>
            <a:r>
              <a:rPr lang="en-US" sz="1600" b="1">
                <a:latin typeface="Comic Sans MS" panose="030F0702030302020204" pitchFamily="66" charset="0"/>
              </a:rPr>
              <a:t>The workers feel motivated as they can approach the management on various matters and bargain for higher benefits.</a:t>
            </a:r>
          </a:p>
          <a:p>
            <a:pPr algn="ctr" eaLnBrk="1" hangingPunct="1">
              <a:spcBef>
                <a:spcPct val="20000"/>
              </a:spcBef>
            </a:pPr>
            <a:r>
              <a:rPr lang="en-US" sz="1600" b="1">
                <a:latin typeface="Comic Sans MS" panose="030F0702030302020204" pitchFamily="66" charset="0"/>
              </a:rPr>
              <a:t> It helps in securing a prompt and fair settlement of grievances.</a:t>
            </a:r>
          </a:p>
          <a:p>
            <a:pPr algn="ctr" eaLnBrk="1" hangingPunct="1">
              <a:spcBef>
                <a:spcPct val="20000"/>
              </a:spcBef>
            </a:pPr>
            <a:r>
              <a:rPr lang="en-US" sz="1600" b="1">
                <a:latin typeface="Comic Sans MS" panose="030F0702030302020204" pitchFamily="66" charset="0"/>
              </a:rPr>
              <a:t> It provides a flexible means for the adjustment of wages and employment conditions to economic and technological changes in the industry, as a result of which the chances for conflicts are reduced. </a:t>
            </a:r>
            <a:br>
              <a:rPr lang="en-US" sz="1600" b="1">
                <a:latin typeface="Comic Sans MS" panose="030F0702030302020204" pitchFamily="66" charset="0"/>
              </a:rPr>
            </a:br>
            <a:r>
              <a:rPr lang="en-US" sz="1600" b="1">
                <a:latin typeface="Comic Sans MS" panose="030F0702030302020204" pitchFamily="66" charset="0"/>
              </a:rPr>
              <a:t/>
            </a:r>
            <a:br>
              <a:rPr lang="en-US" sz="1600" b="1">
                <a:latin typeface="Comic Sans MS" panose="030F0702030302020204" pitchFamily="66" charset="0"/>
              </a:rPr>
            </a:br>
            <a:endParaRPr lang="en-US" sz="1600" b="1">
              <a:latin typeface="Comic Sans MS" panose="030F0702030302020204" pitchFamily="66" charset="0"/>
            </a:endParaRPr>
          </a:p>
        </p:txBody>
      </p:sp>
      <p:sp>
        <p:nvSpPr>
          <p:cNvPr id="107527" name="AutoShape 7"/>
          <p:cNvSpPr>
            <a:spLocks noChangeArrowheads="1"/>
          </p:cNvSpPr>
          <p:nvPr/>
        </p:nvSpPr>
        <p:spPr bwMode="auto">
          <a:xfrm>
            <a:off x="8153400" y="914400"/>
            <a:ext cx="2514600" cy="1371600"/>
          </a:xfrm>
          <a:prstGeom prst="cloudCallout">
            <a:avLst>
              <a:gd name="adj1" fmla="val -5301"/>
              <a:gd name="adj2" fmla="val 176273"/>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sz="3200">
                <a:solidFill>
                  <a:srgbClr val="FFFF00"/>
                </a:solidFill>
                <a:latin typeface="Tahoma" panose="020B0604030504040204" pitchFamily="34" charset="0"/>
              </a:rPr>
              <a:t>Impasse</a:t>
            </a:r>
          </a:p>
        </p:txBody>
      </p:sp>
    </p:spTree>
    <p:extLst>
      <p:ext uri="{BB962C8B-B14F-4D97-AF65-F5344CB8AC3E}">
        <p14:creationId xmlns:p14="http://schemas.microsoft.com/office/powerpoint/2010/main" val="23258606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7526"/>
                                        </p:tgtEl>
                                        <p:attrNameLst>
                                          <p:attrName>style.visibility</p:attrName>
                                        </p:attrNameLst>
                                      </p:cBhvr>
                                      <p:to>
                                        <p:strVal val="visible"/>
                                      </p:to>
                                    </p:set>
                                    <p:anim calcmode="lin" valueType="num">
                                      <p:cBhvr>
                                        <p:cTn id="7" dur="500" fill="hold"/>
                                        <p:tgtEl>
                                          <p:spTgt spid="107526"/>
                                        </p:tgtEl>
                                        <p:attrNameLst>
                                          <p:attrName>ppt_w</p:attrName>
                                        </p:attrNameLst>
                                      </p:cBhvr>
                                      <p:tavLst>
                                        <p:tav tm="0">
                                          <p:val>
                                            <p:fltVal val="0"/>
                                          </p:val>
                                        </p:tav>
                                        <p:tav tm="100000">
                                          <p:val>
                                            <p:strVal val="#ppt_w"/>
                                          </p:val>
                                        </p:tav>
                                      </p:tavLst>
                                    </p:anim>
                                    <p:anim calcmode="lin" valueType="num">
                                      <p:cBhvr>
                                        <p:cTn id="8" dur="500" fill="hold"/>
                                        <p:tgtEl>
                                          <p:spTgt spid="10752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07527"/>
                                        </p:tgtEl>
                                        <p:attrNameLst>
                                          <p:attrName>style.visibility</p:attrName>
                                        </p:attrNameLst>
                                      </p:cBhvr>
                                      <p:to>
                                        <p:strVal val="visible"/>
                                      </p:to>
                                    </p:set>
                                    <p:anim calcmode="lin" valueType="num">
                                      <p:cBhvr>
                                        <p:cTn id="13" dur="500" fill="hold"/>
                                        <p:tgtEl>
                                          <p:spTgt spid="107527"/>
                                        </p:tgtEl>
                                        <p:attrNameLst>
                                          <p:attrName>ppt_w</p:attrName>
                                        </p:attrNameLst>
                                      </p:cBhvr>
                                      <p:tavLst>
                                        <p:tav tm="0">
                                          <p:val>
                                            <p:fltVal val="0"/>
                                          </p:val>
                                        </p:tav>
                                        <p:tav tm="100000">
                                          <p:val>
                                            <p:strVal val="#ppt_w"/>
                                          </p:val>
                                        </p:tav>
                                      </p:tavLst>
                                    </p:anim>
                                    <p:anim calcmode="lin" valueType="num">
                                      <p:cBhvr>
                                        <p:cTn id="14" dur="500" fill="hold"/>
                                        <p:tgtEl>
                                          <p:spTgt spid="1075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6" grpId="0" animBg="1"/>
      <p:bldP spid="10752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Collective Bargaining Process</a:t>
            </a:r>
          </a:p>
        </p:txBody>
      </p:sp>
      <p:sp>
        <p:nvSpPr>
          <p:cNvPr id="59395" name="Rectangle 3"/>
          <p:cNvSpPr>
            <a:spLocks noGrp="1" noChangeArrowheads="1"/>
          </p:cNvSpPr>
          <p:nvPr>
            <p:ph type="body" sz="half" idx="1"/>
          </p:nvPr>
        </p:nvSpPr>
        <p:spPr>
          <a:xfrm>
            <a:off x="1981200" y="1600201"/>
            <a:ext cx="8382000" cy="4525963"/>
          </a:xfrm>
        </p:spPr>
        <p:txBody>
          <a:bodyPr/>
          <a:lstStyle/>
          <a:p>
            <a:r>
              <a:rPr lang="en-US" sz="2800"/>
              <a:t>In many companies, agreements have a fixed time scale and a collective bargaining process will review the procedural agreement when negotiations take place on pay and conditions of employment.</a:t>
            </a:r>
          </a:p>
          <a:p>
            <a:endParaRPr lang="en-US" sz="2800"/>
          </a:p>
        </p:txBody>
      </p:sp>
      <p:pic>
        <p:nvPicPr>
          <p:cNvPr id="59399" name="Picture 7" descr="process-of-collective-bargaini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581400" y="3752850"/>
            <a:ext cx="5410200" cy="287655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03604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905000" y="274638"/>
            <a:ext cx="8305800" cy="715962"/>
          </a:xfrm>
        </p:spPr>
        <p:txBody>
          <a:bodyPr/>
          <a:lstStyle/>
          <a:p>
            <a:r>
              <a:rPr lang="en-US" sz="4000"/>
              <a:t>(1) Prepare</a:t>
            </a:r>
          </a:p>
        </p:txBody>
      </p:sp>
      <p:sp>
        <p:nvSpPr>
          <p:cNvPr id="64515" name="Rectangle 3"/>
          <p:cNvSpPr>
            <a:spLocks noGrp="1" noChangeArrowheads="1"/>
          </p:cNvSpPr>
          <p:nvPr>
            <p:ph type="body" idx="1"/>
          </p:nvPr>
        </p:nvSpPr>
        <p:spPr>
          <a:xfrm>
            <a:off x="1981200" y="990600"/>
            <a:ext cx="8229600" cy="4572000"/>
          </a:xfrm>
        </p:spPr>
        <p:txBody>
          <a:bodyPr>
            <a:normAutofit fontScale="92500" lnSpcReduction="10000"/>
          </a:bodyPr>
          <a:lstStyle/>
          <a:p>
            <a:pPr marL="609600" indent="-609600">
              <a:lnSpc>
                <a:spcPct val="80000"/>
              </a:lnSpc>
            </a:pPr>
            <a:r>
              <a:rPr lang="en-US" sz="2400"/>
              <a:t>This phase involves composition of a negotiation team. </a:t>
            </a:r>
          </a:p>
          <a:p>
            <a:pPr marL="609600" indent="-609600">
              <a:lnSpc>
                <a:spcPct val="80000"/>
              </a:lnSpc>
            </a:pPr>
            <a:r>
              <a:rPr lang="en-US" sz="2400"/>
              <a:t>The negotiation team should consist of representatives of both the parties with adequate knowledge and skills for negotiation.</a:t>
            </a:r>
          </a:p>
          <a:p>
            <a:pPr marL="609600" indent="-609600">
              <a:lnSpc>
                <a:spcPct val="80000"/>
              </a:lnSpc>
            </a:pPr>
            <a:r>
              <a:rPr lang="en-US" sz="2400"/>
              <a:t> In this phase both the employer’s representatives and the union examine their own situation in order to develop the issues that they believe will be most important. </a:t>
            </a:r>
          </a:p>
          <a:p>
            <a:pPr marL="609600" indent="-609600">
              <a:lnSpc>
                <a:spcPct val="80000"/>
              </a:lnSpc>
            </a:pPr>
            <a:r>
              <a:rPr lang="en-US" sz="2400"/>
              <a:t>A correct understanding of the main</a:t>
            </a:r>
          </a:p>
          <a:p>
            <a:pPr marL="609600" indent="-609600">
              <a:lnSpc>
                <a:spcPct val="80000"/>
              </a:lnSpc>
              <a:buNone/>
            </a:pPr>
            <a:r>
              <a:rPr lang="en-US" sz="2400"/>
              <a:t>       issues to be covered and intimate </a:t>
            </a:r>
          </a:p>
          <a:p>
            <a:pPr marL="609600" indent="-609600">
              <a:lnSpc>
                <a:spcPct val="80000"/>
              </a:lnSpc>
              <a:buNone/>
            </a:pPr>
            <a:r>
              <a:rPr lang="en-US" sz="2400"/>
              <a:t>       knowledge of operations, working </a:t>
            </a:r>
          </a:p>
          <a:p>
            <a:pPr marL="609600" indent="-609600">
              <a:lnSpc>
                <a:spcPct val="80000"/>
              </a:lnSpc>
              <a:buNone/>
            </a:pPr>
            <a:r>
              <a:rPr lang="en-US" sz="2400"/>
              <a:t>       conditions production norms and</a:t>
            </a:r>
          </a:p>
          <a:p>
            <a:pPr marL="609600" indent="-609600">
              <a:lnSpc>
                <a:spcPct val="80000"/>
              </a:lnSpc>
              <a:buNone/>
            </a:pPr>
            <a:r>
              <a:rPr lang="en-US" sz="2400"/>
              <a:t>       other relevant conditions is  </a:t>
            </a:r>
          </a:p>
          <a:p>
            <a:pPr marL="609600" indent="-609600">
              <a:lnSpc>
                <a:spcPct val="80000"/>
              </a:lnSpc>
              <a:buNone/>
            </a:pPr>
            <a:r>
              <a:rPr lang="en-US" sz="2400"/>
              <a:t>       required. </a:t>
            </a:r>
          </a:p>
        </p:txBody>
      </p:sp>
      <p:pic>
        <p:nvPicPr>
          <p:cNvPr id="64517" name="Picture 5" descr="Collective%20bargain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24800" y="3581400"/>
            <a:ext cx="2590800"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34117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209800" y="152400"/>
            <a:ext cx="6870700" cy="914400"/>
          </a:xfrm>
        </p:spPr>
        <p:txBody>
          <a:bodyPr/>
          <a:lstStyle/>
          <a:p>
            <a:r>
              <a:rPr lang="en-US"/>
              <a:t>(2) Discuss </a:t>
            </a:r>
          </a:p>
        </p:txBody>
      </p:sp>
      <p:sp>
        <p:nvSpPr>
          <p:cNvPr id="65539" name="Rectangle 3"/>
          <p:cNvSpPr>
            <a:spLocks noGrp="1" noChangeArrowheads="1"/>
          </p:cNvSpPr>
          <p:nvPr>
            <p:ph type="body" sz="half" idx="1"/>
          </p:nvPr>
        </p:nvSpPr>
        <p:spPr>
          <a:xfrm>
            <a:off x="2209800" y="1143000"/>
            <a:ext cx="5562600" cy="4724400"/>
          </a:xfrm>
        </p:spPr>
        <p:txBody>
          <a:bodyPr/>
          <a:lstStyle/>
          <a:p>
            <a:pPr marL="609600" indent="-609600"/>
            <a:r>
              <a:rPr lang="en-US" sz="2800"/>
              <a:t>The parties decide the ground rules that will guide the negotiations.</a:t>
            </a:r>
          </a:p>
          <a:p>
            <a:pPr marL="609600" indent="-609600"/>
            <a:r>
              <a:rPr lang="en-US" sz="2800"/>
              <a:t>An environment of mutual trust and understanding is also created so that the collective bargaining agreement would be reached. </a:t>
            </a:r>
          </a:p>
        </p:txBody>
      </p:sp>
      <p:pic>
        <p:nvPicPr>
          <p:cNvPr id="65544" name="Picture 8" descr="Contract%20Bargaining%20Handbook"/>
          <p:cNvPicPr>
            <a:picLocks noGrp="1" noChangeAspect="1" noChangeArrowheads="1"/>
          </p:cNvPicPr>
          <p:nvPr>
            <p:ph sz="quarter" idx="3"/>
          </p:nvPr>
        </p:nvPicPr>
        <p:blipFill>
          <a:blip r:embed="rId2" cstate="print">
            <a:extLst>
              <a:ext uri="{28A0092B-C50C-407E-A947-70E740481C1C}">
                <a14:useLocalDpi xmlns:a14="http://schemas.microsoft.com/office/drawing/2010/main" val="0"/>
              </a:ext>
            </a:extLst>
          </a:blip>
          <a:srcRect/>
          <a:stretch>
            <a:fillRect/>
          </a:stretch>
        </p:blipFill>
        <p:spPr>
          <a:xfrm>
            <a:off x="7467600" y="1066800"/>
            <a:ext cx="2362200" cy="25908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5547" name="Picture 11" descr="mee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3810000"/>
            <a:ext cx="35052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4305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2209800" y="152400"/>
            <a:ext cx="6870700" cy="1066800"/>
          </a:xfrm>
        </p:spPr>
        <p:txBody>
          <a:bodyPr/>
          <a:lstStyle/>
          <a:p>
            <a:r>
              <a:rPr lang="en-US"/>
              <a:t>(3) Propose </a:t>
            </a:r>
          </a:p>
        </p:txBody>
      </p:sp>
      <p:sp>
        <p:nvSpPr>
          <p:cNvPr id="66563" name="Rectangle 3"/>
          <p:cNvSpPr>
            <a:spLocks noGrp="1" noChangeArrowheads="1"/>
          </p:cNvSpPr>
          <p:nvPr>
            <p:ph type="body" idx="1"/>
          </p:nvPr>
        </p:nvSpPr>
        <p:spPr>
          <a:xfrm>
            <a:off x="1905000" y="1295401"/>
            <a:ext cx="8229600" cy="4754563"/>
          </a:xfrm>
        </p:spPr>
        <p:txBody>
          <a:bodyPr/>
          <a:lstStyle/>
          <a:p>
            <a:pPr marL="609600" indent="-609600"/>
            <a:r>
              <a:rPr lang="en-US"/>
              <a:t>It involves the initial opening statements and the possible options that exist to resolve them. In a word, this phase could be described as ‘brainstorming’. The exchange of messages takes place and opinion of both the parties is sought. </a:t>
            </a:r>
          </a:p>
        </p:txBody>
      </p:sp>
      <p:pic>
        <p:nvPicPr>
          <p:cNvPr id="66575" name="Picture 15" descr="aba0138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4800600"/>
            <a:ext cx="51054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1915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2209800" y="152400"/>
            <a:ext cx="6870700" cy="914400"/>
          </a:xfrm>
        </p:spPr>
        <p:txBody>
          <a:bodyPr/>
          <a:lstStyle/>
          <a:p>
            <a:r>
              <a:rPr lang="en-US"/>
              <a:t>(4) Bargain</a:t>
            </a:r>
          </a:p>
        </p:txBody>
      </p:sp>
      <p:sp>
        <p:nvSpPr>
          <p:cNvPr id="67587" name="Rectangle 3"/>
          <p:cNvSpPr>
            <a:spLocks noGrp="1" noChangeArrowheads="1"/>
          </p:cNvSpPr>
          <p:nvPr>
            <p:ph type="body" sz="half" idx="1"/>
          </p:nvPr>
        </p:nvSpPr>
        <p:spPr>
          <a:xfrm>
            <a:off x="2209800" y="1219200"/>
            <a:ext cx="7481888" cy="3657600"/>
          </a:xfrm>
        </p:spPr>
        <p:txBody>
          <a:bodyPr/>
          <a:lstStyle/>
          <a:p>
            <a:pPr marL="609600" indent="-609600"/>
            <a:r>
              <a:rPr lang="en-US" sz="2800"/>
              <a:t>Negotiations are easy if a problem solving attitude is adopted.</a:t>
            </a:r>
          </a:p>
          <a:p>
            <a:pPr marL="609600" indent="-609600"/>
            <a:r>
              <a:rPr lang="en-US" sz="2800"/>
              <a:t> This stage comprises the time when ‘what ifs’ and ‘supposals’ are set forth and the drafting of agreements take place.</a:t>
            </a:r>
          </a:p>
        </p:txBody>
      </p:sp>
      <p:pic>
        <p:nvPicPr>
          <p:cNvPr id="67593" name="Picture 9" descr="pton128l"/>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781800" y="3505200"/>
            <a:ext cx="3657600" cy="32004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7596" name="Picture 12" descr="index-2_clip_image002_00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886200"/>
            <a:ext cx="48768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469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2209800" y="152400"/>
            <a:ext cx="6870700" cy="762000"/>
          </a:xfrm>
        </p:spPr>
        <p:txBody>
          <a:bodyPr/>
          <a:lstStyle/>
          <a:p>
            <a:r>
              <a:rPr lang="en-US"/>
              <a:t>(5)Settlement</a:t>
            </a:r>
          </a:p>
        </p:txBody>
      </p:sp>
      <p:sp>
        <p:nvSpPr>
          <p:cNvPr id="68611" name="Rectangle 3"/>
          <p:cNvSpPr>
            <a:spLocks noGrp="1" noChangeArrowheads="1"/>
          </p:cNvSpPr>
          <p:nvPr>
            <p:ph type="body" sz="half" idx="1"/>
          </p:nvPr>
        </p:nvSpPr>
        <p:spPr>
          <a:xfrm>
            <a:off x="2209800" y="914400"/>
            <a:ext cx="6553200" cy="4572000"/>
          </a:xfrm>
        </p:spPr>
        <p:txBody>
          <a:bodyPr/>
          <a:lstStyle/>
          <a:p>
            <a:pPr marL="609600" indent="-609600"/>
            <a:r>
              <a:rPr lang="en-US" sz="2400"/>
              <a:t>Once the parties are through with the bargaining process, a consensual agreement is reached upon wherein both the parties agree to a common decision regarding the problem or the issue. </a:t>
            </a:r>
          </a:p>
          <a:p>
            <a:pPr marL="609600" indent="-609600"/>
            <a:r>
              <a:rPr lang="en-US" sz="2400"/>
              <a:t>This stage is described as consisting of effective joint implementation of the agreement through shared visions, strategic planning and negotiated change. </a:t>
            </a:r>
          </a:p>
        </p:txBody>
      </p:sp>
      <p:pic>
        <p:nvPicPr>
          <p:cNvPr id="68612" name="Picture 4" descr="eff96afcfe5ff7a7a9121952d436062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324600" y="4419600"/>
            <a:ext cx="4191000" cy="22860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8615" name="Picture 7" descr="collective+bargaining+sta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4343400"/>
            <a:ext cx="21336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5242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2133600" y="228600"/>
            <a:ext cx="6946900" cy="1066800"/>
          </a:xfrm>
        </p:spPr>
        <p:txBody>
          <a:bodyPr>
            <a:normAutofit fontScale="90000"/>
          </a:bodyPr>
          <a:lstStyle/>
          <a:p>
            <a:r>
              <a:rPr lang="en-US" sz="4000"/>
              <a:t>Levels of collective bargaining</a:t>
            </a:r>
          </a:p>
        </p:txBody>
      </p:sp>
      <p:pic>
        <p:nvPicPr>
          <p:cNvPr id="69638" name="Picture 6" descr="Levels Of Collective Bargainin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343400" y="1371600"/>
            <a:ext cx="4876800" cy="52578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9644" name="Picture 12" descr="labou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1752600" y="1828800"/>
            <a:ext cx="2895600" cy="3429000"/>
          </a:xfrm>
          <a:noFill/>
          <a:ln/>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686766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2" name="Picture 4" descr="thankyo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990600"/>
            <a:ext cx="7162800" cy="563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65409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474</TotalTime>
  <Words>2430</Words>
  <Application>Microsoft Office PowerPoint</Application>
  <PresentationFormat>Custom</PresentationFormat>
  <Paragraphs>224</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Definition</vt:lpstr>
      <vt:lpstr>PowerPoint Presentation</vt:lpstr>
      <vt:lpstr>PowerPoint Presentation</vt:lpstr>
      <vt:lpstr>PowerPoint Presentation</vt:lpstr>
      <vt:lpstr>PowerPoint Presentation</vt:lpstr>
      <vt:lpstr>Collective Bargaining Process</vt:lpstr>
      <vt:lpstr>(1) Prepare</vt:lpstr>
      <vt:lpstr>(2) Discuss </vt:lpstr>
      <vt:lpstr>(3) Propose </vt:lpstr>
      <vt:lpstr>(4) Bargain</vt:lpstr>
      <vt:lpstr>(5)Settlement</vt:lpstr>
      <vt:lpstr>Levels of collective bargaining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REGABRAHAM</dc:creator>
  <cp:lastModifiedBy>Students Union</cp:lastModifiedBy>
  <cp:revision>32</cp:revision>
  <dcterms:created xsi:type="dcterms:W3CDTF">2017-05-10T13:43:04Z</dcterms:created>
  <dcterms:modified xsi:type="dcterms:W3CDTF">2017-12-07T17:39:47Z</dcterms:modified>
</cp:coreProperties>
</file>