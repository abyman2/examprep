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73" r:id="rId2"/>
    <p:sldId id="272" r:id="rId3"/>
    <p:sldId id="257" r:id="rId4"/>
    <p:sldId id="258" r:id="rId5"/>
    <p:sldId id="259" r:id="rId6"/>
    <p:sldId id="260" r:id="rId7"/>
    <p:sldId id="261" r:id="rId8"/>
    <p:sldId id="262" r:id="rId9"/>
    <p:sldId id="263" r:id="rId10"/>
    <p:sldId id="264" r:id="rId11"/>
    <p:sldId id="265" r:id="rId12"/>
    <p:sldId id="266" r:id="rId13"/>
    <p:sldId id="267" r:id="rId14"/>
    <p:sldId id="268" r:id="rId15"/>
    <p:sldId id="271" r:id="rId16"/>
    <p:sldId id="269" r:id="rId17"/>
    <p:sldId id="270"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4" autoAdjust="0"/>
    <p:restoredTop sz="94662" autoAdjust="0"/>
  </p:normalViewPr>
  <p:slideViewPr>
    <p:cSldViewPr>
      <p:cViewPr varScale="1">
        <p:scale>
          <a:sx n="70" d="100"/>
          <a:sy n="70" d="100"/>
        </p:scale>
        <p:origin x="-1374" y="-9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FF70552-CD53-41CE-8240-BD2C289A26E5}" type="datetimeFigureOut">
              <a:rPr lang="en-US" smtClean="0"/>
              <a:t>5/25/2017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FF70552-CD53-41CE-8240-BD2C289A26E5}" type="datetimeFigureOut">
              <a:rPr lang="en-US" smtClean="0"/>
              <a:t>5/25/2017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3FF70552-CD53-41CE-8240-BD2C289A26E5}" type="datetimeFigureOut">
              <a:rPr lang="en-US" smtClean="0"/>
              <a:t>5/25/2017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FF70552-CD53-41CE-8240-BD2C289A26E5}" type="datetimeFigureOut">
              <a:rPr lang="en-US" smtClean="0"/>
              <a:t>5/25/2017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E7B070-0026-41D6-A3E0-73E9B40017CE}"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FF70552-CD53-41CE-8240-BD2C289A26E5}" type="datetimeFigureOut">
              <a:rPr lang="en-US" smtClean="0"/>
              <a:t>5/25/2017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FF70552-CD53-41CE-8240-BD2C289A26E5}" type="datetimeFigureOut">
              <a:rPr lang="en-US" smtClean="0"/>
              <a:t>5/25/2017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F70552-CD53-41CE-8240-BD2C289A26E5}" type="datetimeFigureOut">
              <a:rPr lang="en-US" smtClean="0"/>
              <a:t>5/25/2017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3FF70552-CD53-41CE-8240-BD2C289A26E5}" type="datetimeFigureOut">
              <a:rPr lang="en-US" smtClean="0"/>
              <a:t>5/25/2017</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2CE7B070-0026-41D6-A3E0-73E9B40017C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FF70552-CD53-41CE-8240-BD2C289A26E5}" type="datetimeFigureOut">
              <a:rPr lang="en-US" smtClean="0"/>
              <a:t>5/25/2017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F70552-CD53-41CE-8240-BD2C289A26E5}" type="datetimeFigureOut">
              <a:rPr lang="en-US" smtClean="0"/>
              <a:t>5/25/2017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FF70552-CD53-41CE-8240-BD2C289A26E5}" type="datetimeFigureOut">
              <a:rPr lang="en-US" smtClean="0"/>
              <a:t>5/25/2017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CE7B070-0026-41D6-A3E0-73E9B40017C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3FF70552-CD53-41CE-8240-BD2C289A26E5}" type="datetimeFigureOut">
              <a:rPr lang="en-US" smtClean="0"/>
              <a:t>5/25/2017</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2CE7B070-0026-41D6-A3E0-73E9B40017C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981200"/>
            <a:ext cx="312906" cy="707886"/>
          </a:xfrm>
          <a:prstGeom prst="rect">
            <a:avLst/>
          </a:prstGeom>
        </p:spPr>
        <p:txBody>
          <a:bodyPr wrap="none">
            <a:spAutoFit/>
          </a:bodyPr>
          <a:lstStyle/>
          <a:p>
            <a:pPr lvl="0"/>
            <a:r>
              <a:rPr lang="en-GB" sz="4000" b="1" dirty="0" smtClean="0"/>
              <a:t> </a:t>
            </a:r>
            <a:endParaRPr lang="en-GB" sz="4000" dirty="0" smtClean="0"/>
          </a:p>
        </p:txBody>
      </p:sp>
      <p:sp>
        <p:nvSpPr>
          <p:cNvPr id="3" name="Rectangle 2"/>
          <p:cNvSpPr/>
          <p:nvPr/>
        </p:nvSpPr>
        <p:spPr>
          <a:xfrm>
            <a:off x="392009" y="2967335"/>
            <a:ext cx="8359981" cy="923330"/>
          </a:xfrm>
          <a:prstGeom prst="rect">
            <a:avLst/>
          </a:prstGeom>
          <a:noFill/>
        </p:spPr>
        <p:txBody>
          <a:bodyPr wrap="none" lIns="91440" tIns="45720" rIns="91440" bIns="45720">
            <a:spAutoFit/>
          </a:bodyPr>
          <a:lstStyle/>
          <a:p>
            <a:pPr algn="ctr"/>
            <a:r>
              <a:rPr lang="en-GB" sz="5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HOW HAVE </a:t>
            </a:r>
            <a:r>
              <a:rPr lang="en-GB" sz="5400" b="1" i="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YOU</a:t>
            </a:r>
            <a:r>
              <a:rPr lang="en-GB" sz="5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 BEEN?</a:t>
            </a:r>
            <a:endParaRPr 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40869515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304800"/>
            <a:ext cx="8229600" cy="5693866"/>
          </a:xfrm>
          <a:prstGeom prst="rect">
            <a:avLst/>
          </a:prstGeom>
        </p:spPr>
        <p:txBody>
          <a:bodyPr wrap="square">
            <a:spAutoFit/>
          </a:bodyPr>
          <a:lstStyle/>
          <a:p>
            <a:pPr lvl="0"/>
            <a:r>
              <a:rPr lang="en-GB" sz="4000" dirty="0" smtClean="0"/>
              <a:t>The Civil Servant Law</a:t>
            </a:r>
          </a:p>
          <a:p>
            <a:pPr marL="742950" lvl="1" indent="-285750">
              <a:buFont typeface="Arial" pitchFamily="34" charset="0"/>
              <a:buChar char="•"/>
            </a:pPr>
            <a:r>
              <a:rPr lang="en-GB" sz="3200" dirty="0" smtClean="0"/>
              <a:t>It is difficult to attribute the Ethiopian civil servant law to a single law.</a:t>
            </a:r>
          </a:p>
          <a:p>
            <a:pPr marL="742950" lvl="1" indent="-285750">
              <a:buFont typeface="Arial" pitchFamily="34" charset="0"/>
              <a:buChar char="•"/>
            </a:pPr>
            <a:r>
              <a:rPr lang="en-GB" sz="3200" dirty="0" smtClean="0"/>
              <a:t>For instance the we have Civil servant law</a:t>
            </a:r>
          </a:p>
          <a:p>
            <a:pPr marL="742950" lvl="1" indent="-285750">
              <a:buFont typeface="Arial" pitchFamily="34" charset="0"/>
              <a:buChar char="•"/>
            </a:pPr>
            <a:r>
              <a:rPr lang="en-GB" sz="3200" dirty="0" smtClean="0"/>
              <a:t>Higher education Proclamation</a:t>
            </a:r>
          </a:p>
          <a:p>
            <a:pPr marL="742950" lvl="1" indent="-285750">
              <a:buFont typeface="Arial" pitchFamily="34" charset="0"/>
              <a:buChar char="•"/>
            </a:pPr>
            <a:r>
              <a:rPr lang="en-GB" sz="3200" dirty="0" smtClean="0"/>
              <a:t>Custom and revenue administration law</a:t>
            </a:r>
          </a:p>
          <a:p>
            <a:pPr marL="742950" lvl="1" indent="-285750">
              <a:buFont typeface="Arial" pitchFamily="34" charset="0"/>
              <a:buChar char="•"/>
            </a:pPr>
            <a:r>
              <a:rPr lang="en-GB" sz="3200" dirty="0" smtClean="0"/>
              <a:t>Police and Military</a:t>
            </a:r>
          </a:p>
          <a:p>
            <a:pPr marL="742950" lvl="1" indent="-285750">
              <a:buFont typeface="Arial" pitchFamily="34" charset="0"/>
              <a:buChar char="•"/>
            </a:pPr>
            <a:r>
              <a:rPr lang="en-GB" sz="3200" dirty="0" smtClean="0"/>
              <a:t>Judges and prosecutors</a:t>
            </a:r>
          </a:p>
          <a:p>
            <a:pPr marL="742950" lvl="1" indent="-285750">
              <a:buFont typeface="Arial" pitchFamily="34" charset="0"/>
              <a:buChar char="•"/>
            </a:pPr>
            <a:r>
              <a:rPr lang="en-GB" sz="3200" dirty="0" smtClean="0"/>
              <a:t>MOPs </a:t>
            </a:r>
          </a:p>
          <a:p>
            <a:pPr lvl="1"/>
            <a:endParaRPr lang="en-GB" dirty="0" smtClean="0"/>
          </a:p>
          <a:p>
            <a:pPr lvl="0"/>
            <a:endParaRPr lang="en-US" dirty="0"/>
          </a:p>
        </p:txBody>
      </p:sp>
    </p:spTree>
    <p:extLst>
      <p:ext uri="{BB962C8B-B14F-4D97-AF65-F5344CB8AC3E}">
        <p14:creationId xmlns:p14="http://schemas.microsoft.com/office/powerpoint/2010/main" val="306985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 calcmode="lin" valueType="num">
                                      <p:cBhvr additive="base">
                                        <p:cTn id="19"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anim calcmode="lin" valueType="num">
                                      <p:cBhvr additive="base">
                                        <p:cTn id="23"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 calcmode="lin" valueType="num">
                                      <p:cBhvr additive="base">
                                        <p:cTn id="2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 calcmode="lin" valueType="num">
                                      <p:cBhvr additive="base">
                                        <p:cTn id="3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7608"/>
            <a:ext cx="8991600" cy="5755422"/>
          </a:xfrm>
          <a:prstGeom prst="rect">
            <a:avLst/>
          </a:prstGeom>
        </p:spPr>
        <p:txBody>
          <a:bodyPr wrap="square">
            <a:spAutoFit/>
          </a:bodyPr>
          <a:lstStyle/>
          <a:p>
            <a:r>
              <a:rPr lang="en-GB" sz="4800" b="1" dirty="0"/>
              <a:t>Introductory Remarks</a:t>
            </a:r>
            <a:endParaRPr lang="en-US" sz="4800" b="1" dirty="0"/>
          </a:p>
          <a:p>
            <a:pPr lvl="0"/>
            <a:r>
              <a:rPr lang="en-GB" sz="4000" dirty="0" smtClean="0"/>
              <a:t>Unlike </a:t>
            </a:r>
            <a:r>
              <a:rPr lang="en-GB" sz="4000" dirty="0" err="1"/>
              <a:t>labor</a:t>
            </a:r>
            <a:r>
              <a:rPr lang="en-GB" sz="4000" dirty="0"/>
              <a:t> law, </a:t>
            </a:r>
            <a:r>
              <a:rPr lang="en-GB" sz="4000" dirty="0" smtClean="0"/>
              <a:t> </a:t>
            </a:r>
            <a:r>
              <a:rPr lang="en-GB" sz="4000" dirty="0"/>
              <a:t>civil servant law is not the exclusive jurisdiction of federal government. </a:t>
            </a:r>
            <a:endParaRPr lang="en-GB" sz="4000" dirty="0" smtClean="0"/>
          </a:p>
          <a:p>
            <a:pPr lvl="0"/>
            <a:endParaRPr lang="en-GB" sz="4000" dirty="0"/>
          </a:p>
          <a:p>
            <a:pPr lvl="0"/>
            <a:r>
              <a:rPr lang="en-GB" sz="4000" dirty="0" smtClean="0"/>
              <a:t>Rather </a:t>
            </a:r>
            <a:r>
              <a:rPr lang="en-GB" sz="4000" dirty="0"/>
              <a:t>states may come up with their own civil servant law in accordance to Art 52 of the constitution</a:t>
            </a:r>
            <a:r>
              <a:rPr lang="en-GB" sz="4000" dirty="0" smtClean="0"/>
              <a:t>.</a:t>
            </a:r>
          </a:p>
          <a:p>
            <a:pPr lvl="0"/>
            <a:endParaRPr lang="en-GB" sz="4000" dirty="0"/>
          </a:p>
        </p:txBody>
      </p:sp>
    </p:spTree>
    <p:extLst>
      <p:ext uri="{BB962C8B-B14F-4D97-AF65-F5344CB8AC3E}">
        <p14:creationId xmlns:p14="http://schemas.microsoft.com/office/powerpoint/2010/main" val="29125220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555641"/>
          </a:xfrm>
          <a:prstGeom prst="rect">
            <a:avLst/>
          </a:prstGeom>
        </p:spPr>
        <p:txBody>
          <a:bodyPr wrap="square">
            <a:spAutoFit/>
          </a:bodyPr>
          <a:lstStyle/>
          <a:p>
            <a:r>
              <a:rPr lang="en-GB" sz="2800" b="1" dirty="0"/>
              <a:t>Objective of the law</a:t>
            </a:r>
            <a:endParaRPr lang="en-US" sz="2800" dirty="0"/>
          </a:p>
          <a:p>
            <a:pPr marL="457200" lvl="0" indent="-457200">
              <a:buFont typeface="Arial" pitchFamily="34" charset="0"/>
              <a:buChar char="•"/>
            </a:pPr>
            <a:r>
              <a:rPr lang="en-GB" sz="2800" dirty="0"/>
              <a:t>to strengthen the justice system so as to give civil servants better protection and </a:t>
            </a:r>
            <a:endParaRPr lang="en-US" sz="2800" dirty="0"/>
          </a:p>
          <a:p>
            <a:pPr marL="457200" lvl="0" indent="-457200">
              <a:buFont typeface="Arial" pitchFamily="34" charset="0"/>
              <a:buChar char="•"/>
            </a:pPr>
            <a:r>
              <a:rPr lang="en-GB" sz="2800" dirty="0"/>
              <a:t>To incorporate in a new law the changes occurring as a result of the implementation of the. human resource management sub-program of the civil service reform </a:t>
            </a:r>
            <a:r>
              <a:rPr lang="en-GB" sz="2800" dirty="0" smtClean="0"/>
              <a:t>program;</a:t>
            </a:r>
            <a:endParaRPr lang="en-US" sz="2800" dirty="0" smtClean="0"/>
          </a:p>
          <a:p>
            <a:pPr marL="457200" lvl="0" indent="-457200">
              <a:buFont typeface="Arial" pitchFamily="34" charset="0"/>
              <a:buChar char="•"/>
            </a:pPr>
            <a:r>
              <a:rPr lang="en-GB" sz="2800" dirty="0" smtClean="0"/>
              <a:t>to </a:t>
            </a:r>
            <a:r>
              <a:rPr lang="en-GB" sz="2800" dirty="0"/>
              <a:t>address The problems   identified during the implementation of proclamation   No. 262/2002 and give the later sufficient clarity;</a:t>
            </a:r>
            <a:endParaRPr lang="en-US" sz="2800" dirty="0"/>
          </a:p>
          <a:p>
            <a:r>
              <a:rPr lang="en-GB" sz="2800" b="1" dirty="0"/>
              <a:t>Scope of Application:-</a:t>
            </a:r>
            <a:endParaRPr lang="en-US" sz="2800" dirty="0"/>
          </a:p>
          <a:p>
            <a:pPr marL="457200" lvl="0" indent="-457200">
              <a:buFont typeface="Arial" pitchFamily="34" charset="0"/>
              <a:buChar char="•"/>
            </a:pPr>
            <a:r>
              <a:rPr lang="en-GB" sz="2800" dirty="0"/>
              <a:t>This proclamation shall be applicable on "government institutions” Art 2(3) and ‘’civil servants" Art 2(1</a:t>
            </a:r>
            <a:r>
              <a:rPr lang="en-GB" sz="2800" dirty="0" smtClean="0"/>
              <a:t>).</a:t>
            </a:r>
            <a:endParaRPr lang="en-US" sz="2800" dirty="0" smtClean="0"/>
          </a:p>
          <a:p>
            <a:pPr marL="457200" lvl="0" indent="-457200">
              <a:buFont typeface="Arial" pitchFamily="34" charset="0"/>
              <a:buChar char="•"/>
            </a:pPr>
            <a:r>
              <a:rPr lang="en-GB" sz="2800" dirty="0" smtClean="0"/>
              <a:t>Art </a:t>
            </a:r>
            <a:r>
              <a:rPr lang="en-GB" sz="2800" dirty="0"/>
              <a:t>2(10(a)-(d) is all about exclusion</a:t>
            </a:r>
            <a:endParaRPr lang="en-US" sz="2800" dirty="0"/>
          </a:p>
        </p:txBody>
      </p:sp>
    </p:spTree>
    <p:extLst>
      <p:ext uri="{BB962C8B-B14F-4D97-AF65-F5344CB8AC3E}">
        <p14:creationId xmlns:p14="http://schemas.microsoft.com/office/powerpoint/2010/main" val="77093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anim calcmode="lin" valueType="num">
                                      <p:cBhvr additive="base">
                                        <p:cTn id="11"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 calcmode="lin" valueType="num">
                                      <p:cBhvr additive="base">
                                        <p:cTn id="1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wipe(down)">
                                      <p:cBhvr>
                                        <p:cTn id="21" dur="500"/>
                                        <p:tgtEl>
                                          <p:spTgt spid="2">
                                            <p:txEl>
                                              <p:pRg st="5" end="5"/>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2">
                                            <p:txEl>
                                              <p:pRg st="6" end="6"/>
                                            </p:txEl>
                                          </p:spTgt>
                                        </p:tgtEl>
                                        <p:attrNameLst>
                                          <p:attrName>style.visibility</p:attrName>
                                        </p:attrNameLst>
                                      </p:cBhvr>
                                      <p:to>
                                        <p:strVal val="visible"/>
                                      </p:to>
                                    </p:set>
                                    <p:animEffect transition="in" filter="wipe(down)">
                                      <p:cBhvr>
                                        <p:cTn id="24"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200" y="76201"/>
            <a:ext cx="9067800" cy="5878532"/>
          </a:xfrm>
          <a:prstGeom prst="rect">
            <a:avLst/>
          </a:prstGeom>
        </p:spPr>
        <p:txBody>
          <a:bodyPr wrap="square">
            <a:spAutoFit/>
          </a:bodyPr>
          <a:lstStyle/>
          <a:p>
            <a:r>
              <a:rPr lang="en-GB" sz="3600" b="1" dirty="0"/>
              <a:t>Recruitment</a:t>
            </a:r>
            <a:endParaRPr lang="en-US" sz="3200" dirty="0"/>
          </a:p>
          <a:p>
            <a:pPr lvl="0"/>
            <a:r>
              <a:rPr lang="en-GB" sz="2400" dirty="0"/>
              <a:t>Art 12(3):- Vacancies may be filled through recruitment, promotion, transfer or deployment on the basis of the human resource plan.</a:t>
            </a:r>
            <a:endParaRPr lang="en-US" sz="2000" dirty="0"/>
          </a:p>
          <a:p>
            <a:pPr lvl="0"/>
            <a:r>
              <a:rPr lang="en-GB" sz="2400" dirty="0"/>
              <a:t>Art 13</a:t>
            </a:r>
            <a:endParaRPr lang="en-US" sz="2000" dirty="0"/>
          </a:p>
          <a:p>
            <a:pPr lvl="1"/>
            <a:r>
              <a:rPr lang="en-GB" sz="2400" dirty="0"/>
              <a:t>The principle of post contractual non-discrimination</a:t>
            </a:r>
            <a:endParaRPr lang="en-US" sz="2000" dirty="0"/>
          </a:p>
          <a:p>
            <a:pPr lvl="1"/>
            <a:r>
              <a:rPr lang="en-GB" sz="2400" dirty="0"/>
              <a:t>Competency as a requirement</a:t>
            </a:r>
            <a:endParaRPr lang="en-US" sz="2000" dirty="0"/>
          </a:p>
          <a:p>
            <a:pPr lvl="1"/>
            <a:r>
              <a:rPr lang="en-GB" sz="2400" dirty="0"/>
              <a:t>Affirmative action</a:t>
            </a:r>
            <a:endParaRPr lang="en-US" sz="2000" dirty="0"/>
          </a:p>
          <a:p>
            <a:pPr lvl="0"/>
            <a:r>
              <a:rPr lang="en-GB" sz="2800" b="1" dirty="0"/>
              <a:t>Eligibility to be a civil servants:- </a:t>
            </a:r>
            <a:endParaRPr lang="en-US" sz="2400" dirty="0"/>
          </a:p>
          <a:p>
            <a:pPr lvl="1"/>
            <a:r>
              <a:rPr lang="en-GB" sz="2400" b="1" dirty="0"/>
              <a:t>Article 14</a:t>
            </a:r>
            <a:endParaRPr lang="en-US" sz="2000" dirty="0"/>
          </a:p>
          <a:p>
            <a:pPr lvl="1"/>
            <a:r>
              <a:rPr lang="en-GB" sz="2400" b="1" dirty="0"/>
              <a:t>Article 15</a:t>
            </a:r>
            <a:endParaRPr lang="en-US" sz="2000" dirty="0"/>
          </a:p>
          <a:p>
            <a:pPr lvl="1"/>
            <a:r>
              <a:rPr lang="en-GB" sz="2400" b="1" dirty="0"/>
              <a:t>Art 16 and 17</a:t>
            </a:r>
            <a:r>
              <a:rPr lang="en-GB" sz="2400" dirty="0"/>
              <a:t>:- medical certificate, examination and police record</a:t>
            </a:r>
            <a:endParaRPr lang="en-US" sz="2000" dirty="0"/>
          </a:p>
          <a:p>
            <a:pPr lvl="1"/>
            <a:r>
              <a:rPr lang="en-GB" sz="2400" b="1" dirty="0"/>
              <a:t>Oath of fidelity</a:t>
            </a:r>
            <a:endParaRPr lang="en-US" sz="2000" dirty="0"/>
          </a:p>
          <a:p>
            <a:pPr lvl="0"/>
            <a:r>
              <a:rPr lang="en-GB" sz="2400" b="1" dirty="0"/>
              <a:t>Vacancy announcement Art 16</a:t>
            </a:r>
            <a:endParaRPr lang="en-US" sz="2000" dirty="0"/>
          </a:p>
        </p:txBody>
      </p:sp>
    </p:spTree>
    <p:extLst>
      <p:ext uri="{BB962C8B-B14F-4D97-AF65-F5344CB8AC3E}">
        <p14:creationId xmlns:p14="http://schemas.microsoft.com/office/powerpoint/2010/main" val="1551055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animEffect transition="in" filter="fade">
                                      <p:cBhvr>
                                        <p:cTn id="7" dur="1000"/>
                                        <p:tgtEl>
                                          <p:spTgt spid="2">
                                            <p:txEl>
                                              <p:pRg st="7" end="7"/>
                                            </p:txEl>
                                          </p:spTgt>
                                        </p:tgtEl>
                                      </p:cBhvr>
                                    </p:animEffect>
                                    <p:anim calcmode="lin" valueType="num">
                                      <p:cBhvr>
                                        <p:cTn id="8"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7" end="7"/>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8" end="8"/>
                                            </p:txEl>
                                          </p:spTgt>
                                        </p:tgtEl>
                                        <p:attrNameLst>
                                          <p:attrName>style.visibility</p:attrName>
                                        </p:attrNameLst>
                                      </p:cBhvr>
                                      <p:to>
                                        <p:strVal val="visible"/>
                                      </p:to>
                                    </p:set>
                                    <p:animEffect transition="in" filter="fade">
                                      <p:cBhvr>
                                        <p:cTn id="12" dur="1000"/>
                                        <p:tgtEl>
                                          <p:spTgt spid="2">
                                            <p:txEl>
                                              <p:pRg st="8" end="8"/>
                                            </p:txEl>
                                          </p:spTgt>
                                        </p:tgtEl>
                                      </p:cBhvr>
                                    </p:animEffect>
                                    <p:anim calcmode="lin" valueType="num">
                                      <p:cBhvr>
                                        <p:cTn id="13"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8" end="8"/>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animEffect transition="in" filter="fade">
                                      <p:cBhvr>
                                        <p:cTn id="17" dur="1000"/>
                                        <p:tgtEl>
                                          <p:spTgt spid="2">
                                            <p:txEl>
                                              <p:pRg st="9" end="9"/>
                                            </p:txEl>
                                          </p:spTgt>
                                        </p:tgtEl>
                                      </p:cBhvr>
                                    </p:animEffect>
                                    <p:anim calcmode="lin" valueType="num">
                                      <p:cBhvr>
                                        <p:cTn id="1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9" end="9"/>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10" end="10"/>
                                            </p:txEl>
                                          </p:spTgt>
                                        </p:tgtEl>
                                        <p:attrNameLst>
                                          <p:attrName>style.visibility</p:attrName>
                                        </p:attrNameLst>
                                      </p:cBhvr>
                                      <p:to>
                                        <p:strVal val="visible"/>
                                      </p:to>
                                    </p:set>
                                    <p:animEffect transition="in" filter="fade">
                                      <p:cBhvr>
                                        <p:cTn id="22" dur="1000"/>
                                        <p:tgtEl>
                                          <p:spTgt spid="2">
                                            <p:txEl>
                                              <p:pRg st="10" end="10"/>
                                            </p:txEl>
                                          </p:spTgt>
                                        </p:tgtEl>
                                      </p:cBhvr>
                                    </p:animEffect>
                                    <p:anim calcmode="lin" valueType="num">
                                      <p:cBhvr>
                                        <p:cTn id="23"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10" end="10"/>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animEffect transition="in" filter="fade">
                                      <p:cBhvr>
                                        <p:cTn id="27" dur="1000"/>
                                        <p:tgtEl>
                                          <p:spTgt spid="2">
                                            <p:txEl>
                                              <p:pRg st="11" end="11"/>
                                            </p:txEl>
                                          </p:spTgt>
                                        </p:tgtEl>
                                      </p:cBhvr>
                                    </p:animEffect>
                                    <p:anim calcmode="lin" valueType="num">
                                      <p:cBhvr>
                                        <p:cTn id="28"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29"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2">
                                            <p:txEl>
                                              <p:pRg st="1" end="1"/>
                                            </p:txEl>
                                          </p:spTgt>
                                        </p:tgtEl>
                                        <p:attrNameLst>
                                          <p:attrName>style.visibility</p:attrName>
                                        </p:attrNameLst>
                                      </p:cBhvr>
                                      <p:to>
                                        <p:strVal val="visible"/>
                                      </p:to>
                                    </p:set>
                                    <p:animEffect transition="in" filter="fade">
                                      <p:cBhvr>
                                        <p:cTn id="34" dur="1000"/>
                                        <p:tgtEl>
                                          <p:spTgt spid="2">
                                            <p:txEl>
                                              <p:pRg st="1" end="1"/>
                                            </p:txEl>
                                          </p:spTgt>
                                        </p:tgtEl>
                                      </p:cBhvr>
                                    </p:animEffect>
                                    <p:anim calcmode="lin" valueType="num">
                                      <p:cBhvr>
                                        <p:cTn id="3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1" end="1"/>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
                                            <p:txEl>
                                              <p:pRg st="2" end="2"/>
                                            </p:txEl>
                                          </p:spTgt>
                                        </p:tgtEl>
                                        <p:attrNameLst>
                                          <p:attrName>style.visibility</p:attrName>
                                        </p:attrNameLst>
                                      </p:cBhvr>
                                      <p:to>
                                        <p:strVal val="visible"/>
                                      </p:to>
                                    </p:set>
                                    <p:animEffect transition="in" filter="fade">
                                      <p:cBhvr>
                                        <p:cTn id="39" dur="1000"/>
                                        <p:tgtEl>
                                          <p:spTgt spid="2">
                                            <p:txEl>
                                              <p:pRg st="2" end="2"/>
                                            </p:txEl>
                                          </p:spTgt>
                                        </p:tgtEl>
                                      </p:cBhvr>
                                    </p:animEffect>
                                    <p:anim calcmode="lin" valueType="num">
                                      <p:cBhvr>
                                        <p:cTn id="40"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2" end="2"/>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
                                            <p:txEl>
                                              <p:pRg st="3" end="3"/>
                                            </p:txEl>
                                          </p:spTgt>
                                        </p:tgtEl>
                                        <p:attrNameLst>
                                          <p:attrName>style.visibility</p:attrName>
                                        </p:attrNameLst>
                                      </p:cBhvr>
                                      <p:to>
                                        <p:strVal val="visible"/>
                                      </p:to>
                                    </p:set>
                                    <p:animEffect transition="in" filter="fade">
                                      <p:cBhvr>
                                        <p:cTn id="44" dur="1000"/>
                                        <p:tgtEl>
                                          <p:spTgt spid="2">
                                            <p:txEl>
                                              <p:pRg st="3" end="3"/>
                                            </p:txEl>
                                          </p:spTgt>
                                        </p:tgtEl>
                                      </p:cBhvr>
                                    </p:animEffect>
                                    <p:anim calcmode="lin" valueType="num">
                                      <p:cBhvr>
                                        <p:cTn id="4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46" dur="1000" fill="hold"/>
                                        <p:tgtEl>
                                          <p:spTgt spid="2">
                                            <p:txEl>
                                              <p:pRg st="3" end="3"/>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
                                            <p:txEl>
                                              <p:pRg st="4" end="4"/>
                                            </p:txEl>
                                          </p:spTgt>
                                        </p:tgtEl>
                                        <p:attrNameLst>
                                          <p:attrName>style.visibility</p:attrName>
                                        </p:attrNameLst>
                                      </p:cBhvr>
                                      <p:to>
                                        <p:strVal val="visible"/>
                                      </p:to>
                                    </p:set>
                                    <p:animEffect transition="in" filter="fade">
                                      <p:cBhvr>
                                        <p:cTn id="49" dur="1000"/>
                                        <p:tgtEl>
                                          <p:spTgt spid="2">
                                            <p:txEl>
                                              <p:pRg st="4" end="4"/>
                                            </p:txEl>
                                          </p:spTgt>
                                        </p:tgtEl>
                                      </p:cBhvr>
                                    </p:animEffect>
                                    <p:anim calcmode="lin" valueType="num">
                                      <p:cBhvr>
                                        <p:cTn id="5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4" end="4"/>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
                                            <p:txEl>
                                              <p:pRg st="5" end="5"/>
                                            </p:txEl>
                                          </p:spTgt>
                                        </p:tgtEl>
                                        <p:attrNameLst>
                                          <p:attrName>style.visibility</p:attrName>
                                        </p:attrNameLst>
                                      </p:cBhvr>
                                      <p:to>
                                        <p:strVal val="visible"/>
                                      </p:to>
                                    </p:set>
                                    <p:animEffect transition="in" filter="fade">
                                      <p:cBhvr>
                                        <p:cTn id="54" dur="1000"/>
                                        <p:tgtEl>
                                          <p:spTgt spid="2">
                                            <p:txEl>
                                              <p:pRg st="5" end="5"/>
                                            </p:txEl>
                                          </p:spTgt>
                                        </p:tgtEl>
                                      </p:cBhvr>
                                    </p:animEffect>
                                    <p:anim calcmode="lin" valueType="num">
                                      <p:cBhvr>
                                        <p:cTn id="55"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6"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394" y="0"/>
            <a:ext cx="9107606" cy="6247864"/>
          </a:xfrm>
          <a:prstGeom prst="rect">
            <a:avLst/>
          </a:prstGeom>
        </p:spPr>
        <p:txBody>
          <a:bodyPr wrap="square">
            <a:spAutoFit/>
          </a:bodyPr>
          <a:lstStyle/>
          <a:p>
            <a:r>
              <a:rPr lang="en-GB" sz="2400" b="1" dirty="0"/>
              <a:t>Probation:</a:t>
            </a:r>
            <a:endParaRPr lang="en-US" sz="2400" dirty="0"/>
          </a:p>
          <a:p>
            <a:pPr lvl="0"/>
            <a:r>
              <a:rPr lang="en-GB" sz="3200" b="1" dirty="0"/>
              <a:t>Is mandatory</a:t>
            </a:r>
            <a:endParaRPr lang="en-US" sz="3200" dirty="0"/>
          </a:p>
          <a:p>
            <a:pPr lvl="0"/>
            <a:r>
              <a:rPr lang="en-GB" sz="2400" dirty="0" smtClean="0"/>
              <a:t>	Duration</a:t>
            </a:r>
            <a:r>
              <a:rPr lang="en-GB" sz="2400" dirty="0"/>
              <a:t>:- 6-9 months</a:t>
            </a:r>
            <a:endParaRPr lang="en-US" sz="2400" dirty="0"/>
          </a:p>
          <a:p>
            <a:pPr lvl="0"/>
            <a:r>
              <a:rPr lang="en-GB" sz="2400" dirty="0" smtClean="0"/>
              <a:t>	Purpose</a:t>
            </a:r>
            <a:r>
              <a:rPr lang="en-GB" sz="2400" dirty="0"/>
              <a:t>: - to prove the competence of a newly appointed civil servant through </a:t>
            </a:r>
            <a:r>
              <a:rPr lang="en-GB" sz="2400" dirty="0" smtClean="0"/>
              <a:t>	follow-up </a:t>
            </a:r>
            <a:r>
              <a:rPr lang="en-GB" sz="2400" dirty="0"/>
              <a:t>of his performance.</a:t>
            </a:r>
            <a:endParaRPr lang="en-US" sz="2400" dirty="0"/>
          </a:p>
          <a:p>
            <a:pPr lvl="0"/>
            <a:r>
              <a:rPr lang="en-GB" sz="2400" dirty="0" smtClean="0"/>
              <a:t>	The </a:t>
            </a:r>
            <a:r>
              <a:rPr lang="en-GB" sz="2400" dirty="0"/>
              <a:t>Service will be terminated if the probationary civil servant is found to be </a:t>
            </a:r>
            <a:r>
              <a:rPr lang="en-GB" sz="2400" dirty="0" smtClean="0"/>
              <a:t>	incompetent</a:t>
            </a:r>
            <a:r>
              <a:rPr lang="en-GB" sz="2400" dirty="0"/>
              <a:t>.</a:t>
            </a:r>
            <a:endParaRPr lang="en-US" sz="2400" dirty="0"/>
          </a:p>
          <a:p>
            <a:pPr lvl="0"/>
            <a:r>
              <a:rPr lang="en-GB" sz="2400" dirty="0" smtClean="0"/>
              <a:t>	Unless </a:t>
            </a:r>
            <a:r>
              <a:rPr lang="en-GB" sz="2400" dirty="0"/>
              <a:t>otherwise provided in this proclamation, a civil servant shall have </a:t>
            </a:r>
            <a:r>
              <a:rPr lang="en-GB" sz="2400" dirty="0" smtClean="0"/>
              <a:t>	during </a:t>
            </a:r>
            <a:r>
              <a:rPr lang="en-GB" sz="2400" dirty="0"/>
              <a:t>the probation period, the same right and obligations that a civil servant </a:t>
            </a:r>
            <a:r>
              <a:rPr lang="en-GB" sz="2400" dirty="0" smtClean="0"/>
              <a:t>	who </a:t>
            </a:r>
            <a:r>
              <a:rPr lang="en-GB" sz="2400" dirty="0"/>
              <a:t>has completed his probation.</a:t>
            </a:r>
            <a:endParaRPr lang="en-US" sz="2400" dirty="0"/>
          </a:p>
          <a:p>
            <a:r>
              <a:rPr lang="en-GB" sz="3200" b="1" dirty="0"/>
              <a:t>Permanent Appointment</a:t>
            </a:r>
            <a:endParaRPr lang="en-US" sz="3200" dirty="0"/>
          </a:p>
          <a:p>
            <a:pPr lvl="1"/>
            <a:r>
              <a:rPr lang="en-GB" sz="2400" b="1" dirty="0"/>
              <a:t>Art. 21</a:t>
            </a:r>
            <a:endParaRPr lang="en-US" sz="2400" dirty="0"/>
          </a:p>
          <a:p>
            <a:pPr lvl="1"/>
            <a:r>
              <a:rPr lang="en-GB" sz="2400" b="1" dirty="0"/>
              <a:t>There are circumstances by which the government institutions may hire an employee for the </a:t>
            </a:r>
            <a:r>
              <a:rPr lang="en-GB" sz="2400" b="1" dirty="0" smtClean="0"/>
              <a:t>temporary period </a:t>
            </a:r>
            <a:r>
              <a:rPr lang="en-GB" sz="2400" b="1" dirty="0"/>
              <a:t>Art 24</a:t>
            </a:r>
            <a:endParaRPr lang="en-US" sz="2400" dirty="0"/>
          </a:p>
        </p:txBody>
      </p:sp>
    </p:spTree>
    <p:extLst>
      <p:ext uri="{BB962C8B-B14F-4D97-AF65-F5344CB8AC3E}">
        <p14:creationId xmlns:p14="http://schemas.microsoft.com/office/powerpoint/2010/main" val="2395147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0"/>
            <a:ext cx="8991600" cy="4524315"/>
          </a:xfrm>
          <a:prstGeom prst="rect">
            <a:avLst/>
          </a:prstGeom>
        </p:spPr>
        <p:txBody>
          <a:bodyPr wrap="square">
            <a:spAutoFit/>
          </a:bodyPr>
          <a:lstStyle/>
          <a:p>
            <a:r>
              <a:rPr lang="en-GB" sz="3600" dirty="0"/>
              <a:t>Benefits:</a:t>
            </a:r>
            <a:endParaRPr lang="en-US" sz="3600" dirty="0"/>
          </a:p>
          <a:p>
            <a:pPr lvl="1"/>
            <a:r>
              <a:rPr lang="en-GB" sz="3600" b="1" dirty="0"/>
              <a:t>Promotion: Art 23-25</a:t>
            </a:r>
            <a:endParaRPr lang="en-US" sz="3600" dirty="0"/>
          </a:p>
          <a:p>
            <a:pPr lvl="1"/>
            <a:r>
              <a:rPr lang="en-GB" sz="3600" b="1" dirty="0"/>
              <a:t>Transfer  Art 26</a:t>
            </a:r>
            <a:endParaRPr lang="en-US" sz="3600" dirty="0"/>
          </a:p>
          <a:p>
            <a:pPr lvl="1"/>
            <a:r>
              <a:rPr lang="en-GB" sz="3600" b="1" dirty="0"/>
              <a:t>Redeployment: Art 30 It is when the employer institution is dissolved or the post held by the employee is cancelled.</a:t>
            </a:r>
            <a:endParaRPr lang="en-US" sz="3600" dirty="0"/>
          </a:p>
          <a:p>
            <a:pPr lvl="1"/>
            <a:r>
              <a:rPr lang="en-GB" sz="3600" b="1" dirty="0"/>
              <a:t>Medical Benefits Art </a:t>
            </a:r>
            <a:r>
              <a:rPr lang="en-GB" sz="3600" b="1" dirty="0" smtClean="0"/>
              <a:t>46</a:t>
            </a:r>
          </a:p>
          <a:p>
            <a:pPr lvl="1"/>
            <a:r>
              <a:rPr lang="en-GB" sz="3600" b="1" dirty="0" smtClean="0"/>
              <a:t>Training</a:t>
            </a:r>
            <a:endParaRPr lang="en-US" sz="3600" dirty="0"/>
          </a:p>
        </p:txBody>
      </p:sp>
    </p:spTree>
    <p:extLst>
      <p:ext uri="{BB962C8B-B14F-4D97-AF65-F5344CB8AC3E}">
        <p14:creationId xmlns:p14="http://schemas.microsoft.com/office/powerpoint/2010/main" val="29399148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296" y="152400"/>
            <a:ext cx="9144000" cy="6801862"/>
          </a:xfrm>
          <a:prstGeom prst="rect">
            <a:avLst/>
          </a:prstGeom>
        </p:spPr>
        <p:txBody>
          <a:bodyPr wrap="square">
            <a:spAutoFit/>
          </a:bodyPr>
          <a:lstStyle/>
          <a:p>
            <a:r>
              <a:rPr lang="en-US" sz="2800" b="1" dirty="0"/>
              <a:t>Termination of employment relations</a:t>
            </a:r>
            <a:endParaRPr lang="en-US" sz="1400" b="1" dirty="0"/>
          </a:p>
          <a:p>
            <a:r>
              <a:rPr lang="en-US" sz="2400" b="1" dirty="0"/>
              <a:t>Grounds:</a:t>
            </a:r>
            <a:endParaRPr lang="en-US" sz="1200" dirty="0"/>
          </a:p>
          <a:p>
            <a:pPr lvl="0"/>
            <a:r>
              <a:rPr lang="en-US" sz="2400" b="1" dirty="0"/>
              <a:t> Resignation </a:t>
            </a:r>
            <a:endParaRPr lang="en-US" sz="2400" dirty="0"/>
          </a:p>
          <a:p>
            <a:pPr lvl="1"/>
            <a:r>
              <a:rPr lang="en-GB" sz="2400" dirty="0"/>
              <a:t> </a:t>
            </a:r>
            <a:r>
              <a:rPr lang="en-US" sz="2400" dirty="0"/>
              <a:t>by giving a one month prior notice, resign at any time </a:t>
            </a:r>
          </a:p>
          <a:p>
            <a:pPr lvl="0"/>
            <a:r>
              <a:rPr lang="en-US" sz="2400" b="1" dirty="0"/>
              <a:t> Termination Due to Illness</a:t>
            </a:r>
            <a:endParaRPr lang="en-US" sz="2400" dirty="0"/>
          </a:p>
          <a:p>
            <a:pPr lvl="1"/>
            <a:r>
              <a:rPr lang="en-US" sz="2400" dirty="0"/>
              <a:t>  Where a civil servant is unable to resume work with in the time specified under Article 42/2/ and /4/ of this Proclamation.</a:t>
            </a:r>
          </a:p>
          <a:p>
            <a:pPr lvl="0"/>
            <a:r>
              <a:rPr lang="en-US" sz="2400" b="1" dirty="0"/>
              <a:t>Termination on Grounds of Inefficiency </a:t>
            </a:r>
            <a:endParaRPr lang="en-US" sz="2400" dirty="0"/>
          </a:p>
          <a:p>
            <a:pPr lvl="1"/>
            <a:r>
              <a:rPr lang="en-US" sz="2400" dirty="0"/>
              <a:t>The service of a civil servant who has completed his probation period may be terminated due to inefficiency where his performance evaluation result is below satisfactory for two successive evaluation periods despite exerting all his knowledge and ability to accomplish his work.</a:t>
            </a:r>
          </a:p>
          <a:p>
            <a:pPr lvl="0"/>
            <a:r>
              <a:rPr lang="en-US" sz="2400" b="1" dirty="0"/>
              <a:t>   Termination due to Force Majeure Situations</a:t>
            </a:r>
            <a:endParaRPr lang="en-US" sz="2400" dirty="0"/>
          </a:p>
          <a:p>
            <a:pPr lvl="1"/>
            <a:r>
              <a:rPr lang="en-GB" sz="2400" dirty="0"/>
              <a:t> </a:t>
            </a:r>
            <a:r>
              <a:rPr lang="en-US" sz="2400" dirty="0"/>
              <a:t> A civil servant who has completed probation and is absent from work due to force majeure, shall inform the situation within one month to the respective government institution. </a:t>
            </a:r>
          </a:p>
        </p:txBody>
      </p:sp>
    </p:spTree>
    <p:extLst>
      <p:ext uri="{BB962C8B-B14F-4D97-AF65-F5344CB8AC3E}">
        <p14:creationId xmlns:p14="http://schemas.microsoft.com/office/powerpoint/2010/main" val="85776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anim calcmode="lin" valueType="num">
                                      <p:cBhvr additive="base">
                                        <p:cTn id="11"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 calcmode="lin" valueType="num">
                                      <p:cBhvr additive="base">
                                        <p:cTn id="1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 calcmode="lin" valueType="num">
                                      <p:cBhvr additive="base">
                                        <p:cTn id="2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wipe(down)">
                                      <p:cBhvr>
                                        <p:cTn id="27" dur="500"/>
                                        <p:tgtEl>
                                          <p:spTgt spid="2">
                                            <p:txEl>
                                              <p:pRg st="6" end="6"/>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2">
                                            <p:txEl>
                                              <p:pRg st="7" end="7"/>
                                            </p:txEl>
                                          </p:spTgt>
                                        </p:tgtEl>
                                        <p:attrNameLst>
                                          <p:attrName>style.visibility</p:attrName>
                                        </p:attrNameLst>
                                      </p:cBhvr>
                                      <p:to>
                                        <p:strVal val="visible"/>
                                      </p:to>
                                    </p:set>
                                    <p:animEffect transition="in" filter="wipe(down)">
                                      <p:cBhvr>
                                        <p:cTn id="30" dur="500"/>
                                        <p:tgtEl>
                                          <p:spTgt spid="2">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anim calcmode="lin" valueType="num">
                                      <p:cBhvr additive="base">
                                        <p:cTn id="3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anim calcmode="lin" valueType="num">
                                      <p:cBhvr additive="base">
                                        <p:cTn id="39" dur="500" fill="hold"/>
                                        <p:tgtEl>
                                          <p:spTgt spid="2">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4365"/>
            <a:ext cx="9144000" cy="6986528"/>
          </a:xfrm>
          <a:prstGeom prst="rect">
            <a:avLst/>
          </a:prstGeom>
        </p:spPr>
        <p:txBody>
          <a:bodyPr wrap="square">
            <a:spAutoFit/>
          </a:bodyPr>
          <a:lstStyle/>
          <a:p>
            <a:r>
              <a:rPr lang="en-US" sz="2800" b="1" dirty="0" smtClean="0"/>
              <a:t>•	Retirement </a:t>
            </a:r>
          </a:p>
          <a:p>
            <a:pPr lvl="3"/>
            <a:r>
              <a:rPr lang="en-US" sz="2800" dirty="0" smtClean="0"/>
              <a:t>•	 The service of a civil servant, whose service is not extended beyond retirement age pursuant to article 89, shall be terminated on the last date of the last month in which he attained the retirement age determined by law. </a:t>
            </a:r>
          </a:p>
          <a:p>
            <a:r>
              <a:rPr lang="en-US" sz="2800" b="1" dirty="0" smtClean="0"/>
              <a:t>•	 Termination on the Ground of Death </a:t>
            </a:r>
          </a:p>
          <a:p>
            <a:pPr lvl="3"/>
            <a:r>
              <a:rPr lang="en-US" sz="2800" dirty="0" smtClean="0"/>
              <a:t>•	 The service of a civil servant shall be terminated on the day of his death.  </a:t>
            </a:r>
          </a:p>
          <a:p>
            <a:r>
              <a:rPr lang="en-US" sz="2800" b="1" dirty="0" smtClean="0"/>
              <a:t>•	Absence</a:t>
            </a:r>
          </a:p>
          <a:p>
            <a:r>
              <a:rPr lang="en-US" sz="2800" dirty="0" smtClean="0"/>
              <a:t>•	 Nullification of Appointment </a:t>
            </a:r>
          </a:p>
          <a:p>
            <a:r>
              <a:rPr lang="en-US" sz="2800" dirty="0" smtClean="0"/>
              <a:t>•	Retrenchment</a:t>
            </a:r>
          </a:p>
          <a:p>
            <a:pPr lvl="3"/>
            <a:r>
              <a:rPr lang="en-US" sz="2800" dirty="0" smtClean="0"/>
              <a:t>•	  Any civil servant shall be retrenched where: a) his position is abolished; b) the government office is closed; or c) redundancy of man power is created;</a:t>
            </a:r>
            <a:endParaRPr lang="en-US" sz="2800" dirty="0"/>
          </a:p>
        </p:txBody>
      </p:sp>
    </p:spTree>
    <p:extLst>
      <p:ext uri="{BB962C8B-B14F-4D97-AF65-F5344CB8AC3E}">
        <p14:creationId xmlns:p14="http://schemas.microsoft.com/office/powerpoint/2010/main" val="6579752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81424"/>
            <a:ext cx="9144000" cy="3416320"/>
          </a:xfrm>
          <a:prstGeom prst="rect">
            <a:avLst/>
          </a:prstGeom>
        </p:spPr>
        <p:txBody>
          <a:bodyPr wrap="square">
            <a:spAutoFit/>
          </a:bodyPr>
          <a:lstStyle/>
          <a:p>
            <a:r>
              <a:rPr lang="en-US" b="1" dirty="0" smtClean="0"/>
              <a:t>Termination of Service due to Disciplinary Grounds:</a:t>
            </a:r>
          </a:p>
          <a:p>
            <a:r>
              <a:rPr lang="en-US" dirty="0" smtClean="0"/>
              <a:t>•	The service of a civil servant shall be terminated where: a) a disciplinary penalty under Sub-Article 1/f/ of Article 67 of this Proclamation is imposed on him; and </a:t>
            </a:r>
          </a:p>
          <a:p>
            <a:r>
              <a:rPr lang="en-US" dirty="0" smtClean="0"/>
              <a:t>•	The penalty is not revoked on appeal made under Article 76 of this Proclamation. Where the penalty is mitigated or revoked on appeal the civil servant shall be entitled without interest, the payment of his unpaid salary withheld during the appeal.</a:t>
            </a:r>
          </a:p>
          <a:p>
            <a:endParaRPr lang="en-US" dirty="0" smtClean="0"/>
          </a:p>
          <a:p>
            <a:r>
              <a:rPr lang="en-US" b="1" dirty="0" smtClean="0"/>
              <a:t>Effects of Termination </a:t>
            </a:r>
          </a:p>
          <a:p>
            <a:r>
              <a:rPr lang="en-US" dirty="0" smtClean="0"/>
              <a:t>•	Certificate of Service Where the service of a civil servant on service is terminated for any reason or where he so requests, he shall be provided with a certificate of service indicating the type and duration of service as well as his salary, </a:t>
            </a:r>
          </a:p>
          <a:p>
            <a:r>
              <a:rPr lang="en-US" dirty="0" smtClean="0"/>
              <a:t>•	Severance Pay</a:t>
            </a:r>
          </a:p>
        </p:txBody>
      </p:sp>
    </p:spTree>
    <p:extLst>
      <p:ext uri="{BB962C8B-B14F-4D97-AF65-F5344CB8AC3E}">
        <p14:creationId xmlns:p14="http://schemas.microsoft.com/office/powerpoint/2010/main" val="51195859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458200" cy="6309420"/>
          </a:xfrm>
          <a:prstGeom prst="rect">
            <a:avLst/>
          </a:prstGeom>
        </p:spPr>
        <p:txBody>
          <a:bodyPr wrap="square">
            <a:spAutoFit/>
          </a:bodyPr>
          <a:lstStyle/>
          <a:p>
            <a:r>
              <a:rPr lang="en-GB" sz="2400" b="1" dirty="0"/>
              <a:t>Minimum Working Conditions </a:t>
            </a:r>
            <a:endParaRPr lang="en-US" sz="2000" dirty="0"/>
          </a:p>
          <a:p>
            <a:pPr lvl="0"/>
            <a:r>
              <a:rPr lang="en-GB" sz="2400" dirty="0" smtClean="0"/>
              <a:t>1.Salary  </a:t>
            </a:r>
            <a:r>
              <a:rPr lang="en-GB" sz="2400" dirty="0"/>
              <a:t>Art 6- 10</a:t>
            </a:r>
            <a:endParaRPr lang="en-US" sz="2000" dirty="0"/>
          </a:p>
          <a:p>
            <a:pPr lvl="1"/>
            <a:r>
              <a:rPr lang="en-GB" sz="2400" dirty="0"/>
              <a:t>Salary scale</a:t>
            </a:r>
            <a:endParaRPr lang="en-US" sz="2000" dirty="0"/>
          </a:p>
          <a:p>
            <a:pPr lvl="1"/>
            <a:r>
              <a:rPr lang="en-GB" sz="2400" dirty="0"/>
              <a:t>Equal pay for equal work</a:t>
            </a:r>
            <a:endParaRPr lang="en-US" sz="2000" dirty="0"/>
          </a:p>
          <a:p>
            <a:pPr lvl="0"/>
            <a:r>
              <a:rPr lang="en-GB" sz="2400" dirty="0" smtClean="0"/>
              <a:t>2. Working </a:t>
            </a:r>
            <a:r>
              <a:rPr lang="en-GB" sz="2400" dirty="0"/>
              <a:t>hours</a:t>
            </a:r>
            <a:endParaRPr lang="en-US" sz="2000" dirty="0"/>
          </a:p>
          <a:p>
            <a:pPr lvl="1"/>
            <a:r>
              <a:rPr lang="en-GB" sz="2400" dirty="0"/>
              <a:t>Regular Working Hours Art 32 and 33</a:t>
            </a:r>
            <a:endParaRPr lang="en-US" sz="2000" dirty="0"/>
          </a:p>
          <a:p>
            <a:pPr lvl="1"/>
            <a:r>
              <a:rPr lang="en-GB" sz="2400" dirty="0"/>
              <a:t>Overtime work:  Art 34</a:t>
            </a:r>
            <a:endParaRPr lang="en-US" sz="2000" dirty="0"/>
          </a:p>
          <a:p>
            <a:pPr lvl="0"/>
            <a:r>
              <a:rPr lang="en-GB" sz="2400" dirty="0" smtClean="0"/>
              <a:t>3. Public </a:t>
            </a:r>
            <a:r>
              <a:rPr lang="en-GB" sz="2400" dirty="0"/>
              <a:t>holidays  and weekly rest days Art 35</a:t>
            </a:r>
            <a:endParaRPr lang="en-US" sz="2000" dirty="0"/>
          </a:p>
          <a:p>
            <a:pPr lvl="0"/>
            <a:r>
              <a:rPr lang="en-GB" sz="2400" dirty="0" smtClean="0"/>
              <a:t>4. Annual </a:t>
            </a:r>
            <a:r>
              <a:rPr lang="en-GB" sz="2400" dirty="0"/>
              <a:t>Leave</a:t>
            </a:r>
            <a:endParaRPr lang="en-US" sz="2000" dirty="0"/>
          </a:p>
          <a:p>
            <a:pPr lvl="0"/>
            <a:r>
              <a:rPr lang="en-GB" sz="2400" dirty="0"/>
              <a:t>Art 36</a:t>
            </a:r>
            <a:endParaRPr lang="en-US" sz="2000" dirty="0"/>
          </a:p>
          <a:p>
            <a:pPr lvl="0"/>
            <a:r>
              <a:rPr lang="en-GB" sz="2400" dirty="0" smtClean="0"/>
              <a:t>5. Serving </a:t>
            </a:r>
            <a:r>
              <a:rPr lang="en-GB" sz="2400" dirty="0"/>
              <a:t>for at least 12 months is a requirement</a:t>
            </a:r>
            <a:endParaRPr lang="en-US" sz="2000" dirty="0"/>
          </a:p>
          <a:p>
            <a:pPr lvl="0"/>
            <a:r>
              <a:rPr lang="en-GB" sz="2400" dirty="0"/>
              <a:t>20 days for the first year of service and 30 days for the maximum</a:t>
            </a:r>
            <a:endParaRPr lang="en-US" sz="2000" dirty="0"/>
          </a:p>
          <a:p>
            <a:pPr lvl="0"/>
            <a:r>
              <a:rPr lang="en-GB" sz="2400" dirty="0"/>
              <a:t>Maternity and Paternity leaves Art 41</a:t>
            </a:r>
            <a:endParaRPr lang="en-US" sz="2000" dirty="0"/>
          </a:p>
          <a:p>
            <a:pPr lvl="0"/>
            <a:r>
              <a:rPr lang="en-GB" sz="2400" dirty="0"/>
              <a:t>Extended protection is available for pregnant civil servants</a:t>
            </a:r>
            <a:endParaRPr lang="en-US" sz="2000" dirty="0"/>
          </a:p>
          <a:p>
            <a:pPr lvl="0"/>
            <a:r>
              <a:rPr lang="en-GB" sz="2400" dirty="0"/>
              <a:t>See for instance Art 41(3, 4, and 5)</a:t>
            </a:r>
            <a:endParaRPr lang="en-US" sz="2000" dirty="0"/>
          </a:p>
          <a:p>
            <a:pPr lvl="0"/>
            <a:r>
              <a:rPr lang="en-GB" sz="2400" dirty="0"/>
              <a:t>Art 41(6) paternity leave</a:t>
            </a:r>
            <a:endParaRPr lang="en-US" sz="2000" dirty="0"/>
          </a:p>
        </p:txBody>
      </p:sp>
    </p:spTree>
    <p:extLst>
      <p:ext uri="{BB962C8B-B14F-4D97-AF65-F5344CB8AC3E}">
        <p14:creationId xmlns:p14="http://schemas.microsoft.com/office/powerpoint/2010/main" val="285526120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632311"/>
          </a:xfrm>
          <a:prstGeom prst="rect">
            <a:avLst/>
          </a:prstGeom>
        </p:spPr>
        <p:txBody>
          <a:bodyPr wrap="square">
            <a:spAutoFit/>
          </a:bodyPr>
          <a:lstStyle/>
          <a:p>
            <a:pPr lvl="0"/>
            <a:r>
              <a:rPr lang="en-GB" sz="3600" dirty="0"/>
              <a:t>Occupational safety and health </a:t>
            </a:r>
            <a:endParaRPr lang="en-US" sz="3600" dirty="0"/>
          </a:p>
          <a:p>
            <a:r>
              <a:rPr lang="en-GB" sz="3600" dirty="0" smtClean="0"/>
              <a:t>	Precautionary </a:t>
            </a:r>
            <a:r>
              <a:rPr lang="en-GB" sz="3600" dirty="0"/>
              <a:t>measures</a:t>
            </a:r>
            <a:endParaRPr lang="en-US" sz="3600" dirty="0"/>
          </a:p>
          <a:p>
            <a:r>
              <a:rPr lang="en-GB" sz="3600" dirty="0"/>
              <a:t>	See Art 48</a:t>
            </a:r>
            <a:endParaRPr lang="en-US" sz="3600" dirty="0"/>
          </a:p>
          <a:p>
            <a:r>
              <a:rPr lang="en-GB" sz="3600" dirty="0" smtClean="0"/>
              <a:t>	Remedial </a:t>
            </a:r>
            <a:r>
              <a:rPr lang="en-GB" sz="3600" dirty="0"/>
              <a:t>measures</a:t>
            </a:r>
            <a:endParaRPr lang="en-US" sz="3600" dirty="0"/>
          </a:p>
          <a:p>
            <a:r>
              <a:rPr lang="en-GB" sz="3600" dirty="0"/>
              <a:t>Employment injury Art 47(2)</a:t>
            </a:r>
            <a:endParaRPr lang="en-US" sz="3600" dirty="0"/>
          </a:p>
          <a:p>
            <a:pPr lvl="0"/>
            <a:r>
              <a:rPr lang="en-GB" sz="3600" dirty="0"/>
              <a:t>Employment accident</a:t>
            </a:r>
            <a:endParaRPr lang="en-US" sz="3600" dirty="0"/>
          </a:p>
          <a:p>
            <a:pPr lvl="0"/>
            <a:r>
              <a:rPr lang="en-GB" sz="3600" dirty="0"/>
              <a:t>Occupational disease </a:t>
            </a:r>
            <a:endParaRPr lang="en-US" sz="3600" dirty="0"/>
          </a:p>
          <a:p>
            <a:r>
              <a:rPr lang="en-GB" sz="3600" b="1" dirty="0"/>
              <a:t>Level of disablement and their benefits</a:t>
            </a:r>
            <a:endParaRPr lang="en-US" sz="3600" dirty="0"/>
          </a:p>
          <a:p>
            <a:r>
              <a:rPr lang="en-GB" sz="3600" b="1" dirty="0"/>
              <a:t>Art 49 -54 </a:t>
            </a:r>
            <a:endParaRPr lang="en-US" sz="3600" dirty="0"/>
          </a:p>
          <a:p>
            <a:r>
              <a:rPr lang="en-GB" sz="3600" b="1" dirty="0"/>
              <a:t>Claims of compensation from third party</a:t>
            </a:r>
            <a:endParaRPr lang="en-US" sz="3600" dirty="0"/>
          </a:p>
        </p:txBody>
      </p:sp>
    </p:spTree>
    <p:extLst>
      <p:ext uri="{BB962C8B-B14F-4D97-AF65-F5344CB8AC3E}">
        <p14:creationId xmlns:p14="http://schemas.microsoft.com/office/powerpoint/2010/main" val="31393307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844" y="32983"/>
            <a:ext cx="9112155" cy="6186309"/>
          </a:xfrm>
          <a:prstGeom prst="rect">
            <a:avLst/>
          </a:prstGeom>
        </p:spPr>
        <p:txBody>
          <a:bodyPr wrap="square">
            <a:spAutoFit/>
          </a:bodyPr>
          <a:lstStyle/>
          <a:p>
            <a:r>
              <a:rPr lang="en-GB" sz="3600" b="1" dirty="0"/>
              <a:t>Disciplinary measures and </a:t>
            </a:r>
            <a:r>
              <a:rPr lang="en-GB" sz="3600" b="1" dirty="0" smtClean="0"/>
              <a:t>Grievance Procedures</a:t>
            </a:r>
            <a:endParaRPr lang="en-US" sz="3600" dirty="0"/>
          </a:p>
          <a:p>
            <a:r>
              <a:rPr lang="en-GB" sz="3600" b="1" dirty="0" smtClean="0"/>
              <a:t>Objectives </a:t>
            </a:r>
            <a:r>
              <a:rPr lang="en-GB" sz="3600" b="1" dirty="0"/>
              <a:t>of Disciplinary measures</a:t>
            </a:r>
            <a:endParaRPr lang="en-US" sz="3600" b="1" dirty="0"/>
          </a:p>
          <a:p>
            <a:pPr lvl="3"/>
            <a:r>
              <a:rPr lang="en-GB" sz="3600" dirty="0"/>
              <a:t>To rehabilitate</a:t>
            </a:r>
            <a:endParaRPr lang="en-US" sz="3600" dirty="0"/>
          </a:p>
          <a:p>
            <a:pPr lvl="3"/>
            <a:r>
              <a:rPr lang="en-GB" sz="3600" dirty="0"/>
              <a:t>To dismiss</a:t>
            </a:r>
            <a:endParaRPr lang="en-US" sz="3600" dirty="0"/>
          </a:p>
          <a:p>
            <a:r>
              <a:rPr lang="en-GB" sz="3600" b="1" dirty="0"/>
              <a:t>Rigorous Penalties</a:t>
            </a:r>
            <a:endParaRPr lang="en-US" sz="3600" dirty="0"/>
          </a:p>
          <a:p>
            <a:r>
              <a:rPr lang="en-GB" sz="3600" b="1" dirty="0"/>
              <a:t>Art 67(1) (d)-(f)   demotion, dismissal	</a:t>
            </a:r>
            <a:endParaRPr lang="en-US" sz="3600" dirty="0"/>
          </a:p>
          <a:p>
            <a:r>
              <a:rPr lang="en-GB" sz="3600" b="1" dirty="0"/>
              <a:t>Art 68: grounds for rigorous penalties</a:t>
            </a:r>
            <a:endParaRPr lang="en-US" sz="3600" dirty="0"/>
          </a:p>
          <a:p>
            <a:r>
              <a:rPr lang="en-GB" sz="3600" b="1" dirty="0"/>
              <a:t>Simple penalties</a:t>
            </a:r>
            <a:endParaRPr lang="en-US" sz="3600" dirty="0"/>
          </a:p>
          <a:p>
            <a:r>
              <a:rPr lang="en-GB" sz="3600" b="1" dirty="0"/>
              <a:t>Art 67(1) (a) - (c) oral and written warning, fine for one month salary</a:t>
            </a:r>
            <a:endParaRPr lang="en-US" sz="3600" dirty="0"/>
          </a:p>
        </p:txBody>
      </p:sp>
    </p:spTree>
    <p:extLst>
      <p:ext uri="{BB962C8B-B14F-4D97-AF65-F5344CB8AC3E}">
        <p14:creationId xmlns:p14="http://schemas.microsoft.com/office/powerpoint/2010/main" val="28237681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991600" cy="5509200"/>
          </a:xfrm>
          <a:prstGeom prst="rect">
            <a:avLst/>
          </a:prstGeom>
        </p:spPr>
        <p:txBody>
          <a:bodyPr wrap="square">
            <a:spAutoFit/>
          </a:bodyPr>
          <a:lstStyle/>
          <a:p>
            <a:r>
              <a:rPr lang="en-GB" sz="3200" b="1" dirty="0"/>
              <a:t>The power to take disciplinary measure 	Art 69</a:t>
            </a:r>
            <a:endParaRPr lang="en-US" sz="3200" dirty="0"/>
          </a:p>
          <a:p>
            <a:pPr lvl="0"/>
            <a:r>
              <a:rPr lang="en-GB" sz="3200" b="1" dirty="0" smtClean="0"/>
              <a:t>	Disciplinary </a:t>
            </a:r>
            <a:r>
              <a:rPr lang="en-GB" sz="3200" b="1" dirty="0"/>
              <a:t>committee </a:t>
            </a:r>
            <a:endParaRPr lang="en-US" sz="3200" dirty="0"/>
          </a:p>
          <a:p>
            <a:r>
              <a:rPr lang="en-GB" sz="3200" b="1" dirty="0" smtClean="0"/>
              <a:t>Suspension </a:t>
            </a:r>
            <a:r>
              <a:rPr lang="en-GB" sz="3200" b="1" dirty="0"/>
              <a:t>for investigation:- Art </a:t>
            </a:r>
            <a:r>
              <a:rPr lang="en-GB" sz="3200" b="1" dirty="0" smtClean="0"/>
              <a:t>70</a:t>
            </a:r>
          </a:p>
          <a:p>
            <a:endParaRPr lang="en-US" sz="3200" dirty="0"/>
          </a:p>
          <a:p>
            <a:r>
              <a:rPr lang="en-GB" sz="3200" b="1" dirty="0"/>
              <a:t>Period of limitation Art 71</a:t>
            </a:r>
            <a:endParaRPr lang="en-US" sz="3200" dirty="0"/>
          </a:p>
          <a:p>
            <a:pPr marL="914400" lvl="1" indent="-457200">
              <a:buFont typeface="Arial" pitchFamily="34" charset="0"/>
              <a:buChar char="•"/>
            </a:pPr>
            <a:r>
              <a:rPr lang="en-GB" sz="3200" b="1" dirty="0" smtClean="0"/>
              <a:t>Six </a:t>
            </a:r>
            <a:r>
              <a:rPr lang="en-GB" sz="3200" b="1" dirty="0"/>
              <a:t>months for offences entailing simple </a:t>
            </a:r>
            <a:r>
              <a:rPr lang="en-GB" sz="3200" b="1" dirty="0" smtClean="0"/>
              <a:t>penalty.</a:t>
            </a:r>
            <a:endParaRPr lang="en-US" sz="3200" dirty="0" smtClean="0"/>
          </a:p>
          <a:p>
            <a:pPr marL="914400" lvl="1" indent="-457200">
              <a:buFont typeface="Arial" pitchFamily="34" charset="0"/>
              <a:buChar char="•"/>
            </a:pPr>
            <a:r>
              <a:rPr lang="en-GB" sz="3200" b="1" dirty="0" smtClean="0"/>
              <a:t>For </a:t>
            </a:r>
            <a:r>
              <a:rPr lang="en-GB" sz="3200" b="1" dirty="0"/>
              <a:t>offences entailing rigorous penalty the criminal law shall be made </a:t>
            </a:r>
            <a:r>
              <a:rPr lang="en-GB" sz="3200" b="1" dirty="0" smtClean="0"/>
              <a:t>applicable.</a:t>
            </a:r>
            <a:endParaRPr lang="en-US" sz="3200" dirty="0" smtClean="0"/>
          </a:p>
          <a:p>
            <a:pPr marL="914400" lvl="1" indent="-457200">
              <a:buFont typeface="Arial" pitchFamily="34" charset="0"/>
              <a:buChar char="•"/>
            </a:pPr>
            <a:r>
              <a:rPr lang="en-GB" sz="3200" b="1" dirty="0" smtClean="0"/>
              <a:t>Six </a:t>
            </a:r>
            <a:r>
              <a:rPr lang="en-GB" sz="3200" b="1" dirty="0"/>
              <a:t>months for any kind of payment</a:t>
            </a:r>
            <a:endParaRPr lang="en-US" sz="3200" dirty="0"/>
          </a:p>
        </p:txBody>
      </p:sp>
    </p:spTree>
    <p:extLst>
      <p:ext uri="{BB962C8B-B14F-4D97-AF65-F5344CB8AC3E}">
        <p14:creationId xmlns:p14="http://schemas.microsoft.com/office/powerpoint/2010/main" val="174245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fade">
                                      <p:cBhvr>
                                        <p:cTn id="7" dur="1000"/>
                                        <p:tgtEl>
                                          <p:spTgt spid="2">
                                            <p:txEl>
                                              <p:pRg st="4" end="4"/>
                                            </p:txEl>
                                          </p:spTgt>
                                        </p:tgtEl>
                                      </p:cBhvr>
                                    </p:animEffect>
                                    <p:anim calcmode="lin" valueType="num">
                                      <p:cBhvr>
                                        <p:cTn id="8"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fade">
                                      <p:cBhvr>
                                        <p:cTn id="12" dur="1000"/>
                                        <p:tgtEl>
                                          <p:spTgt spid="2">
                                            <p:txEl>
                                              <p:pRg st="5" end="5"/>
                                            </p:txEl>
                                          </p:spTgt>
                                        </p:tgtEl>
                                      </p:cBhvr>
                                    </p:animEffect>
                                    <p:anim calcmode="lin" valueType="num">
                                      <p:cBhvr>
                                        <p:cTn id="1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fade">
                                      <p:cBhvr>
                                        <p:cTn id="17" dur="1000"/>
                                        <p:tgtEl>
                                          <p:spTgt spid="2">
                                            <p:txEl>
                                              <p:pRg st="6" end="6"/>
                                            </p:txEl>
                                          </p:spTgt>
                                        </p:tgtEl>
                                      </p:cBhvr>
                                    </p:animEffect>
                                    <p:anim calcmode="lin" valueType="num">
                                      <p:cBhvr>
                                        <p:cTn id="18"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2">
                                            <p:txEl>
                                              <p:pRg st="6" end="6"/>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fade">
                                      <p:cBhvr>
                                        <p:cTn id="22" dur="1000"/>
                                        <p:tgtEl>
                                          <p:spTgt spid="2">
                                            <p:txEl>
                                              <p:pRg st="7" end="7"/>
                                            </p:txEl>
                                          </p:spTgt>
                                        </p:tgtEl>
                                      </p:cBhvr>
                                    </p:animEffect>
                                    <p:anim calcmode="lin" valueType="num">
                                      <p:cBhvr>
                                        <p:cTn id="23"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24"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75" y="152400"/>
            <a:ext cx="9144000" cy="6555641"/>
          </a:xfrm>
          <a:prstGeom prst="rect">
            <a:avLst/>
          </a:prstGeom>
        </p:spPr>
        <p:txBody>
          <a:bodyPr wrap="square">
            <a:spAutoFit/>
          </a:bodyPr>
          <a:lstStyle/>
          <a:p>
            <a:r>
              <a:rPr lang="en-GB" sz="2400" b="1" dirty="0"/>
              <a:t>Dispute </a:t>
            </a:r>
            <a:r>
              <a:rPr lang="en-GB" sz="2400" b="1" dirty="0" smtClean="0"/>
              <a:t>Settlement </a:t>
            </a:r>
            <a:r>
              <a:rPr lang="en-GB" sz="2400" b="1" dirty="0"/>
              <a:t>Mechanisms</a:t>
            </a:r>
            <a:endParaRPr lang="en-US" sz="2000" dirty="0"/>
          </a:p>
          <a:p>
            <a:pPr lvl="0"/>
            <a:r>
              <a:rPr lang="en-GB" sz="2400" b="1" dirty="0" smtClean="0"/>
              <a:t>1. Grievance </a:t>
            </a:r>
            <a:r>
              <a:rPr lang="en-GB" sz="2400" b="1" dirty="0"/>
              <a:t>Handling Committee  Art 72 and 73</a:t>
            </a:r>
            <a:endParaRPr lang="en-US" sz="2000" dirty="0"/>
          </a:p>
          <a:p>
            <a:pPr lvl="0"/>
            <a:r>
              <a:rPr lang="en-GB" sz="2400" b="1" dirty="0" smtClean="0"/>
              <a:t>2. Civil </a:t>
            </a:r>
            <a:r>
              <a:rPr lang="en-GB" sz="2400" b="1" dirty="0"/>
              <a:t>service tribunal</a:t>
            </a:r>
            <a:endParaRPr lang="en-US" sz="2000" b="1" dirty="0"/>
          </a:p>
          <a:p>
            <a:pPr lvl="1"/>
            <a:r>
              <a:rPr lang="en-GB" sz="2400" b="1" dirty="0"/>
              <a:t>Have the powers  given to ordinary courts under the  civil servant </a:t>
            </a:r>
            <a:r>
              <a:rPr lang="en-GB" sz="2400" b="1" dirty="0" smtClean="0"/>
              <a:t>law</a:t>
            </a:r>
          </a:p>
          <a:p>
            <a:pPr lvl="1"/>
            <a:endParaRPr lang="en-US" sz="2000" dirty="0"/>
          </a:p>
          <a:p>
            <a:r>
              <a:rPr lang="en-US" sz="2400" b="1" dirty="0" smtClean="0"/>
              <a:t>Jurisdiction </a:t>
            </a:r>
            <a:r>
              <a:rPr lang="en-US" sz="2400" b="1" dirty="0"/>
              <a:t>of the Administrative Tribunal</a:t>
            </a:r>
            <a:r>
              <a:rPr lang="en-US" sz="2400" dirty="0"/>
              <a:t> 	</a:t>
            </a:r>
            <a:r>
              <a:rPr lang="en-US" sz="2400" b="1" dirty="0"/>
              <a:t>Art. 75</a:t>
            </a:r>
            <a:r>
              <a:rPr lang="en-US" sz="2400" dirty="0"/>
              <a:t/>
            </a:r>
            <a:br>
              <a:rPr lang="en-US" sz="2400" dirty="0"/>
            </a:br>
            <a:r>
              <a:rPr lang="en-US" sz="2400" dirty="0" smtClean="0"/>
              <a:t>	The </a:t>
            </a:r>
            <a:r>
              <a:rPr lang="en-US" sz="2400" dirty="0"/>
              <a:t>Administrative Tribunal shall have the power to hear 	</a:t>
            </a:r>
            <a:r>
              <a:rPr lang="en-US" sz="2400" dirty="0" smtClean="0"/>
              <a:t>and </a:t>
            </a:r>
            <a:r>
              <a:rPr lang="en-US" sz="2400" dirty="0"/>
              <a:t>decide on </a:t>
            </a:r>
            <a:r>
              <a:rPr lang="en-US" sz="2800" i="1" dirty="0"/>
              <a:t>appeals</a:t>
            </a:r>
            <a:r>
              <a:rPr lang="en-US" sz="2800" dirty="0"/>
              <a:t> </a:t>
            </a:r>
            <a:r>
              <a:rPr lang="en-US" sz="2400" dirty="0"/>
              <a:t>brought by a civil servant relating to:</a:t>
            </a:r>
            <a:r>
              <a:rPr lang="en-US" sz="2000" dirty="0"/>
              <a:t/>
            </a:r>
            <a:br>
              <a:rPr lang="en-US" sz="2000" dirty="0"/>
            </a:br>
            <a:r>
              <a:rPr lang="en-US" sz="2000" dirty="0"/>
              <a:t> </a:t>
            </a:r>
            <a:r>
              <a:rPr lang="en-US" sz="2000" dirty="0" smtClean="0"/>
              <a:t>      1</a:t>
            </a:r>
            <a:r>
              <a:rPr lang="en-US" sz="2000" dirty="0"/>
              <a:t>) unlawful suspension or termination of service; </a:t>
            </a:r>
            <a:endParaRPr lang="en-US" sz="2000" dirty="0" smtClean="0"/>
          </a:p>
          <a:p>
            <a:pPr lvl="1"/>
            <a:r>
              <a:rPr lang="en-US" sz="2000" dirty="0" smtClean="0"/>
              <a:t>2</a:t>
            </a:r>
            <a:r>
              <a:rPr lang="en-US" sz="2000" dirty="0"/>
              <a:t>) being penalized by rigorous disciplinary penalty;</a:t>
            </a:r>
            <a:br>
              <a:rPr lang="en-US" sz="2000" dirty="0"/>
            </a:br>
            <a:r>
              <a:rPr lang="en-US" sz="2000" dirty="0"/>
              <a:t>3) an illegal attachment or deduction of his salary or other payments;</a:t>
            </a:r>
            <a:br>
              <a:rPr lang="en-US" sz="2000" dirty="0"/>
            </a:br>
            <a:r>
              <a:rPr lang="en-US" sz="2000" dirty="0"/>
              <a:t>4) infringement of his rights arising from an employment injury;</a:t>
            </a:r>
            <a:br>
              <a:rPr lang="en-US" sz="2000" dirty="0"/>
            </a:br>
            <a:r>
              <a:rPr lang="en-US" sz="2000" dirty="0"/>
              <a:t>5) except provided in Article 73/7/ of this Proclamation ,cases investigated and decided upon by grievance handling committee;</a:t>
            </a:r>
            <a:br>
              <a:rPr lang="en-US" sz="2000" dirty="0"/>
            </a:br>
            <a:r>
              <a:rPr lang="en-US" sz="2000" dirty="0"/>
              <a:t>6) matters arising from his request for termination letters and testimonials of</a:t>
            </a:r>
            <a:br>
              <a:rPr lang="en-US" sz="2000" dirty="0"/>
            </a:br>
            <a:r>
              <a:rPr lang="en-US" sz="2000" dirty="0"/>
              <a:t>service.</a:t>
            </a:r>
          </a:p>
        </p:txBody>
      </p:sp>
    </p:spTree>
    <p:extLst>
      <p:ext uri="{BB962C8B-B14F-4D97-AF65-F5344CB8AC3E}">
        <p14:creationId xmlns:p14="http://schemas.microsoft.com/office/powerpoint/2010/main" val="32865134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1198"/>
            <a:ext cx="9144000" cy="6740307"/>
          </a:xfrm>
          <a:prstGeom prst="rect">
            <a:avLst/>
          </a:prstGeom>
        </p:spPr>
        <p:txBody>
          <a:bodyPr wrap="square">
            <a:spAutoFit/>
          </a:bodyPr>
          <a:lstStyle/>
          <a:p>
            <a:r>
              <a:rPr lang="en-US" sz="3600" b="1" dirty="0"/>
              <a:t>Decision of the Administrative Tribunal</a:t>
            </a:r>
            <a:r>
              <a:rPr lang="en-US" sz="3600" dirty="0"/>
              <a:t> </a:t>
            </a:r>
          </a:p>
          <a:p>
            <a:pPr lvl="0"/>
            <a:r>
              <a:rPr lang="en-US" sz="3600" dirty="0"/>
              <a:t>The Administrative Tribunal may Confirm or reverse the decision or vary the decision in favor of the appellant</a:t>
            </a:r>
          </a:p>
          <a:p>
            <a:pPr lvl="0"/>
            <a:r>
              <a:rPr lang="en-US" sz="3600" dirty="0"/>
              <a:t> The decision  on question of facts shall be final;  </a:t>
            </a:r>
            <a:endParaRPr lang="en-US" sz="3600" dirty="0" smtClean="0"/>
          </a:p>
          <a:p>
            <a:pPr lvl="0"/>
            <a:r>
              <a:rPr lang="en-US" sz="3600" dirty="0" smtClean="0"/>
              <a:t>Federal Supreme Court</a:t>
            </a:r>
            <a:endParaRPr lang="en-US" sz="3600" dirty="0"/>
          </a:p>
          <a:p>
            <a:pPr lvl="0"/>
            <a:r>
              <a:rPr lang="en-US" sz="3600" dirty="0"/>
              <a:t>However, that anyone of the parties may appeal to the Federal Supreme Court on question of law within 30 days from the </a:t>
            </a:r>
            <a:r>
              <a:rPr lang="en-US" sz="3600" dirty="0" err="1" smtClean="0"/>
              <a:t>dateof</a:t>
            </a:r>
            <a:r>
              <a:rPr lang="en-US" sz="3600" dirty="0" smtClean="0"/>
              <a:t> </a:t>
            </a:r>
            <a:r>
              <a:rPr lang="en-US" sz="3600" dirty="0"/>
              <a:t>the decision of the Administrative</a:t>
            </a:r>
            <a:br>
              <a:rPr lang="en-US" sz="3600" dirty="0"/>
            </a:br>
            <a:r>
              <a:rPr lang="en-US" sz="3600" dirty="0"/>
              <a:t>Tribunal.</a:t>
            </a:r>
          </a:p>
        </p:txBody>
      </p:sp>
    </p:spTree>
    <p:extLst>
      <p:ext uri="{BB962C8B-B14F-4D97-AF65-F5344CB8AC3E}">
        <p14:creationId xmlns:p14="http://schemas.microsoft.com/office/powerpoint/2010/main" val="107106562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171343" y="2967335"/>
            <a:ext cx="4801314" cy="923330"/>
          </a:xfrm>
          <a:prstGeom prst="rect">
            <a:avLst/>
          </a:prstGeom>
          <a:noFill/>
        </p:spPr>
        <p:txBody>
          <a:bodyPr wrap="none" lIns="91440" tIns="45720" rIns="91440" bIns="45720">
            <a:spAutoFit/>
            <a:scene3d>
              <a:camera prst="orthographicFront"/>
              <a:lightRig rig="balanced" dir="t">
                <a:rot lat="0" lon="0" rev="2100000"/>
              </a:lightRig>
            </a:scene3d>
            <a:sp3d extrusionH="57150" prstMaterial="metal">
              <a:bevelT w="38100" h="25400"/>
              <a:contourClr>
                <a:schemeClr val="bg2"/>
              </a:contourClr>
            </a:sp3d>
          </a:bodyPr>
          <a:lstStyle/>
          <a:p>
            <a:pPr algn="ctr"/>
            <a:r>
              <a:rPr lang="en-US" sz="5400" b="1" cap="none" spc="0" dirty="0" smtClean="0">
                <a:ln w="50800"/>
                <a:solidFill>
                  <a:schemeClr val="bg1">
                    <a:shade val="50000"/>
                  </a:schemeClr>
                </a:solidFill>
                <a:effectLst/>
              </a:rPr>
              <a:t>THANK YOU </a:t>
            </a:r>
            <a:endParaRPr lang="en-US" sz="5400" b="1" cap="none" spc="0" dirty="0">
              <a:ln w="50800"/>
              <a:solidFill>
                <a:schemeClr val="bg1">
                  <a:shade val="50000"/>
                </a:schemeClr>
              </a:solidFill>
              <a:effectLst/>
            </a:endParaRPr>
          </a:p>
        </p:txBody>
      </p:sp>
    </p:spTree>
    <p:extLst>
      <p:ext uri="{BB962C8B-B14F-4D97-AF65-F5344CB8AC3E}">
        <p14:creationId xmlns:p14="http://schemas.microsoft.com/office/powerpoint/2010/main" val="360764284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76</TotalTime>
  <Words>679</Words>
  <Application>Microsoft Office PowerPoint</Application>
  <PresentationFormat>On-screen Show (4:3)</PresentationFormat>
  <Paragraphs>129</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Angles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10</cp:revision>
  <dcterms:created xsi:type="dcterms:W3CDTF">2017-05-25T01:17:06Z</dcterms:created>
  <dcterms:modified xsi:type="dcterms:W3CDTF">2017-05-25T02:33:30Z</dcterms:modified>
</cp:coreProperties>
</file>