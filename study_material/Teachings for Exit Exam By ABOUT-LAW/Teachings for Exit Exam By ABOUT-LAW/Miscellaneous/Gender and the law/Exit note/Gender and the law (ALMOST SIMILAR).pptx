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0" r:id="rId2"/>
  </p:sldMasterIdLst>
  <p:handoutMasterIdLst>
    <p:handoutMasterId r:id="rId146"/>
  </p:handoutMasterIdLst>
  <p:sldIdLst>
    <p:sldId id="256" r:id="rId3"/>
    <p:sldId id="404" r:id="rId4"/>
    <p:sldId id="405" r:id="rId5"/>
    <p:sldId id="257" r:id="rId6"/>
    <p:sldId id="261" r:id="rId7"/>
    <p:sldId id="262" r:id="rId8"/>
    <p:sldId id="263" r:id="rId9"/>
    <p:sldId id="264" r:id="rId10"/>
    <p:sldId id="267"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383" r:id="rId38"/>
    <p:sldId id="384" r:id="rId39"/>
    <p:sldId id="385" r:id="rId40"/>
    <p:sldId id="386" r:id="rId41"/>
    <p:sldId id="387" r:id="rId42"/>
    <p:sldId id="388" r:id="rId43"/>
    <p:sldId id="389" r:id="rId44"/>
    <p:sldId id="390" r:id="rId45"/>
    <p:sldId id="391" r:id="rId46"/>
    <p:sldId id="392" r:id="rId47"/>
    <p:sldId id="393" r:id="rId48"/>
    <p:sldId id="394" r:id="rId49"/>
    <p:sldId id="395" r:id="rId50"/>
    <p:sldId id="293" r:id="rId51"/>
    <p:sldId id="294" r:id="rId52"/>
    <p:sldId id="295" r:id="rId53"/>
    <p:sldId id="296" r:id="rId54"/>
    <p:sldId id="297" r:id="rId55"/>
    <p:sldId id="298" r:id="rId56"/>
    <p:sldId id="299" r:id="rId57"/>
    <p:sldId id="300" r:id="rId58"/>
    <p:sldId id="301" r:id="rId59"/>
    <p:sldId id="302" r:id="rId60"/>
    <p:sldId id="397" r:id="rId61"/>
    <p:sldId id="303" r:id="rId62"/>
    <p:sldId id="304"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9" r:id="rId76"/>
    <p:sldId id="318" r:id="rId77"/>
    <p:sldId id="320" r:id="rId78"/>
    <p:sldId id="322" r:id="rId79"/>
    <p:sldId id="321"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7" r:id="rId94"/>
    <p:sldId id="398" r:id="rId95"/>
    <p:sldId id="336" r:id="rId96"/>
    <p:sldId id="338" r:id="rId97"/>
    <p:sldId id="339" r:id="rId98"/>
    <p:sldId id="340" r:id="rId99"/>
    <p:sldId id="399" r:id="rId100"/>
    <p:sldId id="341" r:id="rId101"/>
    <p:sldId id="342" r:id="rId102"/>
    <p:sldId id="343" r:id="rId103"/>
    <p:sldId id="344" r:id="rId104"/>
    <p:sldId id="345" r:id="rId105"/>
    <p:sldId id="346" r:id="rId106"/>
    <p:sldId id="347" r:id="rId107"/>
    <p:sldId id="348" r:id="rId108"/>
    <p:sldId id="349" r:id="rId109"/>
    <p:sldId id="350" r:id="rId110"/>
    <p:sldId id="352" r:id="rId111"/>
    <p:sldId id="401" r:id="rId112"/>
    <p:sldId id="400" r:id="rId113"/>
    <p:sldId id="351" r:id="rId114"/>
    <p:sldId id="354" r:id="rId115"/>
    <p:sldId id="355" r:id="rId116"/>
    <p:sldId id="403" r:id="rId117"/>
    <p:sldId id="402" r:id="rId118"/>
    <p:sldId id="356" r:id="rId119"/>
    <p:sldId id="359" r:id="rId120"/>
    <p:sldId id="357" r:id="rId121"/>
    <p:sldId id="358" r:id="rId122"/>
    <p:sldId id="360" r:id="rId123"/>
    <p:sldId id="361" r:id="rId124"/>
    <p:sldId id="362" r:id="rId125"/>
    <p:sldId id="363" r:id="rId126"/>
    <p:sldId id="364" r:id="rId127"/>
    <p:sldId id="365" r:id="rId128"/>
    <p:sldId id="366" r:id="rId129"/>
    <p:sldId id="367" r:id="rId130"/>
    <p:sldId id="368" r:id="rId131"/>
    <p:sldId id="369" r:id="rId132"/>
    <p:sldId id="370" r:id="rId133"/>
    <p:sldId id="371" r:id="rId134"/>
    <p:sldId id="372" r:id="rId135"/>
    <p:sldId id="373" r:id="rId136"/>
    <p:sldId id="374" r:id="rId137"/>
    <p:sldId id="375" r:id="rId138"/>
    <p:sldId id="376" r:id="rId139"/>
    <p:sldId id="377" r:id="rId140"/>
    <p:sldId id="378" r:id="rId141"/>
    <p:sldId id="379" r:id="rId142"/>
    <p:sldId id="380" r:id="rId143"/>
    <p:sldId id="381" r:id="rId144"/>
    <p:sldId id="382" r:id="rId1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2794" autoAdjust="0"/>
    <p:restoredTop sz="86477" autoAdjust="0"/>
  </p:normalViewPr>
  <p:slideViewPr>
    <p:cSldViewPr>
      <p:cViewPr>
        <p:scale>
          <a:sx n="70" d="100"/>
          <a:sy n="70" d="100"/>
        </p:scale>
        <p:origin x="-1800" y="-180"/>
      </p:cViewPr>
      <p:guideLst>
        <p:guide orient="horz" pos="2160"/>
        <p:guide pos="2880"/>
      </p:guideLst>
    </p:cSldViewPr>
  </p:slideViewPr>
  <p:outlineViewPr>
    <p:cViewPr>
      <p:scale>
        <a:sx n="33" d="100"/>
        <a:sy n="33" d="100"/>
      </p:scale>
      <p:origin x="0" y="15802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58714AC-7FCA-41B8-8CB0-85EF11176EB6}" type="datetimeFigureOut">
              <a:rPr lang="en-US" smtClean="0"/>
              <a:pPr/>
              <a:t>4/23/2017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5788C25-E552-4A51-B59C-CC87ABA25767}" type="slidenum">
              <a:rPr lang="en-US" smtClean="0"/>
              <a:pPr/>
              <a:t>‹#›</a:t>
            </a:fld>
            <a:endParaRPr lang="en-US"/>
          </a:p>
        </p:txBody>
      </p:sp>
    </p:spTree>
    <p:extLst>
      <p:ext uri="{BB962C8B-B14F-4D97-AF65-F5344CB8AC3E}">
        <p14:creationId xmlns:p14="http://schemas.microsoft.com/office/powerpoint/2010/main" val="336843860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7E4EB709-8C29-4529-BBC5-A8D243515407}" type="slidenum">
              <a:rPr lang="en-US" smtClean="0"/>
              <a:pPr/>
              <a:t>‹#›</a:t>
            </a:fld>
            <a:endParaRPr lang="en-US" dirty="0"/>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361688" y="1026372"/>
            <a:ext cx="457200" cy="441325"/>
          </a:xfrm>
        </p:spPr>
        <p:txBody>
          <a:bodyPr/>
          <a:lstStyle/>
          <a:p>
            <a:fld id="{7E4EB709-8C29-4529-BBC5-A8D243515407}" type="slidenum">
              <a:rPr lang="en-US" smtClean="0"/>
              <a:pPr/>
              <a:t>‹#›</a:t>
            </a:fld>
            <a:endParaRPr lang="en-US" dirty="0"/>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7E4EB709-8C29-4529-BBC5-A8D243515407}" type="slidenum">
              <a:rPr lang="en-US" smtClean="0"/>
              <a:pPr/>
              <a:t>‹#›</a:t>
            </a:fld>
            <a:endParaRPr lang="en-US" dirty="0"/>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B897CB42-E59B-45C7-B1BC-49D0BF253D95}" type="datetimeFigureOut">
              <a:rPr lang="en-US" smtClean="0"/>
              <a:pPr/>
              <a:t>4/23/2017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4EB709-8C29-4529-BBC5-A8D243515407}" type="slidenum">
              <a:rPr lang="en-US" smtClean="0"/>
              <a:pPr/>
              <a:t>‹#›</a:t>
            </a:fld>
            <a:endParaRPr lang="en-US" dirty="0"/>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8" name="Footer Placeholder 7"/>
          <p:cNvSpPr>
            <a:spLocks noGrp="1"/>
          </p:cNvSpPr>
          <p:nvPr>
            <p:ph type="ftr" sz="quarter" idx="11"/>
          </p:nvPr>
        </p:nvSpPr>
        <p:spPr>
          <a:xfrm>
            <a:off x="304800" y="6409944"/>
            <a:ext cx="3581400" cy="365760"/>
          </a:xfrm>
        </p:spPr>
        <p:txBody>
          <a:bodyPr/>
          <a:lstStyle/>
          <a:p>
            <a:endParaRPr lang="en-US" dirty="0"/>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7E4EB709-8C29-4529-BBC5-A8D243515407}" type="slidenum">
              <a:rPr lang="en-US" smtClean="0"/>
              <a:pPr/>
              <a:t>‹#›</a:t>
            </a:fld>
            <a:endParaRPr lang="en-US" dirty="0"/>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a:xfrm>
            <a:off x="4343400" y="1036020"/>
            <a:ext cx="457200" cy="441325"/>
          </a:xfrm>
        </p:spPr>
        <p:txBody>
          <a:bodyPr/>
          <a:lstStyle/>
          <a:p>
            <a:fld id="{7E4EB709-8C29-4529-BBC5-A8D24351540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7E4EB709-8C29-4529-BBC5-A8D24351540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7E4EB709-8C29-4529-BBC5-A8D243515407}" type="slidenum">
              <a:rPr lang="en-US" smtClean="0"/>
              <a:pPr/>
              <a:t>‹#›</a:t>
            </a:fld>
            <a:endParaRPr lang="en-US" dirty="0"/>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6" name="Footer Placeholder 5"/>
          <p:cNvSpPr>
            <a:spLocks noGrp="1"/>
          </p:cNvSpPr>
          <p:nvPr>
            <p:ph type="ftr" sz="quarter" idx="11"/>
          </p:nvPr>
        </p:nvSpPr>
        <p:spPr>
          <a:xfrm>
            <a:off x="301752" y="6410848"/>
            <a:ext cx="3383280" cy="365760"/>
          </a:xfrm>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7E4EB709-8C29-4529-BBC5-A8D243515407}" type="slidenum">
              <a:rPr lang="en-US" smtClean="0"/>
              <a:pPr/>
              <a:t>‹#›</a:t>
            </a:fld>
            <a:endParaRPr lang="en-US" dirty="0"/>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B897CB42-E59B-45C7-B1BC-49D0BF253D95}" type="datetimeFigureOut">
              <a:rPr lang="en-US" smtClean="0"/>
              <a:pPr/>
              <a:t>4/23/2017</a:t>
            </a:fld>
            <a:endParaRPr lang="en-US" dirty="0"/>
          </a:p>
        </p:txBody>
      </p:sp>
      <p:sp>
        <p:nvSpPr>
          <p:cNvPr id="6" name="Footer Placeholder 5"/>
          <p:cNvSpPr>
            <a:spLocks noGrp="1"/>
          </p:cNvSpPr>
          <p:nvPr>
            <p:ph type="ftr" sz="quarter" idx="11"/>
          </p:nvPr>
        </p:nvSpPr>
        <p:spPr>
          <a:xfrm>
            <a:off x="301752" y="6410848"/>
            <a:ext cx="3584448" cy="365760"/>
          </a:xfrm>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4EB709-8C29-4529-BBC5-A8D243515407}"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7E4EB709-8C29-4529-BBC5-A8D243515407}" type="slidenum">
              <a:rPr lang="en-US" smtClean="0"/>
              <a:pPr/>
              <a:t>‹#›</a:t>
            </a:fld>
            <a:endParaRPr lang="en-US" dirty="0"/>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897CB42-E59B-45C7-B1BC-49D0BF253D95}" type="datetimeFigureOut">
              <a:rPr lang="en-US" smtClean="0"/>
              <a:pPr/>
              <a:t>4/23/2017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3813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0666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23261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0775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761108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19350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285093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91041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0848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512572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648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B897CB42-E59B-45C7-B1BC-49D0BF253D95}" type="datetimeFigureOut">
              <a:rPr lang="en-US" smtClean="0"/>
              <a:pPr/>
              <a:t>4/23/2017</a:t>
            </a:fld>
            <a:endParaRPr lang="en-US" dirty="0"/>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dirty="0"/>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7E4EB709-8C29-4529-BBC5-A8D243515407}" type="slidenum">
              <a:rPr lang="en-US" smtClean="0"/>
              <a:pPr/>
              <a:t>‹#›</a:t>
            </a:fld>
            <a:endParaRPr lang="en-US" dirty="0"/>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2123A1-04CD-4C55-9AAC-8FCC2AB5C45F}" type="datetimeFigureOut">
              <a:rPr lang="en-US" smtClean="0">
                <a:solidFill>
                  <a:prstClr val="black">
                    <a:tint val="75000"/>
                  </a:prstClr>
                </a:solidFill>
              </a:rPr>
              <a:pPr/>
              <a:t>4/23/2017</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77CD2-983E-4DE4-AB5C-9094CE61018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2042069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www.un.org/womenwatch/daw/followup/session/presskit/fs8.htm" TargetMode="External"/><Relationship Id="rId3" Type="http://schemas.openxmlformats.org/officeDocument/2006/relationships/hyperlink" Target="http://www.un.org/womenwatch/daw/followup/session/presskit/fs3.htm" TargetMode="External"/><Relationship Id="rId7" Type="http://schemas.openxmlformats.org/officeDocument/2006/relationships/hyperlink" Target="http://www.un.org/womenwatch/daw/followup/session/presskit/fs7.htm" TargetMode="External"/><Relationship Id="rId12" Type="http://schemas.openxmlformats.org/officeDocument/2006/relationships/hyperlink" Target="http://www.un.org/womenwatch/daw/followup/session/presskit/fs12.htm" TargetMode="External"/><Relationship Id="rId2" Type="http://schemas.openxmlformats.org/officeDocument/2006/relationships/hyperlink" Target="http://www.un.org/womenwatch/daw/followup/session/presskit/fs2.htm" TargetMode="External"/><Relationship Id="rId1" Type="http://schemas.openxmlformats.org/officeDocument/2006/relationships/slideLayout" Target="../slideLayouts/slideLayout2.xml"/><Relationship Id="rId6" Type="http://schemas.openxmlformats.org/officeDocument/2006/relationships/hyperlink" Target="http://www.un.org/womenwatch/daw/followup/session/presskit/fs6.htm" TargetMode="External"/><Relationship Id="rId11" Type="http://schemas.openxmlformats.org/officeDocument/2006/relationships/hyperlink" Target="http://www.un.org/womenwatch/daw/followup/session/presskit/fs11.htm" TargetMode="External"/><Relationship Id="rId5" Type="http://schemas.openxmlformats.org/officeDocument/2006/relationships/hyperlink" Target="http://www.un.org/womenwatch/daw/followup/session/presskit/fs5.htm" TargetMode="External"/><Relationship Id="rId10" Type="http://schemas.openxmlformats.org/officeDocument/2006/relationships/hyperlink" Target="http://www.un.org/womenwatch/daw/followup/session/presskit/fs10.htm" TargetMode="External"/><Relationship Id="rId4" Type="http://schemas.openxmlformats.org/officeDocument/2006/relationships/hyperlink" Target="http://www.un.org/womenwatch/daw/followup/session/presskit/fs4.htm" TargetMode="External"/><Relationship Id="rId9" Type="http://schemas.openxmlformats.org/officeDocument/2006/relationships/hyperlink" Target="http://www.un.org/womenwatch/daw/followup/session/presskit/fs9.ht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www.forwarduk.org.uk/key-issues/fistula"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en.wikipedia.org/wiki/Marriage" TargetMode="External"/><Relationship Id="rId2" Type="http://schemas.openxmlformats.org/officeDocument/2006/relationships/hyperlink" Target="http://en.wikipedia.org/wiki/Rape"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en.wikipedia.org/wiki/Convention_for_the_Suppression_of_the_Traffic_in_Persons_and_of_the_Exploitation_of_the_Prostitution_of_Others"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en.wikipedia.org/wiki/Marriage"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hyperlink" Target="http://en.wikipedia.org/wiki/Military_use_of_children" TargetMode="External"/><Relationship Id="rId3" Type="http://schemas.openxmlformats.org/officeDocument/2006/relationships/hyperlink" Target="http://en.wikipedia.org/wiki/Prostitution" TargetMode="External"/><Relationship Id="rId7" Type="http://schemas.openxmlformats.org/officeDocument/2006/relationships/hyperlink" Target="http://en.wikipedia.org/wiki/International_adoption" TargetMode="External"/><Relationship Id="rId2" Type="http://schemas.openxmlformats.org/officeDocument/2006/relationships/hyperlink" Target="http://en.wikipedia.org/wiki/Exploitation" TargetMode="External"/><Relationship Id="rId1" Type="http://schemas.openxmlformats.org/officeDocument/2006/relationships/slideLayout" Target="../slideLayouts/slideLayout2.xml"/><Relationship Id="rId6" Type="http://schemas.openxmlformats.org/officeDocument/2006/relationships/hyperlink" Target="http://en.wikipedia.org/wiki/Organ_theft" TargetMode="External"/><Relationship Id="rId5" Type="http://schemas.openxmlformats.org/officeDocument/2006/relationships/hyperlink" Target="http://en.wikipedia.org/wiki/Slavery" TargetMode="External"/><Relationship Id="rId4" Type="http://schemas.openxmlformats.org/officeDocument/2006/relationships/hyperlink" Target="http://en.wikipedia.org/wiki/Forced_labour" TargetMode="External"/><Relationship Id="rId9" Type="http://schemas.openxmlformats.org/officeDocument/2006/relationships/hyperlink" Target="http://en.wikipedia.org/wiki/Begging"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hyperlink" Target="http://en.wikipedia.org/wiki/Rape" TargetMode="External"/><Relationship Id="rId2" Type="http://schemas.openxmlformats.org/officeDocument/2006/relationships/hyperlink" Target="http://en.wikipedia.org/wiki/Abortion" TargetMode="External"/><Relationship Id="rId1" Type="http://schemas.openxmlformats.org/officeDocument/2006/relationships/slideLayout" Target="../slideLayouts/slideLayout2.xml"/><Relationship Id="rId4" Type="http://schemas.openxmlformats.org/officeDocument/2006/relationships/hyperlink" Target="http://en.wikipedia.org/wiki/Incest" TargetMode="Externa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Gender and the law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5870448"/>
          </a:xfrm>
        </p:spPr>
        <p:txBody>
          <a:bodyPr/>
          <a:lstStyle/>
          <a:p>
            <a:pPr lvl="0" algn="just">
              <a:buClr>
                <a:srgbClr val="D16349"/>
              </a:buClr>
            </a:pPr>
            <a:endParaRPr lang="en-US" dirty="0" smtClean="0">
              <a:solidFill>
                <a:prstClr val="black"/>
              </a:solidFill>
            </a:endParaRPr>
          </a:p>
          <a:p>
            <a:pPr marL="0" lvl="0" indent="0" algn="just">
              <a:buClr>
                <a:srgbClr val="D16349"/>
              </a:buClr>
              <a:buNone/>
            </a:pPr>
            <a:r>
              <a:rPr lang="en-US" dirty="0" smtClean="0">
                <a:solidFill>
                  <a:prstClr val="black"/>
                </a:solidFill>
              </a:rPr>
              <a:t>  </a:t>
            </a:r>
            <a:r>
              <a:rPr lang="en-US" b="1" dirty="0" smtClean="0">
                <a:solidFill>
                  <a:prstClr val="black"/>
                </a:solidFill>
              </a:rPr>
              <a:t>Definition</a:t>
            </a:r>
            <a:r>
              <a:rPr lang="en-US" dirty="0" smtClean="0">
                <a:solidFill>
                  <a:prstClr val="black"/>
                </a:solidFill>
              </a:rPr>
              <a:t> </a:t>
            </a:r>
            <a:endParaRPr lang="en-US" dirty="0">
              <a:solidFill>
                <a:prstClr val="black"/>
              </a:solidFill>
            </a:endParaRPr>
          </a:p>
          <a:p>
            <a:pPr lvl="0" algn="just">
              <a:buClr>
                <a:srgbClr val="D16349"/>
              </a:buClr>
            </a:pPr>
            <a:r>
              <a:rPr lang="en-US" dirty="0" smtClean="0">
                <a:solidFill>
                  <a:prstClr val="black"/>
                </a:solidFill>
              </a:rPr>
              <a:t>Gender </a:t>
            </a:r>
            <a:r>
              <a:rPr lang="en-US" dirty="0">
                <a:solidFill>
                  <a:prstClr val="black"/>
                </a:solidFill>
              </a:rPr>
              <a:t>is a social attribute ascribing some </a:t>
            </a:r>
            <a:r>
              <a:rPr lang="en-US" dirty="0">
                <a:solidFill>
                  <a:srgbClr val="FF0000"/>
                </a:solidFill>
              </a:rPr>
              <a:t>characteristics</a:t>
            </a:r>
            <a:r>
              <a:rPr lang="en-US" dirty="0">
                <a:solidFill>
                  <a:prstClr val="black"/>
                </a:solidFill>
              </a:rPr>
              <a:t> or </a:t>
            </a:r>
            <a:r>
              <a:rPr lang="en-US" dirty="0">
                <a:solidFill>
                  <a:srgbClr val="FF0000"/>
                </a:solidFill>
              </a:rPr>
              <a:t>norms</a:t>
            </a:r>
            <a:r>
              <a:rPr lang="en-US" dirty="0">
                <a:solidFill>
                  <a:prstClr val="black"/>
                </a:solidFill>
              </a:rPr>
              <a:t> and </a:t>
            </a:r>
            <a:r>
              <a:rPr lang="en-US" dirty="0">
                <a:solidFill>
                  <a:srgbClr val="FF0000"/>
                </a:solidFill>
              </a:rPr>
              <a:t>modes of behavior </a:t>
            </a:r>
            <a:r>
              <a:rPr lang="en-US" dirty="0">
                <a:solidFill>
                  <a:prstClr val="black"/>
                </a:solidFill>
              </a:rPr>
              <a:t>to the female and other to the male sex. </a:t>
            </a:r>
          </a:p>
          <a:p>
            <a:pPr lvl="0" algn="just">
              <a:buClr>
                <a:srgbClr val="D16349"/>
              </a:buClr>
            </a:pPr>
            <a:r>
              <a:rPr lang="en-US" dirty="0">
                <a:solidFill>
                  <a:prstClr val="black"/>
                </a:solidFill>
              </a:rPr>
              <a:t>The gender of a person is </a:t>
            </a:r>
            <a:r>
              <a:rPr lang="en-US" dirty="0">
                <a:solidFill>
                  <a:srgbClr val="FF0000"/>
                </a:solidFill>
              </a:rPr>
              <a:t>determined</a:t>
            </a:r>
            <a:r>
              <a:rPr lang="en-US" dirty="0">
                <a:solidFill>
                  <a:prstClr val="black"/>
                </a:solidFill>
              </a:rPr>
              <a:t> by the society and by its way of up bringing children.</a:t>
            </a:r>
          </a:p>
          <a:p>
            <a:pPr lvl="0" algn="just">
              <a:buClr>
                <a:srgbClr val="D16349"/>
              </a:buClr>
            </a:pPr>
            <a:r>
              <a:rPr lang="en-US" dirty="0">
                <a:solidFill>
                  <a:prstClr val="black"/>
                </a:solidFill>
              </a:rPr>
              <a:t>Gender is, therefore, the result of the </a:t>
            </a:r>
            <a:r>
              <a:rPr lang="en-US" dirty="0" smtClean="0">
                <a:solidFill>
                  <a:prstClr val="black"/>
                </a:solidFill>
              </a:rPr>
              <a:t>interaction </a:t>
            </a:r>
            <a:r>
              <a:rPr lang="en-US" dirty="0">
                <a:solidFill>
                  <a:prstClr val="black"/>
                </a:solidFill>
              </a:rPr>
              <a:t>of culture, religion, and similar factor of a society.</a:t>
            </a:r>
          </a:p>
          <a:p>
            <a:pPr lvl="0" algn="just">
              <a:buClr>
                <a:srgbClr val="D16349"/>
              </a:buClr>
            </a:pPr>
            <a:r>
              <a:rPr lang="en-US" dirty="0"/>
              <a:t>It refers to historically defined </a:t>
            </a:r>
            <a:r>
              <a:rPr lang="en-US" dirty="0">
                <a:solidFill>
                  <a:srgbClr val="C00000"/>
                </a:solidFill>
              </a:rPr>
              <a:t>identities, roles and behaviors</a:t>
            </a:r>
            <a:r>
              <a:rPr lang="en-US" dirty="0"/>
              <a:t> of different groups such as men-women, girls-boys, old men-old women, </a:t>
            </a:r>
            <a:r>
              <a:rPr lang="en-US" dirty="0" err="1"/>
              <a:t>etc</a:t>
            </a:r>
            <a:endParaRPr lang="en-US" dirty="0"/>
          </a:p>
          <a:p>
            <a:pPr marL="0" indent="0">
              <a:buNone/>
            </a:pPr>
            <a:endParaRPr lang="en-US" dirty="0">
              <a:solidFill>
                <a:srgbClr val="FF0000"/>
              </a:solidFill>
            </a:endParaRPr>
          </a:p>
        </p:txBody>
      </p:sp>
    </p:spTree>
    <p:extLst>
      <p:ext uri="{BB962C8B-B14F-4D97-AF65-F5344CB8AC3E}">
        <p14:creationId xmlns:p14="http://schemas.microsoft.com/office/powerpoint/2010/main" val="27629918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normAutofit/>
          </a:bodyPr>
          <a:lstStyle/>
          <a:p>
            <a:r>
              <a:rPr lang="en-US" sz="3200" b="1" dirty="0" smtClean="0">
                <a:latin typeface="Bookman Old Style" pitchFamily="18" charset="0"/>
              </a:rPr>
              <a:t>The difference between sex and gender?</a:t>
            </a:r>
            <a:endParaRPr lang="en-US" sz="3200" b="1" dirty="0">
              <a:latin typeface="Bookman Old Style" pitchFamily="18" charset="0"/>
            </a:endParaRPr>
          </a:p>
        </p:txBody>
      </p:sp>
      <p:sp>
        <p:nvSpPr>
          <p:cNvPr id="3" name="Content Placeholder 2"/>
          <p:cNvSpPr>
            <a:spLocks noGrp="1"/>
          </p:cNvSpPr>
          <p:nvPr>
            <p:ph idx="1"/>
          </p:nvPr>
        </p:nvSpPr>
        <p:spPr>
          <a:xfrm>
            <a:off x="838200" y="1600200"/>
            <a:ext cx="7848600" cy="4525963"/>
          </a:xfrm>
        </p:spPr>
        <p:txBody>
          <a:bodyPr/>
          <a:lstStyle/>
          <a:p>
            <a:r>
              <a:rPr lang="en-US" dirty="0" smtClean="0">
                <a:latin typeface="Bookman Old Style" pitchFamily="18" charset="0"/>
              </a:rPr>
              <a:t>Sex refers to biological and physical characteristics i.e. being male or female.</a:t>
            </a:r>
          </a:p>
          <a:p>
            <a:r>
              <a:rPr lang="en-US" dirty="0" smtClean="0">
                <a:latin typeface="Bookman Old Style" pitchFamily="18" charset="0"/>
              </a:rPr>
              <a:t>It is natural and can not be changed.</a:t>
            </a:r>
          </a:p>
          <a:p>
            <a:r>
              <a:rPr lang="en-US" dirty="0" smtClean="0">
                <a:latin typeface="Bookman Old Style" pitchFamily="18" charset="0"/>
              </a:rPr>
              <a:t>Gender refers to socially constructed roles of women and men ascribed to them on the basis of their sex.</a:t>
            </a:r>
          </a:p>
          <a:p>
            <a:endParaRPr lang="en-US" dirty="0"/>
          </a:p>
        </p:txBody>
      </p:sp>
    </p:spTree>
    <p:extLst>
      <p:ext uri="{BB962C8B-B14F-4D97-AF65-F5344CB8AC3E}">
        <p14:creationId xmlns:p14="http://schemas.microsoft.com/office/powerpoint/2010/main" val="20792560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dirty="0" smtClean="0"/>
              <a:t>Gender roles </a:t>
            </a:r>
            <a:endParaRPr lang="en-US" dirty="0"/>
          </a:p>
        </p:txBody>
      </p:sp>
      <p:sp>
        <p:nvSpPr>
          <p:cNvPr id="3" name="Content Placeholder 2"/>
          <p:cNvSpPr>
            <a:spLocks noGrp="1"/>
          </p:cNvSpPr>
          <p:nvPr>
            <p:ph sz="quarter" idx="1"/>
          </p:nvPr>
        </p:nvSpPr>
        <p:spPr>
          <a:xfrm>
            <a:off x="228600" y="914400"/>
            <a:ext cx="8686800" cy="5791200"/>
          </a:xfrm>
        </p:spPr>
        <p:txBody>
          <a:bodyPr>
            <a:normAutofit fontScale="77500" lnSpcReduction="20000"/>
          </a:bodyPr>
          <a:lstStyle/>
          <a:p>
            <a:pPr marL="342900" lvl="0" indent="-342900" algn="just">
              <a:buClrTx/>
              <a:buSzTx/>
              <a:buFont typeface="Arial" pitchFamily="34" charset="0"/>
              <a:buChar char="•"/>
            </a:pPr>
            <a:r>
              <a:rPr lang="en-US" dirty="0">
                <a:solidFill>
                  <a:prstClr val="black"/>
                </a:solidFill>
                <a:latin typeface="Bookman Old Style" pitchFamily="18" charset="0"/>
              </a:rPr>
              <a:t>Gender roles are </a:t>
            </a:r>
            <a:r>
              <a:rPr lang="en-US" b="1" dirty="0">
                <a:solidFill>
                  <a:srgbClr val="C00000"/>
                </a:solidFill>
                <a:latin typeface="Bookman Old Style" pitchFamily="18" charset="0"/>
              </a:rPr>
              <a:t>practices and activities </a:t>
            </a:r>
            <a:r>
              <a:rPr lang="en-US" dirty="0">
                <a:solidFill>
                  <a:prstClr val="black"/>
                </a:solidFill>
                <a:latin typeface="Bookman Old Style" pitchFamily="18" charset="0"/>
              </a:rPr>
              <a:t>carried out by men and women which lead to </a:t>
            </a:r>
            <a:r>
              <a:rPr lang="en-US" b="1" dirty="0">
                <a:solidFill>
                  <a:srgbClr val="C00000"/>
                </a:solidFill>
                <a:latin typeface="Bookman Old Style" pitchFamily="18" charset="0"/>
              </a:rPr>
              <a:t>socially constructed division of labor</a:t>
            </a:r>
            <a:r>
              <a:rPr lang="en-US" dirty="0">
                <a:solidFill>
                  <a:prstClr val="black"/>
                </a:solidFill>
                <a:latin typeface="Bookman Old Style" pitchFamily="18" charset="0"/>
              </a:rPr>
              <a:t>.  There are three main categories of gender Role, they are:</a:t>
            </a:r>
          </a:p>
          <a:p>
            <a:pPr marL="742950" lvl="1" indent="-285750" algn="just">
              <a:buClrTx/>
              <a:buSzTx/>
              <a:buFont typeface="Courier New" pitchFamily="49" charset="0"/>
              <a:buChar char="o"/>
            </a:pPr>
            <a:r>
              <a:rPr lang="en-US" sz="2500" b="1" dirty="0">
                <a:solidFill>
                  <a:prstClr val="black"/>
                </a:solidFill>
                <a:latin typeface="Bookman Old Style" pitchFamily="18" charset="0"/>
              </a:rPr>
              <a:t>Reproductive role:- </a:t>
            </a:r>
            <a:r>
              <a:rPr lang="en-US" sz="2500" dirty="0">
                <a:solidFill>
                  <a:prstClr val="black"/>
                </a:solidFill>
                <a:latin typeface="Bookman Old Style" pitchFamily="18" charset="0"/>
              </a:rPr>
              <a:t>Involve the care and maintenance of household and its members including bearing and caring for children.</a:t>
            </a:r>
          </a:p>
          <a:p>
            <a:pPr marL="742950" lvl="1" indent="-285750" algn="just">
              <a:buClrTx/>
              <a:buSzTx/>
              <a:buFont typeface="Courier New" pitchFamily="49" charset="0"/>
              <a:buChar char="o"/>
            </a:pPr>
            <a:r>
              <a:rPr lang="en-US" sz="2500" b="1" dirty="0">
                <a:solidFill>
                  <a:prstClr val="black"/>
                </a:solidFill>
                <a:latin typeface="Bookman Old Style" pitchFamily="18" charset="0"/>
              </a:rPr>
              <a:t>Productive role:- </a:t>
            </a:r>
            <a:r>
              <a:rPr lang="en-US" sz="2500" dirty="0">
                <a:solidFill>
                  <a:prstClr val="black"/>
                </a:solidFill>
                <a:latin typeface="Bookman Old Style" pitchFamily="18" charset="0"/>
              </a:rPr>
              <a:t>involves the production of goods and services for consumption and trade.</a:t>
            </a:r>
          </a:p>
          <a:p>
            <a:pPr marL="742950" lvl="1" indent="-285750" algn="just">
              <a:buClrTx/>
              <a:buSzTx/>
              <a:buFont typeface="Courier New" pitchFamily="49" charset="0"/>
              <a:buChar char="o"/>
            </a:pPr>
            <a:r>
              <a:rPr lang="en-US" sz="2500" b="1" dirty="0">
                <a:solidFill>
                  <a:prstClr val="black"/>
                </a:solidFill>
                <a:latin typeface="Bookman Old Style" pitchFamily="18" charset="0"/>
              </a:rPr>
              <a:t>Community Role:- </a:t>
            </a:r>
            <a:r>
              <a:rPr lang="en-US" sz="2500" dirty="0">
                <a:solidFill>
                  <a:prstClr val="black"/>
                </a:solidFill>
                <a:latin typeface="Bookman Old Style" pitchFamily="18" charset="0"/>
              </a:rPr>
              <a:t>Involves the collective organization of social events and services. </a:t>
            </a:r>
          </a:p>
          <a:p>
            <a:pPr marL="342900" lvl="0" indent="-342900">
              <a:buClrTx/>
              <a:buSzTx/>
              <a:buNone/>
            </a:pPr>
            <a:r>
              <a:rPr lang="en-US" sz="3200" b="1" dirty="0">
                <a:solidFill>
                  <a:prstClr val="black"/>
                </a:solidFill>
                <a:latin typeface="Bookman Old Style" pitchFamily="18" charset="0"/>
              </a:rPr>
              <a:t>Gender role:-</a:t>
            </a:r>
          </a:p>
          <a:p>
            <a:pPr marL="742950" lvl="1" indent="-285750">
              <a:buClrTx/>
              <a:buSzTx/>
              <a:buFont typeface="Arial" pitchFamily="34" charset="0"/>
              <a:buChar char="•"/>
            </a:pPr>
            <a:r>
              <a:rPr lang="en-US" sz="2800" dirty="0">
                <a:solidFill>
                  <a:prstClr val="black"/>
                </a:solidFill>
                <a:latin typeface="Bookman Old Style" pitchFamily="18" charset="0"/>
              </a:rPr>
              <a:t>Depends on a particular socio-economic political and cultural context.</a:t>
            </a:r>
          </a:p>
          <a:p>
            <a:pPr marL="742950" lvl="1" indent="-285750">
              <a:buClrTx/>
              <a:buSzTx/>
              <a:buFont typeface="Arial" pitchFamily="34" charset="0"/>
              <a:buChar char="•"/>
            </a:pPr>
            <a:r>
              <a:rPr lang="en-US" sz="2800" dirty="0">
                <a:solidFill>
                  <a:prstClr val="black"/>
                </a:solidFill>
                <a:latin typeface="Bookman Old Style" pitchFamily="18" charset="0"/>
              </a:rPr>
              <a:t>Learned and vary widely within and between cultures.</a:t>
            </a:r>
          </a:p>
          <a:p>
            <a:pPr marL="742950" lvl="1" indent="-285750">
              <a:buClrTx/>
              <a:buSzTx/>
              <a:buFont typeface="Arial" pitchFamily="34" charset="0"/>
              <a:buChar char="•"/>
            </a:pPr>
            <a:r>
              <a:rPr lang="en-US" sz="2800" dirty="0">
                <a:solidFill>
                  <a:prstClr val="black"/>
                </a:solidFill>
                <a:latin typeface="Bookman Old Style" pitchFamily="18" charset="0"/>
              </a:rPr>
              <a:t>Can be changed.</a:t>
            </a:r>
          </a:p>
          <a:p>
            <a:pPr marL="742950" lvl="1" indent="-285750">
              <a:buClrTx/>
              <a:buSzTx/>
              <a:buFont typeface="Arial" pitchFamily="34" charset="0"/>
              <a:buChar char="•"/>
            </a:pPr>
            <a:r>
              <a:rPr lang="en-US" sz="2800" dirty="0">
                <a:solidFill>
                  <a:prstClr val="black"/>
                </a:solidFill>
                <a:latin typeface="Bookman Old Style" pitchFamily="18" charset="0"/>
              </a:rPr>
              <a:t>Helps to determine both sexes access to rights, resources and opportunities.</a:t>
            </a:r>
          </a:p>
          <a:p>
            <a:pPr marL="0" indent="0">
              <a:buNone/>
            </a:pPr>
            <a:endParaRPr lang="en-US" dirty="0"/>
          </a:p>
          <a:p>
            <a:pPr algn="just"/>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229600" cy="6248400"/>
          </a:xfrm>
        </p:spPr>
        <p:txBody>
          <a:bodyPr>
            <a:normAutofit/>
          </a:bodyPr>
          <a:lstStyle/>
          <a:p>
            <a:pPr marL="0" lvl="0" indent="0" algn="just">
              <a:buClr>
                <a:srgbClr val="D16349"/>
              </a:buClr>
              <a:buNone/>
            </a:pPr>
            <a:r>
              <a:rPr lang="en-US" sz="3200" b="1" dirty="0" smtClean="0">
                <a:solidFill>
                  <a:srgbClr val="8CADAE">
                    <a:shade val="75000"/>
                  </a:srgbClr>
                </a:solidFill>
                <a:ea typeface="+mj-ea"/>
                <a:cs typeface="+mj-cs"/>
              </a:rPr>
              <a:t>Historical </a:t>
            </a:r>
            <a:r>
              <a:rPr lang="en-US" sz="3200" b="1" dirty="0">
                <a:solidFill>
                  <a:srgbClr val="8CADAE">
                    <a:shade val="75000"/>
                  </a:srgbClr>
                </a:solidFill>
                <a:ea typeface="+mj-ea"/>
                <a:cs typeface="+mj-cs"/>
              </a:rPr>
              <a:t>perspectives on the legal status of women in the Glob</a:t>
            </a:r>
            <a:endParaRPr lang="en-US" b="1" dirty="0">
              <a:solidFill>
                <a:prstClr val="black"/>
              </a:solidFill>
            </a:endParaRPr>
          </a:p>
          <a:p>
            <a:pPr lvl="0" algn="just">
              <a:buClr>
                <a:srgbClr val="D16349"/>
              </a:buClr>
              <a:buNone/>
            </a:pPr>
            <a:r>
              <a:rPr lang="en-US" dirty="0" smtClean="0">
                <a:solidFill>
                  <a:prstClr val="black"/>
                </a:solidFill>
              </a:rPr>
              <a:t>THE </a:t>
            </a:r>
            <a:r>
              <a:rPr lang="en-US" dirty="0">
                <a:solidFill>
                  <a:prstClr val="black"/>
                </a:solidFill>
              </a:rPr>
              <a:t>FIRST PHASE </a:t>
            </a:r>
          </a:p>
          <a:p>
            <a:pPr lvl="0" algn="just">
              <a:buClr>
                <a:srgbClr val="D16349"/>
              </a:buClr>
              <a:buNone/>
            </a:pPr>
            <a:r>
              <a:rPr lang="en-US" dirty="0">
                <a:solidFill>
                  <a:prstClr val="black"/>
                </a:solidFill>
              </a:rPr>
              <a:t>UN charter refer to the "equal rights of men and women" as they declared the Organization's "faith in fundamental human rights" and the "dignity and worth of the human person".</a:t>
            </a:r>
          </a:p>
          <a:p>
            <a:pPr lvl="0">
              <a:buClr>
                <a:srgbClr val="D16349"/>
              </a:buClr>
            </a:pPr>
            <a:r>
              <a:rPr lang="en-US" dirty="0">
                <a:solidFill>
                  <a:prstClr val="black"/>
                </a:solidFill>
              </a:rPr>
              <a:t>During this phase the work of the UN on behalf of women focused primarily on: </a:t>
            </a:r>
          </a:p>
          <a:p>
            <a:pPr lvl="0">
              <a:buClr>
                <a:srgbClr val="D16349"/>
              </a:buClr>
              <a:buFont typeface="Wingdings" pitchFamily="2" charset="2"/>
              <a:buChar char="Ø"/>
            </a:pPr>
            <a:r>
              <a:rPr lang="en-US" dirty="0">
                <a:solidFill>
                  <a:prstClr val="black"/>
                </a:solidFill>
              </a:rPr>
              <a:t>  the codification of women's legal and civil rights, </a:t>
            </a:r>
          </a:p>
          <a:p>
            <a:pPr lvl="0">
              <a:buClr>
                <a:srgbClr val="D16349"/>
              </a:buClr>
              <a:buFont typeface="Wingdings" pitchFamily="2" charset="2"/>
              <a:buChar char="Ø"/>
            </a:pPr>
            <a:r>
              <a:rPr lang="en-US" dirty="0">
                <a:solidFill>
                  <a:prstClr val="black"/>
                </a:solidFill>
              </a:rPr>
              <a:t> the gathering of data on the status of women around the world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324600"/>
          </a:xfrm>
        </p:spPr>
        <p:txBody>
          <a:bodyPr>
            <a:normAutofit fontScale="92500" lnSpcReduction="20000"/>
          </a:bodyPr>
          <a:lstStyle/>
          <a:p>
            <a:pPr lvl="0">
              <a:buClr>
                <a:srgbClr val="D16349"/>
              </a:buClr>
              <a:buNone/>
            </a:pPr>
            <a:r>
              <a:rPr lang="en-US" b="1" dirty="0">
                <a:solidFill>
                  <a:prstClr val="black"/>
                </a:solidFill>
              </a:rPr>
              <a:t>The second phase </a:t>
            </a:r>
          </a:p>
          <a:p>
            <a:pPr lvl="0">
              <a:buClr>
                <a:srgbClr val="D16349"/>
              </a:buClr>
              <a:buNone/>
            </a:pPr>
            <a:r>
              <a:rPr lang="en-US" b="1" dirty="0">
                <a:solidFill>
                  <a:prstClr val="black"/>
                </a:solidFill>
              </a:rPr>
              <a:t>The four international women conference (1975-1995</a:t>
            </a:r>
            <a:r>
              <a:rPr lang="en-US" b="1" dirty="0" smtClean="0">
                <a:solidFill>
                  <a:prstClr val="black"/>
                </a:solidFill>
              </a:rPr>
              <a:t>)</a:t>
            </a:r>
            <a:endParaRPr lang="en-US" i="1" dirty="0" smtClean="0">
              <a:solidFill>
                <a:srgbClr val="FF0000"/>
              </a:solidFill>
            </a:endParaRPr>
          </a:p>
          <a:p>
            <a:pPr lvl="0" algn="just">
              <a:buClr>
                <a:srgbClr val="D16349"/>
              </a:buClr>
            </a:pPr>
            <a:r>
              <a:rPr lang="en-US" dirty="0">
                <a:solidFill>
                  <a:prstClr val="black"/>
                </a:solidFill>
              </a:rPr>
              <a:t>Four world conferences on women convened by the UN  have been instrumental in elevating the cause of gender equality to the very </a:t>
            </a:r>
            <a:r>
              <a:rPr lang="en-US" dirty="0" smtClean="0">
                <a:solidFill>
                  <a:prstClr val="black"/>
                </a:solidFill>
              </a:rPr>
              <a:t>center </a:t>
            </a:r>
            <a:r>
              <a:rPr lang="en-US" dirty="0">
                <a:solidFill>
                  <a:prstClr val="black"/>
                </a:solidFill>
              </a:rPr>
              <a:t>of the global </a:t>
            </a:r>
            <a:r>
              <a:rPr lang="en-US" dirty="0" smtClean="0">
                <a:solidFill>
                  <a:prstClr val="black"/>
                </a:solidFill>
              </a:rPr>
              <a:t>agenda</a:t>
            </a:r>
            <a:endParaRPr lang="en-US" i="1" dirty="0">
              <a:solidFill>
                <a:srgbClr val="FF0000"/>
              </a:solidFill>
            </a:endParaRPr>
          </a:p>
          <a:p>
            <a:pPr marL="514350" indent="-514350" algn="just">
              <a:buAutoNum type="arabicPeriod"/>
            </a:pPr>
            <a:r>
              <a:rPr lang="en-US" i="1" dirty="0" smtClean="0">
                <a:solidFill>
                  <a:srgbClr val="FF0000"/>
                </a:solidFill>
              </a:rPr>
              <a:t>The </a:t>
            </a:r>
            <a:r>
              <a:rPr lang="en-US" i="1" dirty="0">
                <a:solidFill>
                  <a:srgbClr val="FF0000"/>
                </a:solidFill>
              </a:rPr>
              <a:t>Mexico City conference</a:t>
            </a:r>
            <a:r>
              <a:rPr lang="en-US" i="1" dirty="0" smtClean="0"/>
              <a:t>:</a:t>
            </a:r>
          </a:p>
          <a:p>
            <a:pPr marL="514350" indent="-514350" algn="just">
              <a:buFont typeface="Wingdings" pitchFamily="2" charset="2"/>
              <a:buChar char="Ø"/>
            </a:pPr>
            <a:r>
              <a:rPr lang="en-US" dirty="0" smtClean="0"/>
              <a:t>opening </a:t>
            </a:r>
            <a:r>
              <a:rPr lang="en-US" dirty="0"/>
              <a:t>worldwide dialogue on gender </a:t>
            </a:r>
            <a:r>
              <a:rPr lang="en-US" dirty="0" smtClean="0"/>
              <a:t>equality</a:t>
            </a:r>
          </a:p>
          <a:p>
            <a:pPr marL="514350" indent="-514350" algn="just">
              <a:buFont typeface="Wingdings" pitchFamily="2" charset="2"/>
              <a:buChar char="Ø"/>
            </a:pPr>
            <a:r>
              <a:rPr lang="en-US" dirty="0" smtClean="0"/>
              <a:t>It was </a:t>
            </a:r>
            <a:r>
              <a:rPr lang="en-US" dirty="0"/>
              <a:t>called for by the </a:t>
            </a:r>
            <a:r>
              <a:rPr lang="en-US" dirty="0" smtClean="0"/>
              <a:t>UNGA to develop effective strategies and plans of action for the advancement of women</a:t>
            </a:r>
          </a:p>
          <a:p>
            <a:pPr algn="just">
              <a:buFont typeface="Wingdings" pitchFamily="2" charset="2"/>
              <a:buChar char="v"/>
            </a:pPr>
            <a:r>
              <a:rPr lang="en-US" dirty="0" smtClean="0"/>
              <a:t>THE UNGA set three objectives </a:t>
            </a:r>
          </a:p>
          <a:p>
            <a:pPr lvl="0" algn="just"/>
            <a:r>
              <a:rPr lang="en-US" sz="3000" dirty="0" smtClean="0"/>
              <a:t> </a:t>
            </a:r>
            <a:r>
              <a:rPr lang="en-US" sz="3000" dirty="0"/>
              <a:t>elimination of gender discrimination; </a:t>
            </a:r>
          </a:p>
          <a:p>
            <a:pPr lvl="0" algn="just"/>
            <a:r>
              <a:rPr lang="en-US" sz="3000" dirty="0" smtClean="0"/>
              <a:t>participation </a:t>
            </a:r>
            <a:r>
              <a:rPr lang="en-US" sz="3000" dirty="0"/>
              <a:t>of women in development; </a:t>
            </a:r>
          </a:p>
          <a:p>
            <a:pPr lvl="0" algn="just"/>
            <a:r>
              <a:rPr lang="en-US" sz="3000" dirty="0" smtClean="0"/>
              <a:t>A contribution of </a:t>
            </a:r>
            <a:r>
              <a:rPr lang="en-US" sz="3000" dirty="0"/>
              <a:t>women in the strengthening of world peace</a:t>
            </a:r>
          </a:p>
          <a:p>
            <a:pPr marL="514350" indent="-514350">
              <a:buNone/>
            </a:pPr>
            <a:endParaRPr lang="en-US" dirty="0" smtClean="0"/>
          </a:p>
          <a:p>
            <a:pPr marL="514350" indent="-514350">
              <a:buFont typeface="Wingdings" pitchFamily="2" charset="2"/>
              <a:buChar char="Ø"/>
            </a:pPr>
            <a:endParaRPr lang="en-US" dirty="0"/>
          </a:p>
          <a:p>
            <a:pPr>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400800"/>
          </a:xfrm>
        </p:spPr>
        <p:txBody>
          <a:bodyPr>
            <a:normAutofit fontScale="85000" lnSpcReduction="10000"/>
          </a:bodyPr>
          <a:lstStyle/>
          <a:p>
            <a:pPr>
              <a:buFont typeface="Wingdings" pitchFamily="2" charset="2"/>
              <a:buChar char="v"/>
            </a:pPr>
            <a:r>
              <a:rPr lang="en-US" b="1" dirty="0" smtClean="0"/>
              <a:t>It was concluded by</a:t>
            </a:r>
            <a:r>
              <a:rPr lang="en-US" dirty="0" smtClean="0"/>
              <a:t>:</a:t>
            </a:r>
          </a:p>
          <a:p>
            <a:r>
              <a:rPr lang="en-US" dirty="0" smtClean="0"/>
              <a:t> adopting </a:t>
            </a:r>
            <a:r>
              <a:rPr lang="en-US" dirty="0"/>
              <a:t>a World Plan of </a:t>
            </a:r>
            <a:r>
              <a:rPr lang="en-US" dirty="0" smtClean="0"/>
              <a:t>Action </a:t>
            </a:r>
          </a:p>
          <a:p>
            <a:r>
              <a:rPr lang="en-US" dirty="0" smtClean="0"/>
              <a:t>set minimum targets at 1980 securing </a:t>
            </a:r>
            <a:r>
              <a:rPr lang="en-US" dirty="0"/>
              <a:t>equal access for women to resources such </a:t>
            </a:r>
            <a:r>
              <a:rPr lang="en-US" dirty="0" smtClean="0"/>
              <a:t>as:</a:t>
            </a:r>
          </a:p>
          <a:p>
            <a:pPr>
              <a:buFont typeface="Wingdings" pitchFamily="2" charset="2"/>
              <a:buChar char="ü"/>
            </a:pPr>
            <a:r>
              <a:rPr lang="en-US" dirty="0" smtClean="0"/>
              <a:t> </a:t>
            </a:r>
            <a:r>
              <a:rPr lang="en-US" dirty="0"/>
              <a:t>education, </a:t>
            </a:r>
            <a:endParaRPr lang="en-US" dirty="0" smtClean="0"/>
          </a:p>
          <a:p>
            <a:pPr>
              <a:buFont typeface="Wingdings" pitchFamily="2" charset="2"/>
              <a:buChar char="ü"/>
            </a:pPr>
            <a:r>
              <a:rPr lang="en-US" dirty="0" smtClean="0"/>
              <a:t>employment </a:t>
            </a:r>
            <a:r>
              <a:rPr lang="en-US" dirty="0"/>
              <a:t>opportunities, </a:t>
            </a:r>
            <a:endParaRPr lang="en-US" dirty="0" smtClean="0"/>
          </a:p>
          <a:p>
            <a:pPr>
              <a:buFont typeface="Wingdings" pitchFamily="2" charset="2"/>
              <a:buChar char="ü"/>
            </a:pPr>
            <a:r>
              <a:rPr lang="en-US" dirty="0" smtClean="0"/>
              <a:t>political </a:t>
            </a:r>
            <a:r>
              <a:rPr lang="en-US" dirty="0"/>
              <a:t>participation, </a:t>
            </a:r>
            <a:endParaRPr lang="en-US" dirty="0" smtClean="0"/>
          </a:p>
          <a:p>
            <a:pPr>
              <a:buFont typeface="Wingdings" pitchFamily="2" charset="2"/>
              <a:buChar char="ü"/>
            </a:pPr>
            <a:r>
              <a:rPr lang="en-US" dirty="0" smtClean="0"/>
              <a:t>health </a:t>
            </a:r>
            <a:r>
              <a:rPr lang="en-US" dirty="0"/>
              <a:t>services, </a:t>
            </a:r>
            <a:endParaRPr lang="en-US" dirty="0" smtClean="0"/>
          </a:p>
          <a:p>
            <a:pPr>
              <a:buFont typeface="Wingdings" pitchFamily="2" charset="2"/>
              <a:buChar char="ü"/>
            </a:pPr>
            <a:r>
              <a:rPr lang="en-US" dirty="0" smtClean="0"/>
              <a:t>housing</a:t>
            </a:r>
            <a:r>
              <a:rPr lang="en-US" dirty="0"/>
              <a:t>, </a:t>
            </a:r>
            <a:endParaRPr lang="en-US" dirty="0" smtClean="0"/>
          </a:p>
          <a:p>
            <a:pPr>
              <a:buFont typeface="Wingdings" pitchFamily="2" charset="2"/>
              <a:buChar char="ü"/>
            </a:pPr>
            <a:r>
              <a:rPr lang="en-US" dirty="0" smtClean="0"/>
              <a:t>nutrition </a:t>
            </a:r>
            <a:r>
              <a:rPr lang="en-US" dirty="0"/>
              <a:t>and </a:t>
            </a:r>
            <a:endParaRPr lang="en-US" dirty="0" smtClean="0"/>
          </a:p>
          <a:p>
            <a:pPr>
              <a:buFont typeface="Wingdings" pitchFamily="2" charset="2"/>
              <a:buChar char="ü"/>
            </a:pPr>
            <a:r>
              <a:rPr lang="en-US" dirty="0" smtClean="0"/>
              <a:t>family </a:t>
            </a:r>
            <a:r>
              <a:rPr lang="en-US" dirty="0"/>
              <a:t>planning</a:t>
            </a:r>
            <a:r>
              <a:rPr lang="en-US" dirty="0" smtClean="0"/>
              <a:t>.</a:t>
            </a:r>
          </a:p>
          <a:p>
            <a:pPr>
              <a:buNone/>
            </a:pPr>
            <a:r>
              <a:rPr lang="en-US" b="1" dirty="0" smtClean="0">
                <a:solidFill>
                  <a:srgbClr val="FF0000"/>
                </a:solidFill>
              </a:rPr>
              <a:t>Contribution</a:t>
            </a:r>
            <a:r>
              <a:rPr lang="en-US" b="1" dirty="0" smtClean="0"/>
              <a:t> </a:t>
            </a:r>
          </a:p>
          <a:p>
            <a:pPr algn="just">
              <a:buFont typeface="Wingdings" pitchFamily="2" charset="2"/>
              <a:buChar char="v"/>
            </a:pPr>
            <a:r>
              <a:rPr lang="en-US" dirty="0" smtClean="0"/>
              <a:t>change of perception </a:t>
            </a:r>
          </a:p>
          <a:p>
            <a:pPr algn="just">
              <a:buFont typeface="Wingdings" pitchFamily="2" charset="2"/>
              <a:buChar char="§"/>
            </a:pPr>
            <a:r>
              <a:rPr lang="en-US" dirty="0"/>
              <a:t>recipients of support and </a:t>
            </a:r>
            <a:r>
              <a:rPr lang="en-US" dirty="0" smtClean="0"/>
              <a:t>assistance</a:t>
            </a:r>
            <a:r>
              <a:rPr lang="en-US" dirty="0"/>
              <a:t> </a:t>
            </a:r>
            <a:r>
              <a:rPr lang="en-US" dirty="0" smtClean="0"/>
              <a:t>to </a:t>
            </a:r>
            <a:r>
              <a:rPr lang="en-US" dirty="0"/>
              <a:t>full and equal partners with men, with equal rights to resources and </a:t>
            </a:r>
            <a:r>
              <a:rPr lang="en-US" dirty="0" smtClean="0"/>
              <a:t>opportunities</a:t>
            </a:r>
          </a:p>
          <a:p>
            <a:pPr algn="just">
              <a:buFont typeface="Wingdings" pitchFamily="2" charset="2"/>
              <a:buChar char="§"/>
            </a:pPr>
            <a:r>
              <a:rPr lang="en-US" dirty="0" smtClean="0"/>
              <a:t>Dev’t served </a:t>
            </a:r>
            <a:r>
              <a:rPr lang="en-US" dirty="0"/>
              <a:t>to advance women, to </a:t>
            </a:r>
            <a:r>
              <a:rPr lang="en-US" dirty="0" smtClean="0"/>
              <a:t> dev’t was </a:t>
            </a:r>
            <a:r>
              <a:rPr lang="en-US" dirty="0"/>
              <a:t>not possible without the full participation of women</a:t>
            </a:r>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248400"/>
          </a:xfrm>
        </p:spPr>
        <p:txBody>
          <a:bodyPr>
            <a:normAutofit fontScale="85000" lnSpcReduction="10000"/>
          </a:bodyPr>
          <a:lstStyle/>
          <a:p>
            <a:pPr algn="just">
              <a:buFont typeface="Wingdings" pitchFamily="2" charset="2"/>
              <a:buChar char="§"/>
            </a:pPr>
            <a:r>
              <a:rPr lang="en-US" dirty="0"/>
              <a:t>127 Member States </a:t>
            </a:r>
            <a:r>
              <a:rPr lang="en-US" dirty="0" smtClean="0"/>
              <a:t>established some </a:t>
            </a:r>
            <a:r>
              <a:rPr lang="en-US" dirty="0"/>
              <a:t>form of </a:t>
            </a:r>
            <a:r>
              <a:rPr lang="en-US" dirty="0">
                <a:solidFill>
                  <a:srgbClr val="FF0000"/>
                </a:solidFill>
              </a:rPr>
              <a:t>national machinery, institutions </a:t>
            </a:r>
            <a:r>
              <a:rPr lang="en-US" dirty="0"/>
              <a:t>dealing </a:t>
            </a:r>
            <a:r>
              <a:rPr lang="en-US" dirty="0" smtClean="0"/>
              <a:t> with women's </a:t>
            </a:r>
            <a:r>
              <a:rPr lang="en-US" dirty="0"/>
              <a:t>advancement and participation in </a:t>
            </a:r>
            <a:r>
              <a:rPr lang="en-US" dirty="0" smtClean="0"/>
              <a:t>development</a:t>
            </a:r>
          </a:p>
          <a:p>
            <a:pPr algn="just">
              <a:buFont typeface="Wingdings" pitchFamily="2" charset="2"/>
              <a:buChar char="§"/>
            </a:pPr>
            <a:r>
              <a:rPr lang="en-US" dirty="0" smtClean="0"/>
              <a:t>led </a:t>
            </a:r>
            <a:r>
              <a:rPr lang="en-US" dirty="0"/>
              <a:t>to the establishment of the International Research and Training Institute for the Advancement of Women (INSTRAW) and the </a:t>
            </a:r>
            <a:r>
              <a:rPr lang="en-US" dirty="0" smtClean="0"/>
              <a:t>UN Development </a:t>
            </a:r>
            <a:r>
              <a:rPr lang="en-US" dirty="0"/>
              <a:t>Fund for Women (UNIFEM</a:t>
            </a:r>
            <a:r>
              <a:rPr lang="en-US" dirty="0" smtClean="0"/>
              <a:t>)</a:t>
            </a:r>
          </a:p>
          <a:p>
            <a:pPr marL="0" indent="0" algn="just">
              <a:buNone/>
            </a:pPr>
            <a:r>
              <a:rPr lang="en-US" dirty="0" smtClean="0"/>
              <a:t> </a:t>
            </a:r>
          </a:p>
          <a:p>
            <a:pPr lvl="0" algn="just">
              <a:buClr>
                <a:srgbClr val="D16349"/>
              </a:buClr>
              <a:buNone/>
            </a:pPr>
            <a:r>
              <a:rPr lang="en-US" b="1" i="1" dirty="0" smtClean="0">
                <a:solidFill>
                  <a:prstClr val="black"/>
                </a:solidFill>
              </a:rPr>
              <a:t>2. The </a:t>
            </a:r>
            <a:r>
              <a:rPr lang="en-US" b="1" i="1" dirty="0">
                <a:solidFill>
                  <a:prstClr val="black"/>
                </a:solidFill>
              </a:rPr>
              <a:t>Copenhagen: The Review Process </a:t>
            </a:r>
            <a:r>
              <a:rPr lang="en-US" b="1" i="1" dirty="0" smtClean="0">
                <a:solidFill>
                  <a:prstClr val="black"/>
                </a:solidFill>
              </a:rPr>
              <a:t>begins..1980</a:t>
            </a:r>
            <a:endParaRPr lang="en-US" b="1" i="1" dirty="0">
              <a:solidFill>
                <a:prstClr val="black"/>
              </a:solidFill>
            </a:endParaRPr>
          </a:p>
          <a:p>
            <a:pPr lvl="0" algn="just">
              <a:buClr>
                <a:srgbClr val="D16349"/>
              </a:buClr>
              <a:buFont typeface="Wingdings" pitchFamily="2" charset="2"/>
              <a:buChar char="Ø"/>
            </a:pPr>
            <a:r>
              <a:rPr lang="en-US" dirty="0">
                <a:solidFill>
                  <a:prstClr val="black"/>
                </a:solidFill>
              </a:rPr>
              <a:t> held to review and appraise the 1975 World Plan of Action</a:t>
            </a:r>
          </a:p>
          <a:p>
            <a:pPr lvl="0" algn="just">
              <a:buClr>
                <a:srgbClr val="D16349"/>
              </a:buClr>
              <a:buFont typeface="Wingdings" pitchFamily="2" charset="2"/>
              <a:buChar char="Ø"/>
            </a:pPr>
            <a:r>
              <a:rPr lang="en-US" dirty="0">
                <a:solidFill>
                  <a:prstClr val="black"/>
                </a:solidFill>
              </a:rPr>
              <a:t>In 1979 CEDAW adopted and signed by 165 </a:t>
            </a:r>
            <a:r>
              <a:rPr lang="en-US" dirty="0" smtClean="0">
                <a:solidFill>
                  <a:prstClr val="black"/>
                </a:solidFill>
              </a:rPr>
              <a:t>states</a:t>
            </a:r>
            <a:endParaRPr lang="en-US" dirty="0">
              <a:solidFill>
                <a:prstClr val="black"/>
              </a:solidFill>
            </a:endParaRPr>
          </a:p>
          <a:p>
            <a:pPr lvl="0" algn="just">
              <a:buClr>
                <a:srgbClr val="D16349"/>
              </a:buClr>
              <a:buFont typeface="Wingdings" pitchFamily="2" charset="2"/>
              <a:buChar char="Ø"/>
            </a:pPr>
            <a:r>
              <a:rPr lang="en-US" dirty="0">
                <a:solidFill>
                  <a:prstClr val="black"/>
                </a:solidFill>
              </a:rPr>
              <a:t>An Optional Protocol to the Convention, enabling women victims of sex discrimination to submit complaints in 1999</a:t>
            </a:r>
          </a:p>
          <a:p>
            <a:pPr lvl="0" algn="just">
              <a:buClr>
                <a:srgbClr val="D16349"/>
              </a:buClr>
              <a:buNone/>
            </a:pPr>
            <a:r>
              <a:rPr lang="en-US" b="1" dirty="0">
                <a:solidFill>
                  <a:prstClr val="black"/>
                </a:solidFill>
              </a:rPr>
              <a:t>Draw backs identified </a:t>
            </a:r>
          </a:p>
          <a:p>
            <a:pPr lvl="0" algn="just">
              <a:buClr>
                <a:srgbClr val="D16349"/>
              </a:buClr>
              <a:buFont typeface="Wingdings" pitchFamily="2" charset="2"/>
              <a:buChar char="Ø"/>
            </a:pPr>
            <a:r>
              <a:rPr lang="en-US" dirty="0">
                <a:solidFill>
                  <a:prstClr val="black"/>
                </a:solidFill>
              </a:rPr>
              <a:t>signs of disparity between rights secured and women's ability to exercise these rights</a:t>
            </a:r>
          </a:p>
          <a:p>
            <a:pPr marL="0" indent="0" algn="just">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458200" cy="6477000"/>
          </a:xfrm>
        </p:spPr>
        <p:txBody>
          <a:bodyPr>
            <a:normAutofit lnSpcReduction="10000"/>
          </a:bodyPr>
          <a:lstStyle/>
          <a:p>
            <a:pPr>
              <a:buNone/>
            </a:pPr>
            <a:r>
              <a:rPr lang="en-US" dirty="0" smtClean="0"/>
              <a:t>Factors contributing for women to be un able to use their rights. These were:</a:t>
            </a:r>
            <a:endParaRPr lang="en-US" dirty="0"/>
          </a:p>
          <a:p>
            <a:pPr lvl="0"/>
            <a:r>
              <a:rPr lang="en-US" dirty="0"/>
              <a:t>Lack of sufficient involvement of men </a:t>
            </a:r>
            <a:r>
              <a:rPr lang="en-US" dirty="0" smtClean="0"/>
              <a:t> </a:t>
            </a:r>
            <a:endParaRPr lang="en-US" dirty="0"/>
          </a:p>
          <a:p>
            <a:pPr lvl="0"/>
            <a:r>
              <a:rPr lang="en-US" dirty="0"/>
              <a:t>Insufficient political will; </a:t>
            </a:r>
          </a:p>
          <a:p>
            <a:pPr lvl="0"/>
            <a:r>
              <a:rPr lang="en-US" dirty="0"/>
              <a:t>Lack of recognition </a:t>
            </a:r>
            <a:r>
              <a:rPr lang="en-US" dirty="0" smtClean="0"/>
              <a:t>on </a:t>
            </a:r>
            <a:r>
              <a:rPr lang="en-US" dirty="0"/>
              <a:t>the value of women's contributions to society; </a:t>
            </a:r>
          </a:p>
          <a:p>
            <a:pPr lvl="0"/>
            <a:r>
              <a:rPr lang="en-US" dirty="0"/>
              <a:t>Lack of attention to the particular needs of women in planning; </a:t>
            </a:r>
          </a:p>
          <a:p>
            <a:pPr lvl="0"/>
            <a:r>
              <a:rPr lang="en-US" dirty="0"/>
              <a:t>A shortage of women in decision-making positions; </a:t>
            </a:r>
          </a:p>
          <a:p>
            <a:pPr lvl="0"/>
            <a:r>
              <a:rPr lang="en-US" dirty="0"/>
              <a:t>Insufficient services to support the role of women in national life, such as co-operatives, day-care centers and credit facilities; </a:t>
            </a:r>
          </a:p>
          <a:p>
            <a:pPr lvl="0"/>
            <a:r>
              <a:rPr lang="en-US" dirty="0"/>
              <a:t>Overall lack of necessary financial resources; </a:t>
            </a:r>
          </a:p>
          <a:p>
            <a:r>
              <a:rPr lang="en-US" dirty="0"/>
              <a:t>Lack of awareness among women about the opportunities available to them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a:bodyPr>
          <a:lstStyle/>
          <a:p>
            <a:pPr algn="just">
              <a:buNone/>
            </a:pPr>
            <a:r>
              <a:rPr lang="en-US" dirty="0" smtClean="0"/>
              <a:t>To address this issue the conference identified three specified areas that needs focused attention </a:t>
            </a:r>
          </a:p>
          <a:p>
            <a:pPr algn="just">
              <a:buNone/>
            </a:pPr>
            <a:r>
              <a:rPr lang="en-US" dirty="0" smtClean="0"/>
              <a:t>These </a:t>
            </a:r>
            <a:r>
              <a:rPr lang="en-US" dirty="0"/>
              <a:t>three areas were </a:t>
            </a:r>
            <a:endParaRPr lang="en-US" dirty="0" smtClean="0"/>
          </a:p>
          <a:p>
            <a:pPr algn="just"/>
            <a:r>
              <a:rPr lang="en-US" i="1" dirty="0" smtClean="0"/>
              <a:t>equal </a:t>
            </a:r>
            <a:r>
              <a:rPr lang="en-US" i="1" dirty="0"/>
              <a:t>access to education, </a:t>
            </a:r>
            <a:endParaRPr lang="en-US" i="1" dirty="0" smtClean="0"/>
          </a:p>
          <a:p>
            <a:pPr algn="just"/>
            <a:r>
              <a:rPr lang="en-US" i="1" dirty="0" smtClean="0"/>
              <a:t>employment </a:t>
            </a:r>
            <a:r>
              <a:rPr lang="en-US" i="1" dirty="0"/>
              <a:t>opportunities and </a:t>
            </a:r>
            <a:endParaRPr lang="en-US" i="1" dirty="0" smtClean="0"/>
          </a:p>
          <a:p>
            <a:pPr algn="just"/>
            <a:r>
              <a:rPr lang="en-US" i="1" dirty="0" smtClean="0"/>
              <a:t>adequate </a:t>
            </a:r>
            <a:r>
              <a:rPr lang="en-US" i="1" dirty="0"/>
              <a:t>health care </a:t>
            </a:r>
            <a:r>
              <a:rPr lang="en-US" i="1" dirty="0" smtClean="0"/>
              <a:t>services</a:t>
            </a:r>
          </a:p>
          <a:p>
            <a:pPr algn="just">
              <a:buNone/>
            </a:pPr>
            <a:r>
              <a:rPr lang="en-US" i="1" dirty="0" smtClean="0"/>
              <a:t>More over </a:t>
            </a:r>
            <a:endParaRPr lang="en-US" dirty="0" smtClean="0"/>
          </a:p>
          <a:p>
            <a:pPr algn="just">
              <a:buNone/>
            </a:pPr>
            <a:r>
              <a:rPr lang="en-US" dirty="0" smtClean="0"/>
              <a:t>It emphasis on stronger </a:t>
            </a:r>
            <a:r>
              <a:rPr lang="en-US" dirty="0"/>
              <a:t>national measures to </a:t>
            </a:r>
            <a:endParaRPr lang="en-US" dirty="0" smtClean="0"/>
          </a:p>
          <a:p>
            <a:pPr algn="just">
              <a:buFont typeface="Wingdings" pitchFamily="2" charset="2"/>
              <a:buChar char="Ø"/>
            </a:pPr>
            <a:r>
              <a:rPr lang="en-US" dirty="0" smtClean="0"/>
              <a:t>ensure </a:t>
            </a:r>
            <a:r>
              <a:rPr lang="en-US" dirty="0"/>
              <a:t>women's ownership and control of property, </a:t>
            </a:r>
          </a:p>
          <a:p>
            <a:pPr algn="just">
              <a:buFont typeface="Wingdings" pitchFamily="2" charset="2"/>
              <a:buChar char="Ø"/>
            </a:pPr>
            <a:r>
              <a:rPr lang="en-US" dirty="0" smtClean="0"/>
              <a:t> </a:t>
            </a:r>
            <a:r>
              <a:rPr lang="en-US" dirty="0"/>
              <a:t>improvements in women's rights to </a:t>
            </a:r>
            <a:r>
              <a:rPr lang="en-US" dirty="0" smtClean="0"/>
              <a:t>inheritance,</a:t>
            </a:r>
          </a:p>
          <a:p>
            <a:pPr algn="just">
              <a:buFont typeface="Wingdings" pitchFamily="2" charset="2"/>
              <a:buChar char="Ø"/>
            </a:pPr>
            <a:r>
              <a:rPr lang="en-US" dirty="0" smtClean="0"/>
              <a:t>child </a:t>
            </a:r>
            <a:r>
              <a:rPr lang="en-US" dirty="0"/>
              <a:t>custody and loss of nationality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458200" cy="6248400"/>
          </a:xfrm>
        </p:spPr>
        <p:txBody>
          <a:bodyPr>
            <a:normAutofit/>
          </a:bodyPr>
          <a:lstStyle/>
          <a:p>
            <a:pPr>
              <a:buNone/>
            </a:pPr>
            <a:r>
              <a:rPr lang="en-US" i="1" dirty="0" smtClean="0"/>
              <a:t>3. </a:t>
            </a:r>
            <a:r>
              <a:rPr lang="en-US" b="1" i="1" dirty="0" smtClean="0"/>
              <a:t>Nairobi</a:t>
            </a:r>
            <a:r>
              <a:rPr lang="en-US" b="1" dirty="0"/>
              <a:t>: </a:t>
            </a:r>
            <a:r>
              <a:rPr lang="en-US" b="1" i="1" dirty="0"/>
              <a:t>"The Birth of Global Feminism"</a:t>
            </a:r>
            <a:r>
              <a:rPr lang="en-US" b="1" dirty="0"/>
              <a:t> </a:t>
            </a:r>
            <a:r>
              <a:rPr lang="en-US" b="1" dirty="0" smtClean="0"/>
              <a:t>1985</a:t>
            </a:r>
          </a:p>
          <a:p>
            <a:pPr algn="just">
              <a:buFont typeface="Wingdings" pitchFamily="2" charset="2"/>
              <a:buChar char="Ø"/>
            </a:pPr>
            <a:r>
              <a:rPr lang="en-US" dirty="0" smtClean="0"/>
              <a:t>The women's movement become unified </a:t>
            </a:r>
          </a:p>
          <a:p>
            <a:pPr algn="just">
              <a:buFont typeface="Wingdings" pitchFamily="2" charset="2"/>
              <a:buChar char="Ø"/>
            </a:pPr>
            <a:r>
              <a:rPr lang="en-US" dirty="0"/>
              <a:t>I</a:t>
            </a:r>
            <a:r>
              <a:rPr lang="en-US" dirty="0" smtClean="0"/>
              <a:t>mprovements </a:t>
            </a:r>
            <a:r>
              <a:rPr lang="en-US" dirty="0"/>
              <a:t>in the status of </a:t>
            </a:r>
            <a:r>
              <a:rPr lang="en-US" dirty="0">
                <a:solidFill>
                  <a:srgbClr val="C00000"/>
                </a:solidFill>
              </a:rPr>
              <a:t>women and efforts to reduce discrimination had benefited </a:t>
            </a:r>
            <a:r>
              <a:rPr lang="en-US" dirty="0"/>
              <a:t>only a small minority of </a:t>
            </a:r>
            <a:r>
              <a:rPr lang="en-US" dirty="0" smtClean="0"/>
              <a:t>women and too marginal  in developing states </a:t>
            </a:r>
          </a:p>
          <a:p>
            <a:pPr algn="just">
              <a:buFont typeface="Wingdings" pitchFamily="2" charset="2"/>
              <a:buChar char="Ø"/>
            </a:pPr>
            <a:r>
              <a:rPr lang="en-US" dirty="0"/>
              <a:t>This realization demanded that a new approach be </a:t>
            </a:r>
            <a:r>
              <a:rPr lang="en-US" dirty="0" smtClean="0"/>
              <a:t>adopted</a:t>
            </a:r>
          </a:p>
          <a:p>
            <a:pPr algn="just">
              <a:buFont typeface="Wingdings" pitchFamily="2" charset="2"/>
              <a:buChar char="Ø"/>
            </a:pPr>
            <a:r>
              <a:rPr lang="en-US" dirty="0">
                <a:solidFill>
                  <a:srgbClr val="FF0000"/>
                </a:solidFill>
              </a:rPr>
              <a:t>The Nairobi Forward-Looking Strategies </a:t>
            </a:r>
            <a:r>
              <a:rPr lang="en-US" dirty="0"/>
              <a:t>to the Year 2000, the strategy developed and adopted </a:t>
            </a:r>
            <a:endParaRPr lang="en-US" dirty="0" smtClean="0"/>
          </a:p>
          <a:p>
            <a:pPr algn="just">
              <a:buFont typeface="Wingdings" pitchFamily="2" charset="2"/>
              <a:buChar char="Ø"/>
            </a:pPr>
            <a:r>
              <a:rPr lang="en-US" dirty="0"/>
              <a:t>It broke new ground as it declared </a:t>
            </a:r>
            <a:r>
              <a:rPr lang="en-US" dirty="0">
                <a:solidFill>
                  <a:srgbClr val="FF0000"/>
                </a:solidFill>
              </a:rPr>
              <a:t>all issues to be women's </a:t>
            </a:r>
            <a:r>
              <a:rPr lang="en-US" dirty="0" smtClean="0">
                <a:solidFill>
                  <a:srgbClr val="FF0000"/>
                </a:solidFill>
              </a:rPr>
              <a:t>issues</a:t>
            </a:r>
            <a:r>
              <a:rPr lang="en-US" dirty="0" smtClean="0"/>
              <a:t> as a matter of necessity </a:t>
            </a:r>
          </a:p>
          <a:p>
            <a:pPr algn="just">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458200" cy="6324600"/>
          </a:xfrm>
        </p:spPr>
        <p:txBody>
          <a:bodyPr>
            <a:normAutofit lnSpcReduction="10000"/>
          </a:bodyPr>
          <a:lstStyle/>
          <a:p>
            <a:pPr>
              <a:buNone/>
            </a:pPr>
            <a:r>
              <a:rPr lang="en-US" dirty="0"/>
              <a:t>Three basic categories of measures were identified: </a:t>
            </a:r>
          </a:p>
          <a:p>
            <a:pPr lvl="0" algn="just">
              <a:buFont typeface="Wingdings" pitchFamily="2" charset="2"/>
              <a:buChar char="Ø"/>
            </a:pPr>
            <a:r>
              <a:rPr lang="en-US" dirty="0"/>
              <a:t>Constitutional and legal steps; </a:t>
            </a:r>
            <a:endParaRPr lang="en-US" dirty="0" smtClean="0"/>
          </a:p>
          <a:p>
            <a:pPr lvl="0" algn="just">
              <a:buFont typeface="Wingdings" pitchFamily="2" charset="2"/>
              <a:buChar char="Ø"/>
            </a:pPr>
            <a:r>
              <a:rPr lang="en-US" dirty="0" smtClean="0"/>
              <a:t>Equality </a:t>
            </a:r>
            <a:r>
              <a:rPr lang="en-US" dirty="0"/>
              <a:t>in social participation; </a:t>
            </a:r>
            <a:endParaRPr lang="en-US" dirty="0" smtClean="0"/>
          </a:p>
          <a:p>
            <a:pPr lvl="0" algn="just">
              <a:buFont typeface="Wingdings" pitchFamily="2" charset="2"/>
              <a:buChar char="Ø"/>
            </a:pPr>
            <a:r>
              <a:rPr lang="en-US" dirty="0" smtClean="0"/>
              <a:t>Equality </a:t>
            </a:r>
            <a:r>
              <a:rPr lang="en-US" dirty="0"/>
              <a:t>in political participation and decision-making</a:t>
            </a:r>
            <a:r>
              <a:rPr lang="en-US" dirty="0" smtClean="0"/>
              <a:t>.</a:t>
            </a:r>
          </a:p>
          <a:p>
            <a:pPr lvl="0" algn="just"/>
            <a:r>
              <a:rPr lang="en-US" dirty="0"/>
              <a:t>Strategies covered a wide range of subjects, from </a:t>
            </a:r>
            <a:r>
              <a:rPr lang="en-US" dirty="0">
                <a:solidFill>
                  <a:srgbClr val="C00000"/>
                </a:solidFill>
              </a:rPr>
              <a:t>employment, health, education and social services, to industry, science, communications and the </a:t>
            </a:r>
            <a:r>
              <a:rPr lang="en-US" dirty="0" smtClean="0">
                <a:solidFill>
                  <a:srgbClr val="C00000"/>
                </a:solidFill>
              </a:rPr>
              <a:t>environment</a:t>
            </a:r>
          </a:p>
          <a:p>
            <a:pPr lvl="0" algn="just"/>
            <a:r>
              <a:rPr lang="en-US" dirty="0" smtClean="0"/>
              <a:t>The Conference </a:t>
            </a:r>
            <a:r>
              <a:rPr lang="en-US" dirty="0"/>
              <a:t>urged governments to delegate responsibilities for </a:t>
            </a:r>
            <a:r>
              <a:rPr lang="en-US" dirty="0">
                <a:solidFill>
                  <a:srgbClr val="FF0000"/>
                </a:solidFill>
              </a:rPr>
              <a:t>women's issues to all institutional </a:t>
            </a:r>
            <a:r>
              <a:rPr lang="en-US" dirty="0"/>
              <a:t>offices and </a:t>
            </a:r>
            <a:r>
              <a:rPr lang="en-US" dirty="0" smtClean="0"/>
              <a:t>programs</a:t>
            </a:r>
          </a:p>
          <a:p>
            <a:pPr lvl="0" algn="just"/>
            <a:r>
              <a:rPr lang="en-US" dirty="0"/>
              <a:t>introduced </a:t>
            </a:r>
            <a:r>
              <a:rPr lang="en-US" dirty="0">
                <a:solidFill>
                  <a:srgbClr val="FF0000"/>
                </a:solidFill>
              </a:rPr>
              <a:t>a wider approach </a:t>
            </a:r>
            <a:r>
              <a:rPr lang="en-US" dirty="0"/>
              <a:t>to the advancement of </a:t>
            </a:r>
            <a:r>
              <a:rPr lang="en-US" dirty="0" smtClean="0"/>
              <a:t>women (women's </a:t>
            </a:r>
            <a:r>
              <a:rPr lang="en-US" dirty="0"/>
              <a:t>perspective and active involvement on all issues, not only women's </a:t>
            </a:r>
            <a:r>
              <a:rPr lang="en-US" dirty="0" smtClean="0"/>
              <a:t>issues</a:t>
            </a:r>
            <a:endParaRPr lang="en-US" dirty="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248400"/>
          </a:xfrm>
        </p:spPr>
        <p:txBody>
          <a:bodyPr>
            <a:normAutofit lnSpcReduction="10000"/>
          </a:bodyPr>
          <a:lstStyle/>
          <a:p>
            <a:pPr>
              <a:buNone/>
            </a:pPr>
            <a:r>
              <a:rPr lang="en-US" b="1" dirty="0" smtClean="0"/>
              <a:t>4. Beijing</a:t>
            </a:r>
            <a:r>
              <a:rPr lang="en-US" b="1" dirty="0"/>
              <a:t>:  Legacy of </a:t>
            </a:r>
            <a:r>
              <a:rPr lang="en-US" b="1" dirty="0" smtClean="0"/>
              <a:t>Success (1995)</a:t>
            </a:r>
          </a:p>
          <a:p>
            <a:pPr>
              <a:buFont typeface="Wingdings" pitchFamily="2" charset="2"/>
              <a:buChar char="Ø"/>
            </a:pPr>
            <a:r>
              <a:rPr lang="en-US" dirty="0" smtClean="0"/>
              <a:t>The previous efforts had </a:t>
            </a:r>
            <a:r>
              <a:rPr lang="en-US" dirty="0"/>
              <a:t>helped to improve women's conditions and access to </a:t>
            </a:r>
            <a:r>
              <a:rPr lang="en-US" dirty="0" smtClean="0"/>
              <a:t>resources</a:t>
            </a:r>
          </a:p>
          <a:p>
            <a:pPr>
              <a:buFont typeface="Wingdings" pitchFamily="2" charset="2"/>
              <a:buChar char="Ø"/>
            </a:pPr>
            <a:r>
              <a:rPr lang="en-US" dirty="0" smtClean="0"/>
              <a:t>But, they </a:t>
            </a:r>
            <a:r>
              <a:rPr lang="en-US" dirty="0"/>
              <a:t>had not been able to change </a:t>
            </a:r>
            <a:r>
              <a:rPr lang="en-US" dirty="0" smtClean="0">
                <a:solidFill>
                  <a:srgbClr val="FF0000"/>
                </a:solidFill>
              </a:rPr>
              <a:t>the basic structure of inequality </a:t>
            </a:r>
            <a:r>
              <a:rPr lang="en-US" dirty="0" smtClean="0"/>
              <a:t>in </a:t>
            </a:r>
            <a:r>
              <a:rPr lang="en-US" dirty="0"/>
              <a:t>the </a:t>
            </a:r>
            <a:r>
              <a:rPr lang="en-US" dirty="0" smtClean="0"/>
              <a:t>r/s b/n men&amp; women</a:t>
            </a:r>
          </a:p>
          <a:p>
            <a:pPr>
              <a:buFont typeface="Wingdings" pitchFamily="2" charset="2"/>
              <a:buChar char="Ø"/>
            </a:pPr>
            <a:r>
              <a:rPr lang="en-US" dirty="0"/>
              <a:t>Decisions that affected all people's lives were still being made mostly by </a:t>
            </a:r>
            <a:r>
              <a:rPr lang="en-US" dirty="0" smtClean="0"/>
              <a:t>men</a:t>
            </a:r>
          </a:p>
          <a:p>
            <a:pPr>
              <a:buFont typeface="Wingdings" pitchFamily="2" charset="2"/>
              <a:buChar char="Ø"/>
            </a:pPr>
            <a:r>
              <a:rPr lang="en-US" dirty="0" smtClean="0"/>
              <a:t>In the past conferences the focus was women's </a:t>
            </a:r>
            <a:r>
              <a:rPr lang="en-US" dirty="0"/>
              <a:t>full participation in decision-making, and women's perspectives were incorporated into </a:t>
            </a:r>
            <a:r>
              <a:rPr lang="en-US" dirty="0" smtClean="0"/>
              <a:t>political, social and economic affairs </a:t>
            </a:r>
          </a:p>
          <a:p>
            <a:pPr>
              <a:buFont typeface="Wingdings" pitchFamily="2" charset="2"/>
              <a:buChar char="Ø"/>
            </a:pPr>
            <a:r>
              <a:rPr lang="en-US" dirty="0" smtClean="0"/>
              <a:t>The fundamental transformation is the recognition of the need </a:t>
            </a:r>
            <a:r>
              <a:rPr lang="en-US" dirty="0" smtClean="0">
                <a:solidFill>
                  <a:srgbClr val="FF0000"/>
                </a:solidFill>
              </a:rPr>
              <a:t>to shift the focus from women to the concept of gender</a:t>
            </a:r>
            <a:endParaRPr lang="en-US" dirty="0" smtClean="0"/>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400800"/>
          </a:xfrm>
        </p:spPr>
        <p:txBody>
          <a:bodyPr>
            <a:normAutofit/>
          </a:bodyPr>
          <a:lstStyle/>
          <a:p>
            <a:pPr algn="just"/>
            <a:r>
              <a:rPr lang="en-US" dirty="0" smtClean="0"/>
              <a:t> </a:t>
            </a:r>
            <a:r>
              <a:rPr lang="en-US" dirty="0"/>
              <a:t>recognizing that the entire structure of society, and all </a:t>
            </a:r>
            <a:r>
              <a:rPr lang="en-US" dirty="0" smtClean="0"/>
              <a:t>r/n b/n </a:t>
            </a:r>
            <a:r>
              <a:rPr lang="en-US" dirty="0"/>
              <a:t>men and women </a:t>
            </a:r>
            <a:r>
              <a:rPr lang="en-US" dirty="0" smtClean="0"/>
              <a:t>had </a:t>
            </a:r>
            <a:r>
              <a:rPr lang="en-US" dirty="0"/>
              <a:t>to be </a:t>
            </a:r>
            <a:r>
              <a:rPr lang="en-US" dirty="0" smtClean="0"/>
              <a:t> </a:t>
            </a:r>
            <a:r>
              <a:rPr lang="en-US" dirty="0" smtClean="0">
                <a:solidFill>
                  <a:srgbClr val="FF0000"/>
                </a:solidFill>
              </a:rPr>
              <a:t> re-evaluated</a:t>
            </a:r>
          </a:p>
          <a:p>
            <a:pPr algn="just"/>
            <a:r>
              <a:rPr lang="en-US" dirty="0"/>
              <a:t>Only by such a fundamental restructuring of society and its institutions could women be fully empowered to take their rightful </a:t>
            </a:r>
            <a:r>
              <a:rPr lang="en-US" dirty="0" smtClean="0"/>
              <a:t>place</a:t>
            </a:r>
          </a:p>
          <a:p>
            <a:pPr algn="just"/>
            <a:r>
              <a:rPr lang="en-US" dirty="0" smtClean="0"/>
              <a:t>it </a:t>
            </a:r>
            <a:r>
              <a:rPr lang="en-US" dirty="0"/>
              <a:t>unanimously adopted </a:t>
            </a:r>
            <a:r>
              <a:rPr lang="en-US" i="1" dirty="0">
                <a:solidFill>
                  <a:srgbClr val="FF0000"/>
                </a:solidFill>
              </a:rPr>
              <a:t>the Beijing Declaration and</a:t>
            </a:r>
            <a:r>
              <a:rPr lang="en-US" dirty="0">
                <a:solidFill>
                  <a:srgbClr val="FF0000"/>
                </a:solidFill>
              </a:rPr>
              <a:t> </a:t>
            </a:r>
            <a:r>
              <a:rPr lang="en-US" i="1" dirty="0">
                <a:solidFill>
                  <a:srgbClr val="FF0000"/>
                </a:solidFill>
              </a:rPr>
              <a:t>Platform for Action,</a:t>
            </a:r>
            <a:r>
              <a:rPr lang="en-US" dirty="0">
                <a:solidFill>
                  <a:srgbClr val="FF0000"/>
                </a:solidFill>
              </a:rPr>
              <a:t> </a:t>
            </a:r>
            <a:r>
              <a:rPr lang="en-US" dirty="0"/>
              <a:t>which was </a:t>
            </a:r>
            <a:r>
              <a:rPr lang="en-US" dirty="0" smtClean="0"/>
              <a:t> </a:t>
            </a:r>
            <a:r>
              <a:rPr lang="en-US" dirty="0"/>
              <a:t>an agenda for women's empowerment </a:t>
            </a:r>
            <a:endParaRPr lang="en-US" dirty="0" smtClean="0"/>
          </a:p>
          <a:p>
            <a:pPr algn="just"/>
            <a:r>
              <a:rPr lang="en-US" dirty="0"/>
              <a:t>The Platform for Action specified </a:t>
            </a:r>
            <a:r>
              <a:rPr lang="en-US" dirty="0">
                <a:solidFill>
                  <a:srgbClr val="FF0000"/>
                </a:solidFill>
              </a:rPr>
              <a:t>twelve critical areas of concern </a:t>
            </a:r>
            <a:r>
              <a:rPr lang="en-US" dirty="0" smtClean="0"/>
              <a:t>as main </a:t>
            </a:r>
            <a:r>
              <a:rPr lang="en-US" dirty="0"/>
              <a:t>obstacles to women's advancement and which required concrete </a:t>
            </a:r>
            <a:r>
              <a:rPr lang="en-US" dirty="0" smtClean="0"/>
              <a:t>action by the government and civil society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81000"/>
            <a:ext cx="8686800" cy="6096000"/>
          </a:xfrm>
        </p:spPr>
        <p:txBody>
          <a:bodyPr>
            <a:normAutofit lnSpcReduction="10000"/>
          </a:bodyPr>
          <a:lstStyle/>
          <a:p>
            <a:pPr lvl="0"/>
            <a:r>
              <a:rPr lang="en-US" dirty="0"/>
              <a:t>Women and </a:t>
            </a:r>
            <a:r>
              <a:rPr lang="en-US" dirty="0" smtClean="0"/>
              <a:t>poverty</a:t>
            </a:r>
          </a:p>
          <a:p>
            <a:pPr lvl="0"/>
            <a:r>
              <a:rPr lang="en-US" dirty="0"/>
              <a:t> </a:t>
            </a:r>
            <a:r>
              <a:rPr lang="en-US" dirty="0">
                <a:hlinkClick r:id="rId2"/>
              </a:rPr>
              <a:t>Education and training of women</a:t>
            </a:r>
            <a:r>
              <a:rPr lang="en-US" dirty="0"/>
              <a:t>; </a:t>
            </a:r>
          </a:p>
          <a:p>
            <a:pPr lvl="0"/>
            <a:r>
              <a:rPr lang="en-US" dirty="0">
                <a:hlinkClick r:id="rId3"/>
              </a:rPr>
              <a:t>Women and health</a:t>
            </a:r>
            <a:r>
              <a:rPr lang="en-US" dirty="0"/>
              <a:t>; </a:t>
            </a:r>
          </a:p>
          <a:p>
            <a:pPr lvl="0"/>
            <a:r>
              <a:rPr lang="en-US" dirty="0">
                <a:hlinkClick r:id="rId4"/>
              </a:rPr>
              <a:t>Violence against women</a:t>
            </a:r>
            <a:r>
              <a:rPr lang="en-US" dirty="0"/>
              <a:t>; </a:t>
            </a:r>
          </a:p>
          <a:p>
            <a:pPr lvl="0"/>
            <a:r>
              <a:rPr lang="en-US" dirty="0">
                <a:hlinkClick r:id="rId5"/>
              </a:rPr>
              <a:t>Women and armed conflict</a:t>
            </a:r>
            <a:r>
              <a:rPr lang="en-US" dirty="0"/>
              <a:t>; </a:t>
            </a:r>
          </a:p>
          <a:p>
            <a:pPr lvl="0"/>
            <a:r>
              <a:rPr lang="en-US" dirty="0">
                <a:hlinkClick r:id="rId6"/>
              </a:rPr>
              <a:t>Women and the economy</a:t>
            </a:r>
            <a:r>
              <a:rPr lang="en-US" dirty="0"/>
              <a:t>; </a:t>
            </a:r>
          </a:p>
          <a:p>
            <a:pPr lvl="0"/>
            <a:r>
              <a:rPr lang="en-US" dirty="0">
                <a:hlinkClick r:id="rId7"/>
              </a:rPr>
              <a:t>Women in power and decision-making</a:t>
            </a:r>
            <a:r>
              <a:rPr lang="en-US" dirty="0"/>
              <a:t>; </a:t>
            </a:r>
          </a:p>
          <a:p>
            <a:pPr lvl="0"/>
            <a:r>
              <a:rPr lang="en-US" dirty="0">
                <a:hlinkClick r:id="rId8"/>
              </a:rPr>
              <a:t>Institutional mechanisms for the advancement of women</a:t>
            </a:r>
            <a:r>
              <a:rPr lang="en-US" dirty="0"/>
              <a:t>; </a:t>
            </a:r>
          </a:p>
          <a:p>
            <a:pPr lvl="0"/>
            <a:r>
              <a:rPr lang="en-US" dirty="0">
                <a:hlinkClick r:id="rId9"/>
              </a:rPr>
              <a:t>Human rights of women</a:t>
            </a:r>
            <a:r>
              <a:rPr lang="en-US" dirty="0"/>
              <a:t>; </a:t>
            </a:r>
          </a:p>
          <a:p>
            <a:pPr lvl="0"/>
            <a:r>
              <a:rPr lang="en-US" dirty="0">
                <a:hlinkClick r:id="rId10"/>
              </a:rPr>
              <a:t>Women and the media</a:t>
            </a:r>
            <a:r>
              <a:rPr lang="en-US" dirty="0"/>
              <a:t>; </a:t>
            </a:r>
          </a:p>
          <a:p>
            <a:pPr lvl="0"/>
            <a:r>
              <a:rPr lang="en-US" dirty="0">
                <a:hlinkClick r:id="rId11"/>
              </a:rPr>
              <a:t>Women and the environment</a:t>
            </a:r>
            <a:r>
              <a:rPr lang="en-US" dirty="0"/>
              <a:t>; </a:t>
            </a:r>
          </a:p>
          <a:p>
            <a:r>
              <a:rPr lang="en-US" dirty="0">
                <a:hlinkClick r:id="rId12"/>
              </a:rPr>
              <a:t>The girl child</a:t>
            </a:r>
            <a:r>
              <a:rPr lang="en-US" dirty="0"/>
              <a:t>.</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458200" cy="6324600"/>
          </a:xfrm>
        </p:spPr>
        <p:txBody>
          <a:bodyPr>
            <a:normAutofit/>
          </a:bodyPr>
          <a:lstStyle/>
          <a:p>
            <a:pPr algn="just"/>
            <a:r>
              <a:rPr lang="en-US" dirty="0"/>
              <a:t>By adopting the Beijing Platform for Action, </a:t>
            </a:r>
            <a:r>
              <a:rPr lang="en-US" dirty="0" err="1" smtClean="0"/>
              <a:t>gov’t</a:t>
            </a:r>
            <a:r>
              <a:rPr lang="en-US" dirty="0" smtClean="0"/>
              <a:t> committed </a:t>
            </a:r>
            <a:r>
              <a:rPr lang="en-US" dirty="0"/>
              <a:t>themselves to the </a:t>
            </a:r>
            <a:r>
              <a:rPr lang="en-US" dirty="0">
                <a:solidFill>
                  <a:srgbClr val="FF0000"/>
                </a:solidFill>
              </a:rPr>
              <a:t>effective inclusion of a gender dimension</a:t>
            </a:r>
            <a:r>
              <a:rPr lang="en-US" dirty="0"/>
              <a:t> throughout all their institutions, policies, planning </a:t>
            </a:r>
            <a:r>
              <a:rPr lang="en-US" dirty="0" smtClean="0"/>
              <a:t>decision-making</a:t>
            </a:r>
          </a:p>
          <a:p>
            <a:pPr algn="just"/>
            <a:r>
              <a:rPr lang="en-US" dirty="0" smtClean="0"/>
              <a:t>It introduced </a:t>
            </a:r>
            <a:r>
              <a:rPr lang="en-US" dirty="0" smtClean="0">
                <a:solidFill>
                  <a:srgbClr val="FF0000"/>
                </a:solidFill>
              </a:rPr>
              <a:t>gender mainstreaming </a:t>
            </a:r>
          </a:p>
          <a:p>
            <a:pPr algn="just"/>
            <a:r>
              <a:rPr lang="en-US" dirty="0" smtClean="0"/>
              <a:t>Before </a:t>
            </a:r>
            <a:r>
              <a:rPr lang="en-US" dirty="0"/>
              <a:t>decisions were to be made or plans to be implemented, an analysis should always be made of </a:t>
            </a:r>
            <a:r>
              <a:rPr lang="en-US" dirty="0">
                <a:solidFill>
                  <a:srgbClr val="FF0000"/>
                </a:solidFill>
              </a:rPr>
              <a:t>the effects on, and needs of, both women and </a:t>
            </a:r>
            <a:r>
              <a:rPr lang="en-US" dirty="0" smtClean="0">
                <a:solidFill>
                  <a:srgbClr val="FF0000"/>
                </a:solidFill>
              </a:rPr>
              <a:t>men</a:t>
            </a:r>
          </a:p>
          <a:p>
            <a:pPr algn="just"/>
            <a:r>
              <a:rPr lang="en-US" dirty="0"/>
              <a:t>The introduction of </a:t>
            </a:r>
            <a:r>
              <a:rPr lang="en-US" dirty="0">
                <a:solidFill>
                  <a:srgbClr val="FF0000"/>
                </a:solidFill>
              </a:rPr>
              <a:t>gender mainstreaming </a:t>
            </a:r>
            <a:r>
              <a:rPr lang="en-US" dirty="0"/>
              <a:t>called for the re-examination of society in its entirety and its basic structure of inequality</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400800"/>
          </a:xfrm>
        </p:spPr>
        <p:txBody>
          <a:bodyPr/>
          <a:lstStyle/>
          <a:p>
            <a:pPr algn="just"/>
            <a:r>
              <a:rPr lang="en-US" dirty="0"/>
              <a:t>the </a:t>
            </a:r>
            <a:r>
              <a:rPr lang="en-US" dirty="0" smtClean="0"/>
              <a:t>UNGA </a:t>
            </a:r>
            <a:r>
              <a:rPr lang="en-US" dirty="0"/>
              <a:t>called upon all States, the UN system and other international organizations, as well as NGOs and the private sector to take action to implement its </a:t>
            </a:r>
            <a:r>
              <a:rPr lang="en-US" dirty="0" smtClean="0"/>
              <a:t>recommendations</a:t>
            </a:r>
          </a:p>
          <a:p>
            <a:pPr algn="just"/>
            <a:r>
              <a:rPr lang="en-US" dirty="0">
                <a:solidFill>
                  <a:srgbClr val="FF0000"/>
                </a:solidFill>
              </a:rPr>
              <a:t>national machineries </a:t>
            </a:r>
            <a:r>
              <a:rPr lang="en-US" dirty="0" smtClean="0"/>
              <a:t>were </a:t>
            </a:r>
            <a:r>
              <a:rPr lang="en-US" dirty="0"/>
              <a:t>assigned a new function as the </a:t>
            </a:r>
            <a:r>
              <a:rPr lang="en-US" dirty="0">
                <a:solidFill>
                  <a:srgbClr val="FF0000"/>
                </a:solidFill>
              </a:rPr>
              <a:t>central policy-coordinating </a:t>
            </a:r>
            <a:r>
              <a:rPr lang="en-US" dirty="0"/>
              <a:t>unit to mainstream a gender perspective throughout all institutions and </a:t>
            </a:r>
            <a:r>
              <a:rPr lang="en-US" dirty="0" smtClean="0"/>
              <a:t>programs</a:t>
            </a:r>
          </a:p>
          <a:p>
            <a:pPr algn="just"/>
            <a:r>
              <a:rPr lang="en-US" dirty="0"/>
              <a:t>The Beijing Conference was considered a great success, both in terms of its size and its outcome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524000"/>
          </a:xfrm>
        </p:spPr>
        <p:txBody>
          <a:bodyPr>
            <a:normAutofit fontScale="90000"/>
          </a:bodyPr>
          <a:lstStyle/>
          <a:p>
            <a:r>
              <a:rPr lang="en-US" b="1" i="1" dirty="0"/>
              <a:t>Historical perspectives on the legal status of women in Ethiopia</a:t>
            </a:r>
            <a:r>
              <a:rPr lang="en-US" dirty="0"/>
              <a:t/>
            </a:r>
            <a:br>
              <a:rPr lang="en-US" dirty="0"/>
            </a:br>
            <a:endParaRPr lang="en-US" dirty="0"/>
          </a:p>
        </p:txBody>
      </p:sp>
      <p:sp>
        <p:nvSpPr>
          <p:cNvPr id="3" name="Content Placeholder 2"/>
          <p:cNvSpPr>
            <a:spLocks noGrp="1"/>
          </p:cNvSpPr>
          <p:nvPr>
            <p:ph sz="quarter" idx="1"/>
          </p:nvPr>
        </p:nvSpPr>
        <p:spPr>
          <a:xfrm>
            <a:off x="228600" y="1600200"/>
            <a:ext cx="8763000" cy="4953000"/>
          </a:xfrm>
        </p:spPr>
        <p:txBody>
          <a:bodyPr>
            <a:normAutofit/>
          </a:bodyPr>
          <a:lstStyle/>
          <a:p>
            <a:pPr algn="just">
              <a:buFont typeface="Wingdings" pitchFamily="2" charset="2"/>
              <a:buChar char="Ø"/>
            </a:pPr>
            <a:r>
              <a:rPr lang="en-US" dirty="0"/>
              <a:t>“Horrendous” traditional practices, such as </a:t>
            </a:r>
            <a:r>
              <a:rPr lang="en-US" dirty="0" smtClean="0"/>
              <a:t>FGM, </a:t>
            </a:r>
            <a:r>
              <a:rPr lang="en-US" dirty="0"/>
              <a:t>abduction, marital rape and early </a:t>
            </a:r>
            <a:r>
              <a:rPr lang="en-US" dirty="0" smtClean="0"/>
              <a:t>marriages practiced for a long period of time</a:t>
            </a:r>
          </a:p>
          <a:p>
            <a:pPr algn="just">
              <a:buFont typeface="Wingdings" pitchFamily="2" charset="2"/>
              <a:buChar char="Ø"/>
            </a:pPr>
            <a:r>
              <a:rPr lang="en-US" dirty="0"/>
              <a:t>Some progress has been made despite great socio-economic, political and cultural odds. </a:t>
            </a:r>
            <a:endParaRPr lang="en-US" dirty="0" smtClean="0"/>
          </a:p>
          <a:p>
            <a:pPr algn="just">
              <a:buFont typeface="Wingdings" pitchFamily="2" charset="2"/>
              <a:buChar char="Ø"/>
            </a:pPr>
            <a:r>
              <a:rPr lang="en-US" dirty="0" smtClean="0"/>
              <a:t>The 1995 constitution Art.35 and 36 </a:t>
            </a:r>
          </a:p>
          <a:p>
            <a:pPr algn="just">
              <a:buFont typeface="Wingdings" pitchFamily="2" charset="2"/>
              <a:buChar char="Ø"/>
            </a:pPr>
            <a:r>
              <a:rPr lang="en-US" dirty="0"/>
              <a:t>A new family code has been adopted by some of the regional states </a:t>
            </a:r>
            <a:r>
              <a:rPr lang="en-US" dirty="0" smtClean="0"/>
              <a:t>and</a:t>
            </a:r>
          </a:p>
          <a:p>
            <a:pPr algn="just">
              <a:buFont typeface="Wingdings" pitchFamily="2" charset="2"/>
              <a:buChar char="Ø"/>
            </a:pPr>
            <a:r>
              <a:rPr lang="en-US" dirty="0" smtClean="0"/>
              <a:t> </a:t>
            </a:r>
            <a:r>
              <a:rPr lang="en-US" dirty="0"/>
              <a:t>a new criminal code has come into effect</a:t>
            </a:r>
            <a:endParaRPr lang="en-US" dirty="0" smtClean="0"/>
          </a:p>
          <a:p>
            <a:pPr algn="just">
              <a:buFont typeface="Wingdings" pitchFamily="2" charset="2"/>
              <a:buChar char="Ø"/>
            </a:pPr>
            <a:r>
              <a:rPr lang="en-US" dirty="0" smtClean="0"/>
              <a:t>The punishment for some HTRP increased like rape</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686800" cy="6324600"/>
          </a:xfrm>
        </p:spPr>
        <p:txBody>
          <a:bodyPr>
            <a:normAutofit fontScale="92500"/>
          </a:bodyPr>
          <a:lstStyle/>
          <a:p>
            <a:pPr algn="just">
              <a:buNone/>
            </a:pPr>
            <a:r>
              <a:rPr lang="en-US" b="1" dirty="0" smtClean="0"/>
              <a:t>Human rights of women in eth. </a:t>
            </a:r>
          </a:p>
          <a:p>
            <a:pPr algn="just">
              <a:buFont typeface="Wingdings" pitchFamily="2" charset="2"/>
              <a:buChar char="Ø"/>
            </a:pPr>
            <a:r>
              <a:rPr lang="en-US" dirty="0"/>
              <a:t>Ethiopia </a:t>
            </a:r>
            <a:r>
              <a:rPr lang="en-US" dirty="0" smtClean="0"/>
              <a:t>ratified </a:t>
            </a:r>
            <a:r>
              <a:rPr lang="en-US" dirty="0"/>
              <a:t>both the UN </a:t>
            </a:r>
            <a:r>
              <a:rPr lang="en-US" dirty="0" smtClean="0"/>
              <a:t>Charter, UDHR and other international H.R instrument </a:t>
            </a:r>
          </a:p>
          <a:p>
            <a:pPr algn="just">
              <a:buFont typeface="Wingdings" pitchFamily="2" charset="2"/>
              <a:buChar char="Ø"/>
            </a:pPr>
            <a:r>
              <a:rPr lang="en-US" dirty="0" smtClean="0"/>
              <a:t>These  </a:t>
            </a:r>
            <a:r>
              <a:rPr lang="en-US" dirty="0"/>
              <a:t>instruments prohibit the negative discrimination of women based on their sex</a:t>
            </a:r>
            <a:r>
              <a:rPr lang="en-US" dirty="0" smtClean="0"/>
              <a:t>.</a:t>
            </a:r>
          </a:p>
          <a:p>
            <a:pPr algn="just">
              <a:buFont typeface="Wingdings" pitchFamily="2" charset="2"/>
              <a:buChar char="Ø"/>
            </a:pPr>
            <a:r>
              <a:rPr lang="en-US" dirty="0" smtClean="0"/>
              <a:t>UDHR art.16, ICCPR Art.3, 6(5), 23, ICESCR art.3 and 7, CRC art.2, AHPRC art 18, ACRC art.15, different ILO convention  on working condition of women's  </a:t>
            </a:r>
          </a:p>
          <a:p>
            <a:pPr algn="just">
              <a:buFont typeface="Wingdings" pitchFamily="2" charset="2"/>
              <a:buChar char="Ø"/>
            </a:pPr>
            <a:r>
              <a:rPr lang="en-US" dirty="0" smtClean="0"/>
              <a:t>Ethiopia </a:t>
            </a:r>
            <a:r>
              <a:rPr lang="en-US" dirty="0"/>
              <a:t>ratified </a:t>
            </a:r>
            <a:r>
              <a:rPr lang="en-US" dirty="0" smtClean="0"/>
              <a:t>CEDAW </a:t>
            </a:r>
            <a:r>
              <a:rPr lang="en-US" dirty="0"/>
              <a:t>in </a:t>
            </a:r>
            <a:r>
              <a:rPr lang="en-US" dirty="0" smtClean="0"/>
              <a:t>1981</a:t>
            </a:r>
          </a:p>
          <a:p>
            <a:pPr algn="just">
              <a:buFont typeface="Wingdings" pitchFamily="2" charset="2"/>
              <a:buChar char="Ø"/>
            </a:pPr>
            <a:r>
              <a:rPr lang="en-US" dirty="0" smtClean="0"/>
              <a:t> </a:t>
            </a:r>
            <a:r>
              <a:rPr lang="en-US" dirty="0"/>
              <a:t>CEDAW outlines </a:t>
            </a:r>
            <a:r>
              <a:rPr lang="en-US" dirty="0" smtClean="0"/>
              <a:t>political</a:t>
            </a:r>
            <a:r>
              <a:rPr lang="en-US" dirty="0"/>
              <a:t>, social, economic, and legislative issues that States have to work on to eliminate discrimination against women and create equality between men and </a:t>
            </a:r>
            <a:r>
              <a:rPr lang="en-US" dirty="0" smtClean="0"/>
              <a:t>women</a:t>
            </a:r>
          </a:p>
          <a:p>
            <a:pPr algn="just">
              <a:buFont typeface="Wingdings" pitchFamily="2" charset="2"/>
              <a:buChar char="Ø"/>
            </a:pPr>
            <a:r>
              <a:rPr lang="en-US" dirty="0" smtClean="0"/>
              <a:t>It reported so many times the implementation of CEDAW</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610600" cy="6324600"/>
          </a:xfrm>
        </p:spPr>
        <p:txBody>
          <a:bodyPr>
            <a:normAutofit/>
          </a:bodyPr>
          <a:lstStyle/>
          <a:p>
            <a:pPr algn="just">
              <a:buNone/>
            </a:pPr>
            <a:r>
              <a:rPr lang="en-US" dirty="0" smtClean="0"/>
              <a:t>The 1995 FDRE constitution </a:t>
            </a:r>
          </a:p>
          <a:p>
            <a:pPr algn="just">
              <a:buFont typeface="Wingdings" pitchFamily="2" charset="2"/>
              <a:buChar char="Ø"/>
            </a:pPr>
            <a:r>
              <a:rPr lang="en-US" dirty="0" smtClean="0"/>
              <a:t>Art.7, 25, 9, 10,35, 42, 89</a:t>
            </a:r>
          </a:p>
          <a:p>
            <a:pPr algn="just">
              <a:buFont typeface="Wingdings" pitchFamily="2" charset="2"/>
              <a:buChar char="Ø"/>
            </a:pPr>
            <a:r>
              <a:rPr lang="en-US" dirty="0" smtClean="0"/>
              <a:t>From its preamble it assures women of equal rights with men in every sphere </a:t>
            </a:r>
          </a:p>
          <a:p>
            <a:pPr algn="just">
              <a:buFont typeface="Wingdings" pitchFamily="2" charset="2"/>
              <a:buChar char="Ø"/>
            </a:pPr>
            <a:r>
              <a:rPr lang="en-US" dirty="0" smtClean="0"/>
              <a:t>affirmative actions would be taken in order to remedy the sufferings of women because of past inequalities</a:t>
            </a:r>
          </a:p>
          <a:p>
            <a:pPr algn="just">
              <a:buFont typeface="Wingdings" pitchFamily="2" charset="2"/>
              <a:buChar char="Ø"/>
            </a:pPr>
            <a:r>
              <a:rPr lang="en-US" dirty="0" smtClean="0"/>
              <a:t>It recognized the </a:t>
            </a:r>
            <a:r>
              <a:rPr lang="en-US" dirty="0"/>
              <a:t>rights of women to own and administer </a:t>
            </a:r>
            <a:r>
              <a:rPr lang="en-US" dirty="0" smtClean="0"/>
              <a:t>property</a:t>
            </a:r>
          </a:p>
          <a:p>
            <a:pPr algn="just">
              <a:buFont typeface="Wingdings" pitchFamily="2" charset="2"/>
              <a:buChar char="Ø"/>
            </a:pPr>
            <a:r>
              <a:rPr lang="en-US" dirty="0" smtClean="0"/>
              <a:t>It affirm </a:t>
            </a:r>
            <a:r>
              <a:rPr lang="en-US" dirty="0"/>
              <a:t>women’s right to family planning services and to paid pre-and post-delivery maternity </a:t>
            </a:r>
            <a:r>
              <a:rPr lang="en-US" dirty="0" smtClean="0"/>
              <a:t>leaves</a:t>
            </a:r>
          </a:p>
          <a:p>
            <a:pPr algn="just">
              <a:buFont typeface="Wingdings" pitchFamily="2" charset="2"/>
              <a:buChar char="Ø"/>
            </a:pPr>
            <a:r>
              <a:rPr lang="en-US" dirty="0"/>
              <a:t>a number of strides have been made in the past few years in amending discriminatory </a:t>
            </a:r>
            <a:r>
              <a:rPr lang="en-US" dirty="0" smtClean="0"/>
              <a:t>laws</a:t>
            </a:r>
          </a:p>
          <a:p>
            <a:pPr>
              <a:buFont typeface="Wingdings" pitchFamily="2" charset="2"/>
              <a:buChar char="Ø"/>
            </a:pPr>
            <a:endParaRPr lang="en-US" dirty="0" smtClean="0"/>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400800"/>
          </a:xfrm>
        </p:spPr>
        <p:txBody>
          <a:bodyPr>
            <a:normAutofit lnSpcReduction="10000"/>
          </a:bodyPr>
          <a:lstStyle/>
          <a:p>
            <a:pPr algn="just">
              <a:buNone/>
            </a:pPr>
            <a:r>
              <a:rPr lang="en-US" dirty="0" smtClean="0"/>
              <a:t>LEGISLATIVE MEASURE </a:t>
            </a:r>
          </a:p>
          <a:p>
            <a:pPr algn="just">
              <a:buFont typeface="Wingdings" pitchFamily="2" charset="2"/>
              <a:buChar char="Ø"/>
            </a:pPr>
            <a:r>
              <a:rPr lang="en-US" dirty="0" smtClean="0"/>
              <a:t>the </a:t>
            </a:r>
            <a:r>
              <a:rPr lang="en-US" dirty="0"/>
              <a:t>pension benefits of women civil servants is given to their </a:t>
            </a:r>
            <a:r>
              <a:rPr lang="en-US" dirty="0" smtClean="0"/>
              <a:t>survivors</a:t>
            </a:r>
          </a:p>
          <a:p>
            <a:pPr algn="just">
              <a:buFont typeface="Wingdings" pitchFamily="2" charset="2"/>
              <a:buChar char="Ø"/>
            </a:pPr>
            <a:r>
              <a:rPr lang="en-US" dirty="0" smtClean="0"/>
              <a:t>Rural Land administration and use proc. 456/1997</a:t>
            </a:r>
          </a:p>
          <a:p>
            <a:pPr algn="just">
              <a:buFont typeface="Wingdings" pitchFamily="2" charset="2"/>
              <a:buChar char="Ø"/>
            </a:pPr>
            <a:r>
              <a:rPr lang="en-US" dirty="0" smtClean="0"/>
              <a:t>Labor proclamation 377/1996</a:t>
            </a:r>
          </a:p>
          <a:p>
            <a:pPr algn="just">
              <a:buFont typeface="Wingdings" pitchFamily="2" charset="2"/>
              <a:buChar char="Ø"/>
            </a:pPr>
            <a:r>
              <a:rPr lang="en-US" dirty="0" smtClean="0"/>
              <a:t>Civil servant proclamation 515/1999</a:t>
            </a:r>
          </a:p>
          <a:p>
            <a:pPr algn="just">
              <a:buFont typeface="Wingdings" pitchFamily="2" charset="2"/>
              <a:buChar char="Ø"/>
            </a:pPr>
            <a:r>
              <a:rPr lang="en-US" dirty="0" smtClean="0"/>
              <a:t>Higher education proclamation 650/2001 </a:t>
            </a:r>
          </a:p>
          <a:p>
            <a:pPr algn="just">
              <a:buFont typeface="Wingdings" pitchFamily="2" charset="2"/>
              <a:buChar char="Ø"/>
            </a:pPr>
            <a:r>
              <a:rPr lang="en-US" dirty="0" smtClean="0"/>
              <a:t>Proc to determine the power of the federal executive 691/2003</a:t>
            </a:r>
          </a:p>
          <a:p>
            <a:pPr algn="just">
              <a:buFont typeface="Wingdings" pitchFamily="2" charset="2"/>
              <a:buChar char="Ø"/>
            </a:pPr>
            <a:r>
              <a:rPr lang="en-US" dirty="0" smtClean="0"/>
              <a:t> the criminal and family </a:t>
            </a:r>
            <a:r>
              <a:rPr lang="en-US" dirty="0"/>
              <a:t>law has been </a:t>
            </a:r>
            <a:r>
              <a:rPr lang="en-US" dirty="0" smtClean="0"/>
              <a:t>revised</a:t>
            </a:r>
          </a:p>
          <a:p>
            <a:pPr algn="just"/>
            <a:r>
              <a:rPr lang="en-US" dirty="0" smtClean="0"/>
              <a:t>Basic events registration proclamation proc.760/2004</a:t>
            </a:r>
          </a:p>
          <a:p>
            <a:pPr algn="just"/>
            <a:r>
              <a:rPr lang="en-US" dirty="0"/>
              <a:t>Many of the concerns that were included in the </a:t>
            </a:r>
            <a:r>
              <a:rPr lang="en-US" dirty="0">
                <a:solidFill>
                  <a:srgbClr val="FF0000"/>
                </a:solidFill>
              </a:rPr>
              <a:t>Beijing Platform</a:t>
            </a:r>
            <a:r>
              <a:rPr lang="en-US" dirty="0"/>
              <a:t> had been considered and placed at the priority list of the Ethiopian </a:t>
            </a:r>
            <a:r>
              <a:rPr lang="en-US" dirty="0" smtClean="0"/>
              <a:t>government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458200" cy="6324600"/>
          </a:xfrm>
        </p:spPr>
        <p:txBody>
          <a:bodyPr>
            <a:normAutofit lnSpcReduction="10000"/>
          </a:bodyPr>
          <a:lstStyle/>
          <a:p>
            <a:pPr algn="just"/>
            <a:r>
              <a:rPr lang="en-US" dirty="0"/>
              <a:t>The </a:t>
            </a:r>
            <a:r>
              <a:rPr lang="en-US" dirty="0" smtClean="0"/>
              <a:t>MDG:- </a:t>
            </a:r>
            <a:r>
              <a:rPr lang="en-US" dirty="0"/>
              <a:t>enabling all </a:t>
            </a:r>
            <a:r>
              <a:rPr lang="en-US" dirty="0" smtClean="0"/>
              <a:t>children </a:t>
            </a:r>
            <a:r>
              <a:rPr lang="en-US" dirty="0"/>
              <a:t>to complete full course of elementary school and eliminating the gender gap at all levels of </a:t>
            </a:r>
            <a:r>
              <a:rPr lang="en-US" dirty="0" smtClean="0"/>
              <a:t>education</a:t>
            </a:r>
            <a:r>
              <a:rPr lang="en-US" dirty="0"/>
              <a:t> </a:t>
            </a:r>
            <a:r>
              <a:rPr lang="en-US" dirty="0" smtClean="0"/>
              <a:t> in 2015</a:t>
            </a:r>
          </a:p>
          <a:p>
            <a:pPr algn="just"/>
            <a:r>
              <a:rPr lang="en-US" dirty="0" smtClean="0"/>
              <a:t>Though ambitious The goals would </a:t>
            </a:r>
            <a:r>
              <a:rPr lang="en-US" dirty="0"/>
              <a:t>reinforce the implementation of CEDAW, Beijing Plus Five </a:t>
            </a:r>
          </a:p>
          <a:p>
            <a:pPr algn="just">
              <a:buNone/>
            </a:pPr>
            <a:r>
              <a:rPr lang="en-US" b="1" dirty="0" smtClean="0"/>
              <a:t>Labor proclamation </a:t>
            </a:r>
            <a:r>
              <a:rPr lang="en-US" dirty="0"/>
              <a:t>The Civil Service </a:t>
            </a:r>
            <a:r>
              <a:rPr lang="en-US" dirty="0" smtClean="0"/>
              <a:t>Proc.</a:t>
            </a:r>
          </a:p>
          <a:p>
            <a:pPr algn="just">
              <a:buFont typeface="Wingdings" pitchFamily="2" charset="2"/>
              <a:buChar char="Ø"/>
            </a:pPr>
            <a:r>
              <a:rPr lang="en-US" dirty="0" smtClean="0"/>
              <a:t>No discrimination based on sex</a:t>
            </a:r>
          </a:p>
          <a:p>
            <a:pPr algn="just">
              <a:buFont typeface="Wingdings" pitchFamily="2" charset="2"/>
              <a:buChar char="Ø"/>
            </a:pPr>
            <a:r>
              <a:rPr lang="en-US" dirty="0"/>
              <a:t>preference </a:t>
            </a:r>
            <a:r>
              <a:rPr lang="en-US" dirty="0" smtClean="0"/>
              <a:t>for </a:t>
            </a:r>
            <a:r>
              <a:rPr lang="en-US" dirty="0"/>
              <a:t>female </a:t>
            </a:r>
            <a:r>
              <a:rPr lang="en-US" dirty="0" smtClean="0"/>
              <a:t>candidate</a:t>
            </a:r>
          </a:p>
          <a:p>
            <a:pPr algn="just">
              <a:buFont typeface="Wingdings" pitchFamily="2" charset="2"/>
              <a:buChar char="Ø"/>
            </a:pPr>
            <a:r>
              <a:rPr lang="en-US" dirty="0"/>
              <a:t>pregnant </a:t>
            </a:r>
            <a:r>
              <a:rPr lang="en-US" dirty="0" smtClean="0"/>
              <a:t>entitled </a:t>
            </a:r>
            <a:r>
              <a:rPr lang="en-US" dirty="0"/>
              <a:t>to paid leave for a medical examination before delivery if recommended by a </a:t>
            </a:r>
            <a:r>
              <a:rPr lang="en-US" dirty="0" smtClean="0"/>
              <a:t>doctor</a:t>
            </a:r>
          </a:p>
          <a:p>
            <a:pPr algn="just">
              <a:buFont typeface="Wingdings" pitchFamily="2" charset="2"/>
              <a:buChar char="Ø"/>
            </a:pPr>
            <a:r>
              <a:rPr lang="en-US" dirty="0"/>
              <a:t>paid leave of 30 days before delivery and 60 days after </a:t>
            </a:r>
            <a:r>
              <a:rPr lang="en-US" dirty="0" smtClean="0"/>
              <a:t>delivery</a:t>
            </a:r>
          </a:p>
          <a:p>
            <a:pPr algn="just">
              <a:buFont typeface="Wingdings" pitchFamily="2" charset="2"/>
              <a:buChar char="Ø"/>
            </a:pPr>
            <a:r>
              <a:rPr lang="en-US" dirty="0" err="1" smtClean="0"/>
              <a:t>H.e</a:t>
            </a:r>
            <a:r>
              <a:rPr lang="en-US" dirty="0" smtClean="0"/>
              <a:t> </a:t>
            </a:r>
            <a:r>
              <a:rPr lang="en-US" dirty="0"/>
              <a:t>issues like training and promotion do not seem to take gender issues into account.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382000" cy="6477000"/>
          </a:xfrm>
        </p:spPr>
        <p:txBody>
          <a:bodyPr>
            <a:normAutofit fontScale="92500" lnSpcReduction="10000"/>
          </a:bodyPr>
          <a:lstStyle/>
          <a:p>
            <a:pPr algn="just">
              <a:buNone/>
            </a:pPr>
            <a:r>
              <a:rPr lang="en-US" b="1" dirty="0"/>
              <a:t>Political Participation: </a:t>
            </a:r>
            <a:endParaRPr lang="en-US" b="1" dirty="0" smtClean="0"/>
          </a:p>
          <a:p>
            <a:pPr algn="just"/>
            <a:r>
              <a:rPr lang="en-US" dirty="0" smtClean="0"/>
              <a:t>In </a:t>
            </a:r>
            <a:r>
              <a:rPr lang="en-US" dirty="0"/>
              <a:t>the Ethiopian context, for a woman to hold a key position in politics, economics, and </a:t>
            </a:r>
            <a:r>
              <a:rPr lang="en-US" dirty="0" smtClean="0"/>
              <a:t>administration </a:t>
            </a:r>
            <a:r>
              <a:rPr lang="en-US" dirty="0"/>
              <a:t>is a difficult </a:t>
            </a:r>
            <a:r>
              <a:rPr lang="en-US" dirty="0" smtClean="0"/>
              <a:t>task</a:t>
            </a:r>
          </a:p>
          <a:p>
            <a:pPr algn="just"/>
            <a:r>
              <a:rPr lang="en-US" dirty="0"/>
              <a:t>Women have a marginal position in accessing and succeeding in their </a:t>
            </a:r>
            <a:r>
              <a:rPr lang="en-US" dirty="0" smtClean="0"/>
              <a:t>education</a:t>
            </a:r>
          </a:p>
          <a:p>
            <a:pPr algn="just"/>
            <a:r>
              <a:rPr lang="en-US" dirty="0"/>
              <a:t>the majority of women in the civil service are in clerical and manual </a:t>
            </a:r>
            <a:r>
              <a:rPr lang="en-US" dirty="0" smtClean="0"/>
              <a:t>jobs</a:t>
            </a:r>
          </a:p>
          <a:p>
            <a:pPr algn="just"/>
            <a:r>
              <a:rPr lang="en-US" dirty="0" smtClean="0"/>
              <a:t>It is difficult to  </a:t>
            </a:r>
            <a:r>
              <a:rPr lang="en-US" dirty="0"/>
              <a:t>see many women in key positions both in politics and </a:t>
            </a:r>
            <a:r>
              <a:rPr lang="en-US" dirty="0" smtClean="0"/>
              <a:t>administration</a:t>
            </a:r>
          </a:p>
          <a:p>
            <a:pPr algn="just">
              <a:buNone/>
            </a:pPr>
            <a:r>
              <a:rPr lang="en-US" dirty="0" smtClean="0"/>
              <a:t>SUMMARY </a:t>
            </a:r>
          </a:p>
          <a:p>
            <a:pPr algn="just">
              <a:buNone/>
            </a:pPr>
            <a:r>
              <a:rPr lang="en-US" dirty="0" smtClean="0"/>
              <a:t>Even if the country adopted the above measure not much progress has been observed due to</a:t>
            </a:r>
          </a:p>
          <a:p>
            <a:pPr algn="just">
              <a:buNone/>
            </a:pPr>
            <a:r>
              <a:rPr lang="en-US" dirty="0" smtClean="0"/>
              <a:t>  high illiteracy rate, deep-rooted gender stereotyped cultural beliefs and practices, and lack of resources including qualified human labor</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01762"/>
          </a:xfrm>
        </p:spPr>
        <p:txBody>
          <a:bodyPr>
            <a:normAutofit fontScale="90000"/>
          </a:bodyPr>
          <a:lstStyle/>
          <a:p>
            <a:r>
              <a:rPr lang="en-US" sz="3600" b="1" dirty="0"/>
              <a:t>National policies and inputs on promotion of </a:t>
            </a:r>
            <a:r>
              <a:rPr lang="en-US" sz="3600" dirty="0"/>
              <a:t/>
            </a:r>
            <a:br>
              <a:rPr lang="en-US" sz="3600" dirty="0"/>
            </a:br>
            <a:r>
              <a:rPr lang="en-US" sz="3600" b="1" dirty="0"/>
              <a:t>gender equality</a:t>
            </a:r>
            <a:r>
              <a:rPr lang="en-US" dirty="0"/>
              <a:t/>
            </a:r>
            <a:br>
              <a:rPr lang="en-US" dirty="0"/>
            </a:br>
            <a:endParaRPr lang="en-US" dirty="0"/>
          </a:p>
        </p:txBody>
      </p:sp>
      <p:sp>
        <p:nvSpPr>
          <p:cNvPr id="3" name="Content Placeholder 2"/>
          <p:cNvSpPr>
            <a:spLocks noGrp="1"/>
          </p:cNvSpPr>
          <p:nvPr>
            <p:ph sz="quarter" idx="1"/>
          </p:nvPr>
        </p:nvSpPr>
        <p:spPr>
          <a:xfrm>
            <a:off x="304800" y="1295400"/>
            <a:ext cx="8534400" cy="5334000"/>
          </a:xfrm>
        </p:spPr>
        <p:txBody>
          <a:bodyPr>
            <a:normAutofit fontScale="92500" lnSpcReduction="10000"/>
          </a:bodyPr>
          <a:lstStyle/>
          <a:p>
            <a:pPr marL="514350" indent="-514350" algn="just">
              <a:buAutoNum type="arabicPeriod"/>
            </a:pPr>
            <a:r>
              <a:rPr lang="en-US" b="1" dirty="0" smtClean="0"/>
              <a:t>the </a:t>
            </a:r>
            <a:r>
              <a:rPr lang="en-US" b="1" dirty="0"/>
              <a:t>economic Policy </a:t>
            </a:r>
            <a:r>
              <a:rPr lang="en-US" b="1" dirty="0" smtClean="0"/>
              <a:t>and  </a:t>
            </a:r>
            <a:r>
              <a:rPr lang="en-US" b="1" dirty="0"/>
              <a:t>its </a:t>
            </a:r>
            <a:r>
              <a:rPr lang="en-US" b="1" dirty="0" smtClean="0"/>
              <a:t>strategy ADLI</a:t>
            </a:r>
          </a:p>
          <a:p>
            <a:pPr marL="514350" indent="-514350" algn="just">
              <a:buFont typeface="Wingdings" pitchFamily="2" charset="2"/>
              <a:buChar char="Ø"/>
            </a:pPr>
            <a:r>
              <a:rPr lang="en-US" dirty="0"/>
              <a:t>One of the eight issues under the investment program is the participation of </a:t>
            </a:r>
            <a:r>
              <a:rPr lang="en-US" dirty="0" smtClean="0"/>
              <a:t>women</a:t>
            </a:r>
          </a:p>
          <a:p>
            <a:pPr marL="514350" indent="-514350" algn="just">
              <a:buFont typeface="Wingdings" pitchFamily="2" charset="2"/>
              <a:buChar char="Ø"/>
            </a:pPr>
            <a:r>
              <a:rPr lang="en-US" dirty="0"/>
              <a:t>women would be provided with credit services and inputs that would </a:t>
            </a:r>
            <a:r>
              <a:rPr lang="en-US" dirty="0" smtClean="0"/>
              <a:t>enable to </a:t>
            </a:r>
            <a:r>
              <a:rPr lang="en-US" dirty="0"/>
              <a:t>increase their productivity</a:t>
            </a:r>
            <a:r>
              <a:rPr lang="en-US" dirty="0" smtClean="0"/>
              <a:t>;</a:t>
            </a:r>
          </a:p>
          <a:p>
            <a:pPr marL="514350" indent="-514350" algn="just">
              <a:buFont typeface="Wingdings" pitchFamily="2" charset="2"/>
              <a:buChar char="Ø"/>
            </a:pPr>
            <a:r>
              <a:rPr lang="en-US" dirty="0" smtClean="0"/>
              <a:t> </a:t>
            </a:r>
            <a:r>
              <a:rPr lang="en-US" dirty="0"/>
              <a:t>conditions will be created </a:t>
            </a:r>
            <a:r>
              <a:rPr lang="en-US" dirty="0" smtClean="0"/>
              <a:t> </a:t>
            </a:r>
            <a:r>
              <a:rPr lang="en-US" dirty="0"/>
              <a:t>to enable women to attend schools and to persist in their education with a view to, improving their chance of holding decision making positions at various levels; </a:t>
            </a:r>
            <a:r>
              <a:rPr lang="en-US" dirty="0" smtClean="0"/>
              <a:t>and</a:t>
            </a:r>
          </a:p>
          <a:p>
            <a:pPr marL="514350" indent="-514350" algn="just">
              <a:buFont typeface="Wingdings" pitchFamily="2" charset="2"/>
              <a:buChar char="Ø"/>
            </a:pPr>
            <a:r>
              <a:rPr lang="en-US" dirty="0" smtClean="0"/>
              <a:t> </a:t>
            </a:r>
            <a:r>
              <a:rPr lang="en-US" dirty="0"/>
              <a:t>encouraging women's participation in modern </a:t>
            </a:r>
            <a:r>
              <a:rPr lang="en-US" dirty="0" smtClean="0"/>
              <a:t>economic activities</a:t>
            </a:r>
          </a:p>
          <a:p>
            <a:pPr marL="514350" indent="-514350" algn="just">
              <a:buFont typeface="Wingdings" pitchFamily="2" charset="2"/>
              <a:buChar char="Ø"/>
            </a:pPr>
            <a:r>
              <a:rPr lang="en-US" dirty="0" err="1" smtClean="0"/>
              <a:t>H.e</a:t>
            </a:r>
            <a:r>
              <a:rPr lang="en-US" dirty="0" smtClean="0"/>
              <a:t> </a:t>
            </a:r>
            <a:r>
              <a:rPr lang="en-US" dirty="0"/>
              <a:t>women’s issue has not been mainstreamed in all the sector</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Women's national policy </a:t>
            </a:r>
            <a:endParaRPr lang="en-US" dirty="0"/>
          </a:p>
        </p:txBody>
      </p:sp>
      <p:sp>
        <p:nvSpPr>
          <p:cNvPr id="3" name="Content Placeholder 2"/>
          <p:cNvSpPr>
            <a:spLocks noGrp="1"/>
          </p:cNvSpPr>
          <p:nvPr>
            <p:ph sz="quarter" idx="1"/>
          </p:nvPr>
        </p:nvSpPr>
        <p:spPr>
          <a:xfrm>
            <a:off x="228600" y="914400"/>
            <a:ext cx="8686800" cy="5638800"/>
          </a:xfrm>
        </p:spPr>
        <p:txBody>
          <a:bodyPr>
            <a:normAutofit/>
          </a:bodyPr>
          <a:lstStyle/>
          <a:p>
            <a:pPr algn="just"/>
            <a:r>
              <a:rPr lang="en-US" dirty="0" smtClean="0"/>
              <a:t>Designed to </a:t>
            </a:r>
            <a:r>
              <a:rPr lang="en-US" dirty="0"/>
              <a:t>creating and facilitating conditions for equality between men and women</a:t>
            </a:r>
            <a:r>
              <a:rPr lang="en-US" dirty="0" smtClean="0"/>
              <a:t>,</a:t>
            </a:r>
          </a:p>
          <a:p>
            <a:pPr algn="just"/>
            <a:r>
              <a:rPr lang="en-US" dirty="0"/>
              <a:t>creating conditions to make </a:t>
            </a:r>
            <a:r>
              <a:rPr lang="en-US" dirty="0" smtClean="0"/>
              <a:t>women </a:t>
            </a:r>
            <a:r>
              <a:rPr lang="en-US" dirty="0"/>
              <a:t>beneficiaries of social services like education and health, </a:t>
            </a:r>
            <a:endParaRPr lang="en-US" dirty="0" smtClean="0"/>
          </a:p>
          <a:p>
            <a:pPr algn="just"/>
            <a:r>
              <a:rPr lang="en-US" dirty="0" smtClean="0"/>
              <a:t>eliminating </a:t>
            </a:r>
            <a:r>
              <a:rPr lang="en-US" dirty="0"/>
              <a:t>stereotypes, and discriminatory perception and practices that constrain the equality of </a:t>
            </a:r>
            <a:r>
              <a:rPr lang="en-US" dirty="0" smtClean="0"/>
              <a:t>women</a:t>
            </a:r>
          </a:p>
          <a:p>
            <a:pPr algn="just"/>
            <a:r>
              <a:rPr lang="en-US" dirty="0" smtClean="0"/>
              <a:t>To achieve this </a:t>
            </a:r>
          </a:p>
          <a:p>
            <a:pPr marL="514350" indent="-514350" algn="just">
              <a:buAutoNum type="arabicPeriod"/>
            </a:pPr>
            <a:r>
              <a:rPr lang="en-US" dirty="0" smtClean="0"/>
              <a:t>the </a:t>
            </a:r>
            <a:r>
              <a:rPr lang="en-US" dirty="0"/>
              <a:t>participation of women in the formulation of policies, laws, rules and regulations, </a:t>
            </a:r>
            <a:r>
              <a:rPr lang="en-US" dirty="0" smtClean="0"/>
              <a:t>and</a:t>
            </a:r>
          </a:p>
          <a:p>
            <a:pPr marL="514350" indent="-514350" algn="just">
              <a:buAutoNum type="arabicPeriod"/>
            </a:pPr>
            <a:r>
              <a:rPr lang="en-US" dirty="0" smtClean="0"/>
              <a:t> </a:t>
            </a:r>
            <a:r>
              <a:rPr lang="en-US" dirty="0"/>
              <a:t>ensuring the democratic and human right of women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52400"/>
            <a:ext cx="8229600" cy="6400800"/>
          </a:xfrm>
        </p:spPr>
        <p:txBody>
          <a:bodyPr/>
          <a:lstStyle/>
          <a:p>
            <a:pPr algn="just"/>
            <a:r>
              <a:rPr lang="en-US" dirty="0"/>
              <a:t>The structures were clearly put delineating the responsibilities of the Women's Affairs Office (WAO) </a:t>
            </a:r>
            <a:endParaRPr lang="en-US" dirty="0" smtClean="0"/>
          </a:p>
          <a:p>
            <a:pPr algn="just"/>
            <a:r>
              <a:rPr lang="en-US" dirty="0" err="1" smtClean="0"/>
              <a:t>H.e</a:t>
            </a:r>
            <a:r>
              <a:rPr lang="en-US" dirty="0" smtClean="0"/>
              <a:t> researches show </a:t>
            </a:r>
            <a:r>
              <a:rPr lang="en-US" dirty="0"/>
              <a:t>that both the (WAO) and the (WAD) </a:t>
            </a:r>
            <a:r>
              <a:rPr lang="en-US" dirty="0" smtClean="0"/>
              <a:t>lack </a:t>
            </a:r>
            <a:r>
              <a:rPr lang="en-US" dirty="0"/>
              <a:t>capacity: they have problems with resources and qualified </a:t>
            </a:r>
            <a:r>
              <a:rPr lang="en-US" dirty="0" smtClean="0"/>
              <a:t>personnel</a:t>
            </a:r>
          </a:p>
          <a:p>
            <a:pPr algn="just"/>
            <a:r>
              <a:rPr lang="en-US" dirty="0"/>
              <a:t>In many cases WADs are marginalized and gender is not mainstreamed in many of the activities in the </a:t>
            </a:r>
            <a:r>
              <a:rPr lang="en-US" dirty="0" smtClean="0"/>
              <a:t>ministries</a:t>
            </a:r>
          </a:p>
          <a:p>
            <a:pPr algn="just"/>
            <a:r>
              <a:rPr lang="en-US" dirty="0"/>
              <a:t>The structure has problems reaching the grassroots since it stops at the </a:t>
            </a:r>
            <a:r>
              <a:rPr lang="en-US" dirty="0" err="1"/>
              <a:t>Woreda</a:t>
            </a:r>
            <a:r>
              <a:rPr lang="en-US" dirty="0"/>
              <a:t> level</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248400"/>
          </a:xfrm>
        </p:spPr>
        <p:txBody>
          <a:bodyPr>
            <a:normAutofit/>
          </a:bodyPr>
          <a:lstStyle/>
          <a:p>
            <a:pPr algn="just">
              <a:buNone/>
            </a:pPr>
            <a:r>
              <a:rPr lang="en-US" b="1" dirty="0"/>
              <a:t>The National Population </a:t>
            </a:r>
            <a:r>
              <a:rPr lang="en-US" b="1" dirty="0" smtClean="0"/>
              <a:t>Policy</a:t>
            </a:r>
          </a:p>
          <a:p>
            <a:pPr algn="just">
              <a:buFont typeface="Wingdings" pitchFamily="2" charset="2"/>
              <a:buChar char="Ø"/>
            </a:pPr>
            <a:r>
              <a:rPr lang="en-US" dirty="0" smtClean="0"/>
              <a:t> </a:t>
            </a:r>
            <a:r>
              <a:rPr lang="en-US" dirty="0"/>
              <a:t>gives serious attention to the issue of gender and describes the important roles women play in controlling population </a:t>
            </a:r>
            <a:r>
              <a:rPr lang="en-US" dirty="0" smtClean="0"/>
              <a:t>growth</a:t>
            </a:r>
          </a:p>
          <a:p>
            <a:pPr algn="just">
              <a:buFont typeface="Wingdings" pitchFamily="2" charset="2"/>
              <a:buChar char="Ø"/>
            </a:pPr>
            <a:r>
              <a:rPr lang="en-US" dirty="0"/>
              <a:t>Many of the strategies revolve around empowering women through education, employment in both government and private sectors and eliminating cultural and legal </a:t>
            </a:r>
            <a:r>
              <a:rPr lang="en-US" dirty="0" smtClean="0"/>
              <a:t>barriers</a:t>
            </a:r>
          </a:p>
          <a:p>
            <a:pPr algn="just">
              <a:buNone/>
            </a:pPr>
            <a:r>
              <a:rPr lang="en-US" b="1" dirty="0"/>
              <a:t>The Ethiopian Education and Training Policy </a:t>
            </a:r>
            <a:endParaRPr lang="en-US" b="1" dirty="0" smtClean="0"/>
          </a:p>
          <a:p>
            <a:pPr algn="just">
              <a:buFont typeface="Wingdings" pitchFamily="2" charset="2"/>
              <a:buChar char="Ø"/>
            </a:pPr>
            <a:r>
              <a:rPr lang="en-US" dirty="0"/>
              <a:t>introduce a system of education that would rectify the misconceptions and misunderstandings regarding the roles and benefits of female education</a:t>
            </a:r>
            <a:endParaRPr lang="en-US" b="1"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324600"/>
          </a:xfrm>
        </p:spPr>
        <p:txBody>
          <a:bodyPr>
            <a:normAutofit/>
          </a:bodyPr>
          <a:lstStyle/>
          <a:p>
            <a:pPr algn="just"/>
            <a:r>
              <a:rPr lang="en-US" dirty="0"/>
              <a:t>the design and </a:t>
            </a:r>
            <a:r>
              <a:rPr lang="en-US" dirty="0" smtClean="0"/>
              <a:t>dev’t </a:t>
            </a:r>
            <a:r>
              <a:rPr lang="en-US" dirty="0"/>
              <a:t>of curriculum and books would give special attention to gender </a:t>
            </a:r>
            <a:r>
              <a:rPr lang="en-US" dirty="0" smtClean="0"/>
              <a:t>issues</a:t>
            </a:r>
          </a:p>
          <a:p>
            <a:pPr algn="just"/>
            <a:r>
              <a:rPr lang="en-US" dirty="0"/>
              <a:t>equal attention would be given to female participants when selecting teachers; training them, and advancing their </a:t>
            </a:r>
            <a:r>
              <a:rPr lang="en-US" dirty="0" smtClean="0"/>
              <a:t>careers</a:t>
            </a:r>
          </a:p>
          <a:p>
            <a:pPr algn="just"/>
            <a:r>
              <a:rPr lang="en-US" dirty="0"/>
              <a:t>Capacity building of female teachers, guidance and counseling services for female students, and awareness creation in the community </a:t>
            </a:r>
          </a:p>
          <a:p>
            <a:pPr algn="just">
              <a:buNone/>
            </a:pPr>
            <a:r>
              <a:rPr lang="en-US" b="1" dirty="0"/>
              <a:t>The Health Policy </a:t>
            </a:r>
            <a:endParaRPr lang="en-US" b="1" dirty="0" smtClean="0"/>
          </a:p>
          <a:p>
            <a:pPr algn="just">
              <a:buFont typeface="Wingdings" pitchFamily="2" charset="2"/>
              <a:buChar char="Ø"/>
            </a:pPr>
            <a:r>
              <a:rPr lang="en-US" dirty="0"/>
              <a:t>The policy accords special attention to the health needs of the family, particularly women and children</a:t>
            </a:r>
            <a:endParaRPr lang="en-US"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00800"/>
          </a:xfrm>
        </p:spPr>
        <p:txBody>
          <a:bodyPr/>
          <a:lstStyle/>
          <a:p>
            <a:pPr>
              <a:buNone/>
            </a:pPr>
            <a:r>
              <a:rPr lang="en-US" b="1" dirty="0"/>
              <a:t>The Cultural </a:t>
            </a:r>
            <a:r>
              <a:rPr lang="en-US" b="1" dirty="0" smtClean="0"/>
              <a:t>Policy</a:t>
            </a:r>
            <a:endParaRPr lang="en-US" dirty="0" smtClean="0"/>
          </a:p>
          <a:p>
            <a:pPr algn="just">
              <a:buFont typeface="Wingdings" pitchFamily="2" charset="2"/>
              <a:buChar char="Ø"/>
            </a:pPr>
            <a:r>
              <a:rPr lang="en-US" dirty="0"/>
              <a:t>the cultural behaviors, practices, and attitudes that support and promote stereotypes and prejudices against women, those that constrain the expansion of family planning services and the promotion of reproductive health should be slowly </a:t>
            </a:r>
            <a:r>
              <a:rPr lang="en-US" dirty="0" smtClean="0"/>
              <a:t>eliminate</a:t>
            </a:r>
          </a:p>
          <a:p>
            <a:pPr algn="just">
              <a:buFont typeface="Wingdings" pitchFamily="2" charset="2"/>
              <a:buChar char="Ø"/>
            </a:pPr>
            <a:r>
              <a:rPr lang="en-US" dirty="0"/>
              <a:t>situations should be created to promote the equality of the </a:t>
            </a:r>
            <a:r>
              <a:rPr lang="en-US" dirty="0" smtClean="0"/>
              <a:t>sexes</a:t>
            </a:r>
          </a:p>
          <a:p>
            <a:pPr algn="just">
              <a:buFont typeface="Wingdings" pitchFamily="2" charset="2"/>
              <a:buChar char="Ø"/>
            </a:pPr>
            <a:r>
              <a:rPr lang="en-US" dirty="0"/>
              <a:t>not include in what ways </a:t>
            </a:r>
            <a:r>
              <a:rPr lang="en-US" dirty="0" smtClean="0"/>
              <a:t> </a:t>
            </a:r>
            <a:r>
              <a:rPr lang="en-US" dirty="0"/>
              <a:t>could achieve the gender equality indicated in the policy </a:t>
            </a:r>
            <a:r>
              <a:rPr lang="en-US" dirty="0" smtClean="0"/>
              <a:t>and</a:t>
            </a:r>
          </a:p>
          <a:p>
            <a:pPr algn="just">
              <a:buFont typeface="Wingdings" pitchFamily="2" charset="2"/>
              <a:buChar char="Ø"/>
            </a:pPr>
            <a:r>
              <a:rPr lang="en-US" dirty="0" smtClean="0"/>
              <a:t>No  </a:t>
            </a:r>
            <a:r>
              <a:rPr lang="en-US" dirty="0"/>
              <a:t>the means to eliminate harmful practices</a:t>
            </a:r>
            <a:endParaRPr lang="en-US" b="1"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458200" cy="6248400"/>
          </a:xfrm>
        </p:spPr>
        <p:txBody>
          <a:bodyPr>
            <a:normAutofit lnSpcReduction="10000"/>
          </a:bodyPr>
          <a:lstStyle/>
          <a:p>
            <a:pPr algn="just">
              <a:buNone/>
            </a:pPr>
            <a:r>
              <a:rPr lang="en-US" b="1" dirty="0"/>
              <a:t>The Development Social Welfare Policy </a:t>
            </a:r>
            <a:endParaRPr lang="en-US" b="1" dirty="0" smtClean="0"/>
          </a:p>
          <a:p>
            <a:pPr algn="just"/>
            <a:r>
              <a:rPr lang="en-US" dirty="0" smtClean="0"/>
              <a:t>It acknowledges </a:t>
            </a:r>
            <a:r>
              <a:rPr lang="en-US" dirty="0"/>
              <a:t>that war, famine, economic crises of the past </a:t>
            </a:r>
            <a:r>
              <a:rPr lang="en-US" dirty="0" smtClean="0"/>
              <a:t> </a:t>
            </a:r>
            <a:r>
              <a:rPr lang="en-US" dirty="0"/>
              <a:t>harmed vulnerable </a:t>
            </a:r>
            <a:r>
              <a:rPr lang="en-US" dirty="0" smtClean="0"/>
              <a:t>groups and </a:t>
            </a:r>
            <a:r>
              <a:rPr lang="en-US" dirty="0"/>
              <a:t>makes these groups the Policy’s central </a:t>
            </a:r>
            <a:r>
              <a:rPr lang="en-US" dirty="0" smtClean="0"/>
              <a:t>focus</a:t>
            </a:r>
          </a:p>
          <a:p>
            <a:pPr algn="just"/>
            <a:r>
              <a:rPr lang="en-US" dirty="0"/>
              <a:t>women are underrepresented in every sphere including education, employment, politics, and other key decision making </a:t>
            </a:r>
            <a:r>
              <a:rPr lang="en-US" dirty="0" smtClean="0"/>
              <a:t>position</a:t>
            </a:r>
          </a:p>
          <a:p>
            <a:pPr algn="just"/>
            <a:r>
              <a:rPr lang="en-US" dirty="0"/>
              <a:t>one of the major causes of social problems is the economic dependence of women on </a:t>
            </a:r>
            <a:r>
              <a:rPr lang="en-US" dirty="0" smtClean="0"/>
              <a:t>men</a:t>
            </a:r>
          </a:p>
          <a:p>
            <a:pPr algn="just"/>
            <a:r>
              <a:rPr lang="en-US" dirty="0" smtClean="0"/>
              <a:t>it </a:t>
            </a:r>
            <a:r>
              <a:rPr lang="en-US" dirty="0"/>
              <a:t>does not say anything about the special problems females encounter as children, parents, youth, the elderly, and the disabled, </a:t>
            </a:r>
            <a:endParaRPr lang="en-US" dirty="0" smtClean="0"/>
          </a:p>
          <a:p>
            <a:pPr algn="just"/>
            <a:r>
              <a:rPr lang="en-US" dirty="0" smtClean="0"/>
              <a:t>nor </a:t>
            </a:r>
            <a:r>
              <a:rPr lang="en-US" dirty="0"/>
              <a:t>does it mention the measures that need to be taken to alleviate their problems</a:t>
            </a:r>
            <a:endParaRPr lang="en-US" dirty="0" smtClean="0"/>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324600"/>
          </a:xfrm>
        </p:spPr>
        <p:txBody>
          <a:bodyPr/>
          <a:lstStyle/>
          <a:p>
            <a:pPr algn="just"/>
            <a:r>
              <a:rPr lang="en-US" dirty="0"/>
              <a:t>Community participation, partnership and coordination, capacity building of </a:t>
            </a:r>
            <a:r>
              <a:rPr lang="en-US" dirty="0" smtClean="0"/>
              <a:t>actors</a:t>
            </a:r>
          </a:p>
          <a:p>
            <a:pPr algn="just"/>
            <a:r>
              <a:rPr lang="en-US" dirty="0"/>
              <a:t>advocacy and awareness creation, implementation of international conventions and other social welfare related laws, and the establishment of data bank system </a:t>
            </a:r>
            <a:endParaRPr lang="en-US" dirty="0" smtClean="0"/>
          </a:p>
          <a:p>
            <a:pPr algn="just"/>
            <a:r>
              <a:rPr lang="en-US" dirty="0"/>
              <a:t>the issues of gender will be mainstreamed in all programs, projects, and services in addressing the target groups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839200" cy="6553200"/>
          </a:xfrm>
        </p:spPr>
        <p:txBody>
          <a:bodyPr>
            <a:normAutofit lnSpcReduction="10000"/>
          </a:bodyPr>
          <a:lstStyle/>
          <a:p>
            <a:pPr algn="just">
              <a:buNone/>
            </a:pPr>
            <a:r>
              <a:rPr lang="en-US" b="1" dirty="0"/>
              <a:t>The Federal Policy on Natural Resources and the </a:t>
            </a:r>
            <a:r>
              <a:rPr lang="en-US" b="1" dirty="0" smtClean="0"/>
              <a:t>Environment</a:t>
            </a:r>
            <a:endParaRPr lang="en-US" dirty="0" smtClean="0"/>
          </a:p>
          <a:p>
            <a:pPr algn="just">
              <a:buFont typeface="Wingdings" pitchFamily="2" charset="2"/>
              <a:buChar char="Ø"/>
            </a:pPr>
            <a:r>
              <a:rPr lang="en-US" b="1" dirty="0" smtClean="0"/>
              <a:t> it </a:t>
            </a:r>
            <a:r>
              <a:rPr lang="en-US" dirty="0" smtClean="0"/>
              <a:t>gives </a:t>
            </a:r>
            <a:r>
              <a:rPr lang="en-US" dirty="0"/>
              <a:t>importance to a </a:t>
            </a:r>
            <a:r>
              <a:rPr lang="en-US" dirty="0">
                <a:solidFill>
                  <a:srgbClr val="FF0000"/>
                </a:solidFill>
              </a:rPr>
              <a:t>participatory approach </a:t>
            </a:r>
            <a:r>
              <a:rPr lang="en-US" dirty="0"/>
              <a:t>and the </a:t>
            </a:r>
            <a:r>
              <a:rPr lang="en-US" dirty="0">
                <a:solidFill>
                  <a:srgbClr val="FF0000"/>
                </a:solidFill>
              </a:rPr>
              <a:t>feeling of ownership </a:t>
            </a:r>
            <a:r>
              <a:rPr lang="en-US" dirty="0"/>
              <a:t>in developing and conserving natural resources and an important place is given to </a:t>
            </a:r>
            <a:r>
              <a:rPr lang="en-US" dirty="0" smtClean="0"/>
              <a:t>gender</a:t>
            </a:r>
          </a:p>
          <a:p>
            <a:pPr algn="just">
              <a:buFont typeface="Wingdings" pitchFamily="2" charset="2"/>
              <a:buChar char="Ø"/>
            </a:pPr>
            <a:r>
              <a:rPr lang="en-US" dirty="0"/>
              <a:t>Giving a high priority to raising the status of women by increasing female participation in the education system </a:t>
            </a:r>
            <a:endParaRPr lang="en-US" dirty="0" smtClean="0"/>
          </a:p>
          <a:p>
            <a:pPr algn="just">
              <a:buFont typeface="Wingdings" pitchFamily="2" charset="2"/>
              <a:buChar char="Ø"/>
            </a:pPr>
            <a:r>
              <a:rPr lang="en-US" dirty="0"/>
              <a:t>Increasing the number of </a:t>
            </a:r>
            <a:r>
              <a:rPr lang="en-US" dirty="0">
                <a:solidFill>
                  <a:srgbClr val="FF0000"/>
                </a:solidFill>
              </a:rPr>
              <a:t>women extension agents </a:t>
            </a:r>
            <a:r>
              <a:rPr lang="en-US" dirty="0"/>
              <a:t>in natural resource and environmental management </a:t>
            </a:r>
            <a:endParaRPr lang="en-US" dirty="0" smtClean="0"/>
          </a:p>
          <a:p>
            <a:pPr algn="just">
              <a:buFont typeface="Wingdings" pitchFamily="2" charset="2"/>
              <a:buChar char="Ø"/>
            </a:pPr>
            <a:r>
              <a:rPr lang="en-US" dirty="0"/>
              <a:t>addressing gender issues by ensuring that energy plans adequately address fuel-wood requirement </a:t>
            </a:r>
            <a:endParaRPr lang="en-US" dirty="0" smtClean="0"/>
          </a:p>
          <a:p>
            <a:pPr algn="just">
              <a:buFont typeface="Wingdings" pitchFamily="2" charset="2"/>
              <a:buChar char="Ø"/>
            </a:pPr>
            <a:r>
              <a:rPr lang="en-US" dirty="0"/>
              <a:t>providing support to women in mineral development with special practical training and technical assistance particularly in small-scale and artisan mining.</a:t>
            </a:r>
            <a:endParaRPr lang="en-US" b="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smtClean="0"/>
              <a:t>Institutional machinery  </a:t>
            </a:r>
            <a:endParaRPr lang="en-US" dirty="0"/>
          </a:p>
        </p:txBody>
      </p:sp>
      <p:sp>
        <p:nvSpPr>
          <p:cNvPr id="3" name="Content Placeholder 2"/>
          <p:cNvSpPr>
            <a:spLocks noGrp="1"/>
          </p:cNvSpPr>
          <p:nvPr>
            <p:ph sz="quarter" idx="1"/>
          </p:nvPr>
        </p:nvSpPr>
        <p:spPr>
          <a:xfrm>
            <a:off x="304800" y="1066800"/>
            <a:ext cx="8382000" cy="5562600"/>
          </a:xfrm>
        </p:spPr>
        <p:txBody>
          <a:bodyPr>
            <a:normAutofit/>
          </a:bodyPr>
          <a:lstStyle/>
          <a:p>
            <a:pPr algn="just">
              <a:buNone/>
            </a:pPr>
            <a:r>
              <a:rPr lang="en-US" i="1" dirty="0" smtClean="0"/>
              <a:t>The </a:t>
            </a:r>
            <a:r>
              <a:rPr lang="en-US" i="1" dirty="0"/>
              <a:t>Women’s Affairs Office (WAO</a:t>
            </a:r>
            <a:r>
              <a:rPr lang="en-US" i="1" dirty="0" smtClean="0"/>
              <a:t>):- charged </a:t>
            </a:r>
            <a:r>
              <a:rPr lang="en-US" dirty="0"/>
              <a:t>with the responsibility of coordinating, facilitating and monitoring all </a:t>
            </a:r>
            <a:r>
              <a:rPr lang="en-US" dirty="0" err="1" smtClean="0"/>
              <a:t>go’t</a:t>
            </a:r>
            <a:r>
              <a:rPr lang="en-US" dirty="0" smtClean="0"/>
              <a:t> </a:t>
            </a:r>
            <a:r>
              <a:rPr lang="en-US" dirty="0"/>
              <a:t>gender programs, particularly the implementation of the National Women’s Policy </a:t>
            </a:r>
            <a:endParaRPr lang="en-US" dirty="0" smtClean="0"/>
          </a:p>
          <a:p>
            <a:pPr algn="just"/>
            <a:r>
              <a:rPr lang="en-US" i="1" dirty="0"/>
              <a:t>Centre for Research Training and Information for Women in Development (</a:t>
            </a:r>
            <a:r>
              <a:rPr lang="en-US" i="1" dirty="0" smtClean="0"/>
              <a:t>CERTWID</a:t>
            </a:r>
          </a:p>
          <a:p>
            <a:pPr algn="just">
              <a:buFont typeface="Wingdings" pitchFamily="2" charset="2"/>
              <a:buChar char="Ø"/>
            </a:pPr>
            <a:r>
              <a:rPr lang="en-US" dirty="0"/>
              <a:t>to enable women to empower themselves socially, culturally, economically and politically so as to be active participants as well as equal beneficiaries of the development </a:t>
            </a:r>
            <a:r>
              <a:rPr lang="en-US" dirty="0" smtClean="0"/>
              <a:t>process</a:t>
            </a:r>
          </a:p>
          <a:p>
            <a:pPr algn="just">
              <a:buFont typeface="Wingdings" pitchFamily="2" charset="2"/>
              <a:buChar char="Ø"/>
            </a:pPr>
            <a:r>
              <a:rPr lang="en-US" dirty="0"/>
              <a:t>This goal is realized through its research, training, and documentation activities. </a:t>
            </a:r>
            <a:endParaRPr lang="en-US" i="1" dirty="0" smtClean="0"/>
          </a:p>
          <a:p>
            <a:pPr>
              <a:buFont typeface="Wingdings" pitchFamily="2" charset="2"/>
              <a:buChar char="Ø"/>
            </a:pPr>
            <a:endParaRPr lang="en-US" dirty="0"/>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Impact of globalization on women</a:t>
            </a:r>
            <a:r>
              <a:rPr lang="en-US" dirty="0"/>
              <a:t/>
            </a:r>
            <a:br>
              <a:rPr lang="en-US" dirty="0"/>
            </a:br>
            <a:endParaRPr lang="en-US" dirty="0"/>
          </a:p>
        </p:txBody>
      </p:sp>
      <p:sp>
        <p:nvSpPr>
          <p:cNvPr id="3" name="Content Placeholder 2"/>
          <p:cNvSpPr>
            <a:spLocks noGrp="1"/>
          </p:cNvSpPr>
          <p:nvPr>
            <p:ph sz="quarter" idx="1"/>
          </p:nvPr>
        </p:nvSpPr>
        <p:spPr>
          <a:xfrm>
            <a:off x="228600" y="609600"/>
            <a:ext cx="8610600" cy="6019800"/>
          </a:xfrm>
        </p:spPr>
        <p:txBody>
          <a:bodyPr>
            <a:normAutofit/>
          </a:bodyPr>
          <a:lstStyle/>
          <a:p>
            <a:pPr>
              <a:buNone/>
            </a:pPr>
            <a:r>
              <a:rPr lang="en-US" dirty="0"/>
              <a:t>Its positive impacts:</a:t>
            </a:r>
          </a:p>
          <a:p>
            <a:pPr lvl="0"/>
            <a:r>
              <a:rPr lang="en-US" i="1" dirty="0"/>
              <a:t>Employment opportunities</a:t>
            </a:r>
            <a:r>
              <a:rPr lang="en-US" dirty="0"/>
              <a:t> for women especially in developed countries. </a:t>
            </a:r>
          </a:p>
          <a:p>
            <a:pPr lvl="0"/>
            <a:r>
              <a:rPr lang="en-US" i="1" dirty="0"/>
              <a:t>Education and knowledge</a:t>
            </a:r>
            <a:r>
              <a:rPr lang="en-US" dirty="0"/>
              <a:t> which constitutes a huge advancement in the empowerment of women especially in terms of sharing </a:t>
            </a:r>
            <a:r>
              <a:rPr lang="en-US" dirty="0" err="1" smtClean="0"/>
              <a:t>inf’n</a:t>
            </a:r>
            <a:r>
              <a:rPr lang="en-US" dirty="0" smtClean="0"/>
              <a:t>.</a:t>
            </a:r>
          </a:p>
          <a:p>
            <a:pPr lvl="0"/>
            <a:r>
              <a:rPr lang="en-US" dirty="0" smtClean="0"/>
              <a:t>Exploitation with low wage and low working</a:t>
            </a:r>
          </a:p>
          <a:p>
            <a:pPr lvl="0"/>
            <a:r>
              <a:rPr lang="en-US" dirty="0" smtClean="0"/>
              <a:t>Environmental degradation </a:t>
            </a:r>
          </a:p>
          <a:p>
            <a:pPr lvl="0"/>
            <a:r>
              <a:rPr lang="en-US" dirty="0" smtClean="0"/>
              <a:t>Climatic </a:t>
            </a:r>
            <a:r>
              <a:rPr lang="en-US" dirty="0"/>
              <a:t>change, resulting flooding and drought, has affected the production system where women are in turn affected</a:t>
            </a:r>
            <a:endParaRPr lang="en-US" dirty="0" smtClean="0"/>
          </a:p>
          <a:p>
            <a:pPr lvl="0"/>
            <a:endParaRPr lang="en-US" dirty="0"/>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382000" cy="6324600"/>
          </a:xfrm>
        </p:spPr>
        <p:txBody>
          <a:bodyPr/>
          <a:lstStyle/>
          <a:p>
            <a:pPr lvl="0"/>
            <a:r>
              <a:rPr lang="en-US" dirty="0" smtClean="0"/>
              <a:t>In Ethiopia there are three major constraints to women benefit from globalization:- </a:t>
            </a:r>
          </a:p>
          <a:p>
            <a:pPr lvl="0">
              <a:buNone/>
            </a:pPr>
            <a:r>
              <a:rPr lang="en-US" dirty="0" smtClean="0"/>
              <a:t>1. lack of proper infrastructure or other communication channel, </a:t>
            </a:r>
          </a:p>
          <a:p>
            <a:pPr lvl="0">
              <a:buNone/>
            </a:pPr>
            <a:r>
              <a:rPr lang="en-US" dirty="0" smtClean="0"/>
              <a:t>2. low level of education and </a:t>
            </a:r>
          </a:p>
          <a:p>
            <a:pPr lvl="0">
              <a:buNone/>
            </a:pPr>
            <a:r>
              <a:rPr lang="en-US" dirty="0" smtClean="0"/>
              <a:t>3. language barrier </a:t>
            </a:r>
          </a:p>
          <a:p>
            <a:pPr algn="just"/>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b="1" dirty="0" smtClean="0"/>
              <a:t>Gender socialization </a:t>
            </a:r>
            <a:endParaRPr lang="en-US" b="1" dirty="0"/>
          </a:p>
        </p:txBody>
      </p:sp>
      <p:sp>
        <p:nvSpPr>
          <p:cNvPr id="3" name="Content Placeholder 2"/>
          <p:cNvSpPr>
            <a:spLocks noGrp="1"/>
          </p:cNvSpPr>
          <p:nvPr>
            <p:ph sz="quarter" idx="1"/>
          </p:nvPr>
        </p:nvSpPr>
        <p:spPr>
          <a:xfrm>
            <a:off x="228600" y="914400"/>
            <a:ext cx="8610600" cy="5715000"/>
          </a:xfrm>
        </p:spPr>
        <p:txBody>
          <a:bodyPr>
            <a:normAutofit/>
          </a:bodyPr>
          <a:lstStyle/>
          <a:p>
            <a:pPr algn="just">
              <a:buFont typeface="Wingdings" pitchFamily="2" charset="2"/>
              <a:buChar char="Ø"/>
            </a:pPr>
            <a:r>
              <a:rPr lang="en-US" dirty="0" smtClean="0"/>
              <a:t>Socialization, as a process of transmitting culture,  consisting of “complex process of interaction through w/h the individual learns the habits, beliefs, skills and standards of judgment that are necessary for effective participation in social groups and communities</a:t>
            </a:r>
          </a:p>
          <a:p>
            <a:pPr algn="just">
              <a:buFont typeface="Wingdings" pitchFamily="2" charset="2"/>
              <a:buChar char="Ø"/>
            </a:pPr>
            <a:r>
              <a:rPr lang="en-US" dirty="0" smtClean="0"/>
              <a:t>it is a process, w/h not only allows the baby to know about the basic norms of the society, but also helps in the gradual dev’t of one’s self.</a:t>
            </a:r>
          </a:p>
          <a:p>
            <a:pPr algn="just">
              <a:buFont typeface="Wingdings" pitchFamily="2" charset="2"/>
              <a:buChar char="Ø"/>
            </a:pPr>
            <a:r>
              <a:rPr lang="en-US" dirty="0" smtClean="0"/>
              <a:t>Thus the child comes to learn about the norms, expectations and different roles to be played in the group through the process of socialization.</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324600"/>
          </a:xfrm>
        </p:spPr>
        <p:txBody>
          <a:bodyPr>
            <a:normAutofit/>
          </a:bodyPr>
          <a:lstStyle/>
          <a:p>
            <a:pPr algn="just"/>
            <a:r>
              <a:rPr lang="en-US" dirty="0" smtClean="0"/>
              <a:t>A child learns about hiss/her </a:t>
            </a:r>
            <a:r>
              <a:rPr lang="en-US" i="1" dirty="0" smtClean="0"/>
              <a:t>gender </a:t>
            </a:r>
            <a:r>
              <a:rPr lang="en-US" dirty="0" smtClean="0"/>
              <a:t>identity by learning what is s/he expected to do by others</a:t>
            </a:r>
          </a:p>
          <a:p>
            <a:pPr algn="just"/>
            <a:r>
              <a:rPr lang="en-US" dirty="0" smtClean="0"/>
              <a:t>For instance, a male child learns to confirm to his own gender group by neglecting all activities that a girl child does.</a:t>
            </a:r>
          </a:p>
          <a:p>
            <a:pPr algn="just"/>
            <a:r>
              <a:rPr lang="en-US" dirty="0" smtClean="0"/>
              <a:t>The very first thing the child is socialized into is the views regarding his/her gender identity</a:t>
            </a:r>
          </a:p>
          <a:p>
            <a:pPr algn="just"/>
            <a:r>
              <a:rPr lang="en-US" dirty="0" smtClean="0"/>
              <a:t>Socially constituted gender roles form stereotypes</a:t>
            </a:r>
          </a:p>
          <a:p>
            <a:pPr algn="just"/>
            <a:r>
              <a:rPr lang="en-US" dirty="0" smtClean="0"/>
              <a:t>Individuals are converted from biological male and biological female into man and woman respectively with the process of socialization, which takes up the task of gendering individuals</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324600"/>
          </a:xfrm>
        </p:spPr>
        <p:txBody>
          <a:bodyPr>
            <a:normAutofit/>
          </a:bodyPr>
          <a:lstStyle/>
          <a:p>
            <a:pPr algn="just"/>
            <a:r>
              <a:rPr lang="en-US" dirty="0" smtClean="0"/>
              <a:t>socialization takes place through </a:t>
            </a:r>
            <a:r>
              <a:rPr lang="en-US" i="1" dirty="0" smtClean="0"/>
              <a:t>four</a:t>
            </a:r>
            <a:r>
              <a:rPr lang="en-US" dirty="0" smtClean="0"/>
              <a:t> processes,</a:t>
            </a:r>
          </a:p>
          <a:p>
            <a:pPr algn="just">
              <a:buNone/>
            </a:pPr>
            <a:r>
              <a:rPr lang="en-US" dirty="0" smtClean="0"/>
              <a:t>1.</a:t>
            </a:r>
            <a:r>
              <a:rPr lang="en-US" b="1" dirty="0" smtClean="0">
                <a:solidFill>
                  <a:srgbClr val="FF0000"/>
                </a:solidFill>
              </a:rPr>
              <a:t>manipulation</a:t>
            </a:r>
            <a:r>
              <a:rPr lang="en-US" dirty="0" smtClean="0"/>
              <a:t>: refers to how a child is handed</a:t>
            </a:r>
          </a:p>
          <a:p>
            <a:pPr algn="just">
              <a:buNone/>
            </a:pPr>
            <a:r>
              <a:rPr lang="en-US" dirty="0" smtClean="0"/>
              <a:t>2. </a:t>
            </a:r>
            <a:r>
              <a:rPr lang="en-US" dirty="0" smtClean="0">
                <a:solidFill>
                  <a:srgbClr val="FF0000"/>
                </a:solidFill>
              </a:rPr>
              <a:t>canalization</a:t>
            </a:r>
            <a:r>
              <a:rPr lang="en-US" dirty="0" smtClean="0"/>
              <a:t>;-involves the familiarization of boys and girls with certain objects, which later shapes their perceptions, aspirations and dreams</a:t>
            </a:r>
          </a:p>
          <a:p>
            <a:pPr algn="just">
              <a:buNone/>
            </a:pPr>
            <a:r>
              <a:rPr lang="en-US" dirty="0" smtClean="0"/>
              <a:t>3. </a:t>
            </a:r>
            <a:r>
              <a:rPr lang="en-US" dirty="0" smtClean="0">
                <a:solidFill>
                  <a:srgbClr val="FF0000"/>
                </a:solidFill>
              </a:rPr>
              <a:t>Verbal appellation </a:t>
            </a:r>
            <a:r>
              <a:rPr lang="en-US" dirty="0" smtClean="0"/>
              <a:t>likes “strong” for boys and “beautiful” for girls help them construct d/t identities. Strength </a:t>
            </a:r>
            <a:r>
              <a:rPr lang="en-US" dirty="0" err="1" smtClean="0"/>
              <a:t>vs</a:t>
            </a:r>
            <a:r>
              <a:rPr lang="en-US" dirty="0" smtClean="0"/>
              <a:t> beauty  </a:t>
            </a:r>
          </a:p>
          <a:p>
            <a:pPr algn="just">
              <a:buNone/>
            </a:pPr>
            <a:r>
              <a:rPr lang="en-US" dirty="0" smtClean="0"/>
              <a:t>4. </a:t>
            </a:r>
            <a:r>
              <a:rPr lang="en-US" dirty="0" smtClean="0">
                <a:solidFill>
                  <a:srgbClr val="FF0000"/>
                </a:solidFill>
              </a:rPr>
              <a:t>activity exposure </a:t>
            </a:r>
            <a:r>
              <a:rPr lang="en-US" dirty="0" smtClean="0"/>
              <a:t>pertains to different kinds activities, boys and girls are exposed to. Girls are asked for help by their mothers and boys usually accompany their fathers outside the house</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534400" cy="6477000"/>
          </a:xfrm>
        </p:spPr>
        <p:txBody>
          <a:bodyPr>
            <a:normAutofit lnSpcReduction="10000"/>
          </a:bodyPr>
          <a:lstStyle/>
          <a:p>
            <a:pPr algn="just"/>
            <a:r>
              <a:rPr lang="en-US" dirty="0" smtClean="0"/>
              <a:t>the basic difference between a man and a woman does not seem to have any genetic foundation.</a:t>
            </a:r>
          </a:p>
          <a:p>
            <a:pPr algn="just"/>
            <a:r>
              <a:rPr lang="en-US" dirty="0" smtClean="0"/>
              <a:t> It is the result of one’s culture, which is injected into an individual through socialization process</a:t>
            </a:r>
          </a:p>
          <a:p>
            <a:pPr algn="just">
              <a:buNone/>
            </a:pPr>
            <a:r>
              <a:rPr lang="en-US" b="1" dirty="0" smtClean="0"/>
              <a:t>Gender construction: a psychoanalytic view </a:t>
            </a:r>
            <a:endParaRPr lang="en-US" dirty="0" smtClean="0"/>
          </a:p>
          <a:p>
            <a:pPr algn="just">
              <a:buFont typeface="Wingdings" pitchFamily="2" charset="2"/>
              <a:buChar char="Ø"/>
            </a:pPr>
            <a:r>
              <a:rPr lang="en-US" dirty="0" smtClean="0"/>
              <a:t>At a very early stage, the little boy develops an object-</a:t>
            </a:r>
            <a:r>
              <a:rPr lang="en-US" dirty="0" err="1" smtClean="0"/>
              <a:t>cathexis</a:t>
            </a:r>
            <a:r>
              <a:rPr lang="en-US" dirty="0" smtClean="0"/>
              <a:t> of his mother, which is originally related to the mother’s breast</a:t>
            </a:r>
          </a:p>
          <a:p>
            <a:pPr algn="just">
              <a:buFont typeface="Wingdings" pitchFamily="2" charset="2"/>
              <a:buChar char="Ø"/>
            </a:pPr>
            <a:r>
              <a:rPr lang="en-US" dirty="0" smtClean="0"/>
              <a:t>this two r/s exist side by side, until the sexual wishes in regards the mother become intense and the father is perceived as an obstacle to them; this gives rise to the </a:t>
            </a:r>
            <a:r>
              <a:rPr lang="en-US" dirty="0" smtClean="0">
                <a:solidFill>
                  <a:srgbClr val="FF0000"/>
                </a:solidFill>
              </a:rPr>
              <a:t>Oedipus complex</a:t>
            </a:r>
          </a:p>
          <a:p>
            <a:pPr algn="just">
              <a:buFont typeface="Wingdings" pitchFamily="2" charset="2"/>
              <a:buChar char="Ø"/>
            </a:pPr>
            <a:r>
              <a:rPr lang="en-US" dirty="0" smtClean="0"/>
              <a:t>So, “in repressing the erotic feelings towards the mother and accepting the father as superior being, the boy identifies with the father and become aware of his male identity</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lnSpcReduction="10000"/>
          </a:bodyPr>
          <a:lstStyle/>
          <a:p>
            <a:pPr>
              <a:buNone/>
            </a:pPr>
            <a:r>
              <a:rPr lang="en-US" b="1" i="1" dirty="0" smtClean="0"/>
              <a:t>Cultural construction of masculinity and femininity</a:t>
            </a:r>
          </a:p>
          <a:p>
            <a:pPr algn="just">
              <a:buFont typeface="Wingdings" pitchFamily="2" charset="2"/>
              <a:buChar char="Ø"/>
            </a:pPr>
            <a:r>
              <a:rPr lang="en-US" dirty="0" smtClean="0"/>
              <a:t>Women considered as passive with Tenderness consideration and physical weakness </a:t>
            </a:r>
          </a:p>
          <a:p>
            <a:pPr algn="just">
              <a:buFont typeface="Wingdings" pitchFamily="2" charset="2"/>
              <a:buChar char="Ø"/>
            </a:pPr>
            <a:r>
              <a:rPr lang="en-US" dirty="0" smtClean="0"/>
              <a:t>The masculine is defined as dominant and encouraging male violence against women </a:t>
            </a:r>
          </a:p>
          <a:p>
            <a:pPr algn="just">
              <a:buFont typeface="Wingdings" pitchFamily="2" charset="2"/>
              <a:buChar char="Ø"/>
            </a:pPr>
            <a:r>
              <a:rPr lang="en-US" dirty="0" smtClean="0"/>
              <a:t>Men are supposed to be high on strength and prowess </a:t>
            </a:r>
          </a:p>
          <a:p>
            <a:pPr algn="just">
              <a:buFont typeface="Wingdings" pitchFamily="2" charset="2"/>
              <a:buChar char="Ø"/>
            </a:pPr>
            <a:r>
              <a:rPr lang="en-US" dirty="0" smtClean="0"/>
              <a:t>Men speak the language of right and women the language of responsibility</a:t>
            </a:r>
          </a:p>
          <a:p>
            <a:pPr algn="just">
              <a:buFont typeface="Wingdings" pitchFamily="2" charset="2"/>
              <a:buChar char="Ø"/>
            </a:pPr>
            <a:r>
              <a:rPr lang="en-US" dirty="0" smtClean="0"/>
              <a:t>Right from their childhood, boys attempt to dominate and control. </a:t>
            </a:r>
          </a:p>
          <a:p>
            <a:pPr algn="just">
              <a:buFont typeface="Wingdings" pitchFamily="2" charset="2"/>
              <a:buChar char="Ø"/>
            </a:pPr>
            <a:r>
              <a:rPr lang="en-US" dirty="0" smtClean="0"/>
              <a:t>But girls are encouraged to be good mothers. So the first thing they do is attract a man to depend on</a:t>
            </a:r>
          </a:p>
          <a:p>
            <a:pPr algn="just">
              <a:buFont typeface="Wingdings" pitchFamily="2" charset="2"/>
              <a:buChar char="Ø"/>
            </a:pPr>
            <a:r>
              <a:rPr lang="en-US" dirty="0" smtClean="0"/>
              <a:t>Women valued for their look or smallness but not their strength and brains</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77000"/>
          </a:xfrm>
        </p:spPr>
        <p:txBody>
          <a:bodyPr/>
          <a:lstStyle/>
          <a:p>
            <a:pPr algn="just">
              <a:buFont typeface="Wingdings" pitchFamily="2" charset="2"/>
              <a:buChar char="Ø"/>
            </a:pPr>
            <a:r>
              <a:rPr lang="en-US" dirty="0" smtClean="0"/>
              <a:t>Men’s predominance in the public domain and their association with reason distanced them from talking about relationships</a:t>
            </a:r>
          </a:p>
          <a:p>
            <a:pPr algn="just">
              <a:buFont typeface="Wingdings" pitchFamily="2" charset="2"/>
              <a:buChar char="Ø"/>
            </a:pPr>
            <a:r>
              <a:rPr lang="en-US" dirty="0" smtClean="0"/>
              <a:t>Right from their childhood, men have been treated by their parents as independent and out going</a:t>
            </a:r>
          </a:p>
          <a:p>
            <a:pPr algn="just">
              <a:buFont typeface="Wingdings" pitchFamily="2" charset="2"/>
              <a:buChar char="Ø"/>
            </a:pPr>
            <a:r>
              <a:rPr lang="en-US" dirty="0" smtClean="0"/>
              <a:t>Culture has made women more expressive and  their expressiveness is confused with the display of weaknesses.</a:t>
            </a:r>
          </a:p>
          <a:p>
            <a:pPr algn="just">
              <a:buFont typeface="Wingdings" pitchFamily="2" charset="2"/>
              <a:buChar char="Ø"/>
            </a:pPr>
            <a:r>
              <a:rPr lang="en-US" dirty="0" smtClean="0"/>
              <a:t> Men’s  silence on problems has been mistaken for strength and courage but this is not the  truth </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610600" cy="6629400"/>
          </a:xfrm>
        </p:spPr>
        <p:txBody>
          <a:bodyPr>
            <a:normAutofit/>
          </a:bodyPr>
          <a:lstStyle/>
          <a:p>
            <a:pPr>
              <a:buNone/>
            </a:pPr>
            <a:r>
              <a:rPr lang="en-US" b="1" i="1" dirty="0" smtClean="0"/>
              <a:t>Patriarchy and its structures</a:t>
            </a:r>
          </a:p>
          <a:p>
            <a:pPr algn="just">
              <a:buFont typeface="Wingdings" pitchFamily="2" charset="2"/>
              <a:buChar char="Ø"/>
            </a:pPr>
            <a:r>
              <a:rPr lang="en-US" dirty="0" smtClean="0"/>
              <a:t>Patriarchy refers to male domination and female’s acceptance and internalization of that dominance (the supremacy of the father)</a:t>
            </a:r>
          </a:p>
          <a:p>
            <a:pPr algn="just">
              <a:buFont typeface="Wingdings" pitchFamily="2" charset="2"/>
              <a:buChar char="Ø"/>
            </a:pPr>
            <a:r>
              <a:rPr lang="en-US" dirty="0" smtClean="0"/>
              <a:t>It is a system of social structures and practices in w/h men dominate, oppress and exploit women</a:t>
            </a:r>
          </a:p>
          <a:p>
            <a:pPr algn="just">
              <a:buFont typeface="Wingdings" pitchFamily="2" charset="2"/>
              <a:buChar char="Ø"/>
            </a:pPr>
            <a:r>
              <a:rPr lang="en-US" dirty="0" smtClean="0"/>
              <a:t>Most of the institutions of the society are patriarchal in nature, (state, religion, family)</a:t>
            </a:r>
          </a:p>
          <a:p>
            <a:pPr algn="just">
              <a:buFont typeface="Wingdings" pitchFamily="2" charset="2"/>
              <a:buChar char="Ø"/>
            </a:pPr>
            <a:r>
              <a:rPr lang="en-US" dirty="0" smtClean="0"/>
              <a:t>Culture itself has certain demands from male and female separately. This male dominant society has </a:t>
            </a:r>
            <a:r>
              <a:rPr lang="en-US" dirty="0" smtClean="0">
                <a:solidFill>
                  <a:srgbClr val="FF0000"/>
                </a:solidFill>
              </a:rPr>
              <a:t>looked down upon women</a:t>
            </a:r>
            <a:r>
              <a:rPr lang="en-US" dirty="0" smtClean="0"/>
              <a:t>. </a:t>
            </a:r>
          </a:p>
          <a:p>
            <a:pPr algn="just">
              <a:buFont typeface="Wingdings" pitchFamily="2" charset="2"/>
              <a:buChar char="Ø"/>
            </a:pPr>
            <a:r>
              <a:rPr lang="en-US" dirty="0" smtClean="0"/>
              <a:t>Women tend to stress on relation ships and responsibility while men emphasize rules and rights</a:t>
            </a:r>
          </a:p>
          <a:p>
            <a:pPr algn="just">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248400"/>
          </a:xfrm>
        </p:spPr>
        <p:txBody>
          <a:bodyPr>
            <a:normAutofit lnSpcReduction="10000"/>
          </a:bodyPr>
          <a:lstStyle/>
          <a:p>
            <a:pPr algn="just"/>
            <a:r>
              <a:rPr lang="en-US" dirty="0" smtClean="0"/>
              <a:t>The society claimed  that the dev’t of the child requires the mother to devote herself completely to the welfare of the child and it is the primary duty of the mother to shower all kinds of affection and care to the child</a:t>
            </a:r>
          </a:p>
          <a:p>
            <a:pPr algn="just"/>
            <a:r>
              <a:rPr lang="en-US" dirty="0" smtClean="0"/>
              <a:t>The father is not expected to carry out such duties.</a:t>
            </a:r>
          </a:p>
          <a:p>
            <a:pPr algn="just"/>
            <a:r>
              <a:rPr lang="en-US" dirty="0" smtClean="0"/>
              <a:t>Since men lack a natural basis meant for family orientation, i.e.,</a:t>
            </a:r>
            <a:r>
              <a:rPr lang="en-US" b="1" dirty="0" smtClean="0"/>
              <a:t> </a:t>
            </a:r>
            <a:r>
              <a:rPr lang="en-US" dirty="0" smtClean="0"/>
              <a:t>they do not reproduce, the cultural reasoning seems to go that men are the ‘natural’ proprietors of religion, ritual, politics, and other realms of cultural thought</a:t>
            </a:r>
          </a:p>
          <a:p>
            <a:pPr algn="just"/>
            <a:r>
              <a:rPr lang="en-US" dirty="0" smtClean="0"/>
              <a:t>Women were allocated domestic service and attending upon children while men did the rest</a:t>
            </a:r>
          </a:p>
          <a:p>
            <a:pPr algn="just"/>
            <a:r>
              <a:rPr lang="en-US" dirty="0" smtClean="0"/>
              <a:t>Thus men are associated with culture, i.e., the higher form of human thought involving art, religion and law</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a:bodyPr>
          <a:lstStyle/>
          <a:p>
            <a:pPr>
              <a:buNone/>
            </a:pPr>
            <a:r>
              <a:rPr lang="en-US" b="1" dirty="0" smtClean="0"/>
              <a:t>Work and Gender </a:t>
            </a:r>
          </a:p>
          <a:p>
            <a:r>
              <a:rPr lang="en-US" dirty="0" smtClean="0"/>
              <a:t>Men were more exposed to the outside world, thus becoming an integral part of the public sphere due to their participation in local affairs, politics and the market. </a:t>
            </a:r>
          </a:p>
          <a:p>
            <a:r>
              <a:rPr lang="en-US" dirty="0" smtClean="0"/>
              <a:t>But women were relegated to the domestic sphere.</a:t>
            </a:r>
          </a:p>
          <a:p>
            <a:r>
              <a:rPr lang="en-US" dirty="0" smtClean="0"/>
              <a:t> Mostly, jobs stand gendered. Women traditionally have been doing household works like cooking and taking care of children. Thus, certain jobs have been branded feminine and masculine.</a:t>
            </a:r>
          </a:p>
          <a:p>
            <a:r>
              <a:rPr lang="en-US" dirty="0" smtClean="0"/>
              <a:t> There is occupational segregation based on gender as  men and women being concentrated in different kinds of occupation.</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324600"/>
          </a:xfrm>
        </p:spPr>
        <p:txBody>
          <a:bodyPr>
            <a:normAutofit/>
          </a:bodyPr>
          <a:lstStyle/>
          <a:p>
            <a:pPr algn="just">
              <a:buNone/>
            </a:pPr>
            <a:r>
              <a:rPr lang="en-US" dirty="0" smtClean="0"/>
              <a:t>Occupational segregation has two dimensions, vertical and horizontal. </a:t>
            </a:r>
          </a:p>
          <a:p>
            <a:pPr algn="just"/>
            <a:r>
              <a:rPr lang="en-US" dirty="0" smtClean="0"/>
              <a:t>“Vertical segregation” refers to the tendency of women to remain in the second position, whereas men remain in influential position.</a:t>
            </a:r>
          </a:p>
          <a:p>
            <a:pPr algn="just"/>
            <a:r>
              <a:rPr lang="en-US" dirty="0" smtClean="0"/>
              <a:t>“Horizontal segregation” refers to the tendency of men and women to occupy different categories of jobs.  Women shouldered the responsibility of taking on household tasks, while men were mostly seen in jobs outside home.</a:t>
            </a:r>
          </a:p>
          <a:p>
            <a:pPr algn="just"/>
            <a:r>
              <a:rPr lang="en-US" dirty="0" smtClean="0"/>
              <a:t> Things get extremely difficult for women who are working because they have to bear the double burden of domestic work, as well as work place</a:t>
            </a:r>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 </a:t>
            </a:r>
            <a:br>
              <a:rPr lang="en-US" dirty="0" smtClean="0"/>
            </a:br>
            <a:r>
              <a:rPr lang="en-US" b="1" i="1" dirty="0" smtClean="0"/>
              <a:t>Gender in the Media and Information Technology</a:t>
            </a:r>
            <a:r>
              <a:rPr lang="en-US" dirty="0" smtClean="0"/>
              <a:t/>
            </a:r>
            <a:br>
              <a:rPr lang="en-US" dirty="0" smtClean="0"/>
            </a:br>
            <a:endParaRPr lang="en-US" dirty="0"/>
          </a:p>
        </p:txBody>
      </p:sp>
      <p:sp>
        <p:nvSpPr>
          <p:cNvPr id="3" name="Content Placeholder 2"/>
          <p:cNvSpPr>
            <a:spLocks noGrp="1"/>
          </p:cNvSpPr>
          <p:nvPr>
            <p:ph sz="quarter" idx="1"/>
          </p:nvPr>
        </p:nvSpPr>
        <p:spPr>
          <a:xfrm>
            <a:off x="228600" y="1295400"/>
            <a:ext cx="8686800" cy="5257800"/>
          </a:xfrm>
        </p:spPr>
        <p:txBody>
          <a:bodyPr>
            <a:normAutofit fontScale="92500" lnSpcReduction="20000"/>
          </a:bodyPr>
          <a:lstStyle/>
          <a:p>
            <a:pPr algn="just"/>
            <a:r>
              <a:rPr lang="en-US" dirty="0" smtClean="0"/>
              <a:t>Media is one of the most </a:t>
            </a:r>
            <a:r>
              <a:rPr lang="en-US" dirty="0" err="1" smtClean="0"/>
              <a:t>i</a:t>
            </a:r>
            <a:r>
              <a:rPr lang="en-US" dirty="0" smtClean="0"/>
              <a:t>/t socializing agents.</a:t>
            </a:r>
          </a:p>
          <a:p>
            <a:pPr algn="just"/>
            <a:r>
              <a:rPr lang="en-US" dirty="0" smtClean="0"/>
              <a:t>Media transmit values and attitudes that highly affect the attitude and behavior of individuals</a:t>
            </a:r>
          </a:p>
          <a:p>
            <a:pPr algn="just"/>
            <a:r>
              <a:rPr lang="en-US" dirty="0" smtClean="0"/>
              <a:t>The issue of women and media can be looked at from </a:t>
            </a:r>
            <a:r>
              <a:rPr lang="en-US" i="1" dirty="0" smtClean="0"/>
              <a:t>three</a:t>
            </a:r>
            <a:r>
              <a:rPr lang="en-US" dirty="0" smtClean="0"/>
              <a:t> perspectives: women’s portrayal, the content, and women as media consumers</a:t>
            </a:r>
          </a:p>
          <a:p>
            <a:pPr algn="just"/>
            <a:r>
              <a:rPr lang="en-US" dirty="0" smtClean="0"/>
              <a:t>women and men are portrayed in stereotypical ways, more intensified in many developing countries</a:t>
            </a:r>
          </a:p>
          <a:p>
            <a:pPr algn="just"/>
            <a:r>
              <a:rPr lang="en-US" dirty="0" smtClean="0"/>
              <a:t>Women tend to be portrayed in roles in which they are trivialized, condemned, or narrowly defined,</a:t>
            </a:r>
          </a:p>
          <a:p>
            <a:pPr algn="just"/>
            <a:r>
              <a:rPr lang="en-US" dirty="0" smtClean="0"/>
              <a:t>doing domestic chores, or appearing as sex objects and sometimes, they are presented to be selfish and cruel</a:t>
            </a:r>
          </a:p>
          <a:p>
            <a:pPr algn="just"/>
            <a:r>
              <a:rPr lang="en-US" dirty="0" smtClean="0"/>
              <a:t>Men are usually depicted in high-status jobs in which they dominate women</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400800"/>
          </a:xfrm>
        </p:spPr>
        <p:txBody>
          <a:bodyPr>
            <a:normAutofit/>
          </a:bodyPr>
          <a:lstStyle/>
          <a:p>
            <a:pPr algn="just">
              <a:buNone/>
            </a:pPr>
            <a:r>
              <a:rPr lang="en-US" b="1" dirty="0" smtClean="0"/>
              <a:t>Women as media  consumer:- </a:t>
            </a:r>
          </a:p>
          <a:p>
            <a:pPr algn="just">
              <a:buFont typeface="Wingdings" pitchFamily="2" charset="2"/>
              <a:buChar char="Ø"/>
            </a:pPr>
            <a:r>
              <a:rPr lang="en-US" dirty="0" smtClean="0"/>
              <a:t>Many women do not receive information from the media</a:t>
            </a:r>
          </a:p>
          <a:p>
            <a:pPr algn="just">
              <a:buFont typeface="Wingdings" pitchFamily="2" charset="2"/>
              <a:buChar char="Ø"/>
            </a:pPr>
            <a:r>
              <a:rPr lang="en-US" dirty="0" smtClean="0"/>
              <a:t>Information is at the heart of education; it is the basis of health; it defines every aspect of production, distribution and exchange; and it defines social relationship at all levels.</a:t>
            </a:r>
          </a:p>
          <a:p>
            <a:pPr algn="just">
              <a:buFont typeface="Wingdings" pitchFamily="2" charset="2"/>
              <a:buChar char="Ø"/>
            </a:pPr>
            <a:r>
              <a:rPr lang="en-US" dirty="0" smtClean="0"/>
              <a:t>ICTs have the potential to reduce poverty, empower people and facilitate the democratization process. </a:t>
            </a:r>
          </a:p>
          <a:p>
            <a:pPr algn="just">
              <a:buFont typeface="Wingdings" pitchFamily="2" charset="2"/>
              <a:buChar char="Ø"/>
            </a:pPr>
            <a:r>
              <a:rPr lang="en-US" dirty="0" smtClean="0"/>
              <a:t>However, it can also widen the gaps between the haves and the have-nots and between women and men.</a:t>
            </a:r>
          </a:p>
          <a:p>
            <a:pPr algn="just">
              <a:buFont typeface="Wingdings" pitchFamily="2" charset="2"/>
              <a:buChar char="Ø"/>
            </a:pPr>
            <a:r>
              <a:rPr lang="en-US" dirty="0" smtClean="0"/>
              <a:t>The voice and concern of women being further marginalized </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248400"/>
          </a:xfrm>
        </p:spPr>
        <p:txBody>
          <a:bodyPr/>
          <a:lstStyle/>
          <a:p>
            <a:r>
              <a:rPr lang="en-US" dirty="0" smtClean="0"/>
              <a:t>There are a number of constraints women encounter in accessing information  using ICTs</a:t>
            </a:r>
          </a:p>
          <a:p>
            <a:r>
              <a:rPr lang="en-US" dirty="0" smtClean="0"/>
              <a:t>These include low literacy, limited access to resources and decision-making, limited or no access to computers, limited telecommunication infrastructure, unreliable telephone line, high cost of telephone calls, and lack of time.</a:t>
            </a:r>
          </a:p>
          <a:p>
            <a:r>
              <a:rPr lang="en-US" dirty="0" smtClean="0"/>
              <a:t>Women who have access usually use ICTs for work purposes, and not for personal growth. </a:t>
            </a:r>
          </a:p>
          <a:p>
            <a:r>
              <a:rPr lang="en-US" dirty="0" smtClean="0"/>
              <a:t>Even in their work women's utilization of ICTs is often limited to using e-mails.</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two</a:t>
            </a:r>
            <a:br>
              <a:rPr lang="en-US" dirty="0" smtClean="0"/>
            </a:br>
            <a:r>
              <a:rPr lang="en-US" b="1" dirty="0"/>
              <a:t>Theoretical foundation of gender equality </a:t>
            </a:r>
            <a:endParaRPr lang="en-US" dirty="0"/>
          </a:p>
        </p:txBody>
      </p:sp>
      <p:sp>
        <p:nvSpPr>
          <p:cNvPr id="3" name="Content Placeholder 2"/>
          <p:cNvSpPr>
            <a:spLocks noGrp="1"/>
          </p:cNvSpPr>
          <p:nvPr>
            <p:ph sz="quarter" idx="1"/>
          </p:nvPr>
        </p:nvSpPr>
        <p:spPr>
          <a:xfrm>
            <a:off x="228600" y="1752600"/>
            <a:ext cx="8610600" cy="4953000"/>
          </a:xfrm>
        </p:spPr>
        <p:txBody>
          <a:bodyPr/>
          <a:lstStyle/>
          <a:p>
            <a:pPr>
              <a:buNone/>
            </a:pPr>
            <a:r>
              <a:rPr lang="en-US" b="1" dirty="0"/>
              <a:t>2.1Gender </a:t>
            </a:r>
            <a:r>
              <a:rPr lang="en-US" b="1" dirty="0" smtClean="0"/>
              <a:t>equality</a:t>
            </a:r>
          </a:p>
          <a:p>
            <a:pPr>
              <a:buFont typeface="Wingdings" pitchFamily="2" charset="2"/>
              <a:buChar char="Ø"/>
            </a:pPr>
            <a:r>
              <a:rPr lang="en-US" dirty="0" smtClean="0"/>
              <a:t>It refers </a:t>
            </a:r>
            <a:r>
              <a:rPr lang="en-US" dirty="0"/>
              <a:t>to equal valuing of the roles of women and men. </a:t>
            </a:r>
            <a:endParaRPr lang="en-US" dirty="0" smtClean="0"/>
          </a:p>
          <a:p>
            <a:pPr>
              <a:buFont typeface="Wingdings" pitchFamily="2" charset="2"/>
              <a:buChar char="Ø"/>
            </a:pPr>
            <a:r>
              <a:rPr lang="en-US" dirty="0"/>
              <a:t>both sexes are able to equally contribute to any social, cultural and political developments within a </a:t>
            </a:r>
            <a:r>
              <a:rPr lang="en-US" dirty="0" smtClean="0"/>
              <a:t>society</a:t>
            </a:r>
          </a:p>
          <a:p>
            <a:pPr>
              <a:buFont typeface="Wingdings" pitchFamily="2" charset="2"/>
              <a:buChar char="Ø"/>
            </a:pPr>
            <a:r>
              <a:rPr lang="en-US" dirty="0"/>
              <a:t>Gender inequality is the result of social, economic, and political differences not the difference in their sex</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477000"/>
          </a:xfrm>
        </p:spPr>
        <p:txBody>
          <a:bodyPr>
            <a:normAutofit/>
          </a:bodyPr>
          <a:lstStyle/>
          <a:p>
            <a:r>
              <a:rPr lang="en-US" b="1" i="1" dirty="0"/>
              <a:t>2.1.1 Social inequality</a:t>
            </a:r>
            <a:endParaRPr lang="en-US" dirty="0"/>
          </a:p>
          <a:p>
            <a:pPr lvl="0"/>
            <a:r>
              <a:rPr lang="en-US" dirty="0"/>
              <a:t>Women and men usually have different roles and responsibilities in their daily lives. Women have the main responsibility of taking care of children and the elderly and providing food for the family while men do works outside the house. </a:t>
            </a:r>
          </a:p>
          <a:p>
            <a:pPr lvl="0"/>
            <a:r>
              <a:rPr lang="en-US" dirty="0"/>
              <a:t>Women have unequal access to education and health services. </a:t>
            </a:r>
          </a:p>
          <a:p>
            <a:pPr lvl="0"/>
            <a:r>
              <a:rPr lang="en-US" dirty="0"/>
              <a:t>Social customs that encourage or force girls into teenage marriages</a:t>
            </a:r>
          </a:p>
          <a:p>
            <a:pPr lvl="0"/>
            <a:r>
              <a:rPr lang="en-US" dirty="0"/>
              <a:t>There are a high level of incidence of violence against women in all countries around the world which are accepted as ‘normal’.</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10600" cy="6324600"/>
          </a:xfrm>
        </p:spPr>
        <p:txBody>
          <a:bodyPr/>
          <a:lstStyle/>
          <a:p>
            <a:pPr>
              <a:buNone/>
            </a:pPr>
            <a:r>
              <a:rPr lang="en-US" b="1" i="1" dirty="0"/>
              <a:t>2.1.2 Economic inequality</a:t>
            </a:r>
            <a:endParaRPr lang="en-US" dirty="0"/>
          </a:p>
          <a:p>
            <a:pPr lvl="0"/>
            <a:r>
              <a:rPr lang="en-US" dirty="0"/>
              <a:t>Nearly 70% of the worlds poor are female.</a:t>
            </a:r>
          </a:p>
          <a:p>
            <a:pPr lvl="0"/>
            <a:r>
              <a:rPr lang="en-US" dirty="0"/>
              <a:t>Women have unequal access to economic resources, such as capital, credit, limited opportunity for employment and career advancement which restricts and affect their economic situation.</a:t>
            </a:r>
          </a:p>
          <a:p>
            <a:pPr lvl="0"/>
            <a:r>
              <a:rPr lang="en-US" dirty="0"/>
              <a:t>Females have unequal access to education and training opportunities which makes them to concentrate on unskilled and low status jobs. </a:t>
            </a:r>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686800" cy="6324600"/>
          </a:xfrm>
        </p:spPr>
        <p:txBody>
          <a:bodyPr/>
          <a:lstStyle/>
          <a:p>
            <a:r>
              <a:rPr lang="en-US" b="1" i="1" dirty="0"/>
              <a:t>2.1.3 Political and legal in equality</a:t>
            </a:r>
            <a:endParaRPr lang="en-US" dirty="0"/>
          </a:p>
          <a:p>
            <a:pPr lvl="0"/>
            <a:r>
              <a:rPr lang="en-US" dirty="0"/>
              <a:t>Women are very poorly represented at all levels of formal decision making both at regional and national levels.</a:t>
            </a:r>
          </a:p>
          <a:p>
            <a:pPr lvl="0"/>
            <a:r>
              <a:rPr lang="en-US" dirty="0"/>
              <a:t>The legal system in many countries discriminates against women especially in the areas of </a:t>
            </a:r>
            <a:r>
              <a:rPr lang="en-US" dirty="0">
                <a:solidFill>
                  <a:srgbClr val="FF0000"/>
                </a:solidFill>
              </a:rPr>
              <a:t>inheritance</a:t>
            </a:r>
            <a:r>
              <a:rPr lang="en-US" dirty="0"/>
              <a:t>, </a:t>
            </a:r>
            <a:r>
              <a:rPr lang="en-US" dirty="0" smtClean="0">
                <a:solidFill>
                  <a:srgbClr val="FF0000"/>
                </a:solidFill>
              </a:rPr>
              <a:t>property and </a:t>
            </a:r>
            <a:r>
              <a:rPr lang="en-US" dirty="0" smtClean="0"/>
              <a:t> </a:t>
            </a:r>
            <a:r>
              <a:rPr lang="en-US" dirty="0">
                <a:solidFill>
                  <a:srgbClr val="FF0000"/>
                </a:solidFill>
              </a:rPr>
              <a:t>land </a:t>
            </a:r>
            <a:r>
              <a:rPr lang="en-US" dirty="0" smtClean="0">
                <a:solidFill>
                  <a:srgbClr val="FF0000"/>
                </a:solidFill>
              </a:rPr>
              <a:t>ownership, </a:t>
            </a:r>
            <a:r>
              <a:rPr lang="en-US" dirty="0"/>
              <a:t>and </a:t>
            </a:r>
            <a:r>
              <a:rPr lang="en-US" dirty="0">
                <a:solidFill>
                  <a:srgbClr val="FF0000"/>
                </a:solidFill>
              </a:rPr>
              <a:t>criminal </a:t>
            </a:r>
            <a:r>
              <a:rPr lang="en-US" dirty="0" smtClean="0">
                <a:solidFill>
                  <a:srgbClr val="FF0000"/>
                </a:solidFill>
              </a:rPr>
              <a:t>law</a:t>
            </a:r>
            <a:endParaRPr lang="en-US" dirty="0">
              <a:solidFill>
                <a:srgbClr val="FF0000"/>
              </a:solidFill>
            </a:endParaRPr>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Models of equality and approaches </a:t>
            </a:r>
            <a:r>
              <a:rPr lang="en-US" dirty="0"/>
              <a:t/>
            </a:r>
            <a:br>
              <a:rPr lang="en-US" dirty="0"/>
            </a:br>
            <a:endParaRPr lang="en-US" dirty="0"/>
          </a:p>
        </p:txBody>
      </p:sp>
      <p:sp>
        <p:nvSpPr>
          <p:cNvPr id="3" name="Content Placeholder 2"/>
          <p:cNvSpPr>
            <a:spLocks noGrp="1"/>
          </p:cNvSpPr>
          <p:nvPr>
            <p:ph sz="quarter" idx="1"/>
          </p:nvPr>
        </p:nvSpPr>
        <p:spPr>
          <a:xfrm>
            <a:off x="304800" y="609600"/>
            <a:ext cx="8534400" cy="6019800"/>
          </a:xfrm>
        </p:spPr>
        <p:txBody>
          <a:bodyPr>
            <a:normAutofit/>
          </a:bodyPr>
          <a:lstStyle/>
          <a:p>
            <a:pPr>
              <a:buNone/>
            </a:pPr>
            <a:r>
              <a:rPr lang="en-US" b="1" i="1" dirty="0"/>
              <a:t>2.2.1 The formal model of </a:t>
            </a:r>
            <a:r>
              <a:rPr lang="en-US" b="1" i="1" dirty="0" smtClean="0"/>
              <a:t>equality</a:t>
            </a:r>
          </a:p>
          <a:p>
            <a:pPr>
              <a:buFont typeface="Wingdings" pitchFamily="2" charset="2"/>
              <a:buChar char="Ø"/>
            </a:pPr>
            <a:r>
              <a:rPr lang="en-US" dirty="0" smtClean="0"/>
              <a:t>It regards </a:t>
            </a:r>
            <a:r>
              <a:rPr lang="en-US" dirty="0"/>
              <a:t>men and women as being the</a:t>
            </a:r>
            <a:r>
              <a:rPr lang="en-US" b="1" dirty="0"/>
              <a:t> </a:t>
            </a:r>
            <a:r>
              <a:rPr lang="en-US" dirty="0"/>
              <a:t>same and </a:t>
            </a:r>
            <a:r>
              <a:rPr lang="en-US" dirty="0" smtClean="0"/>
              <a:t>sets </a:t>
            </a:r>
            <a:r>
              <a:rPr lang="en-US" dirty="0"/>
              <a:t>out </a:t>
            </a:r>
            <a:r>
              <a:rPr lang="en-US" dirty="0">
                <a:solidFill>
                  <a:srgbClr val="FF0000"/>
                </a:solidFill>
              </a:rPr>
              <a:t>to treat women the same as </a:t>
            </a:r>
            <a:r>
              <a:rPr lang="en-US" dirty="0" smtClean="0">
                <a:solidFill>
                  <a:srgbClr val="FF0000"/>
                </a:solidFill>
              </a:rPr>
              <a:t>men</a:t>
            </a:r>
          </a:p>
          <a:p>
            <a:pPr>
              <a:buFont typeface="Wingdings" pitchFamily="2" charset="2"/>
              <a:buChar char="Ø"/>
            </a:pPr>
            <a:r>
              <a:rPr lang="en-US" dirty="0" smtClean="0"/>
              <a:t>They argue </a:t>
            </a:r>
            <a:r>
              <a:rPr lang="en-US" dirty="0"/>
              <a:t>for the provision of equal opportunities for women but will go on to expect women to access the opportunities and perform according to the same rules and standards as </a:t>
            </a:r>
            <a:r>
              <a:rPr lang="en-US" dirty="0" smtClean="0"/>
              <a:t>men</a:t>
            </a:r>
          </a:p>
          <a:p>
            <a:pPr>
              <a:buFont typeface="Wingdings" pitchFamily="2" charset="2"/>
              <a:buChar char="Ø"/>
            </a:pPr>
            <a:r>
              <a:rPr lang="en-US" dirty="0"/>
              <a:t>it does not take into consideration the biological and gender </a:t>
            </a:r>
            <a:r>
              <a:rPr lang="en-US" dirty="0" smtClean="0"/>
              <a:t>d/</a:t>
            </a:r>
            <a:r>
              <a:rPr lang="en-US" dirty="0" err="1" smtClean="0"/>
              <a:t>fces</a:t>
            </a:r>
            <a:r>
              <a:rPr lang="en-US" dirty="0" smtClean="0"/>
              <a:t> b/n </a:t>
            </a:r>
            <a:r>
              <a:rPr lang="en-US" dirty="0"/>
              <a:t>women and </a:t>
            </a:r>
            <a:r>
              <a:rPr lang="en-US" dirty="0" smtClean="0"/>
              <a:t>men</a:t>
            </a:r>
          </a:p>
          <a:p>
            <a:pPr>
              <a:buFont typeface="Wingdings" pitchFamily="2" charset="2"/>
              <a:buChar char="Ø"/>
            </a:pPr>
            <a:r>
              <a:rPr lang="en-US" dirty="0"/>
              <a:t>This places a great pressure on women who have to perform according to male standards. </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77000"/>
          </a:xfrm>
        </p:spPr>
        <p:txBody>
          <a:bodyPr>
            <a:normAutofit lnSpcReduction="10000"/>
          </a:bodyPr>
          <a:lstStyle/>
          <a:p>
            <a:pPr algn="just"/>
            <a:r>
              <a:rPr lang="en-US" dirty="0"/>
              <a:t>In formal equality terms, the goal is equal treatment for all, not just </a:t>
            </a:r>
            <a:r>
              <a:rPr lang="en-US" dirty="0" smtClean="0"/>
              <a:t>women</a:t>
            </a:r>
          </a:p>
          <a:p>
            <a:pPr algn="just">
              <a:buNone/>
            </a:pPr>
            <a:r>
              <a:rPr lang="en-US" b="1" i="1" dirty="0"/>
              <a:t>2.2.2 The substantive model of </a:t>
            </a:r>
            <a:r>
              <a:rPr lang="en-US" b="1" i="1" dirty="0" smtClean="0"/>
              <a:t>equality(CEDAW)</a:t>
            </a:r>
          </a:p>
          <a:p>
            <a:pPr algn="just">
              <a:buFont typeface="Wingdings" pitchFamily="2" charset="2"/>
              <a:buChar char="Ø"/>
            </a:pPr>
            <a:r>
              <a:rPr lang="en-US" dirty="0"/>
              <a:t> The convention promotes the substantive model of equality and consolidates two central approaches to </a:t>
            </a:r>
            <a:r>
              <a:rPr lang="en-US" dirty="0" smtClean="0"/>
              <a:t>equality</a:t>
            </a:r>
          </a:p>
          <a:p>
            <a:pPr algn="just">
              <a:buFont typeface="Wingdings" pitchFamily="2" charset="2"/>
              <a:buChar char="Ø"/>
            </a:pPr>
            <a:r>
              <a:rPr lang="en-US" b="1" i="1" dirty="0">
                <a:solidFill>
                  <a:srgbClr val="FF0000"/>
                </a:solidFill>
              </a:rPr>
              <a:t>equality of opportunity</a:t>
            </a:r>
            <a:r>
              <a:rPr lang="en-US" b="1" dirty="0">
                <a:solidFill>
                  <a:srgbClr val="FF0000"/>
                </a:solidFill>
              </a:rPr>
              <a:t> </a:t>
            </a:r>
            <a:r>
              <a:rPr lang="en-US" dirty="0"/>
              <a:t>in terms of women’s access on equal terms with men to the resources of a country. </a:t>
            </a:r>
            <a:r>
              <a:rPr lang="en-US" dirty="0" smtClean="0"/>
              <a:t>(</a:t>
            </a:r>
            <a:r>
              <a:rPr lang="en-US" dirty="0" smtClean="0">
                <a:solidFill>
                  <a:schemeClr val="tx2">
                    <a:lumMod val="60000"/>
                    <a:lumOff val="40000"/>
                  </a:schemeClr>
                </a:solidFill>
              </a:rPr>
              <a:t>the obligation of means</a:t>
            </a:r>
            <a:r>
              <a:rPr lang="en-US" dirty="0" smtClean="0"/>
              <a:t>)</a:t>
            </a:r>
          </a:p>
          <a:p>
            <a:pPr algn="just">
              <a:buFont typeface="Wingdings" pitchFamily="2" charset="2"/>
              <a:buChar char="Ø"/>
            </a:pPr>
            <a:r>
              <a:rPr lang="en-US" b="1" dirty="0" smtClean="0">
                <a:solidFill>
                  <a:srgbClr val="FF0000"/>
                </a:solidFill>
              </a:rPr>
              <a:t>Equality of result</a:t>
            </a:r>
            <a:r>
              <a:rPr lang="en-US" b="1" dirty="0" smtClean="0"/>
              <a:t>:- </a:t>
            </a:r>
            <a:r>
              <a:rPr lang="en-US" dirty="0"/>
              <a:t>the measure of a state’s action to secure the human rights of women and men needs to ensure </a:t>
            </a:r>
            <a:r>
              <a:rPr lang="en-US" i="1" dirty="0"/>
              <a:t>equality of </a:t>
            </a:r>
            <a:r>
              <a:rPr lang="en-US" i="1" dirty="0" smtClean="0"/>
              <a:t>results (</a:t>
            </a:r>
            <a:r>
              <a:rPr lang="en-US" i="1" dirty="0" smtClean="0">
                <a:solidFill>
                  <a:schemeClr val="tx2">
                    <a:lumMod val="60000"/>
                    <a:lumOff val="40000"/>
                  </a:schemeClr>
                </a:solidFill>
              </a:rPr>
              <a:t>obligation of result </a:t>
            </a:r>
          </a:p>
          <a:p>
            <a:pPr algn="just">
              <a:buFont typeface="Wingdings" pitchFamily="2" charset="2"/>
              <a:buChar char="Ø"/>
            </a:pPr>
            <a:r>
              <a:rPr lang="en-US" dirty="0"/>
              <a:t>The indicators of state </a:t>
            </a:r>
            <a:r>
              <a:rPr lang="en-US" dirty="0" smtClean="0"/>
              <a:t>progress </a:t>
            </a:r>
            <a:r>
              <a:rPr lang="en-US" dirty="0"/>
              <a:t>lie not just in what the state does, but in what the state achieves in terms of real change for </a:t>
            </a:r>
            <a:r>
              <a:rPr lang="en-US" dirty="0" smtClean="0"/>
              <a:t>women</a:t>
            </a:r>
            <a:endParaRPr lang="en-US" b="1" dirty="0"/>
          </a:p>
          <a:p>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400800"/>
          </a:xfrm>
        </p:spPr>
        <p:txBody>
          <a:bodyPr/>
          <a:lstStyle/>
          <a:p>
            <a:pPr algn="just"/>
            <a:r>
              <a:rPr lang="en-US" dirty="0" smtClean="0"/>
              <a:t>It is </a:t>
            </a:r>
            <a:r>
              <a:rPr lang="en-US" dirty="0"/>
              <a:t>not concerned </a:t>
            </a:r>
            <a:r>
              <a:rPr lang="en-US" dirty="0" smtClean="0"/>
              <a:t>much </a:t>
            </a:r>
            <a:r>
              <a:rPr lang="en-US" dirty="0"/>
              <a:t>with equal treatment but with equal access and equal benefits. </a:t>
            </a:r>
            <a:endParaRPr lang="en-US" dirty="0" smtClean="0"/>
          </a:p>
          <a:p>
            <a:pPr algn="just"/>
            <a:r>
              <a:rPr lang="en-US" dirty="0"/>
              <a:t>Hence it recognizes that women and men may have to be </a:t>
            </a:r>
            <a:r>
              <a:rPr lang="en-US" dirty="0">
                <a:solidFill>
                  <a:srgbClr val="FF0000"/>
                </a:solidFill>
              </a:rPr>
              <a:t>treated differently </a:t>
            </a:r>
            <a:r>
              <a:rPr lang="en-US" dirty="0"/>
              <a:t>in order for them to benefit </a:t>
            </a:r>
            <a:r>
              <a:rPr lang="en-US" dirty="0" smtClean="0"/>
              <a:t>equally. </a:t>
            </a:r>
          </a:p>
          <a:p>
            <a:pPr algn="just"/>
            <a:r>
              <a:rPr lang="en-US" dirty="0" smtClean="0"/>
              <a:t>This </a:t>
            </a:r>
            <a:r>
              <a:rPr lang="en-US" dirty="0"/>
              <a:t>may take the form of providing </a:t>
            </a:r>
            <a:r>
              <a:rPr lang="en-US" dirty="0">
                <a:solidFill>
                  <a:srgbClr val="FF0000"/>
                </a:solidFill>
              </a:rPr>
              <a:t>enabling conditions</a:t>
            </a:r>
            <a:r>
              <a:rPr lang="en-US" dirty="0"/>
              <a:t> and/ or </a:t>
            </a:r>
            <a:r>
              <a:rPr lang="en-US" dirty="0">
                <a:solidFill>
                  <a:srgbClr val="FF0000"/>
                </a:solidFill>
              </a:rPr>
              <a:t>affirmative </a:t>
            </a:r>
            <a:r>
              <a:rPr lang="en-US" dirty="0" smtClean="0">
                <a:solidFill>
                  <a:srgbClr val="FF0000"/>
                </a:solidFill>
              </a:rPr>
              <a:t>action</a:t>
            </a:r>
          </a:p>
          <a:p>
            <a:pPr algn="just"/>
            <a:r>
              <a:rPr lang="en-US" dirty="0"/>
              <a:t>that formal equality, often manifested in a </a:t>
            </a:r>
            <a:r>
              <a:rPr lang="en-US" dirty="0">
                <a:solidFill>
                  <a:srgbClr val="FF0000"/>
                </a:solidFill>
              </a:rPr>
              <a:t>gender-neutral framing of policy or law</a:t>
            </a:r>
            <a:r>
              <a:rPr lang="en-US" dirty="0"/>
              <a:t>, may not be sufficient to ensure that women enjoy the same rights as </a:t>
            </a:r>
            <a:r>
              <a:rPr lang="en-US" dirty="0" smtClean="0"/>
              <a:t>men and ensure equality</a:t>
            </a:r>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686800" cy="6477000"/>
          </a:xfrm>
        </p:spPr>
        <p:txBody>
          <a:bodyPr>
            <a:normAutofit/>
          </a:bodyPr>
          <a:lstStyle/>
          <a:p>
            <a:pPr algn="just"/>
            <a:r>
              <a:rPr lang="en-US" dirty="0"/>
              <a:t>This is because of the fact that women and men are not the same</a:t>
            </a:r>
            <a:r>
              <a:rPr lang="en-US" dirty="0" smtClean="0"/>
              <a:t>.</a:t>
            </a:r>
          </a:p>
          <a:p>
            <a:pPr algn="just"/>
            <a:r>
              <a:rPr lang="en-US" dirty="0" smtClean="0"/>
              <a:t>Differences between </a:t>
            </a:r>
            <a:r>
              <a:rPr lang="en-US" dirty="0"/>
              <a:t>women and men whether based on biological </a:t>
            </a:r>
            <a:r>
              <a:rPr lang="en-US" b="1" dirty="0"/>
              <a:t>(sex) </a:t>
            </a:r>
            <a:r>
              <a:rPr lang="en-US" dirty="0" smtClean="0"/>
              <a:t>difference </a:t>
            </a:r>
            <a:r>
              <a:rPr lang="en-US" dirty="0"/>
              <a:t>or socially created </a:t>
            </a:r>
            <a:r>
              <a:rPr lang="en-US" b="1" dirty="0"/>
              <a:t>(gender) </a:t>
            </a:r>
            <a:r>
              <a:rPr lang="en-US" dirty="0" smtClean="0"/>
              <a:t>differences </a:t>
            </a:r>
            <a:r>
              <a:rPr lang="en-US" dirty="0"/>
              <a:t>results in women’s asymmetrical experience </a:t>
            </a:r>
            <a:r>
              <a:rPr lang="en-US" dirty="0" smtClean="0"/>
              <a:t>of: </a:t>
            </a:r>
            <a:r>
              <a:rPr lang="en-US" dirty="0" smtClean="0">
                <a:solidFill>
                  <a:srgbClr val="FF0000"/>
                </a:solidFill>
              </a:rPr>
              <a:t>Disparity, Disadvantage, Difference </a:t>
            </a:r>
          </a:p>
          <a:p>
            <a:pPr algn="just"/>
            <a:r>
              <a:rPr lang="en-US" dirty="0"/>
              <a:t>Initiatives for the realization of women’s rights need to compensate </a:t>
            </a:r>
            <a:r>
              <a:rPr lang="en-US" dirty="0" smtClean="0"/>
              <a:t>for the </a:t>
            </a:r>
            <a:r>
              <a:rPr lang="en-US" dirty="0"/>
              <a:t>difference, disparity or disadvantage. </a:t>
            </a:r>
            <a:endParaRPr lang="en-US" dirty="0" smtClean="0"/>
          </a:p>
          <a:p>
            <a:pPr algn="just"/>
            <a:r>
              <a:rPr lang="en-US" dirty="0"/>
              <a:t>This means taking into account the </a:t>
            </a:r>
            <a:r>
              <a:rPr lang="en-US" b="1" dirty="0"/>
              <a:t>ways</a:t>
            </a:r>
            <a:r>
              <a:rPr lang="en-US" dirty="0"/>
              <a:t> in which women are different from men, and ensuring that these differences are acknowledged and responded to by policy or legal interventions and programs</a:t>
            </a:r>
          </a:p>
          <a:p>
            <a:pPr algn="just"/>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10600" cy="6400800"/>
          </a:xfrm>
        </p:spPr>
        <p:txBody>
          <a:bodyPr>
            <a:normAutofit/>
          </a:bodyPr>
          <a:lstStyle/>
          <a:p>
            <a:pPr algn="just"/>
            <a:r>
              <a:rPr lang="en-US" dirty="0"/>
              <a:t>The substantive model of equality </a:t>
            </a:r>
            <a:r>
              <a:rPr lang="en-US" dirty="0" smtClean="0"/>
              <a:t>promotes the </a:t>
            </a:r>
            <a:r>
              <a:rPr lang="en-US" b="1" dirty="0"/>
              <a:t>corrective approach. </a:t>
            </a:r>
            <a:endParaRPr lang="en-US" b="1" dirty="0" smtClean="0"/>
          </a:p>
          <a:p>
            <a:pPr algn="just"/>
            <a:r>
              <a:rPr lang="en-US" dirty="0" smtClean="0"/>
              <a:t>It believes that women </a:t>
            </a:r>
            <a:r>
              <a:rPr lang="en-US" dirty="0"/>
              <a:t>are in an unequal position </a:t>
            </a:r>
            <a:r>
              <a:rPr lang="en-US" dirty="0" smtClean="0"/>
              <a:t>b/c </a:t>
            </a:r>
            <a:r>
              <a:rPr lang="en-US" dirty="0"/>
              <a:t>they face current discrimination, or </a:t>
            </a:r>
            <a:r>
              <a:rPr lang="en-US" dirty="0" smtClean="0"/>
              <a:t> </a:t>
            </a:r>
            <a:r>
              <a:rPr lang="en-US" dirty="0"/>
              <a:t>bearing the effects of past discrimination, or that the environment, at the family and public levels, is hostile to women's autonomy</a:t>
            </a:r>
            <a:r>
              <a:rPr lang="en-US" dirty="0" smtClean="0"/>
              <a:t>.</a:t>
            </a:r>
          </a:p>
          <a:p>
            <a:pPr algn="just"/>
            <a:r>
              <a:rPr lang="en-US" dirty="0" smtClean="0"/>
              <a:t>It requires </a:t>
            </a:r>
            <a:r>
              <a:rPr lang="en-US" dirty="0"/>
              <a:t>that </a:t>
            </a:r>
            <a:r>
              <a:rPr lang="en-US" dirty="0">
                <a:solidFill>
                  <a:srgbClr val="FF0000"/>
                </a:solidFill>
              </a:rPr>
              <a:t>socially constructed differences </a:t>
            </a:r>
            <a:r>
              <a:rPr lang="en-US" dirty="0"/>
              <a:t>such as the traditional roles ascribed to women and men as well as </a:t>
            </a:r>
            <a:r>
              <a:rPr lang="en-US" dirty="0">
                <a:solidFill>
                  <a:srgbClr val="FF0000"/>
                </a:solidFill>
              </a:rPr>
              <a:t>cultural practices </a:t>
            </a:r>
            <a:r>
              <a:rPr lang="en-US" dirty="0"/>
              <a:t>that see women as inferior need to be changed</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77000"/>
          </a:xfrm>
        </p:spPr>
        <p:txBody>
          <a:bodyPr>
            <a:normAutofit/>
          </a:bodyPr>
          <a:lstStyle/>
          <a:p>
            <a:r>
              <a:rPr lang="en-US" dirty="0" smtClean="0"/>
              <a:t>To over come the problem it proposed </a:t>
            </a:r>
          </a:p>
          <a:p>
            <a:pPr marL="514350" indent="-514350">
              <a:buAutoNum type="arabicPeriod"/>
            </a:pPr>
            <a:r>
              <a:rPr lang="en-US" dirty="0" smtClean="0">
                <a:solidFill>
                  <a:srgbClr val="FF0000"/>
                </a:solidFill>
              </a:rPr>
              <a:t>enabling </a:t>
            </a:r>
            <a:r>
              <a:rPr lang="en-US" dirty="0">
                <a:solidFill>
                  <a:srgbClr val="FF0000"/>
                </a:solidFill>
              </a:rPr>
              <a:t>conditions</a:t>
            </a:r>
            <a:r>
              <a:rPr lang="en-US" b="1" dirty="0">
                <a:solidFill>
                  <a:srgbClr val="FF0000"/>
                </a:solidFill>
              </a:rPr>
              <a:t>, </a:t>
            </a:r>
            <a:r>
              <a:rPr lang="en-US" dirty="0"/>
              <a:t>in the form of the basic social, economic and cultural contexts within which women may be able to lead their lives with </a:t>
            </a:r>
            <a:r>
              <a:rPr lang="en-US" dirty="0" smtClean="0"/>
              <a:t>dignity</a:t>
            </a:r>
          </a:p>
          <a:p>
            <a:pPr marL="514350" indent="-514350">
              <a:buAutoNum type="arabicPeriod"/>
            </a:pPr>
            <a:r>
              <a:rPr lang="en-US" dirty="0">
                <a:solidFill>
                  <a:srgbClr val="FF0000"/>
                </a:solidFill>
              </a:rPr>
              <a:t>affirmative action </a:t>
            </a:r>
            <a:r>
              <a:rPr lang="en-US" dirty="0"/>
              <a:t>in the form of temporary special measures</a:t>
            </a:r>
            <a:r>
              <a:rPr lang="en-US" b="1" dirty="0"/>
              <a:t> </a:t>
            </a:r>
            <a:r>
              <a:rPr lang="en-US" dirty="0"/>
              <a:t>where women’s needs are specially recognized and catered for in the context of employment, education, financial services, politics and all other spheres of life </a:t>
            </a:r>
            <a:endParaRPr lang="en-US" dirty="0" smtClean="0"/>
          </a:p>
          <a:p>
            <a:pPr marL="514350" indent="-514350">
              <a:buNone/>
            </a:pPr>
            <a:r>
              <a:rPr lang="en-US" b="1" dirty="0" smtClean="0"/>
              <a:t>Summary:-  </a:t>
            </a:r>
            <a:r>
              <a:rPr lang="en-US" dirty="0" smtClean="0"/>
              <a:t>the </a:t>
            </a:r>
            <a:r>
              <a:rPr lang="en-US" dirty="0"/>
              <a:t>obligation of the state is to ensure a broad approach to equality that includes</a:t>
            </a:r>
            <a:r>
              <a:rPr lang="en-US" dirty="0" smtClean="0"/>
              <a:t>: </a:t>
            </a:r>
          </a:p>
          <a:p>
            <a:pPr marL="514350" indent="-514350">
              <a:buFont typeface="Wingdings" pitchFamily="2" charset="2"/>
              <a:buChar char="§"/>
            </a:pPr>
            <a:r>
              <a:rPr lang="en-US" dirty="0" smtClean="0">
                <a:solidFill>
                  <a:srgbClr val="FF0000"/>
                </a:solidFill>
              </a:rPr>
              <a:t>Equality </a:t>
            </a:r>
            <a:r>
              <a:rPr lang="en-US" dirty="0">
                <a:solidFill>
                  <a:srgbClr val="FF0000"/>
                </a:solidFill>
              </a:rPr>
              <a:t>of </a:t>
            </a:r>
            <a:r>
              <a:rPr lang="en-US" dirty="0" smtClean="0">
                <a:solidFill>
                  <a:srgbClr val="FF0000"/>
                </a:solidFill>
              </a:rPr>
              <a:t>opportunity</a:t>
            </a:r>
            <a:r>
              <a:rPr lang="en-US" dirty="0" smtClean="0"/>
              <a:t>, </a:t>
            </a:r>
          </a:p>
          <a:p>
            <a:pPr marL="514350" indent="-514350">
              <a:buFont typeface="Wingdings" pitchFamily="2" charset="2"/>
              <a:buChar char="§"/>
            </a:pPr>
            <a:r>
              <a:rPr lang="en-US" dirty="0" smtClean="0">
                <a:solidFill>
                  <a:srgbClr val="FF0000"/>
                </a:solidFill>
              </a:rPr>
              <a:t>Equality </a:t>
            </a:r>
            <a:r>
              <a:rPr lang="en-US" dirty="0">
                <a:solidFill>
                  <a:srgbClr val="FF0000"/>
                </a:solidFill>
              </a:rPr>
              <a:t>of access to the opportunity</a:t>
            </a:r>
            <a:r>
              <a:rPr lang="en-US" dirty="0"/>
              <a:t> </a:t>
            </a:r>
            <a:r>
              <a:rPr lang="en-US" dirty="0" smtClean="0"/>
              <a:t>and </a:t>
            </a:r>
          </a:p>
          <a:p>
            <a:pPr marL="514350" indent="-514350">
              <a:buFont typeface="Wingdings" pitchFamily="2" charset="2"/>
              <a:buChar char="§"/>
            </a:pPr>
            <a:r>
              <a:rPr lang="en-US" dirty="0" smtClean="0">
                <a:solidFill>
                  <a:srgbClr val="FF0000"/>
                </a:solidFill>
              </a:rPr>
              <a:t>Equality </a:t>
            </a:r>
            <a:r>
              <a:rPr lang="en-US" dirty="0">
                <a:solidFill>
                  <a:srgbClr val="FF0000"/>
                </a:solidFill>
              </a:rPr>
              <a:t>of results</a:t>
            </a:r>
          </a:p>
          <a:p>
            <a:pPr marL="514350" lvl="0" indent="-514350">
              <a:buNone/>
            </a:pPr>
            <a:endParaRPr lang="en-US" dirty="0"/>
          </a:p>
          <a:p>
            <a:pPr marL="514350" indent="-514350">
              <a:buNone/>
            </a:pP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protectionist approach </a:t>
            </a:r>
            <a:endParaRPr lang="en-US" dirty="0"/>
          </a:p>
        </p:txBody>
      </p:sp>
      <p:sp>
        <p:nvSpPr>
          <p:cNvPr id="3" name="Content Placeholder 2"/>
          <p:cNvSpPr>
            <a:spLocks noGrp="1"/>
          </p:cNvSpPr>
          <p:nvPr>
            <p:ph sz="quarter" idx="1"/>
          </p:nvPr>
        </p:nvSpPr>
        <p:spPr>
          <a:xfrm>
            <a:off x="228600" y="1600200"/>
            <a:ext cx="8458200" cy="5105400"/>
          </a:xfrm>
        </p:spPr>
        <p:txBody>
          <a:bodyPr>
            <a:normAutofit fontScale="92500" lnSpcReduction="20000"/>
          </a:bodyPr>
          <a:lstStyle/>
          <a:p>
            <a:pPr algn="just"/>
            <a:r>
              <a:rPr lang="en-US" dirty="0" smtClean="0"/>
              <a:t>This is the </a:t>
            </a:r>
            <a:r>
              <a:rPr lang="en-US" b="1" dirty="0" smtClean="0"/>
              <a:t>protectionist </a:t>
            </a:r>
            <a:r>
              <a:rPr lang="en-US" dirty="0" smtClean="0"/>
              <a:t>approach that would require that women be barred from doing certain things in their own interest</a:t>
            </a:r>
          </a:p>
          <a:p>
            <a:pPr algn="just"/>
            <a:r>
              <a:rPr lang="en-US" dirty="0" smtClean="0"/>
              <a:t>Protectionist approaches see the differences between women and men but constitute these differences as weakness or inferiority in women.</a:t>
            </a:r>
          </a:p>
          <a:p>
            <a:pPr algn="just"/>
            <a:r>
              <a:rPr lang="en-US" dirty="0" smtClean="0"/>
              <a:t>If night work is unsafe for women, it is diagnosed that women are weak, not that the environment is unsafe.  </a:t>
            </a:r>
          </a:p>
          <a:p>
            <a:pPr algn="just"/>
            <a:r>
              <a:rPr lang="en-US" dirty="0" smtClean="0"/>
              <a:t>The solution then is to control or correct the women and not to correct the environment or provide support for women to cope with an unsafe environment.  </a:t>
            </a:r>
          </a:p>
          <a:p>
            <a:pPr algn="just"/>
            <a:r>
              <a:rPr lang="en-US" dirty="0" smtClean="0"/>
              <a:t>In this sense the difference is considered to be naturally ordained and the approach serves to reinforce the subordinate status of women</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610600" cy="6172200"/>
          </a:xfrm>
        </p:spPr>
        <p:txBody>
          <a:bodyPr>
            <a:normAutofit lnSpcReduction="10000"/>
          </a:bodyPr>
          <a:lstStyle/>
          <a:p>
            <a:pPr algn="just">
              <a:buNone/>
            </a:pPr>
            <a:r>
              <a:rPr lang="en-US" b="1" dirty="0" smtClean="0"/>
              <a:t>Resistance to the substantive approach to equality</a:t>
            </a:r>
          </a:p>
          <a:p>
            <a:pPr algn="just">
              <a:buFont typeface="Wingdings" pitchFamily="2" charset="2"/>
              <a:buChar char="Ø"/>
            </a:pPr>
            <a:r>
              <a:rPr lang="en-US" dirty="0" smtClean="0"/>
              <a:t>employers and others will see that ensuring </a:t>
            </a:r>
            <a:r>
              <a:rPr lang="en-US" i="1" dirty="0" smtClean="0"/>
              <a:t>de facto</a:t>
            </a:r>
            <a:r>
              <a:rPr lang="en-US" dirty="0" smtClean="0"/>
              <a:t> equality may bring an extra burden and as incurring extra costs</a:t>
            </a:r>
          </a:p>
          <a:p>
            <a:pPr algn="just">
              <a:buNone/>
            </a:pPr>
            <a:r>
              <a:rPr lang="en-US" dirty="0" smtClean="0"/>
              <a:t>While it is true there are costs involved, we need to develop arguments to justify these costs</a:t>
            </a:r>
          </a:p>
          <a:p>
            <a:pPr algn="just">
              <a:buFont typeface="Wingdings" pitchFamily="2" charset="2"/>
              <a:buChar char="Ø"/>
            </a:pPr>
            <a:r>
              <a:rPr lang="en-US" dirty="0" smtClean="0"/>
              <a:t>the first is on the basis of human rights principles:- Since the Convention promotes the substantive model of equality the State has accepted an obligation to ensure that women will be able to enjoy all rights </a:t>
            </a:r>
          </a:p>
          <a:p>
            <a:pPr algn="just">
              <a:buFont typeface="Wingdings" pitchFamily="2" charset="2"/>
              <a:buChar char="Ø"/>
            </a:pPr>
            <a:r>
              <a:rPr lang="en-US" dirty="0" smtClean="0"/>
              <a:t>they are also obligated to regulate all agencies including the private sector to ensure of this even if it means incurring additional costs</a:t>
            </a:r>
            <a:endParaRPr lang="en-US" b="1"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248400"/>
          </a:xfrm>
        </p:spPr>
        <p:txBody>
          <a:bodyPr/>
          <a:lstStyle/>
          <a:p>
            <a:pPr algn="just"/>
            <a:r>
              <a:rPr lang="en-US" dirty="0" smtClean="0"/>
              <a:t>The second argument is based on long-term benefits to the country. </a:t>
            </a:r>
          </a:p>
          <a:p>
            <a:pPr algn="just">
              <a:buFont typeface="Wingdings" pitchFamily="2" charset="2"/>
              <a:buChar char="Ø"/>
            </a:pPr>
            <a:r>
              <a:rPr lang="en-US" dirty="0" smtClean="0"/>
              <a:t>Keeping half the population in a subordinated position also incurs costs as they fall into a dependent category instead of a productive category and have to be provided for.</a:t>
            </a:r>
          </a:p>
          <a:p>
            <a:pPr algn="just">
              <a:buFont typeface="Wingdings" pitchFamily="2" charset="2"/>
              <a:buChar char="Ø"/>
            </a:pPr>
            <a:r>
              <a:rPr lang="en-US" dirty="0" smtClean="0"/>
              <a:t>While social change may come at a price, it is often far more sustainable and </a:t>
            </a:r>
            <a:r>
              <a:rPr lang="en-US" dirty="0" err="1" smtClean="0"/>
              <a:t>transformatory</a:t>
            </a:r>
            <a:r>
              <a:rPr lang="en-US" dirty="0" smtClean="0"/>
              <a:t> in the long term if it represents a move from dependency to autonomy. </a:t>
            </a:r>
          </a:p>
          <a:p>
            <a:pPr algn="just">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458200" cy="6477000"/>
          </a:xfrm>
        </p:spPr>
        <p:txBody>
          <a:bodyPr/>
          <a:lstStyle/>
          <a:p>
            <a:pPr algn="just">
              <a:buNone/>
            </a:pPr>
            <a:r>
              <a:rPr lang="en-US" b="1" dirty="0" smtClean="0"/>
              <a:t>The need for a broad approach to equality</a:t>
            </a:r>
          </a:p>
          <a:p>
            <a:pPr algn="just">
              <a:buFont typeface="Wingdings" pitchFamily="2" charset="2"/>
              <a:buChar char="Ø"/>
            </a:pPr>
            <a:r>
              <a:rPr lang="en-US" dirty="0" smtClean="0"/>
              <a:t>equality in the substance of the legal texts</a:t>
            </a:r>
          </a:p>
          <a:p>
            <a:pPr algn="just">
              <a:buFont typeface="Wingdings" pitchFamily="2" charset="2"/>
              <a:buChar char="Ø"/>
            </a:pPr>
            <a:r>
              <a:rPr lang="en-US" dirty="0" smtClean="0"/>
              <a:t>equal treatment under the law, </a:t>
            </a:r>
          </a:p>
          <a:p>
            <a:pPr algn="just">
              <a:buFont typeface="Wingdings" pitchFamily="2" charset="2"/>
              <a:buChar char="Ø"/>
            </a:pPr>
            <a:r>
              <a:rPr lang="en-US" dirty="0" smtClean="0"/>
              <a:t>access to the law and its institutions</a:t>
            </a:r>
          </a:p>
          <a:p>
            <a:pPr algn="just">
              <a:buFont typeface="Wingdings" pitchFamily="2" charset="2"/>
              <a:buChar char="Ø"/>
            </a:pPr>
            <a:r>
              <a:rPr lang="en-US" dirty="0" smtClean="0"/>
              <a:t>the de facto enjoyment of equal rights</a:t>
            </a:r>
          </a:p>
          <a:p>
            <a:pPr algn="just">
              <a:buFont typeface="Wingdings" pitchFamily="2" charset="2"/>
              <a:buChar char="q"/>
            </a:pPr>
            <a:r>
              <a:rPr lang="en-US" dirty="0" smtClean="0"/>
              <a:t>Where there is no such differentiated equality rights, equality law has had little impact on disadvantaged groups</a:t>
            </a:r>
          </a:p>
          <a:p>
            <a:pPr>
              <a:buFont typeface="Wingdings" pitchFamily="2" charset="2"/>
              <a:buChar char="q"/>
            </a:pPr>
            <a:endParaRPr lang="en-US" dirty="0" smtClean="0"/>
          </a:p>
          <a:p>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normAutofit fontScale="90000"/>
          </a:bodyPr>
          <a:lstStyle/>
          <a:p>
            <a:r>
              <a:rPr lang="en-US" b="1" dirty="0" smtClean="0"/>
              <a:t>Chapter three</a:t>
            </a:r>
            <a:r>
              <a:rPr lang="en-US" dirty="0" smtClean="0"/>
              <a:t/>
            </a:r>
            <a:br>
              <a:rPr lang="en-US" dirty="0" smtClean="0"/>
            </a:br>
            <a:r>
              <a:rPr lang="en-US" b="1" dirty="0" smtClean="0"/>
              <a:t>Gender and family</a:t>
            </a:r>
            <a:r>
              <a:rPr lang="en-US" dirty="0" smtClean="0"/>
              <a:t/>
            </a:r>
            <a:br>
              <a:rPr lang="en-US" dirty="0" smtClean="0"/>
            </a:br>
            <a:endParaRPr lang="en-US" dirty="0"/>
          </a:p>
        </p:txBody>
      </p:sp>
      <p:sp>
        <p:nvSpPr>
          <p:cNvPr id="3" name="Content Placeholder 2"/>
          <p:cNvSpPr>
            <a:spLocks noGrp="1"/>
          </p:cNvSpPr>
          <p:nvPr>
            <p:ph sz="quarter" idx="1"/>
          </p:nvPr>
        </p:nvSpPr>
        <p:spPr>
          <a:xfrm>
            <a:off x="304800" y="1066800"/>
            <a:ext cx="8534400" cy="5486400"/>
          </a:xfrm>
        </p:spPr>
        <p:txBody>
          <a:bodyPr>
            <a:normAutofit/>
          </a:bodyPr>
          <a:lstStyle/>
          <a:p>
            <a:pPr algn="just">
              <a:buNone/>
            </a:pPr>
            <a:r>
              <a:rPr lang="en-US" b="1" dirty="0" smtClean="0"/>
              <a:t>Traditional marriage and its consequence on women</a:t>
            </a:r>
          </a:p>
          <a:p>
            <a:pPr algn="just">
              <a:buFont typeface="Wingdings" pitchFamily="2" charset="2"/>
              <a:buChar char="Ø"/>
            </a:pPr>
            <a:r>
              <a:rPr lang="en-US" dirty="0" smtClean="0"/>
              <a:t>While child marriage affects both sexes, girls are disproportionately affected as they are the majority of the victims</a:t>
            </a:r>
          </a:p>
          <a:p>
            <a:pPr algn="just">
              <a:buFont typeface="Wingdings" pitchFamily="2" charset="2"/>
              <a:buChar char="Ø"/>
            </a:pPr>
            <a:r>
              <a:rPr lang="en-US" dirty="0" smtClean="0"/>
              <a:t>Child marriage is now widely recognized as a violation of children's rights </a:t>
            </a:r>
          </a:p>
          <a:p>
            <a:pPr algn="just">
              <a:buFont typeface="Wingdings" pitchFamily="2" charset="2"/>
              <a:buChar char="Ø"/>
            </a:pPr>
            <a:r>
              <a:rPr lang="en-US" dirty="0" smtClean="0"/>
              <a:t>It is a direct form of discrimination against the girl child who as a result deprived of her basic rights to health, education, development and equality. </a:t>
            </a:r>
          </a:p>
          <a:p>
            <a:pPr algn="just">
              <a:buFont typeface="Wingdings" pitchFamily="2" charset="2"/>
              <a:buChar char="Ø"/>
            </a:pPr>
            <a:r>
              <a:rPr lang="en-US" i="1" dirty="0" smtClean="0"/>
              <a:t>Tradition, religion and poverty continue to fuel the practice of child marriage, </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324600"/>
          </a:xfrm>
        </p:spPr>
        <p:txBody>
          <a:bodyPr/>
          <a:lstStyle/>
          <a:p>
            <a:pPr algn="just"/>
            <a:r>
              <a:rPr lang="en-US" dirty="0" smtClean="0"/>
              <a:t>early marriage is one of the most HTP as it usually denies girls educational opportunities, leads to poverty and economic insecurity and has a serious negative impact on their health and decision-making capacities. </a:t>
            </a:r>
          </a:p>
          <a:p>
            <a:pPr algn="just"/>
            <a:r>
              <a:rPr lang="en-US" dirty="0" smtClean="0"/>
              <a:t>It also reinforces other forms of gender-based violence and problems. </a:t>
            </a:r>
          </a:p>
          <a:p>
            <a:pPr algn="just"/>
            <a:r>
              <a:rPr lang="en-US" dirty="0" smtClean="0"/>
              <a:t>It is rampant in Ethiopia, although prevalence varies from one region to another</a:t>
            </a:r>
          </a:p>
          <a:p>
            <a:pPr algn="just"/>
            <a:r>
              <a:rPr lang="en-US" dirty="0" smtClean="0"/>
              <a:t>At the national level, 62% of Ethiopian women aged 20-49 get married before the age of 18</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534400" cy="6324600"/>
          </a:xfrm>
        </p:spPr>
        <p:txBody>
          <a:bodyPr>
            <a:normAutofit/>
          </a:bodyPr>
          <a:lstStyle/>
          <a:p>
            <a:pPr algn="just">
              <a:buNone/>
            </a:pPr>
            <a:r>
              <a:rPr lang="en-US" b="1" dirty="0" smtClean="0"/>
              <a:t>Types of early marriage </a:t>
            </a:r>
          </a:p>
          <a:p>
            <a:pPr algn="just">
              <a:buFont typeface="Wingdings" pitchFamily="2" charset="2"/>
              <a:buChar char="§"/>
            </a:pPr>
            <a:r>
              <a:rPr lang="en-US" b="1" dirty="0" smtClean="0"/>
              <a:t>promissory marriage:- </a:t>
            </a:r>
            <a:r>
              <a:rPr lang="en-US" dirty="0" smtClean="0"/>
              <a:t>a verbal promise is made at infancy or even childbirth by the parents to have their children married</a:t>
            </a:r>
          </a:p>
          <a:p>
            <a:pPr algn="just">
              <a:buFont typeface="Wingdings" pitchFamily="2" charset="2"/>
              <a:buChar char="§"/>
            </a:pPr>
            <a:r>
              <a:rPr lang="en-US" b="1" dirty="0" smtClean="0"/>
              <a:t>child marriage:-  </a:t>
            </a:r>
            <a:r>
              <a:rPr lang="en-US" dirty="0" smtClean="0"/>
              <a:t>children under the age of 10 are wedded</a:t>
            </a:r>
          </a:p>
          <a:p>
            <a:pPr algn="just">
              <a:buFont typeface="Wingdings" pitchFamily="2" charset="2"/>
              <a:buChar char="§"/>
            </a:pPr>
            <a:r>
              <a:rPr lang="en-US" b="1" dirty="0" smtClean="0"/>
              <a:t>adolescent marriage:- </a:t>
            </a:r>
            <a:r>
              <a:rPr lang="en-US" dirty="0" smtClean="0"/>
              <a:t>involves girls aged between 10 and 15</a:t>
            </a:r>
          </a:p>
          <a:p>
            <a:pPr algn="just">
              <a:buFont typeface="Wingdings" pitchFamily="2" charset="2"/>
              <a:buChar char="§"/>
            </a:pPr>
            <a:r>
              <a:rPr lang="en-US" dirty="0" smtClean="0"/>
              <a:t>In most cases, the child bride is taken to her in-laws immediately after the wedding;</a:t>
            </a:r>
          </a:p>
          <a:p>
            <a:pPr algn="just">
              <a:buFont typeface="Wingdings" pitchFamily="2" charset="2"/>
              <a:buChar char="§"/>
            </a:pPr>
            <a:r>
              <a:rPr lang="en-US" dirty="0" smtClean="0"/>
              <a:t> in other cases the parents agree that the girl stays with her parents until she is mature enough to live with her husband</a:t>
            </a:r>
            <a:endParaRPr lang="en-US" b="1"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00800"/>
          </a:xfrm>
        </p:spPr>
        <p:txBody>
          <a:bodyPr>
            <a:normAutofit fontScale="92500" lnSpcReduction="10000"/>
          </a:bodyPr>
          <a:lstStyle/>
          <a:p>
            <a:pPr algn="just">
              <a:lnSpc>
                <a:spcPct val="150000"/>
              </a:lnSpc>
            </a:pPr>
            <a:r>
              <a:rPr lang="en-US" dirty="0" smtClean="0"/>
              <a:t>Article 21 of the 1990 African Charter on the Right and Welfare of the Child states that “Child marriage and betrothal of girls and boys shall be prohibited and the minimum age of marriage to be 18 years.” </a:t>
            </a:r>
          </a:p>
          <a:p>
            <a:pPr algn="just">
              <a:lnSpc>
                <a:spcPct val="150000"/>
              </a:lnSpc>
            </a:pPr>
            <a:r>
              <a:rPr lang="en-US" dirty="0" smtClean="0"/>
              <a:t>the newly adopted family codes and criminal law of Ethiopia  acknowledge the minimum age of marriage for women to be 18 years and state that marriage shall only take place with full consent of both parties</a:t>
            </a:r>
          </a:p>
          <a:p>
            <a:pPr algn="just">
              <a:lnSpc>
                <a:spcPct val="150000"/>
              </a:lnSpc>
              <a:buNone/>
            </a:pPr>
            <a:r>
              <a:rPr lang="en-US" dirty="0" smtClean="0"/>
              <a:t>Forced marriage:- any child marriage constitutes a forced marriage since anyone under the age of 18 is not able to make a fully informed choice </a:t>
            </a:r>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534400" cy="6400800"/>
          </a:xfrm>
        </p:spPr>
        <p:txBody>
          <a:bodyPr>
            <a:normAutofit fontScale="85000" lnSpcReduction="10000"/>
          </a:bodyPr>
          <a:lstStyle/>
          <a:p>
            <a:pPr algn="just">
              <a:lnSpc>
                <a:spcPct val="150000"/>
              </a:lnSpc>
              <a:buNone/>
            </a:pPr>
            <a:r>
              <a:rPr lang="en-US" b="1" dirty="0" smtClean="0"/>
              <a:t>Causes of early marriage</a:t>
            </a:r>
          </a:p>
          <a:p>
            <a:pPr algn="just">
              <a:lnSpc>
                <a:spcPct val="150000"/>
              </a:lnSpc>
              <a:buNone/>
            </a:pPr>
            <a:r>
              <a:rPr lang="en-US" b="1" i="1" dirty="0" smtClean="0"/>
              <a:t>1 Poverty and economic transactions</a:t>
            </a:r>
          </a:p>
          <a:p>
            <a:pPr algn="just">
              <a:lnSpc>
                <a:spcPct val="150000"/>
              </a:lnSpc>
              <a:buFont typeface="Wingdings" pitchFamily="2" charset="2"/>
              <a:buChar char="Ø"/>
            </a:pPr>
            <a:r>
              <a:rPr lang="en-US" dirty="0" smtClean="0"/>
              <a:t>a young girl may be regarded as an economic burden and her marriage believed to benefit the child and her family both financially and socially</a:t>
            </a:r>
          </a:p>
          <a:p>
            <a:pPr algn="just">
              <a:lnSpc>
                <a:spcPct val="150000"/>
              </a:lnSpc>
              <a:buFont typeface="Wingdings" pitchFamily="2" charset="2"/>
              <a:buChar char="Ø"/>
            </a:pPr>
            <a:r>
              <a:rPr lang="en-US" dirty="0" smtClean="0"/>
              <a:t>A daughter may be the only commodity a family has to be traded and sometimes girls can be used as currency or to settle debts.</a:t>
            </a:r>
          </a:p>
          <a:p>
            <a:pPr algn="just">
              <a:lnSpc>
                <a:spcPct val="150000"/>
              </a:lnSpc>
              <a:buFont typeface="Wingdings" pitchFamily="2" charset="2"/>
              <a:buChar char="Ø"/>
            </a:pPr>
            <a:r>
              <a:rPr lang="en-US" dirty="0" smtClean="0"/>
              <a:t> A girl's marriage may also take place as a perceived means of creating stability. </a:t>
            </a:r>
          </a:p>
          <a:p>
            <a:pPr algn="just">
              <a:lnSpc>
                <a:spcPct val="150000"/>
              </a:lnSpc>
              <a:buFont typeface="Wingdings" pitchFamily="2" charset="2"/>
              <a:buChar char="Ø"/>
            </a:pPr>
            <a:r>
              <a:rPr lang="en-US" dirty="0" smtClean="0"/>
              <a:t>the practice of paying bride price can encourage early marriage</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686800" cy="6400800"/>
          </a:xfrm>
        </p:spPr>
        <p:txBody>
          <a:bodyPr>
            <a:normAutofit lnSpcReduction="10000"/>
          </a:bodyPr>
          <a:lstStyle/>
          <a:p>
            <a:pPr algn="just">
              <a:lnSpc>
                <a:spcPct val="150000"/>
              </a:lnSpc>
              <a:buNone/>
            </a:pPr>
            <a:r>
              <a:rPr lang="en-US" b="1" i="1" dirty="0" smtClean="0"/>
              <a:t>2 Notions of morality and honor</a:t>
            </a:r>
          </a:p>
          <a:p>
            <a:pPr algn="just">
              <a:lnSpc>
                <a:spcPct val="150000"/>
              </a:lnSpc>
              <a:buFont typeface="Wingdings" pitchFamily="2" charset="2"/>
              <a:buChar char="Ø"/>
            </a:pPr>
            <a:r>
              <a:rPr lang="en-US" dirty="0" smtClean="0"/>
              <a:t>the strongest reason for early marriage is the desire or need to maintain the family’s good name and social standing</a:t>
            </a:r>
          </a:p>
          <a:p>
            <a:pPr algn="just">
              <a:lnSpc>
                <a:spcPct val="150000"/>
              </a:lnSpc>
              <a:buFont typeface="Wingdings" pitchFamily="2" charset="2"/>
              <a:buChar char="Ø"/>
            </a:pPr>
            <a:r>
              <a:rPr lang="en-US" dirty="0" smtClean="0"/>
              <a:t>It believed that a girl brings shame to her family if she was not a virgin when she married.</a:t>
            </a:r>
          </a:p>
          <a:p>
            <a:pPr algn="just">
              <a:lnSpc>
                <a:spcPct val="150000"/>
              </a:lnSpc>
              <a:buFont typeface="Wingdings" pitchFamily="2" charset="2"/>
              <a:buChar char="Ø"/>
            </a:pPr>
            <a:r>
              <a:rPr lang="en-US" dirty="0" smtClean="0"/>
              <a:t>Young girls may also be encouraged to marry older men, due to the perception that an older husband will be able to act as a guardian against behavior deemed immoral and inappropriate</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458200" cy="6324600"/>
          </a:xfrm>
        </p:spPr>
        <p:txBody>
          <a:bodyPr>
            <a:normAutofit fontScale="92500" lnSpcReduction="20000"/>
          </a:bodyPr>
          <a:lstStyle/>
          <a:p>
            <a:pPr algn="just">
              <a:lnSpc>
                <a:spcPct val="150000"/>
              </a:lnSpc>
            </a:pPr>
            <a:r>
              <a:rPr lang="en-US" dirty="0" smtClean="0"/>
              <a:t>Reasons for getting married (in order of importance):</a:t>
            </a:r>
          </a:p>
          <a:p>
            <a:pPr algn="just">
              <a:lnSpc>
                <a:spcPct val="150000"/>
              </a:lnSpc>
            </a:pPr>
            <a:r>
              <a:rPr lang="en-US" dirty="0" smtClean="0"/>
              <a:t>1. It is a tradition</a:t>
            </a:r>
          </a:p>
          <a:p>
            <a:pPr algn="just">
              <a:lnSpc>
                <a:spcPct val="150000"/>
              </a:lnSpc>
            </a:pPr>
            <a:r>
              <a:rPr lang="en-US" dirty="0" smtClean="0"/>
              <a:t>2. To strengthen relationships</a:t>
            </a:r>
          </a:p>
          <a:p>
            <a:pPr algn="just">
              <a:lnSpc>
                <a:spcPct val="150000"/>
              </a:lnSpc>
            </a:pPr>
            <a:r>
              <a:rPr lang="en-US" dirty="0" smtClean="0"/>
              <a:t>3. For prestige</a:t>
            </a:r>
          </a:p>
          <a:p>
            <a:pPr algn="just">
              <a:lnSpc>
                <a:spcPct val="150000"/>
              </a:lnSpc>
            </a:pPr>
            <a:r>
              <a:rPr lang="en-US" dirty="0" smtClean="0"/>
              <a:t>4. Difficult to get married if older</a:t>
            </a:r>
          </a:p>
          <a:p>
            <a:pPr algn="just">
              <a:lnSpc>
                <a:spcPct val="150000"/>
              </a:lnSpc>
            </a:pPr>
            <a:r>
              <a:rPr lang="en-US" dirty="0" smtClean="0"/>
              <a:t>5. The family will be victim of gossip</a:t>
            </a:r>
          </a:p>
          <a:p>
            <a:pPr algn="just">
              <a:lnSpc>
                <a:spcPct val="150000"/>
              </a:lnSpc>
            </a:pPr>
            <a:r>
              <a:rPr lang="en-US" dirty="0" smtClean="0"/>
              <a:t>6. To earn dowry</a:t>
            </a:r>
          </a:p>
          <a:p>
            <a:pPr algn="just">
              <a:lnSpc>
                <a:spcPct val="150000"/>
              </a:lnSpc>
            </a:pPr>
            <a:r>
              <a:rPr lang="en-US" dirty="0" smtClean="0"/>
              <a:t>7. To protect virginity and avoid premarital sex.</a:t>
            </a:r>
          </a:p>
          <a:p>
            <a:pPr algn="just">
              <a:lnSpc>
                <a:spcPct val="150000"/>
              </a:lnSpc>
            </a:pPr>
            <a:r>
              <a:rPr lang="en-US" dirty="0" smtClean="0"/>
              <a:t>Some, are not even informed about the wedding before the decision was made, and are not asked for their consent, or do not know the groom before the wedding</a:t>
            </a: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686800" cy="6400800"/>
          </a:xfrm>
        </p:spPr>
        <p:txBody>
          <a:bodyPr>
            <a:normAutofit fontScale="77500" lnSpcReduction="20000"/>
          </a:bodyPr>
          <a:lstStyle/>
          <a:p>
            <a:pPr algn="just">
              <a:lnSpc>
                <a:spcPct val="150000"/>
              </a:lnSpc>
              <a:buNone/>
            </a:pPr>
            <a:r>
              <a:rPr lang="en-US" b="1" dirty="0" smtClean="0">
                <a:solidFill>
                  <a:srgbClr val="FF0000"/>
                </a:solidFill>
              </a:rPr>
              <a:t>Consequences for health and well-being</a:t>
            </a:r>
          </a:p>
          <a:p>
            <a:pPr marL="514350" indent="-514350" algn="just">
              <a:lnSpc>
                <a:spcPct val="150000"/>
              </a:lnSpc>
              <a:buAutoNum type="arabicPeriod"/>
            </a:pPr>
            <a:r>
              <a:rPr lang="en-US" b="1" i="1" dirty="0" smtClean="0"/>
              <a:t>Marital instability</a:t>
            </a:r>
            <a:r>
              <a:rPr lang="en-US" b="1" dirty="0" smtClean="0"/>
              <a:t> </a:t>
            </a:r>
            <a:r>
              <a:rPr lang="en-US" dirty="0" smtClean="0"/>
              <a:t>:-Among the respondents, about 27% of marriages in urban areas and 19% in rural areas had ended in divorce or separation</a:t>
            </a:r>
          </a:p>
          <a:p>
            <a:pPr marL="514350" indent="-514350" algn="just">
              <a:lnSpc>
                <a:spcPct val="150000"/>
              </a:lnSpc>
              <a:buFont typeface="Wingdings" pitchFamily="2" charset="2"/>
              <a:buChar char="Ø"/>
            </a:pPr>
            <a:r>
              <a:rPr lang="en-US" dirty="0" smtClean="0"/>
              <a:t>56% reported that their first marriage ended either because they were too young </a:t>
            </a:r>
          </a:p>
          <a:p>
            <a:pPr marL="514350" indent="-514350" algn="just">
              <a:lnSpc>
                <a:spcPct val="150000"/>
              </a:lnSpc>
              <a:buNone/>
            </a:pPr>
            <a:r>
              <a:rPr lang="en-US" dirty="0" smtClean="0"/>
              <a:t>2. </a:t>
            </a:r>
            <a:r>
              <a:rPr lang="en-US" b="1" i="1" dirty="0" smtClean="0"/>
              <a:t>Termination of education:- </a:t>
            </a:r>
            <a:r>
              <a:rPr lang="en-US" dirty="0" smtClean="0"/>
              <a:t>better-educated women are more likely to use contraception, bear fewer children, raise healthier children, and make better decisions for themselves and their children and to make greater economic contributions to the household</a:t>
            </a:r>
          </a:p>
          <a:p>
            <a:pPr marL="514350" indent="-514350" algn="just">
              <a:lnSpc>
                <a:spcPct val="150000"/>
              </a:lnSpc>
              <a:buFont typeface="Wingdings" pitchFamily="2" charset="2"/>
              <a:buChar char="Ø"/>
            </a:pPr>
            <a:r>
              <a:rPr lang="en-US" dirty="0" smtClean="0"/>
              <a:t>among out-of-school respondents, 28% cited marriage and 19% cited childrearing obligations as their reasons for quitting school</a:t>
            </a:r>
          </a:p>
          <a:p>
            <a:pPr marL="514350" indent="-514350" algn="just">
              <a:lnSpc>
                <a:spcPct val="150000"/>
              </a:lnSpc>
              <a:buFont typeface="Wingdings" pitchFamily="2" charset="2"/>
              <a:buChar char="Ø"/>
            </a:pPr>
            <a:r>
              <a:rPr lang="en-US" dirty="0" smtClean="0"/>
              <a:t>4% cited their husbands’ disapproval of their school </a:t>
            </a:r>
            <a:endParaRPr lang="en-US" b="1" dirty="0" smtClean="0"/>
          </a:p>
          <a:p>
            <a:pPr marL="514350" indent="-514350">
              <a:buNone/>
            </a:pPr>
            <a:endParaRPr lang="en-US" dirty="0" smtClean="0"/>
          </a:p>
          <a:p>
            <a:pPr marL="514350" indent="-514350">
              <a:buAutoNum type="arabicPeriod"/>
            </a:pPr>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324600"/>
          </a:xfrm>
        </p:spPr>
        <p:txBody>
          <a:bodyPr>
            <a:normAutofit/>
          </a:bodyPr>
          <a:lstStyle/>
          <a:p>
            <a:pPr algn="just">
              <a:buNone/>
            </a:pPr>
            <a:r>
              <a:rPr lang="en-US" i="1" dirty="0" smtClean="0"/>
              <a:t>3. </a:t>
            </a:r>
            <a:r>
              <a:rPr lang="en-US" b="1" i="1" dirty="0" smtClean="0"/>
              <a:t>Inability to plan or manage families</a:t>
            </a:r>
            <a:r>
              <a:rPr lang="en-US" b="1" dirty="0" smtClean="0"/>
              <a:t> </a:t>
            </a:r>
          </a:p>
          <a:p>
            <a:pPr algn="just">
              <a:buFont typeface="Wingdings" pitchFamily="2" charset="2"/>
              <a:buChar char="Ø"/>
            </a:pPr>
            <a:r>
              <a:rPr lang="en-US" dirty="0" smtClean="0"/>
              <a:t>likely to bear more children</a:t>
            </a:r>
          </a:p>
          <a:p>
            <a:pPr algn="just">
              <a:buFont typeface="Wingdings" pitchFamily="2" charset="2"/>
              <a:buChar char="Ø"/>
            </a:pPr>
            <a:r>
              <a:rPr lang="en-US" dirty="0" smtClean="0"/>
              <a:t>exercise less influence and control over their children and</a:t>
            </a:r>
          </a:p>
          <a:p>
            <a:pPr algn="just">
              <a:buFont typeface="Wingdings" pitchFamily="2" charset="2"/>
              <a:buChar char="Ø"/>
            </a:pPr>
            <a:r>
              <a:rPr lang="en-US" dirty="0" smtClean="0"/>
              <a:t> have less ability to make decisions about their nutrition, health care and household management</a:t>
            </a:r>
          </a:p>
          <a:p>
            <a:pPr algn="just">
              <a:buNone/>
            </a:pPr>
            <a:r>
              <a:rPr lang="en-US" b="1" dirty="0" smtClean="0"/>
              <a:t>4. </a:t>
            </a:r>
            <a:r>
              <a:rPr lang="en-US" b="1" i="1" dirty="0" smtClean="0"/>
              <a:t>Impact on sexual health of women and girls</a:t>
            </a:r>
          </a:p>
          <a:p>
            <a:pPr algn="just">
              <a:buFont typeface="Wingdings" pitchFamily="2" charset="2"/>
              <a:buChar char="Ø"/>
            </a:pPr>
            <a:r>
              <a:rPr lang="en-US" b="1" i="1" dirty="0" smtClean="0"/>
              <a:t> </a:t>
            </a:r>
            <a:r>
              <a:rPr lang="en-US" dirty="0" smtClean="0"/>
              <a:t>Complications due to pregnancy at a young age frequently include obstetric fistula</a:t>
            </a:r>
          </a:p>
          <a:p>
            <a:pPr algn="just">
              <a:buNone/>
            </a:pPr>
            <a:r>
              <a:rPr lang="en-US" b="1" dirty="0" smtClean="0"/>
              <a:t>5. </a:t>
            </a:r>
            <a:r>
              <a:rPr lang="en-US" b="1" i="1" dirty="0" smtClean="0"/>
              <a:t>Vulnerability to HIV infection:- </a:t>
            </a:r>
            <a:r>
              <a:rPr lang="en-US" dirty="0" smtClean="0"/>
              <a:t>increase married girls’ exposure to the virus, especially as older husbands may engage in unprotected sexual relations with other partners</a:t>
            </a:r>
            <a:endParaRPr lang="en-US" b="1"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458200" cy="6324600"/>
          </a:xfrm>
        </p:spPr>
        <p:txBody>
          <a:bodyPr>
            <a:normAutofit fontScale="92500" lnSpcReduction="10000"/>
          </a:bodyPr>
          <a:lstStyle/>
          <a:p>
            <a:pPr algn="just">
              <a:lnSpc>
                <a:spcPct val="150000"/>
              </a:lnSpc>
            </a:pPr>
            <a:r>
              <a:rPr lang="en-US" b="1" dirty="0" smtClean="0"/>
              <a:t>Maternal mortality:-</a:t>
            </a:r>
            <a:r>
              <a:rPr lang="en-US" dirty="0" smtClean="0"/>
              <a:t>Young mothers face higher risks during pregnancies including complications such as heavy bleeding, </a:t>
            </a:r>
            <a:r>
              <a:rPr lang="en-US" dirty="0" smtClean="0">
                <a:hlinkClick r:id="rId2"/>
              </a:rPr>
              <a:t>fistula</a:t>
            </a:r>
            <a:r>
              <a:rPr lang="en-US" dirty="0" smtClean="0"/>
              <a:t>, infection, anemia, and </a:t>
            </a:r>
            <a:r>
              <a:rPr lang="en-US" dirty="0" err="1" smtClean="0"/>
              <a:t>eclampsia</a:t>
            </a:r>
            <a:r>
              <a:rPr lang="en-US" dirty="0" smtClean="0"/>
              <a:t> which contribute to higher mortality rates of both mother and child</a:t>
            </a:r>
          </a:p>
          <a:p>
            <a:pPr algn="just">
              <a:lnSpc>
                <a:spcPct val="150000"/>
              </a:lnSpc>
            </a:pPr>
            <a:r>
              <a:rPr lang="en-US" dirty="0" smtClean="0"/>
              <a:t>It has also  consequences on </a:t>
            </a:r>
            <a:r>
              <a:rPr lang="en-US" b="1" dirty="0" smtClean="0"/>
              <a:t>the social development</a:t>
            </a:r>
            <a:r>
              <a:rPr lang="en-US" dirty="0" smtClean="0"/>
              <a:t> of child brides, in terms of low levels of education, poor health and lack of agency and personal autonomy.</a:t>
            </a:r>
          </a:p>
          <a:p>
            <a:pPr algn="just">
              <a:lnSpc>
                <a:spcPct val="150000"/>
              </a:lnSpc>
            </a:pPr>
            <a:r>
              <a:rPr lang="en-US" dirty="0" smtClean="0"/>
              <a:t>Women who marry early are more likely to suffer abuse and violence, which have inevitable psychological as well as physical consequences</a:t>
            </a:r>
            <a:endParaRPr lang="en-US" b="1"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915400" cy="6477000"/>
          </a:xfrm>
        </p:spPr>
        <p:txBody>
          <a:bodyPr>
            <a:normAutofit fontScale="92500" lnSpcReduction="20000"/>
          </a:bodyPr>
          <a:lstStyle/>
          <a:p>
            <a:pPr algn="just">
              <a:lnSpc>
                <a:spcPct val="150000"/>
              </a:lnSpc>
              <a:buNone/>
            </a:pPr>
            <a:r>
              <a:rPr lang="en-US" b="1" dirty="0" smtClean="0"/>
              <a:t>Law and early marriage </a:t>
            </a:r>
          </a:p>
          <a:p>
            <a:pPr algn="just">
              <a:lnSpc>
                <a:spcPct val="150000"/>
              </a:lnSpc>
              <a:buNone/>
            </a:pPr>
            <a:r>
              <a:rPr lang="en-US" b="1" dirty="0" smtClean="0"/>
              <a:t>Art.648 of the new criminal code</a:t>
            </a:r>
          </a:p>
          <a:p>
            <a:pPr algn="just">
              <a:lnSpc>
                <a:spcPct val="150000"/>
              </a:lnSpc>
            </a:pPr>
            <a:r>
              <a:rPr lang="en-US" b="1" dirty="0" smtClean="0"/>
              <a:t> </a:t>
            </a:r>
            <a:r>
              <a:rPr lang="en-US" dirty="0" smtClean="0"/>
              <a:t>rigorous imprisonment not exceeding three years, where the age of the victim is thirteen years or above; or</a:t>
            </a:r>
          </a:p>
          <a:p>
            <a:pPr algn="just">
              <a:lnSpc>
                <a:spcPct val="150000"/>
              </a:lnSpc>
            </a:pPr>
            <a:r>
              <a:rPr lang="en-US" dirty="0" smtClean="0"/>
              <a:t>rigorous imprisonment not exceeding seven years, where the age of the victim is below 13 years.</a:t>
            </a:r>
          </a:p>
          <a:p>
            <a:pPr algn="just">
              <a:lnSpc>
                <a:spcPct val="150000"/>
              </a:lnSpc>
              <a:buNone/>
            </a:pPr>
            <a:r>
              <a:rPr lang="en-US" b="1" dirty="0" smtClean="0"/>
              <a:t>Family law </a:t>
            </a:r>
          </a:p>
          <a:p>
            <a:pPr algn="just">
              <a:lnSpc>
                <a:spcPct val="150000"/>
              </a:lnSpc>
            </a:pPr>
            <a:r>
              <a:rPr lang="en-US" dirty="0" smtClean="0"/>
              <a:t>Art. 7 of RFC a person  not attained the full age of eighteen years shall conclude marriage.</a:t>
            </a:r>
          </a:p>
          <a:p>
            <a:pPr algn="just">
              <a:lnSpc>
                <a:spcPct val="150000"/>
              </a:lnSpc>
            </a:pPr>
            <a:r>
              <a:rPr lang="en-US" b="1" dirty="0" smtClean="0"/>
              <a:t>In case of age, by the parents of the minor, public</a:t>
            </a:r>
          </a:p>
          <a:p>
            <a:pPr algn="just">
              <a:lnSpc>
                <a:spcPct val="150000"/>
              </a:lnSpc>
              <a:buNone/>
            </a:pPr>
            <a:r>
              <a:rPr lang="en-US" dirty="0" smtClean="0"/>
              <a:t>prosecutor or any other interested person</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noAutofit/>
          </a:bodyPr>
          <a:lstStyle/>
          <a:p>
            <a:r>
              <a:rPr lang="en-US" sz="3600" b="1" dirty="0" smtClean="0"/>
              <a:t>Chapter Four</a:t>
            </a:r>
            <a:r>
              <a:rPr lang="en-US" sz="3600" dirty="0" smtClean="0"/>
              <a:t/>
            </a:r>
            <a:br>
              <a:rPr lang="en-US" sz="3600" dirty="0" smtClean="0"/>
            </a:br>
            <a:r>
              <a:rPr lang="en-US" sz="3200" b="1" dirty="0" smtClean="0"/>
              <a:t>Global and comparative approaches to violence against women within and outside family</a:t>
            </a:r>
            <a:endParaRPr lang="en-US" sz="3200" dirty="0"/>
          </a:p>
        </p:txBody>
      </p:sp>
      <p:sp>
        <p:nvSpPr>
          <p:cNvPr id="3" name="Content Placeholder 2"/>
          <p:cNvSpPr>
            <a:spLocks noGrp="1"/>
          </p:cNvSpPr>
          <p:nvPr>
            <p:ph sz="quarter" idx="1"/>
          </p:nvPr>
        </p:nvSpPr>
        <p:spPr>
          <a:xfrm>
            <a:off x="457200" y="1828800"/>
            <a:ext cx="8229600" cy="4724400"/>
          </a:xfrm>
        </p:spPr>
        <p:txBody>
          <a:bodyPr>
            <a:normAutofit fontScale="92500" lnSpcReduction="10000"/>
          </a:bodyPr>
          <a:lstStyle/>
          <a:p>
            <a:pPr algn="just">
              <a:lnSpc>
                <a:spcPct val="150000"/>
              </a:lnSpc>
            </a:pPr>
            <a:r>
              <a:rPr lang="en-US" b="1" dirty="0" smtClean="0"/>
              <a:t> Defining Violence against Women</a:t>
            </a:r>
            <a:endParaRPr lang="en-US" dirty="0" smtClean="0"/>
          </a:p>
          <a:p>
            <a:pPr algn="just">
              <a:lnSpc>
                <a:spcPct val="150000"/>
              </a:lnSpc>
            </a:pPr>
            <a:r>
              <a:rPr lang="en-US" sz="2800" dirty="0" smtClean="0"/>
              <a:t>Declaration on the Elimination of Violence against Women define VAW as “any act of gender-based violence that results in, or is likely to result in, physical, sexual, or psychological harm or suffering to women, including threats of such acts, coercion or arbitrary deprivation of liberty, whether occurring in public or private life.”</a:t>
            </a:r>
            <a:endParaRPr lang="en-US" sz="28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686800" cy="6553200"/>
          </a:xfrm>
        </p:spPr>
        <p:txBody>
          <a:bodyPr>
            <a:normAutofit fontScale="92500"/>
          </a:bodyPr>
          <a:lstStyle/>
          <a:p>
            <a:pPr algn="just">
              <a:lnSpc>
                <a:spcPct val="150000"/>
              </a:lnSpc>
            </a:pPr>
            <a:r>
              <a:rPr lang="en-US" dirty="0" smtClean="0"/>
              <a:t>Though the specific causes of VAW vary on a case-by-case basis, some researchers have identified </a:t>
            </a:r>
            <a:r>
              <a:rPr lang="en-US" dirty="0" smtClean="0">
                <a:solidFill>
                  <a:srgbClr val="FF0000"/>
                </a:solidFill>
              </a:rPr>
              <a:t>community and individual risk factors </a:t>
            </a:r>
            <a:r>
              <a:rPr lang="en-US" dirty="0" smtClean="0"/>
              <a:t>that may increase rates of violence against women. </a:t>
            </a:r>
          </a:p>
          <a:p>
            <a:pPr algn="just">
              <a:lnSpc>
                <a:spcPct val="150000"/>
              </a:lnSpc>
            </a:pPr>
            <a:r>
              <a:rPr lang="en-US" b="1" dirty="0" smtClean="0"/>
              <a:t>Community factors </a:t>
            </a:r>
            <a:r>
              <a:rPr lang="en-US" dirty="0" smtClean="0"/>
              <a:t>may include cultural norms that support male superiority, high crime levels, poor economic conditions, and a lack of political and legal protection from governments</a:t>
            </a:r>
          </a:p>
          <a:p>
            <a:pPr algn="just">
              <a:lnSpc>
                <a:spcPct val="150000"/>
              </a:lnSpc>
            </a:pPr>
            <a:r>
              <a:rPr lang="en-US" b="1" dirty="0" smtClean="0"/>
              <a:t>Individual factors </a:t>
            </a:r>
            <a:r>
              <a:rPr lang="en-US" dirty="0" smtClean="0"/>
              <a:t>that may lead to a high risk of becoming a victim of VAW include living in poverty and a previous history of abuse</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248400"/>
          </a:xfrm>
        </p:spPr>
        <p:txBody>
          <a:bodyPr>
            <a:normAutofit fontScale="77500" lnSpcReduction="20000"/>
          </a:bodyPr>
          <a:lstStyle/>
          <a:p>
            <a:pPr algn="just">
              <a:lnSpc>
                <a:spcPct val="160000"/>
              </a:lnSpc>
              <a:buNone/>
            </a:pPr>
            <a:r>
              <a:rPr lang="en-US" b="1" i="1" dirty="0" smtClean="0"/>
              <a:t>Social and Health </a:t>
            </a:r>
            <a:r>
              <a:rPr lang="en-US" b="1" i="1" dirty="0" smtClean="0"/>
              <a:t>Consequences</a:t>
            </a:r>
          </a:p>
          <a:p>
            <a:pPr algn="just">
              <a:lnSpc>
                <a:spcPct val="160000"/>
              </a:lnSpc>
              <a:buNone/>
            </a:pPr>
            <a:r>
              <a:rPr lang="en-US" b="1" i="1" smtClean="0"/>
              <a:t>Social Consequences</a:t>
            </a:r>
            <a:endParaRPr lang="en-US" b="1" i="1" dirty="0" smtClean="0"/>
          </a:p>
          <a:p>
            <a:pPr algn="just">
              <a:lnSpc>
                <a:spcPct val="160000"/>
              </a:lnSpc>
              <a:buFont typeface="Wingdings" pitchFamily="2" charset="2"/>
              <a:buChar char="Ø"/>
            </a:pPr>
            <a:r>
              <a:rPr lang="en-US" dirty="0" smtClean="0"/>
              <a:t>It negatively affect the ability of women and girls to participate fully in and contribute to their communities</a:t>
            </a:r>
          </a:p>
          <a:p>
            <a:pPr algn="just">
              <a:lnSpc>
                <a:spcPct val="160000"/>
              </a:lnSpc>
              <a:buFont typeface="Wingdings" pitchFamily="2" charset="2"/>
              <a:buChar char="Ø"/>
            </a:pPr>
            <a:r>
              <a:rPr lang="en-US" dirty="0" smtClean="0"/>
              <a:t>less likely for victims to hold jobs and are more likely to live in poverty than those who do not experience violence</a:t>
            </a:r>
          </a:p>
          <a:p>
            <a:pPr algn="just">
              <a:lnSpc>
                <a:spcPct val="160000"/>
              </a:lnSpc>
              <a:buFont typeface="Wingdings" pitchFamily="2" charset="2"/>
              <a:buChar char="Ø"/>
            </a:pPr>
            <a:r>
              <a:rPr lang="en-US" dirty="0" smtClean="0"/>
              <a:t>It forces victims to avoid public places such as schools and the workplace</a:t>
            </a:r>
          </a:p>
          <a:p>
            <a:pPr algn="just">
              <a:lnSpc>
                <a:spcPct val="160000"/>
              </a:lnSpc>
              <a:buFont typeface="Wingdings" pitchFamily="2" charset="2"/>
              <a:buChar char="Ø"/>
            </a:pPr>
            <a:r>
              <a:rPr lang="en-US" dirty="0" smtClean="0"/>
              <a:t>less likely to participate in political activities or development projects because of the threat of physical violence</a:t>
            </a:r>
          </a:p>
          <a:p>
            <a:pPr algn="just">
              <a:lnSpc>
                <a:spcPct val="160000"/>
              </a:lnSpc>
              <a:buFont typeface="Wingdings" pitchFamily="2" charset="2"/>
              <a:buChar char="Ø"/>
            </a:pPr>
            <a:r>
              <a:rPr lang="en-US" dirty="0" smtClean="0"/>
              <a:t>contributes to low female enrollment rates and high dropout rates from secondary school</a:t>
            </a:r>
          </a:p>
          <a:p>
            <a:pPr>
              <a:buNone/>
            </a:pP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324600"/>
          </a:xfrm>
          <a:solidFill>
            <a:schemeClr val="accent2"/>
          </a:solidFill>
        </p:spPr>
        <p:txBody>
          <a:bodyPr>
            <a:normAutofit lnSpcReduction="10000"/>
          </a:bodyPr>
          <a:lstStyle/>
          <a:p>
            <a:pPr algn="just">
              <a:lnSpc>
                <a:spcPct val="150000"/>
              </a:lnSpc>
              <a:buNone/>
            </a:pPr>
            <a:r>
              <a:rPr lang="en-US" b="1" dirty="0" smtClean="0"/>
              <a:t>Health consequence </a:t>
            </a:r>
          </a:p>
          <a:p>
            <a:pPr algn="just">
              <a:lnSpc>
                <a:spcPct val="150000"/>
              </a:lnSpc>
              <a:buFont typeface="Wingdings" pitchFamily="2" charset="2"/>
              <a:buChar char="Ø"/>
            </a:pPr>
            <a:r>
              <a:rPr lang="en-US" dirty="0" smtClean="0"/>
              <a:t>increased risk of poor physical and reproductive health</a:t>
            </a:r>
          </a:p>
          <a:p>
            <a:pPr algn="just">
              <a:lnSpc>
                <a:spcPct val="150000"/>
              </a:lnSpc>
              <a:buFont typeface="Wingdings" pitchFamily="2" charset="2"/>
              <a:buChar char="Ø"/>
            </a:pPr>
            <a:r>
              <a:rPr lang="en-US" dirty="0" smtClean="0"/>
              <a:t>The physical health impacts of VAW can be divided into two categories</a:t>
            </a:r>
            <a:endParaRPr lang="en-US" i="1" dirty="0" smtClean="0"/>
          </a:p>
          <a:p>
            <a:pPr marL="514350" indent="-514350" algn="just">
              <a:lnSpc>
                <a:spcPct val="150000"/>
              </a:lnSpc>
              <a:buAutoNum type="arabicPeriod"/>
            </a:pPr>
            <a:r>
              <a:rPr lang="en-US" dirty="0" smtClean="0"/>
              <a:t>Immediate consequences:-fractures, gunshot wounds, bruises and lacerations, and death</a:t>
            </a:r>
          </a:p>
          <a:p>
            <a:pPr marL="514350" indent="-514350" algn="just">
              <a:lnSpc>
                <a:spcPct val="150000"/>
              </a:lnSpc>
              <a:buAutoNum type="arabicPeriod"/>
            </a:pPr>
            <a:r>
              <a:rPr lang="en-US" dirty="0" smtClean="0"/>
              <a:t>Functional consequences include long-term health consequences (gastrointestinal disorders, chronic pain (including pelvic pain), chronic urinary tract infections, and irritable bowel syndrome)</a:t>
            </a:r>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endParaRPr lang="en-US" dirty="0"/>
          </a:p>
        </p:txBody>
      </p:sp>
      <p:sp>
        <p:nvSpPr>
          <p:cNvPr id="3" name="Content Placeholder 2"/>
          <p:cNvSpPr>
            <a:spLocks noGrp="1"/>
          </p:cNvSpPr>
          <p:nvPr>
            <p:ph sz="quarter" idx="1"/>
          </p:nvPr>
        </p:nvSpPr>
        <p:spPr>
          <a:xfrm>
            <a:off x="228600" y="228600"/>
            <a:ext cx="8686800" cy="6324600"/>
          </a:xfrm>
        </p:spPr>
        <p:txBody>
          <a:bodyPr>
            <a:noAutofit/>
          </a:bodyPr>
          <a:lstStyle/>
          <a:p>
            <a:pPr algn="just">
              <a:lnSpc>
                <a:spcPct val="150000"/>
              </a:lnSpc>
            </a:pPr>
            <a:r>
              <a:rPr lang="en-US" sz="2000" b="1" i="1" dirty="0" smtClean="0"/>
              <a:t>Prevalence and Circumstances</a:t>
            </a:r>
          </a:p>
          <a:p>
            <a:pPr algn="just">
              <a:lnSpc>
                <a:spcPct val="150000"/>
              </a:lnSpc>
              <a:buFont typeface="Wingdings" pitchFamily="2" charset="2"/>
              <a:buChar char="Ø"/>
            </a:pPr>
            <a:r>
              <a:rPr lang="en-US" sz="2000" dirty="0" smtClean="0"/>
              <a:t>b/n 10% and 69% of women have been physically hit or harmed by a male partner at some point in their lives</a:t>
            </a:r>
          </a:p>
          <a:p>
            <a:pPr algn="just">
              <a:lnSpc>
                <a:spcPct val="150000"/>
              </a:lnSpc>
              <a:buFont typeface="Wingdings" pitchFamily="2" charset="2"/>
              <a:buChar char="Ø"/>
            </a:pPr>
            <a:r>
              <a:rPr lang="en-US" sz="2000" dirty="0" smtClean="0"/>
              <a:t>women in developing countries may experience higher rates of violence than those in developed countries</a:t>
            </a:r>
          </a:p>
          <a:p>
            <a:pPr algn="just">
              <a:lnSpc>
                <a:spcPct val="150000"/>
              </a:lnSpc>
              <a:buFont typeface="Wingdings" pitchFamily="2" charset="2"/>
              <a:buChar char="Ø"/>
            </a:pPr>
            <a:r>
              <a:rPr lang="en-US" sz="2000" dirty="0" smtClean="0"/>
              <a:t>one in five women experiences rape or attempted rape during her lifetime</a:t>
            </a:r>
          </a:p>
          <a:p>
            <a:pPr algn="just">
              <a:lnSpc>
                <a:spcPct val="150000"/>
              </a:lnSpc>
              <a:buNone/>
            </a:pPr>
            <a:r>
              <a:rPr lang="en-US" sz="2000" dirty="0" smtClean="0">
                <a:solidFill>
                  <a:srgbClr val="FF0000"/>
                </a:solidFill>
              </a:rPr>
              <a:t>Non reporting of violence </a:t>
            </a:r>
          </a:p>
          <a:p>
            <a:pPr algn="just">
              <a:lnSpc>
                <a:spcPct val="150000"/>
              </a:lnSpc>
              <a:buFont typeface="Wingdings" pitchFamily="2" charset="2"/>
              <a:buChar char="Ø"/>
            </a:pPr>
            <a:r>
              <a:rPr lang="en-US" sz="2000" dirty="0" smtClean="0"/>
              <a:t>Many incidences of violence are </a:t>
            </a:r>
            <a:r>
              <a:rPr lang="en-US" sz="2000" dirty="0" smtClean="0">
                <a:solidFill>
                  <a:srgbClr val="FF0000"/>
                </a:solidFill>
              </a:rPr>
              <a:t>not reported </a:t>
            </a:r>
            <a:r>
              <a:rPr lang="en-US" sz="2000" dirty="0" smtClean="0"/>
              <a:t>because of 1. the shame and fear associated with being a victim </a:t>
            </a:r>
          </a:p>
          <a:p>
            <a:pPr algn="just">
              <a:lnSpc>
                <a:spcPct val="150000"/>
              </a:lnSpc>
              <a:buNone/>
            </a:pPr>
            <a:r>
              <a:rPr lang="en-US" sz="2000" dirty="0" smtClean="0"/>
              <a:t>    2. victims view violence as normal or expected behavior</a:t>
            </a:r>
          </a:p>
          <a:p>
            <a:pPr algn="just">
              <a:lnSpc>
                <a:spcPct val="150000"/>
              </a:lnSpc>
              <a:buFont typeface="Wingdings" pitchFamily="2" charset="2"/>
              <a:buChar char="Ø"/>
            </a:pPr>
            <a:r>
              <a:rPr lang="en-US" sz="2000" dirty="0" smtClean="0"/>
              <a:t>in developing countries, lack of adequate law enforcement infrastructure and reporting services, which may discourage women from reporting abuse</a:t>
            </a:r>
            <a:endParaRPr lang="en-US" sz="200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fontScale="85000" lnSpcReduction="20000"/>
          </a:bodyPr>
          <a:lstStyle/>
          <a:p>
            <a:pPr algn="just">
              <a:lnSpc>
                <a:spcPct val="150000"/>
              </a:lnSpc>
              <a:buNone/>
            </a:pPr>
            <a:r>
              <a:rPr lang="en-US" b="1" dirty="0" smtClean="0"/>
              <a:t>Places of the commission </a:t>
            </a:r>
          </a:p>
          <a:p>
            <a:pPr algn="just">
              <a:lnSpc>
                <a:spcPct val="150000"/>
              </a:lnSpc>
              <a:buFont typeface="Wingdings" pitchFamily="2" charset="2"/>
              <a:buChar char="Ø"/>
            </a:pPr>
            <a:r>
              <a:rPr lang="en-US" dirty="0" smtClean="0"/>
              <a:t>VAW can occur in the home as well as in public and private institutions, including the workplace, schools, universities, and state institutions</a:t>
            </a:r>
          </a:p>
          <a:p>
            <a:pPr algn="just">
              <a:lnSpc>
                <a:spcPct val="150000"/>
              </a:lnSpc>
              <a:buFont typeface="Wingdings" pitchFamily="2" charset="2"/>
              <a:buChar char="Ø"/>
            </a:pPr>
            <a:r>
              <a:rPr lang="en-US" dirty="0" smtClean="0">
                <a:solidFill>
                  <a:srgbClr val="FF0000"/>
                </a:solidFill>
              </a:rPr>
              <a:t>Custodial VAW, </a:t>
            </a:r>
            <a:r>
              <a:rPr lang="en-US" dirty="0" smtClean="0"/>
              <a:t>which includes violence in prisons, immigration detention centers, social welfare institutions, and jails, is reported in many areas of the world (</a:t>
            </a:r>
            <a:r>
              <a:rPr lang="en-US" dirty="0" smtClean="0">
                <a:solidFill>
                  <a:srgbClr val="00B0F0"/>
                </a:solidFill>
              </a:rPr>
              <a:t>most of the time unreported</a:t>
            </a:r>
            <a:r>
              <a:rPr lang="en-US" dirty="0" smtClean="0"/>
              <a:t>)</a:t>
            </a:r>
          </a:p>
          <a:p>
            <a:pPr algn="just">
              <a:lnSpc>
                <a:spcPct val="150000"/>
              </a:lnSpc>
              <a:buFont typeface="Wingdings" pitchFamily="2" charset="2"/>
              <a:buChar char="Ø"/>
            </a:pPr>
            <a:r>
              <a:rPr lang="en-US" dirty="0" smtClean="0"/>
              <a:t>World Bank study found that approximately 22% of women reported being sexually abused in school</a:t>
            </a:r>
          </a:p>
          <a:p>
            <a:pPr algn="just">
              <a:lnSpc>
                <a:spcPct val="150000"/>
              </a:lnSpc>
              <a:buFont typeface="Wingdings" pitchFamily="2" charset="2"/>
              <a:buChar char="Ø"/>
            </a:pPr>
            <a:r>
              <a:rPr lang="en-US" dirty="0" smtClean="0"/>
              <a:t>in Ethiopia harassment and sexual abuse contributed to low female enrollment rates and high dropout rates from secondary school</a:t>
            </a:r>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52400"/>
            <a:ext cx="9144000" cy="6705600"/>
          </a:xfrm>
        </p:spPr>
        <p:txBody>
          <a:bodyPr>
            <a:normAutofit fontScale="55000" lnSpcReduction="20000"/>
          </a:bodyPr>
          <a:lstStyle/>
          <a:p>
            <a:pPr algn="just">
              <a:lnSpc>
                <a:spcPct val="170000"/>
              </a:lnSpc>
              <a:buNone/>
            </a:pPr>
            <a:r>
              <a:rPr lang="en-US" b="1" dirty="0" smtClean="0"/>
              <a:t>Types of Violence</a:t>
            </a:r>
          </a:p>
          <a:p>
            <a:pPr algn="just">
              <a:lnSpc>
                <a:spcPct val="170000"/>
              </a:lnSpc>
            </a:pPr>
            <a:r>
              <a:rPr lang="en-US" b="1" dirty="0" smtClean="0"/>
              <a:t> </a:t>
            </a:r>
            <a:r>
              <a:rPr lang="en-US" b="1" i="1" u="sng" dirty="0" smtClean="0"/>
              <a:t>Life Stage</a:t>
            </a:r>
            <a:r>
              <a:rPr lang="en-US" b="1" dirty="0" smtClean="0"/>
              <a:t>                                                         </a:t>
            </a:r>
            <a:r>
              <a:rPr lang="en-US" b="1" i="1" u="sng" dirty="0" smtClean="0"/>
              <a:t>Examples</a:t>
            </a:r>
            <a:endParaRPr lang="en-US" dirty="0" smtClean="0"/>
          </a:p>
          <a:p>
            <a:pPr algn="just">
              <a:lnSpc>
                <a:spcPct val="170000"/>
              </a:lnSpc>
            </a:pPr>
            <a:r>
              <a:rPr lang="en-US" b="1" dirty="0" smtClean="0"/>
              <a:t>Infancy</a:t>
            </a:r>
            <a:r>
              <a:rPr lang="en-US" dirty="0" smtClean="0"/>
              <a:t>                        Infanticide; psychological and physical abuse;          </a:t>
            </a:r>
          </a:p>
          <a:p>
            <a:pPr algn="just">
              <a:lnSpc>
                <a:spcPct val="170000"/>
              </a:lnSpc>
              <a:buNone/>
            </a:pPr>
            <a:r>
              <a:rPr lang="en-US" dirty="0" smtClean="0"/>
              <a:t>                                            differential    	to food and medical care                             </a:t>
            </a:r>
          </a:p>
          <a:p>
            <a:pPr algn="just">
              <a:lnSpc>
                <a:spcPct val="170000"/>
              </a:lnSpc>
            </a:pPr>
            <a:r>
              <a:rPr lang="en-US" b="1" dirty="0" smtClean="0"/>
              <a:t>Childhood </a:t>
            </a:r>
            <a:r>
              <a:rPr lang="en-US" dirty="0" smtClean="0"/>
              <a:t>            Female genital cutting; incest and sexual abuse; </a:t>
            </a:r>
          </a:p>
          <a:p>
            <a:pPr algn="just">
              <a:lnSpc>
                <a:spcPct val="170000"/>
              </a:lnSpc>
              <a:buNone/>
            </a:pPr>
            <a:r>
              <a:rPr lang="en-US" dirty="0" smtClean="0"/>
              <a:t>                                    psychological   abuse; differential access to food, medical </a:t>
            </a:r>
          </a:p>
          <a:p>
            <a:pPr algn="just">
              <a:lnSpc>
                <a:spcPct val="170000"/>
              </a:lnSpc>
              <a:buNone/>
            </a:pPr>
            <a:r>
              <a:rPr lang="en-US" dirty="0" smtClean="0"/>
              <a:t>                                     care, and education;  prostitution; trafficking; school-</a:t>
            </a:r>
          </a:p>
          <a:p>
            <a:pPr algn="just">
              <a:lnSpc>
                <a:spcPct val="170000"/>
              </a:lnSpc>
              <a:buNone/>
            </a:pPr>
            <a:r>
              <a:rPr lang="en-US" dirty="0" smtClean="0"/>
              <a:t>                                      related gender-based  violence</a:t>
            </a:r>
          </a:p>
          <a:p>
            <a:pPr algn="just">
              <a:lnSpc>
                <a:spcPct val="170000"/>
              </a:lnSpc>
            </a:pPr>
            <a:r>
              <a:rPr lang="en-US" b="1" dirty="0" smtClean="0"/>
              <a:t>Adolescence</a:t>
            </a:r>
            <a:r>
              <a:rPr lang="en-US" dirty="0" smtClean="0"/>
              <a:t>       Dating and courtship violence; economically coerced sex; </a:t>
            </a:r>
          </a:p>
          <a:p>
            <a:pPr algn="just">
              <a:lnSpc>
                <a:spcPct val="170000"/>
              </a:lnSpc>
              <a:buNone/>
            </a:pPr>
            <a:r>
              <a:rPr lang="en-US" dirty="0" smtClean="0"/>
              <a:t>                                    sexual  abuse in the workplace; rape; sexual harassment; </a:t>
            </a:r>
          </a:p>
          <a:p>
            <a:pPr algn="just">
              <a:lnSpc>
                <a:spcPct val="170000"/>
              </a:lnSpc>
              <a:buNone/>
            </a:pPr>
            <a:r>
              <a:rPr lang="en-US" dirty="0" smtClean="0"/>
              <a:t>                                     forced prostitution; trafficking; psychological abuse; </a:t>
            </a:r>
          </a:p>
          <a:p>
            <a:pPr algn="just">
              <a:lnSpc>
                <a:spcPct val="170000"/>
              </a:lnSpc>
              <a:buNone/>
            </a:pPr>
            <a:r>
              <a:rPr lang="en-US" dirty="0" smtClean="0"/>
              <a:t>                      forced marriage; dowry abuse; retribution for the crimes of others</a:t>
            </a:r>
          </a:p>
          <a:p>
            <a:pPr algn="just">
              <a:lnSpc>
                <a:spcPct val="170000"/>
              </a:lnSpc>
            </a:pPr>
            <a:r>
              <a:rPr lang="en-US" b="1" dirty="0" smtClean="0"/>
              <a:t>Reproductive</a:t>
            </a:r>
            <a:r>
              <a:rPr lang="en-US" dirty="0" smtClean="0"/>
              <a:t>      Intimate partner abuse; marital rape; dowry abuse; honor </a:t>
            </a:r>
          </a:p>
          <a:p>
            <a:pPr algn="just">
              <a:lnSpc>
                <a:spcPct val="170000"/>
              </a:lnSpc>
              <a:buNone/>
            </a:pPr>
            <a:r>
              <a:rPr lang="en-US" dirty="0" smtClean="0"/>
              <a:t>                                    killings; partner homicide; psychological abuse; sexual </a:t>
            </a:r>
          </a:p>
          <a:p>
            <a:pPr algn="just">
              <a:lnSpc>
                <a:spcPct val="170000"/>
              </a:lnSpc>
              <a:buNone/>
            </a:pPr>
            <a:r>
              <a:rPr lang="en-US" dirty="0" smtClean="0"/>
              <a:t>                                    abuse in the workplace; abuse of women with disabilities; </a:t>
            </a:r>
          </a:p>
          <a:p>
            <a:pPr algn="just">
              <a:lnSpc>
                <a:spcPct val="170000"/>
              </a:lnSpc>
              <a:buNone/>
            </a:pPr>
            <a:r>
              <a:rPr lang="en-US" dirty="0" smtClean="0"/>
              <a:t>                                    forced prostitution; trafficking</a:t>
            </a:r>
          </a:p>
          <a:p>
            <a:pPr algn="just">
              <a:lnSpc>
                <a:spcPct val="170000"/>
              </a:lnSpc>
            </a:pPr>
            <a:r>
              <a:rPr lang="en-US" b="1" dirty="0" smtClean="0"/>
              <a:t>Old age</a:t>
            </a:r>
            <a:r>
              <a:rPr lang="en-US" dirty="0" smtClean="0"/>
              <a:t>                        Widow abuse; elderly abuse; rape; neglect </a:t>
            </a:r>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686800" cy="6400800"/>
          </a:xfrm>
        </p:spPr>
        <p:txBody>
          <a:bodyPr>
            <a:normAutofit fontScale="77500" lnSpcReduction="20000"/>
          </a:bodyPr>
          <a:lstStyle/>
          <a:p>
            <a:pPr algn="just">
              <a:lnSpc>
                <a:spcPct val="170000"/>
              </a:lnSpc>
              <a:buNone/>
            </a:pPr>
            <a:r>
              <a:rPr lang="en-US" b="1" i="1" dirty="0" smtClean="0"/>
              <a:t>1 Harmful Traditional Practices</a:t>
            </a:r>
          </a:p>
          <a:p>
            <a:pPr algn="just">
              <a:lnSpc>
                <a:spcPct val="170000"/>
              </a:lnSpc>
              <a:buFont typeface="Wingdings" pitchFamily="2" charset="2"/>
              <a:buChar char="Ø"/>
            </a:pPr>
            <a:r>
              <a:rPr lang="en-US" dirty="0" smtClean="0"/>
              <a:t>Traditional practices are part of local cultures and are generally considered socially acceptable; in some cases, they are encouraged by family members and the community</a:t>
            </a:r>
          </a:p>
          <a:p>
            <a:pPr algn="just">
              <a:lnSpc>
                <a:spcPct val="170000"/>
              </a:lnSpc>
              <a:buFont typeface="Wingdings" pitchFamily="2" charset="2"/>
              <a:buChar char="Ø"/>
            </a:pPr>
            <a:r>
              <a:rPr lang="en-US" dirty="0" smtClean="0"/>
              <a:t>HTP including FGM, intimate partner violence, and child marriage, perpetuate unbalanced sex stereotypes and a cycle of violence</a:t>
            </a:r>
          </a:p>
          <a:p>
            <a:pPr algn="just">
              <a:lnSpc>
                <a:spcPct val="170000"/>
              </a:lnSpc>
              <a:buFont typeface="Wingdings" pitchFamily="2" charset="2"/>
              <a:buChar char="Ø"/>
            </a:pPr>
            <a:r>
              <a:rPr lang="en-US" dirty="0" smtClean="0"/>
              <a:t>In some cultures, both men and women may view violence as a legitimate punishment for female disobedience and as a traditional part of male-female relationships</a:t>
            </a:r>
          </a:p>
          <a:p>
            <a:pPr algn="just">
              <a:lnSpc>
                <a:spcPct val="170000"/>
              </a:lnSpc>
              <a:buFont typeface="Wingdings" pitchFamily="2" charset="2"/>
              <a:buChar char="Ø"/>
            </a:pPr>
            <a:r>
              <a:rPr lang="en-US" dirty="0" smtClean="0"/>
              <a:t>In recent years, some international advocates have increasingly argued that HTP should be addressed through anti-VAW programs</a:t>
            </a:r>
          </a:p>
          <a:p>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a:bodyPr>
          <a:lstStyle/>
          <a:p>
            <a:pPr algn="just">
              <a:buNone/>
            </a:pPr>
            <a:r>
              <a:rPr lang="en-US" b="1" i="1" dirty="0" smtClean="0"/>
              <a:t>2 Abduction</a:t>
            </a:r>
          </a:p>
          <a:p>
            <a:pPr algn="just">
              <a:buFont typeface="Wingdings" pitchFamily="2" charset="2"/>
              <a:buChar char="Ø"/>
            </a:pPr>
            <a:r>
              <a:rPr lang="en-US" dirty="0" smtClean="0"/>
              <a:t>In some regions of Ethiopia, abduction and rape is a cultural practice used to take a girl as wife by force</a:t>
            </a:r>
          </a:p>
          <a:p>
            <a:pPr algn="just">
              <a:buFont typeface="Wingdings" pitchFamily="2" charset="2"/>
              <a:buChar char="Ø"/>
            </a:pPr>
            <a:r>
              <a:rPr lang="en-US" dirty="0" smtClean="0"/>
              <a:t>with social and cultural pressure from families and the community, as well as threats from the offender, the girl will often "consent" to marry her perpetrator</a:t>
            </a:r>
          </a:p>
          <a:p>
            <a:pPr algn="just">
              <a:buFont typeface="Wingdings" pitchFamily="2" charset="2"/>
              <a:buChar char="Ø"/>
            </a:pPr>
            <a:r>
              <a:rPr lang="en-US" dirty="0" smtClean="0"/>
              <a:t>Both, abduction and rape are criminal offences under the Ethiopian law, but if marriage is subsequently agreed, the husband is </a:t>
            </a:r>
            <a:r>
              <a:rPr lang="en-US" i="1" dirty="0" smtClean="0"/>
              <a:t>exempt</a:t>
            </a:r>
            <a:r>
              <a:rPr lang="en-US" dirty="0" smtClean="0"/>
              <a:t> from criminal responsibility for his crimes</a:t>
            </a:r>
          </a:p>
          <a:p>
            <a:pPr algn="just">
              <a:buFont typeface="Wingdings" pitchFamily="2" charset="2"/>
              <a:buChar char="Ø"/>
            </a:pPr>
            <a:r>
              <a:rPr lang="en-US" dirty="0" smtClean="0"/>
              <a:t>Changing the law to adequately address the injustice that abducted and raped girls face is essential to the realization of the fundamental right to equality in Ethiopia</a:t>
            </a:r>
            <a:endParaRPr 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763000" cy="6477000"/>
          </a:xfrm>
        </p:spPr>
        <p:txBody>
          <a:bodyPr>
            <a:normAutofit fontScale="92500" lnSpcReduction="10000"/>
          </a:bodyPr>
          <a:lstStyle/>
          <a:p>
            <a:pPr algn="just">
              <a:buNone/>
            </a:pPr>
            <a:r>
              <a:rPr lang="en-US" b="1" i="1" dirty="0" smtClean="0"/>
              <a:t>3.Rape </a:t>
            </a:r>
          </a:p>
          <a:p>
            <a:pPr algn="just">
              <a:buFont typeface="Wingdings" pitchFamily="2" charset="2"/>
              <a:buChar char="Ø"/>
            </a:pPr>
            <a:r>
              <a:rPr lang="en-US" i="1" dirty="0" smtClean="0"/>
              <a:t>Webster’s Dictionary </a:t>
            </a:r>
            <a:r>
              <a:rPr lang="en-US" dirty="0" smtClean="0"/>
              <a:t>(1975) defines it as the 'illicit carnal knowledge of a woman without her consent, effected by force, duress, intimidation, or deception as to the nature of the act.</a:t>
            </a:r>
          </a:p>
          <a:p>
            <a:pPr algn="just">
              <a:buFont typeface="Wingdings" pitchFamily="2" charset="2"/>
              <a:buChar char="Ø"/>
            </a:pPr>
            <a:r>
              <a:rPr lang="en-US" dirty="0" smtClean="0"/>
              <a:t>the most commonly attributed causes of rape are inequality in gender power relations and the anger and sadism of the rapists</a:t>
            </a:r>
          </a:p>
          <a:p>
            <a:pPr algn="just">
              <a:buFont typeface="Wingdings" pitchFamily="2" charset="2"/>
              <a:buChar char="Ø"/>
            </a:pPr>
            <a:r>
              <a:rPr lang="en-US" dirty="0" smtClean="0"/>
              <a:t>In Ethiopia's case there is a range of other complex contributing factors, such as culture and tradition, poverty and war.</a:t>
            </a:r>
          </a:p>
          <a:p>
            <a:pPr algn="just">
              <a:buFont typeface="Wingdings" pitchFamily="2" charset="2"/>
              <a:buChar char="Ø"/>
            </a:pPr>
            <a:r>
              <a:rPr lang="en-US" dirty="0" smtClean="0"/>
              <a:t>Culturally transmitted assumptions about men's dominance over women, men's power over women</a:t>
            </a:r>
          </a:p>
          <a:p>
            <a:pPr algn="just">
              <a:buFont typeface="Wingdings" pitchFamily="2" charset="2"/>
              <a:buChar char="Ø"/>
            </a:pPr>
            <a:r>
              <a:rPr lang="en-US" dirty="0" smtClean="0"/>
              <a:t>Ethiopian culture tolerates sexual violence against girls and women since Abduction and early marriage, always followed by rape, are the norms in some parts of our society</a:t>
            </a: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686800" cy="6477000"/>
          </a:xfrm>
        </p:spPr>
        <p:txBody>
          <a:bodyPr>
            <a:normAutofit lnSpcReduction="10000"/>
          </a:bodyPr>
          <a:lstStyle/>
          <a:p>
            <a:pPr algn="just"/>
            <a:r>
              <a:rPr lang="en-US" dirty="0" smtClean="0"/>
              <a:t>Poverty drives women and children into commercial sex and streets, which make them vulnerable to sexual exploitation, abuse and rape</a:t>
            </a:r>
          </a:p>
          <a:p>
            <a:pPr algn="just"/>
            <a:r>
              <a:rPr lang="en-US" dirty="0" smtClean="0"/>
              <a:t>Rape is used in most wars as revenge against certain races, ethnic groups and religious communities. </a:t>
            </a:r>
            <a:r>
              <a:rPr lang="en-US" dirty="0" err="1" smtClean="0"/>
              <a:t>E.g</a:t>
            </a:r>
            <a:r>
              <a:rPr lang="en-US" dirty="0" smtClean="0"/>
              <a:t> </a:t>
            </a:r>
            <a:r>
              <a:rPr lang="en-US" dirty="0" err="1" smtClean="0"/>
              <a:t>ethio</a:t>
            </a:r>
            <a:r>
              <a:rPr lang="en-US" dirty="0" smtClean="0"/>
              <a:t> Eretria</a:t>
            </a:r>
          </a:p>
          <a:p>
            <a:pPr algn="just">
              <a:buNone/>
            </a:pPr>
            <a:r>
              <a:rPr lang="en-US" dirty="0" smtClean="0"/>
              <a:t> </a:t>
            </a:r>
            <a:r>
              <a:rPr lang="en-US" b="1" i="1" dirty="0" smtClean="0"/>
              <a:t>2Consequences of Rape</a:t>
            </a:r>
          </a:p>
          <a:p>
            <a:pPr algn="just">
              <a:buNone/>
            </a:pPr>
            <a:r>
              <a:rPr lang="en-US" i="1" dirty="0" smtClean="0"/>
              <a:t>1 Psychological:-</a:t>
            </a:r>
            <a:r>
              <a:rPr lang="en-US" dirty="0" smtClean="0"/>
              <a:t>Fear and phobia, repressed anger leading to overwhelming depression and anxiety, feeling of guilt, self-blame, shame, loss of control over oneself, immense shock and disbelief, confusion, difficulty in making decisions, hatred towards men, diminished self-esteem, feelings of worthlessness, fear of being alone, disobedience, aversion to sexual intercourse, thoughts of suicide, desire for revenge</a:t>
            </a: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77000"/>
          </a:xfrm>
        </p:spPr>
        <p:txBody>
          <a:bodyPr>
            <a:normAutofit lnSpcReduction="10000"/>
          </a:bodyPr>
          <a:lstStyle/>
          <a:p>
            <a:pPr algn="just">
              <a:buNone/>
            </a:pPr>
            <a:r>
              <a:rPr lang="en-US" b="1" i="1" dirty="0" smtClean="0"/>
              <a:t>2. Social:-</a:t>
            </a:r>
            <a:r>
              <a:rPr lang="en-US" dirty="0" smtClean="0"/>
              <a:t>lose their dignity and respect in society, alienate themselves from society, difficulty to get husband, prostitution </a:t>
            </a:r>
          </a:p>
          <a:p>
            <a:pPr algn="just">
              <a:buNone/>
            </a:pPr>
            <a:r>
              <a:rPr lang="en-US" b="1" i="1" dirty="0" smtClean="0"/>
              <a:t>3 Economic:- </a:t>
            </a:r>
            <a:r>
              <a:rPr lang="en-US" dirty="0" smtClean="0"/>
              <a:t> due to rape or fear of rape girls do not pursue their education. As lack of education will also leave women unemployed, poor and powerless, violence perpetrated against them will continue unabated</a:t>
            </a:r>
          </a:p>
          <a:p>
            <a:pPr algn="just">
              <a:buNone/>
            </a:pPr>
            <a:r>
              <a:rPr lang="en-US" b="1" i="1" dirty="0" smtClean="0"/>
              <a:t>4 Health:- </a:t>
            </a:r>
            <a:r>
              <a:rPr lang="en-US" dirty="0" smtClean="0"/>
              <a:t>lead to unwanted pregnancies and transmissions of STDs, including HIV/AIDS</a:t>
            </a:r>
          </a:p>
          <a:p>
            <a:pPr algn="just">
              <a:buFont typeface="Wingdings" pitchFamily="2" charset="2"/>
              <a:buChar char="Ø"/>
            </a:pPr>
            <a:r>
              <a:rPr lang="en-US" dirty="0" smtClean="0"/>
              <a:t>In Ethiopian law, there is no provision for the right to abort even in cases of rape</a:t>
            </a:r>
          </a:p>
          <a:p>
            <a:pPr algn="just">
              <a:buFont typeface="Wingdings" pitchFamily="2" charset="2"/>
              <a:buChar char="Ø"/>
            </a:pPr>
            <a:r>
              <a:rPr lang="en-US" dirty="0" smtClean="0"/>
              <a:t>they are forced to resort to illegal and unsafe options</a:t>
            </a:r>
          </a:p>
          <a:p>
            <a:pPr algn="just">
              <a:buFont typeface="Wingdings" pitchFamily="2" charset="2"/>
              <a:buChar char="Ø"/>
            </a:pPr>
            <a:r>
              <a:rPr lang="en-US" b="1" dirty="0" smtClean="0"/>
              <a:t>Marital rape </a:t>
            </a:r>
            <a:r>
              <a:rPr lang="en-US" dirty="0" smtClean="0"/>
              <a:t>is </a:t>
            </a:r>
            <a:r>
              <a:rPr lang="en-US" u="sng" dirty="0" smtClean="0">
                <a:hlinkClick r:id="rId2" tooltip="Rape"/>
              </a:rPr>
              <a:t>non-consensual sexual assault</a:t>
            </a:r>
            <a:r>
              <a:rPr lang="en-US" dirty="0" smtClean="0"/>
              <a:t> in which the perpetrator is the victim's </a:t>
            </a:r>
            <a:r>
              <a:rPr lang="en-US" u="sng" dirty="0" smtClean="0">
                <a:hlinkClick r:id="rId3" tooltip="Marriage"/>
              </a:rPr>
              <a:t>spouse</a:t>
            </a:r>
            <a:endParaRPr lang="en-US" b="1"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lnSpcReduction="10000"/>
          </a:bodyPr>
          <a:lstStyle/>
          <a:p>
            <a:pPr algn="just">
              <a:buNone/>
            </a:pPr>
            <a:r>
              <a:rPr lang="en-US" b="1" i="1" dirty="0" smtClean="0"/>
              <a:t>5. Sexual harassment</a:t>
            </a:r>
          </a:p>
          <a:p>
            <a:pPr algn="just">
              <a:buNone/>
            </a:pPr>
            <a:r>
              <a:rPr lang="en-US" dirty="0" smtClean="0"/>
              <a:t>There are two types of sexual harassment, </a:t>
            </a:r>
          </a:p>
          <a:p>
            <a:pPr algn="just">
              <a:buNone/>
            </a:pPr>
            <a:r>
              <a:rPr lang="en-US" dirty="0" smtClean="0"/>
              <a:t>1.“quid pro quo” it means “this for that”. </a:t>
            </a:r>
          </a:p>
          <a:p>
            <a:pPr algn="just">
              <a:buNone/>
            </a:pPr>
            <a:r>
              <a:rPr lang="en-US" dirty="0" smtClean="0"/>
              <a:t>2. “Hostile environment”:- unreasonably interferes with a person’s work or academic performance or it creates an intimidating, hostile, abusive or offensive environment</a:t>
            </a:r>
          </a:p>
          <a:p>
            <a:pPr algn="just">
              <a:buFont typeface="Wingdings" pitchFamily="2" charset="2"/>
              <a:buChar char="Ø"/>
            </a:pPr>
            <a:r>
              <a:rPr lang="en-US" dirty="0" smtClean="0"/>
              <a:t>There are abundant cases of harassment in Ethiopia, but the law does not specifically criminalize it</a:t>
            </a:r>
          </a:p>
          <a:p>
            <a:pPr algn="just">
              <a:buFont typeface="Wingdings" pitchFamily="2" charset="2"/>
              <a:buChar char="Ø"/>
            </a:pPr>
            <a:r>
              <a:rPr lang="en-US" dirty="0" smtClean="0"/>
              <a:t>The labor proclamation of 1993 (number 42/93) does not mention sexual harassment.</a:t>
            </a:r>
          </a:p>
          <a:p>
            <a:pPr algn="just">
              <a:buNone/>
            </a:pPr>
            <a:r>
              <a:rPr lang="en-US" b="1" i="1" dirty="0" smtClean="0"/>
              <a:t>6 FGM:- </a:t>
            </a:r>
            <a:r>
              <a:rPr lang="en-US" dirty="0" smtClean="0"/>
              <a:t>cutting and removing parts or all of the female genitalia </a:t>
            </a:r>
          </a:p>
          <a:p>
            <a:pPr algn="just">
              <a:buFont typeface="Wingdings" pitchFamily="2" charset="2"/>
              <a:buChar char="Ø"/>
            </a:pPr>
            <a:r>
              <a:rPr lang="en-US" dirty="0" smtClean="0"/>
              <a:t> results serious problems during intercourse and child delivery, not to mention the psychological trauma</a:t>
            </a:r>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304800"/>
            <a:ext cx="8839200" cy="6324600"/>
          </a:xfrm>
        </p:spPr>
        <p:txBody>
          <a:bodyPr>
            <a:normAutofit/>
          </a:bodyPr>
          <a:lstStyle/>
          <a:p>
            <a:pPr algn="just">
              <a:buNone/>
            </a:pPr>
            <a:r>
              <a:rPr lang="en-US" b="1" i="1" dirty="0" smtClean="0"/>
              <a:t>7. Forced prostitution</a:t>
            </a:r>
          </a:p>
          <a:p>
            <a:pPr marL="514350" indent="-514350" algn="just">
              <a:buFont typeface="Wingdings" pitchFamily="2" charset="2"/>
              <a:buChar char="Ø"/>
            </a:pPr>
            <a:r>
              <a:rPr lang="en-US" dirty="0" smtClean="0"/>
              <a:t>It refers to conditions of control over a person who is coerced by another to engage in sexual activity</a:t>
            </a:r>
            <a:endParaRPr lang="en-US" b="1" i="1" dirty="0" smtClean="0"/>
          </a:p>
          <a:p>
            <a:pPr algn="just">
              <a:buFont typeface="Wingdings" pitchFamily="2" charset="2"/>
              <a:buChar char="Ø"/>
            </a:pPr>
            <a:r>
              <a:rPr lang="en-US" dirty="0" smtClean="0"/>
              <a:t>It  is a crime that violates human rights of emotional and physical integrity.</a:t>
            </a:r>
          </a:p>
          <a:p>
            <a:pPr algn="just">
              <a:buFont typeface="Wingdings" pitchFamily="2" charset="2"/>
              <a:buChar char="Ø"/>
            </a:pPr>
            <a:r>
              <a:rPr lang="en-US" dirty="0" smtClean="0"/>
              <a:t>In 1949 the UNGA adopted the </a:t>
            </a:r>
            <a:r>
              <a:rPr lang="en-US" dirty="0" smtClean="0">
                <a:hlinkClick r:id="rId2" tooltip="Convention for the Suppression of the Traffic in Persons and of the Exploitation of the Prostitution of Others"/>
              </a:rPr>
              <a:t>Convention for the Suppression of the Traffic in Persons and of the Exploitation of the Prostitution of Others</a:t>
            </a:r>
            <a:endParaRPr lang="en-US" dirty="0" smtClean="0"/>
          </a:p>
          <a:p>
            <a:pPr algn="just">
              <a:buFont typeface="Wingdings" pitchFamily="2" charset="2"/>
              <a:buChar char="Ø"/>
            </a:pPr>
            <a:r>
              <a:rPr lang="en-US" dirty="0" smtClean="0"/>
              <a:t>it imposes three obligation on the members</a:t>
            </a:r>
          </a:p>
          <a:p>
            <a:pPr lvl="0" algn="just"/>
            <a:r>
              <a:rPr lang="en-US" dirty="0" smtClean="0"/>
              <a:t> prohibition of trafficking,</a:t>
            </a:r>
          </a:p>
          <a:p>
            <a:pPr lvl="0" algn="just"/>
            <a:r>
              <a:rPr lang="en-US" dirty="0" smtClean="0"/>
              <a:t>specific administrative and enforcement measures, and  </a:t>
            </a:r>
          </a:p>
          <a:p>
            <a:pPr lvl="0" algn="just"/>
            <a:r>
              <a:rPr lang="en-US" dirty="0" smtClean="0"/>
              <a:t>Social measures aimed at trafficked persons. </a:t>
            </a:r>
          </a:p>
          <a:p>
            <a:pPr>
              <a:buNone/>
            </a:pPr>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0"/>
            <a:ext cx="9144000" cy="6858000"/>
          </a:xfrm>
        </p:spPr>
        <p:txBody>
          <a:bodyPr>
            <a:normAutofit fontScale="92500" lnSpcReduction="10000"/>
          </a:bodyPr>
          <a:lstStyle/>
          <a:p>
            <a:pPr algn="just">
              <a:buNone/>
            </a:pPr>
            <a:r>
              <a:rPr lang="en-US" b="1" i="1" dirty="0" smtClean="0"/>
              <a:t>8. Forced marriage</a:t>
            </a:r>
          </a:p>
          <a:p>
            <a:pPr algn="just">
              <a:buFont typeface="Wingdings" pitchFamily="2" charset="2"/>
              <a:buChar char="Ø"/>
            </a:pPr>
            <a:r>
              <a:rPr lang="en-US" dirty="0" smtClean="0"/>
              <a:t>a marriage in which one or more of the parties is </a:t>
            </a:r>
            <a:r>
              <a:rPr lang="en-US" u="sng" dirty="0" smtClean="0">
                <a:hlinkClick r:id="rId2" tooltip="Marriage"/>
              </a:rPr>
              <a:t>married</a:t>
            </a:r>
            <a:r>
              <a:rPr lang="en-US" dirty="0" smtClean="0"/>
              <a:t> without his or her consent or against his or her will </a:t>
            </a:r>
          </a:p>
          <a:p>
            <a:pPr algn="just">
              <a:buFont typeface="Wingdings" pitchFamily="2" charset="2"/>
              <a:buChar char="Ø"/>
            </a:pPr>
            <a:r>
              <a:rPr lang="en-US" dirty="0" smtClean="0"/>
              <a:t>it is different from arranged marriage </a:t>
            </a:r>
          </a:p>
          <a:p>
            <a:pPr algn="just">
              <a:buFont typeface="Wingdings" pitchFamily="2" charset="2"/>
              <a:buChar char="Ø"/>
            </a:pPr>
            <a:r>
              <a:rPr lang="en-US" dirty="0" smtClean="0"/>
              <a:t>it involve varying degrees of force, coercion or deception, ranging from emotional pressure by family or community members to abduction and imprisonment</a:t>
            </a:r>
          </a:p>
          <a:p>
            <a:pPr lvl="0" algn="just">
              <a:buFont typeface="Wingdings" pitchFamily="2" charset="2"/>
              <a:buChar char="Ø"/>
            </a:pPr>
            <a:r>
              <a:rPr lang="en-US" dirty="0" smtClean="0"/>
              <a:t>Reason  for forced marriage includes:-  Controlling unwanted behavior and sexuality; Peer group or family pressure; Attempting to strengthen family links; Ensuring land remains within the family; Protecting perceived religious and cultural ideals which are misguided; Preventing "unsuitable" relationships and Family honor</a:t>
            </a:r>
          </a:p>
          <a:p>
            <a:pPr lvl="0" algn="just">
              <a:buFont typeface="Wingdings" pitchFamily="2" charset="2"/>
              <a:buChar char="Ø"/>
            </a:pPr>
            <a:r>
              <a:rPr lang="en-US" dirty="0" smtClean="0"/>
              <a:t>Although there is no specific criminal offence of forcing someone to marry Perpetrators usually parents or family members have been prosecuted for offences including threatening behavior, harassment, assault, abduction and murder</a:t>
            </a:r>
          </a:p>
          <a:p>
            <a:pPr lvl="0">
              <a:buFont typeface="Wingdings" pitchFamily="2" charset="2"/>
              <a:buChar char="Ø"/>
            </a:pPr>
            <a:endParaRPr lang="en-US" dirty="0" smtClean="0"/>
          </a:p>
          <a:p>
            <a:pPr>
              <a:buFont typeface="Wingdings" pitchFamily="2" charset="2"/>
              <a:buChar char="Ø"/>
            </a:pPr>
            <a:endParaRPr lang="en-US" dirty="0" smtClean="0"/>
          </a:p>
          <a:p>
            <a:pPr lvl="0">
              <a:buFont typeface="Wingdings" pitchFamily="2" charset="2"/>
              <a:buChar char="Ø"/>
            </a:pPr>
            <a:endParaRPr lang="en-US" dirty="0" smtClean="0"/>
          </a:p>
          <a:p>
            <a:pPr>
              <a:buFont typeface="Wingdings" pitchFamily="2" charset="2"/>
              <a:buChar char="Ø"/>
            </a:pPr>
            <a:endParaRPr lang="en-US" dirty="0" smtClean="0"/>
          </a:p>
          <a:p>
            <a:pPr lvl="0">
              <a:buFont typeface="Wingdings" pitchFamily="2" charset="2"/>
              <a:buChar char="Ø"/>
            </a:pPr>
            <a:endParaRPr lang="en-US" dirty="0" smtClean="0"/>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629400"/>
          </a:xfrm>
        </p:spPr>
        <p:txBody>
          <a:bodyPr>
            <a:normAutofit fontScale="92500" lnSpcReduction="10000"/>
          </a:bodyPr>
          <a:lstStyle/>
          <a:p>
            <a:pPr algn="just">
              <a:buFont typeface="Wingdings" pitchFamily="2" charset="2"/>
              <a:buChar char="Ø"/>
            </a:pPr>
            <a:r>
              <a:rPr lang="en-US" dirty="0" smtClean="0"/>
              <a:t> Many women forced into a marriage suffer for many years from domestic abuse</a:t>
            </a:r>
          </a:p>
          <a:p>
            <a:pPr algn="just">
              <a:buFont typeface="Wingdings" pitchFamily="2" charset="2"/>
              <a:buChar char="Ø"/>
            </a:pPr>
            <a:r>
              <a:rPr lang="en-US" i="1" dirty="0" smtClean="0"/>
              <a:t>Isolation</a:t>
            </a:r>
            <a:r>
              <a:rPr lang="en-US" dirty="0" smtClean="0"/>
              <a:t> is one of the biggest problems facing victims of forced marriage. </a:t>
            </a:r>
          </a:p>
          <a:p>
            <a:pPr lvl="0" algn="just"/>
            <a:r>
              <a:rPr lang="en-US" dirty="0" smtClean="0"/>
              <a:t>The needs of victims of forced marriage includes:-Personal safety, Confidentiality, and Accurate information about rights and choices</a:t>
            </a:r>
          </a:p>
          <a:p>
            <a:pPr algn="just">
              <a:buNone/>
            </a:pPr>
            <a:r>
              <a:rPr lang="en-US" b="1" i="1" dirty="0" smtClean="0"/>
              <a:t>9. Dowry abuse</a:t>
            </a:r>
          </a:p>
          <a:p>
            <a:pPr algn="just">
              <a:buFont typeface="Wingdings" pitchFamily="2" charset="2"/>
              <a:buChar char="Ø"/>
            </a:pPr>
            <a:r>
              <a:rPr lang="en-US" dirty="0" smtClean="0"/>
              <a:t>“A dowry is the money, goods, or estate that a woman brings to her new husband. </a:t>
            </a:r>
          </a:p>
          <a:p>
            <a:pPr algn="just">
              <a:buFont typeface="Wingdings" pitchFamily="2" charset="2"/>
              <a:buChar char="Ø"/>
            </a:pPr>
            <a:r>
              <a:rPr lang="en-US" dirty="0" smtClean="0"/>
              <a:t>Dowry abuse occurs when the husband's family continues to press the wife's family for more money or other gains after the marriage, and  involves physical threats</a:t>
            </a:r>
          </a:p>
          <a:p>
            <a:pPr algn="just">
              <a:buFont typeface="Wingdings" pitchFamily="2" charset="2"/>
              <a:buChar char="Ø"/>
            </a:pPr>
            <a:r>
              <a:rPr lang="en-US" dirty="0" smtClean="0"/>
              <a:t>When the amount of dowry is not considered sufficient or is not forthcoming, the bride is often harassed, abused and made miserable. </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0"/>
            <a:ext cx="8839200" cy="6858000"/>
          </a:xfrm>
        </p:spPr>
        <p:txBody>
          <a:bodyPr>
            <a:normAutofit fontScale="92500" lnSpcReduction="10000"/>
          </a:bodyPr>
          <a:lstStyle/>
          <a:p>
            <a:pPr algn="just">
              <a:buNone/>
            </a:pPr>
            <a:r>
              <a:rPr lang="en-US" b="1" i="1" dirty="0" smtClean="0"/>
              <a:t>10 Trafficking</a:t>
            </a:r>
          </a:p>
          <a:p>
            <a:pPr algn="just">
              <a:buFont typeface="Wingdings" pitchFamily="2" charset="2"/>
              <a:buChar char="Ø"/>
            </a:pPr>
            <a:r>
              <a:rPr lang="en-US" dirty="0" smtClean="0"/>
              <a:t>Human trafficking is the recruitment, transportation, harboring, or receipt of people for the purposes of slavery, forced labor (including bonded labor or debt bondage), and servitude</a:t>
            </a:r>
          </a:p>
          <a:p>
            <a:pPr algn="just">
              <a:buFont typeface="Wingdings" pitchFamily="2" charset="2"/>
              <a:buChar char="Ø"/>
            </a:pPr>
            <a:r>
              <a:rPr lang="en-US" u="sng" dirty="0" smtClean="0">
                <a:hlinkClick r:id="rId2" tooltip="Exploitation"/>
              </a:rPr>
              <a:t>Exploitation</a:t>
            </a:r>
            <a:r>
              <a:rPr lang="en-US" u="sng" dirty="0" smtClean="0"/>
              <a:t> </a:t>
            </a:r>
            <a:r>
              <a:rPr lang="en-US" dirty="0" smtClean="0"/>
              <a:t>includes forcing people into </a:t>
            </a:r>
            <a:r>
              <a:rPr lang="en-US" dirty="0" smtClean="0">
                <a:hlinkClick r:id="rId3" tooltip="Prostitution"/>
              </a:rPr>
              <a:t>prostitution</a:t>
            </a:r>
            <a:r>
              <a:rPr lang="en-US" dirty="0" smtClean="0"/>
              <a:t> or other forms of sexual exploitation, </a:t>
            </a:r>
            <a:r>
              <a:rPr lang="en-US" dirty="0" smtClean="0">
                <a:hlinkClick r:id="rId4" tooltip="Forced labour"/>
              </a:rPr>
              <a:t>forced labor</a:t>
            </a:r>
            <a:r>
              <a:rPr lang="en-US" dirty="0" smtClean="0"/>
              <a:t> or services, </a:t>
            </a:r>
            <a:r>
              <a:rPr lang="en-US" dirty="0" smtClean="0">
                <a:hlinkClick r:id="rId5" tooltip="Slavery"/>
              </a:rPr>
              <a:t>slavery</a:t>
            </a:r>
            <a:r>
              <a:rPr lang="en-US" dirty="0" smtClean="0"/>
              <a:t> or practices similar to slavery, servitude or the </a:t>
            </a:r>
            <a:r>
              <a:rPr lang="en-US" dirty="0" smtClean="0">
                <a:hlinkClick r:id="rId6" tooltip="Organ theft"/>
              </a:rPr>
              <a:t>removal of organs</a:t>
            </a:r>
            <a:endParaRPr lang="en-US" dirty="0" smtClean="0"/>
          </a:p>
          <a:p>
            <a:pPr algn="just">
              <a:buFont typeface="Wingdings" pitchFamily="2" charset="2"/>
              <a:buChar char="Ø"/>
            </a:pPr>
            <a:r>
              <a:rPr lang="en-US" dirty="0" smtClean="0"/>
              <a:t>For children, exploitation may also include forced prostitution, illicit </a:t>
            </a:r>
            <a:r>
              <a:rPr lang="en-US" u="sng" dirty="0" smtClean="0">
                <a:hlinkClick r:id="rId7" tooltip="International adoption"/>
              </a:rPr>
              <a:t>international adoption</a:t>
            </a:r>
            <a:r>
              <a:rPr lang="en-US" dirty="0" smtClean="0"/>
              <a:t>, trafficking for early marriage, or recruitment as </a:t>
            </a:r>
            <a:r>
              <a:rPr lang="en-US" u="sng" dirty="0" smtClean="0">
                <a:hlinkClick r:id="rId8" tooltip="Military use of children"/>
              </a:rPr>
              <a:t>child soldiers</a:t>
            </a:r>
            <a:r>
              <a:rPr lang="en-US" dirty="0" smtClean="0"/>
              <a:t>, </a:t>
            </a:r>
            <a:r>
              <a:rPr lang="en-US" u="sng" dirty="0" smtClean="0">
                <a:hlinkClick r:id="rId9" tooltip="Begging"/>
              </a:rPr>
              <a:t>beggars</a:t>
            </a:r>
            <a:r>
              <a:rPr lang="en-US" dirty="0" smtClean="0"/>
              <a:t>, </a:t>
            </a:r>
          </a:p>
          <a:p>
            <a:pPr algn="just">
              <a:buFont typeface="Wingdings" pitchFamily="2" charset="2"/>
              <a:buChar char="Ø"/>
            </a:pPr>
            <a:r>
              <a:rPr lang="en-US" dirty="0" smtClean="0"/>
              <a:t>Traffickers primarily target women because they are disproportionately affected by poverty and discrimination</a:t>
            </a:r>
          </a:p>
          <a:p>
            <a:pPr algn="just">
              <a:buFont typeface="Wingdings" pitchFamily="2" charset="2"/>
              <a:buChar char="Ø"/>
            </a:pPr>
            <a:r>
              <a:rPr lang="en-US" dirty="0" smtClean="0"/>
              <a:t>In the destination countries, women are subjected to physical violence, sexual assault and rape, battery, imprisonment, threats and other forms of coercion. </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77000"/>
          </a:xfrm>
        </p:spPr>
        <p:txBody>
          <a:bodyPr>
            <a:normAutofit/>
          </a:bodyPr>
          <a:lstStyle/>
          <a:p>
            <a:pPr algn="just"/>
            <a:r>
              <a:rPr lang="en-US" dirty="0" smtClean="0"/>
              <a:t>Prevention of trafficking in women requires examining the factors that contribute to the problem as well as providing education to potential victims </a:t>
            </a:r>
          </a:p>
          <a:p>
            <a:pPr algn="just"/>
            <a:r>
              <a:rPr lang="en-US" dirty="0" smtClean="0"/>
              <a:t>Avoid the factors that increase vulnerability to trafficking, including inequality, poverty and all forms of discrimination and prejudice</a:t>
            </a:r>
          </a:p>
          <a:p>
            <a:pPr algn="just"/>
            <a:r>
              <a:rPr lang="en-US" dirty="0" smtClean="0"/>
              <a:t>Victims of trafficking face a range of needs including physical and mental health care, job training and employment issues, housing issues and, possibly, childcare</a:t>
            </a:r>
          </a:p>
          <a:p>
            <a:pPr algn="just"/>
            <a:r>
              <a:rPr lang="en-US" dirty="0" smtClean="0"/>
              <a:t>The trafficking of women for sexual exploitation is an international, organized, criminal phenomenon that has grave consequences for the safety, welfare and human rights of its victims</a:t>
            </a:r>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normAutofit fontScale="90000"/>
          </a:bodyPr>
          <a:lstStyle/>
          <a:p>
            <a:r>
              <a:rPr lang="en-US" dirty="0" smtClean="0"/>
              <a:t>Chapter Five</a:t>
            </a:r>
            <a:br>
              <a:rPr lang="en-US" dirty="0" smtClean="0"/>
            </a:br>
            <a:r>
              <a:rPr lang="en-US" dirty="0" smtClean="0"/>
              <a:t>Women and Education</a:t>
            </a:r>
            <a:endParaRPr lang="en-US" dirty="0"/>
          </a:p>
        </p:txBody>
      </p:sp>
      <p:sp>
        <p:nvSpPr>
          <p:cNvPr id="3" name="Content Placeholder 2"/>
          <p:cNvSpPr>
            <a:spLocks noGrp="1"/>
          </p:cNvSpPr>
          <p:nvPr>
            <p:ph sz="quarter" idx="1"/>
          </p:nvPr>
        </p:nvSpPr>
        <p:spPr>
          <a:xfrm>
            <a:off x="228600" y="1447800"/>
            <a:ext cx="8763000" cy="5181600"/>
          </a:xfrm>
        </p:spPr>
        <p:txBody>
          <a:bodyPr>
            <a:normAutofit lnSpcReduction="10000"/>
          </a:bodyPr>
          <a:lstStyle/>
          <a:p>
            <a:pPr algn="just"/>
            <a:r>
              <a:rPr lang="en-US" dirty="0" smtClean="0"/>
              <a:t>Education is one of the most important factors that positively affect the life of people who have got access to it and the life of the society and the group they belongs to</a:t>
            </a:r>
          </a:p>
          <a:p>
            <a:pPr algn="just"/>
            <a:r>
              <a:rPr lang="en-US" dirty="0" smtClean="0"/>
              <a:t>Though educ. is </a:t>
            </a:r>
            <a:r>
              <a:rPr lang="en-US" dirty="0" err="1" smtClean="0"/>
              <a:t>i</a:t>
            </a:r>
            <a:r>
              <a:rPr lang="en-US" dirty="0" smtClean="0"/>
              <a:t>/t for all and is recognized as one of the human rights in different international regional and national laws, all people have not got equal chance to exercise the right</a:t>
            </a:r>
          </a:p>
          <a:p>
            <a:pPr algn="just"/>
            <a:r>
              <a:rPr lang="en-US" dirty="0" smtClean="0"/>
              <a:t>There is gender disparity in both enrollment and school completion rate.</a:t>
            </a:r>
          </a:p>
          <a:p>
            <a:pPr algn="just"/>
            <a:r>
              <a:rPr lang="en-US" dirty="0" smtClean="0"/>
              <a:t>The number of out of school female children is higher than the number of male children out of school</a:t>
            </a:r>
            <a:endParaRPr 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228600"/>
            <a:ext cx="8229600" cy="6324600"/>
          </a:xfrm>
        </p:spPr>
        <p:txBody>
          <a:bodyPr>
            <a:normAutofit/>
          </a:bodyPr>
          <a:lstStyle/>
          <a:p>
            <a:pPr algn="just"/>
            <a:r>
              <a:rPr lang="en-US" dirty="0"/>
              <a:t>As indicated in the report of World Bank, world wide for every 100 boys out of school there are 132 girls and in some countries the gender gap is much wider. </a:t>
            </a:r>
            <a:endParaRPr lang="en-US" dirty="0" smtClean="0"/>
          </a:p>
          <a:p>
            <a:pPr algn="just"/>
            <a:r>
              <a:rPr lang="en-US" dirty="0" smtClean="0"/>
              <a:t>In </a:t>
            </a:r>
            <a:r>
              <a:rPr lang="en-US" dirty="0"/>
              <a:t>the same report it is indicated that world wide the primary school completion rate in the year 2005 was 66% for female students and 76% for male students</a:t>
            </a:r>
            <a:r>
              <a:rPr lang="en-US" dirty="0" smtClean="0"/>
              <a:t>.</a:t>
            </a:r>
          </a:p>
          <a:p>
            <a:pPr algn="just"/>
            <a:r>
              <a:rPr lang="en-US" dirty="0"/>
              <a:t>World Bank identified poverty, adverse cultural practice, schooling quality, distance to schools, HIV/AIDS, </a:t>
            </a:r>
            <a:r>
              <a:rPr lang="en-US" dirty="0" smtClean="0"/>
              <a:t>orphan hood, </a:t>
            </a:r>
            <a:r>
              <a:rPr lang="en-US" dirty="0"/>
              <a:t>conflicts, gender based violence, emergencies and other fragile factors that really cause gender disparity in school enrollment and completion</a:t>
            </a:r>
          </a:p>
          <a:p>
            <a:endParaRPr lang="en-US" dirty="0"/>
          </a:p>
          <a:p>
            <a:endParaRPr lang="en-US" dirty="0"/>
          </a:p>
        </p:txBody>
      </p:sp>
    </p:spTree>
    <p:extLst>
      <p:ext uri="{BB962C8B-B14F-4D97-AF65-F5344CB8AC3E}">
        <p14:creationId xmlns:p14="http://schemas.microsoft.com/office/powerpoint/2010/main" val="25543262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324600"/>
          </a:xfrm>
        </p:spPr>
        <p:txBody>
          <a:bodyPr>
            <a:normAutofit/>
          </a:bodyPr>
          <a:lstStyle/>
          <a:p>
            <a:pPr lvl="1" algn="just">
              <a:lnSpc>
                <a:spcPct val="150000"/>
              </a:lnSpc>
              <a:buNone/>
            </a:pPr>
            <a:r>
              <a:rPr lang="en-US" b="1" dirty="0" smtClean="0"/>
              <a:t>The importance of education for women’s life</a:t>
            </a:r>
            <a:endParaRPr lang="en-US" sz="1800" b="1" dirty="0" smtClean="0"/>
          </a:p>
          <a:p>
            <a:pPr lvl="1" algn="just">
              <a:lnSpc>
                <a:spcPct val="150000"/>
              </a:lnSpc>
              <a:buFont typeface="Wingdings" pitchFamily="2" charset="2"/>
              <a:buChar char="Ø"/>
            </a:pPr>
            <a:r>
              <a:rPr lang="en-US" dirty="0" smtClean="0"/>
              <a:t>Educated girls have more life choice and opportunities to participate in community life and decision-making</a:t>
            </a:r>
          </a:p>
          <a:p>
            <a:pPr lvl="1" algn="just">
              <a:lnSpc>
                <a:spcPct val="150000"/>
              </a:lnSpc>
              <a:buFont typeface="Wingdings" pitchFamily="2" charset="2"/>
              <a:buChar char="Ø"/>
            </a:pPr>
            <a:r>
              <a:rPr lang="en-US" dirty="0" smtClean="0"/>
              <a:t>Educated women tend to marry later and have fewer, healthier and better-nourished children </a:t>
            </a:r>
          </a:p>
          <a:p>
            <a:pPr lvl="1" algn="just">
              <a:lnSpc>
                <a:spcPct val="150000"/>
              </a:lnSpc>
              <a:buFont typeface="Wingdings" pitchFamily="2" charset="2"/>
              <a:buChar char="Ø"/>
            </a:pPr>
            <a:r>
              <a:rPr lang="en-US" dirty="0" smtClean="0"/>
              <a:t>Educated women yield the highest return in economic terms and</a:t>
            </a:r>
          </a:p>
          <a:p>
            <a:pPr lvl="1" algn="just">
              <a:lnSpc>
                <a:spcPct val="150000"/>
              </a:lnSpc>
              <a:buFont typeface="Wingdings" pitchFamily="2" charset="2"/>
              <a:buChar char="Ø"/>
            </a:pPr>
            <a:r>
              <a:rPr lang="en-US" dirty="0" smtClean="0"/>
              <a:t>Educated women have more  exposure to information</a:t>
            </a:r>
          </a:p>
          <a:p>
            <a:pPr lvl="1" algn="just">
              <a:lnSpc>
                <a:spcPct val="150000"/>
              </a:lnSpc>
              <a:buFont typeface="Wingdings" pitchFamily="2" charset="2"/>
              <a:buChar char="Ø"/>
            </a:pPr>
            <a:r>
              <a:rPr lang="en-US" dirty="0" smtClean="0"/>
              <a:t>Women with formal schooling resist domestic violence more likely than those illiterates</a:t>
            </a:r>
          </a:p>
          <a:p>
            <a:pPr lvl="1" algn="just">
              <a:lnSpc>
                <a:spcPct val="150000"/>
              </a:lnSpc>
              <a:buFont typeface="Wingdings" pitchFamily="2" charset="2"/>
              <a:buChar char="Ø"/>
            </a:pPr>
            <a:r>
              <a:rPr lang="en-US" dirty="0" smtClean="0"/>
              <a:t>Educated women have greater wage earning opportunity</a:t>
            </a:r>
            <a:endParaRPr lang="en-US" sz="2800" dirty="0" smtClean="0"/>
          </a:p>
          <a:p>
            <a:pPr lvl="1">
              <a:buNone/>
            </a:pPr>
            <a:endParaRPr lang="en-US" b="1" dirty="0"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77000"/>
          </a:xfrm>
        </p:spPr>
        <p:txBody>
          <a:bodyPr>
            <a:normAutofit fontScale="92500"/>
          </a:bodyPr>
          <a:lstStyle/>
          <a:p>
            <a:pPr algn="just">
              <a:lnSpc>
                <a:spcPct val="150000"/>
              </a:lnSpc>
              <a:buNone/>
            </a:pPr>
            <a:r>
              <a:rPr lang="en-US" b="1" dirty="0" smtClean="0"/>
              <a:t>Importance of women education for the society at large</a:t>
            </a:r>
          </a:p>
          <a:p>
            <a:pPr algn="just">
              <a:lnSpc>
                <a:spcPct val="150000"/>
              </a:lnSpc>
              <a:buFont typeface="Wingdings" pitchFamily="2" charset="2"/>
              <a:buChar char="Ø"/>
            </a:pPr>
            <a:r>
              <a:rPr lang="en-US" dirty="0" smtClean="0"/>
              <a:t>Education reduce women’s fertility rates</a:t>
            </a:r>
          </a:p>
          <a:p>
            <a:pPr algn="just">
              <a:lnSpc>
                <a:spcPct val="150000"/>
              </a:lnSpc>
              <a:buFont typeface="Wingdings" pitchFamily="2" charset="2"/>
              <a:buChar char="Ø"/>
            </a:pPr>
            <a:r>
              <a:rPr lang="en-US" dirty="0" smtClean="0"/>
              <a:t>Education of women lowers infant and child mortality rate</a:t>
            </a:r>
          </a:p>
          <a:p>
            <a:pPr algn="just">
              <a:lnSpc>
                <a:spcPct val="150000"/>
              </a:lnSpc>
              <a:buFont typeface="Wingdings" pitchFamily="2" charset="2"/>
              <a:buChar char="Ø"/>
            </a:pPr>
            <a:r>
              <a:rPr lang="en-US" dirty="0" smtClean="0"/>
              <a:t>Girls’ education lowers maternal morality rates</a:t>
            </a:r>
          </a:p>
          <a:p>
            <a:pPr algn="just">
              <a:lnSpc>
                <a:spcPct val="150000"/>
              </a:lnSpc>
              <a:buFont typeface="Wingdings" pitchFamily="2" charset="2"/>
              <a:buChar char="Ø"/>
            </a:pPr>
            <a:r>
              <a:rPr lang="en-US" dirty="0" smtClean="0"/>
              <a:t>Girls’ education reduces vulnerability of girls to HIV</a:t>
            </a:r>
          </a:p>
          <a:p>
            <a:pPr algn="just">
              <a:lnSpc>
                <a:spcPct val="150000"/>
              </a:lnSpc>
              <a:buFont typeface="Wingdings" pitchFamily="2" charset="2"/>
              <a:buChar char="Ø"/>
            </a:pPr>
            <a:r>
              <a:rPr lang="en-US" dirty="0" smtClean="0"/>
              <a:t>Girls’ education increases women labor force participation rates and earning</a:t>
            </a:r>
          </a:p>
          <a:p>
            <a:pPr algn="just">
              <a:lnSpc>
                <a:spcPct val="150000"/>
              </a:lnSpc>
              <a:buFont typeface="Wingdings" pitchFamily="2" charset="2"/>
              <a:buChar char="Ø"/>
            </a:pPr>
            <a:r>
              <a:rPr lang="en-US" dirty="0" smtClean="0"/>
              <a:t>Girls’ education creates intergenerational education benefits</a:t>
            </a:r>
            <a:endParaRPr 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52400"/>
            <a:ext cx="8610600" cy="6324600"/>
          </a:xfrm>
        </p:spPr>
        <p:txBody>
          <a:bodyPr>
            <a:normAutofit lnSpcReduction="10000"/>
          </a:bodyPr>
          <a:lstStyle/>
          <a:p>
            <a:pPr marL="342900" lvl="1" indent="-342900" algn="just">
              <a:lnSpc>
                <a:spcPct val="150000"/>
              </a:lnSpc>
              <a:buNone/>
            </a:pPr>
            <a:r>
              <a:rPr lang="en-US" b="1" dirty="0" smtClean="0"/>
              <a:t>Education and Ethiopian women</a:t>
            </a:r>
          </a:p>
          <a:p>
            <a:pPr marL="342900" lvl="1" indent="-342900" algn="just">
              <a:lnSpc>
                <a:spcPct val="150000"/>
              </a:lnSpc>
              <a:buFont typeface="Wingdings" pitchFamily="2" charset="2"/>
              <a:buChar char="Ø"/>
            </a:pPr>
            <a:r>
              <a:rPr lang="en-US" dirty="0" smtClean="0"/>
              <a:t>Gender inequality in education is high in Ethiopia. </a:t>
            </a:r>
          </a:p>
          <a:p>
            <a:pPr marL="342900" lvl="1" indent="-342900" algn="just">
              <a:lnSpc>
                <a:spcPct val="150000"/>
              </a:lnSpc>
              <a:buFont typeface="Wingdings" pitchFamily="2" charset="2"/>
              <a:buChar char="Ø"/>
            </a:pPr>
            <a:r>
              <a:rPr lang="en-US" dirty="0" smtClean="0"/>
              <a:t>The gender gap between girls and boys in primary and secondary school remained constant at 20%. </a:t>
            </a:r>
          </a:p>
          <a:p>
            <a:pPr marL="342900" lvl="1" indent="-342900" algn="just">
              <a:lnSpc>
                <a:spcPct val="150000"/>
              </a:lnSpc>
              <a:buFont typeface="Wingdings" pitchFamily="2" charset="2"/>
              <a:buChar char="Ø"/>
            </a:pPr>
            <a:r>
              <a:rPr lang="en-US" dirty="0" smtClean="0"/>
              <a:t>Apart from the gender gap, there had also been a higher dropout and repetition rate among girls than boy</a:t>
            </a:r>
          </a:p>
          <a:p>
            <a:pPr marL="342900" lvl="1" indent="-342900" algn="just">
              <a:lnSpc>
                <a:spcPct val="150000"/>
              </a:lnSpc>
              <a:buFont typeface="Wingdings" pitchFamily="2" charset="2"/>
              <a:buChar char="Ø"/>
            </a:pPr>
            <a:r>
              <a:rPr lang="en-US" dirty="0" smtClean="0"/>
              <a:t>CEDAW committee in 2004 indicated the high level of women illiteracy and high rate of dropout and repetition among Ethiopia girls</a:t>
            </a:r>
          </a:p>
          <a:p>
            <a:pPr marL="342900" lvl="1" indent="-342900" algn="just">
              <a:lnSpc>
                <a:spcPct val="150000"/>
              </a:lnSpc>
              <a:buFont typeface="Wingdings" pitchFamily="2" charset="2"/>
              <a:buChar char="Ø"/>
            </a:pPr>
            <a:r>
              <a:rPr lang="en-US" dirty="0" smtClean="0"/>
              <a:t>Currently there is a growth in girls’ enrollment both in primary and secondary schools though there is still a gap between boys and girls and women and men in the field of education</a:t>
            </a:r>
          </a:p>
          <a:p>
            <a:pPr>
              <a:buNone/>
            </a:pPr>
            <a:endParaRPr 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77000"/>
          </a:xfrm>
        </p:spPr>
        <p:txBody>
          <a:bodyPr>
            <a:normAutofit fontScale="92500" lnSpcReduction="10000"/>
          </a:bodyPr>
          <a:lstStyle/>
          <a:p>
            <a:pPr algn="just"/>
            <a:r>
              <a:rPr lang="en-US" dirty="0" smtClean="0"/>
              <a:t>Cultural, social, political and economic factors contribute to under participation and under achievement of women in education</a:t>
            </a:r>
          </a:p>
          <a:p>
            <a:pPr algn="just">
              <a:buNone/>
            </a:pPr>
            <a:r>
              <a:rPr lang="en-US" dirty="0" smtClean="0"/>
              <a:t>1. Strong bias against investment in female education in rural Ethiopia </a:t>
            </a:r>
          </a:p>
          <a:p>
            <a:pPr algn="just">
              <a:buFont typeface="Wingdings" pitchFamily="2" charset="2"/>
              <a:buChar char="Ø"/>
            </a:pPr>
            <a:r>
              <a:rPr lang="en-US" dirty="0" smtClean="0"/>
              <a:t>most cultures highly valued girls’ contribution to household tasks and family livelihood</a:t>
            </a:r>
          </a:p>
          <a:p>
            <a:pPr algn="just">
              <a:buFont typeface="Wingdings" pitchFamily="2" charset="2"/>
              <a:buChar char="Ø"/>
            </a:pPr>
            <a:r>
              <a:rPr lang="en-US" dirty="0" smtClean="0"/>
              <a:t>there is a belief that females are less competent than males and that education is wastage on them</a:t>
            </a:r>
          </a:p>
          <a:p>
            <a:pPr algn="just">
              <a:buNone/>
            </a:pPr>
            <a:r>
              <a:rPr lang="en-US" dirty="0" smtClean="0"/>
              <a:t>2. the distance of the nearest school from the homestead especially in the rural areas and parents are not willing them to send far places for fear of abduction </a:t>
            </a:r>
          </a:p>
          <a:p>
            <a:pPr algn="just">
              <a:buNone/>
            </a:pPr>
            <a:r>
              <a:rPr lang="en-US" dirty="0" smtClean="0"/>
              <a:t>3. Forced and early marriage</a:t>
            </a:r>
          </a:p>
          <a:p>
            <a:pPr algn="just">
              <a:buNone/>
            </a:pPr>
            <a:r>
              <a:rPr lang="en-US" dirty="0" smtClean="0"/>
              <a:t>4. Rape and abduction</a:t>
            </a:r>
          </a:p>
          <a:p>
            <a:pPr algn="just">
              <a:buNone/>
            </a:pPr>
            <a:r>
              <a:rPr lang="en-US" dirty="0" smtClean="0"/>
              <a:t>5. teenage pregnancy, child labor, parental sex preference, harassment, discrimination rate and  inadequate treatment of girls in school </a:t>
            </a:r>
            <a:endParaRPr 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fontScale="92500" lnSpcReduction="10000"/>
          </a:bodyPr>
          <a:lstStyle/>
          <a:p>
            <a:pPr marL="457200" lvl="1" indent="0" algn="just">
              <a:lnSpc>
                <a:spcPct val="150000"/>
              </a:lnSpc>
              <a:buNone/>
            </a:pPr>
            <a:r>
              <a:rPr lang="en-US" b="1" dirty="0"/>
              <a:t>Is Education Right or Privilege? </a:t>
            </a:r>
            <a:endParaRPr lang="en-US" sz="1800" dirty="0"/>
          </a:p>
          <a:p>
            <a:pPr algn="just">
              <a:lnSpc>
                <a:spcPct val="150000"/>
              </a:lnSpc>
            </a:pPr>
            <a:r>
              <a:rPr lang="en-US" dirty="0"/>
              <a:t>The notion that “elementary education is a fundamental right” is not accepted by all, at least not wholeheartedly</a:t>
            </a:r>
            <a:r>
              <a:rPr lang="en-US" dirty="0" smtClean="0"/>
              <a:t>.</a:t>
            </a:r>
          </a:p>
          <a:p>
            <a:pPr algn="just">
              <a:lnSpc>
                <a:spcPct val="150000"/>
              </a:lnSpc>
            </a:pPr>
            <a:r>
              <a:rPr lang="en-US" dirty="0" smtClean="0"/>
              <a:t> </a:t>
            </a:r>
            <a:r>
              <a:rPr lang="en-US" dirty="0"/>
              <a:t>Some even perceive the universalization of education as a threat to the opportunities of their own children. </a:t>
            </a:r>
            <a:endParaRPr lang="en-US" dirty="0" smtClean="0"/>
          </a:p>
          <a:p>
            <a:pPr algn="just">
              <a:lnSpc>
                <a:spcPct val="150000"/>
              </a:lnSpc>
            </a:pPr>
            <a:r>
              <a:rPr lang="en-US" dirty="0" smtClean="0"/>
              <a:t>In </a:t>
            </a:r>
            <a:r>
              <a:rPr lang="en-US" dirty="0"/>
              <a:t>their view, the role of the schooling system is to act as a "filtering process", which picks the best and the brightest and helps them to realize their potential. </a:t>
            </a:r>
            <a:endParaRPr lang="en-US" dirty="0" smtClean="0"/>
          </a:p>
          <a:p>
            <a:pPr algn="just">
              <a:lnSpc>
                <a:spcPct val="150000"/>
              </a:lnSpc>
            </a:pPr>
            <a:r>
              <a:rPr lang="en-US" dirty="0" smtClean="0"/>
              <a:t>If </a:t>
            </a:r>
            <a:r>
              <a:rPr lang="en-US" dirty="0"/>
              <a:t>too many children get on board, the prospects of those who currently enjoy the privilege of good schooling facilities will be threatened</a:t>
            </a:r>
          </a:p>
          <a:p>
            <a:endParaRPr lang="en-US" dirty="0"/>
          </a:p>
        </p:txBody>
      </p:sp>
    </p:spTree>
    <p:extLst>
      <p:ext uri="{BB962C8B-B14F-4D97-AF65-F5344CB8AC3E}">
        <p14:creationId xmlns:p14="http://schemas.microsoft.com/office/powerpoint/2010/main" val="205705509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77000"/>
          </a:xfrm>
        </p:spPr>
        <p:txBody>
          <a:bodyPr>
            <a:normAutofit fontScale="92500" lnSpcReduction="10000"/>
          </a:bodyPr>
          <a:lstStyle/>
          <a:p>
            <a:pPr marL="342900" lvl="1" indent="-342900" algn="just">
              <a:buNone/>
            </a:pPr>
            <a:r>
              <a:rPr lang="en-US" b="1" dirty="0" smtClean="0"/>
              <a:t>Education as a Human Right </a:t>
            </a:r>
          </a:p>
          <a:p>
            <a:pPr marL="342900" lvl="1" indent="-342900" algn="just">
              <a:buFont typeface="Wingdings" pitchFamily="2" charset="2"/>
              <a:buChar char="Ø"/>
            </a:pPr>
            <a:r>
              <a:rPr lang="en-US" sz="2400" dirty="0" smtClean="0"/>
              <a:t>Its recognition in d/f h/r instrument  as a human right is de­rived from the indispensability of education to the preservation and enhancement of the inherent dignity of the human person</a:t>
            </a:r>
          </a:p>
          <a:p>
            <a:pPr marL="342900" lvl="1" indent="-342900" algn="just">
              <a:buAutoNum type="arabicPeriod"/>
            </a:pPr>
            <a:r>
              <a:rPr lang="en-US" sz="2400" b="1" dirty="0" smtClean="0"/>
              <a:t>The UDHR- </a:t>
            </a:r>
            <a:r>
              <a:rPr lang="en-US" sz="2400" dirty="0" smtClean="0"/>
              <a:t>under Article20, "</a:t>
            </a:r>
            <a:r>
              <a:rPr lang="en-US" sz="2400" i="1" dirty="0" smtClean="0"/>
              <a:t>Everyone has the right to education</a:t>
            </a:r>
          </a:p>
          <a:p>
            <a:pPr marL="342900" lvl="1" indent="-342900" algn="just">
              <a:buFont typeface="Wingdings" pitchFamily="2" charset="2"/>
              <a:buChar char="Ø"/>
            </a:pPr>
            <a:r>
              <a:rPr lang="en-US" sz="2400" dirty="0" smtClean="0"/>
              <a:t>it shall be free, at least in the elementary and fundamental stages</a:t>
            </a:r>
          </a:p>
          <a:p>
            <a:pPr marL="342900" lvl="1" indent="-342900" algn="just">
              <a:buFont typeface="Wingdings" pitchFamily="2" charset="2"/>
              <a:buChar char="Ø"/>
            </a:pPr>
            <a:r>
              <a:rPr lang="en-US" sz="2400" dirty="0" smtClean="0"/>
              <a:t>Elementary education shall be compulsory</a:t>
            </a:r>
          </a:p>
          <a:p>
            <a:pPr marL="342900" lvl="1" indent="-342900" algn="just">
              <a:buFont typeface="Wingdings" pitchFamily="2" charset="2"/>
              <a:buChar char="Ø"/>
            </a:pPr>
            <a:r>
              <a:rPr lang="en-US" sz="2400" dirty="0" smtClean="0"/>
              <a:t>Higher education shall be equally accessible to all on the basis of merit</a:t>
            </a:r>
          </a:p>
          <a:p>
            <a:pPr marL="342900" lvl="1" indent="-342900" algn="just">
              <a:buNone/>
            </a:pPr>
            <a:r>
              <a:rPr lang="en-US" sz="2400" i="1" dirty="0" smtClean="0"/>
              <a:t>2. </a:t>
            </a:r>
            <a:r>
              <a:rPr lang="en-US" sz="2400" b="1" dirty="0" smtClean="0"/>
              <a:t>The ICESCR – Art. 13 </a:t>
            </a:r>
            <a:r>
              <a:rPr lang="en-US" sz="2400" dirty="0" smtClean="0"/>
              <a:t>everyone has the right to education and that educ. should contribute to the full dev’t of the human personality</a:t>
            </a:r>
          </a:p>
          <a:p>
            <a:pPr marL="342900" lvl="1" indent="-342900" algn="just">
              <a:buFont typeface="Wingdings" pitchFamily="2" charset="2"/>
              <a:buChar char="Ø"/>
            </a:pPr>
            <a:r>
              <a:rPr lang="en-US" sz="2400" dirty="0" smtClean="0"/>
              <a:t>Primary education shall be compulsory and available free to all</a:t>
            </a:r>
          </a:p>
          <a:p>
            <a:pPr marL="342900" lvl="1" indent="-342900" algn="just">
              <a:buFont typeface="Wingdings" pitchFamily="2" charset="2"/>
              <a:buChar char="Ø"/>
            </a:pPr>
            <a:r>
              <a:rPr lang="en-US" sz="2400" dirty="0" smtClean="0"/>
              <a:t>Secondary education, including technical and vocational education, shall be made generally available and accessible to all by every appropriate means, in particular by the progressive introduction of free education</a:t>
            </a:r>
          </a:p>
          <a:p>
            <a:pPr marL="342900" lvl="1" indent="-342900">
              <a:buFont typeface="Wingdings" pitchFamily="2" charset="2"/>
              <a:buChar char="Ø"/>
            </a:pPr>
            <a:endParaRPr lang="en-US" sz="1800" dirty="0" smtClean="0"/>
          </a:p>
          <a:p>
            <a:pPr marL="342900" lvl="1" indent="-342900">
              <a:buNone/>
            </a:pPr>
            <a:endParaRPr lang="en-US" sz="1800" i="1" dirty="0" smtClean="0"/>
          </a:p>
          <a:p>
            <a:pPr marL="342900" lvl="1" indent="-342900">
              <a:buAutoNum type="arabicPeriod"/>
            </a:pPr>
            <a:endParaRPr lang="en-US" sz="1800" i="1" dirty="0" smtClean="0"/>
          </a:p>
          <a:p>
            <a:pPr marL="342900" lvl="1" indent="-342900">
              <a:buNone/>
            </a:pPr>
            <a:endParaRPr lang="en-US" sz="1800" dirty="0" smtClean="0"/>
          </a:p>
          <a:p>
            <a:pPr marL="342900" lvl="1" indent="-342900">
              <a:buNone/>
            </a:pPr>
            <a:endParaRPr lang="en-US" sz="1800" dirty="0" smtClean="0"/>
          </a:p>
          <a:p>
            <a:pPr marL="342900" lvl="1" indent="-342900">
              <a:buFont typeface="Wingdings" pitchFamily="2" charset="2"/>
              <a:buChar char="Ø"/>
            </a:pPr>
            <a:endParaRPr lang="en-US" sz="1800" dirty="0" smtClean="0"/>
          </a:p>
          <a:p>
            <a:endParaRPr 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00800"/>
          </a:xfrm>
        </p:spPr>
        <p:txBody>
          <a:bodyPr>
            <a:normAutofit fontScale="92500" lnSpcReduction="20000"/>
          </a:bodyPr>
          <a:lstStyle/>
          <a:p>
            <a:pPr algn="just">
              <a:buNone/>
            </a:pPr>
            <a:r>
              <a:rPr lang="en-US" b="1" dirty="0" smtClean="0"/>
              <a:t>CRC- </a:t>
            </a:r>
            <a:r>
              <a:rPr lang="en-US" sz="3000" dirty="0" smtClean="0"/>
              <a:t>Articles 28 and 29 of the CRC deal with the right of the child to education</a:t>
            </a:r>
          </a:p>
          <a:p>
            <a:pPr algn="just">
              <a:buFont typeface="Wingdings" pitchFamily="2" charset="2"/>
              <a:buChar char="Ø"/>
            </a:pPr>
            <a:r>
              <a:rPr lang="en-US" sz="3000" dirty="0" smtClean="0"/>
              <a:t>Article 28 is similar to the provisions contained in ICESCR</a:t>
            </a:r>
          </a:p>
          <a:p>
            <a:pPr algn="just">
              <a:buFont typeface="Wingdings" pitchFamily="2" charset="2"/>
              <a:buChar char="Ø"/>
            </a:pPr>
            <a:r>
              <a:rPr lang="en-US" sz="3000" dirty="0" smtClean="0"/>
              <a:t>Article 29 stipulates that the education of the child shall be directed towards the development of the child’s personality, talents, and mental and physical abilities to their fullest potential</a:t>
            </a:r>
          </a:p>
          <a:p>
            <a:pPr algn="just">
              <a:buFont typeface="Wingdings" pitchFamily="2" charset="2"/>
              <a:buChar char="Ø"/>
            </a:pPr>
            <a:r>
              <a:rPr lang="en-US" sz="3000" dirty="0" smtClean="0"/>
              <a:t>Recognizes the right of the family to chose the type of education and to control their child education </a:t>
            </a:r>
          </a:p>
          <a:p>
            <a:pPr marL="342900" lvl="3" indent="-342900" algn="just">
              <a:buNone/>
            </a:pPr>
            <a:r>
              <a:rPr lang="en-US" sz="2800" b="1" dirty="0" smtClean="0"/>
              <a:t>UNESCO Convention against Discrimination in Education</a:t>
            </a:r>
          </a:p>
          <a:p>
            <a:pPr marL="342900" lvl="3" indent="-342900" algn="just">
              <a:buFont typeface="Wingdings" pitchFamily="2" charset="2"/>
              <a:buChar char="Ø"/>
            </a:pPr>
            <a:r>
              <a:rPr lang="en-US" sz="2800" dirty="0" smtClean="0"/>
              <a:t>parties must undertake to formulate, develop and apply a national policy which will tend to promote equality of opportunity and treatment, and, in particular, to make primary education free and compulsory</a:t>
            </a:r>
          </a:p>
          <a:p>
            <a:pPr>
              <a:buNone/>
            </a:pP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0"/>
            <a:ext cx="8763000" cy="6629400"/>
          </a:xfrm>
        </p:spPr>
        <p:txBody>
          <a:bodyPr>
            <a:normAutofit fontScale="92500" lnSpcReduction="20000"/>
          </a:bodyPr>
          <a:lstStyle/>
          <a:p>
            <a:pPr algn="just">
              <a:buNone/>
            </a:pPr>
            <a:r>
              <a:rPr lang="en-US" b="1" dirty="0" smtClean="0"/>
              <a:t>CEDAW-</a:t>
            </a:r>
            <a:r>
              <a:rPr lang="en-US" dirty="0" smtClean="0"/>
              <a:t>Article 10 of CEDAW also contains provisions dealing with the right to education</a:t>
            </a:r>
          </a:p>
          <a:p>
            <a:pPr algn="just">
              <a:buFont typeface="Wingdings" pitchFamily="2" charset="2"/>
              <a:buChar char="Ø"/>
            </a:pPr>
            <a:r>
              <a:rPr lang="en-US" dirty="0" smtClean="0"/>
              <a:t>  equal access to career and vocational guidance and to studies at all educational levels;</a:t>
            </a:r>
          </a:p>
          <a:p>
            <a:pPr algn="just">
              <a:buFont typeface="Wingdings" pitchFamily="2" charset="2"/>
              <a:buChar char="Ø"/>
            </a:pPr>
            <a:r>
              <a:rPr lang="en-US" dirty="0" smtClean="0"/>
              <a:t>Access to the same curricula and examinations;</a:t>
            </a:r>
          </a:p>
          <a:p>
            <a:pPr algn="just">
              <a:buFont typeface="Wingdings" pitchFamily="2" charset="2"/>
              <a:buChar char="Ø"/>
            </a:pPr>
            <a:r>
              <a:rPr lang="en-US" dirty="0" smtClean="0"/>
              <a:t>elimination of stereotyping in the roles of women and men; and the same opportunities to benefit from academic scholarships</a:t>
            </a:r>
          </a:p>
          <a:p>
            <a:pPr marL="342900" lvl="2" indent="-342900" algn="just">
              <a:buNone/>
            </a:pPr>
            <a:r>
              <a:rPr lang="en-US" sz="3300" b="1" dirty="0" smtClean="0"/>
              <a:t>Regional instruments</a:t>
            </a:r>
            <a:endParaRPr lang="en-US" sz="3300" dirty="0" smtClean="0"/>
          </a:p>
          <a:p>
            <a:pPr algn="just">
              <a:buNone/>
            </a:pPr>
            <a:r>
              <a:rPr lang="en-US" dirty="0" smtClean="0"/>
              <a:t>-ACHPR (article 17), ACRWC recognize the right to education </a:t>
            </a:r>
          </a:p>
          <a:p>
            <a:pPr algn="just">
              <a:buNone/>
            </a:pPr>
            <a:r>
              <a:rPr lang="en-US" b="1" dirty="0" smtClean="0"/>
              <a:t>FDRE Constitution:-  </a:t>
            </a:r>
            <a:r>
              <a:rPr lang="en-US" dirty="0" smtClean="0"/>
              <a:t>Article 41(3)  guarantees the right of Ethiopian nationals to have access to publicly funded social service which among others includes access to education</a:t>
            </a:r>
          </a:p>
          <a:p>
            <a:pPr algn="just">
              <a:buFont typeface="Wingdings" pitchFamily="2" charset="2"/>
              <a:buChar char="Ø"/>
            </a:pPr>
            <a:r>
              <a:rPr lang="en-US" dirty="0" smtClean="0"/>
              <a:t>43(4) imposes obligation on the gov’t to provide public education by allocating ever increasing resource </a:t>
            </a:r>
          </a:p>
          <a:p>
            <a:pPr algn="just">
              <a:buFont typeface="Wingdings" pitchFamily="2" charset="2"/>
              <a:buChar char="Ø"/>
            </a:pPr>
            <a:r>
              <a:rPr lang="en-US" dirty="0" smtClean="0"/>
              <a:t>It prohibited people from requiring or/and permitting children to do work which has hazardous or harmful effect on their education under Article 36(1) d</a:t>
            </a:r>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839200" cy="6477000"/>
          </a:xfrm>
        </p:spPr>
        <p:txBody>
          <a:bodyPr>
            <a:normAutofit fontScale="92500"/>
          </a:bodyPr>
          <a:lstStyle/>
          <a:p>
            <a:pPr algn="just">
              <a:buNone/>
            </a:pPr>
            <a:r>
              <a:rPr lang="en-US" b="1" dirty="0" smtClean="0"/>
              <a:t>Content of the Right to Education and State Obligations</a:t>
            </a:r>
          </a:p>
          <a:p>
            <a:pPr algn="just">
              <a:buFont typeface="Wingdings" pitchFamily="2" charset="2"/>
              <a:buChar char="Ø"/>
            </a:pPr>
            <a:r>
              <a:rPr lang="en-US" dirty="0" smtClean="0"/>
              <a:t>the right to education encompass two broad components</a:t>
            </a:r>
          </a:p>
          <a:p>
            <a:pPr marL="514350" indent="-514350" algn="just">
              <a:buAutoNum type="arabicPeriod"/>
            </a:pPr>
            <a:r>
              <a:rPr lang="en-US" dirty="0" smtClean="0"/>
              <a:t>enhancement of access of all to education on the basis of equality and nondiscrimination</a:t>
            </a:r>
          </a:p>
          <a:p>
            <a:pPr marL="514350" indent="-514350" algn="just">
              <a:buAutoNum type="arabicPeriod"/>
            </a:pPr>
            <a:r>
              <a:rPr lang="en-US" dirty="0" smtClean="0"/>
              <a:t>freedom to choose the kind (public/private institutions) and content (religious and moral) of education</a:t>
            </a:r>
          </a:p>
          <a:p>
            <a:pPr marL="514350" indent="-514350" algn="just">
              <a:buNone/>
            </a:pPr>
            <a:r>
              <a:rPr lang="en-US" dirty="0" smtClean="0"/>
              <a:t>Four core elements </a:t>
            </a:r>
          </a:p>
          <a:p>
            <a:pPr marL="514350" indent="-514350" algn="just">
              <a:buAutoNum type="arabicPeriod"/>
            </a:pPr>
            <a:r>
              <a:rPr lang="en-US" dirty="0" smtClean="0"/>
              <a:t>Equal enjoyment of, and equal access to, educational opportunities and facilities;</a:t>
            </a:r>
          </a:p>
          <a:p>
            <a:pPr marL="514350" indent="-514350" algn="just">
              <a:buAutoNum type="arabicPeriod"/>
            </a:pPr>
            <a:r>
              <a:rPr lang="en-US" dirty="0" smtClean="0"/>
              <a:t> Compulsory and free primary education;</a:t>
            </a:r>
          </a:p>
          <a:p>
            <a:pPr marL="514350" indent="-514350" algn="just">
              <a:buAutoNum type="arabicPeriod"/>
            </a:pPr>
            <a:r>
              <a:rPr lang="en-US" dirty="0" smtClean="0"/>
              <a:t> Generally available and accessible secondary education and equally accessible higher education and</a:t>
            </a:r>
          </a:p>
          <a:p>
            <a:pPr marL="514350" indent="-514350" algn="just">
              <a:buAutoNum type="arabicPeriod"/>
            </a:pPr>
            <a:r>
              <a:rPr lang="en-US" dirty="0" smtClean="0"/>
              <a:t>Freedom of choice in education, and freedom to establish private institutions</a:t>
            </a:r>
          </a:p>
          <a:p>
            <a:pPr marL="514350" indent="-514350">
              <a:buNone/>
            </a:pPr>
            <a:endParaRPr 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763000" cy="6477000"/>
          </a:xfrm>
        </p:spPr>
        <p:txBody>
          <a:bodyPr>
            <a:normAutofit fontScale="92500" lnSpcReduction="10000"/>
          </a:bodyPr>
          <a:lstStyle/>
          <a:p>
            <a:pPr algn="just"/>
            <a:r>
              <a:rPr lang="en-US" dirty="0" smtClean="0"/>
              <a:t>The CESCR, in its General Comment 13 identifies four elements of the state’s obligations with respect to the right to education</a:t>
            </a:r>
          </a:p>
          <a:p>
            <a:pPr marL="514350" indent="-514350" algn="just">
              <a:buAutoNum type="arabicPeriod"/>
            </a:pPr>
            <a:r>
              <a:rPr lang="en-US" b="1" dirty="0" smtClean="0"/>
              <a:t>Availability</a:t>
            </a:r>
          </a:p>
          <a:p>
            <a:pPr marL="514350" indent="-514350" algn="just">
              <a:buAutoNum type="arabicPeriod"/>
            </a:pPr>
            <a:r>
              <a:rPr lang="en-US" b="1" dirty="0" smtClean="0"/>
              <a:t>Accessibility: </a:t>
            </a:r>
            <a:r>
              <a:rPr lang="en-US" dirty="0" smtClean="0"/>
              <a:t>for all w/o discrimination </a:t>
            </a:r>
          </a:p>
          <a:p>
            <a:pPr marL="514350" indent="-514350" algn="just">
              <a:buAutoNum type="arabicPeriod"/>
            </a:pPr>
            <a:r>
              <a:rPr lang="en-US" b="1" dirty="0" smtClean="0"/>
              <a:t>Acceptability:- </a:t>
            </a:r>
            <a:r>
              <a:rPr lang="en-US" dirty="0" smtClean="0"/>
              <a:t>all schools conform to the minimum criteria which it has developed as well as ascertaining that education is acceptable both to parents and to children</a:t>
            </a:r>
          </a:p>
          <a:p>
            <a:pPr marL="514350" indent="-514350" algn="just">
              <a:buFont typeface="Wingdings" pitchFamily="2" charset="2"/>
              <a:buChar char="Ø"/>
            </a:pPr>
            <a:r>
              <a:rPr lang="en-US" dirty="0" smtClean="0"/>
              <a:t>the right to choose the type of education received, and the right to establish, maintain, manage and control private educational establishments</a:t>
            </a:r>
          </a:p>
          <a:p>
            <a:pPr marL="514350" indent="-514350" algn="just">
              <a:buFont typeface="Wingdings" pitchFamily="2" charset="2"/>
              <a:buChar char="Ø"/>
            </a:pPr>
            <a:r>
              <a:rPr lang="en-US" dirty="0" smtClean="0"/>
              <a:t>acceptability relates to the child-friendly nature of the schools</a:t>
            </a:r>
          </a:p>
          <a:p>
            <a:pPr marL="514350" indent="-514350" algn="just">
              <a:buNone/>
            </a:pPr>
            <a:r>
              <a:rPr lang="en-US" dirty="0" smtClean="0"/>
              <a:t>4. </a:t>
            </a:r>
            <a:r>
              <a:rPr lang="en-US" b="1" dirty="0" smtClean="0"/>
              <a:t>Adaptability:- </a:t>
            </a:r>
            <a:r>
              <a:rPr lang="en-US" dirty="0" smtClean="0"/>
              <a:t>the education system should remain adaptable, taking into account the best interests of the child</a:t>
            </a:r>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0"/>
            <a:ext cx="8763000" cy="6629400"/>
          </a:xfrm>
        </p:spPr>
        <p:txBody>
          <a:bodyPr>
            <a:normAutofit fontScale="92500"/>
          </a:bodyPr>
          <a:lstStyle/>
          <a:p>
            <a:pPr algn="just">
              <a:buNone/>
            </a:pPr>
            <a:r>
              <a:rPr lang="en-US" b="1" dirty="0" smtClean="0"/>
              <a:t>Gender Based Discrimination in Education </a:t>
            </a:r>
          </a:p>
          <a:p>
            <a:pPr algn="just">
              <a:buFont typeface="Wingdings" pitchFamily="2" charset="2"/>
              <a:buChar char="Ø"/>
            </a:pPr>
            <a:r>
              <a:rPr lang="en-US" dirty="0" smtClean="0"/>
              <a:t>the low level of women enrollment in education and school completion rate mainly relate to the distinction made on the basis of sex </a:t>
            </a:r>
          </a:p>
          <a:p>
            <a:pPr algn="just">
              <a:buFont typeface="Wingdings" pitchFamily="2" charset="2"/>
              <a:buChar char="Ø"/>
            </a:pPr>
            <a:r>
              <a:rPr lang="en-US" dirty="0" smtClean="0"/>
              <a:t> this has hazardous effect on the enjoyment of one of the human rights, right to education, by women</a:t>
            </a:r>
          </a:p>
          <a:p>
            <a:pPr algn="just">
              <a:buFont typeface="Wingdings" pitchFamily="2" charset="2"/>
              <a:buChar char="Ø"/>
            </a:pPr>
            <a:r>
              <a:rPr lang="en-US" dirty="0" smtClean="0"/>
              <a:t>the existing gender gap between female and male enrollment in education and school completion rate amounts to discrimination on the ground of gender as defined under Article 1of CEDAW</a:t>
            </a:r>
          </a:p>
          <a:p>
            <a:pPr algn="just">
              <a:buNone/>
            </a:pPr>
            <a:r>
              <a:rPr lang="en-US" b="1" dirty="0" smtClean="0"/>
              <a:t>Addressing Discrimination in Education </a:t>
            </a:r>
          </a:p>
          <a:p>
            <a:pPr algn="just">
              <a:buNone/>
            </a:pPr>
            <a:r>
              <a:rPr lang="en-US" dirty="0" smtClean="0"/>
              <a:t>CEDAW provided for </a:t>
            </a:r>
            <a:r>
              <a:rPr lang="en-US" b="1" dirty="0" smtClean="0"/>
              <a:t>temporary special measures </a:t>
            </a:r>
            <a:r>
              <a:rPr lang="en-US" dirty="0" smtClean="0"/>
              <a:t>that refer to programs, polices, and laws that place them in a situation of comparative advantage to men for a limited period, with the aim of achieving substantive equality between the two sexes in the long term</a:t>
            </a:r>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00800"/>
          </a:xfrm>
        </p:spPr>
        <p:txBody>
          <a:bodyPr>
            <a:normAutofit/>
          </a:bodyPr>
          <a:lstStyle/>
          <a:p>
            <a:pPr algn="just"/>
            <a:r>
              <a:rPr lang="en-US" dirty="0" smtClean="0"/>
              <a:t>Adoption by states parties of temporary special measures aimed at accelerating </a:t>
            </a:r>
            <a:r>
              <a:rPr lang="en-US" b="1" i="1" dirty="0" smtClean="0"/>
              <a:t>de facto</a:t>
            </a:r>
            <a:r>
              <a:rPr lang="en-US" dirty="0" smtClean="0"/>
              <a:t> equality between men and women shall not be considered discrimination (Art. 4(1)</a:t>
            </a:r>
          </a:p>
          <a:p>
            <a:pPr algn="just"/>
            <a:r>
              <a:rPr lang="en-US" dirty="0" smtClean="0"/>
              <a:t>As it aimed to accelerate de facto equality, temporary special measures may depart from </a:t>
            </a:r>
            <a:r>
              <a:rPr lang="en-US" dirty="0" smtClean="0">
                <a:solidFill>
                  <a:srgbClr val="FF0000"/>
                </a:solidFill>
              </a:rPr>
              <a:t>formal equality </a:t>
            </a:r>
            <a:r>
              <a:rPr lang="en-US" dirty="0" smtClean="0"/>
              <a:t>in order to achieve </a:t>
            </a:r>
            <a:r>
              <a:rPr lang="en-US" dirty="0" smtClean="0">
                <a:solidFill>
                  <a:srgbClr val="FF0000"/>
                </a:solidFill>
              </a:rPr>
              <a:t>substantive equality </a:t>
            </a:r>
            <a:r>
              <a:rPr lang="en-US" dirty="0" smtClean="0"/>
              <a:t>between men and women</a:t>
            </a:r>
          </a:p>
          <a:p>
            <a:pPr algn="just"/>
            <a:r>
              <a:rPr lang="en-US" dirty="0" smtClean="0"/>
              <a:t>these measures shall be discontinued when the objective of equality of opportunity and treatment have been achieved</a:t>
            </a:r>
          </a:p>
          <a:p>
            <a:pPr algn="just"/>
            <a:r>
              <a:rPr lang="en-US" dirty="0" smtClean="0"/>
              <a:t>states signatory to CEDAW including Ethiopia are duty bound to take temporary special measures in order to end gender based discrimination in education</a:t>
            </a:r>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248400"/>
          </a:xfrm>
        </p:spPr>
        <p:txBody>
          <a:bodyPr>
            <a:normAutofit fontScale="92500" lnSpcReduction="10000"/>
          </a:bodyPr>
          <a:lstStyle/>
          <a:p>
            <a:pPr algn="just">
              <a:buNone/>
            </a:pPr>
            <a:r>
              <a:rPr lang="en-US" b="1" dirty="0" smtClean="0"/>
              <a:t>Justification for temporary special measures </a:t>
            </a:r>
          </a:p>
          <a:p>
            <a:pPr lvl="0" algn="just">
              <a:buNone/>
            </a:pPr>
            <a:r>
              <a:rPr lang="en-US" b="1" dirty="0" smtClean="0"/>
              <a:t>1. On the ground of compensatory justice:- </a:t>
            </a:r>
            <a:r>
              <a:rPr lang="en-US" dirty="0" smtClean="0"/>
              <a:t>seeks to make up for past harms and disadvantages women suffered as a group</a:t>
            </a:r>
          </a:p>
          <a:p>
            <a:pPr lvl="0" algn="just">
              <a:buNone/>
            </a:pPr>
            <a:r>
              <a:rPr lang="en-US" dirty="0" smtClean="0"/>
              <a:t>2.</a:t>
            </a:r>
            <a:r>
              <a:rPr lang="en-US" b="1" dirty="0" smtClean="0"/>
              <a:t> On the ground of distributive justice:- </a:t>
            </a:r>
            <a:r>
              <a:rPr lang="en-US" dirty="0" smtClean="0"/>
              <a:t> is a forward-looking justification, oriented towards correcting current imbalances between women and men with respect to their access to the elements of a ‘humane life</a:t>
            </a:r>
          </a:p>
          <a:p>
            <a:pPr algn="just">
              <a:buNone/>
            </a:pPr>
            <a:r>
              <a:rPr lang="en-US" dirty="0" smtClean="0"/>
              <a:t>3. </a:t>
            </a:r>
            <a:r>
              <a:rPr lang="en-US" b="1" dirty="0" smtClean="0"/>
              <a:t>On the ground of Social utility:- </a:t>
            </a:r>
            <a:r>
              <a:rPr lang="en-US" dirty="0" smtClean="0"/>
              <a:t>focuses on (</a:t>
            </a:r>
            <a:r>
              <a:rPr lang="en-US" dirty="0" err="1" smtClean="0"/>
              <a:t>i</a:t>
            </a:r>
            <a:r>
              <a:rPr lang="en-US" dirty="0" smtClean="0"/>
              <a:t>) mobilizing the economic and social potential of women for the common good of society, and (ii) encouraging and facilitating the social transformation and the promotion of diversity</a:t>
            </a:r>
          </a:p>
          <a:p>
            <a:pPr lvl="0" algn="just">
              <a:buNone/>
            </a:pPr>
            <a:r>
              <a:rPr lang="en-US" dirty="0" smtClean="0"/>
              <a:t>4. </a:t>
            </a:r>
            <a:r>
              <a:rPr lang="en-US" b="1" dirty="0" smtClean="0"/>
              <a:t>On the ground of access to rights:- </a:t>
            </a:r>
            <a:r>
              <a:rPr lang="en-US" dirty="0" smtClean="0"/>
              <a:t>such measures allow women to fully claim and realize their human rights since human rights are interdependent </a:t>
            </a:r>
          </a:p>
          <a:p>
            <a:pPr lvl="0">
              <a:buNone/>
            </a:pPr>
            <a:endParaRPr lang="en-US"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fontScale="92500"/>
          </a:bodyPr>
          <a:lstStyle/>
          <a:p>
            <a:pPr algn="just">
              <a:buNone/>
            </a:pPr>
            <a:r>
              <a:rPr lang="en-US" b="1" dirty="0" smtClean="0"/>
              <a:t>Temporary Special Measures Taken by the Ethiopian Government </a:t>
            </a:r>
          </a:p>
          <a:p>
            <a:pPr algn="just">
              <a:buFont typeface="Wingdings" pitchFamily="2" charset="2"/>
              <a:buChar char="Ø"/>
            </a:pPr>
            <a:r>
              <a:rPr lang="en-US" dirty="0" smtClean="0"/>
              <a:t>It has taken affirmative action to increase enrolment of female students in the educational institutions at d/t level</a:t>
            </a:r>
          </a:p>
          <a:p>
            <a:pPr algn="just">
              <a:buFont typeface="Wingdings" pitchFamily="2" charset="2"/>
              <a:buChar char="Ø"/>
            </a:pPr>
            <a:r>
              <a:rPr lang="en-US" dirty="0" smtClean="0"/>
              <a:t>30% of the total number of seats has been reserved for female student in higher educational institutions (universities)</a:t>
            </a:r>
          </a:p>
          <a:p>
            <a:pPr algn="just">
              <a:buFont typeface="Wingdings" pitchFamily="2" charset="2"/>
              <a:buChar char="Ø"/>
            </a:pPr>
            <a:r>
              <a:rPr lang="en-US" dirty="0" smtClean="0"/>
              <a:t>the introduction of girl’s scholarship program </a:t>
            </a:r>
          </a:p>
          <a:p>
            <a:pPr algn="just">
              <a:buFont typeface="Wingdings" pitchFamily="2" charset="2"/>
              <a:buChar char="Ø"/>
            </a:pPr>
            <a:r>
              <a:rPr lang="en-US" dirty="0" smtClean="0"/>
              <a:t>the promotion of girls’ education by rewarding individuals and institutions for their noble contribution </a:t>
            </a:r>
          </a:p>
          <a:p>
            <a:pPr algn="just">
              <a:buFont typeface="Wingdings" pitchFamily="2" charset="2"/>
              <a:buChar char="Ø"/>
            </a:pPr>
            <a:r>
              <a:rPr lang="en-US" dirty="0" smtClean="0"/>
              <a:t>The expansion of educational provisions </a:t>
            </a:r>
          </a:p>
          <a:p>
            <a:pPr algn="just">
              <a:buFont typeface="Wingdings" pitchFamily="2" charset="2"/>
              <a:buChar char="Ø"/>
            </a:pPr>
            <a:r>
              <a:rPr lang="en-US" dirty="0" smtClean="0"/>
              <a:t>The arrangement of tutorial class for female students, </a:t>
            </a:r>
          </a:p>
          <a:p>
            <a:pPr algn="just">
              <a:buFont typeface="Wingdings" pitchFamily="2" charset="2"/>
              <a:buChar char="Ø"/>
            </a:pPr>
            <a:r>
              <a:rPr lang="en-US" dirty="0" smtClean="0"/>
              <a:t>the increase in the number of women teachers and awareness raising activities</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763000" cy="6400800"/>
          </a:xfrm>
        </p:spPr>
        <p:txBody>
          <a:bodyPr>
            <a:normAutofit/>
          </a:bodyPr>
          <a:lstStyle/>
          <a:p>
            <a:pPr algn="just">
              <a:buNone/>
            </a:pPr>
            <a:r>
              <a:rPr lang="en-US" dirty="0" smtClean="0"/>
              <a:t>The specific actions that are being taken to influence policy are the following: </a:t>
            </a:r>
          </a:p>
          <a:p>
            <a:pPr lvl="0" algn="just"/>
            <a:r>
              <a:rPr lang="en-US" dirty="0" smtClean="0"/>
              <a:t>Development of girls education policy</a:t>
            </a:r>
          </a:p>
          <a:p>
            <a:pPr lvl="0" algn="just"/>
            <a:r>
              <a:rPr lang="en-US" dirty="0" smtClean="0"/>
              <a:t>Development of policy implementing strategy</a:t>
            </a:r>
          </a:p>
          <a:p>
            <a:pPr lvl="0" algn="just"/>
            <a:r>
              <a:rPr lang="en-US" dirty="0" smtClean="0"/>
              <a:t>Incorporating the concept of gender mainstreaming in, </a:t>
            </a:r>
            <a:r>
              <a:rPr lang="en-US" i="1" dirty="0" smtClean="0"/>
              <a:t>inter-alia, </a:t>
            </a:r>
            <a:r>
              <a:rPr lang="en-US" dirty="0" smtClean="0"/>
              <a:t>curriculum development and parent’s counseling</a:t>
            </a:r>
          </a:p>
          <a:p>
            <a:pPr lvl="0" algn="just"/>
            <a:r>
              <a:rPr lang="en-US" dirty="0" smtClean="0"/>
              <a:t>Capacity building of head teachers in high schools and gender focal points in the regions to deal with gender matters</a:t>
            </a:r>
          </a:p>
          <a:p>
            <a:pPr lvl="0" algn="just"/>
            <a:r>
              <a:rPr lang="en-US" dirty="0" smtClean="0"/>
              <a:t>Conducting research in the area in order to devise mechanisms for increased girls participation in primary, secondary and tertiary education </a:t>
            </a:r>
          </a:p>
          <a:p>
            <a:endParaRPr 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b="1" dirty="0" smtClean="0"/>
              <a:t> Chapter Six</a:t>
            </a:r>
            <a:br>
              <a:rPr lang="en-US" b="1" dirty="0" smtClean="0"/>
            </a:br>
            <a:r>
              <a:rPr lang="en-US" b="1" dirty="0" smtClean="0"/>
              <a:t>Women and Employment</a:t>
            </a:r>
            <a:endParaRPr lang="en-US" dirty="0"/>
          </a:p>
        </p:txBody>
      </p:sp>
      <p:sp>
        <p:nvSpPr>
          <p:cNvPr id="3" name="Content Placeholder 2"/>
          <p:cNvSpPr>
            <a:spLocks noGrp="1"/>
          </p:cNvSpPr>
          <p:nvPr>
            <p:ph sz="quarter" idx="1"/>
          </p:nvPr>
        </p:nvSpPr>
        <p:spPr>
          <a:xfrm>
            <a:off x="228600" y="1371600"/>
            <a:ext cx="8686800" cy="5257800"/>
          </a:xfrm>
        </p:spPr>
        <p:txBody>
          <a:bodyPr>
            <a:normAutofit lnSpcReduction="10000"/>
          </a:bodyPr>
          <a:lstStyle/>
          <a:p>
            <a:pPr algn="just">
              <a:buFont typeface="Wingdings" pitchFamily="2" charset="2"/>
              <a:buChar char="Ø"/>
            </a:pPr>
            <a:r>
              <a:rPr lang="en-US" dirty="0"/>
              <a:t>there is gender based discrimination in access to employment as can be observed from the existing huge gender </a:t>
            </a:r>
            <a:r>
              <a:rPr lang="en-US" dirty="0" smtClean="0"/>
              <a:t>diff/</a:t>
            </a:r>
            <a:r>
              <a:rPr lang="en-US" dirty="0" err="1" smtClean="0"/>
              <a:t>ce</a:t>
            </a:r>
            <a:r>
              <a:rPr lang="en-US" dirty="0" smtClean="0"/>
              <a:t> </a:t>
            </a:r>
            <a:r>
              <a:rPr lang="en-US" dirty="0"/>
              <a:t>in the labor </a:t>
            </a:r>
            <a:r>
              <a:rPr lang="en-US" dirty="0" smtClean="0"/>
              <a:t>force.</a:t>
            </a:r>
          </a:p>
          <a:p>
            <a:pPr algn="just">
              <a:buFont typeface="Wingdings" pitchFamily="2" charset="2"/>
              <a:buChar char="Ø"/>
            </a:pPr>
            <a:r>
              <a:rPr lang="en-US" dirty="0" smtClean="0"/>
              <a:t>The </a:t>
            </a:r>
            <a:r>
              <a:rPr lang="en-US" dirty="0"/>
              <a:t>gap becomes wide as one goes from developed to developing countries</a:t>
            </a:r>
            <a:r>
              <a:rPr lang="en-US" dirty="0" smtClean="0"/>
              <a:t>.</a:t>
            </a:r>
          </a:p>
          <a:p>
            <a:pPr marL="0" indent="0" algn="just">
              <a:buNone/>
            </a:pPr>
            <a:r>
              <a:rPr lang="en-US" dirty="0" smtClean="0"/>
              <a:t>The reason for this difference are:-</a:t>
            </a:r>
          </a:p>
          <a:p>
            <a:pPr algn="just">
              <a:buFont typeface="Wingdings" pitchFamily="2" charset="2"/>
              <a:buChar char="Ø"/>
            </a:pPr>
            <a:r>
              <a:rPr lang="en-US" dirty="0"/>
              <a:t>Women’s lower educational attainment due to lack of access to education and training </a:t>
            </a:r>
            <a:r>
              <a:rPr lang="en-US" dirty="0" smtClean="0"/>
              <a:t>opportunity</a:t>
            </a:r>
          </a:p>
          <a:p>
            <a:pPr algn="just">
              <a:buFont typeface="Wingdings" pitchFamily="2" charset="2"/>
              <a:buChar char="Ø"/>
            </a:pPr>
            <a:r>
              <a:rPr lang="en-US" dirty="0" smtClean="0"/>
              <a:t>the </a:t>
            </a:r>
            <a:r>
              <a:rPr lang="en-US" dirty="0"/>
              <a:t>existing misconception about the role and contribution of women in employment </a:t>
            </a:r>
            <a:endParaRPr lang="en-US" dirty="0" smtClean="0"/>
          </a:p>
          <a:p>
            <a:pPr algn="just">
              <a:buFont typeface="Wingdings" pitchFamily="2" charset="2"/>
              <a:buChar char="Ø"/>
            </a:pPr>
            <a:r>
              <a:rPr lang="en-US" dirty="0"/>
              <a:t>the contribution of women in family labor, i.e. their  family responsibility</a:t>
            </a:r>
            <a:endParaRPr lang="en-US" dirty="0" smtClean="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324600"/>
          </a:xfrm>
        </p:spPr>
        <p:txBody>
          <a:bodyPr>
            <a:normAutofit/>
          </a:bodyPr>
          <a:lstStyle/>
          <a:p>
            <a:pPr algn="just"/>
            <a:r>
              <a:rPr lang="en-US" dirty="0"/>
              <a:t>Women also often suffer employment discrimination because they need to take time off for maternity leave or when a child is sick. </a:t>
            </a:r>
            <a:endParaRPr lang="en-US" dirty="0" smtClean="0"/>
          </a:p>
          <a:p>
            <a:pPr marL="0" indent="0" algn="just">
              <a:buNone/>
            </a:pPr>
            <a:r>
              <a:rPr lang="en-US" dirty="0"/>
              <a:t>Those women who have access to employment face many </a:t>
            </a:r>
            <a:r>
              <a:rPr lang="en-US" dirty="0" smtClean="0"/>
              <a:t>obstacles. This includes</a:t>
            </a:r>
          </a:p>
          <a:p>
            <a:pPr algn="just">
              <a:buFont typeface="Wingdings" pitchFamily="2" charset="2"/>
              <a:buChar char="Ø"/>
            </a:pPr>
            <a:r>
              <a:rPr lang="en-US" dirty="0"/>
              <a:t>Most of the employed women are placed in lower grade and lower paid jobs. </a:t>
            </a:r>
            <a:endParaRPr lang="en-US" dirty="0" smtClean="0"/>
          </a:p>
          <a:p>
            <a:pPr algn="just">
              <a:buFont typeface="Wingdings" pitchFamily="2" charset="2"/>
              <a:buChar char="Ø"/>
            </a:pPr>
            <a:r>
              <a:rPr lang="en-US" dirty="0" smtClean="0"/>
              <a:t>Elite </a:t>
            </a:r>
            <a:r>
              <a:rPr lang="en-US" dirty="0"/>
              <a:t>women who wish to improve their legal and economic status must expect to lose honor and </a:t>
            </a:r>
            <a:r>
              <a:rPr lang="en-US" dirty="0" smtClean="0"/>
              <a:t>respect</a:t>
            </a:r>
          </a:p>
          <a:p>
            <a:pPr algn="just">
              <a:buFont typeface="Wingdings" pitchFamily="2" charset="2"/>
              <a:buChar char="Ø"/>
            </a:pPr>
            <a:r>
              <a:rPr lang="en-US" dirty="0"/>
              <a:t>There is often sexism in job promotions and unpleasant consequences if women stand up to men. </a:t>
            </a:r>
            <a:endParaRPr lang="en-US" dirty="0" smtClean="0"/>
          </a:p>
          <a:p>
            <a:pPr algn="just">
              <a:buFont typeface="Wingdings" pitchFamily="2" charset="2"/>
              <a:buChar char="Ø"/>
            </a:pPr>
            <a:r>
              <a:rPr lang="en-US" dirty="0" smtClean="0"/>
              <a:t>There </a:t>
            </a:r>
            <a:r>
              <a:rPr lang="en-US" dirty="0"/>
              <a:t>is often more respect for male professionals (even from women themselves) than there is for female. </a:t>
            </a:r>
          </a:p>
        </p:txBody>
      </p:sp>
    </p:spTree>
    <p:extLst>
      <p:ext uri="{BB962C8B-B14F-4D97-AF65-F5344CB8AC3E}">
        <p14:creationId xmlns:p14="http://schemas.microsoft.com/office/powerpoint/2010/main" val="37578976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00800"/>
          </a:xfrm>
        </p:spPr>
        <p:txBody>
          <a:bodyPr>
            <a:normAutofit/>
          </a:bodyPr>
          <a:lstStyle/>
          <a:p>
            <a:pPr marL="342900" lvl="1" indent="-342900" algn="just">
              <a:buNone/>
            </a:pPr>
            <a:r>
              <a:rPr lang="en-US" b="1" dirty="0"/>
              <a:t>Gender Based Discrimination in Employment</a:t>
            </a:r>
          </a:p>
          <a:p>
            <a:pPr marL="342900" lvl="1" indent="-342900" algn="just">
              <a:buFont typeface="Wingdings" pitchFamily="2" charset="2"/>
              <a:buChar char="Ø"/>
            </a:pPr>
            <a:r>
              <a:rPr lang="en-US" dirty="0"/>
              <a:t>According to the 1958</a:t>
            </a:r>
            <a:r>
              <a:rPr lang="en-US" b="1" dirty="0"/>
              <a:t> </a:t>
            </a:r>
            <a:r>
              <a:rPr lang="en-US" dirty="0"/>
              <a:t>Discrimination (Employment and Occupation) </a:t>
            </a:r>
            <a:r>
              <a:rPr lang="en-US" dirty="0" smtClean="0"/>
              <a:t>Convention It </a:t>
            </a:r>
            <a:r>
              <a:rPr lang="en-US" dirty="0"/>
              <a:t>is discrimination on the ground of sex which has the effect of nullifying or impairing equality of opportunity or treatment in employment or occupation</a:t>
            </a:r>
          </a:p>
          <a:p>
            <a:pPr marL="342900" lvl="1" indent="-342900" algn="just">
              <a:buFont typeface="Wingdings" pitchFamily="2" charset="2"/>
              <a:buChar char="Ø"/>
            </a:pPr>
            <a:r>
              <a:rPr lang="en-US" dirty="0"/>
              <a:t>The discrimination may be de facto or de jure</a:t>
            </a:r>
          </a:p>
          <a:p>
            <a:pPr marL="342900" lvl="1" indent="-342900" algn="just">
              <a:buFont typeface="Wingdings" pitchFamily="2" charset="2"/>
              <a:buChar char="Ø"/>
            </a:pPr>
            <a:r>
              <a:rPr lang="en-US" dirty="0"/>
              <a:t> Sex discrimination can </a:t>
            </a:r>
            <a:r>
              <a:rPr lang="en-US" dirty="0" smtClean="0"/>
              <a:t>direct </a:t>
            </a:r>
            <a:r>
              <a:rPr lang="en-US" dirty="0"/>
              <a:t> </a:t>
            </a:r>
            <a:r>
              <a:rPr lang="en-US" dirty="0" smtClean="0"/>
              <a:t>or indirect </a:t>
            </a:r>
            <a:r>
              <a:rPr lang="en-US" dirty="0"/>
              <a:t>discrimination</a:t>
            </a:r>
          </a:p>
          <a:p>
            <a:pPr marL="342900" lvl="1" indent="-342900" algn="just">
              <a:buFont typeface="Wingdings" pitchFamily="2" charset="2"/>
              <a:buChar char="Ø"/>
            </a:pPr>
            <a:r>
              <a:rPr lang="en-US" dirty="0"/>
              <a:t>Employers may discriminate against women directly by limiting applications for certain jobs to only men or only women.</a:t>
            </a:r>
          </a:p>
          <a:p>
            <a:pPr marL="342900" lvl="1" indent="-342900" algn="just">
              <a:buFont typeface="Wingdings" pitchFamily="2" charset="2"/>
              <a:buChar char="Ø"/>
            </a:pPr>
            <a:r>
              <a:rPr lang="en-US" dirty="0"/>
              <a:t>Discrimination is indirect when employers impose criteria for applicants or specify characteristics which are not closely related to the inherent requirements of the </a:t>
            </a:r>
            <a:r>
              <a:rPr lang="en-US" dirty="0" smtClean="0"/>
              <a:t>job</a:t>
            </a:r>
          </a:p>
          <a:p>
            <a:pPr marL="342900" lvl="1" indent="-342900" algn="just">
              <a:buFont typeface="Wingdings" pitchFamily="2" charset="2"/>
              <a:buChar char="Ø"/>
            </a:pPr>
            <a:r>
              <a:rPr lang="en-US" dirty="0"/>
              <a:t>Several countries mention acts of discrimination on the basis of pregnancy, confinement and related medical conditions as acts of indirect gender base discrimination since these facts affect only women up to the present time.</a:t>
            </a:r>
          </a:p>
          <a:p>
            <a:pPr marL="342900" lvl="1" indent="-342900">
              <a:buFont typeface="Wingdings" pitchFamily="2" charset="2"/>
              <a:buChar char="Ø"/>
            </a:pPr>
            <a:endParaRPr lang="en-US" dirty="0"/>
          </a:p>
        </p:txBody>
      </p:sp>
    </p:spTree>
    <p:extLst>
      <p:ext uri="{BB962C8B-B14F-4D97-AF65-F5344CB8AC3E}">
        <p14:creationId xmlns:p14="http://schemas.microsoft.com/office/powerpoint/2010/main" val="394050235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77000"/>
          </a:xfrm>
        </p:spPr>
        <p:txBody>
          <a:bodyPr>
            <a:normAutofit/>
          </a:bodyPr>
          <a:lstStyle/>
          <a:p>
            <a:pPr algn="just">
              <a:buFont typeface="Wingdings" pitchFamily="2" charset="2"/>
              <a:buChar char="Ø"/>
            </a:pPr>
            <a:r>
              <a:rPr lang="en-US" dirty="0"/>
              <a:t>As per </a:t>
            </a:r>
            <a:r>
              <a:rPr lang="en-US" dirty="0" smtClean="0"/>
              <a:t>Art.5 </a:t>
            </a:r>
            <a:r>
              <a:rPr lang="en-US" dirty="0"/>
              <a:t>of Discrimination in Employment and Occupation Convention, measures taken to meet the  requirement of persons who need special protection for reasons to do with sex, age, disablement, family responsibility or social or cultural status shall not be deemed to be </a:t>
            </a:r>
            <a:r>
              <a:rPr lang="en-US" dirty="0" smtClean="0"/>
              <a:t>discrimination</a:t>
            </a:r>
          </a:p>
          <a:p>
            <a:pPr algn="just">
              <a:buFont typeface="Wingdings" pitchFamily="2" charset="2"/>
              <a:buChar char="Ø"/>
            </a:pPr>
            <a:r>
              <a:rPr lang="en-US" dirty="0"/>
              <a:t>Positive action is seen as essential for the achievement of genuine equality between women and men in the world of work and society. </a:t>
            </a:r>
            <a:endParaRPr lang="en-US" dirty="0" smtClean="0"/>
          </a:p>
          <a:p>
            <a:pPr algn="just">
              <a:buFont typeface="Wingdings" pitchFamily="2" charset="2"/>
              <a:buChar char="Ø"/>
            </a:pPr>
            <a:r>
              <a:rPr lang="en-US" dirty="0" smtClean="0"/>
              <a:t>This includes </a:t>
            </a:r>
            <a:r>
              <a:rPr lang="en-US" dirty="0"/>
              <a:t>corrective actions such as setting targets for women's participation in activities from which they have previously been excluded, or promotional measures designed to give women access to wider opportunities</a:t>
            </a:r>
            <a:r>
              <a:rPr lang="en-US" dirty="0" smtClean="0"/>
              <a:t>.</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839200" cy="6553200"/>
          </a:xfrm>
        </p:spPr>
        <p:txBody>
          <a:bodyPr>
            <a:normAutofit lnSpcReduction="10000"/>
          </a:bodyPr>
          <a:lstStyle/>
          <a:p>
            <a:pPr algn="just">
              <a:buNone/>
            </a:pPr>
            <a:r>
              <a:rPr lang="en-US" b="1" dirty="0" smtClean="0"/>
              <a:t>Right to Employment, a Human right of women</a:t>
            </a:r>
          </a:p>
          <a:p>
            <a:pPr algn="just">
              <a:buNone/>
            </a:pPr>
            <a:r>
              <a:rPr lang="en-US" dirty="0" smtClean="0"/>
              <a:t> </a:t>
            </a:r>
            <a:r>
              <a:rPr lang="en-US" b="1" dirty="0" smtClean="0"/>
              <a:t>UDHR:- </a:t>
            </a:r>
            <a:r>
              <a:rPr lang="en-US" dirty="0" smtClean="0"/>
              <a:t>Art. 23(1)  recognized the right of every one, women as well as men, to work</a:t>
            </a:r>
          </a:p>
          <a:p>
            <a:pPr algn="just">
              <a:buFont typeface="Wingdings" pitchFamily="2" charset="2"/>
              <a:buChar char="Ø"/>
            </a:pPr>
            <a:r>
              <a:rPr lang="en-US" dirty="0" smtClean="0"/>
              <a:t>any act that prevent women from participating in labor market amount to violation of human rights of women</a:t>
            </a:r>
          </a:p>
          <a:p>
            <a:pPr algn="just">
              <a:buNone/>
            </a:pPr>
            <a:r>
              <a:rPr lang="en-US" b="1" dirty="0" smtClean="0"/>
              <a:t>ICESCR:- </a:t>
            </a:r>
            <a:r>
              <a:rPr lang="en-US" dirty="0" smtClean="0"/>
              <a:t>Article 6 State the right of every one, both men and women, to work and to get the opportunity to gain his/ her living by work</a:t>
            </a:r>
          </a:p>
          <a:p>
            <a:pPr algn="just">
              <a:buFont typeface="Wingdings" pitchFamily="2" charset="2"/>
              <a:buChar char="Ø"/>
            </a:pPr>
            <a:r>
              <a:rPr lang="en-US" dirty="0" smtClean="0"/>
              <a:t>Equal payment for equal work</a:t>
            </a:r>
          </a:p>
          <a:p>
            <a:pPr algn="just">
              <a:buNone/>
            </a:pPr>
            <a:r>
              <a:rPr lang="en-US" b="1" dirty="0" smtClean="0"/>
              <a:t>ACHPR:- </a:t>
            </a:r>
            <a:r>
              <a:rPr lang="en-US" dirty="0" smtClean="0"/>
              <a:t>Art. 15 guarantee to every one the right to work and as per Article 2  the right shall be enjoyed without distinction of any kind including sex</a:t>
            </a:r>
          </a:p>
          <a:p>
            <a:pPr algn="just">
              <a:buNone/>
            </a:pPr>
            <a:r>
              <a:rPr lang="en-US" b="1" dirty="0" smtClean="0"/>
              <a:t>FDRE Constitution:- </a:t>
            </a:r>
            <a:r>
              <a:rPr lang="en-US" dirty="0" smtClean="0"/>
              <a:t>Article 34 of  expressly  recognized the right of women to equality in employment</a:t>
            </a:r>
            <a:endParaRPr lang="en-US" b="1" dirty="0" smtClean="0"/>
          </a:p>
          <a:p>
            <a:pPr>
              <a:buNone/>
            </a:pPr>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00800"/>
          </a:xfrm>
        </p:spPr>
        <p:txBody>
          <a:bodyPr>
            <a:normAutofit lnSpcReduction="10000"/>
          </a:bodyPr>
          <a:lstStyle/>
          <a:p>
            <a:pPr algn="just">
              <a:buNone/>
            </a:pPr>
            <a:r>
              <a:rPr lang="en-US" b="1" dirty="0" smtClean="0"/>
              <a:t>Women Right to Equal remuneration </a:t>
            </a:r>
          </a:p>
          <a:p>
            <a:pPr algn="just">
              <a:buFont typeface="Wingdings" pitchFamily="2" charset="2"/>
              <a:buChar char="Ø"/>
            </a:pPr>
            <a:r>
              <a:rPr lang="en-US" dirty="0" smtClean="0"/>
              <a:t>The right of women to equal remuneration is a right recognized under various international, regional and national laws</a:t>
            </a:r>
          </a:p>
          <a:p>
            <a:pPr marL="342900" lvl="3" indent="-342900" algn="just">
              <a:buFont typeface="Wingdings" pitchFamily="2" charset="2"/>
              <a:buChar char="Ø"/>
            </a:pPr>
            <a:r>
              <a:rPr lang="en-US" sz="3000" dirty="0" smtClean="0"/>
              <a:t>UDHR 23(2), ICESCR Art. 7, Equal Remuneration Convention of ILO, 1951 Art. 1 and 2, ACPHR Art. 25, </a:t>
            </a:r>
          </a:p>
          <a:p>
            <a:pPr marL="0" lvl="3" indent="0" algn="just">
              <a:buNone/>
            </a:pPr>
            <a:r>
              <a:rPr lang="en-US" sz="3200" b="1" dirty="0"/>
              <a:t>Equal Remuneration Convention, 1951 </a:t>
            </a:r>
            <a:endParaRPr lang="en-US" sz="3200" dirty="0"/>
          </a:p>
          <a:p>
            <a:pPr marL="457200" lvl="3" indent="-457200" algn="just">
              <a:buFont typeface="Wingdings" pitchFamily="2" charset="2"/>
              <a:buChar char="Ø"/>
            </a:pPr>
            <a:r>
              <a:rPr lang="en-US" sz="3200" dirty="0"/>
              <a:t>the convention imposed duty on all states members to ILO which ratifies the convention to promote and ensure the application to all workers of the principle of equal remuneration for men and women workers for works of equal value.</a:t>
            </a:r>
            <a:endParaRPr lang="en-US" sz="3000" dirty="0" smtClean="0"/>
          </a:p>
          <a:p>
            <a:pPr>
              <a:buNone/>
            </a:pPr>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763000" cy="6324600"/>
          </a:xfrm>
        </p:spPr>
        <p:txBody>
          <a:bodyPr>
            <a:normAutofit/>
          </a:bodyPr>
          <a:lstStyle/>
          <a:p>
            <a:pPr algn="just"/>
            <a:r>
              <a:rPr lang="en-US" dirty="0"/>
              <a:t>As per </a:t>
            </a:r>
            <a:r>
              <a:rPr lang="en-US" dirty="0" smtClean="0"/>
              <a:t>Art.1 (</a:t>
            </a:r>
            <a:r>
              <a:rPr lang="en-US" dirty="0"/>
              <a:t>a) </a:t>
            </a:r>
            <a:r>
              <a:rPr lang="en-US" dirty="0" smtClean="0"/>
              <a:t>of </a:t>
            </a:r>
            <a:r>
              <a:rPr lang="en-US" dirty="0"/>
              <a:t>the convention, remuneration includes ordinary, basic or minimum wage or salary and any additional emoluments whatsoever payable directly or indirectly, whether in cash or in kind, by the employer to the worker and arising out of the worker's </a:t>
            </a:r>
            <a:r>
              <a:rPr lang="en-US" dirty="0" smtClean="0"/>
              <a:t>employment</a:t>
            </a:r>
          </a:p>
          <a:p>
            <a:pPr algn="just"/>
            <a:r>
              <a:rPr lang="en-US" dirty="0"/>
              <a:t>The convention further obliged state members to legally establish and organize machinery for wage determination </a:t>
            </a:r>
            <a:endParaRPr lang="en-US" dirty="0" smtClean="0"/>
          </a:p>
          <a:p>
            <a:pPr algn="just"/>
            <a:r>
              <a:rPr lang="en-US" dirty="0" smtClean="0"/>
              <a:t>differential </a:t>
            </a:r>
            <a:r>
              <a:rPr lang="en-US" dirty="0"/>
              <a:t>rate of wage between workers which correspond to difference in the work to be performed shall not be considered as being contrary to the principle of equal remuneration for men and women workers for work of equal value</a:t>
            </a:r>
          </a:p>
        </p:txBody>
      </p:sp>
    </p:spTree>
    <p:extLst>
      <p:ext uri="{BB962C8B-B14F-4D97-AF65-F5344CB8AC3E}">
        <p14:creationId xmlns:p14="http://schemas.microsoft.com/office/powerpoint/2010/main" val="291731671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610600" cy="6400800"/>
          </a:xfrm>
        </p:spPr>
        <p:txBody>
          <a:bodyPr>
            <a:normAutofit/>
          </a:bodyPr>
          <a:lstStyle/>
          <a:p>
            <a:pPr algn="just">
              <a:buNone/>
            </a:pPr>
            <a:r>
              <a:rPr lang="en-US" b="1" dirty="0"/>
              <a:t>Maternity protection:- </a:t>
            </a:r>
            <a:endParaRPr lang="en-US" b="1" dirty="0" smtClean="0"/>
          </a:p>
          <a:p>
            <a:pPr algn="just">
              <a:buFont typeface="Wingdings" pitchFamily="2" charset="2"/>
              <a:buChar char="Ø"/>
            </a:pPr>
            <a:r>
              <a:rPr lang="en-US" dirty="0"/>
              <a:t>Motherhood and childhood are protected by different international regional and national laws</a:t>
            </a:r>
            <a:endParaRPr lang="en-US" b="1" dirty="0" smtClean="0"/>
          </a:p>
          <a:p>
            <a:pPr algn="just">
              <a:buFont typeface="Wingdings" pitchFamily="2" charset="2"/>
              <a:buChar char="Ø"/>
            </a:pPr>
            <a:r>
              <a:rPr lang="en-US" dirty="0"/>
              <a:t>The right to care and assistance to which motherhood and childhood are entitled </a:t>
            </a:r>
            <a:r>
              <a:rPr lang="en-US" dirty="0" smtClean="0"/>
              <a:t>includes</a:t>
            </a:r>
            <a:r>
              <a:rPr lang="en-US" b="1" dirty="0" smtClean="0"/>
              <a:t> </a:t>
            </a:r>
            <a:r>
              <a:rPr lang="en-US" dirty="0">
                <a:solidFill>
                  <a:srgbClr val="FF0000"/>
                </a:solidFill>
              </a:rPr>
              <a:t>the right to health protection, </a:t>
            </a:r>
            <a:r>
              <a:rPr lang="en-US" dirty="0"/>
              <a:t>the right to maternity leave, the right to leave in case of illness and complication and the right to employment protection and non-discrimination</a:t>
            </a:r>
          </a:p>
          <a:p>
            <a:pPr algn="just">
              <a:buFont typeface="Wingdings" pitchFamily="2" charset="2"/>
              <a:buChar char="Ø"/>
            </a:pPr>
            <a:r>
              <a:rPr lang="en-US" dirty="0"/>
              <a:t> The right to health protection is aimed </a:t>
            </a:r>
            <a:r>
              <a:rPr lang="en-US" dirty="0" smtClean="0"/>
              <a:t>protecting </a:t>
            </a:r>
            <a:r>
              <a:rPr lang="en-US" dirty="0"/>
              <a:t>pregnant or breastfeeding women from being obliged to perform work which is prejudicial to the health of the mother or the child, or which involves a significant risk to the mother’s health or that of her child</a:t>
            </a:r>
          </a:p>
          <a:p>
            <a:endParaRPr lang="en-US" dirty="0"/>
          </a:p>
        </p:txBody>
      </p:sp>
    </p:spTree>
    <p:extLst>
      <p:ext uri="{BB962C8B-B14F-4D97-AF65-F5344CB8AC3E}">
        <p14:creationId xmlns:p14="http://schemas.microsoft.com/office/powerpoint/2010/main" val="4161872376"/>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10600" cy="6477000"/>
          </a:xfrm>
        </p:spPr>
        <p:txBody>
          <a:bodyPr>
            <a:normAutofit fontScale="85000" lnSpcReduction="10000"/>
          </a:bodyPr>
          <a:lstStyle/>
          <a:p>
            <a:pPr algn="just">
              <a:buFont typeface="Wingdings" pitchFamily="2" charset="2"/>
              <a:buChar char="Ø"/>
            </a:pPr>
            <a:r>
              <a:rPr lang="en-US" sz="3000" dirty="0" smtClean="0"/>
              <a:t>Maternity leave is leave in relation to child birth. </a:t>
            </a:r>
          </a:p>
          <a:p>
            <a:pPr algn="just">
              <a:buFont typeface="Wingdings" pitchFamily="2" charset="2"/>
              <a:buChar char="Ø"/>
            </a:pPr>
            <a:r>
              <a:rPr lang="en-US" sz="2800" dirty="0" smtClean="0"/>
              <a:t>It is </a:t>
            </a:r>
            <a:r>
              <a:rPr lang="en-US" sz="2800" dirty="0"/>
              <a:t>a right guaranteed to women upon the production of medical or other certificate, as determined by national law or practice, which state the presumed date of child birth</a:t>
            </a:r>
            <a:endParaRPr lang="en-US" sz="3000" dirty="0" smtClean="0"/>
          </a:p>
          <a:p>
            <a:pPr algn="just">
              <a:buFont typeface="Wingdings" pitchFamily="2" charset="2"/>
              <a:buChar char="Ø"/>
            </a:pPr>
            <a:r>
              <a:rPr lang="en-US" sz="3000" dirty="0" smtClean="0"/>
              <a:t>Almost all international laws failed to state the period of maternity leave; hence the period varies from jurisdiction to jurisdiction, except one </a:t>
            </a:r>
          </a:p>
          <a:p>
            <a:pPr algn="just">
              <a:buFont typeface="Wingdings" pitchFamily="2" charset="2"/>
              <a:buChar char="Ø"/>
            </a:pPr>
            <a:r>
              <a:rPr lang="en-US" sz="3000" dirty="0" smtClean="0"/>
              <a:t>Maternity leave includes prenatal and post natal leave.</a:t>
            </a:r>
          </a:p>
          <a:p>
            <a:pPr algn="just">
              <a:buFont typeface="Wingdings" pitchFamily="2" charset="2"/>
              <a:buChar char="Ø"/>
            </a:pPr>
            <a:r>
              <a:rPr lang="en-US" sz="3000" dirty="0" smtClean="0"/>
              <a:t> </a:t>
            </a:r>
            <a:r>
              <a:rPr lang="en-US" sz="2800" dirty="0" smtClean="0"/>
              <a:t>Women are also entitled to leave after or before maternity leave in case of illness, complications or risk of complications arising out of pregnancy or childbirth</a:t>
            </a:r>
          </a:p>
          <a:p>
            <a:pPr algn="just">
              <a:buFont typeface="Wingdings" pitchFamily="2" charset="2"/>
              <a:buChar char="Ø"/>
            </a:pPr>
            <a:r>
              <a:rPr lang="en-US" sz="2800" dirty="0" smtClean="0"/>
              <a:t> Women are also entitled to employment protection that the employer can not legally terminate the employment relationship during her pregnancy or absence on maternity leave or leave in case of absence for this reason. </a:t>
            </a:r>
          </a:p>
          <a:p>
            <a:pPr algn="just">
              <a:buFont typeface="Wingdings" pitchFamily="2" charset="2"/>
              <a:buChar char="Ø"/>
            </a:pPr>
            <a:r>
              <a:rPr lang="en-US" sz="2800" dirty="0" smtClean="0"/>
              <a:t>He can terminate for any other law full reason but he has the duty to bear the burden of proof </a:t>
            </a:r>
            <a:endParaRPr lang="en-US" sz="3000" dirty="0" smtClean="0"/>
          </a:p>
          <a:p>
            <a:pPr>
              <a:buNone/>
            </a:pPr>
            <a:endParaRPr lang="en-US"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52400"/>
            <a:ext cx="8229600" cy="6477000"/>
          </a:xfrm>
        </p:spPr>
        <p:txBody>
          <a:bodyPr/>
          <a:lstStyle/>
          <a:p>
            <a:pPr marL="342900" lvl="1" indent="-342900" algn="just">
              <a:lnSpc>
                <a:spcPct val="150000"/>
              </a:lnSpc>
              <a:buNone/>
            </a:pPr>
            <a:r>
              <a:rPr lang="en-US" b="1" dirty="0" smtClean="0"/>
              <a:t>Sexual harassment in work place</a:t>
            </a:r>
          </a:p>
          <a:p>
            <a:pPr marL="342900" lvl="1" indent="-342900" algn="just">
              <a:lnSpc>
                <a:spcPct val="150000"/>
              </a:lnSpc>
              <a:buFont typeface="Wingdings" pitchFamily="2" charset="2"/>
              <a:buChar char="Ø"/>
            </a:pPr>
            <a:r>
              <a:rPr lang="en-US" dirty="0" smtClean="0"/>
              <a:t>A woman who is victimized by sexual harassment is subjected to pressure, degradation or hostility that her male co- workers don’t have to endure</a:t>
            </a:r>
          </a:p>
          <a:p>
            <a:pPr marL="342900" lvl="1" indent="-342900" algn="just">
              <a:lnSpc>
                <a:spcPct val="150000"/>
              </a:lnSpc>
              <a:buFont typeface="Wingdings" pitchFamily="2" charset="2"/>
              <a:buChar char="Ø"/>
            </a:pPr>
            <a:r>
              <a:rPr lang="en-US" dirty="0" smtClean="0"/>
              <a:t>Due to unequal gender relations, it is a phenomenon that primarily affects them, and creates distinction, exclusion or restriction which has the effect of impairing or nullifying their human rights</a:t>
            </a:r>
          </a:p>
          <a:p>
            <a:pPr marL="342900" lvl="1" indent="-342900" algn="just">
              <a:lnSpc>
                <a:spcPct val="150000"/>
              </a:lnSpc>
              <a:buFont typeface="Wingdings" pitchFamily="2" charset="2"/>
              <a:buChar char="Ø"/>
            </a:pPr>
            <a:r>
              <a:rPr lang="en-US" dirty="0" smtClean="0"/>
              <a:t>It is not possible to exhaustively list the range of offending behavior constituting sexual harassment or define the degree of severity or its frequency</a:t>
            </a:r>
          </a:p>
          <a:p>
            <a:endParaRPr lang="en-US"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00800"/>
          </a:xfrm>
        </p:spPr>
        <p:txBody>
          <a:bodyPr>
            <a:normAutofit/>
          </a:bodyPr>
          <a:lstStyle/>
          <a:p>
            <a:pPr algn="just"/>
            <a:r>
              <a:rPr lang="en-US" dirty="0" smtClean="0"/>
              <a:t>They encompass acts ranging from sexual assault., display or distribution of pornography, suggestive gestures, physical contact, repeated proposition for daters or sexual favors, comments on appearance or comments of sexual nature relating to the victim to a third party and so on , all of which are unwelcome by the victim</a:t>
            </a:r>
          </a:p>
          <a:p>
            <a:pPr algn="just"/>
            <a:r>
              <a:rPr lang="en-US" dirty="0" smtClean="0"/>
              <a:t>Perpetrators of sexual harassment are traditionally employers, superiors or co-workers</a:t>
            </a:r>
          </a:p>
          <a:p>
            <a:pPr algn="just"/>
            <a:r>
              <a:rPr lang="en-US" dirty="0" smtClean="0"/>
              <a:t>Women are particularly vulnerable to victimization through sexual harassment since the majority of them occupy jobs with low security, low pay, and low conditions of work, low status, and low bargaining power</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52400"/>
            <a:ext cx="8382000" cy="6553200"/>
          </a:xfrm>
        </p:spPr>
        <p:txBody>
          <a:bodyPr>
            <a:normAutofit fontScale="92500" lnSpcReduction="20000"/>
          </a:bodyPr>
          <a:lstStyle/>
          <a:p>
            <a:pPr algn="just">
              <a:lnSpc>
                <a:spcPct val="150000"/>
              </a:lnSpc>
            </a:pPr>
            <a:r>
              <a:rPr lang="en-US" dirty="0" smtClean="0"/>
              <a:t>Studies on sexual harassment cases and experiences of women have shown two dominant categories: </a:t>
            </a:r>
          </a:p>
          <a:p>
            <a:pPr lvl="0" algn="just">
              <a:lnSpc>
                <a:spcPct val="150000"/>
              </a:lnSpc>
              <a:buNone/>
            </a:pPr>
            <a:r>
              <a:rPr lang="en-US" dirty="0" smtClean="0"/>
              <a:t>1. </a:t>
            </a:r>
            <a:r>
              <a:rPr lang="en-US" b="1" dirty="0" smtClean="0"/>
              <a:t>Quid pro quo Harassment </a:t>
            </a:r>
            <a:endParaRPr lang="en-US" dirty="0" smtClean="0"/>
          </a:p>
          <a:p>
            <a:pPr algn="just">
              <a:lnSpc>
                <a:spcPct val="150000"/>
              </a:lnSpc>
              <a:buFont typeface="Wingdings" pitchFamily="2" charset="2"/>
              <a:buChar char="Ø"/>
            </a:pPr>
            <a:r>
              <a:rPr lang="en-US" dirty="0" smtClean="0"/>
              <a:t> it involves making conditions of employment (hiring, firing, promotion, retention etc. ) contingent on the victim providing sexual favors</a:t>
            </a:r>
          </a:p>
          <a:p>
            <a:pPr lvl="0" algn="just">
              <a:lnSpc>
                <a:spcPct val="150000"/>
              </a:lnSpc>
              <a:buNone/>
            </a:pPr>
            <a:r>
              <a:rPr lang="en-US" dirty="0" smtClean="0"/>
              <a:t>2.</a:t>
            </a:r>
            <a:r>
              <a:rPr lang="en-US" b="1" dirty="0" smtClean="0"/>
              <a:t> Hostile Working Environment Harassment </a:t>
            </a:r>
            <a:endParaRPr lang="en-US" dirty="0" smtClean="0"/>
          </a:p>
          <a:p>
            <a:pPr algn="just">
              <a:lnSpc>
                <a:spcPct val="150000"/>
              </a:lnSpc>
              <a:buNone/>
            </a:pPr>
            <a:r>
              <a:rPr lang="en-US" dirty="0" smtClean="0"/>
              <a:t>Sexual harassment whether verbal, physical or visual, has been acknowledged as affecting and unreasonably interfering with an individual’s job performance or creating an intimidating, hostile or offensive working environment</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324600"/>
          </a:xfrm>
        </p:spPr>
        <p:txBody>
          <a:bodyPr>
            <a:normAutofit fontScale="92500" lnSpcReduction="10000"/>
          </a:bodyPr>
          <a:lstStyle/>
          <a:p>
            <a:pPr algn="just">
              <a:buNone/>
            </a:pPr>
            <a:r>
              <a:rPr lang="en-US" b="1" dirty="0" smtClean="0"/>
              <a:t>International Human Rights Standards </a:t>
            </a:r>
          </a:p>
          <a:p>
            <a:pPr algn="just">
              <a:buNone/>
            </a:pPr>
            <a:r>
              <a:rPr lang="en-US" b="1" dirty="0" smtClean="0"/>
              <a:t>1.CEDAW</a:t>
            </a:r>
            <a:endParaRPr lang="en-US" dirty="0" smtClean="0"/>
          </a:p>
          <a:p>
            <a:pPr algn="just"/>
            <a:r>
              <a:rPr lang="en-US" dirty="0" smtClean="0"/>
              <a:t>Article 2(e), states parties are obliged to “take all appropriate measures to eliminate discrimination against women by any person, organization or enterprise</a:t>
            </a:r>
          </a:p>
          <a:p>
            <a:pPr algn="just"/>
            <a:r>
              <a:rPr lang="en-US" dirty="0" smtClean="0"/>
              <a:t>Article 15 of the convention affirms the general principle that States “shall accord to women equality with man before the law</a:t>
            </a:r>
          </a:p>
          <a:p>
            <a:pPr algn="just"/>
            <a:r>
              <a:rPr lang="en-US" dirty="0" smtClean="0"/>
              <a:t>Article 11 States parties shall take all appropriate measures to eliminate discrimination against women in the field of employment </a:t>
            </a:r>
          </a:p>
          <a:p>
            <a:pPr algn="just"/>
            <a:r>
              <a:rPr lang="en-US" dirty="0" smtClean="0"/>
              <a:t> In 1992, the CEDAW committee went one step further by formulating and adopting General Recommendation No. 19 which expressly recognizes sexual harassment as humiliating and may constitute a health and safety problem</a:t>
            </a:r>
            <a:endParaRPr 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fontScale="77500" lnSpcReduction="20000"/>
          </a:bodyPr>
          <a:lstStyle/>
          <a:p>
            <a:pPr algn="just">
              <a:lnSpc>
                <a:spcPct val="160000"/>
              </a:lnSpc>
            </a:pPr>
            <a:r>
              <a:rPr lang="en-US" dirty="0" smtClean="0"/>
              <a:t>The committee  defines sexual harassment as an “unwelcome sexually determined behavior (such) as physical contact and advances, sexually colored remarks, showing pornography and sexual demands, whether by words or actions</a:t>
            </a:r>
          </a:p>
          <a:p>
            <a:pPr marL="342900" lvl="2" indent="-342900" algn="just">
              <a:lnSpc>
                <a:spcPct val="160000"/>
              </a:lnSpc>
            </a:pPr>
            <a:r>
              <a:rPr lang="en-US" b="1" dirty="0" smtClean="0"/>
              <a:t> ICESCR Art. 7, </a:t>
            </a:r>
            <a:r>
              <a:rPr lang="en-US" sz="2800" b="1" dirty="0" smtClean="0"/>
              <a:t>ICCPR  </a:t>
            </a:r>
            <a:r>
              <a:rPr lang="en-US" sz="2800" dirty="0" smtClean="0"/>
              <a:t>Article 17 , Art. 26, </a:t>
            </a:r>
            <a:r>
              <a:rPr lang="en-US" sz="2800" b="1" dirty="0" smtClean="0"/>
              <a:t>UDHR Art.2, 23(1)</a:t>
            </a:r>
            <a:endParaRPr lang="en-US" sz="2800" dirty="0" smtClean="0"/>
          </a:p>
          <a:p>
            <a:pPr marL="342900" lvl="2" indent="-342900" algn="just">
              <a:lnSpc>
                <a:spcPct val="160000"/>
              </a:lnSpc>
            </a:pPr>
            <a:r>
              <a:rPr lang="en-US" sz="2800" b="1" dirty="0" smtClean="0"/>
              <a:t>ILO Discrimination (Employment and occupation) Convention </a:t>
            </a:r>
            <a:r>
              <a:rPr lang="en-US" sz="2800" dirty="0" smtClean="0"/>
              <a:t>no clear provision on sexual harassment but prohibit any discrimination against women in Employment  </a:t>
            </a:r>
          </a:p>
          <a:p>
            <a:pPr marL="342900" lvl="2" indent="-342900" algn="just">
              <a:lnSpc>
                <a:spcPct val="160000"/>
              </a:lnSpc>
            </a:pPr>
            <a:r>
              <a:rPr lang="en-US" sz="2800" b="1" dirty="0" smtClean="0"/>
              <a:t>UN Declaration of Violence against Women 1993:- </a:t>
            </a:r>
            <a:r>
              <a:rPr lang="en-US" sz="2800" dirty="0" smtClean="0"/>
              <a:t>it states, “violence against women shall be understood to encompass, but is not limited to, the following: physical, sexual and psychological violence occurring in the general community, including sexual harassment and intimidation at work. </a:t>
            </a:r>
          </a:p>
          <a:p>
            <a:pPr marL="342900" lvl="2" indent="-342900"/>
            <a:endParaRPr lang="en-US" sz="2800" dirty="0" smtClean="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77000"/>
          </a:xfrm>
        </p:spPr>
        <p:txBody>
          <a:bodyPr>
            <a:normAutofit fontScale="40000" lnSpcReduction="20000"/>
          </a:bodyPr>
          <a:lstStyle/>
          <a:p>
            <a:pPr marL="342900" lvl="2" indent="-342900" algn="just">
              <a:lnSpc>
                <a:spcPct val="170000"/>
              </a:lnSpc>
              <a:buNone/>
            </a:pPr>
            <a:r>
              <a:rPr lang="en-US" sz="3500" b="1" dirty="0" smtClean="0"/>
              <a:t>The Beijing Declaration and the Beijing Platform for action </a:t>
            </a:r>
            <a:endParaRPr lang="en-US" sz="3500" dirty="0" smtClean="0"/>
          </a:p>
          <a:p>
            <a:pPr marL="342900" lvl="2" indent="-342900" algn="just">
              <a:lnSpc>
                <a:spcPct val="170000"/>
              </a:lnSpc>
              <a:buFont typeface="Wingdings" pitchFamily="2" charset="2"/>
              <a:buChar char="Ø"/>
            </a:pPr>
            <a:r>
              <a:rPr lang="en-US" sz="4000" dirty="0" smtClean="0"/>
              <a:t>It includes sexual harassment and intimidation in its definition of violence against women</a:t>
            </a:r>
          </a:p>
          <a:p>
            <a:pPr marL="342900" lvl="2" indent="-342900" algn="just">
              <a:lnSpc>
                <a:spcPct val="170000"/>
              </a:lnSpc>
              <a:buFont typeface="Wingdings" pitchFamily="2" charset="2"/>
              <a:buChar char="Ø"/>
            </a:pPr>
            <a:r>
              <a:rPr lang="en-US" sz="4000" dirty="0" smtClean="0"/>
              <a:t>the experience of sexual harassment is an affront to a worker’s dignity and prevents women from making a contribution commensurate with their abilities</a:t>
            </a:r>
          </a:p>
          <a:p>
            <a:pPr marL="342900" lvl="2" indent="-342900" algn="just">
              <a:lnSpc>
                <a:spcPct val="170000"/>
              </a:lnSpc>
              <a:buFont typeface="Wingdings" pitchFamily="2" charset="2"/>
              <a:buChar char="Ø"/>
            </a:pPr>
            <a:r>
              <a:rPr lang="en-US" sz="4000" dirty="0" smtClean="0"/>
              <a:t>the BPFA recommends that states enact and enforce laws and develop workplace policies against gender discrimination in the labor market, especially regarding discriminatory working conditions and sexual harassment</a:t>
            </a:r>
          </a:p>
          <a:p>
            <a:pPr marL="342900" lvl="2" indent="-342900" algn="just">
              <a:lnSpc>
                <a:spcPct val="170000"/>
              </a:lnSpc>
              <a:buFont typeface="Wingdings" pitchFamily="2" charset="2"/>
              <a:buChar char="Ø"/>
            </a:pPr>
            <a:r>
              <a:rPr lang="en-US" sz="4000" dirty="0" smtClean="0"/>
              <a:t>It notes that “sexual harassment is incompatible with the dignity and worth of the human person and must be combated and eliminated</a:t>
            </a:r>
          </a:p>
          <a:p>
            <a:pPr marL="342900" lvl="2" indent="-342900" algn="just">
              <a:lnSpc>
                <a:spcPct val="170000"/>
              </a:lnSpc>
              <a:buFont typeface="Wingdings" pitchFamily="2" charset="2"/>
              <a:buChar char="Ø"/>
            </a:pPr>
            <a:r>
              <a:rPr lang="en-US" sz="4000" dirty="0" smtClean="0"/>
              <a:t>It also highlighted the persistence of discriminatory legislation and the continuing existence of legislative and regulatory gaps that failed to provide women with adequate protection</a:t>
            </a:r>
          </a:p>
          <a:p>
            <a:pPr marL="342900" lvl="2" indent="-342900" algn="just">
              <a:lnSpc>
                <a:spcPct val="170000"/>
              </a:lnSpc>
              <a:buFont typeface="Wingdings" pitchFamily="2" charset="2"/>
              <a:buChar char="Ø"/>
            </a:pPr>
            <a:r>
              <a:rPr lang="en-US" sz="4000" dirty="0" smtClean="0"/>
              <a:t>the failure of states to fully implement all measures necessary to secure for women, safe, healthy and equitable working environments</a:t>
            </a:r>
          </a:p>
          <a:p>
            <a:endParaRPr lang="en-US"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b="1" dirty="0" smtClean="0"/>
              <a:t>Chapter Seven</a:t>
            </a:r>
            <a:br>
              <a:rPr lang="en-US" b="1" dirty="0" smtClean="0"/>
            </a:br>
            <a:r>
              <a:rPr lang="en-US" b="1" dirty="0" smtClean="0"/>
              <a:t>Political Participation of Women</a:t>
            </a:r>
            <a:endParaRPr lang="en-US" dirty="0"/>
          </a:p>
        </p:txBody>
      </p:sp>
      <p:sp>
        <p:nvSpPr>
          <p:cNvPr id="3" name="Content Placeholder 2"/>
          <p:cNvSpPr>
            <a:spLocks noGrp="1"/>
          </p:cNvSpPr>
          <p:nvPr>
            <p:ph sz="quarter" idx="1"/>
          </p:nvPr>
        </p:nvSpPr>
        <p:spPr>
          <a:xfrm>
            <a:off x="228600" y="1600200"/>
            <a:ext cx="8763000" cy="5029200"/>
          </a:xfrm>
        </p:spPr>
        <p:txBody>
          <a:bodyPr>
            <a:normAutofit/>
          </a:bodyPr>
          <a:lstStyle/>
          <a:p>
            <a:pPr algn="just"/>
            <a:r>
              <a:rPr lang="en-US" dirty="0" smtClean="0"/>
              <a:t>It means women’s ability to participate equally with men, at all levels, and in all aspects of political life and decision making</a:t>
            </a:r>
          </a:p>
          <a:p>
            <a:pPr algn="just"/>
            <a:r>
              <a:rPr lang="en-US" dirty="0" smtClean="0"/>
              <a:t>Women's participation in formal political structures and processes, where decisions regarding the use of societal resources generated by both men and women are made, remains insignificant</a:t>
            </a:r>
          </a:p>
          <a:p>
            <a:pPr algn="just"/>
            <a:r>
              <a:rPr lang="en-US" dirty="0" smtClean="0"/>
              <a:t>Presently, women's representation in legislatures around the world is 15%, </a:t>
            </a:r>
          </a:p>
          <a:p>
            <a:pPr algn="just"/>
            <a:r>
              <a:rPr lang="en-US" dirty="0" smtClean="0"/>
              <a:t>there are countries where in the participation of women in politics goes to 33%</a:t>
            </a:r>
          </a:p>
          <a:p>
            <a:endParaRPr 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fontScale="92500"/>
          </a:bodyPr>
          <a:lstStyle/>
          <a:p>
            <a:pPr algn="just"/>
            <a:r>
              <a:rPr lang="en-US" dirty="0" smtClean="0"/>
              <a:t>women’s participation in public life and decision making varies from  country to country depending on the work done by countries to:</a:t>
            </a:r>
          </a:p>
          <a:p>
            <a:pPr marL="514350" lvl="0" indent="-514350" algn="just">
              <a:buAutoNum type="arabicPeriod"/>
            </a:pPr>
            <a:r>
              <a:rPr lang="en-US" dirty="0" smtClean="0"/>
              <a:t>raise women’s awareness of their rights and how to claim them </a:t>
            </a:r>
          </a:p>
          <a:p>
            <a:pPr marL="514350" lvl="0" indent="-514350" algn="just">
              <a:buAutoNum type="arabicPeriod"/>
            </a:pPr>
            <a:r>
              <a:rPr lang="en-US" dirty="0" smtClean="0"/>
              <a:t>provide access to information about laws, politics and institutions and structures which govern their lives</a:t>
            </a:r>
          </a:p>
          <a:p>
            <a:pPr marL="514350" lvl="0" indent="-514350" algn="just">
              <a:buAutoNum type="arabicPeriod"/>
            </a:pPr>
            <a:r>
              <a:rPr lang="en-US" dirty="0" smtClean="0"/>
              <a:t> raise women’s confidence, self-esteem and the skills so that they themselves challenge and confront existing power structures</a:t>
            </a:r>
          </a:p>
          <a:p>
            <a:pPr marL="514350" lvl="0" indent="-514350" algn="just">
              <a:buAutoNum type="arabicPeriod"/>
            </a:pPr>
            <a:r>
              <a:rPr lang="en-US" dirty="0" smtClean="0"/>
              <a:t>Support networks and positive role models</a:t>
            </a:r>
          </a:p>
          <a:p>
            <a:pPr marL="514350" lvl="0" indent="-514350" algn="just">
              <a:buAutoNum type="arabicPeriod"/>
            </a:pPr>
            <a:r>
              <a:rPr lang="en-US" dirty="0" smtClean="0"/>
              <a:t>Create an enabling environment, meaning to create a political, legal, economic and cultural climate that allows women to engage in decision making process in sustainable and effective way</a:t>
            </a:r>
            <a:endParaRPr lang="en-US"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610600" cy="6400800"/>
          </a:xfrm>
        </p:spPr>
        <p:txBody>
          <a:bodyPr>
            <a:normAutofit fontScale="92500" lnSpcReduction="10000"/>
          </a:bodyPr>
          <a:lstStyle/>
          <a:p>
            <a:pPr algn="just">
              <a:buNone/>
            </a:pPr>
            <a:r>
              <a:rPr lang="en-US" b="1" dirty="0" smtClean="0"/>
              <a:t>Women’s right to participate in politics as a human right</a:t>
            </a:r>
          </a:p>
          <a:p>
            <a:pPr algn="just">
              <a:buFont typeface="Wingdings" pitchFamily="2" charset="2"/>
              <a:buChar char="Ø"/>
            </a:pPr>
            <a:r>
              <a:rPr lang="en-US" sz="2800" dirty="0" smtClean="0"/>
              <a:t>To enhance the political participation of women, many international human rights documents as well as national constitutions and laws enshrined provision that recognize the right of women to equally participate in politics</a:t>
            </a:r>
          </a:p>
          <a:p>
            <a:pPr algn="just">
              <a:buNone/>
            </a:pPr>
            <a:r>
              <a:rPr lang="en-US" sz="2800" b="1" dirty="0" smtClean="0"/>
              <a:t>UDHR:- </a:t>
            </a:r>
            <a:r>
              <a:rPr lang="en-US" sz="2800" dirty="0" smtClean="0"/>
              <a:t>Article 21 recognized the right of every one, including both women and men, to take part in the </a:t>
            </a:r>
            <a:r>
              <a:rPr lang="en-US" sz="2800" dirty="0" err="1" smtClean="0"/>
              <a:t>gov’t</a:t>
            </a:r>
            <a:r>
              <a:rPr lang="en-US" sz="2800" dirty="0" smtClean="0"/>
              <a:t>  of their country, directly or through freely chosen representative</a:t>
            </a:r>
          </a:p>
          <a:p>
            <a:pPr algn="just">
              <a:buNone/>
            </a:pPr>
            <a:r>
              <a:rPr lang="en-US" sz="2800" b="1" dirty="0" smtClean="0"/>
              <a:t>ICCPR:- </a:t>
            </a:r>
            <a:r>
              <a:rPr lang="en-US" sz="2800" dirty="0" smtClean="0"/>
              <a:t>25 of ICCPR guarantees all citizens to take part in the conduct of public affairs without discrimination on the ground of, among others, sex. </a:t>
            </a:r>
          </a:p>
          <a:p>
            <a:pPr algn="just">
              <a:buFont typeface="Wingdings" pitchFamily="2" charset="2"/>
              <a:buChar char="Ø"/>
            </a:pPr>
            <a:r>
              <a:rPr lang="en-US" sz="2800" dirty="0" smtClean="0"/>
              <a:t>It  assure all citizens, men as well as women, to vote and to be elected at genuine public election</a:t>
            </a:r>
          </a:p>
          <a:p>
            <a:endParaRPr lang="en-US"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00800"/>
          </a:xfrm>
        </p:spPr>
        <p:txBody>
          <a:bodyPr>
            <a:normAutofit fontScale="92500"/>
          </a:bodyPr>
          <a:lstStyle/>
          <a:p>
            <a:pPr algn="just">
              <a:buNone/>
            </a:pPr>
            <a:r>
              <a:rPr lang="en-US" b="1" dirty="0" smtClean="0"/>
              <a:t>CEDAW:- </a:t>
            </a:r>
            <a:r>
              <a:rPr lang="en-US" dirty="0" smtClean="0"/>
              <a:t> it elaborate the nature of women’s political rights and the steps required to promote greater equality b/n women and men in this area</a:t>
            </a:r>
          </a:p>
          <a:p>
            <a:pPr marL="342900" lvl="3" indent="-342900" algn="just">
              <a:buNone/>
            </a:pPr>
            <a:r>
              <a:rPr lang="en-US" sz="2800" b="1" dirty="0" smtClean="0"/>
              <a:t>Beijing Platform for Action</a:t>
            </a:r>
            <a:endParaRPr lang="en-US" sz="2800" dirty="0" smtClean="0"/>
          </a:p>
          <a:p>
            <a:pPr algn="just">
              <a:buFont typeface="Wingdings" pitchFamily="2" charset="2"/>
              <a:buChar char="Ø"/>
            </a:pPr>
            <a:r>
              <a:rPr lang="en-US" sz="2800" dirty="0" smtClean="0"/>
              <a:t>States </a:t>
            </a:r>
            <a:r>
              <a:rPr lang="en-US" sz="2800" dirty="0" smtClean="0">
                <a:solidFill>
                  <a:srgbClr val="FF0000"/>
                </a:solidFill>
              </a:rPr>
              <a:t>women  empowerment </a:t>
            </a:r>
            <a:r>
              <a:rPr lang="en-US" sz="2800" dirty="0" smtClean="0"/>
              <a:t>and </a:t>
            </a:r>
            <a:r>
              <a:rPr lang="en-US" sz="2800" dirty="0" smtClean="0">
                <a:solidFill>
                  <a:srgbClr val="FF0000"/>
                </a:solidFill>
              </a:rPr>
              <a:t>autonomy of women </a:t>
            </a:r>
            <a:r>
              <a:rPr lang="en-US" sz="2800" dirty="0" smtClean="0"/>
              <a:t>and the improvement of women’s social, economic and political status is essential for the achievement of both transparent and accountable gov’t and administration and sustainable dev’t in all areas of life</a:t>
            </a:r>
          </a:p>
          <a:p>
            <a:pPr marL="342900" lvl="3" indent="-342900" algn="just">
              <a:buNone/>
            </a:pPr>
            <a:r>
              <a:rPr lang="en-US" sz="2800" b="1" dirty="0" smtClean="0"/>
              <a:t>PACPHRWA:-</a:t>
            </a:r>
          </a:p>
          <a:p>
            <a:pPr marL="342900" lvl="3" indent="-342900" algn="just">
              <a:buFont typeface="Wingdings" pitchFamily="2" charset="2"/>
              <a:buChar char="Ø"/>
            </a:pPr>
            <a:r>
              <a:rPr lang="en-US" sz="2800" b="1" dirty="0" smtClean="0"/>
              <a:t> </a:t>
            </a:r>
            <a:r>
              <a:rPr lang="en-US" sz="2800" dirty="0" smtClean="0"/>
              <a:t>impose obligation on state parties to promote participative governance and the equal participation of women in the political life of their countries through </a:t>
            </a:r>
            <a:r>
              <a:rPr lang="en-US" sz="2800" dirty="0" smtClean="0">
                <a:solidFill>
                  <a:srgbClr val="FF0000"/>
                </a:solidFill>
              </a:rPr>
              <a:t>affirmative action</a:t>
            </a:r>
            <a:r>
              <a:rPr lang="en-US" sz="2800" dirty="0" smtClean="0"/>
              <a:t>, </a:t>
            </a:r>
            <a:r>
              <a:rPr lang="en-US" sz="2800" dirty="0" smtClean="0">
                <a:solidFill>
                  <a:srgbClr val="FF0000"/>
                </a:solidFill>
              </a:rPr>
              <a:t>enabling national legislation </a:t>
            </a:r>
            <a:r>
              <a:rPr lang="en-US" sz="2800" dirty="0" smtClean="0"/>
              <a:t>and other measures s</a:t>
            </a:r>
          </a:p>
          <a:p>
            <a:pPr>
              <a:buNone/>
            </a:pPr>
            <a:endParaRPr lang="en-US" sz="2800"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fontScale="92500"/>
          </a:bodyPr>
          <a:lstStyle/>
          <a:p>
            <a:pPr marL="342900" lvl="3" indent="-342900" algn="just">
              <a:lnSpc>
                <a:spcPct val="150000"/>
              </a:lnSpc>
              <a:buFont typeface="Arial" pitchFamily="34" charset="0"/>
              <a:buChar char="•"/>
            </a:pPr>
            <a:r>
              <a:rPr lang="en-US" sz="2800" dirty="0" smtClean="0"/>
              <a:t>ensure the participation of women  in national elections without  discrimination, </a:t>
            </a:r>
          </a:p>
          <a:p>
            <a:pPr marL="342900" lvl="3" indent="-342900" algn="just">
              <a:lnSpc>
                <a:spcPct val="150000"/>
              </a:lnSpc>
              <a:buFont typeface="Arial" pitchFamily="34" charset="0"/>
              <a:buChar char="•"/>
            </a:pPr>
            <a:r>
              <a:rPr lang="en-US" sz="2800" dirty="0" smtClean="0"/>
              <a:t>equal representation of women at all electoral process with that of men, </a:t>
            </a:r>
          </a:p>
          <a:p>
            <a:pPr marL="342900" lvl="3" indent="-342900" algn="just">
              <a:lnSpc>
                <a:spcPct val="150000"/>
              </a:lnSpc>
              <a:buFont typeface="Arial" pitchFamily="34" charset="0"/>
              <a:buChar char="•"/>
            </a:pPr>
            <a:r>
              <a:rPr lang="en-US" sz="2800" dirty="0" smtClean="0"/>
              <a:t>partnership of women with men at all levels of development and implementation of state policies and development programmers</a:t>
            </a:r>
          </a:p>
          <a:p>
            <a:pPr marL="342900" lvl="3" indent="-342900" algn="just">
              <a:lnSpc>
                <a:spcPct val="150000"/>
              </a:lnSpc>
              <a:buNone/>
            </a:pPr>
            <a:r>
              <a:rPr lang="en-US" sz="2800" b="1" dirty="0" smtClean="0"/>
              <a:t>The FDRE Constitution:- </a:t>
            </a:r>
            <a:r>
              <a:rPr lang="en-US" sz="2800" dirty="0" smtClean="0"/>
              <a:t>guarantee women equal right with that of men to equally participate in politics</a:t>
            </a:r>
          </a:p>
          <a:p>
            <a:pPr marL="342900" lvl="3" indent="-342900" algn="just">
              <a:lnSpc>
                <a:spcPct val="150000"/>
              </a:lnSpc>
              <a:buNone/>
            </a:pPr>
            <a:r>
              <a:rPr lang="en-US" sz="2800" dirty="0" smtClean="0"/>
              <a:t>Art. 38, Art.35</a:t>
            </a:r>
          </a:p>
          <a:p>
            <a:endParaRPr lang="en-US"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228600"/>
            <a:ext cx="8991600" cy="6477000"/>
          </a:xfrm>
        </p:spPr>
        <p:txBody>
          <a:bodyPr>
            <a:normAutofit/>
          </a:bodyPr>
          <a:lstStyle/>
          <a:p>
            <a:pPr marL="342900" lvl="1" indent="-342900" algn="just">
              <a:buNone/>
            </a:pPr>
            <a:r>
              <a:rPr lang="en-US" sz="3000" b="1" dirty="0" smtClean="0"/>
              <a:t>The two main reasons that justify the promotion of women’s participation in public life</a:t>
            </a:r>
            <a:endParaRPr lang="en-US" sz="3000" dirty="0" smtClean="0"/>
          </a:p>
          <a:p>
            <a:pPr marL="514350" indent="-514350" algn="just">
              <a:buAutoNum type="arabicPeriod"/>
            </a:pPr>
            <a:r>
              <a:rPr lang="en-US" b="1" dirty="0" smtClean="0"/>
              <a:t>the intrinsic argument:- </a:t>
            </a:r>
            <a:r>
              <a:rPr lang="en-US" dirty="0" smtClean="0"/>
              <a:t>equal participation of women in politics forms the human rights perspective</a:t>
            </a:r>
          </a:p>
          <a:p>
            <a:pPr marL="514350" indent="-514350" algn="just">
              <a:buFont typeface="Wingdings" pitchFamily="2" charset="2"/>
              <a:buChar char="Ø"/>
            </a:pPr>
            <a:r>
              <a:rPr lang="en-US" dirty="0" smtClean="0"/>
              <a:t>women constitute half of the world population and therefore, it is only fair that they should have equal participation and representation in world democracies</a:t>
            </a:r>
          </a:p>
          <a:p>
            <a:pPr marL="514350" indent="-514350" algn="just">
              <a:buNone/>
            </a:pPr>
            <a:r>
              <a:rPr lang="en-US" dirty="0" smtClean="0"/>
              <a:t>2. </a:t>
            </a:r>
            <a:r>
              <a:rPr lang="en-US" b="1" dirty="0" smtClean="0"/>
              <a:t>the instrumentalist argument:- </a:t>
            </a:r>
            <a:r>
              <a:rPr lang="en-US" dirty="0" smtClean="0"/>
              <a:t>women have d/t vision and concepts of politics owning to their sex and their gender role as a mother. </a:t>
            </a:r>
          </a:p>
          <a:p>
            <a:pPr marL="514350" indent="-514350" algn="just">
              <a:buFont typeface="Wingdings" pitchFamily="2" charset="2"/>
              <a:buChar char="Ø"/>
            </a:pPr>
            <a:r>
              <a:rPr lang="en-US" dirty="0" smtClean="0"/>
              <a:t>therefore they assume that women in politics will bring a special caring focus and female values to politics.</a:t>
            </a:r>
          </a:p>
          <a:p>
            <a:pPr marL="514350" indent="-514350">
              <a:buNone/>
            </a:pPr>
            <a:endParaRPr 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400800"/>
          </a:xfrm>
        </p:spPr>
        <p:txBody>
          <a:bodyPr>
            <a:normAutofit/>
          </a:bodyPr>
          <a:lstStyle/>
          <a:p>
            <a:pPr marL="342900" lvl="1" indent="-342900" algn="just">
              <a:buNone/>
            </a:pPr>
            <a:r>
              <a:rPr lang="en-US" b="1" dirty="0" smtClean="0"/>
              <a:t>Factors Hindering Women’s Political participation</a:t>
            </a:r>
          </a:p>
          <a:p>
            <a:pPr marL="514350" lvl="1" indent="-514350" algn="just">
              <a:buAutoNum type="arabicPeriod"/>
            </a:pPr>
            <a:r>
              <a:rPr lang="en-US" b="1" dirty="0" smtClean="0"/>
              <a:t>Ideological factors:- </a:t>
            </a:r>
            <a:r>
              <a:rPr lang="en-US" dirty="0" smtClean="0"/>
              <a:t>Patriarchy as a system of male domination shapes women’s relationship in politics</a:t>
            </a:r>
          </a:p>
          <a:p>
            <a:pPr marL="514350" lvl="1" indent="-514350" algn="just">
              <a:buFont typeface="Wingdings" pitchFamily="2" charset="2"/>
              <a:buChar char="Ø"/>
            </a:pPr>
            <a:r>
              <a:rPr lang="en-US" dirty="0" smtClean="0"/>
              <a:t>It place women within the private arena of home as mothers and wives and men in the public sphere</a:t>
            </a:r>
          </a:p>
          <a:p>
            <a:pPr marL="514350" lvl="1" indent="-514350" algn="just">
              <a:buNone/>
            </a:pPr>
            <a:r>
              <a:rPr lang="en-US" dirty="0" smtClean="0"/>
              <a:t>2. </a:t>
            </a:r>
            <a:r>
              <a:rPr lang="en-US" b="1" dirty="0" smtClean="0"/>
              <a:t>Political Factors:- </a:t>
            </a:r>
            <a:r>
              <a:rPr lang="en-US" dirty="0" smtClean="0"/>
              <a:t>public-private dichotomy in traditional definition of politics is used to exclude women from public political sphere </a:t>
            </a:r>
          </a:p>
          <a:p>
            <a:pPr marL="514350" lvl="1" indent="-514350" algn="just">
              <a:buFont typeface="Wingdings" pitchFamily="2" charset="2"/>
              <a:buChar char="Ø"/>
            </a:pPr>
            <a:r>
              <a:rPr lang="en-US" dirty="0" smtClean="0"/>
              <a:t>Male domination of politics, political parties and culture of formal political structures is another factor that hinders women’s political participation</a:t>
            </a:r>
          </a:p>
          <a:p>
            <a:pPr marL="514350" lvl="1" indent="-514350" algn="just">
              <a:buFont typeface="Wingdings" pitchFamily="2" charset="2"/>
              <a:buChar char="Ø"/>
            </a:pPr>
            <a:r>
              <a:rPr lang="en-US" dirty="0" smtClean="0"/>
              <a:t>Is the democracy shaped by secular or religious ideology</a:t>
            </a:r>
          </a:p>
          <a:p>
            <a:pPr marL="514350" lvl="1" indent="-514350" algn="just">
              <a:buNone/>
            </a:pPr>
            <a:r>
              <a:rPr lang="en-US" dirty="0" smtClean="0"/>
              <a:t> </a:t>
            </a:r>
            <a:r>
              <a:rPr lang="en-US" b="1" dirty="0" smtClean="0"/>
              <a:t> 3. Socio-Cultural Factor:- </a:t>
            </a:r>
            <a:r>
              <a:rPr lang="en-US" dirty="0" smtClean="0"/>
              <a:t>The subordinate status of women </a:t>
            </a:r>
          </a:p>
          <a:p>
            <a:pPr marL="514350" lvl="1" indent="-514350" algn="just">
              <a:buFont typeface="Wingdings" pitchFamily="2" charset="2"/>
              <a:buChar char="Ø"/>
            </a:pPr>
            <a:r>
              <a:rPr lang="en-US" dirty="0" smtClean="0"/>
              <a:t>female sex is generally valued less than male sex because of their socially ascribed roles in the reproductive sphere</a:t>
            </a:r>
          </a:p>
          <a:p>
            <a:pPr marL="514350" lvl="1" indent="-514350">
              <a:buNone/>
            </a:pPr>
            <a:endParaRPr lang="en-US" dirty="0" smtClean="0"/>
          </a:p>
          <a:p>
            <a:pPr marL="514350" lvl="1" indent="-514350">
              <a:buNone/>
            </a:pPr>
            <a:endParaRPr lang="en-US" dirty="0" smtClean="0"/>
          </a:p>
          <a:p>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304800"/>
            <a:ext cx="8839200" cy="6324600"/>
          </a:xfrm>
        </p:spPr>
        <p:txBody>
          <a:bodyPr>
            <a:normAutofit fontScale="92500" lnSpcReduction="10000"/>
          </a:bodyPr>
          <a:lstStyle/>
          <a:p>
            <a:pPr algn="just">
              <a:buFont typeface="Wingdings" pitchFamily="2" charset="2"/>
              <a:buChar char="Ø"/>
            </a:pPr>
            <a:r>
              <a:rPr lang="en-US" dirty="0" smtClean="0"/>
              <a:t>Women also find it hard to participate in politics due to the limited time available to them because of their dual roles in the reproductive sphere</a:t>
            </a:r>
          </a:p>
          <a:p>
            <a:pPr algn="just">
              <a:buNone/>
            </a:pPr>
            <a:r>
              <a:rPr lang="en-US" dirty="0" smtClean="0"/>
              <a:t>4. </a:t>
            </a:r>
            <a:r>
              <a:rPr lang="en-US" b="1" dirty="0" smtClean="0"/>
              <a:t>Economic Factors:- </a:t>
            </a:r>
            <a:r>
              <a:rPr lang="en-US" dirty="0" smtClean="0"/>
              <a:t>Politics is increasingly becoming commercialized. More and more money is needed to participate in politics. </a:t>
            </a:r>
          </a:p>
          <a:p>
            <a:pPr algn="just">
              <a:buFont typeface="Wingdings" pitchFamily="2" charset="2"/>
              <a:buChar char="Ø"/>
            </a:pPr>
            <a:r>
              <a:rPr lang="en-US" dirty="0" smtClean="0"/>
              <a:t>Women lack access to and ownership of productive resource, which in turn limits the scope of their political work</a:t>
            </a:r>
          </a:p>
          <a:p>
            <a:pPr algn="just">
              <a:buNone/>
            </a:pPr>
            <a:r>
              <a:rPr lang="en-US" dirty="0" smtClean="0"/>
              <a:t>5. </a:t>
            </a:r>
            <a:r>
              <a:rPr lang="en-US" b="1" dirty="0" smtClean="0"/>
              <a:t>Lack of Social Capital and Political Capacities:- </a:t>
            </a:r>
            <a:r>
              <a:rPr lang="en-US" dirty="0" smtClean="0"/>
              <a:t>because they are often not head of communities, tribes or kinship groups, resulting in the absence of constituency base for them and </a:t>
            </a:r>
          </a:p>
          <a:p>
            <a:pPr algn="just">
              <a:buFont typeface="Wingdings" pitchFamily="2" charset="2"/>
              <a:buChar char="Ø"/>
            </a:pPr>
            <a:r>
              <a:rPr lang="en-US" dirty="0" smtClean="0"/>
              <a:t>means of political participation such as political skills, economic resources, education, training and access to information. </a:t>
            </a:r>
          </a:p>
          <a:p>
            <a:pPr>
              <a:buNone/>
            </a:pPr>
            <a:endParaRPr lang="en-US"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763000" cy="6400800"/>
          </a:xfrm>
        </p:spPr>
        <p:txBody>
          <a:bodyPr>
            <a:normAutofit fontScale="92500" lnSpcReduction="20000"/>
          </a:bodyPr>
          <a:lstStyle/>
          <a:p>
            <a:pPr marL="342900" lvl="1" indent="-342900" algn="just">
              <a:lnSpc>
                <a:spcPct val="150000"/>
              </a:lnSpc>
              <a:buNone/>
            </a:pPr>
            <a:r>
              <a:rPr lang="en-US" b="1" dirty="0" smtClean="0"/>
              <a:t>Strategies for women’s political participation </a:t>
            </a:r>
          </a:p>
          <a:p>
            <a:pPr marL="342900" lvl="1" indent="-342900" algn="just">
              <a:lnSpc>
                <a:spcPct val="150000"/>
              </a:lnSpc>
              <a:buNone/>
            </a:pPr>
            <a:r>
              <a:rPr lang="en-US" sz="1800" b="1" dirty="0" smtClean="0"/>
              <a:t>1. </a:t>
            </a:r>
            <a:r>
              <a:rPr lang="en-US" b="1" dirty="0" smtClean="0"/>
              <a:t>Quotas Argument for and against</a:t>
            </a:r>
            <a:endParaRPr lang="en-US" dirty="0" smtClean="0"/>
          </a:p>
          <a:p>
            <a:pPr marL="342900" lvl="1" indent="-342900" algn="just">
              <a:lnSpc>
                <a:spcPct val="150000"/>
              </a:lnSpc>
              <a:buFont typeface="Wingdings" pitchFamily="2" charset="2"/>
              <a:buChar char="Ø"/>
            </a:pPr>
            <a:r>
              <a:rPr lang="en-US" dirty="0" smtClean="0"/>
              <a:t>gender quota is an effective tool in addressing women’s exclusion and ensuring their presence in formal structure of politics</a:t>
            </a:r>
          </a:p>
          <a:p>
            <a:pPr marL="342900" lvl="1" indent="-342900" algn="just">
              <a:lnSpc>
                <a:spcPct val="150000"/>
              </a:lnSpc>
              <a:buNone/>
            </a:pPr>
            <a:r>
              <a:rPr lang="en-US" b="1" dirty="0" smtClean="0"/>
              <a:t>Criticism:- </a:t>
            </a:r>
            <a:r>
              <a:rPr lang="en-US" dirty="0" smtClean="0"/>
              <a:t>Without addressing the structural constraints to women’s political exclusion, their inclusion through gender quota cannot lead to an effective representation. </a:t>
            </a:r>
          </a:p>
          <a:p>
            <a:pPr marL="342900" lvl="1" indent="-342900" algn="just">
              <a:lnSpc>
                <a:spcPct val="150000"/>
              </a:lnSpc>
              <a:buFont typeface="Wingdings" pitchFamily="2" charset="2"/>
              <a:buChar char="Ø"/>
            </a:pPr>
            <a:r>
              <a:rPr lang="en-US" dirty="0" smtClean="0"/>
              <a:t>In addition to quota it involve a redistribution of socio-economic resources within societies</a:t>
            </a:r>
          </a:p>
          <a:p>
            <a:pPr marL="342900" lvl="1" indent="-342900" algn="just">
              <a:lnSpc>
                <a:spcPct val="150000"/>
              </a:lnSpc>
              <a:buFont typeface="Wingdings" pitchFamily="2" charset="2"/>
              <a:buChar char="Ø"/>
            </a:pPr>
            <a:r>
              <a:rPr lang="en-US" dirty="0" smtClean="0"/>
              <a:t>The domination of elite women in political structures due to state quotas calls for locating the gender quota within the framework of diversity and difference to ensure women’s political empowerment</a:t>
            </a:r>
          </a:p>
          <a:p>
            <a:pPr marL="342900" lvl="1" indent="-342900" algn="just">
              <a:lnSpc>
                <a:spcPct val="150000"/>
              </a:lnSpc>
              <a:buFont typeface="Wingdings" pitchFamily="2" charset="2"/>
              <a:buChar char="Ø"/>
            </a:pPr>
            <a:r>
              <a:rPr lang="en-US" dirty="0" smtClean="0"/>
              <a:t>Changing the perception of the society is needed </a:t>
            </a:r>
          </a:p>
          <a:p>
            <a:pPr marL="342900" lvl="1" indent="-342900" algn="just">
              <a:lnSpc>
                <a:spcPct val="150000"/>
              </a:lnSpc>
              <a:buFont typeface="Wingdings" pitchFamily="2" charset="2"/>
              <a:buChar char="Ø"/>
            </a:pPr>
            <a:r>
              <a:rPr lang="en-US" dirty="0" smtClean="0"/>
              <a:t>Empowerment of women should first </a:t>
            </a: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686800" cy="6477000"/>
          </a:xfrm>
        </p:spPr>
        <p:txBody>
          <a:bodyPr/>
          <a:lstStyle/>
          <a:p>
            <a:pPr marL="342900" lvl="2" indent="-342900" algn="just">
              <a:buNone/>
            </a:pPr>
            <a:r>
              <a:rPr lang="en-US" b="1" dirty="0" smtClean="0"/>
              <a:t>2. </a:t>
            </a:r>
            <a:r>
              <a:rPr lang="en-US" sz="2800" b="1" dirty="0" smtClean="0"/>
              <a:t>Enabling environment for women participation in politics and development</a:t>
            </a:r>
          </a:p>
          <a:p>
            <a:pPr marL="342900" lvl="2" indent="-342900" algn="just">
              <a:buFont typeface="Wingdings" pitchFamily="2" charset="2"/>
              <a:buChar char="Ø"/>
            </a:pPr>
            <a:r>
              <a:rPr lang="en-US" sz="2800" dirty="0" smtClean="0"/>
              <a:t>equal participation of women in politics can be achieved when socio-cultural, political and economic structural barriers are changed</a:t>
            </a:r>
          </a:p>
          <a:p>
            <a:pPr marL="342900" lvl="2" indent="-342900" algn="just">
              <a:buFont typeface="Wingdings" pitchFamily="2" charset="2"/>
              <a:buChar char="Ø"/>
            </a:pPr>
            <a:r>
              <a:rPr lang="en-US" sz="2800" dirty="0" smtClean="0"/>
              <a:t>Raising Women’s consciousness of their political rights</a:t>
            </a:r>
          </a:p>
          <a:p>
            <a:pPr marL="342900" lvl="2" indent="-342900" algn="just">
              <a:buFont typeface="Wingdings" pitchFamily="2" charset="2"/>
              <a:buChar char="Ø"/>
            </a:pPr>
            <a:r>
              <a:rPr lang="en-US" sz="2800" dirty="0" smtClean="0"/>
              <a:t>A strong women’s movement and civil society </a:t>
            </a:r>
          </a:p>
          <a:p>
            <a:pPr marL="342900" lvl="2" indent="-342900" algn="just">
              <a:buNone/>
            </a:pPr>
            <a:r>
              <a:rPr lang="en-US" sz="2800" b="1" dirty="0" smtClean="0"/>
              <a:t>Participation of Ethiopian Women in Public Life and Decision Making </a:t>
            </a:r>
          </a:p>
          <a:p>
            <a:pPr marL="342900" lvl="2" indent="-342900" algn="just">
              <a:buFont typeface="Wingdings" pitchFamily="2" charset="2"/>
              <a:buChar char="Ø"/>
            </a:pPr>
            <a:r>
              <a:rPr lang="en-US" sz="2800" dirty="0" smtClean="0"/>
              <a:t>Ethiopia is one of the countries wherein women’s participation in politics is minimal due to the factors dealt here in above</a:t>
            </a:r>
          </a:p>
          <a:p>
            <a:pPr marL="342900" lvl="2" indent="-342900">
              <a:buNone/>
            </a:pPr>
            <a:endParaRPr lang="en-US" sz="1800" dirty="0" smtClean="0"/>
          </a:p>
          <a:p>
            <a:endParaRPr lang="en-US"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763000" cy="6477000"/>
          </a:xfrm>
        </p:spPr>
        <p:txBody>
          <a:bodyPr>
            <a:normAutofit fontScale="92500" lnSpcReduction="10000"/>
          </a:bodyPr>
          <a:lstStyle/>
          <a:p>
            <a:pPr algn="just">
              <a:buNone/>
            </a:pPr>
            <a:r>
              <a:rPr lang="en-US" dirty="0" smtClean="0"/>
              <a:t>Measure taken by the Ethiopian government </a:t>
            </a:r>
          </a:p>
          <a:p>
            <a:pPr marL="514350" indent="-514350" algn="just">
              <a:buAutoNum type="arabicPeriod"/>
            </a:pPr>
            <a:r>
              <a:rPr lang="en-US" dirty="0" smtClean="0"/>
              <a:t>Ratification of CEDAW</a:t>
            </a:r>
          </a:p>
          <a:p>
            <a:pPr marL="514350" indent="-514350" algn="just">
              <a:buAutoNum type="arabicPeriod"/>
            </a:pPr>
            <a:r>
              <a:rPr lang="en-US" dirty="0" smtClean="0"/>
              <a:t>FDRE constitution:- Article 38 the right of every Ethiopian to  participate in public affairs, to vote and to be elected to any office at any level of government and to be a member of any political organizations, labor union, trade organization and etc; without discrimination on the ground of sex</a:t>
            </a:r>
          </a:p>
          <a:p>
            <a:pPr marL="514350" indent="-514350" algn="just">
              <a:buAutoNum type="arabicPeriod"/>
            </a:pPr>
            <a:r>
              <a:rPr lang="en-US" dirty="0" smtClean="0"/>
              <a:t>Constitution entitled women to affirmative measures in politics, under Article 35(3)</a:t>
            </a:r>
          </a:p>
          <a:p>
            <a:pPr marL="514350" indent="-514350" algn="just">
              <a:buAutoNum type="arabicPeriod"/>
            </a:pPr>
            <a:r>
              <a:rPr lang="en-US" dirty="0" smtClean="0"/>
              <a:t>the government initiated various policies and strategies such as the National Policy on Women of 1993</a:t>
            </a:r>
          </a:p>
          <a:p>
            <a:pPr marL="514350" indent="-514350" algn="just">
              <a:buAutoNum type="arabicPeriod"/>
            </a:pPr>
            <a:r>
              <a:rPr lang="en-US" dirty="0" smtClean="0"/>
              <a:t>Efforts have also been made both by governmental and non governmental organizations to disseminate women rights information to the people including, but not limited to, women’s right to participate in politics equally with that of men. </a:t>
            </a:r>
            <a:endParaRPr 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324600"/>
          </a:xfrm>
        </p:spPr>
        <p:txBody>
          <a:bodyPr/>
          <a:lstStyle/>
          <a:p>
            <a:pPr algn="just">
              <a:lnSpc>
                <a:spcPct val="150000"/>
              </a:lnSpc>
            </a:pPr>
            <a:r>
              <a:rPr lang="en-US" dirty="0" smtClean="0"/>
              <a:t>The translation of Human Rights Conventions which enshrined provision that recognize women’s right to participate in politics into working local language and </a:t>
            </a:r>
          </a:p>
          <a:p>
            <a:pPr algn="just">
              <a:lnSpc>
                <a:spcPct val="150000"/>
              </a:lnSpc>
            </a:pPr>
            <a:r>
              <a:rPr lang="en-US" dirty="0" smtClean="0"/>
              <a:t>the improvement in the education of gender issues in media</a:t>
            </a:r>
          </a:p>
          <a:p>
            <a:pPr algn="just"/>
            <a:r>
              <a:rPr lang="en-US" dirty="0" smtClean="0"/>
              <a:t>The increase in the number of women both in the House of Peoples Representatives and House of Federation, in almost all political parties and the state councils </a:t>
            </a:r>
            <a:endParaRPr lang="en-US"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52400"/>
            <a:ext cx="8686800" cy="6553200"/>
          </a:xfrm>
        </p:spPr>
        <p:txBody>
          <a:bodyPr>
            <a:normAutofit lnSpcReduction="10000"/>
          </a:bodyPr>
          <a:lstStyle/>
          <a:p>
            <a:pPr algn="just">
              <a:lnSpc>
                <a:spcPct val="150000"/>
              </a:lnSpc>
              <a:buNone/>
            </a:pPr>
            <a:r>
              <a:rPr lang="en-US" b="1" dirty="0" smtClean="0"/>
              <a:t>                  Chapter Eight</a:t>
            </a:r>
          </a:p>
          <a:p>
            <a:pPr algn="just">
              <a:lnSpc>
                <a:spcPct val="150000"/>
              </a:lnSpc>
              <a:buNone/>
            </a:pPr>
            <a:r>
              <a:rPr lang="en-US" dirty="0" smtClean="0"/>
              <a:t> </a:t>
            </a:r>
            <a:r>
              <a:rPr lang="en-US" b="1" dirty="0" smtClean="0"/>
              <a:t>Reproductive Rights of women</a:t>
            </a:r>
          </a:p>
          <a:p>
            <a:pPr algn="just">
              <a:lnSpc>
                <a:spcPct val="150000"/>
              </a:lnSpc>
              <a:buNone/>
            </a:pPr>
            <a:r>
              <a:rPr lang="en-US" dirty="0" smtClean="0"/>
              <a:t>reproductive health rights include:</a:t>
            </a:r>
          </a:p>
          <a:p>
            <a:pPr lvl="0" algn="just">
              <a:lnSpc>
                <a:spcPct val="150000"/>
              </a:lnSpc>
            </a:pPr>
            <a:r>
              <a:rPr lang="en-US" dirty="0" smtClean="0"/>
              <a:t>The right to legal or save abortion ;</a:t>
            </a:r>
          </a:p>
          <a:p>
            <a:pPr lvl="0" algn="just">
              <a:lnSpc>
                <a:spcPct val="150000"/>
              </a:lnSpc>
            </a:pPr>
            <a:r>
              <a:rPr lang="en-US" dirty="0" smtClean="0"/>
              <a:t>The right to control one’s reproductive functions;</a:t>
            </a:r>
          </a:p>
          <a:p>
            <a:pPr lvl="0" algn="just">
              <a:lnSpc>
                <a:spcPct val="150000"/>
              </a:lnSpc>
            </a:pPr>
            <a:r>
              <a:rPr lang="en-US" dirty="0" smtClean="0"/>
              <a:t>The right to access quality reproductive health care and</a:t>
            </a:r>
          </a:p>
          <a:p>
            <a:pPr algn="just">
              <a:lnSpc>
                <a:spcPct val="150000"/>
              </a:lnSpc>
            </a:pPr>
            <a:r>
              <a:rPr lang="en-US" dirty="0" smtClean="0"/>
              <a:t>The right to education and access in order to make reproductive choice free from coercion, discrimination and violence.</a:t>
            </a:r>
            <a:endParaRPr lang="en-US" b="1"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77000"/>
          </a:xfrm>
        </p:spPr>
        <p:txBody>
          <a:bodyPr>
            <a:normAutofit lnSpcReduction="10000"/>
          </a:bodyPr>
          <a:lstStyle/>
          <a:p>
            <a:pPr algn="just">
              <a:buNone/>
            </a:pPr>
            <a:r>
              <a:rPr lang="en-US" dirty="0" smtClean="0"/>
              <a:t>As per Article 14 of Protocol to the African Chapter on Human and People’s Right on the Rights of Women in Africa, reproductive right is a right that includes:</a:t>
            </a:r>
          </a:p>
          <a:p>
            <a:pPr lvl="0" algn="just"/>
            <a:r>
              <a:rPr lang="en-US" dirty="0" smtClean="0"/>
              <a:t>The right to control one’s fertility;</a:t>
            </a:r>
          </a:p>
          <a:p>
            <a:pPr lvl="0" algn="just"/>
            <a:r>
              <a:rPr lang="en-US" dirty="0" smtClean="0"/>
              <a:t> The right to decide whether to have children, the number of children and the spacing of children; </a:t>
            </a:r>
          </a:p>
          <a:p>
            <a:pPr lvl="0" algn="just"/>
            <a:r>
              <a:rPr lang="en-US" dirty="0" smtClean="0"/>
              <a:t>The right to chose any method of contraception;</a:t>
            </a:r>
          </a:p>
          <a:p>
            <a:pPr lvl="0" algn="just"/>
            <a:r>
              <a:rPr lang="en-US" dirty="0" smtClean="0"/>
              <a:t>The right to self-protection and to be protected against sexually transmitted infections, including HIV/AIDS;</a:t>
            </a:r>
          </a:p>
          <a:p>
            <a:pPr lvl="0" algn="just"/>
            <a:r>
              <a:rPr lang="en-US" dirty="0" smtClean="0"/>
              <a:t>The right to be informed on one’s  health status and on the health of one’s partner, particularly if affected with sexually transmitted infections including HIV/AIDS in accordance with internationally recognized standards and best practices and </a:t>
            </a:r>
          </a:p>
          <a:p>
            <a:pPr lvl="0" algn="just"/>
            <a:r>
              <a:rPr lang="en-US" dirty="0" smtClean="0"/>
              <a:t>The right to have family planning education. </a:t>
            </a:r>
          </a:p>
          <a:p>
            <a:endParaRPr lang="en-US"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839200" cy="6400800"/>
          </a:xfrm>
        </p:spPr>
        <p:txBody>
          <a:bodyPr>
            <a:normAutofit/>
          </a:bodyPr>
          <a:lstStyle/>
          <a:p>
            <a:pPr marL="342900" lvl="1" indent="-342900" algn="just">
              <a:buNone/>
            </a:pPr>
            <a:r>
              <a:rPr lang="en-US" b="1" dirty="0" smtClean="0"/>
              <a:t>Reproductive Health Right as a Human Right</a:t>
            </a:r>
          </a:p>
          <a:p>
            <a:pPr marL="342900" lvl="1" indent="-342900" algn="just">
              <a:buNone/>
            </a:pPr>
            <a:r>
              <a:rPr lang="en-US" b="1" dirty="0" smtClean="0"/>
              <a:t>Teheran Declaration:- </a:t>
            </a:r>
            <a:r>
              <a:rPr lang="en-US" dirty="0" smtClean="0"/>
              <a:t>recognized reproductive right as a subset of human right and states that parents have a basic human right to determine freely and responsibly the number and the spacing of their children</a:t>
            </a:r>
          </a:p>
          <a:p>
            <a:pPr marL="342900" lvl="1" indent="-342900" algn="just">
              <a:buNone/>
            </a:pPr>
            <a:r>
              <a:rPr lang="en-US" b="1" dirty="0" smtClean="0"/>
              <a:t>CEDAW:- </a:t>
            </a:r>
            <a:r>
              <a:rPr lang="en-US" dirty="0" smtClean="0"/>
              <a:t>Article 11(1) F and (2) affirmed the right to family planning and maternity health and have accepted the legally binding obligation to protect these rights and safeguard women’s reproductive right</a:t>
            </a:r>
          </a:p>
          <a:p>
            <a:pPr marL="342900" lvl="1" indent="-342900" algn="just">
              <a:buNone/>
            </a:pPr>
            <a:r>
              <a:rPr lang="en-US" b="1" dirty="0" smtClean="0"/>
              <a:t>PACPHRWA:- </a:t>
            </a:r>
            <a:r>
              <a:rPr lang="en-US" dirty="0" smtClean="0"/>
              <a:t>Provide adequate, affordable and accessible health services, including information, education, and communication </a:t>
            </a:r>
            <a:r>
              <a:rPr lang="en-US" dirty="0" err="1" smtClean="0"/>
              <a:t>programmes</a:t>
            </a:r>
            <a:r>
              <a:rPr lang="en-US" dirty="0" smtClean="0"/>
              <a:t> to women especially those in rural areas</a:t>
            </a:r>
          </a:p>
          <a:p>
            <a:pPr marL="342900" lvl="1" indent="-342900" algn="just">
              <a:buFont typeface="Wingdings" pitchFamily="2" charset="2"/>
              <a:buChar char="Ø"/>
            </a:pPr>
            <a:r>
              <a:rPr lang="en-US" dirty="0" smtClean="0"/>
              <a:t>Establish and strengthen existing pre-natal, delivery and post natal health and nutritional service for women during pregnancy and while they are breast feeding and </a:t>
            </a:r>
          </a:p>
          <a:p>
            <a:pPr marL="342900" lvl="1" indent="-342900">
              <a:buFont typeface="Wingdings" pitchFamily="2" charset="2"/>
              <a:buChar char="Ø"/>
            </a:pPr>
            <a:endParaRPr lang="en-US" dirty="0" smtClean="0"/>
          </a:p>
          <a:p>
            <a:pPr marL="342900" lvl="1" indent="-342900">
              <a:buNone/>
            </a:pPr>
            <a:endParaRPr lang="en-US" dirty="0" smtClean="0"/>
          </a:p>
          <a:p>
            <a:pPr marL="342900" lvl="1" indent="-342900">
              <a:buNone/>
            </a:pPr>
            <a:endParaRPr lang="en-US" dirty="0" smtClean="0"/>
          </a:p>
          <a:p>
            <a:endParaRPr lang="en-US"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686800" cy="6400800"/>
          </a:xfrm>
        </p:spPr>
        <p:txBody>
          <a:bodyPr>
            <a:normAutofit lnSpcReduction="10000"/>
          </a:bodyPr>
          <a:lstStyle/>
          <a:p>
            <a:pPr algn="just">
              <a:lnSpc>
                <a:spcPct val="150000"/>
              </a:lnSpc>
            </a:pPr>
            <a:r>
              <a:rPr lang="en-US" dirty="0" smtClean="0"/>
              <a:t>Protect the reproductive rights of women by authorizing medical abortion in cases of sexual assault, rape incest, and where continued pregnancy endangers the mental and physical health of the mother or the life of the mother or the fetus</a:t>
            </a:r>
          </a:p>
          <a:p>
            <a:pPr algn="just">
              <a:lnSpc>
                <a:spcPct val="150000"/>
              </a:lnSpc>
              <a:buNone/>
            </a:pPr>
            <a:r>
              <a:rPr lang="en-US" b="1" dirty="0" smtClean="0"/>
              <a:t>The FDRE Constitution:-</a:t>
            </a:r>
            <a:r>
              <a:rPr lang="en-US" dirty="0" smtClean="0"/>
              <a:t> Article 35(9) recognized women’s rights of access to family planning education, information and capacity.</a:t>
            </a:r>
          </a:p>
          <a:p>
            <a:pPr algn="just">
              <a:lnSpc>
                <a:spcPct val="150000"/>
              </a:lnSpc>
              <a:buFont typeface="Wingdings" pitchFamily="2" charset="2"/>
              <a:buChar char="Ø"/>
            </a:pPr>
            <a:r>
              <a:rPr lang="en-US" dirty="0" smtClean="0"/>
              <a:t> it guaranteed women the right to prevent harm arising from pregnancy and childbirth.</a:t>
            </a:r>
            <a:endParaRPr lang="en-US" sz="2800" dirty="0" smtClean="0"/>
          </a:p>
          <a:p>
            <a:endParaRPr lang="en-US" dirty="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686800" cy="6324600"/>
          </a:xfrm>
        </p:spPr>
        <p:txBody>
          <a:bodyPr>
            <a:normAutofit/>
          </a:bodyPr>
          <a:lstStyle/>
          <a:p>
            <a:pPr>
              <a:buNone/>
            </a:pPr>
            <a:r>
              <a:rPr lang="en-US" b="1" dirty="0" smtClean="0"/>
              <a:t>Abortion as Human Rights</a:t>
            </a:r>
          </a:p>
          <a:p>
            <a:pPr>
              <a:buFont typeface="Wingdings" pitchFamily="2" charset="2"/>
              <a:buChar char="Ø"/>
            </a:pPr>
            <a:r>
              <a:rPr lang="en-US" b="1" dirty="0" smtClean="0"/>
              <a:t>Religious outlook:- </a:t>
            </a:r>
            <a:r>
              <a:rPr lang="en-US" dirty="0" smtClean="0"/>
              <a:t>Major religions such Catholics, Hinduism, Buddhism and Humanists condemn abortion and consider it as a deliberate taking away of life that should be prohibited upon punishment</a:t>
            </a:r>
          </a:p>
          <a:p>
            <a:pPr>
              <a:buFont typeface="Wingdings" pitchFamily="2" charset="2"/>
              <a:buChar char="Ø"/>
            </a:pPr>
            <a:r>
              <a:rPr lang="en-US" b="1" dirty="0" smtClean="0"/>
              <a:t>Women right activist:- </a:t>
            </a:r>
            <a:r>
              <a:rPr lang="en-US" dirty="0" smtClean="0"/>
              <a:t>advocates of women’s rights support the legality of abortion</a:t>
            </a:r>
          </a:p>
          <a:p>
            <a:pPr>
              <a:buFont typeface="Wingdings" pitchFamily="2" charset="2"/>
              <a:buChar char="Ø"/>
            </a:pPr>
            <a:r>
              <a:rPr lang="en-US" dirty="0" smtClean="0"/>
              <a:t>Where abortion is illegal and unsafe, women are forced to carry unwanted pregnancy or suffer serious health consequences and even death. </a:t>
            </a:r>
          </a:p>
          <a:p>
            <a:pPr>
              <a:buFont typeface="Wingdings" pitchFamily="2" charset="2"/>
              <a:buChar char="Ø"/>
            </a:pPr>
            <a:r>
              <a:rPr lang="en-US" dirty="0" smtClean="0"/>
              <a:t>Approximately 3% of maternal death world wide are attributed to unsafe abortion </a:t>
            </a:r>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77000"/>
          </a:xfrm>
        </p:spPr>
        <p:txBody>
          <a:bodyPr/>
          <a:lstStyle/>
          <a:p>
            <a:pPr>
              <a:buFont typeface="Wingdings" pitchFamily="2" charset="2"/>
              <a:buChar char="Ø"/>
            </a:pPr>
            <a:r>
              <a:rPr lang="en-US" dirty="0" smtClean="0"/>
              <a:t>Women's access to safe and legal </a:t>
            </a:r>
            <a:r>
              <a:rPr lang="en-US" u="sng" dirty="0" smtClean="0">
                <a:hlinkClick r:id="rId2" tooltip="Abortion"/>
              </a:rPr>
              <a:t>abortions</a:t>
            </a:r>
            <a:r>
              <a:rPr lang="en-US" dirty="0" smtClean="0"/>
              <a:t> is restricted in law or in practice in most countries in the world. </a:t>
            </a:r>
          </a:p>
          <a:p>
            <a:pPr>
              <a:buFont typeface="Wingdings" pitchFamily="2" charset="2"/>
              <a:buChar char="Ø"/>
            </a:pPr>
            <a:r>
              <a:rPr lang="en-US" dirty="0" smtClean="0"/>
              <a:t>Even where </a:t>
            </a:r>
            <a:r>
              <a:rPr lang="en-US" u="sng" dirty="0" smtClean="0">
                <a:hlinkClick r:id="rId2" tooltip="Abortion"/>
              </a:rPr>
              <a:t>abortion</a:t>
            </a:r>
            <a:r>
              <a:rPr lang="en-US" dirty="0" smtClean="0"/>
              <a:t> is permitted by law, women may only have limited access to safe abortion services. </a:t>
            </a:r>
          </a:p>
          <a:p>
            <a:pPr>
              <a:buFont typeface="Wingdings" pitchFamily="2" charset="2"/>
              <a:buChar char="Ø"/>
            </a:pPr>
            <a:r>
              <a:rPr lang="en-US" dirty="0" smtClean="0"/>
              <a:t>Only a small number of countries prohibit abortion in all cases.</a:t>
            </a:r>
          </a:p>
          <a:p>
            <a:pPr>
              <a:buFont typeface="Wingdings" pitchFamily="2" charset="2"/>
              <a:buChar char="Ø"/>
            </a:pPr>
            <a:r>
              <a:rPr lang="en-US" dirty="0" smtClean="0"/>
              <a:t> In most countries and jurisdictions, abortion is allowed to save the pregnant woman's life, or where the pregnancy is the result of </a:t>
            </a:r>
            <a:r>
              <a:rPr lang="en-US" u="sng" dirty="0" smtClean="0">
                <a:hlinkClick r:id="rId3" tooltip="Rape"/>
              </a:rPr>
              <a:t>rape</a:t>
            </a:r>
            <a:r>
              <a:rPr lang="en-US" dirty="0" smtClean="0"/>
              <a:t> or </a:t>
            </a:r>
            <a:r>
              <a:rPr lang="en-US" u="sng" dirty="0" smtClean="0">
                <a:hlinkClick r:id="rId4" tooltip="Incest"/>
              </a:rPr>
              <a:t>incest</a:t>
            </a:r>
            <a:endParaRPr lang="en-US" dirty="0" smtClean="0"/>
          </a:p>
          <a:p>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610600" cy="6400800"/>
          </a:xfrm>
        </p:spPr>
        <p:txBody>
          <a:bodyPr>
            <a:normAutofit/>
          </a:bodyPr>
          <a:lstStyle/>
          <a:p>
            <a:pPr marL="342900" lvl="1" indent="-342900">
              <a:buNone/>
            </a:pPr>
            <a:r>
              <a:rPr lang="en-US" b="1" dirty="0" smtClean="0"/>
              <a:t>Abortion in Ethiopia</a:t>
            </a:r>
          </a:p>
          <a:p>
            <a:pPr marL="342900" lvl="1" indent="-342900">
              <a:buFont typeface="Wingdings" pitchFamily="2" charset="2"/>
              <a:buChar char="Ø"/>
            </a:pPr>
            <a:r>
              <a:rPr lang="en-US" dirty="0" smtClean="0"/>
              <a:t>Unsafe abortion, according to the FDRE government report, is the fifth leading cause of hospital admission and the second leading cause of death among hospitalized women in Ethiopia</a:t>
            </a:r>
          </a:p>
          <a:p>
            <a:r>
              <a:rPr lang="en-US" dirty="0" smtClean="0"/>
              <a:t>Article 545(1) of the revised Criminal Code of 2004 considered intentional termination of pregnancy as a criminal act. </a:t>
            </a:r>
          </a:p>
          <a:p>
            <a:r>
              <a:rPr lang="en-US" dirty="0" smtClean="0"/>
              <a:t> However, the exceptional situations have been put in wider context. Accordingly termination of pregnancy is not punishable in Ethiopia if:</a:t>
            </a:r>
          </a:p>
          <a:p>
            <a:pPr lvl="0">
              <a:buNone/>
            </a:pPr>
            <a:r>
              <a:rPr lang="en-US" dirty="0" smtClean="0"/>
              <a:t>1. The pregnancy is the result of rape or incest;</a:t>
            </a:r>
            <a:endParaRPr lang="en-US" sz="2800" dirty="0" smtClean="0"/>
          </a:p>
          <a:p>
            <a:pPr lvl="0">
              <a:buNone/>
            </a:pPr>
            <a:r>
              <a:rPr lang="en-US" dirty="0" smtClean="0"/>
              <a:t>2. The continuation the pregnancy endangers the health or  life of the mother or the child or where the birth of the child is a risk to the life or health of the mother;</a:t>
            </a:r>
            <a:endParaRPr lang="en-US" sz="2800" dirty="0" smtClean="0"/>
          </a:p>
          <a:p>
            <a:pPr marL="342900" lvl="1" indent="-342900">
              <a:buFont typeface="Wingdings" pitchFamily="2" charset="2"/>
              <a:buChar char="Ø"/>
            </a:pPr>
            <a:endParaRPr lang="en-US" dirty="0" smtClean="0"/>
          </a:p>
          <a:p>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304800"/>
            <a:ext cx="8915400" cy="6553200"/>
          </a:xfrm>
        </p:spPr>
        <p:txBody>
          <a:bodyPr/>
          <a:lstStyle/>
          <a:p>
            <a:pPr lvl="0">
              <a:buNone/>
            </a:pPr>
            <a:r>
              <a:rPr lang="en-US" dirty="0" smtClean="0"/>
              <a:t>3. Where the pregnant women owing to a physical or mental deficiency or minority is physically as well as mentally unfit to bring up </a:t>
            </a:r>
            <a:r>
              <a:rPr lang="en-US" smtClean="0"/>
              <a:t>the child</a:t>
            </a:r>
            <a:endParaRPr lang="en-US" dirty="0" smtClean="0"/>
          </a:p>
          <a:p>
            <a:r>
              <a:rPr lang="en-US" dirty="0" smtClean="0"/>
              <a:t>Moreover, Article 550 of the criminal code stated that the court shall mitigate the punishment put under the law, where the pregnancy has been terminated on the account of poverty.</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5009</TotalTime>
  <Words>13294</Words>
  <Application>Microsoft Office PowerPoint</Application>
  <PresentationFormat>On-screen Show (4:3)</PresentationFormat>
  <Paragraphs>852</Paragraphs>
  <Slides>143</Slides>
  <Notes>0</Notes>
  <HiddenSlides>0</HiddenSlides>
  <MMClips>0</MMClips>
  <ScaleCrop>false</ScaleCrop>
  <HeadingPairs>
    <vt:vector size="4" baseType="variant">
      <vt:variant>
        <vt:lpstr>Theme</vt:lpstr>
      </vt:variant>
      <vt:variant>
        <vt:i4>2</vt:i4>
      </vt:variant>
      <vt:variant>
        <vt:lpstr>Slide Titles</vt:lpstr>
      </vt:variant>
      <vt:variant>
        <vt:i4>143</vt:i4>
      </vt:variant>
    </vt:vector>
  </HeadingPairs>
  <TitlesOfParts>
    <vt:vector size="145" baseType="lpstr">
      <vt:lpstr>Civic</vt:lpstr>
      <vt:lpstr>Office Theme</vt:lpstr>
      <vt:lpstr>Gender and the law </vt:lpstr>
      <vt:lpstr>PowerPoint Presentation</vt:lpstr>
      <vt:lpstr>The difference between sex and gender?</vt:lpstr>
      <vt:lpstr>Gender roles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Historical perspectives on the legal status of women in Ethiopia </vt:lpstr>
      <vt:lpstr>PowerPoint Presentation</vt:lpstr>
      <vt:lpstr>PowerPoint Presentation</vt:lpstr>
      <vt:lpstr>PowerPoint Presentation</vt:lpstr>
      <vt:lpstr>PowerPoint Presentation</vt:lpstr>
      <vt:lpstr>PowerPoint Presentation</vt:lpstr>
      <vt:lpstr>National policies and inputs on promotion of  gender equality </vt:lpstr>
      <vt:lpstr>Women's national policy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Institutional machinery  </vt:lpstr>
      <vt:lpstr>Impact of globalization on women </vt:lpstr>
      <vt:lpstr>PowerPoint Presentation</vt:lpstr>
      <vt:lpstr>Gender socialization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Gender in the Media and Information Technology </vt:lpstr>
      <vt:lpstr>PowerPoint Presentation</vt:lpstr>
      <vt:lpstr>PowerPoint Presentation</vt:lpstr>
      <vt:lpstr>Chapter two Theoretical foundation of gender equality </vt:lpstr>
      <vt:lpstr>PowerPoint Presentation</vt:lpstr>
      <vt:lpstr>PowerPoint Presentation</vt:lpstr>
      <vt:lpstr>PowerPoint Presentation</vt:lpstr>
      <vt:lpstr>Models of equality and approaches  </vt:lpstr>
      <vt:lpstr>PowerPoint Presentation</vt:lpstr>
      <vt:lpstr>PowerPoint Presentation</vt:lpstr>
      <vt:lpstr>PowerPoint Presentation</vt:lpstr>
      <vt:lpstr>PowerPoint Presentation</vt:lpstr>
      <vt:lpstr>PowerPoint Presentation</vt:lpstr>
      <vt:lpstr>The protectionist approach </vt:lpstr>
      <vt:lpstr>PowerPoint Presentation</vt:lpstr>
      <vt:lpstr>PowerPoint Presentation</vt:lpstr>
      <vt:lpstr>PowerPoint Presentation</vt:lpstr>
      <vt:lpstr>Chapter three Gender and family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Chapter Four Global and comparative approaches to violence against women within and outside family</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Chapter Five Women and Education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Chapter Six Women and Employment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Chapter Seven Political Participation of Women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 and the law</dc:title>
  <dc:creator>hcs</dc:creator>
  <cp:lastModifiedBy>YARED_0921209428</cp:lastModifiedBy>
  <cp:revision>284</cp:revision>
  <dcterms:created xsi:type="dcterms:W3CDTF">2015-11-07T05:17:03Z</dcterms:created>
  <dcterms:modified xsi:type="dcterms:W3CDTF">2017-04-23T20:03:48Z</dcterms:modified>
</cp:coreProperties>
</file>